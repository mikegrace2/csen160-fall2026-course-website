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87"/>
  </p:notesMasterIdLst>
  <p:handoutMasterIdLst>
    <p:handoutMasterId r:id="rId88"/>
  </p:handoutMasterIdLst>
  <p:sldIdLst>
    <p:sldId id="333" r:id="rId3"/>
    <p:sldId id="426" r:id="rId4"/>
    <p:sldId id="338" r:id="rId5"/>
    <p:sldId id="407" r:id="rId6"/>
    <p:sldId id="339" r:id="rId7"/>
    <p:sldId id="340" r:id="rId8"/>
    <p:sldId id="341" r:id="rId9"/>
    <p:sldId id="342" r:id="rId10"/>
    <p:sldId id="424" r:id="rId11"/>
    <p:sldId id="425" r:id="rId12"/>
    <p:sldId id="404" r:id="rId13"/>
    <p:sldId id="346" r:id="rId14"/>
    <p:sldId id="347" r:id="rId15"/>
    <p:sldId id="348" r:id="rId16"/>
    <p:sldId id="349" r:id="rId17"/>
    <p:sldId id="350" r:id="rId18"/>
    <p:sldId id="351" r:id="rId19"/>
    <p:sldId id="405" r:id="rId20"/>
    <p:sldId id="354" r:id="rId21"/>
    <p:sldId id="412" r:id="rId22"/>
    <p:sldId id="355" r:id="rId23"/>
    <p:sldId id="356" r:id="rId24"/>
    <p:sldId id="409" r:id="rId25"/>
    <p:sldId id="382" r:id="rId26"/>
    <p:sldId id="383" r:id="rId27"/>
    <p:sldId id="414" r:id="rId28"/>
    <p:sldId id="384" r:id="rId29"/>
    <p:sldId id="415" r:id="rId30"/>
    <p:sldId id="385" r:id="rId31"/>
    <p:sldId id="408" r:id="rId32"/>
    <p:sldId id="380" r:id="rId33"/>
    <p:sldId id="420" r:id="rId34"/>
    <p:sldId id="381" r:id="rId35"/>
    <p:sldId id="423" r:id="rId36"/>
    <p:sldId id="386" r:id="rId37"/>
    <p:sldId id="388" r:id="rId38"/>
    <p:sldId id="406" r:id="rId39"/>
    <p:sldId id="357" r:id="rId40"/>
    <p:sldId id="358" r:id="rId41"/>
    <p:sldId id="413" r:id="rId42"/>
    <p:sldId id="359" r:id="rId43"/>
    <p:sldId id="360" r:id="rId44"/>
    <p:sldId id="361" r:id="rId45"/>
    <p:sldId id="362" r:id="rId46"/>
    <p:sldId id="363" r:id="rId47"/>
    <p:sldId id="364" r:id="rId48"/>
    <p:sldId id="430" r:id="rId49"/>
    <p:sldId id="418" r:id="rId50"/>
    <p:sldId id="427" r:id="rId51"/>
    <p:sldId id="367" r:id="rId52"/>
    <p:sldId id="365" r:id="rId53"/>
    <p:sldId id="366" r:id="rId54"/>
    <p:sldId id="370" r:id="rId55"/>
    <p:sldId id="431" r:id="rId56"/>
    <p:sldId id="368" r:id="rId57"/>
    <p:sldId id="419" r:id="rId58"/>
    <p:sldId id="429" r:id="rId59"/>
    <p:sldId id="371" r:id="rId60"/>
    <p:sldId id="432" r:id="rId61"/>
    <p:sldId id="433" r:id="rId62"/>
    <p:sldId id="372" r:id="rId63"/>
    <p:sldId id="416" r:id="rId64"/>
    <p:sldId id="373" r:id="rId65"/>
    <p:sldId id="376" r:id="rId66"/>
    <p:sldId id="374" r:id="rId67"/>
    <p:sldId id="509" r:id="rId68"/>
    <p:sldId id="411" r:id="rId69"/>
    <p:sldId id="397" r:id="rId70"/>
    <p:sldId id="398" r:id="rId71"/>
    <p:sldId id="399" r:id="rId72"/>
    <p:sldId id="400" r:id="rId73"/>
    <p:sldId id="428" r:id="rId74"/>
    <p:sldId id="401" r:id="rId75"/>
    <p:sldId id="434" r:id="rId76"/>
    <p:sldId id="378" r:id="rId77"/>
    <p:sldId id="379" r:id="rId78"/>
    <p:sldId id="410" r:id="rId79"/>
    <p:sldId id="390" r:id="rId80"/>
    <p:sldId id="391" r:id="rId81"/>
    <p:sldId id="392" r:id="rId82"/>
    <p:sldId id="393" r:id="rId83"/>
    <p:sldId id="395" r:id="rId84"/>
    <p:sldId id="394" r:id="rId85"/>
    <p:sldId id="336" r:id="rId8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2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103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289B0-9BEC-4093-861C-76154CD68B5D}" type="datetimeFigureOut">
              <a:rPr lang="en-US"/>
              <a:pPr>
                <a:defRPr/>
              </a:pPr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36E94-7335-4773-A64D-0D46B1CA62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499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687" r:id="rId17"/>
    <p:sldLayoutId id="214748368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texas.edu/~mitra/csSpring2008/cs313/lectures/fileIO.html#:~:text=There%20are%20two%20types%20of,as%20a%20sequence%20of%20bytes." TargetMode="Externa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828810" cy="32148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 	mschimpf@scu.edu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782F-0722-7BB5-A8B3-6A378D5F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7A2D8227-BD0A-E930-F046-E576E6A71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I/O</a:t>
            </a:r>
          </a:p>
        </p:txBody>
      </p:sp>
    </p:spTree>
    <p:extLst>
      <p:ext uri="{BB962C8B-B14F-4D97-AF65-F5344CB8AC3E}">
        <p14:creationId xmlns:p14="http://schemas.microsoft.com/office/powerpoint/2010/main" val="384011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1"/>
            <a:ext cx="10417284" cy="605905"/>
          </a:xfrm>
        </p:spPr>
        <p:txBody>
          <a:bodyPr/>
          <a:lstStyle/>
          <a:p>
            <a:r>
              <a:rPr lang="en-US" dirty="0"/>
              <a:t>Classes 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10709"/>
            <a:ext cx="4683403" cy="5128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Classes in the</a:t>
            </a:r>
            <a:r>
              <a:rPr lang="en-US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java.io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package: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b="1" dirty="0">
                <a:solidFill>
                  <a:srgbClr val="92D050"/>
                </a:solidFill>
              </a:rPr>
              <a:t>character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streams</a:t>
            </a: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FileReader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FileWriter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BufferedReader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BufferedWriter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77656" y="1481038"/>
            <a:ext cx="4683403" cy="5128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b="1" dirty="0">
                <a:solidFill>
                  <a:srgbClr val="00B0F0"/>
                </a:solidFill>
              </a:rPr>
              <a:t>binary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streams</a:t>
            </a: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FileInputStream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FileOutputStream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BufferedInputStream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BufferedOutputStream</a:t>
            </a: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For</a:t>
            </a: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</a:rPr>
              <a:t>random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access</a:t>
            </a: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RandomAccessFile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7128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FileReader</a:t>
            </a:r>
            <a:r>
              <a:rPr lang="en-US" altLang="en-US" dirty="0"/>
              <a:t> &amp; </a:t>
            </a:r>
            <a:r>
              <a:rPr lang="en-US" altLang="en-US" dirty="0" err="1"/>
              <a:t>FileWriter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04025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700" y="761649"/>
            <a:ext cx="4404227" cy="650411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FileReader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700" y="1460613"/>
            <a:ext cx="10404472" cy="518294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Used to read/write text files.</a:t>
            </a:r>
          </a:p>
          <a:p>
            <a:r>
              <a:rPr lang="en-US" b="1" dirty="0">
                <a:solidFill>
                  <a:schemeClr val="tx1"/>
                </a:solidFill>
              </a:rPr>
              <a:t>Sequential</a:t>
            </a:r>
            <a:r>
              <a:rPr lang="en-US" dirty="0">
                <a:solidFill>
                  <a:schemeClr val="tx1"/>
                </a:solidFill>
              </a:rPr>
              <a:t> access.</a:t>
            </a:r>
          </a:p>
          <a:p>
            <a:r>
              <a:rPr lang="en-US" dirty="0">
                <a:solidFill>
                  <a:schemeClr val="tx1"/>
                </a:solidFill>
              </a:rPr>
              <a:t>Method 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read</a:t>
            </a:r>
            <a:r>
              <a:rPr lang="en-US" dirty="0">
                <a:solidFill>
                  <a:schemeClr val="tx1"/>
                </a:solidFill>
              </a:rPr>
              <a:t> returns the value </a:t>
            </a:r>
            <a:r>
              <a:rPr lang="en-US" b="1" dirty="0">
                <a:solidFill>
                  <a:schemeClr val="tx1"/>
                </a:solidFill>
              </a:rPr>
              <a:t>-1</a:t>
            </a:r>
            <a:r>
              <a:rPr lang="en-US" dirty="0">
                <a:solidFill>
                  <a:schemeClr val="tx1"/>
                </a:solidFill>
              </a:rPr>
              <a:t> (called </a:t>
            </a:r>
            <a:r>
              <a:rPr lang="en-US" b="1" dirty="0">
                <a:solidFill>
                  <a:schemeClr val="tx1"/>
                </a:solidFill>
              </a:rPr>
              <a:t>end-of-file or EOF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353772"/>
            <a:ext cx="5867400" cy="27422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05200" y="4342726"/>
            <a:ext cx="2335226" cy="96564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2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235" y="772789"/>
            <a:ext cx="4075689" cy="55025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FileWriter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234" y="1476978"/>
            <a:ext cx="10423891" cy="517872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Text files.</a:t>
            </a:r>
          </a:p>
          <a:p>
            <a:r>
              <a:rPr lang="en-US" dirty="0">
                <a:solidFill>
                  <a:schemeClr val="tx1"/>
                </a:solidFill>
              </a:rPr>
              <a:t>File is created, if it does not exist.</a:t>
            </a:r>
          </a:p>
          <a:p>
            <a:r>
              <a:rPr lang="en-US" dirty="0">
                <a:solidFill>
                  <a:schemeClr val="tx1"/>
                </a:solidFill>
              </a:rPr>
              <a:t>If the file exists, its content are </a:t>
            </a:r>
            <a:r>
              <a:rPr lang="en-US" b="1" dirty="0">
                <a:solidFill>
                  <a:srgbClr val="FF0000"/>
                </a:solidFill>
              </a:rPr>
              <a:t>erased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b="1" i="1" dirty="0">
                <a:solidFill>
                  <a:schemeClr val="tx1"/>
                </a:solidFill>
              </a:rPr>
              <a:t>append data</a:t>
            </a:r>
            <a:r>
              <a:rPr lang="en-US" i="1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chemeClr val="tx1"/>
                </a:solidFill>
              </a:rPr>
              <a:t> use constructor: </a:t>
            </a: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FileWriter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(</a:t>
            </a:r>
            <a:r>
              <a:rPr lang="en-US" sz="1800" i="1" dirty="0">
                <a:solidFill>
                  <a:schemeClr val="tx1"/>
                </a:solidFill>
              </a:rPr>
              <a:t>filename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true)</a:t>
            </a:r>
          </a:p>
          <a:p>
            <a:pPr lvl="1">
              <a:buNone/>
            </a:pPr>
            <a:endParaRPr lang="en-US" dirty="0">
              <a:latin typeface="Courier"/>
              <a:cs typeface="Courie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94" y="3455299"/>
            <a:ext cx="5605956" cy="32004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6287512" y="3163986"/>
            <a:ext cx="1282587" cy="129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603694" y="4867359"/>
            <a:ext cx="2335226" cy="135137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5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 a File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209800"/>
            <a:ext cx="6442302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6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3987488" cy="662549"/>
          </a:xfrm>
        </p:spPr>
        <p:txBody>
          <a:bodyPr>
            <a:normAutofit/>
          </a:bodyPr>
          <a:lstStyle/>
          <a:p>
            <a:r>
              <a:rPr lang="en-US" dirty="0"/>
              <a:t>IntelliJ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22253"/>
            <a:ext cx="10388288" cy="480917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 text file called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2000" dirty="0">
                <a:solidFill>
                  <a:schemeClr val="tx1"/>
                </a:solidFill>
              </a:rPr>
              <a:t> which </a:t>
            </a:r>
            <a:r>
              <a:rPr lang="en-US" dirty="0">
                <a:solidFill>
                  <a:schemeClr val="tx1"/>
                </a:solidFill>
              </a:rPr>
              <a:t>contains: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dirty="0">
                <a:solidFill>
                  <a:srgbClr val="00B050"/>
                </a:solidFill>
              </a:rPr>
              <a:t>Audio files can be stored in a variety of formats such as wav, wma, mp3, </a:t>
            </a:r>
            <a:r>
              <a:rPr lang="en-US" dirty="0" err="1">
                <a:solidFill>
                  <a:srgbClr val="00B050"/>
                </a:solidFill>
              </a:rPr>
              <a:t>aiff</a:t>
            </a:r>
            <a:r>
              <a:rPr lang="en-US" dirty="0">
                <a:solidFill>
                  <a:srgbClr val="00B050"/>
                </a:solidFill>
              </a:rPr>
              <a:t>, au and many others.</a:t>
            </a:r>
            <a:r>
              <a:rPr lang="en-US" dirty="0">
                <a:solidFill>
                  <a:schemeClr val="tx1"/>
                </a:solidFill>
              </a:rPr>
              <a:t>”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Programs: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Print out each character of </a:t>
            </a:r>
            <a:r>
              <a:rPr lang="en-US" sz="16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on the console.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Copy the contents of </a:t>
            </a:r>
            <a:r>
              <a:rPr lang="en-US" sz="16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a new file called </a:t>
            </a:r>
            <a:r>
              <a:rPr lang="en-US" sz="1600" dirty="0">
                <a:solidFill>
                  <a:schemeClr val="tx1"/>
                </a:solidFill>
                <a:latin typeface="Courier"/>
                <a:cs typeface="Courier"/>
              </a:rPr>
              <a:t>copyOfInfo.txt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F73B2B-7949-1CDC-F9EB-24B58311D110}"/>
              </a:ext>
            </a:extLst>
          </p:cNvPr>
          <p:cNvSpPr txBox="1">
            <a:spLocks/>
          </p:cNvSpPr>
          <p:nvPr/>
        </p:nvSpPr>
        <p:spPr>
          <a:xfrm>
            <a:off x="936516" y="0"/>
            <a:ext cx="7391328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CSEN160_06_Lecture_FileIO_AdvancedFileIO_Serialize.scu.csen160.FileIO.</a:t>
            </a:r>
            <a:r>
              <a:rPr lang="en-US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A_FileReaderExample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808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508C-6099-A64B-5DD1-6F306882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3CC69-377D-D63E-DEDB-99A2E045A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511"/>
            <a:ext cx="3987488" cy="662549"/>
          </a:xfrm>
        </p:spPr>
        <p:txBody>
          <a:bodyPr>
            <a:normAutofit/>
          </a:bodyPr>
          <a:lstStyle/>
          <a:p>
            <a:r>
              <a:rPr lang="en-US" dirty="0"/>
              <a:t>IntelliJ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2CBBB-69D2-A51E-1C8A-580BD6A9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FCC41-6060-08E0-96DE-04003F4D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02BAF1-945A-684E-5696-3DBEA3BE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698" y="1355558"/>
            <a:ext cx="6740785" cy="517758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AA131E-B52F-5BFB-3915-6727F1BA7B50}"/>
              </a:ext>
            </a:extLst>
          </p:cNvPr>
          <p:cNvSpPr txBox="1">
            <a:spLocks/>
          </p:cNvSpPr>
          <p:nvPr/>
        </p:nvSpPr>
        <p:spPr>
          <a:xfrm>
            <a:off x="936516" y="7916"/>
            <a:ext cx="7391328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CSEN160_06_Lecture_FileIO_AdvancedFileIO_Serialize.scu.csen160.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FileIO.</a:t>
            </a:r>
            <a:r>
              <a:rPr lang="en-US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A_FileReaderExample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F688B-4A42-CE08-A3C3-36331ACB3077}"/>
              </a:ext>
            </a:extLst>
          </p:cNvPr>
          <p:cNvSpPr/>
          <p:nvPr/>
        </p:nvSpPr>
        <p:spPr>
          <a:xfrm>
            <a:off x="3831878" y="3838248"/>
            <a:ext cx="3779655" cy="43741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85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AE62A-72A4-946E-8C51-7FB12DA2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B2C6-AAAF-A882-5834-CD3AD5AA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511"/>
            <a:ext cx="3987488" cy="662549"/>
          </a:xfrm>
        </p:spPr>
        <p:txBody>
          <a:bodyPr>
            <a:normAutofit/>
          </a:bodyPr>
          <a:lstStyle/>
          <a:p>
            <a:r>
              <a:rPr lang="en-US" dirty="0"/>
              <a:t>IntelliJ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3592A-836F-3F93-A3C9-3C8D608E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E1F10-8C41-FC94-705D-F14033A3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3041A-109F-8505-97E7-52479546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316" y="1383630"/>
            <a:ext cx="6049116" cy="520159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690180-DAF5-7925-5C9A-69CB61CC0789}"/>
              </a:ext>
            </a:extLst>
          </p:cNvPr>
          <p:cNvSpPr txBox="1">
            <a:spLocks/>
          </p:cNvSpPr>
          <p:nvPr/>
        </p:nvSpPr>
        <p:spPr>
          <a:xfrm>
            <a:off x="936516" y="0"/>
            <a:ext cx="9442518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CSEN160_06_Lecture_FileIO_AdvancedFileIO_Serialize.scu.csen160.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FileIO.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B_FileReaderFileWriterExample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3D3100-DEA1-73B0-2424-CDF509BDA46E}"/>
              </a:ext>
            </a:extLst>
          </p:cNvPr>
          <p:cNvSpPr/>
          <p:nvPr/>
        </p:nvSpPr>
        <p:spPr>
          <a:xfrm>
            <a:off x="4052012" y="3728181"/>
            <a:ext cx="3051522" cy="36121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52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BufferedReader</a:t>
            </a:r>
            <a:r>
              <a:rPr lang="en-US" altLang="en-US" dirty="0"/>
              <a:t> &amp; </a:t>
            </a:r>
            <a:r>
              <a:rPr lang="en-US" altLang="en-US" dirty="0" err="1"/>
              <a:t>BufferedWriter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148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5577572" cy="686825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  <a:cs typeface="Courier"/>
              </a:rPr>
              <a:t>Class </a:t>
            </a:r>
            <a:r>
              <a:rPr lang="en-US" dirty="0" err="1">
                <a:latin typeface="Courier"/>
                <a:cs typeface="Courier"/>
              </a:rPr>
              <a:t>BufferedReader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19951"/>
            <a:ext cx="10404472" cy="5023609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Optimizes reading from a stream of type </a:t>
            </a:r>
            <a:r>
              <a:rPr lang="en-US" sz="1946" dirty="0">
                <a:solidFill>
                  <a:schemeClr val="tx1"/>
                </a:solidFill>
                <a:latin typeface="Courier"/>
                <a:cs typeface="Courier"/>
              </a:rPr>
              <a:t>Reader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 </a:t>
            </a:r>
            <a:r>
              <a:rPr lang="en-US" sz="2000" b="1" dirty="0" err="1">
                <a:solidFill>
                  <a:schemeClr val="tx1"/>
                </a:solidFill>
                <a:latin typeface="Courier"/>
                <a:cs typeface="Courier"/>
              </a:rPr>
              <a:t>BufferedReader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Get a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fixed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number</a:t>
            </a:r>
            <a:r>
              <a:rPr lang="en-US" dirty="0">
                <a:solidFill>
                  <a:schemeClr val="tx1"/>
                </a:solidFill>
              </a:rPr>
              <a:t> of characters (at a time).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Program reads from </a:t>
            </a:r>
            <a:r>
              <a:rPr lang="en-US" b="1" dirty="0">
                <a:solidFill>
                  <a:schemeClr val="tx1"/>
                </a:solidFill>
              </a:rPr>
              <a:t>buffer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When </a:t>
            </a:r>
            <a:r>
              <a:rPr lang="en-US" b="1" dirty="0">
                <a:solidFill>
                  <a:schemeClr val="tx1"/>
                </a:solidFill>
              </a:rPr>
              <a:t>all data in buffer has been </a:t>
            </a:r>
            <a:r>
              <a:rPr lang="en-US" b="1" dirty="0">
                <a:solidFill>
                  <a:srgbClr val="00B050"/>
                </a:solidFill>
              </a:rPr>
              <a:t>read</a:t>
            </a:r>
            <a:r>
              <a:rPr lang="en-US" dirty="0">
                <a:solidFill>
                  <a:schemeClr val="tx1"/>
                </a:solidFill>
              </a:rPr>
              <a:t>, the buffer will be </a:t>
            </a:r>
            <a:r>
              <a:rPr lang="en-US" b="1" dirty="0">
                <a:solidFill>
                  <a:srgbClr val="00B050"/>
                </a:solidFill>
              </a:rPr>
              <a:t>refilled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Reduces the number of times the </a:t>
            </a:r>
            <a:r>
              <a:rPr lang="en-US" b="1" dirty="0">
                <a:solidFill>
                  <a:schemeClr val="tx1"/>
                </a:solidFill>
              </a:rPr>
              <a:t>disk is </a:t>
            </a:r>
            <a:r>
              <a:rPr lang="en-US" b="1" dirty="0">
                <a:solidFill>
                  <a:srgbClr val="FF0000"/>
                </a:solidFill>
              </a:rPr>
              <a:t>accessed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5955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5618033" cy="678733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  <a:cs typeface="Courier"/>
              </a:rPr>
              <a:t>Class </a:t>
            </a:r>
            <a:r>
              <a:rPr lang="en-US" dirty="0" err="1">
                <a:latin typeface="Courier"/>
                <a:cs typeface="Courier"/>
              </a:rPr>
              <a:t>BufferedWriter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64457"/>
            <a:ext cx="10404472" cy="4962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Optimizes writing to a stream of type </a:t>
            </a:r>
            <a:r>
              <a:rPr lang="en-US" sz="1946" dirty="0">
                <a:solidFill>
                  <a:schemeClr val="tx1"/>
                </a:solidFill>
                <a:latin typeface="Courier"/>
                <a:cs typeface="Courier"/>
              </a:rPr>
              <a:t>Writer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 </a:t>
            </a:r>
            <a:r>
              <a:rPr lang="en-US" sz="2000" b="1" dirty="0" err="1">
                <a:solidFill>
                  <a:schemeClr val="tx1"/>
                </a:solidFill>
                <a:latin typeface="Courier"/>
                <a:cs typeface="Courier"/>
              </a:rPr>
              <a:t>BufferedWriter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Writes each character to a </a:t>
            </a:r>
            <a:r>
              <a:rPr lang="en-US" b="1" dirty="0">
                <a:solidFill>
                  <a:srgbClr val="00B050"/>
                </a:solidFill>
              </a:rPr>
              <a:t>buffer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Transfers all </a:t>
            </a:r>
            <a:r>
              <a:rPr lang="en-US" b="1" dirty="0">
                <a:solidFill>
                  <a:schemeClr val="tx1"/>
                </a:solidFill>
              </a:rPr>
              <a:t>data from buffer to disk</a:t>
            </a:r>
            <a:r>
              <a:rPr lang="en-US" dirty="0">
                <a:solidFill>
                  <a:schemeClr val="tx1"/>
                </a:solidFill>
              </a:rPr>
              <a:t> (when the buffer is </a:t>
            </a:r>
            <a:r>
              <a:rPr lang="en-US" b="1" i="1" dirty="0">
                <a:solidFill>
                  <a:srgbClr val="FF0000"/>
                </a:solidFill>
              </a:rPr>
              <a:t>full</a:t>
            </a:r>
            <a:r>
              <a:rPr lang="en-US" i="1" dirty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i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More efficient </a:t>
            </a:r>
            <a:r>
              <a:rPr lang="en-US" dirty="0">
                <a:solidFill>
                  <a:schemeClr val="tx1"/>
                </a:solidFill>
              </a:rPr>
              <a:t>than writing one character at a time (to disk). </a:t>
            </a:r>
          </a:p>
        </p:txBody>
      </p:sp>
    </p:spTree>
    <p:extLst>
      <p:ext uri="{BB962C8B-B14F-4D97-AF65-F5344CB8AC3E}">
        <p14:creationId xmlns:p14="http://schemas.microsoft.com/office/powerpoint/2010/main" val="269202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186" y="761213"/>
            <a:ext cx="8229600" cy="537559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+mn-lt"/>
                <a:cs typeface="Courier"/>
              </a:rPr>
              <a:t>Class </a:t>
            </a:r>
            <a:r>
              <a:rPr lang="en-US" sz="3200" dirty="0" err="1">
                <a:latin typeface="Courier"/>
                <a:cs typeface="Courier"/>
              </a:rPr>
              <a:t>BufferedReader</a:t>
            </a:r>
            <a:endParaRPr lang="en-US" sz="3200" dirty="0">
              <a:latin typeface="Courier"/>
              <a:cs typeface="Courier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866" y="1986035"/>
            <a:ext cx="6705600" cy="426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06866" y="3677831"/>
            <a:ext cx="2273188" cy="102768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23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057400"/>
            <a:ext cx="6678909" cy="3733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097" y="755256"/>
            <a:ext cx="8229600" cy="478779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+mn-lt"/>
                <a:cs typeface="Courier"/>
              </a:rPr>
              <a:t>Class </a:t>
            </a:r>
            <a:r>
              <a:rPr lang="en-US" sz="3200" dirty="0" err="1">
                <a:latin typeface="Courier"/>
                <a:cs typeface="Courier"/>
              </a:rPr>
              <a:t>BufferedWriter</a:t>
            </a:r>
            <a:endParaRPr lang="en-US" sz="3200" dirty="0">
              <a:latin typeface="Courier"/>
              <a:cs typeface="Couri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02145" y="3778981"/>
            <a:ext cx="3406747" cy="93463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26460" y="4875451"/>
            <a:ext cx="594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67168" y="4690785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2240616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10417284" cy="57758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Courier"/>
              </a:rPr>
              <a:t>Classes </a:t>
            </a:r>
            <a:r>
              <a:rPr lang="en-US" dirty="0" err="1">
                <a:latin typeface="Courier"/>
                <a:cs typeface="Courier"/>
              </a:rPr>
              <a:t>BufferedReader</a:t>
            </a:r>
            <a:r>
              <a:rPr lang="en-US" dirty="0" err="1"/>
              <a:t>/</a:t>
            </a:r>
            <a:r>
              <a:rPr lang="en-US" dirty="0" err="1">
                <a:latin typeface="Courier"/>
                <a:cs typeface="Courier"/>
              </a:rPr>
              <a:t>BufferedWriter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364011" cy="4942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Note: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Closing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 buffered reader/writer </a:t>
            </a:r>
            <a:r>
              <a:rPr lang="en-US" b="1" dirty="0">
                <a:solidFill>
                  <a:schemeClr val="tx1"/>
                </a:solidFill>
              </a:rPr>
              <a:t>also </a:t>
            </a:r>
            <a:r>
              <a:rPr lang="en-US" b="1" dirty="0">
                <a:solidFill>
                  <a:srgbClr val="FF0000"/>
                </a:solidFill>
              </a:rPr>
              <a:t>closes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the underlying stream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Flush a buffered writer (before closing it).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Close the readers and writers in the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finally</a:t>
            </a:r>
            <a:r>
              <a:rPr lang="en-US" sz="18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block.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Examples:</a:t>
            </a:r>
          </a:p>
          <a:p>
            <a:pPr lvl="1">
              <a:buNone/>
            </a:pP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1">
              <a:buNone/>
            </a:pP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bufferedReader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 = new </a:t>
            </a: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BufferedReader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(reader);</a:t>
            </a:r>
          </a:p>
          <a:p>
            <a:pPr lvl="1">
              <a:buNone/>
            </a:pP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1">
              <a:buNone/>
            </a:pP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bufferedWriter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 = new </a:t>
            </a: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BufferedWriter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(writer);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63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77833"/>
            <a:ext cx="2178918" cy="57758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589731-5C53-EB66-C750-1FE0AA856745}"/>
              </a:ext>
            </a:extLst>
          </p:cNvPr>
          <p:cNvSpPr txBox="1">
            <a:spLocks/>
          </p:cNvSpPr>
          <p:nvPr/>
        </p:nvSpPr>
        <p:spPr>
          <a:xfrm>
            <a:off x="936516" y="7552"/>
            <a:ext cx="9418767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CSEN160_06_Lecture_FileIO_AdvancedFileIO_Serialize.scu.csen160.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FileIO</a:t>
            </a:r>
            <a:r>
              <a:rPr lang="en-US" sz="1400" dirty="0">
                <a:solidFill>
                  <a:srgbClr val="FF0000"/>
                </a:solidFill>
              </a:rPr>
              <a:t>. </a:t>
            </a:r>
            <a:r>
              <a:rPr lang="en-US" sz="1400" dirty="0" err="1">
                <a:solidFill>
                  <a:srgbClr val="FF0000"/>
                </a:solidFill>
                <a:latin typeface="+mn-lt"/>
                <a:cs typeface="Courier"/>
              </a:rPr>
              <a:t>C_BufferedReaderWriterExample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FBD79-4C35-06F2-EC94-A505F6AD3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379" y="777833"/>
            <a:ext cx="5665753" cy="58509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77DF5B-410F-1249-1C8D-F0897C53DE2E}"/>
              </a:ext>
            </a:extLst>
          </p:cNvPr>
          <p:cNvSpPr/>
          <p:nvPr/>
        </p:nvSpPr>
        <p:spPr>
          <a:xfrm>
            <a:off x="3958879" y="5159048"/>
            <a:ext cx="4414654" cy="50515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D1CB38-C115-69AE-56BA-F7D6FDD0DF28}"/>
              </a:ext>
            </a:extLst>
          </p:cNvPr>
          <p:cNvSpPr/>
          <p:nvPr/>
        </p:nvSpPr>
        <p:spPr>
          <a:xfrm>
            <a:off x="3958879" y="3858690"/>
            <a:ext cx="1925454" cy="17144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70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1639532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2"/>
            <a:ext cx="3162100" cy="52093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</a:t>
            </a:r>
            <a:r>
              <a:rPr lang="en-US" dirty="0">
                <a:latin typeface="Courier"/>
                <a:cs typeface="Courier"/>
              </a:rPr>
              <a:t>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47123"/>
            <a:ext cx="10416610" cy="5076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General: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 scanner this time with a </a:t>
            </a:r>
            <a:r>
              <a:rPr lang="en-US" b="1" dirty="0">
                <a:solidFill>
                  <a:srgbClr val="FF0000"/>
                </a:solidFill>
              </a:rPr>
              <a:t>file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Simpler to use than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FileReader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BufferedFileReader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Defined in 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java.util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2004487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2"/>
            <a:ext cx="3162100" cy="52093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</a:t>
            </a:r>
            <a:r>
              <a:rPr lang="en-US" dirty="0">
                <a:latin typeface="Courier"/>
                <a:cs typeface="Courier"/>
              </a:rPr>
              <a:t>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47123"/>
            <a:ext cx="10416610" cy="50762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Token: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Reads data in the form of </a:t>
            </a:r>
            <a:r>
              <a:rPr lang="en-US" i="1" dirty="0">
                <a:solidFill>
                  <a:srgbClr val="00B050"/>
                </a:solidFill>
              </a:rPr>
              <a:t>tokens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endParaRPr lang="en-US" b="1" dirty="0"/>
          </a:p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token </a:t>
            </a:r>
            <a:r>
              <a:rPr lang="en-US" dirty="0">
                <a:solidFill>
                  <a:schemeClr val="tx1"/>
                </a:solidFill>
              </a:rPr>
              <a:t>consists of a set of characters, separated by </a:t>
            </a:r>
            <a:r>
              <a:rPr lang="en-US" b="1" i="1" dirty="0">
                <a:solidFill>
                  <a:srgbClr val="FF0000"/>
                </a:solidFill>
              </a:rPr>
              <a:t>whitespace</a:t>
            </a:r>
            <a:r>
              <a:rPr lang="en-US" i="1" dirty="0">
                <a:solidFill>
                  <a:schemeClr val="tx1"/>
                </a:solidFill>
              </a:rPr>
              <a:t>.</a:t>
            </a:r>
            <a:r>
              <a:rPr lang="en-US" i="1" dirty="0"/>
              <a:t> </a:t>
            </a:r>
          </a:p>
          <a:p>
            <a:endParaRPr lang="en-US" i="1" dirty="0"/>
          </a:p>
          <a:p>
            <a:r>
              <a:rPr lang="en-US" b="1" dirty="0">
                <a:solidFill>
                  <a:schemeClr val="tx1"/>
                </a:solidFill>
              </a:rPr>
              <a:t>Whitespace</a:t>
            </a:r>
            <a:r>
              <a:rPr lang="en-US" i="1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space bar, tab, enter keys, …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786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452146" cy="557353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</a:t>
            </a:r>
            <a:r>
              <a:rPr lang="en-US" dirty="0">
                <a:latin typeface="Courier"/>
                <a:cs typeface="Courier"/>
              </a:rPr>
              <a:t>Scanner</a:t>
            </a:r>
            <a:r>
              <a:rPr lang="en-US" dirty="0">
                <a:latin typeface="+mn-lt"/>
                <a:cs typeface="Courier"/>
              </a:rPr>
              <a:t> (</a:t>
            </a:r>
            <a:r>
              <a:rPr lang="en-US" dirty="0"/>
              <a:t>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19951"/>
            <a:ext cx="10416610" cy="5035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chemeClr val="tx1"/>
                </a:solidFill>
              </a:rPr>
              <a:t>Iterator like:</a:t>
            </a:r>
          </a:p>
          <a:p>
            <a:pPr marL="0" indent="0">
              <a:buNone/>
            </a:pPr>
            <a:endParaRPr lang="en-US" sz="2900" dirty="0">
              <a:solidFill>
                <a:schemeClr val="tx1"/>
              </a:solidFill>
            </a:endParaRPr>
          </a:p>
          <a:p>
            <a:r>
              <a:rPr lang="en-US" sz="2900" dirty="0">
                <a:solidFill>
                  <a:schemeClr val="tx1"/>
                </a:solidFill>
              </a:rPr>
              <a:t>The </a:t>
            </a:r>
            <a:r>
              <a:rPr lang="en-US" sz="2900" dirty="0">
                <a:solidFill>
                  <a:schemeClr val="tx1"/>
                </a:solidFill>
                <a:latin typeface="Courier"/>
                <a:cs typeface="Courier"/>
              </a:rPr>
              <a:t>next</a:t>
            </a:r>
            <a:r>
              <a:rPr lang="en-US" sz="29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sz="2900" dirty="0">
                <a:solidFill>
                  <a:schemeClr val="tx1"/>
                </a:solidFill>
              </a:rPr>
              <a:t>method reads one token from the input each time it is called. </a:t>
            </a:r>
          </a:p>
          <a:p>
            <a:endParaRPr lang="en-US" sz="2900" dirty="0">
              <a:solidFill>
                <a:schemeClr val="tx1"/>
              </a:solidFill>
            </a:endParaRPr>
          </a:p>
          <a:p>
            <a:r>
              <a:rPr lang="en-US" sz="2900" dirty="0">
                <a:solidFill>
                  <a:schemeClr val="tx1"/>
                </a:solidFill>
              </a:rPr>
              <a:t>Use </a:t>
            </a:r>
            <a:r>
              <a:rPr lang="en-US" sz="2900" dirty="0" err="1">
                <a:solidFill>
                  <a:schemeClr val="tx1"/>
                </a:solidFill>
                <a:latin typeface="Courier"/>
                <a:cs typeface="Courier"/>
              </a:rPr>
              <a:t>hasNext</a:t>
            </a:r>
            <a:r>
              <a:rPr lang="en-US" sz="29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sz="2900" dirty="0">
                <a:solidFill>
                  <a:schemeClr val="tx1"/>
                </a:solidFill>
              </a:rPr>
              <a:t>to determine whether a next token is available </a:t>
            </a:r>
            <a:br>
              <a:rPr lang="en-US" sz="2900" dirty="0">
                <a:solidFill>
                  <a:schemeClr val="tx1"/>
                </a:solidFill>
              </a:rPr>
            </a:br>
            <a:r>
              <a:rPr lang="en-US" sz="2900" dirty="0">
                <a:solidFill>
                  <a:schemeClr val="tx1"/>
                </a:solidFill>
              </a:rPr>
              <a:t>(before calling </a:t>
            </a:r>
            <a:r>
              <a:rPr lang="en-US" sz="2900" dirty="0">
                <a:solidFill>
                  <a:schemeClr val="tx1"/>
                </a:solidFill>
                <a:latin typeface="Courier"/>
                <a:cs typeface="Courier"/>
              </a:rPr>
              <a:t>next)</a:t>
            </a:r>
            <a:r>
              <a:rPr lang="en-US" sz="29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425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76305"/>
            <a:ext cx="2013031" cy="54926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3136" y="6153993"/>
            <a:ext cx="777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DE4F4E-30E5-D9C9-0A04-1B42A0C855DD}"/>
              </a:ext>
            </a:extLst>
          </p:cNvPr>
          <p:cNvSpPr txBox="1">
            <a:spLocks/>
          </p:cNvSpPr>
          <p:nvPr/>
        </p:nvSpPr>
        <p:spPr>
          <a:xfrm>
            <a:off x="975624" y="4847"/>
            <a:ext cx="7391328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CSEN160_06_Lecture_FileIO_AdvancedFileIO_Serialize.scu.csen160.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FileIO.</a:t>
            </a:r>
            <a:r>
              <a:rPr lang="en-US" dirty="0" err="1">
                <a:solidFill>
                  <a:srgbClr val="FF0000"/>
                </a:solidFill>
                <a:latin typeface="+mn-lt"/>
                <a:cs typeface="Courier"/>
              </a:rPr>
              <a:t>D_ScannerExample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889FCA-CB73-0C2B-1B9A-A559E21AD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031" y="1736417"/>
            <a:ext cx="8457803" cy="457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77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>
            <a:normAutofit/>
          </a:bodyPr>
          <a:lstStyle/>
          <a:p>
            <a:r>
              <a:rPr lang="en-US" altLang="en-US" dirty="0"/>
              <a:t>Text File Formats</a:t>
            </a:r>
          </a:p>
        </p:txBody>
      </p:sp>
    </p:spTree>
    <p:extLst>
      <p:ext uri="{BB962C8B-B14F-4D97-AF65-F5344CB8AC3E}">
        <p14:creationId xmlns:p14="http://schemas.microsoft.com/office/powerpoint/2010/main" val="51487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4084592" cy="658503"/>
          </a:xfrm>
        </p:spPr>
        <p:txBody>
          <a:bodyPr/>
          <a:lstStyle/>
          <a:p>
            <a:r>
              <a:rPr lang="en-US" dirty="0"/>
              <a:t>Text File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97977"/>
            <a:ext cx="10372103" cy="4813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formats:</a:t>
            </a:r>
          </a:p>
          <a:p>
            <a:pPr lvl="1"/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ASCII</a:t>
            </a:r>
          </a:p>
          <a:p>
            <a:pPr lvl="1"/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ANSI</a:t>
            </a:r>
          </a:p>
          <a:p>
            <a:pPr lvl="1"/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val="3050774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466"/>
            <a:ext cx="4193834" cy="775838"/>
          </a:xfrm>
        </p:spPr>
        <p:txBody>
          <a:bodyPr/>
          <a:lstStyle/>
          <a:p>
            <a:r>
              <a:rPr lang="en-US" dirty="0"/>
              <a:t>ASCII File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17057"/>
            <a:ext cx="10400426" cy="490627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Uses</a:t>
            </a:r>
            <a:r>
              <a:rPr lang="en-US" dirty="0">
                <a:solidFill>
                  <a:srgbClr val="0000FF"/>
                </a:solidFill>
              </a:rPr>
              <a:t> 7-bit </a:t>
            </a:r>
            <a:r>
              <a:rPr lang="en-US" dirty="0">
                <a:solidFill>
                  <a:schemeClr val="tx1"/>
                </a:solidFill>
              </a:rPr>
              <a:t>binary numbers to represent characters.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Limited to letters in the English alphabet and some special symbols (such as + and −) that can be seen on a keyboard.</a:t>
            </a:r>
          </a:p>
        </p:txBody>
      </p:sp>
    </p:spTree>
    <p:extLst>
      <p:ext uri="{BB962C8B-B14F-4D97-AF65-F5344CB8AC3E}">
        <p14:creationId xmlns:p14="http://schemas.microsoft.com/office/powerpoint/2010/main" val="1163398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466"/>
            <a:ext cx="4193834" cy="775838"/>
          </a:xfrm>
        </p:spPr>
        <p:txBody>
          <a:bodyPr/>
          <a:lstStyle/>
          <a:p>
            <a:r>
              <a:rPr lang="en-US" dirty="0"/>
              <a:t>ASCII File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17057"/>
            <a:ext cx="10400426" cy="490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Examples: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“a” has the ASCII code “110 0001” (or decimal value 97), 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“A” has the ASCII code “100 0001” (or decimal value 65).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…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0936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1414220" cy="682779"/>
          </a:xfrm>
        </p:spPr>
        <p:txBody>
          <a:bodyPr/>
          <a:lstStyle/>
          <a:p>
            <a:r>
              <a:rPr lang="en-US" dirty="0"/>
              <a:t>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77747"/>
            <a:ext cx="10388288" cy="4849630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Uses </a:t>
            </a:r>
            <a:r>
              <a:rPr lang="en-US" sz="2800" dirty="0">
                <a:solidFill>
                  <a:srgbClr val="0000FF"/>
                </a:solidFill>
              </a:rPr>
              <a:t>8-bit </a:t>
            </a:r>
            <a:r>
              <a:rPr lang="en-US" sz="2800" dirty="0">
                <a:solidFill>
                  <a:schemeClr val="tx1"/>
                </a:solidFill>
              </a:rPr>
              <a:t>codes.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Can represent more information than ASCII 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Such as symbols and letters from some European languages ä, ö, and ü.</a:t>
            </a:r>
          </a:p>
        </p:txBody>
      </p:sp>
    </p:spTree>
    <p:extLst>
      <p:ext uri="{BB962C8B-B14F-4D97-AF65-F5344CB8AC3E}">
        <p14:creationId xmlns:p14="http://schemas.microsoft.com/office/powerpoint/2010/main" val="1810300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1414220" cy="682779"/>
          </a:xfrm>
        </p:spPr>
        <p:txBody>
          <a:bodyPr/>
          <a:lstStyle/>
          <a:p>
            <a:r>
              <a:rPr lang="en-US" dirty="0"/>
              <a:t>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77747"/>
            <a:ext cx="10388288" cy="4849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The file </a:t>
            </a:r>
            <a:r>
              <a:rPr lang="en-US" sz="24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is stored in an ANSI format (each character one byte) 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Moving file pointer in </a:t>
            </a:r>
            <a:r>
              <a:rPr lang="en-US" sz="24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4 bytes forwards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Moves it ahead by 4 characters in the file.</a:t>
            </a:r>
          </a:p>
        </p:txBody>
      </p:sp>
    </p:spTree>
    <p:extLst>
      <p:ext uri="{BB962C8B-B14F-4D97-AF65-F5344CB8AC3E}">
        <p14:creationId xmlns:p14="http://schemas.microsoft.com/office/powerpoint/2010/main" val="3758182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419"/>
            <a:ext cx="2195102" cy="735377"/>
          </a:xfrm>
        </p:spPr>
        <p:txBody>
          <a:bodyPr/>
          <a:lstStyle/>
          <a:p>
            <a:r>
              <a:rPr lang="en-US" dirty="0"/>
              <a:t>Unicode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194" y="1826299"/>
            <a:ext cx="10428748" cy="4805124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Stores characters as </a:t>
            </a:r>
            <a:r>
              <a:rPr lang="en-US" sz="2800" dirty="0">
                <a:solidFill>
                  <a:srgbClr val="0000FF"/>
                </a:solidFill>
              </a:rPr>
              <a:t>16-bit </a:t>
            </a:r>
            <a:r>
              <a:rPr lang="en-US" sz="2800" dirty="0">
                <a:solidFill>
                  <a:schemeClr val="tx1"/>
                </a:solidFill>
              </a:rPr>
              <a:t>values.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Represents a wider range of characters than ASCII and ANSI </a:t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Such as characters from Asian languages.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25148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/>
          <a:lstStyle/>
          <a:p>
            <a:r>
              <a:rPr lang="en-US" altLang="en-US" dirty="0" err="1"/>
              <a:t>RandomAccessFile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7113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083325" cy="662549"/>
          </a:xfrm>
        </p:spPr>
        <p:txBody>
          <a:bodyPr/>
          <a:lstStyle/>
          <a:p>
            <a:r>
              <a:rPr lang="en-US" dirty="0"/>
              <a:t>Accessing Files Randomly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54621"/>
            <a:ext cx="10392334" cy="4792986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Class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RandomAccessFil</a:t>
            </a:r>
            <a:r>
              <a:rPr lang="en-US" sz="2000" dirty="0" err="1">
                <a:solidFill>
                  <a:schemeClr val="tx1"/>
                </a:solidFill>
                <a:cs typeface="Courier"/>
              </a:rPr>
              <a:t>e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can be used to:</a:t>
            </a:r>
          </a:p>
          <a:p>
            <a:pPr lvl="1"/>
            <a:r>
              <a:rPr lang="en-US" b="1" i="1" dirty="0">
                <a:solidFill>
                  <a:schemeClr val="tx1"/>
                </a:solidFill>
              </a:rPr>
              <a:t>read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i="1" dirty="0">
                <a:solidFill>
                  <a:schemeClr val="tx1"/>
                </a:solidFill>
              </a:rPr>
              <a:t>write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any </a:t>
            </a:r>
            <a:r>
              <a:rPr lang="en-US" b="1" i="1" dirty="0">
                <a:solidFill>
                  <a:schemeClr val="tx1"/>
                </a:solidFill>
              </a:rPr>
              <a:t>arbitrary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location (within a file).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Used to read: </a:t>
            </a:r>
            <a:r>
              <a:rPr lang="en-US" b="1" dirty="0">
                <a:solidFill>
                  <a:srgbClr val="0000FF"/>
                </a:solidFill>
              </a:rPr>
              <a:t>textual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binary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data.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Contains a </a:t>
            </a:r>
            <a:r>
              <a:rPr lang="en-US" b="1" dirty="0">
                <a:solidFill>
                  <a:schemeClr val="tx1"/>
                </a:solidFill>
              </a:rPr>
              <a:t>file pointer, </a:t>
            </a:r>
            <a:r>
              <a:rPr lang="en-US" dirty="0">
                <a:solidFill>
                  <a:schemeClr val="tx1"/>
                </a:solidFill>
              </a:rPr>
              <a:t>which can be moved.</a:t>
            </a:r>
          </a:p>
        </p:txBody>
      </p:sp>
    </p:spTree>
    <p:extLst>
      <p:ext uri="{BB962C8B-B14F-4D97-AF65-F5344CB8AC3E}">
        <p14:creationId xmlns:p14="http://schemas.microsoft.com/office/powerpoint/2010/main" val="3975207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083325" cy="662549"/>
          </a:xfrm>
        </p:spPr>
        <p:txBody>
          <a:bodyPr/>
          <a:lstStyle/>
          <a:p>
            <a:r>
              <a:rPr lang="en-US" dirty="0"/>
              <a:t>Accessing Files Randomly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54621"/>
            <a:ext cx="10392334" cy="47929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Initially</a:t>
            </a:r>
            <a:r>
              <a:rPr lang="en-US" dirty="0">
                <a:solidFill>
                  <a:schemeClr val="tx1"/>
                </a:solidFill>
              </a:rPr>
              <a:t>: the file pointer is at the beginning.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Reading/writing starts from the location, where this file pointer is positioned.</a:t>
            </a:r>
          </a:p>
          <a:p>
            <a:endParaRPr lang="en-US" sz="2000" dirty="0">
              <a:solidFill>
                <a:schemeClr val="tx1"/>
              </a:solidFill>
              <a:latin typeface="Courier"/>
              <a:cs typeface="Courier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RandomAccessFile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cannot</a:t>
            </a:r>
            <a:r>
              <a:rPr lang="en-US" i="1" dirty="0"/>
              <a:t> </a:t>
            </a:r>
            <a:r>
              <a:rPr lang="en-US" dirty="0">
                <a:solidFill>
                  <a:schemeClr val="tx1"/>
                </a:solidFill>
              </a:rPr>
              <a:t>be wrapped inside a buffered stream.</a:t>
            </a:r>
          </a:p>
        </p:txBody>
      </p:sp>
    </p:spTree>
    <p:extLst>
      <p:ext uri="{BB962C8B-B14F-4D97-AF65-F5344CB8AC3E}">
        <p14:creationId xmlns:p14="http://schemas.microsoft.com/office/powerpoint/2010/main" val="3637070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09" y="1229990"/>
            <a:ext cx="4244947" cy="53723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052" y="747164"/>
            <a:ext cx="5423012" cy="52733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Class </a:t>
            </a:r>
            <a:r>
              <a:rPr lang="en-US" sz="3200" dirty="0" err="1">
                <a:latin typeface="Courier"/>
                <a:cs typeface="Courier"/>
              </a:rPr>
              <a:t>RandomAccessFile</a:t>
            </a:r>
            <a:endParaRPr lang="en-US" sz="3200" dirty="0">
              <a:latin typeface="Courier"/>
              <a:cs typeface="Couri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28009" y="2091791"/>
            <a:ext cx="4244947" cy="40055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28009" y="2520669"/>
            <a:ext cx="4244947" cy="216866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32055" y="4689335"/>
            <a:ext cx="4244947" cy="11814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45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Exercise </a:t>
            </a:r>
            <a:br>
              <a:rPr lang="en-US" altLang="en-US" dirty="0"/>
            </a:br>
            <a:r>
              <a:rPr lang="en-US" altLang="en-US" dirty="0" err="1"/>
              <a:t>RandomAccessFile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53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31"/>
            <a:ext cx="2138457" cy="699298"/>
          </a:xfrm>
        </p:spPr>
        <p:txBody>
          <a:bodyPr>
            <a:normAutofit/>
          </a:bodyPr>
          <a:lstStyle/>
          <a:p>
            <a:r>
              <a:rPr lang="en-US" dirty="0"/>
              <a:t>Exercise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56" y="1683054"/>
            <a:ext cx="11274365" cy="489172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Create file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2000" dirty="0">
                <a:solidFill>
                  <a:schemeClr val="tx1"/>
                </a:solidFill>
              </a:rPr>
              <a:t> and paste the following text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“Audio files can be stored in a variety of formats such as wav, wma, mp3, </a:t>
            </a:r>
            <a:r>
              <a:rPr lang="en-US" dirty="0" err="1">
                <a:solidFill>
                  <a:schemeClr val="tx1"/>
                </a:solidFill>
              </a:rPr>
              <a:t>aiff</a:t>
            </a:r>
            <a:r>
              <a:rPr lang="en-US" dirty="0">
                <a:solidFill>
                  <a:schemeClr val="tx1"/>
                </a:solidFill>
              </a:rPr>
              <a:t>, au and many others.”</a:t>
            </a:r>
          </a:p>
          <a:p>
            <a:r>
              <a:rPr lang="en-US" b="1" dirty="0">
                <a:solidFill>
                  <a:schemeClr val="tx1"/>
                </a:solidFill>
              </a:rPr>
              <a:t>Change: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From 	“Audio files can be stored in a variety of formats such as wav, </a:t>
            </a:r>
            <a:r>
              <a:rPr lang="en-US" dirty="0" err="1">
                <a:solidFill>
                  <a:schemeClr val="tx1"/>
                </a:solidFill>
              </a:rPr>
              <a:t>wma</a:t>
            </a:r>
            <a:r>
              <a:rPr lang="en-US" dirty="0">
                <a:solidFill>
                  <a:schemeClr val="tx1"/>
                </a:solidFill>
              </a:rPr>
              <a:t>, mp3, </a:t>
            </a:r>
            <a:r>
              <a:rPr lang="en-US" dirty="0" err="1">
                <a:solidFill>
                  <a:schemeClr val="tx1"/>
                </a:solidFill>
              </a:rPr>
              <a:t>aiff</a:t>
            </a:r>
            <a:r>
              <a:rPr lang="en-US" dirty="0">
                <a:solidFill>
                  <a:schemeClr val="tx1"/>
                </a:solidFill>
              </a:rPr>
              <a:t>, au </a:t>
            </a:r>
            <a:r>
              <a:rPr lang="en-US" b="1" dirty="0">
                <a:solidFill>
                  <a:srgbClr val="FF0000"/>
                </a:solidFill>
              </a:rPr>
              <a:t>and many others.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To	      	“Audio files can be stored in a variety of formats such as wav, </a:t>
            </a:r>
            <a:r>
              <a:rPr lang="en-US" dirty="0" err="1">
                <a:solidFill>
                  <a:schemeClr val="tx1"/>
                </a:solidFill>
              </a:rPr>
              <a:t>wma</a:t>
            </a:r>
            <a:r>
              <a:rPr lang="en-US" dirty="0">
                <a:solidFill>
                  <a:schemeClr val="tx1"/>
                </a:solidFill>
              </a:rPr>
              <a:t>, mp3, </a:t>
            </a:r>
            <a:r>
              <a:rPr lang="en-US" dirty="0" err="1">
                <a:solidFill>
                  <a:schemeClr val="tx1"/>
                </a:solidFill>
              </a:rPr>
              <a:t>aiff</a:t>
            </a:r>
            <a:r>
              <a:rPr lang="en-US" dirty="0">
                <a:solidFill>
                  <a:schemeClr val="tx1"/>
                </a:solidFill>
              </a:rPr>
              <a:t>, au </a:t>
            </a:r>
            <a:r>
              <a:rPr lang="en-US" b="1" dirty="0">
                <a:solidFill>
                  <a:srgbClr val="00B050"/>
                </a:solidFill>
              </a:rPr>
              <a:t>etc</a:t>
            </a:r>
            <a:r>
              <a:rPr lang="en-US" dirty="0">
                <a:solidFill>
                  <a:srgbClr val="92D050"/>
                </a:solidFill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r>
              <a:rPr lang="en-US" b="1" dirty="0"/>
              <a:t>Object</a:t>
            </a:r>
            <a:r>
              <a:rPr lang="en-US" dirty="0"/>
              <a:t>: “</a:t>
            </a:r>
            <a:r>
              <a:rPr lang="en-US" dirty="0" err="1"/>
              <a:t>RandomAccessFile</a:t>
            </a:r>
            <a:r>
              <a:rPr lang="en-US" dirty="0"/>
              <a:t> </a:t>
            </a:r>
            <a:r>
              <a:rPr lang="en-US" dirty="0" err="1"/>
              <a:t>rafile</a:t>
            </a:r>
            <a:r>
              <a:rPr lang="en-US" dirty="0"/>
              <a:t> = new </a:t>
            </a:r>
            <a:r>
              <a:rPr lang="en-US" dirty="0" err="1"/>
              <a:t>RandomAccessFile</a:t>
            </a:r>
            <a:r>
              <a:rPr lang="en-US" dirty="0"/>
              <a:t>(new File("info.txt"), "</a:t>
            </a:r>
            <a:r>
              <a:rPr lang="en-US" dirty="0" err="1"/>
              <a:t>rw</a:t>
            </a:r>
            <a:r>
              <a:rPr lang="en-US" dirty="0"/>
              <a:t>");”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Move file pointer with seek: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Write a character with: </a:t>
            </a:r>
            <a:r>
              <a:rPr lang="en-US" dirty="0">
                <a:solidFill>
                  <a:schemeClr val="tx1"/>
                </a:solidFill>
                <a:latin typeface="Courier"/>
              </a:rPr>
              <a:t>“</a:t>
            </a:r>
            <a:r>
              <a:rPr lang="en-US" dirty="0" err="1">
                <a:solidFill>
                  <a:schemeClr val="tx1"/>
                </a:solidFill>
                <a:latin typeface="Courier"/>
              </a:rPr>
              <a:t>rafile.write</a:t>
            </a:r>
            <a:r>
              <a:rPr lang="en-US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"/>
              </a:rPr>
              <a:t>ch</a:t>
            </a:r>
            <a:r>
              <a:rPr lang="en-US" dirty="0">
                <a:solidFill>
                  <a:schemeClr val="tx1"/>
                </a:solidFill>
                <a:latin typeface="Courier"/>
              </a:rPr>
              <a:t>);”</a:t>
            </a:r>
          </a:p>
          <a:p>
            <a:r>
              <a:rPr lang="en-US" dirty="0">
                <a:solidFill>
                  <a:schemeClr val="tx1"/>
                </a:solidFill>
              </a:rPr>
              <a:t>With “</a:t>
            </a:r>
            <a:r>
              <a:rPr lang="en-US" sz="2000" dirty="0" err="1">
                <a:solidFill>
                  <a:schemeClr val="tx1"/>
                </a:solidFill>
                <a:latin typeface="Courier"/>
              </a:rPr>
              <a:t>rafile.setLength</a:t>
            </a:r>
            <a:r>
              <a:rPr lang="en-US" sz="2000" dirty="0">
                <a:solidFill>
                  <a:schemeClr val="tx1"/>
                </a:solidFill>
                <a:latin typeface="Courier"/>
              </a:rPr>
              <a:t>( some number );</a:t>
            </a:r>
            <a:r>
              <a:rPr lang="en-US" dirty="0">
                <a:solidFill>
                  <a:schemeClr val="tx1"/>
                </a:solidFill>
              </a:rPr>
              <a:t>” You can actually shorten a file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38856" y="4945137"/>
            <a:ext cx="10655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en-US" dirty="0" err="1">
                <a:latin typeface="Courier"/>
                <a:cs typeface="Courier"/>
              </a:rPr>
              <a:t>rafile.seek</a:t>
            </a:r>
            <a:r>
              <a:rPr lang="en-US" dirty="0">
                <a:latin typeface="Courier"/>
                <a:cs typeface="Courier"/>
              </a:rPr>
              <a:t>(4); </a:t>
            </a:r>
            <a:r>
              <a:rPr lang="en-US" sz="1400" dirty="0">
                <a:latin typeface="Courier"/>
                <a:cs typeface="Courier"/>
              </a:rPr>
              <a:t>// The offset position, measured in bytes from the beginning of the file</a:t>
            </a:r>
          </a:p>
        </p:txBody>
      </p:sp>
    </p:spTree>
    <p:extLst>
      <p:ext uri="{BB962C8B-B14F-4D97-AF65-F5344CB8AC3E}">
        <p14:creationId xmlns:p14="http://schemas.microsoft.com/office/powerpoint/2010/main" val="347243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1880"/>
            <a:ext cx="4950440" cy="731332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649B0-80E1-EF65-8803-98A346ACB4C8}"/>
              </a:ext>
            </a:extLst>
          </p:cNvPr>
          <p:cNvSpPr txBox="1">
            <a:spLocks/>
          </p:cNvSpPr>
          <p:nvPr/>
        </p:nvSpPr>
        <p:spPr>
          <a:xfrm>
            <a:off x="936516" y="13329"/>
            <a:ext cx="789009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CSEN160_06_Lecture_FileIO_AdvancedFileIO_Serialize.scu.csen160.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FileIO.</a:t>
            </a:r>
            <a:r>
              <a:rPr lang="en-US" dirty="0" err="1">
                <a:solidFill>
                  <a:srgbClr val="FF0000"/>
                </a:solidFill>
                <a:latin typeface="+mn-lt"/>
                <a:cs typeface="Courier"/>
              </a:rPr>
              <a:t>E_RandomAccessFileExample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4AA455-E186-D840-4B95-ABC326260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7" y="1427675"/>
            <a:ext cx="9547000" cy="514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5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FileInputStream</a:t>
            </a:r>
            <a:r>
              <a:rPr lang="en-US" altLang="en-US" dirty="0"/>
              <a:t> &amp; </a:t>
            </a:r>
            <a:r>
              <a:rPr lang="en-US" altLang="en-US" dirty="0" err="1"/>
              <a:t>FileOutputStream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0408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4"/>
            <a:ext cx="10683647" cy="1014670"/>
          </a:xfrm>
        </p:spPr>
        <p:txBody>
          <a:bodyPr>
            <a:normAutofit/>
          </a:bodyPr>
          <a:lstStyle/>
          <a:p>
            <a:r>
              <a:rPr lang="en-US" dirty="0"/>
              <a:t>Classes </a:t>
            </a:r>
            <a:r>
              <a:rPr lang="en-US" dirty="0" err="1">
                <a:latin typeface="Courier"/>
                <a:cs typeface="Courier"/>
              </a:rPr>
              <a:t>FileInputStream</a:t>
            </a:r>
            <a:r>
              <a:rPr lang="en-US" dirty="0" err="1"/>
              <a:t>/</a:t>
            </a:r>
            <a:r>
              <a:rPr lang="en-US" dirty="0" err="1">
                <a:latin typeface="Courier"/>
                <a:cs typeface="Courier"/>
              </a:rPr>
              <a:t>FileOutputStream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8"/>
            <a:ext cx="10417284" cy="3835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Used for reading/writing </a:t>
            </a:r>
            <a:r>
              <a:rPr lang="en-US" sz="3200" b="1" dirty="0">
                <a:solidFill>
                  <a:srgbClr val="00B050"/>
                </a:solidFill>
              </a:rPr>
              <a:t>binary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files.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485" y="2567447"/>
            <a:ext cx="3380232" cy="3880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935" y="2567447"/>
            <a:ext cx="3130285" cy="34337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50935" y="3948913"/>
            <a:ext cx="2980566" cy="124617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4156" y="4611111"/>
            <a:ext cx="3204445" cy="124617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880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Binary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Different from text: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 text file is processed as a sequence of </a:t>
            </a:r>
            <a:r>
              <a:rPr lang="en-US" b="1" dirty="0">
                <a:solidFill>
                  <a:schemeClr val="tx1"/>
                </a:solidFill>
              </a:rPr>
              <a:t>characters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hlinkClick r:id="rId2"/>
              </a:rPr>
              <a:t>(source)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 binary file is processed as a sequence of </a:t>
            </a:r>
            <a:r>
              <a:rPr lang="en-US" b="1" dirty="0">
                <a:solidFill>
                  <a:schemeClr val="tx1"/>
                </a:solidFill>
              </a:rPr>
              <a:t>bytes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hlinkClick r:id="rId2"/>
              </a:rPr>
              <a:t>(source)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Example: WAV files that store audio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BufferedInputStream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BufferedOuputStream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 </a:t>
            </a:r>
            <a:b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</a:br>
            <a:r>
              <a:rPr lang="en-US" dirty="0">
                <a:solidFill>
                  <a:schemeClr val="tx1"/>
                </a:solidFill>
              </a:rPr>
              <a:t>to manipulate these files.</a:t>
            </a:r>
          </a:p>
        </p:txBody>
      </p:sp>
    </p:spTree>
    <p:extLst>
      <p:ext uri="{BB962C8B-B14F-4D97-AF65-F5344CB8AC3E}">
        <p14:creationId xmlns:p14="http://schemas.microsoft.com/office/powerpoint/2010/main" val="784054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Audio Example</a:t>
            </a:r>
          </a:p>
        </p:txBody>
      </p:sp>
    </p:spTree>
    <p:extLst>
      <p:ext uri="{BB962C8B-B14F-4D97-AF65-F5344CB8AC3E}">
        <p14:creationId xmlns:p14="http://schemas.microsoft.com/office/powerpoint/2010/main" val="3521425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020489" cy="597813"/>
          </a:xfrm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77747"/>
            <a:ext cx="10404472" cy="485367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Frequency: </a:t>
            </a:r>
            <a:r>
              <a:rPr lang="en-US" dirty="0">
                <a:solidFill>
                  <a:schemeClr val="tx1"/>
                </a:solidFill>
              </a:rPr>
              <a:t>rate at which air particles vibrate in response to a sound.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the </a:t>
            </a:r>
            <a:r>
              <a:rPr lang="en-US" b="1" dirty="0">
                <a:solidFill>
                  <a:schemeClr val="tx1"/>
                </a:solidFill>
              </a:rPr>
              <a:t>pitch </a:t>
            </a:r>
            <a:r>
              <a:rPr lang="en-US" dirty="0">
                <a:solidFill>
                  <a:schemeClr val="tx1"/>
                </a:solidFill>
              </a:rPr>
              <a:t>of the sound.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the </a:t>
            </a:r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high, the sound has a higher pitch.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the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low, the pitch is lower.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Intensity</a:t>
            </a:r>
            <a:r>
              <a:rPr lang="en-US" b="1" dirty="0"/>
              <a:t> </a:t>
            </a:r>
            <a:r>
              <a:rPr lang="en-US" dirty="0">
                <a:solidFill>
                  <a:schemeClr val="tx1"/>
                </a:solidFill>
              </a:rPr>
              <a:t>describes the </a:t>
            </a:r>
            <a:r>
              <a:rPr lang="en-US" i="1" dirty="0">
                <a:solidFill>
                  <a:schemeClr val="tx1"/>
                </a:solidFill>
              </a:rPr>
              <a:t>loudness </a:t>
            </a:r>
            <a:r>
              <a:rPr lang="en-US" dirty="0">
                <a:solidFill>
                  <a:schemeClr val="tx1"/>
                </a:solidFill>
              </a:rPr>
              <a:t>of a sound.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volume of sound is measured in </a:t>
            </a:r>
            <a:r>
              <a:rPr lang="en-US" b="1" dirty="0">
                <a:solidFill>
                  <a:schemeClr val="tx1"/>
                </a:solidFill>
              </a:rPr>
              <a:t>decibels, or dB for short.</a:t>
            </a:r>
          </a:p>
        </p:txBody>
      </p:sp>
    </p:spTree>
    <p:extLst>
      <p:ext uri="{BB962C8B-B14F-4D97-AF65-F5344CB8AC3E}">
        <p14:creationId xmlns:p14="http://schemas.microsoft.com/office/powerpoint/2010/main" val="2206248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98064"/>
            <a:ext cx="3967257" cy="630181"/>
          </a:xfrm>
        </p:spPr>
        <p:txBody>
          <a:bodyPr/>
          <a:lstStyle/>
          <a:p>
            <a:r>
              <a:rPr lang="en-US" dirty="0"/>
              <a:t>Digitizing 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5839"/>
            <a:ext cx="10424702" cy="4845584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Uses two steps:</a:t>
            </a:r>
          </a:p>
          <a:p>
            <a:pPr marL="457200" lvl="1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Sampling</a:t>
            </a:r>
            <a:r>
              <a:rPr lang="en-US" dirty="0">
                <a:solidFill>
                  <a:schemeClr val="tx1"/>
                </a:solidFill>
              </a:rPr>
              <a:t>: process of recording </a:t>
            </a:r>
            <a:r>
              <a:rPr lang="en-US" b="1" dirty="0">
                <a:solidFill>
                  <a:schemeClr val="tx1"/>
                </a:solidFill>
              </a:rPr>
              <a:t>amplitudes</a:t>
            </a:r>
            <a:r>
              <a:rPr lang="en-US" dirty="0">
                <a:solidFill>
                  <a:schemeClr val="tx1"/>
                </a:solidFill>
              </a:rPr>
              <a:t>, of a sound wave.</a:t>
            </a:r>
          </a:p>
          <a:p>
            <a:pPr marL="457200" lvl="1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Quantization</a:t>
            </a:r>
            <a:r>
              <a:rPr lang="en-US" dirty="0">
                <a:solidFill>
                  <a:schemeClr val="tx1"/>
                </a:solidFill>
              </a:rPr>
              <a:t>: process of converting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analog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amplitudes, into an </a:t>
            </a:r>
            <a:r>
              <a:rPr lang="en-US" b="1" dirty="0">
                <a:solidFill>
                  <a:schemeClr val="tx1"/>
                </a:solidFill>
              </a:rPr>
              <a:t>integer-value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6819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1879"/>
            <a:ext cx="2369080" cy="642319"/>
          </a:xfrm>
        </p:spPr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404472" cy="491032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sample rate </a:t>
            </a:r>
            <a:r>
              <a:rPr lang="en-US" dirty="0">
                <a:solidFill>
                  <a:schemeClr val="tx1"/>
                </a:solidFill>
              </a:rPr>
              <a:t>is the total number of </a:t>
            </a:r>
            <a:r>
              <a:rPr lang="en-US" b="1" dirty="0">
                <a:solidFill>
                  <a:srgbClr val="00B0F0"/>
                </a:solidFill>
              </a:rPr>
              <a:t>samples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(per second). 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itself is not directly recorded.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the </a:t>
            </a:r>
            <a:r>
              <a:rPr lang="en-US" b="1" dirty="0">
                <a:solidFill>
                  <a:srgbClr val="00B0F0"/>
                </a:solidFill>
              </a:rPr>
              <a:t>samples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played back (at the same rate as they were recorded),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the original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frequencies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are reproduced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unit for a</a:t>
            </a:r>
            <a:r>
              <a:rPr lang="en-US" dirty="0"/>
              <a:t> </a:t>
            </a:r>
            <a:r>
              <a:rPr lang="en-US" b="1" i="1" dirty="0">
                <a:solidFill>
                  <a:srgbClr val="00B0F0"/>
                </a:solidFill>
              </a:rPr>
              <a:t>sample rate </a:t>
            </a:r>
            <a:r>
              <a:rPr lang="en-US" dirty="0">
                <a:solidFill>
                  <a:schemeClr val="tx1"/>
                </a:solidFill>
              </a:rPr>
              <a:t>is </a:t>
            </a:r>
            <a:r>
              <a:rPr lang="en-US" b="1" dirty="0">
                <a:solidFill>
                  <a:schemeClr val="tx1"/>
                </a:solidFill>
              </a:rPr>
              <a:t>Hz (</a:t>
            </a:r>
            <a:r>
              <a:rPr lang="en-US" dirty="0">
                <a:solidFill>
                  <a:schemeClr val="tx1"/>
                </a:solidFill>
              </a:rPr>
              <a:t>number of </a:t>
            </a:r>
            <a:r>
              <a:rPr lang="en-US" b="1" i="1" dirty="0">
                <a:solidFill>
                  <a:srgbClr val="00B0F0"/>
                </a:solidFill>
              </a:rPr>
              <a:t>samples</a:t>
            </a:r>
            <a:r>
              <a:rPr lang="en-US" i="1" dirty="0"/>
              <a:t> </a:t>
            </a:r>
            <a:r>
              <a:rPr lang="en-US" i="1" dirty="0">
                <a:solidFill>
                  <a:schemeClr val="tx1"/>
                </a:solidFill>
              </a:rPr>
              <a:t>per second).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12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492" y="741094"/>
            <a:ext cx="4988740" cy="7316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Sampling</a:t>
            </a:r>
            <a:r>
              <a:rPr lang="en-US" dirty="0"/>
              <a:t>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740" y="2060099"/>
            <a:ext cx="10383431" cy="45753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Need at least two points from every period (to approximate a sine curve).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sampling rate </a:t>
            </a:r>
            <a:r>
              <a:rPr lang="en-US" dirty="0">
                <a:solidFill>
                  <a:schemeClr val="tx1"/>
                </a:solidFill>
              </a:rPr>
              <a:t>should be at least twice the max </a:t>
            </a:r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 the signal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(known as </a:t>
            </a:r>
            <a:r>
              <a:rPr lang="en-US" b="1" dirty="0" err="1">
                <a:solidFill>
                  <a:schemeClr val="tx1"/>
                </a:solidFill>
              </a:rPr>
              <a:t>Nyquist</a:t>
            </a:r>
            <a:r>
              <a:rPr lang="en-US" b="1" dirty="0">
                <a:solidFill>
                  <a:schemeClr val="tx1"/>
                </a:solidFill>
              </a:rPr>
              <a:t> rate).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Sound is composed of </a:t>
            </a:r>
            <a:r>
              <a:rPr lang="en-US" b="1" dirty="0">
                <a:solidFill>
                  <a:schemeClr val="tx1"/>
                </a:solidFill>
              </a:rPr>
              <a:t>individual waves </a:t>
            </a:r>
            <a:r>
              <a:rPr lang="en-US" dirty="0">
                <a:solidFill>
                  <a:schemeClr val="tx1"/>
                </a:solidFill>
              </a:rPr>
              <a:t>with </a:t>
            </a:r>
            <a:r>
              <a:rPr lang="en-US" b="1" dirty="0">
                <a:solidFill>
                  <a:schemeClr val="tx1"/>
                </a:solidFill>
              </a:rPr>
              <a:t>different </a:t>
            </a:r>
            <a:r>
              <a:rPr lang="en-US" b="1" dirty="0">
                <a:solidFill>
                  <a:srgbClr val="0000FF"/>
                </a:solidFill>
              </a:rPr>
              <a:t>frequencies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252" y="2606312"/>
            <a:ext cx="5845548" cy="201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359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94017"/>
            <a:ext cx="4873565" cy="731331"/>
          </a:xfrm>
        </p:spPr>
        <p:txBody>
          <a:bodyPr/>
          <a:lstStyle/>
          <a:p>
            <a:r>
              <a:rPr lang="en-US" dirty="0"/>
              <a:t>Sampling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66759"/>
            <a:ext cx="10408518" cy="4768710"/>
          </a:xfrm>
        </p:spPr>
        <p:txBody>
          <a:bodyPr/>
          <a:lstStyle/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The human ear can hear </a:t>
            </a:r>
            <a:r>
              <a:rPr lang="en-US" b="1" i="1" dirty="0">
                <a:solidFill>
                  <a:srgbClr val="0000FF"/>
                </a:solidFill>
              </a:rPr>
              <a:t>frequencies</a:t>
            </a:r>
            <a:r>
              <a:rPr lang="en-US" i="1" dirty="0">
                <a:solidFill>
                  <a:schemeClr val="tx1"/>
                </a:solidFill>
              </a:rPr>
              <a:t> up to </a:t>
            </a:r>
            <a:r>
              <a:rPr lang="en-US" b="1" i="1" dirty="0">
                <a:solidFill>
                  <a:schemeClr val="tx1"/>
                </a:solidFill>
              </a:rPr>
              <a:t>20,000 Hz</a:t>
            </a:r>
            <a:r>
              <a:rPr lang="en-US" i="1" dirty="0">
                <a:solidFill>
                  <a:schemeClr val="tx1"/>
                </a:solidFill>
              </a:rPr>
              <a:t>. What should be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00B0F0"/>
                </a:solidFill>
              </a:rPr>
              <a:t>sampling rate</a:t>
            </a:r>
            <a:r>
              <a:rPr lang="en-US" dirty="0">
                <a:solidFill>
                  <a:schemeClr val="tx1"/>
                </a:solidFill>
              </a:rPr>
              <a:t>?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value should be at least </a:t>
            </a:r>
            <a:r>
              <a:rPr lang="en-US" b="1" dirty="0">
                <a:solidFill>
                  <a:schemeClr val="tx1"/>
                </a:solidFill>
              </a:rPr>
              <a:t>40,000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samples</a:t>
            </a:r>
            <a:r>
              <a:rPr lang="en-US" dirty="0">
                <a:solidFill>
                  <a:schemeClr val="tx1"/>
                </a:solidFill>
              </a:rPr>
              <a:t> per second, or 40,000 </a:t>
            </a:r>
            <a:r>
              <a:rPr lang="en-US" b="1" dirty="0">
                <a:solidFill>
                  <a:srgbClr val="0000FF"/>
                </a:solidFill>
              </a:rPr>
              <a:t>Hz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sampling rate for </a:t>
            </a:r>
            <a:r>
              <a:rPr lang="en-US" b="1" dirty="0">
                <a:solidFill>
                  <a:schemeClr val="tx1"/>
                </a:solidFill>
              </a:rPr>
              <a:t>CDs is 44.1 </a:t>
            </a:r>
            <a:r>
              <a:rPr lang="en-US" b="1" dirty="0">
                <a:solidFill>
                  <a:srgbClr val="0000FF"/>
                </a:solidFill>
              </a:rPr>
              <a:t>kHz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Tascam </a:t>
            </a:r>
            <a:r>
              <a:rPr lang="en-US" dirty="0" err="1">
                <a:solidFill>
                  <a:schemeClr val="tx1"/>
                </a:solidFill>
              </a:rPr>
              <a:t>Portacapture</a:t>
            </a:r>
            <a:r>
              <a:rPr lang="en-US" dirty="0">
                <a:solidFill>
                  <a:schemeClr val="tx1"/>
                </a:solidFill>
              </a:rPr>
              <a:t> X8 up to 196KHz 32Bit</a:t>
            </a:r>
          </a:p>
        </p:txBody>
      </p:sp>
      <p:pic>
        <p:nvPicPr>
          <p:cNvPr id="1026" name="Picture 2" descr="Compact Discs | The Bob Angle">
            <a:extLst>
              <a:ext uri="{FF2B5EF4-FFF2-40B4-BE49-F238E27FC236}">
                <a16:creationId xmlns:a16="http://schemas.microsoft.com/office/drawing/2014/main" id="{E5A34F0A-436C-82C0-4811-EFE4A330B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732" y="3707409"/>
            <a:ext cx="3016832" cy="189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D1D713-791A-7D27-B055-1EE8E29A1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234" y="3909914"/>
            <a:ext cx="1359506" cy="25038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AF00C1-DCF9-B110-D0A2-3B45074C0BC6}"/>
              </a:ext>
            </a:extLst>
          </p:cNvPr>
          <p:cNvSpPr txBox="1"/>
          <p:nvPr/>
        </p:nvSpPr>
        <p:spPr>
          <a:xfrm>
            <a:off x="8558924" y="6229086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They are back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CDCFB4-E218-E850-4EE7-5E57E1A2846A}"/>
              </a:ext>
            </a:extLst>
          </p:cNvPr>
          <p:cNvCxnSpPr>
            <a:cxnSpLocks/>
            <a:stCxn id="4" idx="0"/>
            <a:endCxn id="1026" idx="2"/>
          </p:cNvCxnSpPr>
          <p:nvPr/>
        </p:nvCxnSpPr>
        <p:spPr>
          <a:xfrm flipV="1">
            <a:off x="9511269" y="5603385"/>
            <a:ext cx="8879" cy="62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211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3077134" cy="650411"/>
          </a:xfrm>
        </p:spPr>
        <p:txBody>
          <a:bodyPr/>
          <a:lstStyle/>
          <a:p>
            <a:r>
              <a:rPr lang="en-US" dirty="0"/>
              <a:t>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04917"/>
            <a:ext cx="10404472" cy="4918413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00B0F0"/>
                </a:solidFill>
              </a:rPr>
              <a:t>samples</a:t>
            </a:r>
            <a:r>
              <a:rPr lang="en-US" dirty="0">
                <a:solidFill>
                  <a:schemeClr val="tx1"/>
                </a:solidFill>
              </a:rPr>
              <a:t> are stored as binary numbers.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rgbClr val="00B0F0"/>
                </a:solidFill>
              </a:rPr>
              <a:t>sample</a:t>
            </a:r>
            <a:r>
              <a:rPr lang="en-US" dirty="0">
                <a:solidFill>
                  <a:schemeClr val="tx1"/>
                </a:solidFill>
              </a:rPr>
              <a:t> represents the intensity, or loudness. </a:t>
            </a:r>
          </a:p>
        </p:txBody>
      </p:sp>
    </p:spTree>
    <p:extLst>
      <p:ext uri="{BB962C8B-B14F-4D97-AF65-F5344CB8AC3E}">
        <p14:creationId xmlns:p14="http://schemas.microsoft.com/office/powerpoint/2010/main" val="22848293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3077134" cy="650411"/>
          </a:xfrm>
        </p:spPr>
        <p:txBody>
          <a:bodyPr/>
          <a:lstStyle/>
          <a:p>
            <a:r>
              <a:rPr lang="en-US" dirty="0"/>
              <a:t>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04917"/>
            <a:ext cx="10404472" cy="4918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The number of bits determines how many levels are available: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If a single bit is used in a </a:t>
            </a:r>
            <a:r>
              <a:rPr lang="en-US" b="1" dirty="0">
                <a:solidFill>
                  <a:srgbClr val="00B0F0"/>
                </a:solidFill>
              </a:rPr>
              <a:t>sample</a:t>
            </a:r>
            <a:r>
              <a:rPr lang="en-US" dirty="0">
                <a:solidFill>
                  <a:schemeClr val="tx1"/>
                </a:solidFill>
              </a:rPr>
              <a:t>, there will be only two distinct sound levels: 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0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two bits are used, there will be four sound levels, with values: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00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01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10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11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With 8 bits, there are 256 levels.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CD-quality sound uses 16 bits, which provides 65,536 sound levels.</a:t>
            </a:r>
          </a:p>
        </p:txBody>
      </p:sp>
    </p:spTree>
    <p:extLst>
      <p:ext uri="{BB962C8B-B14F-4D97-AF65-F5344CB8AC3E}">
        <p14:creationId xmlns:p14="http://schemas.microsoft.com/office/powerpoint/2010/main" val="22304061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Wave File</a:t>
            </a:r>
          </a:p>
        </p:txBody>
      </p:sp>
    </p:spTree>
    <p:extLst>
      <p:ext uri="{BB962C8B-B14F-4D97-AF65-F5344CB8AC3E}">
        <p14:creationId xmlns:p14="http://schemas.microsoft.com/office/powerpoint/2010/main" val="24730960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4359721" cy="605905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AudioMixer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194" y="1749425"/>
            <a:ext cx="10440886" cy="489009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Read and display the WAV file header.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Merge WAV files.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Play WAV files</a:t>
            </a:r>
          </a:p>
        </p:txBody>
      </p:sp>
    </p:spTree>
    <p:extLst>
      <p:ext uri="{BB962C8B-B14F-4D97-AF65-F5344CB8AC3E}">
        <p14:creationId xmlns:p14="http://schemas.microsoft.com/office/powerpoint/2010/main" val="35123879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4359721" cy="605905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AudioMixer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194" y="1749425"/>
            <a:ext cx="10440886" cy="48900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Assumption: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WAV file is </a:t>
            </a:r>
            <a:r>
              <a:rPr lang="en-US" b="1" dirty="0">
                <a:solidFill>
                  <a:srgbClr val="00B050"/>
                </a:solidFill>
              </a:rPr>
              <a:t>uncompressed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Mono or stereo channel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Sample size: </a:t>
            </a:r>
            <a:r>
              <a:rPr lang="en-US" b="1" dirty="0">
                <a:solidFill>
                  <a:srgbClr val="FF0000"/>
                </a:solidFill>
              </a:rPr>
              <a:t>8, 16, 24 or 32 bits</a:t>
            </a:r>
          </a:p>
        </p:txBody>
      </p:sp>
    </p:spTree>
    <p:extLst>
      <p:ext uri="{BB962C8B-B14F-4D97-AF65-F5344CB8AC3E}">
        <p14:creationId xmlns:p14="http://schemas.microsoft.com/office/powerpoint/2010/main" val="11542654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417633" cy="634227"/>
          </a:xfrm>
        </p:spPr>
        <p:txBody>
          <a:bodyPr/>
          <a:lstStyle/>
          <a:p>
            <a:r>
              <a:rPr lang="en-US" dirty="0"/>
              <a:t>WAV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17057"/>
            <a:ext cx="10380196" cy="489818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Consist of two parts: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Header</a:t>
            </a:r>
            <a:r>
              <a:rPr lang="en-US" dirty="0">
                <a:solidFill>
                  <a:schemeClr val="tx1"/>
                </a:solidFill>
              </a:rPr>
              <a:t>: contains important information: audio format, sample rate, byte rate, …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Samples</a:t>
            </a:r>
            <a:r>
              <a:rPr lang="en-US" dirty="0">
                <a:solidFill>
                  <a:schemeClr val="tx1"/>
                </a:solidFill>
              </a:rPr>
              <a:t>: contain the audio data.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Header has a size of 44 bytes.</a:t>
            </a:r>
          </a:p>
        </p:txBody>
      </p:sp>
    </p:spTree>
    <p:extLst>
      <p:ext uri="{BB962C8B-B14F-4D97-AF65-F5344CB8AC3E}">
        <p14:creationId xmlns:p14="http://schemas.microsoft.com/office/powerpoint/2010/main" val="11983152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4408273" cy="638273"/>
          </a:xfrm>
        </p:spPr>
        <p:txBody>
          <a:bodyPr/>
          <a:lstStyle/>
          <a:p>
            <a:r>
              <a:rPr lang="en-US" dirty="0"/>
              <a:t>A WAV File Header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122" y="1654151"/>
            <a:ext cx="6986124" cy="4921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5851" y="1573901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Bytes/</a:t>
            </a:r>
          </a:p>
        </p:txBody>
      </p:sp>
    </p:spTree>
    <p:extLst>
      <p:ext uri="{BB962C8B-B14F-4D97-AF65-F5344CB8AC3E}">
        <p14:creationId xmlns:p14="http://schemas.microsoft.com/office/powerpoint/2010/main" val="1809693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10417284" cy="638273"/>
          </a:xfrm>
        </p:spPr>
        <p:txBody>
          <a:bodyPr>
            <a:normAutofit/>
          </a:bodyPr>
          <a:lstStyle/>
          <a:p>
            <a:r>
              <a:rPr lang="en-US" sz="2400" dirty="0"/>
              <a:t>Class </a:t>
            </a:r>
            <a:r>
              <a:rPr lang="en-US" sz="2400" dirty="0" err="1">
                <a:latin typeface="Courier"/>
                <a:cs typeface="Courier"/>
              </a:rPr>
              <a:t>AudioMixer</a:t>
            </a:r>
            <a:r>
              <a:rPr lang="en-US" sz="2400" dirty="0"/>
              <a:t>: Displaying the Header of a WAV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67353"/>
            <a:ext cx="10417284" cy="50519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first four bytes (in binary) in a WAV header represent the </a:t>
            </a:r>
            <a:r>
              <a:rPr lang="en-US" dirty="0">
                <a:solidFill>
                  <a:srgbClr val="0000FF"/>
                </a:solidFill>
              </a:rPr>
              <a:t>RIFF Chunk ID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01010010 (decimal 82) “</a:t>
            </a:r>
            <a:r>
              <a:rPr lang="en-US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01001001 (decimal 73) “</a:t>
            </a:r>
            <a:r>
              <a:rPr lang="en-US" dirty="0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01000110 (decimal 70) “</a:t>
            </a:r>
            <a:r>
              <a:rPr lang="en-US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01000110 (decimal 70) “</a:t>
            </a:r>
            <a:r>
              <a:rPr lang="en-US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bytes 8 to 11 (</a:t>
            </a:r>
            <a:r>
              <a:rPr lang="en-US" dirty="0">
                <a:solidFill>
                  <a:srgbClr val="0000FF"/>
                </a:solidFill>
              </a:rPr>
              <a:t>Type: WAV field</a:t>
            </a:r>
            <a:r>
              <a:rPr lang="en-US" dirty="0">
                <a:solidFill>
                  <a:schemeClr val="tx1"/>
                </a:solidFill>
              </a:rPr>
              <a:t>) have the decimal values 87, 65, 86, and 69</a:t>
            </a:r>
            <a:br>
              <a:rPr lang="en-US" dirty="0"/>
            </a:br>
            <a:r>
              <a:rPr lang="en-US" dirty="0"/>
              <a:t>							       “</a:t>
            </a:r>
            <a:r>
              <a:rPr lang="en-US" dirty="0">
                <a:solidFill>
                  <a:srgbClr val="0000FF"/>
                </a:solidFill>
              </a:rPr>
              <a:t>W</a:t>
            </a:r>
            <a:r>
              <a:rPr lang="en-US" dirty="0"/>
              <a:t>” “</a:t>
            </a:r>
            <a:r>
              <a:rPr lang="en-US" dirty="0">
                <a:solidFill>
                  <a:srgbClr val="0000FF"/>
                </a:solidFill>
              </a:rPr>
              <a:t>A</a:t>
            </a:r>
            <a:r>
              <a:rPr lang="en-US" dirty="0"/>
              <a:t>”  “</a:t>
            </a:r>
            <a:r>
              <a:rPr lang="en-US" dirty="0">
                <a:solidFill>
                  <a:srgbClr val="0000FF"/>
                </a:solidFill>
              </a:rPr>
              <a:t>V</a:t>
            </a:r>
            <a:r>
              <a:rPr lang="en-US" dirty="0"/>
              <a:t>”        “</a:t>
            </a:r>
            <a:r>
              <a:rPr lang="en-US" dirty="0">
                <a:solidFill>
                  <a:srgbClr val="0000FF"/>
                </a:solidFill>
              </a:rPr>
              <a:t>E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These bytes identify a file as WAV.</a:t>
            </a:r>
          </a:p>
        </p:txBody>
      </p:sp>
    </p:spTree>
    <p:extLst>
      <p:ext uri="{BB962C8B-B14F-4D97-AF65-F5344CB8AC3E}">
        <p14:creationId xmlns:p14="http://schemas.microsoft.com/office/powerpoint/2010/main" val="7971119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4408273" cy="638273"/>
          </a:xfrm>
        </p:spPr>
        <p:txBody>
          <a:bodyPr/>
          <a:lstStyle/>
          <a:p>
            <a:r>
              <a:rPr lang="en-US" dirty="0"/>
              <a:t>A WAV File Header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79" y="2623960"/>
            <a:ext cx="11215272" cy="30971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61646" y="1387707"/>
            <a:ext cx="23583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82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“R”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73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“I”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70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“F”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70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“F”</a:t>
            </a:r>
          </a:p>
        </p:txBody>
      </p:sp>
      <p:cxnSp>
        <p:nvCxnSpPr>
          <p:cNvPr id="5" name="Straight Arrow Connector 4"/>
          <p:cNvCxnSpPr>
            <a:cxnSpLocks/>
            <a:stCxn id="3" idx="1"/>
            <a:endCxn id="6" idx="0"/>
          </p:cNvCxnSpPr>
          <p:nvPr/>
        </p:nvCxnSpPr>
        <p:spPr>
          <a:xfrm flipH="1">
            <a:off x="2870650" y="1987872"/>
            <a:ext cx="790996" cy="99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079653" y="2985394"/>
            <a:ext cx="1581993" cy="2387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1785E-925C-5800-CFC8-16F3DD16660A}"/>
              </a:ext>
            </a:extLst>
          </p:cNvPr>
          <p:cNvSpPr/>
          <p:nvPr/>
        </p:nvSpPr>
        <p:spPr>
          <a:xfrm>
            <a:off x="5344789" y="3005625"/>
            <a:ext cx="1581993" cy="2184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4104D-5736-586E-120E-F07A4152966F}"/>
              </a:ext>
            </a:extLst>
          </p:cNvPr>
          <p:cNvSpPr txBox="1"/>
          <p:nvPr/>
        </p:nvSpPr>
        <p:spPr>
          <a:xfrm>
            <a:off x="7460893" y="1387706"/>
            <a:ext cx="240963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87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(dec)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“W”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65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(dec)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“A”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86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(dec)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“V”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69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(dec)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“E”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EF5234-BC6A-F5C0-0ED7-122633B50ADD}"/>
              </a:ext>
            </a:extLst>
          </p:cNvPr>
          <p:cNvCxnSpPr>
            <a:cxnSpLocks/>
          </p:cNvCxnSpPr>
          <p:nvPr/>
        </p:nvCxnSpPr>
        <p:spPr>
          <a:xfrm flipH="1">
            <a:off x="6135785" y="1972178"/>
            <a:ext cx="1325108" cy="103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6390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23BB79-4F63-38C7-EF7E-42A00D0D0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34" y="1347372"/>
            <a:ext cx="7580181" cy="52459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77833"/>
            <a:ext cx="10417284" cy="670641"/>
          </a:xfrm>
        </p:spPr>
        <p:txBody>
          <a:bodyPr>
            <a:normAutofit/>
          </a:bodyPr>
          <a:lstStyle/>
          <a:p>
            <a:r>
              <a:rPr lang="en-US" sz="2800" dirty="0"/>
              <a:t>Class </a:t>
            </a:r>
            <a:r>
              <a:rPr lang="en-US" sz="2800" dirty="0" err="1">
                <a:latin typeface="Courier"/>
                <a:cs typeface="Courier"/>
              </a:rPr>
              <a:t>AudioMixer</a:t>
            </a:r>
            <a:r>
              <a:rPr lang="en-US" sz="2800" dirty="0"/>
              <a:t>: Displaying the Header of a WAV File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9FB003-2D76-F981-9EBB-2E2ADA1DE068}"/>
              </a:ext>
            </a:extLst>
          </p:cNvPr>
          <p:cNvSpPr txBox="1">
            <a:spLocks/>
          </p:cNvSpPr>
          <p:nvPr/>
        </p:nvSpPr>
        <p:spPr>
          <a:xfrm>
            <a:off x="1123316" y="21350"/>
            <a:ext cx="10067197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CSEN160_06_Lecture_FileIO_AdvancedFileIO_Serialize.scu.csen160.AudioExample.</a:t>
            </a:r>
            <a:r>
              <a:rPr lang="en-US" dirty="0" err="1">
                <a:solidFill>
                  <a:srgbClr val="FF0000"/>
                </a:solidFill>
              </a:rPr>
              <a:t>A_ShowWAVEHeader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5B951-E0CB-EFF6-61E8-354AF397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750" y="1448474"/>
            <a:ext cx="3548200" cy="12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50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Big-Endian and Little-Endian </a:t>
            </a:r>
          </a:p>
        </p:txBody>
      </p:sp>
    </p:spTree>
    <p:extLst>
      <p:ext uri="{BB962C8B-B14F-4D97-AF65-F5344CB8AC3E}">
        <p14:creationId xmlns:p14="http://schemas.microsoft.com/office/powerpoint/2010/main" val="3661928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67" y="1812984"/>
            <a:ext cx="9268281" cy="34991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4" y="742444"/>
            <a:ext cx="8229600" cy="706030"/>
          </a:xfrm>
        </p:spPr>
        <p:txBody>
          <a:bodyPr/>
          <a:lstStyle/>
          <a:p>
            <a:r>
              <a:rPr lang="en-US" dirty="0"/>
              <a:t>Big-</a:t>
            </a:r>
            <a:r>
              <a:rPr lang="en-US" dirty="0" err="1"/>
              <a:t>Endian</a:t>
            </a:r>
            <a:r>
              <a:rPr lang="en-US" dirty="0"/>
              <a:t> and Little-</a:t>
            </a:r>
            <a:r>
              <a:rPr lang="en-US" dirty="0" err="1"/>
              <a:t>Endian</a:t>
            </a:r>
            <a:r>
              <a:rPr lang="en-US" dirty="0"/>
              <a:t>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4014" y="6611193"/>
            <a:ext cx="5258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https://uynguyen.github.io/2018/04/30/Big-Endian-vs-Little-Endian/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27360" y="4546886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327747" y="4357398"/>
            <a:ext cx="180409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x86-64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6502 in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Apple II 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7747" y="3161891"/>
            <a:ext cx="23872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first Macintosh models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based on 68K CPUs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RISC CPUs/Apple in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PowerPC and ARM systems</a:t>
            </a:r>
          </a:p>
        </p:txBody>
      </p:sp>
    </p:spTree>
    <p:extLst>
      <p:ext uri="{BB962C8B-B14F-4D97-AF65-F5344CB8AC3E}">
        <p14:creationId xmlns:p14="http://schemas.microsoft.com/office/powerpoint/2010/main" val="35315951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4" y="742444"/>
            <a:ext cx="8229600" cy="706030"/>
          </a:xfrm>
        </p:spPr>
        <p:txBody>
          <a:bodyPr/>
          <a:lstStyle/>
          <a:p>
            <a:r>
              <a:rPr lang="en-US" dirty="0"/>
              <a:t>Big-</a:t>
            </a:r>
            <a:r>
              <a:rPr lang="en-US" dirty="0" err="1"/>
              <a:t>Endian</a:t>
            </a:r>
            <a:r>
              <a:rPr lang="en-US" dirty="0"/>
              <a:t> and Little-</a:t>
            </a:r>
            <a:r>
              <a:rPr lang="en-US" dirty="0" err="1"/>
              <a:t>Endian</a:t>
            </a:r>
            <a:r>
              <a:rPr lang="en-US" dirty="0"/>
              <a:t>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464" y="1664366"/>
            <a:ext cx="10427937" cy="496301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These fields are stored in: </a:t>
            </a:r>
            <a:r>
              <a:rPr lang="en-US" b="1" i="1" dirty="0">
                <a:solidFill>
                  <a:srgbClr val="92D050"/>
                </a:solidFill>
              </a:rPr>
              <a:t>big-endian </a:t>
            </a:r>
            <a:r>
              <a:rPr lang="en-US" b="1" dirty="0">
                <a:solidFill>
                  <a:schemeClr val="tx1"/>
                </a:solidFill>
              </a:rPr>
              <a:t>order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RIFF Chunk ID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Type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Format Chunk ID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Data Chunk ID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896" y="2619954"/>
            <a:ext cx="6570906" cy="174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113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4" y="742444"/>
            <a:ext cx="8229600" cy="706030"/>
          </a:xfrm>
        </p:spPr>
        <p:txBody>
          <a:bodyPr/>
          <a:lstStyle/>
          <a:p>
            <a:r>
              <a:rPr lang="en-US" dirty="0"/>
              <a:t>Big-</a:t>
            </a:r>
            <a:r>
              <a:rPr lang="en-US" dirty="0" err="1"/>
              <a:t>Endian</a:t>
            </a:r>
            <a:r>
              <a:rPr lang="en-US" dirty="0"/>
              <a:t> and Little-</a:t>
            </a:r>
            <a:r>
              <a:rPr lang="en-US" dirty="0" err="1"/>
              <a:t>Endian</a:t>
            </a:r>
            <a:r>
              <a:rPr lang="en-US" dirty="0"/>
              <a:t>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464" y="1664366"/>
            <a:ext cx="10427937" cy="4963011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The remaining fields </a:t>
            </a:r>
            <a:r>
              <a:rPr lang="en-US" dirty="0">
                <a:solidFill>
                  <a:schemeClr val="tx1"/>
                </a:solidFill>
              </a:rPr>
              <a:t>are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little-endian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order: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382" y="2590785"/>
            <a:ext cx="6781800" cy="180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775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4408273" cy="638273"/>
          </a:xfrm>
        </p:spPr>
        <p:txBody>
          <a:bodyPr/>
          <a:lstStyle/>
          <a:p>
            <a:r>
              <a:rPr lang="en-US" dirty="0"/>
              <a:t>A WAV File Header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122" y="1654151"/>
            <a:ext cx="6986124" cy="4921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5851" y="1573901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Bytes/</a:t>
            </a:r>
          </a:p>
        </p:txBody>
      </p:sp>
      <p:sp>
        <p:nvSpPr>
          <p:cNvPr id="4" name="Rectangle 3"/>
          <p:cNvSpPr/>
          <p:nvPr/>
        </p:nvSpPr>
        <p:spPr>
          <a:xfrm>
            <a:off x="3269182" y="1912455"/>
            <a:ext cx="1703374" cy="32903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69182" y="2570608"/>
            <a:ext cx="1703374" cy="32903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69182" y="2884820"/>
            <a:ext cx="1703374" cy="32903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9182" y="5501244"/>
            <a:ext cx="1703374" cy="527322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02688" y="191245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02688" y="253031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2688" y="2871336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02688" y="5613259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02688" y="2218415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02688" y="3177089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02688" y="3523291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02688" y="3824926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02688" y="4148161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02688" y="4457869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2688" y="4787925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02688" y="5155892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2688" y="6060651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69182" y="2281787"/>
            <a:ext cx="1703374" cy="25453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9182" y="3239915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69182" y="3567897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69182" y="3892623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69182" y="4213291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69182" y="4536599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69182" y="4857256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69182" y="5185993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69182" y="6060651"/>
            <a:ext cx="1703374" cy="47771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6827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4"/>
            <a:ext cx="10417284" cy="735378"/>
          </a:xfrm>
        </p:spPr>
        <p:txBody>
          <a:bodyPr>
            <a:normAutofit/>
          </a:bodyPr>
          <a:lstStyle/>
          <a:p>
            <a:r>
              <a:rPr lang="en-US" dirty="0"/>
              <a:t>Changing Binary Values in an Array to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9885"/>
            <a:ext cx="10417284" cy="4845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four bytes of </a:t>
            </a:r>
            <a:r>
              <a:rPr lang="en-US" b="1" i="1" dirty="0">
                <a:solidFill>
                  <a:srgbClr val="92D050"/>
                </a:solidFill>
              </a:rPr>
              <a:t>Sample Rate</a:t>
            </a:r>
            <a:r>
              <a:rPr lang="en-US" b="1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 a WAV Header are stored in an array of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type 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byte</a:t>
            </a:r>
            <a:r>
              <a:rPr lang="en-US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called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 [0] = 00000000</a:t>
            </a:r>
          </a:p>
          <a:p>
            <a:pPr lvl="1">
              <a:buNone/>
            </a:pP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 [1] = 00000000</a:t>
            </a:r>
          </a:p>
          <a:p>
            <a:pPr lvl="1">
              <a:buNone/>
            </a:pP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 [2] = 10101100</a:t>
            </a:r>
          </a:p>
          <a:p>
            <a:pPr lvl="1">
              <a:buNone/>
            </a:pP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 [3] = 01000100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8257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4"/>
            <a:ext cx="10417284" cy="735378"/>
          </a:xfrm>
        </p:spPr>
        <p:txBody>
          <a:bodyPr>
            <a:normAutofit/>
          </a:bodyPr>
          <a:lstStyle/>
          <a:p>
            <a:r>
              <a:rPr lang="en-US" dirty="0"/>
              <a:t>Changing Binary Values in an Array to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9885"/>
            <a:ext cx="10417284" cy="4845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 the constructor of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BigDecimal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get the </a:t>
            </a:r>
            <a:r>
              <a:rPr lang="en-US" dirty="0">
                <a:solidFill>
                  <a:srgbClr val="3366FF"/>
                </a:solidFill>
              </a:rPr>
              <a:t>decimal </a:t>
            </a:r>
            <a:r>
              <a:rPr lang="en-US" dirty="0">
                <a:solidFill>
                  <a:schemeClr val="tx1"/>
                </a:solidFill>
              </a:rPr>
              <a:t>value of this </a:t>
            </a:r>
            <a:r>
              <a:rPr lang="en-US" dirty="0">
                <a:solidFill>
                  <a:srgbClr val="3366FF"/>
                </a:solidFill>
              </a:rPr>
              <a:t>binary </a:t>
            </a:r>
            <a:r>
              <a:rPr lang="en-US" dirty="0">
                <a:solidFill>
                  <a:schemeClr val="tx1"/>
                </a:solidFill>
              </a:rPr>
              <a:t>number:</a:t>
            </a:r>
          </a:p>
          <a:p>
            <a:pPr lvl="1"/>
            <a:endParaRPr lang="en-US" sz="1800" b="1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1"/>
            <a:r>
              <a:rPr lang="en-US" sz="1800" b="1" dirty="0">
                <a:solidFill>
                  <a:schemeClr val="tx1"/>
                </a:solidFill>
                <a:latin typeface="Courier"/>
                <a:cs typeface="Courier"/>
              </a:rPr>
              <a:t>public</a:t>
            </a:r>
            <a:r>
              <a:rPr lang="en-US" sz="1800" b="1" dirty="0"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Courier"/>
                <a:cs typeface="Courier"/>
              </a:rPr>
              <a:t>BigInteger</a:t>
            </a:r>
            <a:r>
              <a:rPr lang="en-US" sz="1800" b="1" dirty="0">
                <a:solidFill>
                  <a:srgbClr val="00B0F0"/>
                </a:solidFill>
                <a:latin typeface="Courier"/>
                <a:cs typeface="Courier"/>
              </a:rPr>
              <a:t>(byte[] </a:t>
            </a:r>
            <a:r>
              <a:rPr lang="en-US" sz="1800" b="1" dirty="0" err="1">
                <a:solidFill>
                  <a:srgbClr val="00B0F0"/>
                </a:solidFill>
                <a:latin typeface="Courier"/>
                <a:cs typeface="Courier"/>
              </a:rPr>
              <a:t>val</a:t>
            </a:r>
            <a:r>
              <a:rPr lang="en-US" sz="1800" b="1" dirty="0">
                <a:latin typeface="Courier"/>
                <a:cs typeface="Courier"/>
              </a:rPr>
              <a:t>)</a:t>
            </a:r>
            <a:br>
              <a:rPr lang="en-US" b="1" dirty="0">
                <a:cs typeface="Courier"/>
              </a:rPr>
            </a:br>
            <a:r>
              <a:rPr lang="en-US" sz="1800" b="1" dirty="0">
                <a:solidFill>
                  <a:srgbClr val="92D050"/>
                </a:solidFill>
              </a:rPr>
              <a:t>converts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byte</a:t>
            </a:r>
            <a:r>
              <a:rPr lang="en-US" sz="18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array in </a:t>
            </a:r>
            <a:r>
              <a:rPr lang="en-US" sz="1800" b="1" dirty="0">
                <a:solidFill>
                  <a:srgbClr val="92D050"/>
                </a:solidFill>
              </a:rPr>
              <a:t>big-endian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order.</a:t>
            </a:r>
            <a:endParaRPr lang="en-US" sz="1600" dirty="0">
              <a:solidFill>
                <a:schemeClr val="tx1"/>
              </a:solidFill>
              <a:latin typeface="Courier"/>
              <a:cs typeface="Courier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  <a:p>
            <a:pPr lvl="1">
              <a:buNone/>
            </a:pPr>
            <a:r>
              <a:rPr lang="en-US" sz="1600" b="1" dirty="0" err="1">
                <a:solidFill>
                  <a:srgbClr val="00B0F0"/>
                </a:solidFill>
                <a:latin typeface="Courier"/>
                <a:cs typeface="Courier"/>
              </a:rPr>
              <a:t>BigInteger</a:t>
            </a:r>
            <a:r>
              <a:rPr lang="en-US" sz="1600" dirty="0">
                <a:latin typeface="Courier"/>
                <a:cs typeface="Courier"/>
              </a:rPr>
              <a:t> </a:t>
            </a:r>
            <a:r>
              <a:rPr lang="en-US" sz="1600" dirty="0" err="1">
                <a:latin typeface="Courier"/>
                <a:cs typeface="Courier"/>
              </a:rPr>
              <a:t>sampleRate</a:t>
            </a:r>
            <a:r>
              <a:rPr lang="en-US" sz="1600" dirty="0">
                <a:latin typeface="Courier"/>
                <a:cs typeface="Courier"/>
              </a:rPr>
              <a:t> = new </a:t>
            </a:r>
            <a:r>
              <a:rPr lang="en-US" sz="1600" b="1" dirty="0" err="1">
                <a:solidFill>
                  <a:srgbClr val="00B0F0"/>
                </a:solidFill>
                <a:latin typeface="Courier"/>
                <a:cs typeface="Courier"/>
              </a:rPr>
              <a:t>BigInteger</a:t>
            </a:r>
            <a:r>
              <a:rPr lang="en-US" sz="1600" dirty="0" err="1">
                <a:latin typeface="Courier"/>
                <a:cs typeface="Courier"/>
              </a:rPr>
              <a:t>(sampleRateArray</a:t>
            </a:r>
            <a:r>
              <a:rPr lang="en-US" sz="1600" dirty="0">
                <a:latin typeface="Courier"/>
                <a:cs typeface="Courier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465619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193" y="741419"/>
            <a:ext cx="10417284" cy="650411"/>
          </a:xfrm>
        </p:spPr>
        <p:txBody>
          <a:bodyPr>
            <a:normAutofit/>
          </a:bodyPr>
          <a:lstStyle/>
          <a:p>
            <a:r>
              <a:rPr lang="en-US" sz="2800" dirty="0"/>
              <a:t>Changing Binary Values In an Array to Decimal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193" y="1663039"/>
            <a:ext cx="10417284" cy="4960292"/>
          </a:xfrm>
        </p:spPr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Array passed to 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BigInteger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constructor must be </a:t>
            </a:r>
            <a:r>
              <a:rPr lang="en-US" b="1" dirty="0">
                <a:solidFill>
                  <a:srgbClr val="92D050"/>
                </a:solidFill>
              </a:rPr>
              <a:t>big-endian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If the array is </a:t>
            </a:r>
            <a:r>
              <a:rPr lang="en-US" b="1" dirty="0">
                <a:solidFill>
                  <a:srgbClr val="FF0000"/>
                </a:solidFill>
              </a:rPr>
              <a:t>little-endian</a:t>
            </a:r>
            <a:r>
              <a:rPr lang="en-US" dirty="0">
                <a:solidFill>
                  <a:schemeClr val="tx1"/>
                </a:solidFill>
              </a:rPr>
              <a:t>, it must be </a:t>
            </a:r>
            <a:r>
              <a:rPr lang="en-US" b="1" i="1" dirty="0">
                <a:solidFill>
                  <a:srgbClr val="FF0000"/>
                </a:solidFill>
              </a:rPr>
              <a:t>reversed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Add method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getDecimalValueOfByteArray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(…)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our class.</a:t>
            </a:r>
          </a:p>
        </p:txBody>
      </p:sp>
    </p:spTree>
    <p:extLst>
      <p:ext uri="{BB962C8B-B14F-4D97-AF65-F5344CB8AC3E}">
        <p14:creationId xmlns:p14="http://schemas.microsoft.com/office/powerpoint/2010/main" val="23782229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470" y="733327"/>
            <a:ext cx="10417284" cy="638273"/>
          </a:xfrm>
        </p:spPr>
        <p:txBody>
          <a:bodyPr>
            <a:normAutofit/>
          </a:bodyPr>
          <a:lstStyle/>
          <a:p>
            <a:r>
              <a:rPr lang="en-US" sz="3200" dirty="0"/>
              <a:t>Class </a:t>
            </a:r>
            <a:r>
              <a:rPr lang="en-US" sz="3200" dirty="0" err="1">
                <a:latin typeface="Courier"/>
                <a:cs typeface="Courier"/>
              </a:rPr>
              <a:t>AudioMixer</a:t>
            </a:r>
            <a:r>
              <a:rPr lang="en-US" sz="3200" dirty="0"/>
              <a:t>: Displaying Header in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470" y="1723605"/>
            <a:ext cx="10417284" cy="491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Sample output of method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printSummary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(…)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Audio Format                             	= 1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Number of Channels                  	= 1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Sample Rate                              	= 44100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Byte Rate                                   	= 44100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Bytes per sample                       	= 1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Bits per sample for all channels 	= 8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Total bytes of audio data            	= 1320290</a:t>
            </a:r>
          </a:p>
        </p:txBody>
      </p:sp>
    </p:spTree>
    <p:extLst>
      <p:ext uri="{BB962C8B-B14F-4D97-AF65-F5344CB8AC3E}">
        <p14:creationId xmlns:p14="http://schemas.microsoft.com/office/powerpoint/2010/main" val="33428003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558" y="733327"/>
            <a:ext cx="10417284" cy="561399"/>
          </a:xfrm>
        </p:spPr>
        <p:txBody>
          <a:bodyPr>
            <a:normAutofit/>
          </a:bodyPr>
          <a:lstStyle/>
          <a:p>
            <a:r>
              <a:rPr lang="en-US" sz="2400" dirty="0"/>
              <a:t>Class </a:t>
            </a:r>
            <a:r>
              <a:rPr lang="en-US" sz="2400" dirty="0" err="1">
                <a:latin typeface="Courier"/>
                <a:cs typeface="Courier"/>
              </a:rPr>
              <a:t>AudioMixer</a:t>
            </a:r>
            <a:r>
              <a:rPr lang="en-US" sz="2400" dirty="0"/>
              <a:t>: Method to Return Integer Value of a Byte 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963557" y="1656425"/>
            <a:ext cx="88601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IntelliJ: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ouri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ShowWAVEHeader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 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getDecimalValueOfByteArray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(…)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ourier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ShowWAVEHeader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printSummary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(…)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ouri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ourier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136" y="2158542"/>
            <a:ext cx="4789840" cy="4256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7618651" y="4122892"/>
            <a:ext cx="3762191" cy="13068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5296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AudioSystem</a:t>
            </a:r>
            <a:br>
              <a:rPr lang="en-US" altLang="en-US" dirty="0"/>
            </a:br>
            <a:r>
              <a:rPr lang="en-US" altLang="en-US" dirty="0"/>
              <a:t>Play Audio</a:t>
            </a:r>
          </a:p>
        </p:txBody>
      </p:sp>
    </p:spTree>
    <p:extLst>
      <p:ext uri="{BB962C8B-B14F-4D97-AF65-F5344CB8AC3E}">
        <p14:creationId xmlns:p14="http://schemas.microsoft.com/office/powerpoint/2010/main" val="1571613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470" y="749511"/>
            <a:ext cx="4723863" cy="630181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AudioSystem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86" y="1583343"/>
            <a:ext cx="10322740" cy="506831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Main class in Java’s sound API:</a:t>
            </a:r>
          </a:p>
          <a:p>
            <a:r>
              <a:rPr lang="en-US" dirty="0">
                <a:solidFill>
                  <a:schemeClr val="tx1"/>
                </a:solidFill>
              </a:rPr>
              <a:t>Contains various static methods, that provide information about audio files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536" y="2810913"/>
            <a:ext cx="5562600" cy="354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967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511" y="724237"/>
            <a:ext cx="3497108" cy="675685"/>
          </a:xfrm>
        </p:spPr>
        <p:txBody>
          <a:bodyPr/>
          <a:lstStyle/>
          <a:p>
            <a:r>
              <a:rPr lang="en-US" dirty="0"/>
              <a:t>Interface </a:t>
            </a:r>
            <a:r>
              <a:rPr lang="en-US" dirty="0">
                <a:latin typeface="Courier"/>
                <a:cs typeface="Courier"/>
              </a:rPr>
              <a:t>Clip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510" y="1693933"/>
            <a:ext cx="10399615" cy="495367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clip can </a:t>
            </a:r>
            <a:r>
              <a:rPr lang="en-US" b="1" dirty="0">
                <a:solidFill>
                  <a:schemeClr val="tx1"/>
                </a:solidFill>
              </a:rPr>
              <a:t>open</a:t>
            </a:r>
            <a:r>
              <a:rPr lang="en-US" dirty="0">
                <a:solidFill>
                  <a:schemeClr val="tx1"/>
                </a:solidFill>
              </a:rPr>
              <a:t> an audio stream, and </a:t>
            </a:r>
            <a:r>
              <a:rPr lang="en-US" b="1" dirty="0">
                <a:solidFill>
                  <a:schemeClr val="tx1"/>
                </a:solidFill>
              </a:rPr>
              <a:t>play</a:t>
            </a:r>
            <a:r>
              <a:rPr lang="en-US" dirty="0">
                <a:solidFill>
                  <a:schemeClr val="tx1"/>
                </a:solidFill>
              </a:rPr>
              <a:t> it.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Clip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interface declares several methods, to </a:t>
            </a:r>
            <a:r>
              <a:rPr lang="en-US" b="1" dirty="0">
                <a:solidFill>
                  <a:schemeClr val="tx1"/>
                </a:solidFill>
              </a:rPr>
              <a:t>open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play</a:t>
            </a:r>
            <a:r>
              <a:rPr lang="en-US" dirty="0">
                <a:solidFill>
                  <a:schemeClr val="tx1"/>
                </a:solidFill>
              </a:rPr>
              <a:t> a clip. </a:t>
            </a:r>
          </a:p>
          <a:p>
            <a:r>
              <a:rPr lang="en-US" dirty="0">
                <a:solidFill>
                  <a:schemeClr val="tx1"/>
                </a:solidFill>
              </a:rPr>
              <a:t>You can obtain a clip using 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getClip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in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AudioSystem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197" y="3485645"/>
            <a:ext cx="7215239" cy="266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72197" y="5611827"/>
            <a:ext cx="2139668" cy="30345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1667" y="5578314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interesting</a:t>
            </a:r>
          </a:p>
        </p:txBody>
      </p:sp>
      <p:cxnSp>
        <p:nvCxnSpPr>
          <p:cNvPr id="8" name="Straight Arrow Connector 7"/>
          <p:cNvCxnSpPr>
            <a:stCxn id="5" idx="3"/>
            <a:endCxn id="4" idx="1"/>
          </p:cNvCxnSpPr>
          <p:nvPr/>
        </p:nvCxnSpPr>
        <p:spPr>
          <a:xfrm>
            <a:off x="2450727" y="5762980"/>
            <a:ext cx="321470" cy="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3370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946"/>
            <a:ext cx="6176383" cy="747265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AudioInputStream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04472" cy="47242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To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read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 audio file, convert it to an </a:t>
            </a:r>
            <a:r>
              <a:rPr lang="en-US" b="1" dirty="0">
                <a:solidFill>
                  <a:schemeClr val="tx1"/>
                </a:solidFill>
              </a:rPr>
              <a:t>audio stream, 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using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getAudioInputStream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(…)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of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AudioSystem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open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 audio stream, use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AudioInputStream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as argument.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b="1" dirty="0">
                <a:solidFill>
                  <a:srgbClr val="0000FF"/>
                </a:solidFill>
              </a:rPr>
              <a:t>start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playback, use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start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6951" y="5148558"/>
            <a:ext cx="6629400" cy="923330"/>
          </a:xfrm>
          <a:prstGeom prst="rect">
            <a:avLst/>
          </a:prstGeom>
          <a:solidFill>
            <a:srgbClr val="FFFFCC"/>
          </a:solidFill>
          <a:ln w="31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Clip clip = (Clip)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AudioSystem.getClip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clip.open(stream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); 	// open the audio 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clip.start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(); 	// start playing the audio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2455" y="2911469"/>
            <a:ext cx="9655147" cy="369332"/>
          </a:xfrm>
          <a:prstGeom prst="rect">
            <a:avLst/>
          </a:prstGeom>
          <a:solidFill>
            <a:srgbClr val="FFFFCC"/>
          </a:solidFill>
          <a:ln w="31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AudioInputStream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 stream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AudioSystem.getAudioInputStream(audioFile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77670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2"/>
            <a:ext cx="6621445" cy="74347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"/>
                <a:cs typeface="Courier"/>
              </a:rPr>
              <a:t>LineListener</a:t>
            </a:r>
            <a:r>
              <a:rPr lang="en-US" dirty="0">
                <a:latin typeface="+mn-lt"/>
                <a:cs typeface="Courier"/>
              </a:rPr>
              <a:t> </a:t>
            </a:r>
            <a:r>
              <a:rPr lang="en-US" dirty="0"/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0641"/>
            <a:ext cx="10404472" cy="494673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After the audio has been played</a:t>
            </a:r>
            <a:r>
              <a:rPr lang="en-US" dirty="0">
                <a:solidFill>
                  <a:schemeClr val="tx1"/>
                </a:solidFill>
              </a:rPr>
              <a:t>, event: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LineEvent.Type.STOP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happens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Add an event handler: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LineListener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addLineListener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(…)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to listen for this event.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interface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LineListener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contains an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update(…)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method: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void update(</a:t>
            </a: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LineEvent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 event)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7528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2"/>
            <a:ext cx="6621445" cy="74347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"/>
                <a:cs typeface="Courier"/>
              </a:rPr>
              <a:t>LineListener</a:t>
            </a:r>
            <a:r>
              <a:rPr lang="en-US" dirty="0">
                <a:latin typeface="+mn-lt"/>
                <a:cs typeface="Courier"/>
              </a:rPr>
              <a:t> </a:t>
            </a:r>
            <a:r>
              <a:rPr lang="en-US" dirty="0"/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0641"/>
            <a:ext cx="10404472" cy="49467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event listener must implement this method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update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LineEvent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class, contains the method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getType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,</a:t>
            </a:r>
            <a:b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</a:br>
            <a:r>
              <a:rPr lang="en-US" dirty="0">
                <a:solidFill>
                  <a:schemeClr val="tx1"/>
                </a:solidFill>
              </a:rPr>
              <a:t>to obtain the type of the event that has occurred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(such as 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START</a:t>
            </a:r>
            <a:r>
              <a:rPr lang="en-US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STOP</a:t>
            </a:r>
            <a:r>
              <a:rPr lang="en-US" dirty="0">
                <a:solidFill>
                  <a:schemeClr val="tx1"/>
                </a:solidFill>
              </a:rPr>
              <a:t>, among others).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030" y="3866939"/>
            <a:ext cx="8143443" cy="229514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5494492" y="3285366"/>
            <a:ext cx="2298138" cy="1480843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5162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41770"/>
            <a:ext cx="10707111" cy="64601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Courier"/>
                <a:cs typeface="Courier"/>
              </a:rPr>
              <a:t>AudioMixer</a:t>
            </a:r>
            <a:r>
              <a:rPr lang="en-US" sz="2800" dirty="0"/>
              <a:t>: Adding a Method to Play Audio Files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038" y="1435980"/>
            <a:ext cx="8783366" cy="51011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94A618-FE42-F8FB-0E98-BDFF4721C8DD}"/>
              </a:ext>
            </a:extLst>
          </p:cNvPr>
          <p:cNvSpPr txBox="1">
            <a:spLocks/>
          </p:cNvSpPr>
          <p:nvPr/>
        </p:nvSpPr>
        <p:spPr>
          <a:xfrm>
            <a:off x="949465" y="35530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CSEN160_06_Lecture_FileIO_AdvancedFileIO_Serialize.scu.csen160.AudioExample.</a:t>
            </a:r>
            <a:r>
              <a:rPr lang="en-US" dirty="0" err="1">
                <a:solidFill>
                  <a:srgbClr val="FF0000"/>
                </a:solidFill>
              </a:rPr>
              <a:t>B_PlayAudio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0280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BBF6-4227-E366-F5C9-F35970F4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A20D1755-185B-4B2C-3401-37B277AE8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/>
          <a:lstStyle/>
          <a:p>
            <a:r>
              <a:rPr lang="en-US" altLang="en-US" dirty="0"/>
              <a:t>Merge Audio</a:t>
            </a:r>
          </a:p>
        </p:txBody>
      </p:sp>
    </p:spTree>
    <p:extLst>
      <p:ext uri="{BB962C8B-B14F-4D97-AF65-F5344CB8AC3E}">
        <p14:creationId xmlns:p14="http://schemas.microsoft.com/office/powerpoint/2010/main" val="12687786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10412564" cy="609951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AudioMixer</a:t>
            </a:r>
            <a:r>
              <a:rPr lang="en-US" dirty="0"/>
              <a:t>: Mixing Two WAV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97305"/>
            <a:ext cx="10412564" cy="4934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The algorithm: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Combine</a:t>
            </a:r>
            <a:r>
              <a:rPr lang="en-US" dirty="0">
                <a:solidFill>
                  <a:schemeClr val="tx1"/>
                </a:solidFill>
              </a:rPr>
              <a:t> audio samples from source WAV files:</a:t>
            </a:r>
          </a:p>
          <a:p>
            <a:pPr lvl="2"/>
            <a:r>
              <a:rPr lang="en-US" sz="1600" dirty="0">
                <a:solidFill>
                  <a:schemeClr val="tx1"/>
                </a:solidFill>
                <a:latin typeface="Courier"/>
                <a:cs typeface="Courier"/>
              </a:rPr>
              <a:t>data3 = data1 + data2 - 128;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value 128 represents </a:t>
            </a:r>
            <a:r>
              <a:rPr lang="en-US" b="1" dirty="0">
                <a:solidFill>
                  <a:srgbClr val="FF0000"/>
                </a:solidFill>
              </a:rPr>
              <a:t>silence</a:t>
            </a:r>
            <a:r>
              <a:rPr lang="en-US" dirty="0">
                <a:solidFill>
                  <a:schemeClr val="tx1"/>
                </a:solidFill>
              </a:rPr>
              <a:t> for 8-bit audio.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Subtracting 128 </a:t>
            </a:r>
            <a:r>
              <a:rPr lang="en-US" dirty="0">
                <a:solidFill>
                  <a:schemeClr val="tx1"/>
                </a:solidFill>
              </a:rPr>
              <a:t>from the sum of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data1</a:t>
            </a:r>
            <a:r>
              <a:rPr lang="en-US" sz="18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data2,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makes sure </a:t>
            </a:r>
            <a:r>
              <a:rPr lang="en-US" dirty="0">
                <a:solidFill>
                  <a:schemeClr val="tx1"/>
                </a:solidFill>
              </a:rPr>
              <a:t>that when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data1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data2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are both 128,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Then that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data3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is also 128.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Samples can have values only from </a:t>
            </a:r>
            <a:r>
              <a:rPr lang="en-US" b="1" dirty="0">
                <a:solidFill>
                  <a:schemeClr val="tx1"/>
                </a:solidFill>
              </a:rPr>
              <a:t>0 to 255 for 8-bit audio</a:t>
            </a:r>
            <a:r>
              <a:rPr lang="en-US" dirty="0">
                <a:solidFill>
                  <a:schemeClr val="tx1"/>
                </a:solidFill>
              </a:rPr>
              <a:t>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and so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data3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is constrained to lie within this range.</a:t>
            </a:r>
          </a:p>
        </p:txBody>
      </p:sp>
    </p:spTree>
    <p:extLst>
      <p:ext uri="{BB962C8B-B14F-4D97-AF65-F5344CB8AC3E}">
        <p14:creationId xmlns:p14="http://schemas.microsoft.com/office/powerpoint/2010/main" val="39082730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33678"/>
            <a:ext cx="7547172" cy="569140"/>
          </a:xfrm>
        </p:spPr>
        <p:txBody>
          <a:bodyPr>
            <a:normAutofit/>
          </a:bodyPr>
          <a:lstStyle/>
          <a:p>
            <a:r>
              <a:rPr lang="en-US" sz="2800" dirty="0"/>
              <a:t>Class </a:t>
            </a:r>
            <a:r>
              <a:rPr lang="en-US" sz="2800" dirty="0" err="1">
                <a:latin typeface="Courier"/>
                <a:cs typeface="Courier"/>
              </a:rPr>
              <a:t>AudioMixer</a:t>
            </a:r>
            <a:r>
              <a:rPr lang="en-US" sz="2800" dirty="0"/>
              <a:t>: Mixing Two WAV Files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797FE6-386A-A247-3F28-2424A1E6D38C}"/>
              </a:ext>
            </a:extLst>
          </p:cNvPr>
          <p:cNvSpPr txBox="1">
            <a:spLocks/>
          </p:cNvSpPr>
          <p:nvPr/>
        </p:nvSpPr>
        <p:spPr>
          <a:xfrm>
            <a:off x="1066985" y="0"/>
            <a:ext cx="844598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CSEN160_06_Lecture_FileIO_AdvancedFileIO_Serialize.scu.csen160.AudioExample.</a:t>
            </a:r>
            <a:r>
              <a:rPr lang="en-US" dirty="0" err="1">
                <a:solidFill>
                  <a:srgbClr val="FF0000"/>
                </a:solidFill>
              </a:rPr>
              <a:t>C_AudioMerge</a:t>
            </a:r>
            <a:endParaRPr lang="en-US" dirty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A9183-2924-4CD2-E267-47D449843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28" y="1806125"/>
            <a:ext cx="7106433" cy="46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807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/>
          <a:lstStyle/>
          <a:p>
            <a:r>
              <a:rPr lang="en-US" altLang="en-US" dirty="0"/>
              <a:t>Serialization</a:t>
            </a:r>
          </a:p>
        </p:txBody>
      </p:sp>
    </p:spTree>
    <p:extLst>
      <p:ext uri="{BB962C8B-B14F-4D97-AF65-F5344CB8AC3E}">
        <p14:creationId xmlns:p14="http://schemas.microsoft.com/office/powerpoint/2010/main" val="13611121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1"/>
            <a:ext cx="3089272" cy="662549"/>
          </a:xfrm>
        </p:spPr>
        <p:txBody>
          <a:bodyPr/>
          <a:lstStyle/>
          <a:p>
            <a:r>
              <a:rPr lang="en-US" dirty="0"/>
              <a:t>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368057" cy="474848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Serialization: </a:t>
            </a:r>
            <a:r>
              <a:rPr lang="en-US" dirty="0">
                <a:solidFill>
                  <a:schemeClr val="tx1"/>
                </a:solidFill>
              </a:rPr>
              <a:t>saving an object to disk: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an object is serialized: it is </a:t>
            </a:r>
            <a:r>
              <a:rPr lang="en-US" b="1" dirty="0">
                <a:solidFill>
                  <a:schemeClr val="tx1"/>
                </a:solidFill>
              </a:rPr>
              <a:t>flattened/deflated.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reverse of constructing an object back from the binary data is </a:t>
            </a:r>
            <a:r>
              <a:rPr lang="en-US" b="1" dirty="0">
                <a:solidFill>
                  <a:schemeClr val="tx1"/>
                </a:solidFill>
              </a:rPr>
              <a:t>deserialization.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deserialized (or inflated) </a:t>
            </a:r>
            <a:r>
              <a:rPr lang="en-US" dirty="0">
                <a:solidFill>
                  <a:schemeClr val="tx1"/>
                </a:solidFill>
              </a:rPr>
              <a:t>object is one </a:t>
            </a:r>
            <a:r>
              <a:rPr lang="en-US" b="1" dirty="0">
                <a:solidFill>
                  <a:schemeClr val="tx1"/>
                </a:solidFill>
              </a:rPr>
              <a:t>whose state has been restored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8301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9971"/>
            <a:ext cx="10417284" cy="654457"/>
          </a:xfrm>
        </p:spPr>
        <p:txBody>
          <a:bodyPr>
            <a:normAutofit/>
          </a:bodyPr>
          <a:lstStyle/>
          <a:p>
            <a:r>
              <a:rPr lang="en-US" sz="2800" dirty="0"/>
              <a:t>Classes </a:t>
            </a:r>
            <a:r>
              <a:rPr lang="en-US" sz="2800" dirty="0" err="1">
                <a:latin typeface="Courier"/>
                <a:cs typeface="Courier"/>
              </a:rPr>
              <a:t>ObjectInputStream</a:t>
            </a:r>
            <a:r>
              <a:rPr lang="en-US" sz="2800" dirty="0">
                <a:latin typeface="Courier"/>
                <a:cs typeface="Courier"/>
              </a:rPr>
              <a:t> </a:t>
            </a:r>
            <a:r>
              <a:rPr lang="en-US" sz="2800" dirty="0"/>
              <a:t>and </a:t>
            </a:r>
            <a:r>
              <a:rPr lang="en-US" sz="2800" dirty="0" err="1">
                <a:latin typeface="Courier"/>
                <a:cs typeface="Courier"/>
              </a:rPr>
              <a:t>ObjectOutputStream</a:t>
            </a:r>
            <a:endParaRPr lang="en-US" sz="2800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17284" cy="4942689"/>
          </a:xfrm>
        </p:spPr>
        <p:txBody>
          <a:bodyPr/>
          <a:lstStyle/>
          <a:p>
            <a:endParaRPr lang="en-US" dirty="0"/>
          </a:p>
          <a:p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ObjectOutputStream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is used to convert the </a:t>
            </a:r>
            <a:r>
              <a:rPr lang="en-US" b="1" i="1" dirty="0">
                <a:solidFill>
                  <a:schemeClr val="tx1"/>
                </a:solidFill>
              </a:rPr>
              <a:t>instance fields</a:t>
            </a:r>
            <a:r>
              <a:rPr lang="en-US" i="1" dirty="0">
                <a:solidFill>
                  <a:schemeClr val="tx1"/>
                </a:solidFill>
              </a:rPr>
              <a:t>, </a:t>
            </a:r>
            <a:br>
              <a:rPr lang="en-US" i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of an object into a stream of bytes.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</a:t>
            </a:r>
            <a:r>
              <a:rPr lang="en-US" b="1" dirty="0">
                <a:solidFill>
                  <a:schemeClr val="tx1"/>
                </a:solidFill>
              </a:rPr>
              <a:t>byte stream </a:t>
            </a:r>
            <a:r>
              <a:rPr lang="en-US" dirty="0">
                <a:solidFill>
                  <a:schemeClr val="tx1"/>
                </a:solidFill>
              </a:rPr>
              <a:t>can be sent to a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FileOutputStream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binary data can be read back, using a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FileInputStream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 </a:t>
            </a:r>
            <a:b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</a:br>
            <a:r>
              <a:rPr lang="en-US" dirty="0">
                <a:solidFill>
                  <a:schemeClr val="tx1"/>
                </a:solidFill>
              </a:rPr>
              <a:t>and sent to an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ObjectInputStream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7923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0849"/>
            <a:ext cx="10417284" cy="651211"/>
          </a:xfrm>
        </p:spPr>
        <p:txBody>
          <a:bodyPr>
            <a:normAutofit/>
          </a:bodyPr>
          <a:lstStyle/>
          <a:p>
            <a:r>
              <a:rPr lang="en-US" sz="2800" dirty="0"/>
              <a:t>Classes </a:t>
            </a:r>
            <a:r>
              <a:rPr lang="en-US" sz="2800" dirty="0" err="1">
                <a:latin typeface="Courier"/>
                <a:cs typeface="Courier"/>
              </a:rPr>
              <a:t>ObjectInputStream</a:t>
            </a:r>
            <a:r>
              <a:rPr lang="en-US" sz="2800" dirty="0">
                <a:latin typeface="Courier"/>
                <a:cs typeface="Courier"/>
              </a:rPr>
              <a:t> </a:t>
            </a:r>
            <a:r>
              <a:rPr lang="en-US" sz="2800" dirty="0"/>
              <a:t>and </a:t>
            </a:r>
            <a:r>
              <a:rPr lang="en-US" sz="2800" dirty="0" err="1">
                <a:latin typeface="Courier"/>
                <a:cs typeface="Courier"/>
              </a:rPr>
              <a:t>ObjectOutputStream</a:t>
            </a:r>
            <a:endParaRPr lang="en-US" sz="2800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1793"/>
            <a:ext cx="10384242" cy="4829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(a) The </a:t>
            </a:r>
            <a:r>
              <a:rPr lang="en-US" sz="1730" dirty="0" err="1">
                <a:solidFill>
                  <a:schemeClr val="tx1"/>
                </a:solidFill>
                <a:latin typeface="Courier"/>
                <a:cs typeface="Courier"/>
              </a:rPr>
              <a:t>writeObject</a:t>
            </a:r>
            <a:r>
              <a:rPr lang="en-US" sz="173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of </a:t>
            </a:r>
            <a:r>
              <a:rPr lang="en-US" sz="1730" dirty="0" err="1">
                <a:solidFill>
                  <a:schemeClr val="tx1"/>
                </a:solidFill>
                <a:latin typeface="Courier"/>
                <a:cs typeface="Courier"/>
              </a:rPr>
              <a:t>ObjectOutputStream</a:t>
            </a:r>
            <a:r>
              <a:rPr lang="en-US" sz="173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serializes an object. 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(b) The </a:t>
            </a:r>
            <a:r>
              <a:rPr lang="en-US" sz="1730" dirty="0" err="1">
                <a:solidFill>
                  <a:schemeClr val="tx1"/>
                </a:solidFill>
                <a:latin typeface="Courier"/>
                <a:cs typeface="Courier"/>
              </a:rPr>
              <a:t>readObject</a:t>
            </a:r>
            <a:r>
              <a:rPr lang="en-US" sz="173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of </a:t>
            </a:r>
            <a:r>
              <a:rPr lang="en-US" sz="1730" dirty="0" err="1">
                <a:solidFill>
                  <a:schemeClr val="tx1"/>
                </a:solidFill>
                <a:latin typeface="Courier"/>
                <a:cs typeface="Courier"/>
              </a:rPr>
              <a:t>ObjectInputStream</a:t>
            </a:r>
            <a:r>
              <a:rPr lang="en-US" sz="1946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deserializes</a:t>
            </a:r>
            <a:r>
              <a:rPr lang="en-US" dirty="0">
                <a:solidFill>
                  <a:schemeClr val="tx1"/>
                </a:solidFill>
              </a:rPr>
              <a:t> an object.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79" y="1702702"/>
            <a:ext cx="3225952" cy="27627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536" y="1702702"/>
            <a:ext cx="3443002" cy="268265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2638004" y="3216586"/>
            <a:ext cx="20230" cy="1828798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658234" y="3151850"/>
            <a:ext cx="5029200" cy="287267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93052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1"/>
            <a:ext cx="4464918" cy="626135"/>
          </a:xfrm>
        </p:spPr>
        <p:txBody>
          <a:bodyPr/>
          <a:lstStyle/>
          <a:p>
            <a:r>
              <a:rPr lang="en-US" dirty="0"/>
              <a:t>Object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82943"/>
            <a:ext cx="10420656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Object is serialized by the following steps: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1. Create a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FileOutputStream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write to file,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wrap it inside an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ObjectOutputStream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2. Invoke the object stream’s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writeObject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 save the object’s state.</a:t>
            </a:r>
          </a:p>
        </p:txBody>
      </p:sp>
    </p:spTree>
    <p:extLst>
      <p:ext uri="{BB962C8B-B14F-4D97-AF65-F5344CB8AC3E}">
        <p14:creationId xmlns:p14="http://schemas.microsoft.com/office/powerpoint/2010/main" val="35010287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50"/>
            <a:ext cx="5067774" cy="771792"/>
          </a:xfrm>
        </p:spPr>
        <p:txBody>
          <a:bodyPr/>
          <a:lstStyle/>
          <a:p>
            <a:r>
              <a:rPr lang="en-US" dirty="0"/>
              <a:t>Object </a:t>
            </a:r>
            <a:r>
              <a:rPr lang="en-US" dirty="0" err="1"/>
              <a:t>Deserialization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46529"/>
            <a:ext cx="10400426" cy="4788940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</a:rPr>
              <a:t>Object is </a:t>
            </a:r>
            <a:r>
              <a:rPr lang="en-US" b="1" dirty="0" err="1">
                <a:solidFill>
                  <a:schemeClr val="tx1"/>
                </a:solidFill>
              </a:rPr>
              <a:t>deserialized</a:t>
            </a:r>
            <a:r>
              <a:rPr lang="en-US" b="1" dirty="0">
                <a:solidFill>
                  <a:schemeClr val="tx1"/>
                </a:solidFill>
              </a:rPr>
              <a:t> using the following steps: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1. Create a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FileInputStream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read from a file,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wrap it inside an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ObjectInputStream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2. Invoke the object stream’s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readObject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 restore the object’s state.</a:t>
            </a:r>
          </a:p>
        </p:txBody>
      </p:sp>
    </p:spTree>
    <p:extLst>
      <p:ext uri="{BB962C8B-B14F-4D97-AF65-F5344CB8AC3E}">
        <p14:creationId xmlns:p14="http://schemas.microsoft.com/office/powerpoint/2010/main" val="11992018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7123151" cy="56919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Object Serialization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45FD6B-0CD6-94E6-55EE-0BEDB3E9ED03}"/>
              </a:ext>
            </a:extLst>
          </p:cNvPr>
          <p:cNvSpPr txBox="1">
            <a:spLocks/>
          </p:cNvSpPr>
          <p:nvPr/>
        </p:nvSpPr>
        <p:spPr>
          <a:xfrm>
            <a:off x="901341" y="0"/>
            <a:ext cx="10190212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CSEN160_06_Lecture_FileIO_AdvancedFileIO_Serialize.scu.csen160.AudioExample.</a:t>
            </a:r>
            <a:r>
              <a:rPr lang="en-US" dirty="0" err="1">
                <a:solidFill>
                  <a:srgbClr val="FF0000"/>
                </a:solidFill>
              </a:rPr>
              <a:t>D_AudioMixerSerialized</a:t>
            </a:r>
            <a:endParaRPr lang="en-US" dirty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ECE97-2CFE-8DDB-0E63-53E53E36C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99" y="1366941"/>
            <a:ext cx="8165682" cy="524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579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7800001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1624</TotalTime>
  <Words>2750</Words>
  <Application>Microsoft Office PowerPoint</Application>
  <PresentationFormat>Widescreen</PresentationFormat>
  <Paragraphs>500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Arial Narrow</vt:lpstr>
      <vt:lpstr>Calibri</vt:lpstr>
      <vt:lpstr>Courier</vt:lpstr>
      <vt:lpstr>Garamond</vt:lpstr>
      <vt:lpstr>Wingdings</vt:lpstr>
      <vt:lpstr>SCUTemplate</vt:lpstr>
      <vt:lpstr>Custom Design</vt:lpstr>
      <vt:lpstr>CSEN160</vt:lpstr>
      <vt:lpstr>File I/O</vt:lpstr>
      <vt:lpstr>Classes File I/O</vt:lpstr>
      <vt:lpstr>FileReader &amp; FileWriter</vt:lpstr>
      <vt:lpstr>Class FileReader</vt:lpstr>
      <vt:lpstr>Class FileWriter</vt:lpstr>
      <vt:lpstr>Reading From a File</vt:lpstr>
      <vt:lpstr>IntelliJ example</vt:lpstr>
      <vt:lpstr>IntelliJ example</vt:lpstr>
      <vt:lpstr>IntelliJ example</vt:lpstr>
      <vt:lpstr>BufferedReader &amp; BufferedWriter</vt:lpstr>
      <vt:lpstr>Class BufferedReader</vt:lpstr>
      <vt:lpstr>Class BufferedWriter</vt:lpstr>
      <vt:lpstr>Class BufferedReader</vt:lpstr>
      <vt:lpstr>Class BufferedWriter</vt:lpstr>
      <vt:lpstr>Classes BufferedReader/BufferedWriter</vt:lpstr>
      <vt:lpstr>Example</vt:lpstr>
      <vt:lpstr>Scanner</vt:lpstr>
      <vt:lpstr>Class Scanner</vt:lpstr>
      <vt:lpstr>Class Scanner</vt:lpstr>
      <vt:lpstr>Class Scanner (continued)</vt:lpstr>
      <vt:lpstr>Example</vt:lpstr>
      <vt:lpstr>Text File Formats</vt:lpstr>
      <vt:lpstr>Text File Formats</vt:lpstr>
      <vt:lpstr>ASCII File Format</vt:lpstr>
      <vt:lpstr>ASCII File Format</vt:lpstr>
      <vt:lpstr>ANSI</vt:lpstr>
      <vt:lpstr>ANSI</vt:lpstr>
      <vt:lpstr>Unicode</vt:lpstr>
      <vt:lpstr>RandomAccessFile</vt:lpstr>
      <vt:lpstr>Accessing Files Randomly</vt:lpstr>
      <vt:lpstr>Accessing Files Randomly</vt:lpstr>
      <vt:lpstr>Class RandomAccessFile</vt:lpstr>
      <vt:lpstr>Exercise  RandomAccessFile</vt:lpstr>
      <vt:lpstr>Exercise</vt:lpstr>
      <vt:lpstr>Exercise</vt:lpstr>
      <vt:lpstr>FileInputStream &amp; FileOutputStream</vt:lpstr>
      <vt:lpstr>Classes FileInputStream/FileOutputStream</vt:lpstr>
      <vt:lpstr>Binary Files</vt:lpstr>
      <vt:lpstr>Audio Example</vt:lpstr>
      <vt:lpstr>Terminology</vt:lpstr>
      <vt:lpstr>Digitizing Sound</vt:lpstr>
      <vt:lpstr>Sampling</vt:lpstr>
      <vt:lpstr>Sampling (continued)</vt:lpstr>
      <vt:lpstr>Sampling (continued)</vt:lpstr>
      <vt:lpstr>Quantization</vt:lpstr>
      <vt:lpstr>Quantization</vt:lpstr>
      <vt:lpstr>Wave File</vt:lpstr>
      <vt:lpstr>Class AudioMixer</vt:lpstr>
      <vt:lpstr>Class AudioMixer</vt:lpstr>
      <vt:lpstr>WAV Files</vt:lpstr>
      <vt:lpstr>A WAV File Header</vt:lpstr>
      <vt:lpstr>Class AudioMixer: Displaying the Header of a WAV File</vt:lpstr>
      <vt:lpstr>A WAV File Header</vt:lpstr>
      <vt:lpstr>Class AudioMixer: Displaying the Header of a WAV File</vt:lpstr>
      <vt:lpstr>Big-Endian and Little-Endian </vt:lpstr>
      <vt:lpstr>Big-Endian and Little-Endian Order</vt:lpstr>
      <vt:lpstr>Big-Endian and Little-Endian Order</vt:lpstr>
      <vt:lpstr>Big-Endian and Little-Endian Order</vt:lpstr>
      <vt:lpstr>A WAV File Header</vt:lpstr>
      <vt:lpstr>Changing Binary Values in an Array to Decimal</vt:lpstr>
      <vt:lpstr>Changing Binary Values in an Array to Decimal</vt:lpstr>
      <vt:lpstr>Changing Binary Values In an Array to Decimal continued</vt:lpstr>
      <vt:lpstr>Class AudioMixer: Displaying Header in Decimal</vt:lpstr>
      <vt:lpstr>Class AudioMixer: Method to Return Integer Value of a Byte Array</vt:lpstr>
      <vt:lpstr>… to here …</vt:lpstr>
      <vt:lpstr>AudioSystem Play Audio</vt:lpstr>
      <vt:lpstr>Class AudioSystem</vt:lpstr>
      <vt:lpstr>Interface Clip</vt:lpstr>
      <vt:lpstr>Class AudioInputStream</vt:lpstr>
      <vt:lpstr>The LineListener Interface</vt:lpstr>
      <vt:lpstr>The LineListener Interface</vt:lpstr>
      <vt:lpstr>AudioMixer: Adding a Method to Play Audio Files</vt:lpstr>
      <vt:lpstr>Merge Audio</vt:lpstr>
      <vt:lpstr>Class AudioMixer: Mixing Two WAV Files</vt:lpstr>
      <vt:lpstr>Class AudioMixer: Mixing Two WAV Files</vt:lpstr>
      <vt:lpstr>Serialization</vt:lpstr>
      <vt:lpstr>Serialization</vt:lpstr>
      <vt:lpstr>Classes ObjectInputStream and ObjectOutputStream</vt:lpstr>
      <vt:lpstr>Classes ObjectInputStream and ObjectOutputStream</vt:lpstr>
      <vt:lpstr>Object Serialization</vt:lpstr>
      <vt:lpstr>Object Deserialization</vt:lpstr>
      <vt:lpstr>Example of Object Serialization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238</cp:revision>
  <cp:lastPrinted>2023-09-11T21:46:56Z</cp:lastPrinted>
  <dcterms:created xsi:type="dcterms:W3CDTF">2023-09-09T19:51:41Z</dcterms:created>
  <dcterms:modified xsi:type="dcterms:W3CDTF">2026-10-27T19:46:28Z</dcterms:modified>
</cp:coreProperties>
</file>