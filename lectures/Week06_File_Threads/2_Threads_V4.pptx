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  <p:sldMasterId id="2147483687" r:id="rId3"/>
  </p:sldMasterIdLst>
  <p:notesMasterIdLst>
    <p:notesMasterId r:id="rId107"/>
  </p:notesMasterIdLst>
  <p:handoutMasterIdLst>
    <p:handoutMasterId r:id="rId108"/>
  </p:handoutMasterIdLst>
  <p:sldIdLst>
    <p:sldId id="333" r:id="rId4"/>
    <p:sldId id="334" r:id="rId5"/>
    <p:sldId id="339" r:id="rId6"/>
    <p:sldId id="431" r:id="rId7"/>
    <p:sldId id="437" r:id="rId8"/>
    <p:sldId id="430" r:id="rId9"/>
    <p:sldId id="340" r:id="rId10"/>
    <p:sldId id="375" r:id="rId11"/>
    <p:sldId id="341" r:id="rId12"/>
    <p:sldId id="376" r:id="rId13"/>
    <p:sldId id="433" r:id="rId14"/>
    <p:sldId id="405" r:id="rId15"/>
    <p:sldId id="406" r:id="rId16"/>
    <p:sldId id="400" r:id="rId17"/>
    <p:sldId id="401" r:id="rId18"/>
    <p:sldId id="382" r:id="rId19"/>
    <p:sldId id="407" r:id="rId20"/>
    <p:sldId id="408" r:id="rId21"/>
    <p:sldId id="409" r:id="rId22"/>
    <p:sldId id="390" r:id="rId23"/>
    <p:sldId id="379" r:id="rId24"/>
    <p:sldId id="384" r:id="rId25"/>
    <p:sldId id="371" r:id="rId26"/>
    <p:sldId id="344" r:id="rId27"/>
    <p:sldId id="385" r:id="rId28"/>
    <p:sldId id="387" r:id="rId29"/>
    <p:sldId id="354" r:id="rId30"/>
    <p:sldId id="355" r:id="rId31"/>
    <p:sldId id="356" r:id="rId32"/>
    <p:sldId id="377" r:id="rId33"/>
    <p:sldId id="357" r:id="rId34"/>
    <p:sldId id="435" r:id="rId35"/>
    <p:sldId id="359" r:id="rId36"/>
    <p:sldId id="372" r:id="rId37"/>
    <p:sldId id="404" r:id="rId38"/>
    <p:sldId id="358" r:id="rId39"/>
    <p:sldId id="411" r:id="rId40"/>
    <p:sldId id="434" r:id="rId41"/>
    <p:sldId id="360" r:id="rId42"/>
    <p:sldId id="361" r:id="rId43"/>
    <p:sldId id="438" r:id="rId44"/>
    <p:sldId id="362" r:id="rId45"/>
    <p:sldId id="419" r:id="rId46"/>
    <p:sldId id="363" r:id="rId47"/>
    <p:sldId id="429" r:id="rId48"/>
    <p:sldId id="445" r:id="rId49"/>
    <p:sldId id="446" r:id="rId50"/>
    <p:sldId id="447" r:id="rId51"/>
    <p:sldId id="402" r:id="rId52"/>
    <p:sldId id="365" r:id="rId53"/>
    <p:sldId id="420" r:id="rId54"/>
    <p:sldId id="366" r:id="rId55"/>
    <p:sldId id="367" r:id="rId56"/>
    <p:sldId id="368" r:id="rId57"/>
    <p:sldId id="421" r:id="rId58"/>
    <p:sldId id="369" r:id="rId59"/>
    <p:sldId id="417" r:id="rId60"/>
    <p:sldId id="436" r:id="rId61"/>
    <p:sldId id="425" r:id="rId62"/>
    <p:sldId id="426" r:id="rId63"/>
    <p:sldId id="427" r:id="rId64"/>
    <p:sldId id="510" r:id="rId65"/>
    <p:sldId id="439" r:id="rId66"/>
    <p:sldId id="440" r:id="rId67"/>
    <p:sldId id="403" r:id="rId68"/>
    <p:sldId id="441" r:id="rId69"/>
    <p:sldId id="414" r:id="rId70"/>
    <p:sldId id="442" r:id="rId71"/>
    <p:sldId id="413" r:id="rId72"/>
    <p:sldId id="428" r:id="rId73"/>
    <p:sldId id="443" r:id="rId74"/>
    <p:sldId id="444" r:id="rId75"/>
    <p:sldId id="415" r:id="rId76"/>
    <p:sldId id="448" r:id="rId77"/>
    <p:sldId id="449" r:id="rId78"/>
    <p:sldId id="450" r:id="rId79"/>
    <p:sldId id="451" r:id="rId80"/>
    <p:sldId id="416" r:id="rId81"/>
    <p:sldId id="452" r:id="rId82"/>
    <p:sldId id="410" r:id="rId83"/>
    <p:sldId id="412" r:id="rId84"/>
    <p:sldId id="386" r:id="rId85"/>
    <p:sldId id="453" r:id="rId86"/>
    <p:sldId id="454" r:id="rId87"/>
    <p:sldId id="455" r:id="rId88"/>
    <p:sldId id="456" r:id="rId89"/>
    <p:sldId id="457" r:id="rId90"/>
    <p:sldId id="424" r:id="rId91"/>
    <p:sldId id="458" r:id="rId92"/>
    <p:sldId id="459" r:id="rId93"/>
    <p:sldId id="460" r:id="rId94"/>
    <p:sldId id="461" r:id="rId95"/>
    <p:sldId id="391" r:id="rId96"/>
    <p:sldId id="392" r:id="rId97"/>
    <p:sldId id="463" r:id="rId98"/>
    <p:sldId id="393" r:id="rId99"/>
    <p:sldId id="394" r:id="rId100"/>
    <p:sldId id="396" r:id="rId101"/>
    <p:sldId id="398" r:id="rId102"/>
    <p:sldId id="397" r:id="rId103"/>
    <p:sldId id="399" r:id="rId104"/>
    <p:sldId id="336" r:id="rId105"/>
    <p:sldId id="509" r:id="rId106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480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424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4" Type="http://schemas.openxmlformats.org/officeDocument/2006/relationships/slide" Target="slides/slide81.xml"/><Relationship Id="rId89" Type="http://schemas.openxmlformats.org/officeDocument/2006/relationships/slide" Target="slides/slide86.xml"/><Relationship Id="rId112" Type="http://schemas.openxmlformats.org/officeDocument/2006/relationships/tableStyles" Target="tableStyles.xml"/><Relationship Id="rId16" Type="http://schemas.openxmlformats.org/officeDocument/2006/relationships/slide" Target="slides/slide13.xml"/><Relationship Id="rId107" Type="http://schemas.openxmlformats.org/officeDocument/2006/relationships/notesMaster" Target="notesMasters/notesMaster1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102" Type="http://schemas.openxmlformats.org/officeDocument/2006/relationships/slide" Target="slides/slide99.xml"/><Relationship Id="rId5" Type="http://schemas.openxmlformats.org/officeDocument/2006/relationships/slide" Target="slides/slide2.xml"/><Relationship Id="rId90" Type="http://schemas.openxmlformats.org/officeDocument/2006/relationships/slide" Target="slides/slide87.xml"/><Relationship Id="rId95" Type="http://schemas.openxmlformats.org/officeDocument/2006/relationships/slide" Target="slides/slide92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80" Type="http://schemas.openxmlformats.org/officeDocument/2006/relationships/slide" Target="slides/slide77.xml"/><Relationship Id="rId85" Type="http://schemas.openxmlformats.org/officeDocument/2006/relationships/slide" Target="slides/slide82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59" Type="http://schemas.openxmlformats.org/officeDocument/2006/relationships/slide" Target="slides/slide56.xml"/><Relationship Id="rId103" Type="http://schemas.openxmlformats.org/officeDocument/2006/relationships/slide" Target="slides/slide100.xml"/><Relationship Id="rId108" Type="http://schemas.openxmlformats.org/officeDocument/2006/relationships/handoutMaster" Target="handoutMasters/handoutMaster1.xml"/><Relationship Id="rId54" Type="http://schemas.openxmlformats.org/officeDocument/2006/relationships/slide" Target="slides/slide51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91" Type="http://schemas.openxmlformats.org/officeDocument/2006/relationships/slide" Target="slides/slide88.xml"/><Relationship Id="rId96" Type="http://schemas.openxmlformats.org/officeDocument/2006/relationships/slide" Target="slides/slide9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6" Type="http://schemas.openxmlformats.org/officeDocument/2006/relationships/slide" Target="slides/slide103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81" Type="http://schemas.openxmlformats.org/officeDocument/2006/relationships/slide" Target="slides/slide78.xml"/><Relationship Id="rId86" Type="http://schemas.openxmlformats.org/officeDocument/2006/relationships/slide" Target="slides/slide83.xml"/><Relationship Id="rId94" Type="http://schemas.openxmlformats.org/officeDocument/2006/relationships/slide" Target="slides/slide91.xml"/><Relationship Id="rId99" Type="http://schemas.openxmlformats.org/officeDocument/2006/relationships/slide" Target="slides/slide96.xml"/><Relationship Id="rId101" Type="http://schemas.openxmlformats.org/officeDocument/2006/relationships/slide" Target="slides/slide9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109" Type="http://schemas.openxmlformats.org/officeDocument/2006/relationships/presProps" Target="presProps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97" Type="http://schemas.openxmlformats.org/officeDocument/2006/relationships/slide" Target="slides/slide94.xml"/><Relationship Id="rId104" Type="http://schemas.openxmlformats.org/officeDocument/2006/relationships/slide" Target="slides/slide101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92" Type="http://schemas.openxmlformats.org/officeDocument/2006/relationships/slide" Target="slides/slide8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slide" Target="slides/slide84.xml"/><Relationship Id="rId110" Type="http://schemas.openxmlformats.org/officeDocument/2006/relationships/viewProps" Target="viewProps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56" Type="http://schemas.openxmlformats.org/officeDocument/2006/relationships/slide" Target="slides/slide53.xml"/><Relationship Id="rId77" Type="http://schemas.openxmlformats.org/officeDocument/2006/relationships/slide" Target="slides/slide74.xml"/><Relationship Id="rId100" Type="http://schemas.openxmlformats.org/officeDocument/2006/relationships/slide" Target="slides/slide97.xml"/><Relationship Id="rId105" Type="http://schemas.openxmlformats.org/officeDocument/2006/relationships/slide" Target="slides/slide102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93" Type="http://schemas.openxmlformats.org/officeDocument/2006/relationships/slide" Target="slides/slide90.xml"/><Relationship Id="rId98" Type="http://schemas.openxmlformats.org/officeDocument/2006/relationships/slide" Target="slides/slide95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22.xml"/><Relationship Id="rId46" Type="http://schemas.openxmlformats.org/officeDocument/2006/relationships/slide" Target="slides/slide43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62" Type="http://schemas.openxmlformats.org/officeDocument/2006/relationships/slide" Target="slides/slide59.xml"/><Relationship Id="rId83" Type="http://schemas.openxmlformats.org/officeDocument/2006/relationships/slide" Target="slides/slide80.xml"/><Relationship Id="rId88" Type="http://schemas.openxmlformats.org/officeDocument/2006/relationships/slide" Target="slides/slide85.xml"/><Relationship Id="rId111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8E938536-29D3-49BD-A567-41CAF057586A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B2E2B272-7A3A-4005-B1B0-0F9070B87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7907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1559A16-B3AD-4CE2-9A5E-FAAD3C2C27CA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8C6438F-747C-40FA-8F40-021E653C0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0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669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811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698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417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494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000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40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107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721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03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048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178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145046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7506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4800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6008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B289B0-9BEC-4093-861C-76154CD68B5D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10/27/2026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136E94-7335-4773-A64D-0D46B1CA62E8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11104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44D533-7F64-4678-892D-1BE11DF2052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289964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4086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2073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80891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44352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98390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79193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43045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8934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77630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31139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33056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21138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65870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54137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69430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303953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75687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5799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7955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89712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B289B0-9BEC-4093-861C-76154CD68B5D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10/27/2026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136E94-7335-4773-A64D-0D46B1CA62E8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244945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44D533-7F64-4678-892D-1BE11DF2052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61663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4.xml"/><Relationship Id="rId18" Type="http://schemas.openxmlformats.org/officeDocument/2006/relationships/slideLayout" Target="../slideLayouts/slideLayout39.xml"/><Relationship Id="rId3" Type="http://schemas.openxmlformats.org/officeDocument/2006/relationships/slideLayout" Target="../slideLayouts/slideLayout24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33.xml"/><Relationship Id="rId17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37.xml"/><Relationship Id="rId20" Type="http://schemas.openxmlformats.org/officeDocument/2006/relationships/theme" Target="../theme/theme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31.xml"/><Relationship Id="rId19" Type="http://schemas.openxmlformats.org/officeDocument/2006/relationships/slideLayout" Target="../slideLayouts/slideLayout40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35.xml"/><Relationship Id="rId22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924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82" r:id="rId13"/>
    <p:sldLayoutId id="2147483683" r:id="rId14"/>
    <p:sldLayoutId id="2147483685" r:id="rId15"/>
    <p:sldLayoutId id="2147483686" r:id="rId16"/>
    <p:sldLayoutId id="2147483707" r:id="rId17"/>
    <p:sldLayoutId id="214748370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307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EF7EA9-7F89-AB44-B414-A35A39B88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0015"/>
            <a:ext cx="10515600" cy="642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578A8-B26A-4945-96B6-DF5E5BC7D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697162"/>
            <a:ext cx="10515600" cy="3246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 err="1"/>
              <a:t>Secod</a:t>
            </a:r>
            <a:r>
              <a:rPr lang="en-US" dirty="0"/>
              <a:t>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94CFB0A-34C6-5D42-83C5-6E58C3499080}"/>
              </a:ext>
            </a:extLst>
          </p:cNvPr>
          <p:cNvCxnSpPr>
            <a:cxnSpLocks/>
          </p:cNvCxnSpPr>
          <p:nvPr/>
        </p:nvCxnSpPr>
        <p:spPr>
          <a:xfrm>
            <a:off x="956394" y="730089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306B758-975E-984A-8DF2-F551E50A3FBA}"/>
              </a:ext>
            </a:extLst>
          </p:cNvPr>
          <p:cNvCxnSpPr>
            <a:cxnSpLocks/>
          </p:cNvCxnSpPr>
          <p:nvPr/>
        </p:nvCxnSpPr>
        <p:spPr>
          <a:xfrm>
            <a:off x="956394" y="388502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4BCBDF38-9EC5-8347-AE99-4FA5381A78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0924" y="472981"/>
            <a:ext cx="3880944" cy="17262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A5D1952-D4DE-0B48-9AEC-F81A6CB6ED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474" y="157274"/>
            <a:ext cx="804042" cy="80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626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0207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  <p:sldLayoutId id="2147483705" r:id="rId18"/>
    <p:sldLayoutId id="2147483706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0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0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9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9.xml"/><Relationship Id="rId4" Type="http://schemas.openxmlformats.org/officeDocument/2006/relationships/image" Target="../media/image24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9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0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9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0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0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8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8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8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8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8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7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17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8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61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7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317890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Fall 2026</a:t>
            </a:r>
          </a:p>
          <a:p>
            <a:r>
              <a:rPr lang="en-US" dirty="0">
                <a:solidFill>
                  <a:schemeClr val="tx1"/>
                </a:solidFill>
              </a:rPr>
              <a:t>Object-Oriented Analysis, Design and Programming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Michael Schimpf, PhD, mschimpf@scu.edu</a:t>
            </a:r>
          </a:p>
          <a:p>
            <a:r>
              <a:rPr lang="en-US" dirty="0">
                <a:solidFill>
                  <a:schemeClr val="tx1"/>
                </a:solidFill>
              </a:rPr>
              <a:t>Department of Computer Science and Engineering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818BAB-0338-734A-B1E8-2463F3B29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CSEN160</a:t>
            </a:r>
          </a:p>
        </p:txBody>
      </p:sp>
    </p:spTree>
    <p:extLst>
      <p:ext uri="{BB962C8B-B14F-4D97-AF65-F5344CB8AC3E}">
        <p14:creationId xmlns:p14="http://schemas.microsoft.com/office/powerpoint/2010/main" val="4052080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831850" y="2047285"/>
            <a:ext cx="10515600" cy="1816662"/>
          </a:xfrm>
        </p:spPr>
        <p:txBody>
          <a:bodyPr/>
          <a:lstStyle/>
          <a:p>
            <a:r>
              <a:rPr lang="en-US" altLang="en-US" dirty="0"/>
              <a:t>Multithreading</a:t>
            </a:r>
          </a:p>
        </p:txBody>
      </p:sp>
    </p:spTree>
    <p:extLst>
      <p:ext uri="{BB962C8B-B14F-4D97-AF65-F5344CB8AC3E}">
        <p14:creationId xmlns:p14="http://schemas.microsoft.com/office/powerpoint/2010/main" val="3873305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936516" y="761649"/>
            <a:ext cx="4477056" cy="678733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dirty="0"/>
              <a:t>What are threads?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526699"/>
            <a:ext cx="10408518" cy="5133046"/>
          </a:xfrm>
        </p:spPr>
        <p:txBody>
          <a:bodyPr rtlCol="0">
            <a:normAutofit/>
          </a:bodyPr>
          <a:lstStyle/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A thread is a </a:t>
            </a:r>
            <a:r>
              <a:rPr lang="en-US" b="1" dirty="0">
                <a:solidFill>
                  <a:srgbClr val="00B050"/>
                </a:solidFill>
              </a:rPr>
              <a:t>single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sequential control flow within a program. 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A </a:t>
            </a:r>
            <a:r>
              <a:rPr lang="en-US" b="1" dirty="0">
                <a:solidFill>
                  <a:srgbClr val="FF0000"/>
                </a:solidFill>
              </a:rPr>
              <a:t>single</a:t>
            </a:r>
            <a:r>
              <a:rPr lang="en-US" dirty="0">
                <a:solidFill>
                  <a:srgbClr val="800000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threaded program can handle </a:t>
            </a:r>
            <a:r>
              <a:rPr lang="en-US" b="1" dirty="0">
                <a:solidFill>
                  <a:srgbClr val="FF0000"/>
                </a:solidFill>
              </a:rPr>
              <a:t>one task</a:t>
            </a:r>
            <a:r>
              <a:rPr lang="en-US" dirty="0"/>
              <a:t>.</a:t>
            </a:r>
          </a:p>
          <a:p>
            <a:pPr marL="0" indent="0">
              <a:buNone/>
              <a:defRPr/>
            </a:pPr>
            <a:endParaRPr lang="en-US" dirty="0"/>
          </a:p>
        </p:txBody>
      </p:sp>
      <p:sp>
        <p:nvSpPr>
          <p:cNvPr id="2" name="Right Arrow 1">
            <a:extLst>
              <a:ext uri="{FF2B5EF4-FFF2-40B4-BE49-F238E27FC236}">
                <a16:creationId xmlns:a16="http://schemas.microsoft.com/office/drawing/2014/main" id="{D147FA03-87AB-24A0-750E-3C682DA95971}"/>
              </a:ext>
            </a:extLst>
          </p:cNvPr>
          <p:cNvSpPr/>
          <p:nvPr/>
        </p:nvSpPr>
        <p:spPr>
          <a:xfrm>
            <a:off x="0" y="2393093"/>
            <a:ext cx="846966" cy="484632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D13184EE-A87A-1180-B511-002ABDB42131}"/>
              </a:ext>
            </a:extLst>
          </p:cNvPr>
          <p:cNvSpPr/>
          <p:nvPr/>
        </p:nvSpPr>
        <p:spPr>
          <a:xfrm rot="10800000">
            <a:off x="8176055" y="2393093"/>
            <a:ext cx="978408" cy="484632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034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D378F-B413-6FB6-4B1C-D407F6584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CDE8608E-407B-D3DF-8756-6169D538C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61649"/>
            <a:ext cx="4477056" cy="678733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dirty="0"/>
              <a:t>What are threads?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D3B92-E7DC-3BBC-6626-9D5F16BD7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1526699"/>
            <a:ext cx="10408518" cy="5133046"/>
          </a:xfrm>
        </p:spPr>
        <p:txBody>
          <a:bodyPr rtlCol="0">
            <a:normAutofit/>
          </a:bodyPr>
          <a:lstStyle/>
          <a:p>
            <a:pPr marL="0" indent="0">
              <a:buNone/>
              <a:defRPr/>
            </a:pPr>
            <a:endParaRPr lang="en-US" dirty="0"/>
          </a:p>
          <a:p>
            <a:pPr marL="0" indent="0">
              <a:buNone/>
              <a:defRPr/>
            </a:pPr>
            <a:r>
              <a:rPr lang="en-US" dirty="0">
                <a:solidFill>
                  <a:schemeClr val="tx1"/>
                </a:solidFill>
              </a:rPr>
              <a:t>A </a:t>
            </a:r>
            <a:r>
              <a:rPr lang="en-US" b="1" dirty="0">
                <a:solidFill>
                  <a:srgbClr val="00B050"/>
                </a:solidFill>
              </a:rPr>
              <a:t>multi-threaded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program:</a:t>
            </a:r>
          </a:p>
          <a:p>
            <a:pPr lvl="1">
              <a:defRPr/>
            </a:pPr>
            <a:endParaRPr lang="en-US" dirty="0">
              <a:solidFill>
                <a:schemeClr val="tx1"/>
              </a:solidFill>
            </a:endParaRPr>
          </a:p>
          <a:p>
            <a:pPr lvl="1">
              <a:defRPr/>
            </a:pPr>
            <a:r>
              <a:rPr lang="en-US" dirty="0">
                <a:solidFill>
                  <a:schemeClr val="tx1"/>
                </a:solidFill>
              </a:rPr>
              <a:t>Has </a:t>
            </a:r>
            <a:r>
              <a:rPr lang="en-US" b="1" dirty="0">
                <a:solidFill>
                  <a:srgbClr val="00B050"/>
                </a:solidFill>
              </a:rPr>
              <a:t>multiple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threads running</a:t>
            </a:r>
          </a:p>
          <a:p>
            <a:pPr lvl="1">
              <a:defRPr/>
            </a:pPr>
            <a:endParaRPr lang="en-US" dirty="0">
              <a:solidFill>
                <a:schemeClr val="tx1"/>
              </a:solidFill>
            </a:endParaRPr>
          </a:p>
          <a:p>
            <a:pPr lvl="1">
              <a:defRPr/>
            </a:pPr>
            <a:r>
              <a:rPr lang="en-US" dirty="0">
                <a:solidFill>
                  <a:schemeClr val="tx1"/>
                </a:solidFill>
              </a:rPr>
              <a:t>To handle </a:t>
            </a:r>
            <a:r>
              <a:rPr lang="en-US" b="1" dirty="0">
                <a:solidFill>
                  <a:srgbClr val="00B050"/>
                </a:solidFill>
              </a:rPr>
              <a:t>multiple</a:t>
            </a:r>
            <a:r>
              <a:rPr lang="en-US" dirty="0">
                <a:solidFill>
                  <a:schemeClr val="tx1"/>
                </a:solidFill>
              </a:rPr>
              <a:t> tasks </a:t>
            </a:r>
          </a:p>
          <a:p>
            <a:pPr marL="0" indent="0">
              <a:buNone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8377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A446C-D8E4-E7DA-B11D-ADD89607D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>
            <a:extLst>
              <a:ext uri="{FF2B5EF4-FFF2-40B4-BE49-F238E27FC236}">
                <a16:creationId xmlns:a16="http://schemas.microsoft.com/office/drawing/2014/main" id="{867F401D-BA51-1C8C-83F4-93C02D61B4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228600"/>
            <a:ext cx="79248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zh-CN" sz="44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044D7FC-7F35-1354-7BAA-998796ECD7C6}"/>
              </a:ext>
            </a:extLst>
          </p:cNvPr>
          <p:cNvSpPr txBox="1">
            <a:spLocks/>
          </p:cNvSpPr>
          <p:nvPr/>
        </p:nvSpPr>
        <p:spPr>
          <a:xfrm>
            <a:off x="963558" y="762003"/>
            <a:ext cx="4972021" cy="544862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en-US" sz="3200" dirty="0"/>
              <a:t>Threads and Memory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DEFBFDE-822F-7E44-C112-340599576C0F}"/>
              </a:ext>
            </a:extLst>
          </p:cNvPr>
          <p:cNvSpPr txBox="1"/>
          <p:nvPr/>
        </p:nvSpPr>
        <p:spPr>
          <a:xfrm>
            <a:off x="963558" y="1918540"/>
            <a:ext cx="10414305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Memory: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Threads share the </a:t>
            </a:r>
            <a:r>
              <a:rPr lang="en-US" sz="2000" b="1" dirty="0">
                <a:solidFill>
                  <a:srgbClr val="00B050"/>
                </a:solidFill>
              </a:rPr>
              <a:t>same address space</a:t>
            </a:r>
            <a:endParaRPr lang="en-US" sz="2000" dirty="0">
              <a:solidFill>
                <a:srgbClr val="00B05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Each thread has its own </a:t>
            </a:r>
            <a:r>
              <a:rPr lang="en-US" sz="2000" b="1" dirty="0">
                <a:solidFill>
                  <a:srgbClr val="FF0000"/>
                </a:solidFill>
              </a:rPr>
              <a:t>stack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Each thread has its own </a:t>
            </a:r>
            <a:r>
              <a:rPr lang="en-US" sz="2000" b="1" dirty="0">
                <a:solidFill>
                  <a:srgbClr val="00B0F0"/>
                </a:solidFill>
              </a:rPr>
              <a:t>copy of local variables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Same </a:t>
            </a:r>
            <a:r>
              <a:rPr lang="en-US" sz="2000" b="1" dirty="0">
                <a:solidFill>
                  <a:srgbClr val="FF0000"/>
                </a:solidFill>
              </a:rPr>
              <a:t>dynamic</a:t>
            </a:r>
            <a:r>
              <a:rPr lang="en-US" sz="2000" dirty="0"/>
              <a:t> memory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41838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86D6A-CC03-E689-B9DA-277985C2F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BF8C48AF-5EA9-E69A-B94D-823DD1F8A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746" y="762001"/>
            <a:ext cx="8915537" cy="625784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sz="3200" dirty="0"/>
              <a:t>Advantages of multi-threaded programming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71D291E1-5A07-1803-4331-AA1A83E929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6746" y="1546928"/>
            <a:ext cx="10388288" cy="5104725"/>
          </a:xfrm>
          <a:ln>
            <a:miter lim="800000"/>
            <a:headEnd/>
            <a:tailEnd/>
          </a:ln>
        </p:spPr>
        <p:txBody>
          <a:bodyPr/>
          <a:lstStyle/>
          <a:p>
            <a:pPr marL="0" indent="0" eaLnBrk="1" hangingPunct="1">
              <a:buNone/>
            </a:pPr>
            <a:endParaRPr lang="en-US" altLang="en-US" sz="2800" dirty="0"/>
          </a:p>
          <a:p>
            <a:pPr marL="0" indent="0" eaLnBrk="1" hangingPunct="1">
              <a:buNone/>
            </a:pPr>
            <a:r>
              <a:rPr lang="en-US" altLang="en-US" sz="2800" dirty="0">
                <a:solidFill>
                  <a:schemeClr val="tx1"/>
                </a:solidFill>
              </a:rPr>
              <a:t>For developing </a:t>
            </a:r>
            <a:r>
              <a:rPr lang="en-US" altLang="en-US" sz="2800" b="1" dirty="0">
                <a:solidFill>
                  <a:srgbClr val="FF0000"/>
                </a:solidFill>
              </a:rPr>
              <a:t>reactive systems</a:t>
            </a:r>
            <a:r>
              <a:rPr lang="en-US" altLang="en-US" sz="2800" dirty="0">
                <a:solidFill>
                  <a:srgbClr val="FF0000"/>
                </a:solidFill>
              </a:rPr>
              <a:t>:</a:t>
            </a:r>
          </a:p>
          <a:p>
            <a:pPr lvl="1"/>
            <a:endParaRPr lang="en-US" altLang="en-US" sz="2400" dirty="0"/>
          </a:p>
          <a:p>
            <a:pPr lvl="1"/>
            <a:r>
              <a:rPr lang="en-US" altLang="en-US" sz="2400" dirty="0">
                <a:solidFill>
                  <a:schemeClr val="tx1"/>
                </a:solidFill>
              </a:rPr>
              <a:t>Check continuously </a:t>
            </a:r>
            <a:r>
              <a:rPr lang="en-US" altLang="en-US" sz="2400" b="1" dirty="0">
                <a:solidFill>
                  <a:srgbClr val="FF0000"/>
                </a:solidFill>
              </a:rPr>
              <a:t>sensors</a:t>
            </a:r>
            <a:r>
              <a:rPr lang="en-US" altLang="en-US" sz="2400" dirty="0"/>
              <a:t> </a:t>
            </a:r>
            <a:r>
              <a:rPr lang="en-US" altLang="en-US" sz="2400" dirty="0">
                <a:solidFill>
                  <a:schemeClr val="tx1"/>
                </a:solidFill>
              </a:rPr>
              <a:t>=&gt; actions.</a:t>
            </a:r>
          </a:p>
        </p:txBody>
      </p:sp>
    </p:spTree>
    <p:extLst>
      <p:ext uri="{BB962C8B-B14F-4D97-AF65-F5344CB8AC3E}">
        <p14:creationId xmlns:p14="http://schemas.microsoft.com/office/powerpoint/2010/main" val="340907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956746" y="762001"/>
            <a:ext cx="8915537" cy="625784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sz="3200" dirty="0"/>
              <a:t>Advantages of multi-threaded programming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956746" y="1546928"/>
            <a:ext cx="10388288" cy="5104725"/>
          </a:xfrm>
          <a:ln>
            <a:miter lim="800000"/>
            <a:headEnd/>
            <a:tailEnd/>
          </a:ln>
        </p:spPr>
        <p:txBody>
          <a:bodyPr/>
          <a:lstStyle/>
          <a:p>
            <a:pPr marL="0" indent="0" eaLnBrk="1" hangingPunct="1">
              <a:buNone/>
            </a:pPr>
            <a:endParaRPr lang="en-US" altLang="en-US" sz="2800" dirty="0"/>
          </a:p>
          <a:p>
            <a:pPr marL="0" indent="0" eaLnBrk="1" hangingPunct="1">
              <a:buNone/>
            </a:pPr>
            <a:r>
              <a:rPr lang="en-US" altLang="en-US" sz="2800" dirty="0">
                <a:solidFill>
                  <a:schemeClr val="tx1"/>
                </a:solidFill>
              </a:rPr>
              <a:t>Applications becomes </a:t>
            </a:r>
            <a:r>
              <a:rPr lang="en-US" altLang="en-US" sz="2800" b="1" dirty="0">
                <a:solidFill>
                  <a:srgbClr val="00B0F0"/>
                </a:solidFill>
              </a:rPr>
              <a:t>responsive</a:t>
            </a:r>
            <a:r>
              <a:rPr lang="en-US" altLang="en-US" sz="2800" dirty="0"/>
              <a:t> </a:t>
            </a:r>
            <a:r>
              <a:rPr lang="en-US" altLang="en-US" sz="2800" dirty="0">
                <a:solidFill>
                  <a:schemeClr val="tx1"/>
                </a:solidFill>
              </a:rPr>
              <a:t>to user input:</a:t>
            </a:r>
          </a:p>
          <a:p>
            <a:pPr lvl="1"/>
            <a:endParaRPr lang="en-US" altLang="en-US" sz="2400" dirty="0">
              <a:solidFill>
                <a:schemeClr val="tx1"/>
              </a:solidFill>
            </a:endParaRPr>
          </a:p>
          <a:p>
            <a:pPr lvl="1"/>
            <a:r>
              <a:rPr lang="en-US" altLang="en-US" sz="2400" dirty="0">
                <a:solidFill>
                  <a:schemeClr val="tx1"/>
                </a:solidFill>
              </a:rPr>
              <a:t>A GUI application </a:t>
            </a:r>
            <a:r>
              <a:rPr lang="en-US" altLang="en-US" sz="2400" b="1" dirty="0">
                <a:solidFill>
                  <a:srgbClr val="00B0F0"/>
                </a:solidFill>
              </a:rPr>
              <a:t>responds</a:t>
            </a:r>
            <a:r>
              <a:rPr lang="en-US" altLang="en-US" sz="2400" dirty="0"/>
              <a:t> </a:t>
            </a:r>
            <a:r>
              <a:rPr lang="en-US" altLang="en-US" sz="2400" b="1" dirty="0">
                <a:solidFill>
                  <a:srgbClr val="00B0F0"/>
                </a:solidFill>
              </a:rPr>
              <a:t>promptly </a:t>
            </a:r>
            <a:r>
              <a:rPr lang="en-US" altLang="en-US" sz="2400" dirty="0">
                <a:solidFill>
                  <a:schemeClr val="tx1"/>
                </a:solidFill>
              </a:rPr>
              <a:t>to user events</a:t>
            </a:r>
            <a:endParaRPr lang="en-US" altLang="en-US" sz="2400" b="1" dirty="0">
              <a:solidFill>
                <a:schemeClr val="tx1"/>
              </a:solidFill>
            </a:endParaRPr>
          </a:p>
          <a:p>
            <a:pPr lvl="1"/>
            <a:endParaRPr lang="en-US" altLang="en-US" sz="2400" dirty="0"/>
          </a:p>
          <a:p>
            <a:pPr lvl="1"/>
            <a:r>
              <a:rPr lang="en-US" altLang="en-US" sz="2400" b="1" dirty="0">
                <a:solidFill>
                  <a:srgbClr val="00B050"/>
                </a:solidFill>
              </a:rPr>
              <a:t>Even when </a:t>
            </a:r>
            <a:r>
              <a:rPr lang="en-US" altLang="en-US" sz="2400" dirty="0">
                <a:solidFill>
                  <a:schemeClr val="tx1"/>
                </a:solidFill>
              </a:rPr>
              <a:t>application performing </a:t>
            </a:r>
            <a:r>
              <a:rPr lang="en-US" altLang="en-US" sz="2400" b="1" dirty="0">
                <a:solidFill>
                  <a:srgbClr val="FF0000"/>
                </a:solidFill>
              </a:rPr>
              <a:t>time-consuming computations</a:t>
            </a:r>
            <a:r>
              <a:rPr lang="en-US" alt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78313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956746" y="762001"/>
            <a:ext cx="8915537" cy="625784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sz="3200" dirty="0"/>
              <a:t>Advantages of multi-threaded programming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956746" y="1546928"/>
            <a:ext cx="10388288" cy="5104725"/>
          </a:xfrm>
          <a:ln>
            <a:miter lim="800000"/>
            <a:headEnd/>
            <a:tailEnd/>
          </a:ln>
        </p:spPr>
        <p:txBody>
          <a:bodyPr/>
          <a:lstStyle/>
          <a:p>
            <a:pPr marL="0" indent="0" eaLnBrk="1" hangingPunct="1">
              <a:buNone/>
            </a:pPr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>
                <a:solidFill>
                  <a:schemeClr val="tx1"/>
                </a:solidFill>
              </a:rPr>
              <a:t>A</a:t>
            </a:r>
            <a:r>
              <a:rPr lang="en-US" altLang="en-US" sz="2800" dirty="0"/>
              <a:t> </a:t>
            </a:r>
            <a:r>
              <a:rPr lang="en-US" altLang="en-US" sz="2800" b="1" dirty="0">
                <a:solidFill>
                  <a:srgbClr val="00B050"/>
                </a:solidFill>
              </a:rPr>
              <a:t>web-server</a:t>
            </a:r>
            <a:r>
              <a:rPr lang="en-US" altLang="en-US" sz="2800" dirty="0"/>
              <a:t> </a:t>
            </a:r>
            <a:r>
              <a:rPr lang="en-US" altLang="en-US" sz="2800" dirty="0">
                <a:solidFill>
                  <a:schemeClr val="tx1"/>
                </a:solidFill>
              </a:rPr>
              <a:t>can handle </a:t>
            </a:r>
            <a:r>
              <a:rPr lang="en-US" altLang="en-US" sz="2800" i="1" dirty="0">
                <a:solidFill>
                  <a:schemeClr val="tx1"/>
                </a:solidFill>
              </a:rPr>
              <a:t>multiple clients </a:t>
            </a:r>
            <a:r>
              <a:rPr lang="en-US" altLang="en-US" sz="2800" dirty="0">
                <a:solidFill>
                  <a:schemeClr val="tx1"/>
                </a:solidFill>
              </a:rPr>
              <a:t>at the same time.</a:t>
            </a:r>
          </a:p>
          <a:p>
            <a:pPr marL="0" indent="0" eaLnBrk="1" hangingPunct="1">
              <a:buNone/>
            </a:pPr>
            <a:endParaRPr lang="en-US" altLang="en-US" sz="2800" dirty="0">
              <a:solidFill>
                <a:schemeClr val="tx1"/>
              </a:solidFill>
            </a:endParaRPr>
          </a:p>
          <a:p>
            <a:pPr eaLnBrk="1" hangingPunct="1"/>
            <a:endParaRPr lang="en-US" altLang="en-US" sz="2800" dirty="0">
              <a:solidFill>
                <a:schemeClr val="tx1"/>
              </a:solidFill>
            </a:endParaRPr>
          </a:p>
          <a:p>
            <a:pPr eaLnBrk="1" hangingPunct="1"/>
            <a:r>
              <a:rPr lang="en-US" altLang="en-US" sz="2800" dirty="0">
                <a:solidFill>
                  <a:schemeClr val="tx1"/>
                </a:solidFill>
              </a:rPr>
              <a:t>Sharing recourses (in general) is </a:t>
            </a:r>
            <a:r>
              <a:rPr lang="en-US" altLang="en-US" sz="2800" b="1" dirty="0">
                <a:solidFill>
                  <a:srgbClr val="00B050"/>
                </a:solidFill>
              </a:rPr>
              <a:t>easier</a:t>
            </a:r>
            <a:r>
              <a:rPr lang="en-US" altLang="en-US" sz="2800" dirty="0">
                <a:solidFill>
                  <a:schemeClr val="tx1"/>
                </a:solidFill>
              </a:rPr>
              <a:t> (heap, files)</a:t>
            </a:r>
          </a:p>
        </p:txBody>
      </p:sp>
    </p:spTree>
    <p:extLst>
      <p:ext uri="{BB962C8B-B14F-4D97-AF65-F5344CB8AC3E}">
        <p14:creationId xmlns:p14="http://schemas.microsoft.com/office/powerpoint/2010/main" val="39858838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963558" y="762002"/>
            <a:ext cx="10417284" cy="795715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sz="3200" dirty="0"/>
              <a:t>Disadvantages of multi-threaded programming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>
          <a:xfrm>
            <a:off x="963558" y="1712815"/>
            <a:ext cx="10353154" cy="4922653"/>
          </a:xfrm>
          <a:ln>
            <a:miter lim="800000"/>
            <a:headEnd/>
            <a:tailEnd/>
          </a:ln>
        </p:spPr>
        <p:txBody>
          <a:bodyPr>
            <a:normAutofit/>
          </a:bodyPr>
          <a:lstStyle/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>
                <a:solidFill>
                  <a:schemeClr val="tx1"/>
                </a:solidFill>
              </a:rPr>
              <a:t>Programming is </a:t>
            </a:r>
            <a:r>
              <a:rPr lang="en-US" altLang="en-US" sz="2800" b="1" dirty="0">
                <a:solidFill>
                  <a:srgbClr val="FF0000"/>
                </a:solidFill>
              </a:rPr>
              <a:t>difficult</a:t>
            </a:r>
            <a:r>
              <a:rPr lang="en-US" altLang="en-US" sz="2800" dirty="0"/>
              <a:t>.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>
                <a:solidFill>
                  <a:schemeClr val="tx1"/>
                </a:solidFill>
              </a:rPr>
              <a:t>The exact order of execution is </a:t>
            </a:r>
            <a:r>
              <a:rPr lang="en-US" altLang="en-US" sz="2800" b="1" dirty="0">
                <a:solidFill>
                  <a:srgbClr val="FF0000"/>
                </a:solidFill>
              </a:rPr>
              <a:t>non-deterministic</a:t>
            </a:r>
            <a:r>
              <a:rPr lang="en-US" altLang="en-US" sz="2800" dirty="0"/>
              <a:t>.</a:t>
            </a:r>
          </a:p>
          <a:p>
            <a:pPr eaLnBrk="1" hangingPunct="1"/>
            <a:endParaRPr lang="en-US" altLang="en-US" sz="2800" dirty="0"/>
          </a:p>
          <a:p>
            <a:r>
              <a:rPr lang="en-US" altLang="en-US" sz="2800" dirty="0">
                <a:solidFill>
                  <a:schemeClr val="tx1"/>
                </a:solidFill>
              </a:rPr>
              <a:t>Working together between threads </a:t>
            </a:r>
            <a:r>
              <a:rPr lang="en-US" altLang="en-US" sz="2800" b="1" dirty="0">
                <a:solidFill>
                  <a:srgbClr val="FF0000"/>
                </a:solidFill>
              </a:rPr>
              <a:t>(complicated)</a:t>
            </a:r>
            <a:r>
              <a:rPr lang="en-US" altLang="en-US" sz="2800" dirty="0"/>
              <a:t>.</a:t>
            </a:r>
          </a:p>
          <a:p>
            <a:pPr eaLnBrk="1" hangingPunct="1"/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355910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963558" y="762002"/>
            <a:ext cx="10417284" cy="795715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sz="3200" dirty="0"/>
              <a:t>Disadvantages of multi-threaded programming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>
          <a:xfrm>
            <a:off x="963558" y="1712815"/>
            <a:ext cx="10353154" cy="4922653"/>
          </a:xfrm>
          <a:ln>
            <a:miter lim="800000"/>
            <a:headEnd/>
            <a:tailEnd/>
          </a:ln>
        </p:spPr>
        <p:txBody>
          <a:bodyPr>
            <a:normAutofit lnSpcReduction="10000"/>
          </a:bodyPr>
          <a:lstStyle/>
          <a:p>
            <a:pPr marL="0" indent="0" eaLnBrk="1" hangingPunct="1">
              <a:buNone/>
            </a:pPr>
            <a:r>
              <a:rPr lang="en-US" altLang="en-US" sz="2800" b="1" dirty="0">
                <a:solidFill>
                  <a:srgbClr val="FF0000"/>
                </a:solidFill>
              </a:rPr>
              <a:t>Overhead</a:t>
            </a:r>
            <a:r>
              <a:rPr lang="en-US" altLang="en-US" sz="2800" b="1" dirty="0"/>
              <a:t>: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>
                <a:solidFill>
                  <a:schemeClr val="tx1"/>
                </a:solidFill>
              </a:rPr>
              <a:t>Cost of thread </a:t>
            </a:r>
            <a:r>
              <a:rPr lang="en-US" altLang="en-US" sz="2800" b="1" dirty="0">
                <a:solidFill>
                  <a:srgbClr val="FF0000"/>
                </a:solidFill>
              </a:rPr>
              <a:t>creation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>
                <a:solidFill>
                  <a:schemeClr val="tx1"/>
                </a:solidFill>
              </a:rPr>
              <a:t>Context</a:t>
            </a:r>
            <a:r>
              <a:rPr lang="en-US" altLang="en-US" sz="2800" dirty="0"/>
              <a:t> </a:t>
            </a:r>
            <a:r>
              <a:rPr lang="en-US" altLang="en-US" sz="2800" b="1" dirty="0">
                <a:solidFill>
                  <a:srgbClr val="FF0000"/>
                </a:solidFill>
              </a:rPr>
              <a:t>switching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b="1" dirty="0">
                <a:solidFill>
                  <a:srgbClr val="FF0000"/>
                </a:solidFill>
              </a:rPr>
              <a:t>Synchronization</a:t>
            </a:r>
          </a:p>
          <a:p>
            <a:pPr eaLnBrk="1" hangingPunct="1"/>
            <a:endParaRPr lang="en-US" altLang="en-US" sz="2800" b="1" dirty="0">
              <a:solidFill>
                <a:srgbClr val="FF0000"/>
              </a:solidFill>
            </a:endParaRPr>
          </a:p>
          <a:p>
            <a:pPr eaLnBrk="1" hangingPunct="1"/>
            <a:r>
              <a:rPr lang="en-US" altLang="en-US" sz="2800" dirty="0">
                <a:solidFill>
                  <a:schemeClr val="tx1"/>
                </a:solidFill>
              </a:rPr>
              <a:t>But if threads runs on different cores (without intense synchronization), the application can run </a:t>
            </a:r>
            <a:r>
              <a:rPr lang="en-US" altLang="en-US" sz="2800" b="1" dirty="0">
                <a:solidFill>
                  <a:srgbClr val="00B050"/>
                </a:solidFill>
              </a:rPr>
              <a:t>much faster</a:t>
            </a:r>
            <a:r>
              <a:rPr lang="en-US" altLang="en-US" sz="2800" dirty="0">
                <a:solidFill>
                  <a:schemeClr val="tx1"/>
                </a:solidFill>
              </a:rPr>
              <a:t>.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4246354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CA42A-7ADE-40BA-7F49-BE2E8806B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29290371-F7C2-EE44-4323-678AC87F1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047285"/>
            <a:ext cx="10515600" cy="1816662"/>
          </a:xfrm>
        </p:spPr>
        <p:txBody>
          <a:bodyPr/>
          <a:lstStyle/>
          <a:p>
            <a:r>
              <a:rPr lang="en-US" altLang="en-US" dirty="0"/>
              <a:t>Java Multithreading</a:t>
            </a:r>
          </a:p>
        </p:txBody>
      </p:sp>
    </p:spTree>
    <p:extLst>
      <p:ext uri="{BB962C8B-B14F-4D97-AF65-F5344CB8AC3E}">
        <p14:creationId xmlns:p14="http://schemas.microsoft.com/office/powerpoint/2010/main" val="4506722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ChangeArrowheads="1"/>
          </p:cNvSpPr>
          <p:nvPr/>
        </p:nvSpPr>
        <p:spPr bwMode="auto">
          <a:xfrm>
            <a:off x="2133600" y="228600"/>
            <a:ext cx="79248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zh-CN" sz="44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20" name="Rectangle 3"/>
          <p:cNvSpPr>
            <a:spLocks noChangeArrowheads="1"/>
          </p:cNvSpPr>
          <p:nvPr/>
        </p:nvSpPr>
        <p:spPr bwMode="auto">
          <a:xfrm>
            <a:off x="963558" y="1680447"/>
            <a:ext cx="10377430" cy="4934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>
              <a:lnSpc>
                <a:spcPct val="90000"/>
              </a:lnSpc>
              <a:buClr>
                <a:schemeClr val="tx2"/>
              </a:buClr>
              <a:buSzPct val="75000"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Thread </a:t>
            </a:r>
            <a:r>
              <a:rPr lang="en-US" altLang="zh-CN" sz="2400" b="1" dirty="0" err="1">
                <a:latin typeface="Arial" panose="020B0604020202020204" pitchFamily="34" charset="0"/>
              </a:rPr>
              <a:t>WhoAmI</a:t>
            </a:r>
            <a:r>
              <a:rPr lang="en-US" altLang="zh-CN" sz="2400" b="1" dirty="0">
                <a:latin typeface="Arial" panose="020B0604020202020204" pitchFamily="34" charset="0"/>
              </a:rPr>
              <a:t>: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963558" y="762003"/>
            <a:ext cx="10417284" cy="544862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en-US" sz="3200" dirty="0"/>
              <a:t>Information about a Thread(s)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8147" y="1495679"/>
            <a:ext cx="5650253" cy="500989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42090" y="4009604"/>
            <a:ext cx="2078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 all Threads</a:t>
            </a:r>
          </a:p>
        </p:txBody>
      </p:sp>
      <p:cxnSp>
        <p:nvCxnSpPr>
          <p:cNvPr id="6" name="Straight Arrow Connector 5"/>
          <p:cNvCxnSpPr>
            <a:stCxn id="3" idx="3"/>
          </p:cNvCxnSpPr>
          <p:nvPr/>
        </p:nvCxnSpPr>
        <p:spPr>
          <a:xfrm>
            <a:off x="4020544" y="4194270"/>
            <a:ext cx="838723" cy="0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4851175" y="4086478"/>
            <a:ext cx="4256411" cy="2188895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859267" y="1760018"/>
            <a:ext cx="4899728" cy="197041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133600" y="2471648"/>
            <a:ext cx="1745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Current Thread</a:t>
            </a:r>
          </a:p>
        </p:txBody>
      </p:sp>
      <p:cxnSp>
        <p:nvCxnSpPr>
          <p:cNvPr id="12" name="Straight Arrow Connector 11"/>
          <p:cNvCxnSpPr>
            <a:stCxn id="13" idx="3"/>
          </p:cNvCxnSpPr>
          <p:nvPr/>
        </p:nvCxnSpPr>
        <p:spPr>
          <a:xfrm>
            <a:off x="3878629" y="2656314"/>
            <a:ext cx="972546" cy="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CCE392E-DAE6-A29E-A2FD-CEC0DD14607E}"/>
              </a:ext>
            </a:extLst>
          </p:cNvPr>
          <p:cNvSpPr txBox="1">
            <a:spLocks/>
          </p:cNvSpPr>
          <p:nvPr/>
        </p:nvSpPr>
        <p:spPr>
          <a:xfrm>
            <a:off x="936516" y="14205"/>
            <a:ext cx="9202096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dirty="0">
                <a:solidFill>
                  <a:srgbClr val="FF0000"/>
                </a:solidFill>
                <a:latin typeface="+mn-lt"/>
              </a:rPr>
              <a:t>CSEN160_07_Threads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.A_SimpleExamples.WhoAmI</a:t>
            </a:r>
          </a:p>
        </p:txBody>
      </p:sp>
    </p:spTree>
    <p:extLst>
      <p:ext uri="{BB962C8B-B14F-4D97-AF65-F5344CB8AC3E}">
        <p14:creationId xmlns:p14="http://schemas.microsoft.com/office/powerpoint/2010/main" val="7890748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ChangeArrowheads="1"/>
          </p:cNvSpPr>
          <p:nvPr/>
        </p:nvSpPr>
        <p:spPr bwMode="auto">
          <a:xfrm>
            <a:off x="2133600" y="228600"/>
            <a:ext cx="79248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zh-CN" sz="44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963558" y="762003"/>
            <a:ext cx="10417284" cy="544862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en-US" sz="3200" dirty="0"/>
              <a:t>Information about a Thread(s)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559" y="1447803"/>
            <a:ext cx="4184264" cy="517957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7823" y="1447803"/>
            <a:ext cx="4332628" cy="429452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2091" y="3753472"/>
            <a:ext cx="3418204" cy="287390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963558" y="1857122"/>
            <a:ext cx="3806697" cy="1994687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/>
          <p:cNvCxnSpPr>
            <a:endCxn id="13" idx="1"/>
          </p:cNvCxnSpPr>
          <p:nvPr/>
        </p:nvCxnSpPr>
        <p:spPr>
          <a:xfrm>
            <a:off x="4770255" y="2872673"/>
            <a:ext cx="3941836" cy="3072950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8712091" y="5263869"/>
            <a:ext cx="3418204" cy="1363507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1AF7CCD-4951-A9C4-4431-CC406E1AED59}"/>
              </a:ext>
            </a:extLst>
          </p:cNvPr>
          <p:cNvSpPr txBox="1">
            <a:spLocks/>
          </p:cNvSpPr>
          <p:nvPr/>
        </p:nvSpPr>
        <p:spPr>
          <a:xfrm>
            <a:off x="936516" y="14205"/>
            <a:ext cx="9202096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dirty="0">
                <a:solidFill>
                  <a:srgbClr val="FF0000"/>
                </a:solidFill>
                <a:latin typeface="+mn-lt"/>
              </a:rPr>
              <a:t>CSEN160_07_Threads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.A_SimpleExamples.WhoAmI</a:t>
            </a:r>
          </a:p>
        </p:txBody>
      </p:sp>
    </p:spTree>
    <p:extLst>
      <p:ext uri="{BB962C8B-B14F-4D97-AF65-F5344CB8AC3E}">
        <p14:creationId xmlns:p14="http://schemas.microsoft.com/office/powerpoint/2010/main" val="689618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933281" y="764206"/>
            <a:ext cx="7769703" cy="715962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sz="4000" dirty="0"/>
              <a:t>Creating and Running Threads</a:t>
            </a:r>
          </a:p>
        </p:txBody>
      </p:sp>
      <p:sp>
        <p:nvSpPr>
          <p:cNvPr id="191491" name="Rectangle 3"/>
          <p:cNvSpPr>
            <a:spLocks noGrp="1" noChangeArrowheads="1"/>
          </p:cNvSpPr>
          <p:nvPr>
            <p:ph idx="1"/>
          </p:nvPr>
        </p:nvSpPr>
        <p:spPr>
          <a:xfrm>
            <a:off x="933280" y="1838241"/>
            <a:ext cx="10383431" cy="4801274"/>
          </a:xfrm>
        </p:spPr>
        <p:txBody>
          <a:bodyPr rtlCol="0">
            <a:normAutofit/>
          </a:bodyPr>
          <a:lstStyle/>
          <a:p>
            <a:pPr marL="0" indent="0">
              <a:buNone/>
              <a:defRPr/>
            </a:pPr>
            <a:r>
              <a:rPr lang="en-US" altLang="en-US" dirty="0">
                <a:solidFill>
                  <a:schemeClr val="tx1"/>
                </a:solidFill>
              </a:rPr>
              <a:t>A thread is an object of a class that is a subclass of: </a:t>
            </a:r>
            <a:br>
              <a:rPr lang="en-US" altLang="en-US" dirty="0">
                <a:solidFill>
                  <a:schemeClr val="tx1"/>
                </a:solidFill>
              </a:rPr>
            </a:br>
            <a:r>
              <a:rPr lang="en-US" altLang="en-US" dirty="0"/>
              <a:t>		</a:t>
            </a:r>
            <a:r>
              <a:rPr lang="en-US" altLang="en-US" b="1" dirty="0">
                <a:solidFill>
                  <a:srgbClr val="92D050"/>
                </a:solidFill>
                <a:latin typeface="Courier New" pitchFamily="49" charset="0"/>
              </a:rPr>
              <a:t>Thread</a:t>
            </a:r>
            <a:r>
              <a:rPr lang="en-US" altLang="en-US" b="1" dirty="0">
                <a:solidFill>
                  <a:schemeClr val="tx2"/>
                </a:solidFill>
                <a:latin typeface="Courier New" pitchFamily="49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or a class that implements </a:t>
            </a:r>
            <a:r>
              <a:rPr lang="en-US" altLang="en-US" b="1" dirty="0">
                <a:solidFill>
                  <a:srgbClr val="00B0F0"/>
                </a:solidFill>
                <a:latin typeface="Courier New" pitchFamily="49" charset="0"/>
              </a:rPr>
              <a:t>Runnable</a:t>
            </a:r>
            <a:endParaRPr lang="en-US" altLang="en-US" dirty="0">
              <a:solidFill>
                <a:srgbClr val="00B0F0"/>
              </a:solidFill>
              <a:latin typeface="Courier New" pitchFamily="49" charset="0"/>
            </a:endParaRPr>
          </a:p>
          <a:p>
            <a:pPr marL="0" indent="0">
              <a:buNone/>
              <a:defRPr/>
            </a:pPr>
            <a:endParaRPr lang="en-US" altLang="en-US" dirty="0"/>
          </a:p>
          <a:p>
            <a:pPr marL="0" indent="0">
              <a:buNone/>
              <a:defRPr/>
            </a:pPr>
            <a:r>
              <a:rPr lang="en-US" altLang="en-US" b="1" dirty="0">
                <a:solidFill>
                  <a:schemeClr val="tx1"/>
                </a:solidFill>
              </a:rPr>
              <a:t>Basic methods of Thread:</a:t>
            </a:r>
          </a:p>
          <a:p>
            <a:pPr lvl="1">
              <a:defRPr/>
            </a:pPr>
            <a:r>
              <a:rPr lang="en-US" altLang="en-US" b="1" dirty="0">
                <a:solidFill>
                  <a:srgbClr val="800000"/>
                </a:solidFill>
                <a:latin typeface="Courier New" pitchFamily="49" charset="0"/>
              </a:rPr>
              <a:t>Thread():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tx1"/>
                </a:solidFill>
              </a:rPr>
              <a:t>constructs a thread</a:t>
            </a:r>
          </a:p>
          <a:p>
            <a:pPr lvl="1">
              <a:defRPr/>
            </a:pPr>
            <a:endParaRPr lang="en-US" altLang="en-US" b="1" dirty="0">
              <a:solidFill>
                <a:srgbClr val="800000"/>
              </a:solidFill>
              <a:latin typeface="Courier New" pitchFamily="49" charset="0"/>
            </a:endParaRPr>
          </a:p>
          <a:p>
            <a:pPr lvl="1">
              <a:defRPr/>
            </a:pPr>
            <a:r>
              <a:rPr lang="en-US" altLang="en-US" b="1" dirty="0">
                <a:solidFill>
                  <a:srgbClr val="800000"/>
                </a:solidFill>
                <a:latin typeface="Courier New" pitchFamily="49" charset="0"/>
              </a:rPr>
              <a:t>void run():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tx1"/>
                </a:solidFill>
              </a:rPr>
              <a:t>a method that </a:t>
            </a:r>
            <a:r>
              <a:rPr lang="en-US" altLang="en-US" b="1" dirty="0">
                <a:solidFill>
                  <a:srgbClr val="FF0000"/>
                </a:solidFill>
              </a:rPr>
              <a:t>you override </a:t>
            </a:r>
            <a:r>
              <a:rPr lang="en-US" altLang="en-US" dirty="0">
                <a:solidFill>
                  <a:schemeClr val="tx1"/>
                </a:solidFill>
              </a:rPr>
              <a:t>to specify what you want the thread to do</a:t>
            </a:r>
          </a:p>
          <a:p>
            <a:pPr lvl="1">
              <a:defRPr/>
            </a:pPr>
            <a:endParaRPr lang="en-US" altLang="en-US" b="1" dirty="0">
              <a:solidFill>
                <a:srgbClr val="800000"/>
              </a:solidFill>
              <a:latin typeface="Courier New" pitchFamily="49" charset="0"/>
            </a:endParaRPr>
          </a:p>
          <a:p>
            <a:pPr lvl="1">
              <a:defRPr/>
            </a:pPr>
            <a:r>
              <a:rPr lang="en-US" altLang="en-US" b="1" dirty="0">
                <a:solidFill>
                  <a:srgbClr val="800000"/>
                </a:solidFill>
                <a:latin typeface="Courier New" pitchFamily="49" charset="0"/>
              </a:rPr>
              <a:t>void start():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92D050"/>
                </a:solidFill>
              </a:rPr>
              <a:t>starts the thread </a:t>
            </a:r>
            <a:r>
              <a:rPr lang="en-US" altLang="en-US" dirty="0">
                <a:solidFill>
                  <a:schemeClr val="tx1"/>
                </a:solidFill>
              </a:rPr>
              <a:t>(does setup and calls </a:t>
            </a:r>
            <a:r>
              <a:rPr lang="en-US" altLang="en-US" b="1" dirty="0">
                <a:solidFill>
                  <a:schemeClr val="tx1"/>
                </a:solidFill>
                <a:latin typeface="Courier New" pitchFamily="49" charset="0"/>
              </a:rPr>
              <a:t>run</a:t>
            </a:r>
            <a:r>
              <a:rPr lang="en-US" altLang="en-US" dirty="0">
                <a:solidFill>
                  <a:schemeClr val="tx1"/>
                </a:solidFill>
              </a:rPr>
              <a:t>)</a:t>
            </a:r>
          </a:p>
          <a:p>
            <a:pPr lvl="1">
              <a:defRPr/>
            </a:pPr>
            <a:endParaRPr lang="en-US" altLang="en-US" b="1" dirty="0">
              <a:solidFill>
                <a:srgbClr val="800000"/>
              </a:solidFill>
              <a:latin typeface="Courier New" pitchFamily="49" charset="0"/>
            </a:endParaRPr>
          </a:p>
          <a:p>
            <a:pPr lvl="1">
              <a:defRPr/>
            </a:pPr>
            <a:r>
              <a:rPr lang="en-US" altLang="en-US" b="1" dirty="0">
                <a:solidFill>
                  <a:srgbClr val="800000"/>
                </a:solidFill>
                <a:latin typeface="Courier New" pitchFamily="49" charset="0"/>
              </a:rPr>
              <a:t>static void sleep(long </a:t>
            </a:r>
            <a:r>
              <a:rPr lang="en-US" altLang="en-US" b="1" dirty="0" err="1">
                <a:solidFill>
                  <a:srgbClr val="800000"/>
                </a:solidFill>
                <a:latin typeface="Courier New" pitchFamily="49" charset="0"/>
              </a:rPr>
              <a:t>millis</a:t>
            </a:r>
            <a:r>
              <a:rPr lang="en-US" altLang="en-US" b="1" dirty="0">
                <a:solidFill>
                  <a:srgbClr val="800000"/>
                </a:solidFill>
                <a:latin typeface="Courier New" pitchFamily="49" charset="0"/>
              </a:rPr>
              <a:t>):</a:t>
            </a:r>
            <a:r>
              <a:rPr lang="en-US" altLang="en-US" dirty="0"/>
              <a:t> </a:t>
            </a:r>
            <a:br>
              <a:rPr lang="en-US" altLang="en-US" dirty="0"/>
            </a:br>
            <a:r>
              <a:rPr lang="en-US" altLang="en-US" dirty="0">
                <a:solidFill>
                  <a:schemeClr val="tx1"/>
                </a:solidFill>
              </a:rPr>
              <a:t>static method. </a:t>
            </a:r>
            <a:r>
              <a:rPr lang="en-US" altLang="en-US" b="1" dirty="0" err="1">
                <a:solidFill>
                  <a:schemeClr val="tx1"/>
                </a:solidFill>
                <a:latin typeface="Courier New" pitchFamily="49" charset="0"/>
              </a:rPr>
              <a:t>Thread.sleep</a:t>
            </a:r>
            <a:r>
              <a:rPr lang="en-US" altLang="en-US" b="1" dirty="0">
                <a:solidFill>
                  <a:schemeClr val="tx1"/>
                </a:solidFill>
                <a:latin typeface="Courier New" pitchFamily="49" charset="0"/>
              </a:rPr>
              <a:t>(5)</a:t>
            </a:r>
            <a:r>
              <a:rPr lang="en-US" altLang="en-US" dirty="0">
                <a:solidFill>
                  <a:schemeClr val="tx1"/>
                </a:solidFill>
              </a:rPr>
              <a:t> puts the running thread to sleep for 5 milliseconds.</a:t>
            </a:r>
          </a:p>
        </p:txBody>
      </p:sp>
    </p:spTree>
    <p:extLst>
      <p:ext uri="{BB962C8B-B14F-4D97-AF65-F5344CB8AC3E}">
        <p14:creationId xmlns:p14="http://schemas.microsoft.com/office/powerpoint/2010/main" val="3551060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1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91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91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91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91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914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491" grpId="0" build="p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941373" y="764206"/>
            <a:ext cx="5904489" cy="639762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sz="3200" dirty="0"/>
              <a:t>Creating Threads - Two ways</a:t>
            </a:r>
          </a:p>
        </p:txBody>
      </p:sp>
      <p:pic>
        <p:nvPicPr>
          <p:cNvPr id="15363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313689" y="2032450"/>
            <a:ext cx="5334000" cy="381793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686747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ChangeArrowheads="1"/>
          </p:cNvSpPr>
          <p:nvPr/>
        </p:nvSpPr>
        <p:spPr bwMode="auto">
          <a:xfrm>
            <a:off x="2133600" y="228600"/>
            <a:ext cx="79248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zh-CN" sz="44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20" name="Rectangle 3"/>
          <p:cNvSpPr>
            <a:spLocks noChangeArrowheads="1"/>
          </p:cNvSpPr>
          <p:nvPr/>
        </p:nvSpPr>
        <p:spPr bwMode="auto">
          <a:xfrm>
            <a:off x="963558" y="1680447"/>
            <a:ext cx="10377430" cy="4934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>
              <a:lnSpc>
                <a:spcPct val="90000"/>
              </a:lnSpc>
              <a:buClr>
                <a:schemeClr val="tx2"/>
              </a:buClr>
              <a:buSzPct val="75000"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Two ways:</a:t>
            </a:r>
          </a:p>
          <a:p>
            <a:pPr marL="457200" indent="-457200">
              <a:lnSpc>
                <a:spcPct val="90000"/>
              </a:lnSpc>
              <a:buClr>
                <a:schemeClr val="tx2"/>
              </a:buClr>
              <a:buSzPct val="75000"/>
              <a:buFont typeface="+mj-lt"/>
              <a:buAutoNum type="arabicPeriod"/>
            </a:pPr>
            <a:endParaRPr lang="en-US" altLang="zh-CN" sz="2400" dirty="0">
              <a:latin typeface="Arial" panose="020B0604020202020204" pitchFamily="34" charset="0"/>
            </a:endParaRPr>
          </a:p>
          <a:p>
            <a:pPr marL="457200" indent="-457200">
              <a:lnSpc>
                <a:spcPct val="90000"/>
              </a:lnSpc>
              <a:buClr>
                <a:schemeClr val="tx2"/>
              </a:buClr>
              <a:buSzPct val="75000"/>
              <a:buFont typeface="+mj-lt"/>
              <a:buAutoNum type="arabicPeriod"/>
            </a:pPr>
            <a:r>
              <a:rPr lang="en-US" altLang="zh-CN" sz="2400" dirty="0">
                <a:latin typeface="Arial" panose="020B0604020202020204" pitchFamily="34" charset="0"/>
              </a:rPr>
              <a:t>Extend Thread</a:t>
            </a:r>
          </a:p>
          <a:p>
            <a:pPr marL="457200" indent="-457200">
              <a:lnSpc>
                <a:spcPct val="90000"/>
              </a:lnSpc>
              <a:buClr>
                <a:schemeClr val="tx2"/>
              </a:buClr>
              <a:buSzPct val="75000"/>
              <a:buFont typeface="+mj-lt"/>
              <a:buAutoNum type="arabicPeriod"/>
            </a:pPr>
            <a:endParaRPr lang="en-US" altLang="zh-CN" sz="2400" dirty="0">
              <a:latin typeface="Arial" panose="020B0604020202020204" pitchFamily="34" charset="0"/>
            </a:endParaRPr>
          </a:p>
          <a:p>
            <a:pPr marL="457200" indent="-457200">
              <a:lnSpc>
                <a:spcPct val="90000"/>
              </a:lnSpc>
              <a:buClr>
                <a:schemeClr val="tx2"/>
              </a:buClr>
              <a:buSzPct val="75000"/>
              <a:buFont typeface="+mj-lt"/>
              <a:buAutoNum type="arabicPeriod"/>
            </a:pPr>
            <a:r>
              <a:rPr lang="en-US" altLang="zh-CN" sz="2400" dirty="0">
                <a:latin typeface="Arial" panose="020B0604020202020204" pitchFamily="34" charset="0"/>
              </a:rPr>
              <a:t>Implementing Runnable interface</a:t>
            </a:r>
          </a:p>
          <a:p>
            <a:pPr marL="0" indent="0">
              <a:lnSpc>
                <a:spcPct val="90000"/>
              </a:lnSpc>
              <a:buClr>
                <a:schemeClr val="tx2"/>
              </a:buClr>
              <a:buSzPct val="75000"/>
              <a:buNone/>
            </a:pPr>
            <a:endParaRPr lang="en-US" altLang="zh-CN" sz="2400" dirty="0">
              <a:latin typeface="Arial" panose="020B0604020202020204" pitchFamily="34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963558" y="762003"/>
            <a:ext cx="10417284" cy="544862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en-US" sz="3200" dirty="0"/>
              <a:t>Two ways to create a thread</a:t>
            </a:r>
          </a:p>
        </p:txBody>
      </p:sp>
    </p:spTree>
    <p:extLst>
      <p:ext uri="{BB962C8B-B14F-4D97-AF65-F5344CB8AC3E}">
        <p14:creationId xmlns:p14="http://schemas.microsoft.com/office/powerpoint/2010/main" val="15665840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932" y="2212971"/>
            <a:ext cx="7732408" cy="3869742"/>
          </a:xfrm>
          <a:prstGeom prst="rect">
            <a:avLst/>
          </a:prstGeom>
        </p:spPr>
      </p:pic>
      <p:sp>
        <p:nvSpPr>
          <p:cNvPr id="9219" name="Rectangle 2"/>
          <p:cNvSpPr>
            <a:spLocks noChangeArrowheads="1"/>
          </p:cNvSpPr>
          <p:nvPr/>
        </p:nvSpPr>
        <p:spPr bwMode="auto">
          <a:xfrm>
            <a:off x="2133600" y="228600"/>
            <a:ext cx="79248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zh-CN" sz="44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20" name="Rectangle 3"/>
          <p:cNvSpPr>
            <a:spLocks noChangeArrowheads="1"/>
          </p:cNvSpPr>
          <p:nvPr/>
        </p:nvSpPr>
        <p:spPr bwMode="auto">
          <a:xfrm>
            <a:off x="963558" y="1680447"/>
            <a:ext cx="10377430" cy="4934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>
              <a:lnSpc>
                <a:spcPct val="90000"/>
              </a:lnSpc>
              <a:buClr>
                <a:schemeClr val="tx2"/>
              </a:buClr>
              <a:buSzPct val="75000"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1. Extend Thread:</a:t>
            </a:r>
            <a:endParaRPr lang="en-US" altLang="zh-CN" sz="2400" dirty="0">
              <a:latin typeface="Arial" panose="020B0604020202020204" pitchFamily="34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963558" y="762003"/>
            <a:ext cx="10417284" cy="544862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en-US" sz="3200" dirty="0"/>
              <a:t>Two ways to create a thread</a:t>
            </a:r>
          </a:p>
        </p:txBody>
      </p:sp>
      <p:sp>
        <p:nvSpPr>
          <p:cNvPr id="3" name="Rectangle 2"/>
          <p:cNvSpPr/>
          <p:nvPr/>
        </p:nvSpPr>
        <p:spPr>
          <a:xfrm>
            <a:off x="3791119" y="2211150"/>
            <a:ext cx="1343277" cy="222531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406666" y="2600240"/>
            <a:ext cx="1607617" cy="222531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133600" y="3793816"/>
            <a:ext cx="1548276" cy="222531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824837" y="5188343"/>
            <a:ext cx="856406" cy="41539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4867" y="1520453"/>
            <a:ext cx="1639016" cy="4546726"/>
          </a:xfrm>
          <a:prstGeom prst="rect">
            <a:avLst/>
          </a:prstGeom>
        </p:spPr>
      </p:pic>
      <p:sp>
        <p:nvSpPr>
          <p:cNvPr id="10" name="Right Arrow 9"/>
          <p:cNvSpPr/>
          <p:nvPr/>
        </p:nvSpPr>
        <p:spPr>
          <a:xfrm>
            <a:off x="8488546" y="3710873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654EB46-4497-4F07-BE54-A6C062CA87AF}"/>
              </a:ext>
            </a:extLst>
          </p:cNvPr>
          <p:cNvSpPr txBox="1">
            <a:spLocks/>
          </p:cNvSpPr>
          <p:nvPr/>
        </p:nvSpPr>
        <p:spPr>
          <a:xfrm>
            <a:off x="936516" y="14205"/>
            <a:ext cx="9202096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dirty="0">
                <a:solidFill>
                  <a:srgbClr val="FF0000"/>
                </a:solidFill>
                <a:latin typeface="+mn-lt"/>
              </a:rPr>
              <a:t>CSEN160_07_Threads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.A_SimpleExamples.A_DemoThreadExtend</a:t>
            </a:r>
          </a:p>
        </p:txBody>
      </p:sp>
    </p:spTree>
    <p:extLst>
      <p:ext uri="{BB962C8B-B14F-4D97-AF65-F5344CB8AC3E}">
        <p14:creationId xmlns:p14="http://schemas.microsoft.com/office/powerpoint/2010/main" val="289721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198" y="2137989"/>
            <a:ext cx="8260525" cy="4477250"/>
          </a:xfrm>
          <a:prstGeom prst="rect">
            <a:avLst/>
          </a:prstGeom>
        </p:spPr>
      </p:pic>
      <p:sp>
        <p:nvSpPr>
          <p:cNvPr id="9219" name="Rectangle 2"/>
          <p:cNvSpPr>
            <a:spLocks noChangeArrowheads="1"/>
          </p:cNvSpPr>
          <p:nvPr/>
        </p:nvSpPr>
        <p:spPr bwMode="auto">
          <a:xfrm>
            <a:off x="2133600" y="228600"/>
            <a:ext cx="79248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zh-CN" sz="44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20" name="Rectangle 3"/>
          <p:cNvSpPr>
            <a:spLocks noChangeArrowheads="1"/>
          </p:cNvSpPr>
          <p:nvPr/>
        </p:nvSpPr>
        <p:spPr bwMode="auto">
          <a:xfrm>
            <a:off x="963558" y="1680447"/>
            <a:ext cx="10377430" cy="4934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>
              <a:lnSpc>
                <a:spcPct val="90000"/>
              </a:lnSpc>
              <a:buClr>
                <a:schemeClr val="tx2"/>
              </a:buClr>
              <a:buSzPct val="75000"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2. Implement Runnable interface:</a:t>
            </a:r>
            <a:endParaRPr lang="en-US" altLang="zh-CN" sz="2400" dirty="0">
              <a:latin typeface="Arial" panose="020B0604020202020204" pitchFamily="34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963558" y="762003"/>
            <a:ext cx="10417284" cy="544862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en-US" sz="3200" dirty="0"/>
              <a:t>Two ways to create a thread</a:t>
            </a:r>
          </a:p>
        </p:txBody>
      </p:sp>
      <p:sp>
        <p:nvSpPr>
          <p:cNvPr id="3" name="Rectangle 2"/>
          <p:cNvSpPr/>
          <p:nvPr/>
        </p:nvSpPr>
        <p:spPr>
          <a:xfrm>
            <a:off x="4187628" y="2122137"/>
            <a:ext cx="1869260" cy="222531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451172" y="2560541"/>
            <a:ext cx="1680446" cy="222531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234750" y="3793816"/>
            <a:ext cx="1548276" cy="222531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785644" y="5690810"/>
            <a:ext cx="1159857" cy="41539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/>
          <p:cNvSpPr/>
          <p:nvPr/>
        </p:nvSpPr>
        <p:spPr>
          <a:xfrm>
            <a:off x="8488546" y="3710873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785643" y="5275418"/>
            <a:ext cx="4558513" cy="41539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6087" y="1753450"/>
            <a:ext cx="1468718" cy="4399478"/>
          </a:xfrm>
          <a:prstGeom prst="rect">
            <a:avLst/>
          </a:prstGeo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F9CE41B-8A08-68BF-8ABD-187A13B9C683}"/>
              </a:ext>
            </a:extLst>
          </p:cNvPr>
          <p:cNvSpPr txBox="1">
            <a:spLocks/>
          </p:cNvSpPr>
          <p:nvPr/>
        </p:nvSpPr>
        <p:spPr>
          <a:xfrm>
            <a:off x="936516" y="14205"/>
            <a:ext cx="9202096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dirty="0">
                <a:solidFill>
                  <a:srgbClr val="FF0000"/>
                </a:solidFill>
                <a:latin typeface="+mn-lt"/>
              </a:rPr>
              <a:t>CSEN160_07_Threads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.A_SimpleExamples.B_DemoThreadRunnable</a:t>
            </a:r>
          </a:p>
        </p:txBody>
      </p:sp>
    </p:spTree>
    <p:extLst>
      <p:ext uri="{BB962C8B-B14F-4D97-AF65-F5344CB8AC3E}">
        <p14:creationId xmlns:p14="http://schemas.microsoft.com/office/powerpoint/2010/main" val="34258030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807" y="2059160"/>
            <a:ext cx="5519864" cy="4556079"/>
          </a:xfrm>
          <a:prstGeom prst="rect">
            <a:avLst/>
          </a:prstGeom>
        </p:spPr>
      </p:pic>
      <p:sp>
        <p:nvSpPr>
          <p:cNvPr id="9219" name="Rectangle 2"/>
          <p:cNvSpPr>
            <a:spLocks noChangeArrowheads="1"/>
          </p:cNvSpPr>
          <p:nvPr/>
        </p:nvSpPr>
        <p:spPr bwMode="auto">
          <a:xfrm>
            <a:off x="2133600" y="228600"/>
            <a:ext cx="79248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zh-CN" sz="44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20" name="Rectangle 3"/>
          <p:cNvSpPr>
            <a:spLocks noChangeArrowheads="1"/>
          </p:cNvSpPr>
          <p:nvPr/>
        </p:nvSpPr>
        <p:spPr bwMode="auto">
          <a:xfrm>
            <a:off x="963558" y="1680447"/>
            <a:ext cx="10377430" cy="4934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>
              <a:lnSpc>
                <a:spcPct val="90000"/>
              </a:lnSpc>
              <a:buClr>
                <a:schemeClr val="tx2"/>
              </a:buClr>
              <a:buSzPct val="75000"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2. Implement Runnable interface (Anonymous):</a:t>
            </a:r>
            <a:endParaRPr lang="en-US" altLang="zh-CN" sz="2400" dirty="0">
              <a:latin typeface="Arial" panose="020B0604020202020204" pitchFamily="34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963558" y="762003"/>
            <a:ext cx="10417284" cy="544862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en-US" sz="3200" dirty="0"/>
              <a:t>Two ways to create a thread</a:t>
            </a:r>
          </a:p>
        </p:txBody>
      </p:sp>
      <p:sp>
        <p:nvSpPr>
          <p:cNvPr id="7" name="Rectangle 6"/>
          <p:cNvSpPr/>
          <p:nvPr/>
        </p:nvSpPr>
        <p:spPr>
          <a:xfrm>
            <a:off x="1525349" y="2305642"/>
            <a:ext cx="5077752" cy="1975045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25348" y="4379900"/>
            <a:ext cx="5077753" cy="2000670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/>
          <p:cNvSpPr/>
          <p:nvPr/>
        </p:nvSpPr>
        <p:spPr>
          <a:xfrm>
            <a:off x="7768355" y="3905527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0954" y="2257378"/>
            <a:ext cx="1362126" cy="4123192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1525348" y="4102662"/>
            <a:ext cx="724238" cy="178025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525348" y="6149947"/>
            <a:ext cx="724238" cy="230623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38986-114C-3C2E-CE05-FE654892250D}"/>
              </a:ext>
            </a:extLst>
          </p:cNvPr>
          <p:cNvSpPr txBox="1">
            <a:spLocks/>
          </p:cNvSpPr>
          <p:nvPr/>
        </p:nvSpPr>
        <p:spPr>
          <a:xfrm>
            <a:off x="936516" y="14205"/>
            <a:ext cx="9202096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dirty="0">
                <a:solidFill>
                  <a:srgbClr val="FF0000"/>
                </a:solidFill>
                <a:latin typeface="+mn-lt"/>
              </a:rPr>
              <a:t>CSEN160_07_Threads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.A_SimpleExamples.C_DemoThreadRunnable2</a:t>
            </a:r>
          </a:p>
        </p:txBody>
      </p:sp>
    </p:spTree>
    <p:extLst>
      <p:ext uri="{BB962C8B-B14F-4D97-AF65-F5344CB8AC3E}">
        <p14:creationId xmlns:p14="http://schemas.microsoft.com/office/powerpoint/2010/main" val="1184465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831850" y="2047285"/>
            <a:ext cx="10515600" cy="1816662"/>
          </a:xfrm>
        </p:spPr>
        <p:txBody>
          <a:bodyPr/>
          <a:lstStyle/>
          <a:p>
            <a:r>
              <a:rPr lang="en-US" altLang="en-US" dirty="0"/>
              <a:t>Bouncing Ball Example …</a:t>
            </a:r>
          </a:p>
        </p:txBody>
      </p:sp>
    </p:spTree>
    <p:extLst>
      <p:ext uri="{BB962C8B-B14F-4D97-AF65-F5344CB8AC3E}">
        <p14:creationId xmlns:p14="http://schemas.microsoft.com/office/powerpoint/2010/main" val="39198154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ChangeArrowheads="1"/>
          </p:cNvSpPr>
          <p:nvPr/>
        </p:nvSpPr>
        <p:spPr bwMode="auto">
          <a:xfrm>
            <a:off x="2133600" y="228600"/>
            <a:ext cx="79248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zh-CN" sz="44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20" name="Rectangle 3"/>
          <p:cNvSpPr>
            <a:spLocks noChangeArrowheads="1"/>
          </p:cNvSpPr>
          <p:nvPr/>
        </p:nvSpPr>
        <p:spPr bwMode="auto">
          <a:xfrm>
            <a:off x="965650" y="1219200"/>
            <a:ext cx="10399614" cy="5404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>
              <a:lnSpc>
                <a:spcPct val="90000"/>
              </a:lnSpc>
              <a:buClr>
                <a:schemeClr val="tx2"/>
              </a:buClr>
              <a:buSzPct val="75000"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Bouncing Ball:</a:t>
            </a:r>
          </a:p>
          <a:p>
            <a:pPr>
              <a:lnSpc>
                <a:spcPct val="90000"/>
              </a:lnSpc>
              <a:buClr>
                <a:schemeClr val="tx2"/>
              </a:buClr>
              <a:buSzPct val="75000"/>
              <a:buFont typeface="Monotype Sorts" pitchFamily="2" charset="2"/>
              <a:buChar char="l"/>
            </a:pPr>
            <a:endParaRPr lang="en-US" altLang="zh-CN" sz="2400" dirty="0"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  <a:buClr>
                <a:schemeClr val="tx2"/>
              </a:buClr>
              <a:buSzPct val="75000"/>
            </a:pPr>
            <a:endParaRPr lang="en-US" altLang="zh-CN" sz="2400" dirty="0"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  <a:buClr>
                <a:schemeClr val="tx2"/>
              </a:buClr>
              <a:buSzPct val="75000"/>
            </a:pPr>
            <a:r>
              <a:rPr lang="en-US" altLang="zh-CN" sz="2400" dirty="0">
                <a:latin typeface="Arial" panose="020B0604020202020204" pitchFamily="34" charset="0"/>
              </a:rPr>
              <a:t>This program has a 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</a:rPr>
              <a:t>single thread </a:t>
            </a:r>
            <a:r>
              <a:rPr lang="en-US" altLang="zh-CN" sz="2400" dirty="0">
                <a:solidFill>
                  <a:srgbClr val="663300"/>
                </a:solidFill>
                <a:latin typeface="Arial" panose="020B0604020202020204" pitchFamily="34" charset="0"/>
              </a:rPr>
              <a:t>of control</a:t>
            </a:r>
            <a:r>
              <a:rPr lang="en-US" altLang="zh-CN" sz="2400" dirty="0">
                <a:latin typeface="Arial" panose="020B0604020202020204" pitchFamily="34" charset="0"/>
              </a:rPr>
              <a:t>.</a:t>
            </a:r>
          </a:p>
          <a:p>
            <a:pPr>
              <a:lnSpc>
                <a:spcPct val="90000"/>
              </a:lnSpc>
              <a:buClr>
                <a:schemeClr val="tx2"/>
              </a:buClr>
              <a:buSzPct val="75000"/>
            </a:pPr>
            <a:endParaRPr lang="en-US" altLang="zh-CN" sz="2400" dirty="0"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  <a:buClr>
                <a:schemeClr val="tx2"/>
              </a:buClr>
              <a:buSzPct val="75000"/>
            </a:pPr>
            <a:endParaRPr lang="en-US" altLang="zh-CN" sz="2400" dirty="0"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  <a:buClr>
                <a:schemeClr val="tx2"/>
              </a:buClr>
              <a:buSzPct val="75000"/>
            </a:pPr>
            <a:r>
              <a:rPr lang="en-US" altLang="zh-CN" sz="2400" dirty="0">
                <a:latin typeface="Arial" panose="020B0604020202020204" pitchFamily="34" charset="0"/>
              </a:rPr>
              <a:t>Actions are executed </a:t>
            </a:r>
            <a:r>
              <a:rPr lang="en-US" altLang="zh-CN" sz="2400" b="1" dirty="0">
                <a:solidFill>
                  <a:srgbClr val="00B050"/>
                </a:solidFill>
                <a:latin typeface="Arial" panose="020B0604020202020204" pitchFamily="34" charset="0"/>
              </a:rPr>
              <a:t>one by one</a:t>
            </a:r>
            <a:r>
              <a:rPr lang="en-US" altLang="zh-CN" sz="2400" dirty="0">
                <a:latin typeface="Arial" panose="020B0604020202020204" pitchFamily="34" charset="0"/>
              </a:rPr>
              <a:t>.</a:t>
            </a:r>
          </a:p>
          <a:p>
            <a:pPr>
              <a:lnSpc>
                <a:spcPct val="90000"/>
              </a:lnSpc>
              <a:buClr>
                <a:schemeClr val="tx2"/>
              </a:buClr>
              <a:buSzPct val="75000"/>
            </a:pPr>
            <a:endParaRPr lang="en-US" altLang="zh-CN" sz="2400" dirty="0"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  <a:buClr>
                <a:schemeClr val="tx2"/>
              </a:buClr>
              <a:buSzPct val="75000"/>
            </a:pPr>
            <a:endParaRPr lang="en-US" altLang="zh-CN" sz="2400" dirty="0"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  <a:buClr>
                <a:schemeClr val="tx2"/>
              </a:buClr>
              <a:buSzPct val="75000"/>
            </a:pPr>
            <a:r>
              <a:rPr lang="en-US" altLang="zh-CN" sz="2400" dirty="0">
                <a:latin typeface="Arial" panose="020B0604020202020204" pitchFamily="34" charset="0"/>
              </a:rPr>
              <a:t>Cannot execute </a:t>
            </a:r>
            <a:r>
              <a:rPr lang="en-US" altLang="zh-CN" sz="2400" b="1" dirty="0">
                <a:solidFill>
                  <a:srgbClr val="00B0F0"/>
                </a:solidFill>
                <a:latin typeface="Arial" panose="020B0604020202020204" pitchFamily="34" charset="0"/>
              </a:rPr>
              <a:t>next action</a:t>
            </a:r>
            <a:r>
              <a:rPr lang="en-US" altLang="zh-CN" sz="2400" b="1" dirty="0">
                <a:latin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</a:rPr>
              <a:t>before current finishes</a:t>
            </a:r>
          </a:p>
          <a:p>
            <a:pPr marL="0" indent="0">
              <a:lnSpc>
                <a:spcPct val="90000"/>
              </a:lnSpc>
              <a:buClr>
                <a:schemeClr val="tx2"/>
              </a:buClr>
              <a:buSzPct val="75000"/>
              <a:buNone/>
            </a:pPr>
            <a:endParaRPr lang="en-US" altLang="zh-CN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69439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ChangeArrowheads="1"/>
          </p:cNvSpPr>
          <p:nvPr/>
        </p:nvSpPr>
        <p:spPr bwMode="auto">
          <a:xfrm>
            <a:off x="2133600" y="228600"/>
            <a:ext cx="79248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zh-CN" sz="44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20" name="Rectangle 3"/>
          <p:cNvSpPr>
            <a:spLocks noChangeArrowheads="1"/>
          </p:cNvSpPr>
          <p:nvPr/>
        </p:nvSpPr>
        <p:spPr bwMode="auto">
          <a:xfrm>
            <a:off x="963558" y="1680447"/>
            <a:ext cx="10377430" cy="4934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>
              <a:lnSpc>
                <a:spcPct val="90000"/>
              </a:lnSpc>
              <a:buClr>
                <a:schemeClr val="tx2"/>
              </a:buClr>
              <a:buSzPct val="75000"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A single ball bouncing around:</a:t>
            </a:r>
          </a:p>
          <a:p>
            <a:pPr marL="0" indent="0">
              <a:lnSpc>
                <a:spcPct val="90000"/>
              </a:lnSpc>
              <a:buClr>
                <a:schemeClr val="tx2"/>
              </a:buClr>
              <a:buSzPct val="75000"/>
              <a:buNone/>
            </a:pPr>
            <a:endParaRPr lang="en-US" altLang="zh-CN" sz="2400" dirty="0">
              <a:latin typeface="Arial" panose="020B0604020202020204" pitchFamily="34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963558" y="762003"/>
            <a:ext cx="10417284" cy="544862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en-US" sz="3200" dirty="0"/>
              <a:t>Bouncing Ball example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6085" y="2326675"/>
            <a:ext cx="3646810" cy="3750227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80853F6-F73F-4C50-2779-FCD1234AF9F4}"/>
              </a:ext>
            </a:extLst>
          </p:cNvPr>
          <p:cNvSpPr txBox="1">
            <a:spLocks/>
          </p:cNvSpPr>
          <p:nvPr/>
        </p:nvSpPr>
        <p:spPr>
          <a:xfrm>
            <a:off x="936516" y="14205"/>
            <a:ext cx="9202096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dirty="0">
                <a:solidFill>
                  <a:srgbClr val="FF0000"/>
                </a:solidFill>
                <a:latin typeface="+mn-lt"/>
              </a:rPr>
              <a:t>CSEN160_07_Threads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._</a:t>
            </a:r>
            <a:r>
              <a:rPr lang="en-US" dirty="0">
                <a:solidFill>
                  <a:srgbClr val="FF0000"/>
                </a:solidFill>
                <a:latin typeface="+mn-lt"/>
              </a:rPr>
              <a:t>Single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Threaded.BouncingBalls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277733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ChangeArrowheads="1"/>
          </p:cNvSpPr>
          <p:nvPr/>
        </p:nvSpPr>
        <p:spPr bwMode="auto">
          <a:xfrm>
            <a:off x="2133600" y="228600"/>
            <a:ext cx="79248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zh-CN" sz="44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20" name="Rectangle 3"/>
          <p:cNvSpPr>
            <a:spLocks noChangeArrowheads="1"/>
          </p:cNvSpPr>
          <p:nvPr/>
        </p:nvSpPr>
        <p:spPr bwMode="auto">
          <a:xfrm>
            <a:off x="965650" y="1219200"/>
            <a:ext cx="10399614" cy="5404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>
              <a:lnSpc>
                <a:spcPct val="90000"/>
              </a:lnSpc>
              <a:buClr>
                <a:schemeClr val="tx2"/>
              </a:buClr>
              <a:buSzPct val="75000"/>
              <a:buNone/>
            </a:pPr>
            <a:endParaRPr lang="en-US" altLang="zh-CN" sz="2400" dirty="0">
              <a:latin typeface="Arial" panose="020B0604020202020204" pitchFamily="34" charset="0"/>
            </a:endParaRPr>
          </a:p>
          <a:p>
            <a:pPr marL="0" indent="0">
              <a:lnSpc>
                <a:spcPct val="90000"/>
              </a:lnSpc>
              <a:buClr>
                <a:schemeClr val="tx2"/>
              </a:buClr>
              <a:buSzPct val="75000"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Single Thread implications in general:</a:t>
            </a:r>
          </a:p>
          <a:p>
            <a:pPr lvl="1">
              <a:lnSpc>
                <a:spcPct val="90000"/>
              </a:lnSpc>
              <a:buClr>
                <a:schemeClr val="tx2"/>
              </a:buClr>
              <a:buSzPct val="75000"/>
              <a:buFont typeface="Monotype Sorts" pitchFamily="2" charset="2"/>
              <a:buChar char="l"/>
            </a:pPr>
            <a:endParaRPr lang="en-US" altLang="zh-CN" sz="2000" dirty="0"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  <a:buClr>
                <a:schemeClr val="tx2"/>
              </a:buClr>
              <a:buSzPct val="75000"/>
            </a:pPr>
            <a:r>
              <a:rPr lang="en-US" altLang="zh-CN" sz="2400" dirty="0">
                <a:latin typeface="Arial" panose="020B0604020202020204" pitchFamily="34" charset="0"/>
              </a:rPr>
              <a:t>Cannot do </a:t>
            </a:r>
            <a:r>
              <a:rPr lang="en-US" altLang="zh-CN" sz="2400" b="1" dirty="0">
                <a:latin typeface="Arial" panose="020B0604020202020204" pitchFamily="34" charset="0"/>
              </a:rPr>
              <a:t>anything else </a:t>
            </a:r>
            <a:r>
              <a:rPr lang="en-US" altLang="zh-CN" sz="2400" dirty="0">
                <a:latin typeface="Arial" panose="020B0604020202020204" pitchFamily="34" charset="0"/>
              </a:rPr>
              <a:t>while waiting …</a:t>
            </a:r>
          </a:p>
          <a:p>
            <a:pPr lvl="1">
              <a:lnSpc>
                <a:spcPct val="90000"/>
              </a:lnSpc>
              <a:buClr>
                <a:schemeClr val="tx2"/>
              </a:buClr>
              <a:buSzPct val="75000"/>
              <a:buFont typeface="Monotype Sorts" pitchFamily="2" charset="2"/>
              <a:buChar char="l"/>
            </a:pPr>
            <a:endParaRPr lang="en-US" altLang="zh-CN" sz="2000" dirty="0">
              <a:latin typeface="Arial" panose="020B0604020202020204" pitchFamily="34" charset="0"/>
            </a:endParaRPr>
          </a:p>
          <a:p>
            <a:pPr marL="57150" indent="0">
              <a:lnSpc>
                <a:spcPct val="90000"/>
              </a:lnSpc>
              <a:buClr>
                <a:schemeClr val="tx2"/>
              </a:buClr>
              <a:buSzPct val="75000"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Examples:</a:t>
            </a:r>
          </a:p>
          <a:p>
            <a:pPr marL="400050">
              <a:lnSpc>
                <a:spcPct val="90000"/>
              </a:lnSpc>
              <a:buClr>
                <a:schemeClr val="tx2"/>
              </a:buClr>
              <a:buSzPct val="75000"/>
            </a:pPr>
            <a:endParaRPr lang="en-US" altLang="zh-CN" sz="2400" dirty="0">
              <a:latin typeface="Arial" panose="020B0604020202020204" pitchFamily="34" charset="0"/>
            </a:endParaRPr>
          </a:p>
          <a:p>
            <a:pPr marL="400050">
              <a:lnSpc>
                <a:spcPct val="90000"/>
              </a:lnSpc>
              <a:buClr>
                <a:schemeClr val="tx2"/>
              </a:buClr>
              <a:buSzPct val="75000"/>
            </a:pPr>
            <a:r>
              <a:rPr lang="en-US" altLang="zh-CN" sz="2400" dirty="0">
                <a:latin typeface="Arial" panose="020B0604020202020204" pitchFamily="34" charset="0"/>
              </a:rPr>
              <a:t>Cannot 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</a:rPr>
              <a:t>stop</a:t>
            </a:r>
            <a:r>
              <a:rPr lang="en-US" altLang="zh-CN" sz="2400" i="1" dirty="0">
                <a:latin typeface="Arial" panose="020B0604020202020204" pitchFamily="34" charset="0"/>
              </a:rPr>
              <a:t> a download</a:t>
            </a:r>
          </a:p>
          <a:p>
            <a:pPr marL="400050">
              <a:lnSpc>
                <a:spcPct val="90000"/>
              </a:lnSpc>
              <a:buClr>
                <a:schemeClr val="tx2"/>
              </a:buClr>
              <a:buSzPct val="75000"/>
            </a:pPr>
            <a:r>
              <a:rPr lang="en-US" altLang="zh-CN" sz="2400" i="1" dirty="0">
                <a:latin typeface="Arial" panose="020B0604020202020204" pitchFamily="34" charset="0"/>
              </a:rPr>
              <a:t>Cannot 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</a:rPr>
              <a:t>react</a:t>
            </a:r>
            <a:r>
              <a:rPr lang="en-US" altLang="zh-CN" sz="2400" i="1" dirty="0">
                <a:latin typeface="Arial" panose="020B0604020202020204" pitchFamily="34" charset="0"/>
              </a:rPr>
              <a:t> to window close</a:t>
            </a:r>
          </a:p>
          <a:p>
            <a:pPr marL="400050">
              <a:lnSpc>
                <a:spcPct val="90000"/>
              </a:lnSpc>
              <a:buClr>
                <a:schemeClr val="tx2"/>
              </a:buClr>
              <a:buSzPct val="75000"/>
            </a:pPr>
            <a:r>
              <a:rPr lang="en-US" altLang="zh-CN" sz="2400" i="1" dirty="0">
                <a:latin typeface="Arial" panose="020B0604020202020204" pitchFamily="34" charset="0"/>
              </a:rPr>
              <a:t>Cannot have 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</a:rPr>
              <a:t>two players</a:t>
            </a:r>
          </a:p>
          <a:p>
            <a:pPr marL="400050">
              <a:lnSpc>
                <a:spcPct val="90000"/>
              </a:lnSpc>
              <a:buClr>
                <a:schemeClr val="tx2"/>
              </a:buClr>
              <a:buSzPct val="75000"/>
            </a:pPr>
            <a:r>
              <a:rPr lang="en-US" altLang="zh-CN" sz="2400" i="1" dirty="0">
                <a:latin typeface="Arial" panose="020B0604020202020204" pitchFamily="34" charset="0"/>
              </a:rPr>
              <a:t>Cannot have an 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</a:rPr>
              <a:t>enemy</a:t>
            </a:r>
          </a:p>
          <a:p>
            <a:pPr marL="400050">
              <a:lnSpc>
                <a:spcPct val="90000"/>
              </a:lnSpc>
              <a:buClr>
                <a:schemeClr val="tx2"/>
              </a:buClr>
              <a:buSzPct val="75000"/>
            </a:pPr>
            <a:r>
              <a:rPr lang="en-US" altLang="zh-CN" sz="2400" i="1" dirty="0">
                <a:latin typeface="Arial" panose="020B0604020202020204" pitchFamily="34" charset="0"/>
              </a:rPr>
              <a:t>...</a:t>
            </a:r>
          </a:p>
          <a:p>
            <a:pPr marL="400050">
              <a:lnSpc>
                <a:spcPct val="90000"/>
              </a:lnSpc>
              <a:buClr>
                <a:schemeClr val="tx2"/>
              </a:buClr>
              <a:buSzPct val="75000"/>
            </a:pPr>
            <a:endParaRPr lang="en-US" altLang="zh-CN" sz="2400" i="1" dirty="0">
              <a:latin typeface="Arial" panose="020B0604020202020204" pitchFamily="34" charset="0"/>
            </a:endParaRPr>
          </a:p>
          <a:p>
            <a:pPr marL="400050" algn="r">
              <a:lnSpc>
                <a:spcPct val="90000"/>
              </a:lnSpc>
              <a:buClr>
                <a:schemeClr val="tx2"/>
              </a:buClr>
              <a:buSzPct val="75000"/>
            </a:pPr>
            <a:endParaRPr lang="en-US" altLang="zh-CN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93850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ChangeArrowheads="1"/>
          </p:cNvSpPr>
          <p:nvPr/>
        </p:nvSpPr>
        <p:spPr bwMode="auto">
          <a:xfrm>
            <a:off x="964300" y="778857"/>
            <a:ext cx="7435233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defRPr/>
            </a:pPr>
            <a:r>
              <a:rPr lang="en-US" altLang="zh-CN" sz="4400" dirty="0">
                <a:latin typeface="+mn-lt"/>
              </a:rPr>
              <a:t>Example with multithreading </a:t>
            </a:r>
          </a:p>
        </p:txBody>
      </p:sp>
      <p:sp>
        <p:nvSpPr>
          <p:cNvPr id="10244" name="Rectangle 3"/>
          <p:cNvSpPr>
            <a:spLocks noChangeArrowheads="1"/>
          </p:cNvSpPr>
          <p:nvPr/>
        </p:nvSpPr>
        <p:spPr bwMode="auto">
          <a:xfrm>
            <a:off x="964299" y="1637964"/>
            <a:ext cx="10603265" cy="4985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buClr>
                <a:schemeClr val="tx2"/>
              </a:buClr>
              <a:buSzPct val="75000"/>
            </a:pPr>
            <a:endParaRPr lang="en-US" altLang="zh-CN" sz="2400" dirty="0"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  <a:buClr>
                <a:schemeClr val="tx2"/>
              </a:buClr>
              <a:buSzPct val="75000"/>
            </a:pPr>
            <a:endParaRPr lang="en-US" altLang="zh-CN" sz="2400" dirty="0"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  <a:buClr>
                <a:schemeClr val="tx2"/>
              </a:buClr>
              <a:buSzPct val="75000"/>
            </a:pPr>
            <a:r>
              <a:rPr lang="en-US" altLang="zh-CN" sz="2400" dirty="0">
                <a:latin typeface="Arial" panose="020B0604020202020204" pitchFamily="34" charset="0"/>
              </a:rPr>
              <a:t>Programs with more than one thread are called 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</a:rPr>
              <a:t>multithreaded</a:t>
            </a:r>
            <a:r>
              <a:rPr lang="en-US" altLang="zh-CN" sz="2400" dirty="0">
                <a:latin typeface="Arial" panose="020B0604020202020204" pitchFamily="34" charset="0"/>
              </a:rPr>
              <a:t>.</a:t>
            </a:r>
          </a:p>
          <a:p>
            <a:pPr>
              <a:lnSpc>
                <a:spcPct val="90000"/>
              </a:lnSpc>
              <a:buClr>
                <a:schemeClr val="tx2"/>
              </a:buClr>
              <a:buSzPct val="75000"/>
            </a:pPr>
            <a:endParaRPr lang="en-US" altLang="zh-CN" sz="2400" dirty="0"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  <a:buClr>
                <a:schemeClr val="tx2"/>
              </a:buClr>
              <a:buSzPct val="75000"/>
            </a:pPr>
            <a:r>
              <a:rPr lang="en-US" altLang="zh-CN" sz="2400" dirty="0">
                <a:latin typeface="Arial" panose="020B0604020202020204" pitchFamily="34" charset="0"/>
              </a:rPr>
              <a:t>Java Threads are OS </a:t>
            </a:r>
            <a:r>
              <a:rPr lang="en-US" altLang="zh-CN" sz="2400" b="1" dirty="0">
                <a:solidFill>
                  <a:srgbClr val="00B050"/>
                </a:solidFill>
                <a:latin typeface="Arial" panose="020B0604020202020204" pitchFamily="34" charset="0"/>
              </a:rPr>
              <a:t>native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  <a:buClr>
                <a:schemeClr val="tx2"/>
              </a:buClr>
              <a:buSzPct val="75000"/>
            </a:pPr>
            <a:endParaRPr lang="en-US" altLang="zh-CN" sz="2400" dirty="0"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  <a:buClr>
                <a:schemeClr val="tx2"/>
              </a:buClr>
              <a:buSzPct val="75000"/>
            </a:pPr>
            <a:r>
              <a:rPr lang="en-US" altLang="zh-CN" sz="2400" dirty="0">
                <a:latin typeface="Arial" panose="020B0604020202020204" pitchFamily="34" charset="0"/>
              </a:rPr>
              <a:t>OS runs one thread a short period of time </a:t>
            </a:r>
          </a:p>
          <a:p>
            <a:pPr>
              <a:lnSpc>
                <a:spcPct val="90000"/>
              </a:lnSpc>
              <a:buClr>
                <a:schemeClr val="tx2"/>
              </a:buClr>
              <a:buSzPct val="75000"/>
            </a:pPr>
            <a:endParaRPr lang="en-US" altLang="zh-CN" sz="2400" dirty="0"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  <a:buClr>
                <a:schemeClr val="tx2"/>
              </a:buClr>
              <a:buSzPct val="75000"/>
            </a:pPr>
            <a:r>
              <a:rPr lang="en-US" altLang="zh-CN" sz="2400" dirty="0">
                <a:latin typeface="Arial" panose="020B0604020202020204" pitchFamily="34" charset="0"/>
              </a:rPr>
              <a:t>Threads </a:t>
            </a:r>
            <a:r>
              <a:rPr lang="en-US" altLang="zh-CN" sz="2400" b="1" dirty="0">
                <a:solidFill>
                  <a:srgbClr val="00B050"/>
                </a:solidFill>
                <a:latin typeface="Arial" panose="020B0604020202020204" pitchFamily="34" charset="0"/>
              </a:rPr>
              <a:t>appear</a:t>
            </a:r>
            <a:r>
              <a:rPr lang="en-US" altLang="zh-CN" sz="2400" dirty="0">
                <a:latin typeface="Arial" panose="020B0604020202020204" pitchFamily="34" charset="0"/>
              </a:rPr>
              <a:t> to run simultaneously.</a:t>
            </a:r>
          </a:p>
          <a:p>
            <a:pPr>
              <a:lnSpc>
                <a:spcPct val="90000"/>
              </a:lnSpc>
              <a:buClr>
                <a:schemeClr val="tx2"/>
              </a:buClr>
              <a:buSzPct val="75000"/>
              <a:buFont typeface="Monotype Sorts" pitchFamily="2" charset="2"/>
              <a:buNone/>
            </a:pPr>
            <a:endParaRPr lang="en-US" altLang="zh-CN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24138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ChangeArrowheads="1"/>
          </p:cNvSpPr>
          <p:nvPr/>
        </p:nvSpPr>
        <p:spPr bwMode="auto">
          <a:xfrm>
            <a:off x="2133600" y="228600"/>
            <a:ext cx="79248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zh-CN" sz="44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20" name="Rectangle 3"/>
          <p:cNvSpPr>
            <a:spLocks noChangeArrowheads="1"/>
          </p:cNvSpPr>
          <p:nvPr/>
        </p:nvSpPr>
        <p:spPr bwMode="auto">
          <a:xfrm>
            <a:off x="963558" y="1680447"/>
            <a:ext cx="10377430" cy="4934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>
              <a:lnSpc>
                <a:spcPct val="90000"/>
              </a:lnSpc>
              <a:buClr>
                <a:schemeClr val="tx2"/>
              </a:buClr>
              <a:buSzPct val="75000"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Three balls bouncing around:</a:t>
            </a:r>
          </a:p>
          <a:p>
            <a:pPr marL="0" indent="0">
              <a:lnSpc>
                <a:spcPct val="90000"/>
              </a:lnSpc>
              <a:buClr>
                <a:schemeClr val="tx2"/>
              </a:buClr>
              <a:buSzPct val="75000"/>
              <a:buNone/>
            </a:pPr>
            <a:endParaRPr lang="en-US" altLang="zh-CN" sz="2400" dirty="0">
              <a:latin typeface="Arial" panose="020B0604020202020204" pitchFamily="34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963558" y="762003"/>
            <a:ext cx="10417284" cy="544862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en-US" sz="3200" dirty="0"/>
              <a:t>Bouncing Ball example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7545" y="2929532"/>
            <a:ext cx="3695797" cy="3750227"/>
          </a:xfrm>
          <a:prstGeom prst="rect">
            <a:avLst/>
          </a:prstGeo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0FC38DB-920B-377E-2BE1-9FCF964FF1F8}"/>
              </a:ext>
            </a:extLst>
          </p:cNvPr>
          <p:cNvSpPr txBox="1">
            <a:spLocks/>
          </p:cNvSpPr>
          <p:nvPr/>
        </p:nvSpPr>
        <p:spPr>
          <a:xfrm>
            <a:off x="936516" y="14205"/>
            <a:ext cx="9202096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dirty="0">
                <a:solidFill>
                  <a:srgbClr val="FF0000"/>
                </a:solidFill>
                <a:latin typeface="+mn-lt"/>
              </a:rPr>
              <a:t>CSEN160_07_Threads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._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MultiThreaded.BouncingBalls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75256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831850" y="2047285"/>
            <a:ext cx="10515600" cy="1816662"/>
          </a:xfrm>
        </p:spPr>
        <p:txBody>
          <a:bodyPr/>
          <a:lstStyle/>
          <a:p>
            <a:r>
              <a:rPr lang="en-US" altLang="en-US" dirty="0"/>
              <a:t>Thread States</a:t>
            </a:r>
          </a:p>
        </p:txBody>
      </p:sp>
    </p:spTree>
    <p:extLst>
      <p:ext uri="{BB962C8B-B14F-4D97-AF65-F5344CB8AC3E}">
        <p14:creationId xmlns:p14="http://schemas.microsoft.com/office/powerpoint/2010/main" val="1652359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ChangeArrowheads="1"/>
          </p:cNvSpPr>
          <p:nvPr/>
        </p:nvSpPr>
        <p:spPr bwMode="auto">
          <a:xfrm>
            <a:off x="987931" y="771528"/>
            <a:ext cx="3927981" cy="661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>
              <a:spcBef>
                <a:spcPct val="0"/>
              </a:spcBef>
              <a:buFontTx/>
              <a:buNone/>
              <a:defRPr/>
            </a:pPr>
            <a:r>
              <a:rPr lang="en-US" altLang="zh-CN" sz="4400" dirty="0">
                <a:latin typeface="+mn-lt"/>
              </a:rPr>
              <a:t>Thread States</a:t>
            </a:r>
          </a:p>
        </p:txBody>
      </p:sp>
      <p:sp>
        <p:nvSpPr>
          <p:cNvPr id="20484" name="Rectangle 3"/>
          <p:cNvSpPr>
            <a:spLocks noChangeArrowheads="1"/>
          </p:cNvSpPr>
          <p:nvPr/>
        </p:nvSpPr>
        <p:spPr bwMode="auto">
          <a:xfrm>
            <a:off x="987930" y="1585914"/>
            <a:ext cx="10365195" cy="5043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buClr>
                <a:schemeClr val="tx2"/>
              </a:buClr>
              <a:buSzPct val="75000"/>
            </a:pPr>
            <a:r>
              <a:rPr lang="en-US" altLang="zh-CN" sz="2400" dirty="0">
                <a:latin typeface="Arial" panose="020B0604020202020204" pitchFamily="34" charset="0"/>
              </a:rPr>
              <a:t>Four states for threads: </a:t>
            </a:r>
            <a:r>
              <a:rPr lang="en-US" altLang="zh-CN" sz="2400" b="1" dirty="0">
                <a:solidFill>
                  <a:srgbClr val="92D050"/>
                </a:solidFill>
                <a:latin typeface="Arial" panose="020B0604020202020204" pitchFamily="34" charset="0"/>
              </a:rPr>
              <a:t>new</a:t>
            </a:r>
            <a:r>
              <a:rPr lang="en-US" altLang="zh-CN" sz="2400" dirty="0">
                <a:solidFill>
                  <a:schemeClr val="tx2"/>
                </a:solidFill>
                <a:latin typeface="Arial" panose="020B0604020202020204" pitchFamily="34" charset="0"/>
              </a:rPr>
              <a:t>, </a:t>
            </a:r>
            <a:r>
              <a:rPr lang="en-US" altLang="zh-CN" sz="2400" b="1" dirty="0">
                <a:solidFill>
                  <a:srgbClr val="00B0F0"/>
                </a:solidFill>
                <a:latin typeface="Arial" panose="020B0604020202020204" pitchFamily="34" charset="0"/>
              </a:rPr>
              <a:t>runnable</a:t>
            </a:r>
            <a:r>
              <a:rPr lang="en-US" altLang="zh-CN" sz="2400" dirty="0">
                <a:solidFill>
                  <a:schemeClr val="tx2"/>
                </a:solidFill>
                <a:latin typeface="Arial" panose="020B0604020202020204" pitchFamily="34" charset="0"/>
              </a:rPr>
              <a:t>, 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</a:rPr>
              <a:t>blocked</a:t>
            </a:r>
            <a:r>
              <a:rPr lang="en-US" altLang="zh-CN" sz="2400" dirty="0">
                <a:solidFill>
                  <a:schemeClr val="tx2"/>
                </a:solidFill>
                <a:latin typeface="Arial" panose="020B0604020202020204" pitchFamily="34" charset="0"/>
              </a:rPr>
              <a:t>, 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</a:rPr>
              <a:t>dead</a:t>
            </a:r>
          </a:p>
          <a:p>
            <a:pPr>
              <a:lnSpc>
                <a:spcPct val="90000"/>
              </a:lnSpc>
              <a:buClr>
                <a:schemeClr val="tx2"/>
              </a:buClr>
              <a:buSzPct val="75000"/>
              <a:buFont typeface="Monotype Sorts" pitchFamily="2" charset="2"/>
              <a:buChar char="l"/>
            </a:pPr>
            <a:endParaRPr lang="en-US" altLang="zh-CN" sz="2400" dirty="0">
              <a:latin typeface="Arial" panose="020B0604020202020204" pitchFamily="34" charset="0"/>
            </a:endParaRPr>
          </a:p>
        </p:txBody>
      </p:sp>
      <p:sp>
        <p:nvSpPr>
          <p:cNvPr id="20485" name="Oval 5"/>
          <p:cNvSpPr>
            <a:spLocks noChangeArrowheads="1"/>
          </p:cNvSpPr>
          <p:nvPr/>
        </p:nvSpPr>
        <p:spPr bwMode="auto">
          <a:xfrm>
            <a:off x="2590800" y="2779714"/>
            <a:ext cx="1371600" cy="11271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chemeClr val="tx2"/>
                </a:solidFill>
                <a:latin typeface="Times New Roman" panose="02020603050405020304" pitchFamily="18" charset="0"/>
              </a:rPr>
              <a:t>new</a:t>
            </a:r>
            <a:endParaRPr lang="en-US" altLang="en-US" sz="24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486" name="Oval 6"/>
          <p:cNvSpPr>
            <a:spLocks noChangeArrowheads="1"/>
          </p:cNvSpPr>
          <p:nvPr/>
        </p:nvSpPr>
        <p:spPr bwMode="auto">
          <a:xfrm>
            <a:off x="4800600" y="3554414"/>
            <a:ext cx="1371600" cy="11271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chemeClr val="tx2"/>
                </a:solidFill>
                <a:latin typeface="Times New Roman" panose="02020603050405020304" pitchFamily="18" charset="0"/>
              </a:rPr>
              <a:t>runnable</a:t>
            </a:r>
            <a:endParaRPr lang="en-US" altLang="en-US" sz="24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487" name="Oval 7"/>
          <p:cNvSpPr>
            <a:spLocks noChangeArrowheads="1"/>
          </p:cNvSpPr>
          <p:nvPr/>
        </p:nvSpPr>
        <p:spPr bwMode="auto">
          <a:xfrm>
            <a:off x="3581400" y="4892676"/>
            <a:ext cx="1371600" cy="11271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chemeClr val="tx2"/>
                </a:solidFill>
                <a:latin typeface="Times New Roman" panose="02020603050405020304" pitchFamily="18" charset="0"/>
              </a:rPr>
              <a:t>dead</a:t>
            </a:r>
            <a:endParaRPr lang="en-US" altLang="en-US" sz="24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488" name="Oval 8"/>
          <p:cNvSpPr>
            <a:spLocks noChangeArrowheads="1"/>
          </p:cNvSpPr>
          <p:nvPr/>
        </p:nvSpPr>
        <p:spPr bwMode="auto">
          <a:xfrm>
            <a:off x="8001000" y="2427289"/>
            <a:ext cx="1371600" cy="11271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chemeClr val="tx2"/>
                </a:solidFill>
                <a:latin typeface="Times New Roman" panose="02020603050405020304" pitchFamily="18" charset="0"/>
              </a:rPr>
              <a:t>blocked</a:t>
            </a:r>
          </a:p>
        </p:txBody>
      </p:sp>
      <p:sp>
        <p:nvSpPr>
          <p:cNvPr id="20489" name="Line 9"/>
          <p:cNvSpPr>
            <a:spLocks noChangeShapeType="1"/>
          </p:cNvSpPr>
          <p:nvPr/>
        </p:nvSpPr>
        <p:spPr bwMode="auto">
          <a:xfrm>
            <a:off x="3886200" y="3554414"/>
            <a:ext cx="990600" cy="422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90" name="Freeform 10"/>
          <p:cNvSpPr>
            <a:spLocks/>
          </p:cNvSpPr>
          <p:nvPr/>
        </p:nvSpPr>
        <p:spPr bwMode="auto">
          <a:xfrm>
            <a:off x="5562600" y="2414589"/>
            <a:ext cx="2590800" cy="1139825"/>
          </a:xfrm>
          <a:custGeom>
            <a:avLst/>
            <a:gdLst>
              <a:gd name="T0" fmla="*/ 0 w 1632"/>
              <a:gd name="T1" fmla="*/ 2147483647 h 776"/>
              <a:gd name="T2" fmla="*/ 2147483647 w 1632"/>
              <a:gd name="T3" fmla="*/ 2147483647 h 776"/>
              <a:gd name="T4" fmla="*/ 2147483647 w 1632"/>
              <a:gd name="T5" fmla="*/ 2147483647 h 776"/>
              <a:gd name="T6" fmla="*/ 0 60000 65536"/>
              <a:gd name="T7" fmla="*/ 0 60000 65536"/>
              <a:gd name="T8" fmla="*/ 0 60000 65536"/>
              <a:gd name="T9" fmla="*/ 0 w 1632"/>
              <a:gd name="T10" fmla="*/ 0 h 776"/>
              <a:gd name="T11" fmla="*/ 1632 w 1632"/>
              <a:gd name="T12" fmla="*/ 776 h 7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32" h="776">
                <a:moveTo>
                  <a:pt x="0" y="776"/>
                </a:moveTo>
                <a:cubicBezTo>
                  <a:pt x="56" y="492"/>
                  <a:pt x="112" y="208"/>
                  <a:pt x="384" y="104"/>
                </a:cubicBezTo>
                <a:cubicBezTo>
                  <a:pt x="656" y="0"/>
                  <a:pt x="1432" y="144"/>
                  <a:pt x="1632" y="15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91" name="Freeform 11"/>
          <p:cNvSpPr>
            <a:spLocks/>
          </p:cNvSpPr>
          <p:nvPr/>
        </p:nvSpPr>
        <p:spPr bwMode="auto">
          <a:xfrm>
            <a:off x="5715000" y="2568575"/>
            <a:ext cx="2362200" cy="985838"/>
          </a:xfrm>
          <a:custGeom>
            <a:avLst/>
            <a:gdLst>
              <a:gd name="T0" fmla="*/ 0 w 1632"/>
              <a:gd name="T1" fmla="*/ 2147483647 h 776"/>
              <a:gd name="T2" fmla="*/ 2147483647 w 1632"/>
              <a:gd name="T3" fmla="*/ 2147483647 h 776"/>
              <a:gd name="T4" fmla="*/ 2147483647 w 1632"/>
              <a:gd name="T5" fmla="*/ 2147483647 h 776"/>
              <a:gd name="T6" fmla="*/ 0 60000 65536"/>
              <a:gd name="T7" fmla="*/ 0 60000 65536"/>
              <a:gd name="T8" fmla="*/ 0 60000 65536"/>
              <a:gd name="T9" fmla="*/ 0 w 1632"/>
              <a:gd name="T10" fmla="*/ 0 h 776"/>
              <a:gd name="T11" fmla="*/ 1632 w 1632"/>
              <a:gd name="T12" fmla="*/ 776 h 7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32" h="776">
                <a:moveTo>
                  <a:pt x="0" y="776"/>
                </a:moveTo>
                <a:cubicBezTo>
                  <a:pt x="56" y="492"/>
                  <a:pt x="112" y="208"/>
                  <a:pt x="384" y="104"/>
                </a:cubicBezTo>
                <a:cubicBezTo>
                  <a:pt x="656" y="0"/>
                  <a:pt x="1432" y="144"/>
                  <a:pt x="1632" y="15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92" name="Freeform 12"/>
          <p:cNvSpPr>
            <a:spLocks/>
          </p:cNvSpPr>
          <p:nvPr/>
        </p:nvSpPr>
        <p:spPr bwMode="auto">
          <a:xfrm>
            <a:off x="5867400" y="3124201"/>
            <a:ext cx="2133600" cy="500063"/>
          </a:xfrm>
          <a:custGeom>
            <a:avLst/>
            <a:gdLst>
              <a:gd name="T0" fmla="*/ 0 w 1344"/>
              <a:gd name="T1" fmla="*/ 2147483647 h 448"/>
              <a:gd name="T2" fmla="*/ 2147483647 w 1344"/>
              <a:gd name="T3" fmla="*/ 2147483647 h 448"/>
              <a:gd name="T4" fmla="*/ 2147483647 w 1344"/>
              <a:gd name="T5" fmla="*/ 2147483647 h 448"/>
              <a:gd name="T6" fmla="*/ 0 60000 65536"/>
              <a:gd name="T7" fmla="*/ 0 60000 65536"/>
              <a:gd name="T8" fmla="*/ 0 60000 65536"/>
              <a:gd name="T9" fmla="*/ 0 w 1344"/>
              <a:gd name="T10" fmla="*/ 0 h 448"/>
              <a:gd name="T11" fmla="*/ 1344 w 1344"/>
              <a:gd name="T12" fmla="*/ 448 h 4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44" h="448">
                <a:moveTo>
                  <a:pt x="0" y="448"/>
                </a:moveTo>
                <a:cubicBezTo>
                  <a:pt x="152" y="288"/>
                  <a:pt x="304" y="128"/>
                  <a:pt x="528" y="64"/>
                </a:cubicBezTo>
                <a:cubicBezTo>
                  <a:pt x="752" y="0"/>
                  <a:pt x="1208" y="64"/>
                  <a:pt x="1344" y="64"/>
                </a:cubicBezTo>
              </a:path>
            </a:pathLst>
          </a:custGeom>
          <a:noFill/>
          <a:ln w="9525" cap="flat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93" name="Freeform 13"/>
          <p:cNvSpPr>
            <a:spLocks/>
          </p:cNvSpPr>
          <p:nvPr/>
        </p:nvSpPr>
        <p:spPr bwMode="auto">
          <a:xfrm>
            <a:off x="6019800" y="3200400"/>
            <a:ext cx="2057400" cy="565150"/>
          </a:xfrm>
          <a:custGeom>
            <a:avLst/>
            <a:gdLst>
              <a:gd name="T0" fmla="*/ 0 w 1344"/>
              <a:gd name="T1" fmla="*/ 2147483647 h 448"/>
              <a:gd name="T2" fmla="*/ 2147483647 w 1344"/>
              <a:gd name="T3" fmla="*/ 2147483647 h 448"/>
              <a:gd name="T4" fmla="*/ 2147483647 w 1344"/>
              <a:gd name="T5" fmla="*/ 2147483647 h 448"/>
              <a:gd name="T6" fmla="*/ 0 60000 65536"/>
              <a:gd name="T7" fmla="*/ 0 60000 65536"/>
              <a:gd name="T8" fmla="*/ 0 60000 65536"/>
              <a:gd name="T9" fmla="*/ 0 w 1344"/>
              <a:gd name="T10" fmla="*/ 0 h 448"/>
              <a:gd name="T11" fmla="*/ 1344 w 1344"/>
              <a:gd name="T12" fmla="*/ 448 h 4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44" h="448">
                <a:moveTo>
                  <a:pt x="0" y="448"/>
                </a:moveTo>
                <a:cubicBezTo>
                  <a:pt x="152" y="288"/>
                  <a:pt x="304" y="128"/>
                  <a:pt x="528" y="64"/>
                </a:cubicBezTo>
                <a:cubicBezTo>
                  <a:pt x="752" y="0"/>
                  <a:pt x="1208" y="64"/>
                  <a:pt x="1344" y="64"/>
                </a:cubicBezTo>
              </a:path>
            </a:pathLst>
          </a:custGeom>
          <a:noFill/>
          <a:ln w="9525" cap="flat">
            <a:solidFill>
              <a:schemeClr val="tx1"/>
            </a:solidFill>
            <a:prstDash val="sysDot"/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94" name="Freeform 14"/>
          <p:cNvSpPr>
            <a:spLocks/>
          </p:cNvSpPr>
          <p:nvPr/>
        </p:nvSpPr>
        <p:spPr bwMode="auto">
          <a:xfrm>
            <a:off x="6172200" y="3343275"/>
            <a:ext cx="1981200" cy="750888"/>
          </a:xfrm>
          <a:custGeom>
            <a:avLst/>
            <a:gdLst>
              <a:gd name="T0" fmla="*/ 2147483647 w 1248"/>
              <a:gd name="T1" fmla="*/ 0 h 512"/>
              <a:gd name="T2" fmla="*/ 2147483647 w 1248"/>
              <a:gd name="T3" fmla="*/ 2147483647 h 512"/>
              <a:gd name="T4" fmla="*/ 0 w 1248"/>
              <a:gd name="T5" fmla="*/ 2147483647 h 512"/>
              <a:gd name="T6" fmla="*/ 0 60000 65536"/>
              <a:gd name="T7" fmla="*/ 0 60000 65536"/>
              <a:gd name="T8" fmla="*/ 0 60000 65536"/>
              <a:gd name="T9" fmla="*/ 0 w 1248"/>
              <a:gd name="T10" fmla="*/ 0 h 512"/>
              <a:gd name="T11" fmla="*/ 1248 w 1248"/>
              <a:gd name="T12" fmla="*/ 512 h 51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48" h="512">
                <a:moveTo>
                  <a:pt x="1248" y="0"/>
                </a:moveTo>
                <a:cubicBezTo>
                  <a:pt x="1064" y="176"/>
                  <a:pt x="880" y="352"/>
                  <a:pt x="672" y="432"/>
                </a:cubicBezTo>
                <a:cubicBezTo>
                  <a:pt x="464" y="512"/>
                  <a:pt x="232" y="496"/>
                  <a:pt x="0" y="48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triangle" w="lg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95" name="Freeform 15"/>
          <p:cNvSpPr>
            <a:spLocks/>
          </p:cNvSpPr>
          <p:nvPr/>
        </p:nvSpPr>
        <p:spPr bwMode="auto">
          <a:xfrm>
            <a:off x="6172200" y="3482975"/>
            <a:ext cx="2133600" cy="776288"/>
          </a:xfrm>
          <a:custGeom>
            <a:avLst/>
            <a:gdLst>
              <a:gd name="T0" fmla="*/ 2147483647 w 1248"/>
              <a:gd name="T1" fmla="*/ 0 h 512"/>
              <a:gd name="T2" fmla="*/ 2147483647 w 1248"/>
              <a:gd name="T3" fmla="*/ 2147483647 h 512"/>
              <a:gd name="T4" fmla="*/ 0 w 1248"/>
              <a:gd name="T5" fmla="*/ 2147483647 h 512"/>
              <a:gd name="T6" fmla="*/ 0 60000 65536"/>
              <a:gd name="T7" fmla="*/ 0 60000 65536"/>
              <a:gd name="T8" fmla="*/ 0 60000 65536"/>
              <a:gd name="T9" fmla="*/ 0 w 1248"/>
              <a:gd name="T10" fmla="*/ 0 h 512"/>
              <a:gd name="T11" fmla="*/ 1248 w 1248"/>
              <a:gd name="T12" fmla="*/ 512 h 51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48" h="512">
                <a:moveTo>
                  <a:pt x="1248" y="0"/>
                </a:moveTo>
                <a:cubicBezTo>
                  <a:pt x="1064" y="176"/>
                  <a:pt x="880" y="352"/>
                  <a:pt x="672" y="432"/>
                </a:cubicBezTo>
                <a:cubicBezTo>
                  <a:pt x="464" y="512"/>
                  <a:pt x="232" y="496"/>
                  <a:pt x="0" y="48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96" name="Freeform 16"/>
          <p:cNvSpPr>
            <a:spLocks/>
          </p:cNvSpPr>
          <p:nvPr/>
        </p:nvSpPr>
        <p:spPr bwMode="auto">
          <a:xfrm>
            <a:off x="5943600" y="3554413"/>
            <a:ext cx="2667000" cy="1503362"/>
          </a:xfrm>
          <a:custGeom>
            <a:avLst/>
            <a:gdLst>
              <a:gd name="T0" fmla="*/ 0 w 1680"/>
              <a:gd name="T1" fmla="*/ 2147483647 h 1024"/>
              <a:gd name="T2" fmla="*/ 2147483647 w 1680"/>
              <a:gd name="T3" fmla="*/ 2147483647 h 1024"/>
              <a:gd name="T4" fmla="*/ 2147483647 w 1680"/>
              <a:gd name="T5" fmla="*/ 0 h 1024"/>
              <a:gd name="T6" fmla="*/ 0 60000 65536"/>
              <a:gd name="T7" fmla="*/ 0 60000 65536"/>
              <a:gd name="T8" fmla="*/ 0 60000 65536"/>
              <a:gd name="T9" fmla="*/ 0 w 1680"/>
              <a:gd name="T10" fmla="*/ 0 h 1024"/>
              <a:gd name="T11" fmla="*/ 1680 w 1680"/>
              <a:gd name="T12" fmla="*/ 1024 h 10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80" h="1024">
                <a:moveTo>
                  <a:pt x="0" y="672"/>
                </a:moveTo>
                <a:cubicBezTo>
                  <a:pt x="436" y="848"/>
                  <a:pt x="872" y="1024"/>
                  <a:pt x="1152" y="912"/>
                </a:cubicBezTo>
                <a:cubicBezTo>
                  <a:pt x="1432" y="800"/>
                  <a:pt x="1556" y="400"/>
                  <a:pt x="168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97" name="Freeform 17"/>
          <p:cNvSpPr>
            <a:spLocks/>
          </p:cNvSpPr>
          <p:nvPr/>
        </p:nvSpPr>
        <p:spPr bwMode="auto">
          <a:xfrm>
            <a:off x="5791200" y="3554413"/>
            <a:ext cx="2971800" cy="1643062"/>
          </a:xfrm>
          <a:custGeom>
            <a:avLst/>
            <a:gdLst>
              <a:gd name="T0" fmla="*/ 0 w 1680"/>
              <a:gd name="T1" fmla="*/ 2147483647 h 1024"/>
              <a:gd name="T2" fmla="*/ 2147483647 w 1680"/>
              <a:gd name="T3" fmla="*/ 2147483647 h 1024"/>
              <a:gd name="T4" fmla="*/ 2147483647 w 1680"/>
              <a:gd name="T5" fmla="*/ 0 h 1024"/>
              <a:gd name="T6" fmla="*/ 0 60000 65536"/>
              <a:gd name="T7" fmla="*/ 0 60000 65536"/>
              <a:gd name="T8" fmla="*/ 0 60000 65536"/>
              <a:gd name="T9" fmla="*/ 0 w 1680"/>
              <a:gd name="T10" fmla="*/ 0 h 1024"/>
              <a:gd name="T11" fmla="*/ 1680 w 1680"/>
              <a:gd name="T12" fmla="*/ 1024 h 10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80" h="1024">
                <a:moveTo>
                  <a:pt x="0" y="672"/>
                </a:moveTo>
                <a:cubicBezTo>
                  <a:pt x="436" y="848"/>
                  <a:pt x="872" y="1024"/>
                  <a:pt x="1152" y="912"/>
                </a:cubicBezTo>
                <a:cubicBezTo>
                  <a:pt x="1432" y="800"/>
                  <a:pt x="1556" y="400"/>
                  <a:pt x="168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98" name="Line 18"/>
          <p:cNvSpPr>
            <a:spLocks noChangeShapeType="1"/>
          </p:cNvSpPr>
          <p:nvPr/>
        </p:nvSpPr>
        <p:spPr bwMode="auto">
          <a:xfrm flipH="1">
            <a:off x="4724400" y="4610101"/>
            <a:ext cx="381000" cy="4238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99" name="Text Box 19"/>
          <p:cNvSpPr txBox="1">
            <a:spLocks noChangeArrowheads="1"/>
          </p:cNvSpPr>
          <p:nvPr/>
        </p:nvSpPr>
        <p:spPr bwMode="auto">
          <a:xfrm>
            <a:off x="6581776" y="2233613"/>
            <a:ext cx="8667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sleep</a:t>
            </a:r>
            <a:endParaRPr lang="en-US" altLang="en-US" sz="2000" b="1">
              <a:latin typeface="Times New Roman" panose="02020603050405020304" pitchFamily="18" charset="0"/>
            </a:endParaRPr>
          </a:p>
        </p:txBody>
      </p:sp>
      <p:sp>
        <p:nvSpPr>
          <p:cNvPr id="20500" name="Text Box 20"/>
          <p:cNvSpPr txBox="1">
            <a:spLocks noChangeArrowheads="1"/>
          </p:cNvSpPr>
          <p:nvPr/>
        </p:nvSpPr>
        <p:spPr bwMode="auto">
          <a:xfrm>
            <a:off x="6324600" y="2590801"/>
            <a:ext cx="1498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Times New Roman" panose="02020603050405020304" pitchFamily="18" charset="0"/>
              </a:rPr>
              <a:t>done sleeping</a:t>
            </a:r>
            <a:endParaRPr lang="en-US" altLang="en-US" sz="2000">
              <a:latin typeface="Times New Roman" panose="02020603050405020304" pitchFamily="18" charset="0"/>
            </a:endParaRPr>
          </a:p>
        </p:txBody>
      </p:sp>
      <p:sp>
        <p:nvSpPr>
          <p:cNvPr id="20501" name="Text Box 21"/>
          <p:cNvSpPr txBox="1">
            <a:spLocks noChangeArrowheads="1"/>
          </p:cNvSpPr>
          <p:nvPr/>
        </p:nvSpPr>
        <p:spPr bwMode="auto">
          <a:xfrm>
            <a:off x="5943600" y="2895600"/>
            <a:ext cx="13716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>
                <a:solidFill>
                  <a:srgbClr val="FF0000"/>
                </a:solidFill>
                <a:latin typeface="Courier New" panose="02070309020205020404" pitchFamily="49" charset="0"/>
              </a:rPr>
              <a:t>suspend</a:t>
            </a:r>
            <a:endParaRPr lang="en-US" altLang="en-US" sz="2000" i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502" name="Text Box 22"/>
          <p:cNvSpPr txBox="1">
            <a:spLocks noChangeArrowheads="1"/>
          </p:cNvSpPr>
          <p:nvPr/>
        </p:nvSpPr>
        <p:spPr bwMode="auto">
          <a:xfrm>
            <a:off x="6858000" y="3154363"/>
            <a:ext cx="10033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>
                <a:solidFill>
                  <a:srgbClr val="FF0000"/>
                </a:solidFill>
                <a:latin typeface="Courier New" panose="02070309020205020404" pitchFamily="49" charset="0"/>
              </a:rPr>
              <a:t>resume</a:t>
            </a:r>
          </a:p>
        </p:txBody>
      </p:sp>
      <p:sp>
        <p:nvSpPr>
          <p:cNvPr id="20503" name="Text Box 23"/>
          <p:cNvSpPr txBox="1">
            <a:spLocks noChangeArrowheads="1"/>
          </p:cNvSpPr>
          <p:nvPr/>
        </p:nvSpPr>
        <p:spPr bwMode="auto">
          <a:xfrm>
            <a:off x="6477000" y="3657601"/>
            <a:ext cx="730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wait</a:t>
            </a:r>
            <a:endParaRPr lang="en-US" altLang="en-US" sz="2000" b="1">
              <a:latin typeface="Times New Roman" panose="02020603050405020304" pitchFamily="18" charset="0"/>
            </a:endParaRPr>
          </a:p>
        </p:txBody>
      </p:sp>
      <p:sp>
        <p:nvSpPr>
          <p:cNvPr id="20504" name="Text Box 24"/>
          <p:cNvSpPr txBox="1">
            <a:spLocks noChangeArrowheads="1"/>
          </p:cNvSpPr>
          <p:nvPr/>
        </p:nvSpPr>
        <p:spPr bwMode="auto">
          <a:xfrm>
            <a:off x="7315200" y="3994151"/>
            <a:ext cx="1003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notify</a:t>
            </a:r>
            <a:endParaRPr lang="en-US" altLang="en-US" sz="2000" b="1">
              <a:latin typeface="Times New Roman" panose="02020603050405020304" pitchFamily="18" charset="0"/>
            </a:endParaRPr>
          </a:p>
        </p:txBody>
      </p:sp>
      <p:sp>
        <p:nvSpPr>
          <p:cNvPr id="20505" name="Text Box 25"/>
          <p:cNvSpPr txBox="1">
            <a:spLocks noChangeArrowheads="1"/>
          </p:cNvSpPr>
          <p:nvPr/>
        </p:nvSpPr>
        <p:spPr bwMode="auto">
          <a:xfrm>
            <a:off x="6705600" y="4538663"/>
            <a:ext cx="1403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Times New Roman" panose="02020603050405020304" pitchFamily="18" charset="0"/>
              </a:rPr>
              <a:t>block on I/O</a:t>
            </a:r>
            <a:endParaRPr lang="en-US" altLang="en-US" sz="2000">
              <a:latin typeface="Times New Roman" panose="02020603050405020304" pitchFamily="18" charset="0"/>
            </a:endParaRPr>
          </a:p>
        </p:txBody>
      </p:sp>
      <p:sp>
        <p:nvSpPr>
          <p:cNvPr id="20506" name="Text Box 26"/>
          <p:cNvSpPr txBox="1">
            <a:spLocks noChangeArrowheads="1"/>
          </p:cNvSpPr>
          <p:nvPr/>
        </p:nvSpPr>
        <p:spPr bwMode="auto">
          <a:xfrm>
            <a:off x="6629400" y="5102226"/>
            <a:ext cx="1447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Times New Roman" panose="02020603050405020304" pitchFamily="18" charset="0"/>
              </a:rPr>
              <a:t>I/O complete</a:t>
            </a:r>
            <a:endParaRPr lang="en-US" altLang="en-US" sz="2000">
              <a:latin typeface="Times New Roman" panose="02020603050405020304" pitchFamily="18" charset="0"/>
            </a:endParaRPr>
          </a:p>
        </p:txBody>
      </p:sp>
      <p:sp>
        <p:nvSpPr>
          <p:cNvPr id="20507" name="Text Box 27"/>
          <p:cNvSpPr txBox="1">
            <a:spLocks noChangeArrowheads="1"/>
          </p:cNvSpPr>
          <p:nvPr/>
        </p:nvSpPr>
        <p:spPr bwMode="auto">
          <a:xfrm>
            <a:off x="4038600" y="3343276"/>
            <a:ext cx="946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</a:rPr>
              <a:t>start</a:t>
            </a:r>
            <a:endParaRPr lang="en-US" altLang="en-US" sz="2400" b="1">
              <a:latin typeface="Times New Roman" panose="02020603050405020304" pitchFamily="18" charset="0"/>
            </a:endParaRPr>
          </a:p>
        </p:txBody>
      </p:sp>
      <p:sp>
        <p:nvSpPr>
          <p:cNvPr id="20508" name="Text Box 28"/>
          <p:cNvSpPr txBox="1">
            <a:spLocks noChangeArrowheads="1"/>
          </p:cNvSpPr>
          <p:nvPr/>
        </p:nvSpPr>
        <p:spPr bwMode="auto">
          <a:xfrm>
            <a:off x="4870450" y="4768851"/>
            <a:ext cx="121058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run</a:t>
            </a:r>
            <a:r>
              <a:rPr lang="en-US" altLang="en-US" sz="1800">
                <a:latin typeface="Courier New" panose="02070309020205020404" pitchFamily="49" charset="0"/>
              </a:rPr>
              <a:t> </a:t>
            </a:r>
            <a:r>
              <a:rPr lang="en-US" altLang="en-US" sz="1800">
                <a:latin typeface="Arial" panose="020B0604020202020204" pitchFamily="34" charset="0"/>
              </a:rPr>
              <a:t>exits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>
                <a:solidFill>
                  <a:srgbClr val="FF0000"/>
                </a:solidFill>
                <a:latin typeface="Courier New" panose="02070309020205020404" pitchFamily="49" charset="0"/>
              </a:rPr>
              <a:t>stop</a:t>
            </a:r>
            <a:endParaRPr lang="en-US" altLang="en-US" sz="2000" i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509" name="Text Box 29"/>
          <p:cNvSpPr txBox="1">
            <a:spLocks noChangeArrowheads="1"/>
          </p:cNvSpPr>
          <p:nvPr/>
        </p:nvSpPr>
        <p:spPr bwMode="auto">
          <a:xfrm>
            <a:off x="2057400" y="6172200"/>
            <a:ext cx="838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2400" b="1" dirty="0">
                <a:solidFill>
                  <a:srgbClr val="800000"/>
                </a:solidFill>
                <a:latin typeface="Arial" panose="020B0604020202020204" pitchFamily="34" charset="0"/>
              </a:rPr>
              <a:t>Note:</a:t>
            </a:r>
            <a:r>
              <a:rPr lang="en-US" altLang="en-US" sz="2400" dirty="0">
                <a:latin typeface="Arial" panose="020B0604020202020204" pitchFamily="34" charset="0"/>
              </a:rPr>
              <a:t> </a:t>
            </a:r>
            <a:r>
              <a:rPr lang="en-US" altLang="en-US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suspend</a:t>
            </a:r>
            <a:r>
              <a:rPr lang="en-US" alt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, </a:t>
            </a:r>
            <a:r>
              <a:rPr lang="en-US" altLang="en-US" sz="24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resume</a:t>
            </a:r>
            <a:r>
              <a:rPr lang="en-US" altLang="en-US" sz="2400" dirty="0" err="1">
                <a:solidFill>
                  <a:srgbClr val="FF0000"/>
                </a:solidFill>
                <a:latin typeface="Courier New" panose="02070309020205020404" pitchFamily="49" charset="0"/>
              </a:rPr>
              <a:t>,</a:t>
            </a:r>
            <a:r>
              <a:rPr lang="en-US" altLang="en-US" sz="24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stop</a:t>
            </a:r>
            <a:r>
              <a:rPr lang="en-US" alt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  </a:t>
            </a:r>
            <a:r>
              <a:rPr lang="en-US" altLang="en-US" sz="2400" i="1" dirty="0">
                <a:latin typeface="Arial" panose="020B0604020202020204" pitchFamily="34" charset="0"/>
              </a:rPr>
              <a:t>are</a:t>
            </a:r>
            <a:r>
              <a:rPr lang="en-US" altLang="en-US" sz="2400" i="1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400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deprecated</a:t>
            </a:r>
            <a:r>
              <a:rPr lang="en-US" altLang="en-US" sz="2400" dirty="0"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302258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ChangeArrowheads="1"/>
          </p:cNvSpPr>
          <p:nvPr/>
        </p:nvSpPr>
        <p:spPr bwMode="auto">
          <a:xfrm>
            <a:off x="895519" y="758628"/>
            <a:ext cx="3542963" cy="726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4400" dirty="0"/>
              <a:t>Thread States</a:t>
            </a:r>
          </a:p>
        </p:txBody>
      </p:sp>
      <p:sp>
        <p:nvSpPr>
          <p:cNvPr id="21508" name="Rectangle 3"/>
          <p:cNvSpPr>
            <a:spLocks noChangeArrowheads="1"/>
          </p:cNvSpPr>
          <p:nvPr/>
        </p:nvSpPr>
        <p:spPr bwMode="auto">
          <a:xfrm>
            <a:off x="1014202" y="1727650"/>
            <a:ext cx="10306556" cy="4903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>
              <a:lnSpc>
                <a:spcPct val="90000"/>
              </a:lnSpc>
              <a:buClr>
                <a:schemeClr val="tx2"/>
              </a:buClr>
              <a:buSzPct val="75000"/>
              <a:defRPr/>
            </a:pPr>
            <a:r>
              <a:rPr lang="en-US" altLang="zh-CN" sz="2400" dirty="0">
                <a:latin typeface="+mn-lt"/>
              </a:rPr>
              <a:t>Thread created using </a:t>
            </a:r>
            <a:r>
              <a:rPr lang="en-US" altLang="zh-CN" sz="2400" b="1" dirty="0">
                <a:solidFill>
                  <a:srgbClr val="66CCFF"/>
                </a:solidFill>
                <a:latin typeface="+mn-lt"/>
              </a:rPr>
              <a:t>new</a:t>
            </a:r>
            <a:r>
              <a:rPr lang="en-US" altLang="zh-CN" sz="2400" dirty="0">
                <a:latin typeface="+mn-lt"/>
              </a:rPr>
              <a:t> -&gt; .start()</a:t>
            </a:r>
          </a:p>
          <a:p>
            <a:pPr eaLnBrk="0" hangingPunct="0">
              <a:lnSpc>
                <a:spcPct val="90000"/>
              </a:lnSpc>
              <a:buClr>
                <a:schemeClr val="tx2"/>
              </a:buClr>
              <a:buSzPct val="75000"/>
              <a:defRPr/>
            </a:pPr>
            <a:endParaRPr lang="en-US" altLang="zh-CN" sz="2400" dirty="0">
              <a:latin typeface="+mn-lt"/>
            </a:endParaRPr>
          </a:p>
          <a:p>
            <a:pPr eaLnBrk="0" hangingPunct="0">
              <a:lnSpc>
                <a:spcPct val="90000"/>
              </a:lnSpc>
              <a:buClr>
                <a:schemeClr val="tx2"/>
              </a:buClr>
              <a:buSzPct val="75000"/>
              <a:defRPr/>
            </a:pPr>
            <a:r>
              <a:rPr lang="en-US" altLang="zh-CN" sz="2400" b="1" dirty="0">
                <a:solidFill>
                  <a:schemeClr val="accent2"/>
                </a:solidFill>
                <a:latin typeface="+mn-lt"/>
              </a:rPr>
              <a:t>start</a:t>
            </a:r>
            <a:r>
              <a:rPr lang="en-US" altLang="zh-CN" sz="2400" dirty="0">
                <a:latin typeface="+mn-lt"/>
              </a:rPr>
              <a:t> is invoked: thread is </a:t>
            </a:r>
            <a:r>
              <a:rPr lang="en-US" altLang="zh-CN" sz="2400" b="1" dirty="0">
                <a:solidFill>
                  <a:srgbClr val="00B0F0"/>
                </a:solidFill>
                <a:latin typeface="+mn-lt"/>
              </a:rPr>
              <a:t>now </a:t>
            </a:r>
            <a:r>
              <a:rPr lang="en-US" altLang="zh-CN" sz="2400" b="1" dirty="0">
                <a:solidFill>
                  <a:srgbClr val="00B050"/>
                </a:solidFill>
                <a:latin typeface="+mn-lt"/>
              </a:rPr>
              <a:t>runnable</a:t>
            </a:r>
            <a:r>
              <a:rPr lang="en-US" altLang="zh-CN" sz="2400" dirty="0">
                <a:latin typeface="+mn-lt"/>
              </a:rPr>
              <a:t>.</a:t>
            </a:r>
          </a:p>
          <a:p>
            <a:pPr marL="457200" lvl="1" indent="0" eaLnBrk="0" hangingPunct="0">
              <a:lnSpc>
                <a:spcPct val="90000"/>
              </a:lnSpc>
              <a:buClr>
                <a:schemeClr val="tx2"/>
              </a:buClr>
              <a:buSzPct val="75000"/>
              <a:buNone/>
              <a:defRPr/>
            </a:pPr>
            <a:endParaRPr lang="en-US" altLang="zh-CN" sz="2400" dirty="0">
              <a:latin typeface="+mn-lt"/>
            </a:endParaRPr>
          </a:p>
          <a:p>
            <a:pPr lvl="1" eaLnBrk="0" hangingPunct="0">
              <a:lnSpc>
                <a:spcPct val="90000"/>
              </a:lnSpc>
              <a:buClr>
                <a:schemeClr val="tx2"/>
              </a:buClr>
              <a:buSzPct val="75000"/>
              <a:defRPr/>
            </a:pPr>
            <a:r>
              <a:rPr lang="en-US" altLang="zh-CN" sz="2400" dirty="0">
                <a:latin typeface="+mn-lt"/>
              </a:rPr>
              <a:t>A </a:t>
            </a:r>
            <a:r>
              <a:rPr lang="en-US" altLang="zh-CN" sz="2400" b="1" dirty="0">
                <a:solidFill>
                  <a:srgbClr val="00B050"/>
                </a:solidFill>
                <a:latin typeface="+mn-lt"/>
              </a:rPr>
              <a:t>runnable</a:t>
            </a:r>
            <a:r>
              <a:rPr lang="en-US" altLang="zh-CN" sz="2400" dirty="0">
                <a:latin typeface="+mn-lt"/>
              </a:rPr>
              <a:t> thread might not be </a:t>
            </a:r>
            <a:r>
              <a:rPr lang="en-US" altLang="zh-CN" sz="2400" b="1" dirty="0">
                <a:solidFill>
                  <a:srgbClr val="00B050"/>
                </a:solidFill>
                <a:latin typeface="+mn-lt"/>
              </a:rPr>
              <a:t>running!</a:t>
            </a:r>
            <a:endParaRPr lang="en-US" altLang="zh-CN" sz="2400" dirty="0">
              <a:solidFill>
                <a:srgbClr val="00B050"/>
              </a:solidFill>
              <a:latin typeface="+mn-lt"/>
            </a:endParaRPr>
          </a:p>
          <a:p>
            <a:pPr lvl="1" eaLnBrk="0" hangingPunct="0">
              <a:lnSpc>
                <a:spcPct val="90000"/>
              </a:lnSpc>
              <a:buClr>
                <a:schemeClr val="tx2"/>
              </a:buClr>
              <a:buSzPct val="75000"/>
              <a:defRPr/>
            </a:pPr>
            <a:endParaRPr lang="en-US" altLang="zh-CN" sz="2400" dirty="0">
              <a:latin typeface="+mn-lt"/>
            </a:endParaRPr>
          </a:p>
          <a:p>
            <a:pPr lvl="1" eaLnBrk="0" hangingPunct="0">
              <a:lnSpc>
                <a:spcPct val="90000"/>
              </a:lnSpc>
              <a:buClr>
                <a:schemeClr val="tx2"/>
              </a:buClr>
              <a:buSzPct val="75000"/>
              <a:defRPr/>
            </a:pPr>
            <a:r>
              <a:rPr lang="en-US" altLang="zh-CN" sz="2400" dirty="0">
                <a:latin typeface="+mn-lt"/>
              </a:rPr>
              <a:t>There can be many </a:t>
            </a:r>
            <a:r>
              <a:rPr lang="en-US" altLang="zh-CN" sz="2400" b="1" dirty="0">
                <a:solidFill>
                  <a:srgbClr val="00B050"/>
                </a:solidFill>
                <a:latin typeface="+mn-lt"/>
              </a:rPr>
              <a:t>runnable</a:t>
            </a:r>
            <a:r>
              <a:rPr lang="en-US" altLang="zh-CN" sz="2400" dirty="0">
                <a:latin typeface="+mn-lt"/>
              </a:rPr>
              <a:t> threads. </a:t>
            </a:r>
          </a:p>
          <a:p>
            <a:pPr lvl="1" eaLnBrk="0" hangingPunct="0">
              <a:lnSpc>
                <a:spcPct val="90000"/>
              </a:lnSpc>
              <a:buClr>
                <a:schemeClr val="tx2"/>
              </a:buClr>
              <a:buSzPct val="75000"/>
              <a:defRPr/>
            </a:pPr>
            <a:endParaRPr lang="en-US" altLang="zh-CN" sz="2400" dirty="0">
              <a:latin typeface="+mn-lt"/>
            </a:endParaRPr>
          </a:p>
          <a:p>
            <a:pPr lvl="1" eaLnBrk="0" hangingPunct="0">
              <a:lnSpc>
                <a:spcPct val="90000"/>
              </a:lnSpc>
              <a:buClr>
                <a:schemeClr val="tx2"/>
              </a:buClr>
              <a:buSzPct val="75000"/>
              <a:defRPr/>
            </a:pPr>
            <a:r>
              <a:rPr lang="en-US" altLang="zh-CN" sz="2400" dirty="0">
                <a:latin typeface="+mn-lt"/>
              </a:rPr>
              <a:t>But only </a:t>
            </a:r>
            <a:r>
              <a:rPr lang="en-US" altLang="zh-CN" sz="2400" b="1" dirty="0">
                <a:solidFill>
                  <a:srgbClr val="FF0000"/>
                </a:solidFill>
                <a:latin typeface="+mn-lt"/>
              </a:rPr>
              <a:t>one of them </a:t>
            </a:r>
            <a:r>
              <a:rPr lang="en-US" altLang="zh-CN" sz="2400" dirty="0">
                <a:latin typeface="+mn-lt"/>
              </a:rPr>
              <a:t>can be </a:t>
            </a:r>
            <a:r>
              <a:rPr lang="en-US" altLang="zh-CN" sz="2400" b="1" dirty="0">
                <a:solidFill>
                  <a:srgbClr val="00B050"/>
                </a:solidFill>
                <a:latin typeface="+mn-lt"/>
              </a:rPr>
              <a:t>really</a:t>
            </a:r>
            <a:r>
              <a:rPr lang="en-US" altLang="zh-CN" sz="2400" dirty="0">
                <a:solidFill>
                  <a:srgbClr val="00B050"/>
                </a:solidFill>
                <a:latin typeface="+mn-lt"/>
              </a:rPr>
              <a:t> </a:t>
            </a:r>
            <a:r>
              <a:rPr lang="en-US" altLang="zh-CN" sz="2400" b="1" dirty="0">
                <a:solidFill>
                  <a:srgbClr val="00B050"/>
                </a:solidFill>
                <a:latin typeface="+mn-lt"/>
              </a:rPr>
              <a:t>running</a:t>
            </a:r>
            <a:r>
              <a:rPr lang="en-US" altLang="zh-CN" sz="2400" dirty="0">
                <a:solidFill>
                  <a:srgbClr val="00B050"/>
                </a:solidFill>
                <a:latin typeface="+mn-lt"/>
              </a:rPr>
              <a:t> </a:t>
            </a:r>
            <a:r>
              <a:rPr lang="en-US" altLang="zh-CN" sz="2400" dirty="0">
                <a:latin typeface="+mn-lt"/>
              </a:rPr>
              <a:t>(at any time)</a:t>
            </a:r>
          </a:p>
          <a:p>
            <a:pPr lvl="1" eaLnBrk="0" hangingPunct="0">
              <a:lnSpc>
                <a:spcPct val="90000"/>
              </a:lnSpc>
              <a:buClr>
                <a:schemeClr val="tx2"/>
              </a:buClr>
              <a:buSzPct val="75000"/>
              <a:defRPr/>
            </a:pPr>
            <a:endParaRPr lang="en-US" altLang="zh-CN" sz="2400" dirty="0">
              <a:latin typeface="+mn-lt"/>
            </a:endParaRPr>
          </a:p>
          <a:p>
            <a:pPr lvl="1" eaLnBrk="0" hangingPunct="0">
              <a:lnSpc>
                <a:spcPct val="90000"/>
              </a:lnSpc>
              <a:buClr>
                <a:schemeClr val="tx2"/>
              </a:buClr>
              <a:buSzPct val="75000"/>
              <a:defRPr/>
            </a:pPr>
            <a:r>
              <a:rPr lang="en-US" altLang="zh-CN" sz="2400" dirty="0">
                <a:latin typeface="+mn-lt"/>
              </a:rPr>
              <a:t>OS decides which thread to run </a:t>
            </a:r>
            <a:r>
              <a:rPr lang="en-US" altLang="zh-CN" sz="2400" b="1" dirty="0">
                <a:solidFill>
                  <a:srgbClr val="FF0000"/>
                </a:solidFill>
                <a:latin typeface="+mn-lt"/>
              </a:rPr>
              <a:t>(not you)</a:t>
            </a:r>
            <a:r>
              <a:rPr lang="en-US" altLang="zh-CN" sz="2400" dirty="0">
                <a:latin typeface="+mn-lt"/>
              </a:rPr>
              <a:t>. </a:t>
            </a:r>
          </a:p>
          <a:p>
            <a:pPr lvl="1" eaLnBrk="0" hangingPunct="0">
              <a:lnSpc>
                <a:spcPct val="90000"/>
              </a:lnSpc>
              <a:buClr>
                <a:schemeClr val="tx2"/>
              </a:buClr>
              <a:buSzPct val="75000"/>
              <a:buFont typeface="Monotype Sorts" pitchFamily="2" charset="2"/>
              <a:buChar char="l"/>
              <a:defRPr/>
            </a:pPr>
            <a:endParaRPr lang="en-US" altLang="zh-CN" sz="2400" dirty="0">
              <a:latin typeface="Arial" charset="0"/>
            </a:endParaRPr>
          </a:p>
          <a:p>
            <a:pPr lvl="1" eaLnBrk="0" hangingPunct="0">
              <a:lnSpc>
                <a:spcPct val="90000"/>
              </a:lnSpc>
              <a:buClr>
                <a:schemeClr val="tx2"/>
              </a:buClr>
              <a:buSzPct val="75000"/>
              <a:buFont typeface="Monotype Sorts" pitchFamily="2" charset="2"/>
              <a:buChar char="l"/>
              <a:defRPr/>
            </a:pPr>
            <a:endParaRPr lang="en-US" altLang="zh-CN" sz="2000" dirty="0">
              <a:latin typeface="Arial" charset="0"/>
            </a:endParaRPr>
          </a:p>
          <a:p>
            <a:pPr eaLnBrk="0" hangingPunct="0">
              <a:lnSpc>
                <a:spcPct val="90000"/>
              </a:lnSpc>
              <a:buClr>
                <a:schemeClr val="tx2"/>
              </a:buClr>
              <a:buSzPct val="75000"/>
              <a:buFont typeface="Monotype Sorts" pitchFamily="2" charset="2"/>
              <a:buChar char="l"/>
              <a:defRPr/>
            </a:pPr>
            <a:endParaRPr lang="en-US" altLang="zh-CN" sz="2400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34189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ChangeArrowheads="1"/>
          </p:cNvSpPr>
          <p:nvPr/>
        </p:nvSpPr>
        <p:spPr bwMode="auto">
          <a:xfrm>
            <a:off x="911703" y="774812"/>
            <a:ext cx="3684573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4400" dirty="0"/>
              <a:t>Thread States</a:t>
            </a:r>
          </a:p>
        </p:txBody>
      </p:sp>
      <p:sp>
        <p:nvSpPr>
          <p:cNvPr id="22532" name="Rectangle 3"/>
          <p:cNvSpPr>
            <a:spLocks noChangeArrowheads="1"/>
          </p:cNvSpPr>
          <p:nvPr/>
        </p:nvSpPr>
        <p:spPr bwMode="auto">
          <a:xfrm>
            <a:off x="911702" y="1695281"/>
            <a:ext cx="10441423" cy="4948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457200" indent="-45720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914400" indent="-45720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0" indent="0" eaLnBrk="0" hangingPunct="0">
              <a:lnSpc>
                <a:spcPct val="90000"/>
              </a:lnSpc>
              <a:buClr>
                <a:schemeClr val="tx2"/>
              </a:buClr>
              <a:buSzPct val="75000"/>
              <a:buNone/>
              <a:defRPr/>
            </a:pPr>
            <a:endParaRPr lang="en-US" altLang="zh-CN" sz="2000" dirty="0">
              <a:latin typeface="+mj-lt"/>
            </a:endParaRPr>
          </a:p>
          <a:p>
            <a:pPr marL="0" indent="0" eaLnBrk="0" hangingPunct="0">
              <a:lnSpc>
                <a:spcPct val="90000"/>
              </a:lnSpc>
              <a:buClr>
                <a:schemeClr val="tx2"/>
              </a:buClr>
              <a:buSzPct val="75000"/>
              <a:buNone/>
              <a:defRPr/>
            </a:pPr>
            <a:r>
              <a:rPr lang="en-US" altLang="zh-CN" sz="2000" b="1" dirty="0">
                <a:latin typeface="+mj-lt"/>
              </a:rPr>
              <a:t>A </a:t>
            </a:r>
            <a:r>
              <a:rPr lang="en-US" altLang="zh-CN" sz="2000" b="1" dirty="0">
                <a:solidFill>
                  <a:srgbClr val="00B050"/>
                </a:solidFill>
                <a:latin typeface="+mj-lt"/>
              </a:rPr>
              <a:t>runnable</a:t>
            </a:r>
            <a:r>
              <a:rPr lang="en-US" altLang="zh-CN" sz="2000" b="1" dirty="0">
                <a:latin typeface="+mj-lt"/>
              </a:rPr>
              <a:t> Thread enters the </a:t>
            </a:r>
            <a:r>
              <a:rPr lang="en-US" altLang="zh-CN" sz="2000" b="1" dirty="0">
                <a:solidFill>
                  <a:srgbClr val="FF0000"/>
                </a:solidFill>
                <a:latin typeface="+mj-lt"/>
              </a:rPr>
              <a:t>blocked</a:t>
            </a:r>
            <a:r>
              <a:rPr lang="en-US" altLang="zh-CN" sz="2000" b="1" dirty="0">
                <a:latin typeface="+mj-lt"/>
              </a:rPr>
              <a:t> state when:</a:t>
            </a:r>
          </a:p>
          <a:p>
            <a:pPr lvl="1" eaLnBrk="0" hangingPunct="0">
              <a:lnSpc>
                <a:spcPct val="90000"/>
              </a:lnSpc>
              <a:buClr>
                <a:schemeClr val="tx2"/>
              </a:buClr>
              <a:buSzPct val="75000"/>
              <a:buFont typeface="Monotype Sorts" pitchFamily="2" charset="2"/>
              <a:buAutoNum type="arabicPeriod"/>
              <a:defRPr/>
            </a:pPr>
            <a:endParaRPr lang="en-US" altLang="zh-CN" sz="2000" dirty="0">
              <a:latin typeface="+mj-lt"/>
            </a:endParaRPr>
          </a:p>
          <a:p>
            <a:pPr lvl="1" eaLnBrk="0" hangingPunct="0">
              <a:lnSpc>
                <a:spcPct val="90000"/>
              </a:lnSpc>
              <a:buClr>
                <a:schemeClr val="tx2"/>
              </a:buClr>
              <a:buSzPct val="75000"/>
              <a:buFont typeface="Monotype Sorts" pitchFamily="2" charset="2"/>
              <a:buAutoNum type="arabicPeriod"/>
              <a:defRPr/>
            </a:pPr>
            <a:endParaRPr lang="en-US" altLang="zh-CN" sz="2000" dirty="0">
              <a:latin typeface="+mj-lt"/>
            </a:endParaRPr>
          </a:p>
          <a:p>
            <a:pPr lvl="1" eaLnBrk="0" hangingPunct="0">
              <a:lnSpc>
                <a:spcPct val="90000"/>
              </a:lnSpc>
              <a:buClr>
                <a:schemeClr val="tx2"/>
              </a:buClr>
              <a:buSzPct val="75000"/>
              <a:buFont typeface="Monotype Sorts" pitchFamily="2" charset="2"/>
              <a:buAutoNum type="arabicPeriod"/>
              <a:defRPr/>
            </a:pPr>
            <a:r>
              <a:rPr lang="en-US" altLang="zh-CN" sz="2000" dirty="0">
                <a:latin typeface="+mj-lt"/>
              </a:rPr>
              <a:t>The Thread is currently </a:t>
            </a:r>
            <a:r>
              <a:rPr lang="en-US" altLang="zh-CN" sz="2000" b="1" dirty="0">
                <a:solidFill>
                  <a:srgbClr val="00B050"/>
                </a:solidFill>
                <a:latin typeface="+mj-lt"/>
              </a:rPr>
              <a:t>running</a:t>
            </a:r>
            <a:r>
              <a:rPr lang="en-US" altLang="zh-CN" sz="2000" dirty="0">
                <a:latin typeface="+mj-lt"/>
              </a:rPr>
              <a:t> and </a:t>
            </a:r>
            <a:r>
              <a:rPr lang="en-US" altLang="zh-CN" sz="2000" b="1" dirty="0">
                <a:solidFill>
                  <a:srgbClr val="FF0000"/>
                </a:solidFill>
                <a:latin typeface="+mj-lt"/>
              </a:rPr>
              <a:t>sleep</a:t>
            </a:r>
            <a:r>
              <a:rPr lang="en-US" altLang="zh-CN" sz="2000" dirty="0">
                <a:latin typeface="+mj-lt"/>
              </a:rPr>
              <a:t> is called.</a:t>
            </a:r>
          </a:p>
          <a:p>
            <a:pPr lvl="1" eaLnBrk="0" hangingPunct="0">
              <a:lnSpc>
                <a:spcPct val="90000"/>
              </a:lnSpc>
              <a:buClr>
                <a:schemeClr val="tx2"/>
              </a:buClr>
              <a:buSzPct val="75000"/>
              <a:buFont typeface="Monotype Sorts" pitchFamily="2" charset="2"/>
              <a:buAutoNum type="arabicPeriod"/>
              <a:defRPr/>
            </a:pPr>
            <a:endParaRPr lang="en-US" altLang="zh-CN" sz="2000" dirty="0">
              <a:latin typeface="+mj-lt"/>
            </a:endParaRPr>
          </a:p>
          <a:p>
            <a:pPr lvl="1" eaLnBrk="0" hangingPunct="0">
              <a:lnSpc>
                <a:spcPct val="90000"/>
              </a:lnSpc>
              <a:buClr>
                <a:schemeClr val="tx2"/>
              </a:buClr>
              <a:buSzPct val="75000"/>
              <a:buFont typeface="Monotype Sorts" pitchFamily="2" charset="2"/>
              <a:buAutoNum type="arabicPeriod"/>
              <a:defRPr/>
            </a:pPr>
            <a:r>
              <a:rPr lang="en-US" altLang="zh-CN" sz="2000" dirty="0">
                <a:latin typeface="+mj-lt"/>
              </a:rPr>
              <a:t>The Thread calls the </a:t>
            </a:r>
            <a:r>
              <a:rPr lang="en-US" altLang="zh-CN" sz="2000" b="1" dirty="0">
                <a:solidFill>
                  <a:srgbClr val="FF0000"/>
                </a:solidFill>
                <a:latin typeface="+mj-lt"/>
              </a:rPr>
              <a:t>wait</a:t>
            </a:r>
            <a:r>
              <a:rPr lang="en-US" altLang="zh-CN" sz="2000" dirty="0">
                <a:latin typeface="+mj-lt"/>
              </a:rPr>
              <a:t> method.</a:t>
            </a:r>
          </a:p>
          <a:p>
            <a:pPr lvl="1" eaLnBrk="0" hangingPunct="0">
              <a:lnSpc>
                <a:spcPct val="90000"/>
              </a:lnSpc>
              <a:buClr>
                <a:schemeClr val="tx2"/>
              </a:buClr>
              <a:buSzPct val="75000"/>
              <a:buFont typeface="Monotype Sorts" pitchFamily="2" charset="2"/>
              <a:buAutoNum type="arabicPeriod"/>
              <a:defRPr/>
            </a:pPr>
            <a:endParaRPr lang="en-US" altLang="zh-CN" sz="2000" dirty="0">
              <a:latin typeface="+mj-lt"/>
            </a:endParaRPr>
          </a:p>
          <a:p>
            <a:pPr lvl="1" eaLnBrk="0" hangingPunct="0">
              <a:lnSpc>
                <a:spcPct val="90000"/>
              </a:lnSpc>
              <a:buClr>
                <a:schemeClr val="tx2"/>
              </a:buClr>
              <a:buSzPct val="75000"/>
              <a:buFont typeface="Monotype Sorts" pitchFamily="2" charset="2"/>
              <a:buAutoNum type="arabicPeriod"/>
              <a:defRPr/>
            </a:pPr>
            <a:r>
              <a:rPr lang="en-US" altLang="zh-CN" sz="2000" dirty="0">
                <a:latin typeface="+mj-lt"/>
              </a:rPr>
              <a:t>The Thread tries to </a:t>
            </a:r>
            <a:r>
              <a:rPr lang="en-US" altLang="zh-CN" sz="2000" b="1" dirty="0">
                <a:solidFill>
                  <a:srgbClr val="FF0000"/>
                </a:solidFill>
                <a:latin typeface="+mj-lt"/>
              </a:rPr>
              <a:t>lock an object,</a:t>
            </a:r>
            <a:r>
              <a:rPr lang="en-US" altLang="zh-CN" sz="2000" dirty="0">
                <a:latin typeface="+mj-lt"/>
              </a:rPr>
              <a:t> locked by another Thread.</a:t>
            </a:r>
          </a:p>
        </p:txBody>
      </p:sp>
    </p:spTree>
    <p:extLst>
      <p:ext uri="{BB962C8B-B14F-4D97-AF65-F5344CB8AC3E}">
        <p14:creationId xmlns:p14="http://schemas.microsoft.com/office/powerpoint/2010/main" val="34835846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ChangeArrowheads="1"/>
          </p:cNvSpPr>
          <p:nvPr/>
        </p:nvSpPr>
        <p:spPr bwMode="auto">
          <a:xfrm>
            <a:off x="911703" y="774812"/>
            <a:ext cx="3684573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4400" dirty="0"/>
              <a:t>Thread States</a:t>
            </a:r>
          </a:p>
        </p:txBody>
      </p:sp>
      <p:sp>
        <p:nvSpPr>
          <p:cNvPr id="22532" name="Rectangle 3"/>
          <p:cNvSpPr>
            <a:spLocks noChangeArrowheads="1"/>
          </p:cNvSpPr>
          <p:nvPr/>
        </p:nvSpPr>
        <p:spPr bwMode="auto">
          <a:xfrm>
            <a:off x="911702" y="1695281"/>
            <a:ext cx="10441423" cy="4948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457200" indent="-45720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914400" indent="-45720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0" indent="0" eaLnBrk="0" hangingPunct="0">
              <a:lnSpc>
                <a:spcPct val="90000"/>
              </a:lnSpc>
              <a:buClr>
                <a:schemeClr val="tx2"/>
              </a:buClr>
              <a:buSzPct val="75000"/>
              <a:buNone/>
              <a:defRPr/>
            </a:pPr>
            <a:endParaRPr lang="en-US" altLang="zh-CN" sz="2400" dirty="0">
              <a:latin typeface="+mj-lt"/>
            </a:endParaRPr>
          </a:p>
          <a:p>
            <a:pPr marL="0" indent="0" eaLnBrk="0" hangingPunct="0">
              <a:lnSpc>
                <a:spcPct val="90000"/>
              </a:lnSpc>
              <a:buClr>
                <a:schemeClr val="tx2"/>
              </a:buClr>
              <a:buSzPct val="75000"/>
              <a:buNone/>
              <a:defRPr/>
            </a:pPr>
            <a:r>
              <a:rPr lang="en-US" altLang="zh-CN" sz="2000" dirty="0">
                <a:latin typeface="+mj-lt"/>
              </a:rPr>
              <a:t>A blocked reenters </a:t>
            </a:r>
            <a:r>
              <a:rPr lang="en-US" altLang="zh-CN" sz="2000" b="1" dirty="0">
                <a:solidFill>
                  <a:srgbClr val="00B050"/>
                </a:solidFill>
                <a:latin typeface="+mj-lt"/>
              </a:rPr>
              <a:t>runnable</a:t>
            </a:r>
            <a:r>
              <a:rPr lang="en-US" altLang="zh-CN" sz="2000" dirty="0">
                <a:latin typeface="+mj-lt"/>
              </a:rPr>
              <a:t> state when:</a:t>
            </a:r>
          </a:p>
          <a:p>
            <a:pPr lvl="1" eaLnBrk="0" hangingPunct="0">
              <a:lnSpc>
                <a:spcPct val="90000"/>
              </a:lnSpc>
              <a:buClr>
                <a:schemeClr val="tx2"/>
              </a:buClr>
              <a:buSzPct val="75000"/>
              <a:buFont typeface="Monotype Sorts" pitchFamily="2" charset="2"/>
              <a:buAutoNum type="arabicPeriod"/>
              <a:defRPr/>
            </a:pPr>
            <a:endParaRPr lang="en-US" altLang="zh-CN" sz="2000" dirty="0">
              <a:latin typeface="+mj-lt"/>
            </a:endParaRPr>
          </a:p>
          <a:p>
            <a:pPr lvl="1" eaLnBrk="0" hangingPunct="0">
              <a:lnSpc>
                <a:spcPct val="90000"/>
              </a:lnSpc>
              <a:buClr>
                <a:schemeClr val="tx2"/>
              </a:buClr>
              <a:buSzPct val="75000"/>
              <a:buFont typeface="Monotype Sorts" pitchFamily="2" charset="2"/>
              <a:buAutoNum type="arabicPeriod"/>
              <a:defRPr/>
            </a:pPr>
            <a:r>
              <a:rPr lang="en-US" altLang="zh-CN" sz="2000" dirty="0">
                <a:latin typeface="+mj-lt"/>
              </a:rPr>
              <a:t>It has </a:t>
            </a:r>
            <a:r>
              <a:rPr lang="en-US" altLang="zh-CN" sz="2000" b="1" dirty="0">
                <a:solidFill>
                  <a:srgbClr val="FF0000"/>
                </a:solidFill>
                <a:latin typeface="+mj-lt"/>
              </a:rPr>
              <a:t>slept</a:t>
            </a:r>
            <a:r>
              <a:rPr lang="en-US" altLang="zh-CN" sz="2000" dirty="0">
                <a:latin typeface="+mj-lt"/>
              </a:rPr>
              <a:t> through the allotted time.</a:t>
            </a:r>
          </a:p>
          <a:p>
            <a:pPr lvl="1" eaLnBrk="0" hangingPunct="0">
              <a:lnSpc>
                <a:spcPct val="90000"/>
              </a:lnSpc>
              <a:buClr>
                <a:schemeClr val="tx2"/>
              </a:buClr>
              <a:buSzPct val="75000"/>
              <a:buFont typeface="Monotype Sorts" pitchFamily="2" charset="2"/>
              <a:buAutoNum type="arabicPeriod"/>
              <a:defRPr/>
            </a:pPr>
            <a:endParaRPr lang="en-US" altLang="zh-CN" sz="2000" b="1" dirty="0">
              <a:solidFill>
                <a:schemeClr val="accent2"/>
              </a:solidFill>
              <a:latin typeface="+mj-lt"/>
            </a:endParaRPr>
          </a:p>
          <a:p>
            <a:pPr lvl="1" eaLnBrk="0" hangingPunct="0">
              <a:lnSpc>
                <a:spcPct val="90000"/>
              </a:lnSpc>
              <a:buClr>
                <a:schemeClr val="tx2"/>
              </a:buClr>
              <a:buSzPct val="75000"/>
              <a:buFont typeface="Monotype Sorts" pitchFamily="2" charset="2"/>
              <a:buAutoNum type="arabicPeriod"/>
              <a:defRPr/>
            </a:pPr>
            <a:r>
              <a:rPr lang="en-US" altLang="zh-CN" sz="2000" b="1" dirty="0">
                <a:solidFill>
                  <a:srgbClr val="00B050"/>
                </a:solidFill>
                <a:latin typeface="+mj-lt"/>
              </a:rPr>
              <a:t>notify</a:t>
            </a:r>
            <a:r>
              <a:rPr lang="en-US" altLang="zh-CN" sz="2000" dirty="0">
                <a:latin typeface="+mj-lt"/>
              </a:rPr>
              <a:t> or </a:t>
            </a:r>
            <a:r>
              <a:rPr lang="en-US" altLang="zh-CN" sz="2000" b="1" dirty="0" err="1">
                <a:solidFill>
                  <a:srgbClr val="00B050"/>
                </a:solidFill>
                <a:latin typeface="+mj-lt"/>
              </a:rPr>
              <a:t>notifyAll</a:t>
            </a:r>
            <a:r>
              <a:rPr lang="en-US" altLang="zh-CN" sz="2000" dirty="0">
                <a:latin typeface="+mj-lt"/>
              </a:rPr>
              <a:t> method called.  </a:t>
            </a:r>
          </a:p>
          <a:p>
            <a:pPr lvl="1" eaLnBrk="0" hangingPunct="0">
              <a:lnSpc>
                <a:spcPct val="90000"/>
              </a:lnSpc>
              <a:buClr>
                <a:schemeClr val="tx2"/>
              </a:buClr>
              <a:buSzPct val="75000"/>
              <a:buFont typeface="Monotype Sorts" pitchFamily="2" charset="2"/>
              <a:buAutoNum type="arabicPeriod"/>
              <a:defRPr/>
            </a:pPr>
            <a:endParaRPr lang="en-US" altLang="zh-CN" sz="2000" dirty="0">
              <a:latin typeface="+mj-lt"/>
            </a:endParaRPr>
          </a:p>
          <a:p>
            <a:pPr lvl="1" eaLnBrk="0" hangingPunct="0">
              <a:lnSpc>
                <a:spcPct val="90000"/>
              </a:lnSpc>
              <a:buClr>
                <a:schemeClr val="tx2"/>
              </a:buClr>
              <a:buSzPct val="75000"/>
              <a:buFont typeface="Monotype Sorts" pitchFamily="2" charset="2"/>
              <a:buAutoNum type="arabicPeriod"/>
              <a:defRPr/>
            </a:pPr>
            <a:r>
              <a:rPr lang="en-US" altLang="zh-CN" sz="2000" dirty="0">
                <a:latin typeface="+mj-lt"/>
              </a:rPr>
              <a:t>Object lock </a:t>
            </a:r>
            <a:r>
              <a:rPr lang="en-US" altLang="zh-CN" sz="2000" b="1" dirty="0">
                <a:solidFill>
                  <a:srgbClr val="00B050"/>
                </a:solidFill>
                <a:latin typeface="+mj-lt"/>
              </a:rPr>
              <a:t>released</a:t>
            </a:r>
            <a:r>
              <a:rPr lang="en-US" altLang="zh-CN" sz="2000" dirty="0">
                <a:latin typeface="+mj-lt"/>
              </a:rPr>
              <a:t> by other thread</a:t>
            </a:r>
          </a:p>
        </p:txBody>
      </p:sp>
    </p:spTree>
    <p:extLst>
      <p:ext uri="{BB962C8B-B14F-4D97-AF65-F5344CB8AC3E}">
        <p14:creationId xmlns:p14="http://schemas.microsoft.com/office/powerpoint/2010/main" val="6338357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ChangeArrowheads="1"/>
          </p:cNvSpPr>
          <p:nvPr/>
        </p:nvSpPr>
        <p:spPr bwMode="auto">
          <a:xfrm>
            <a:off x="940024" y="754582"/>
            <a:ext cx="3510595" cy="701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4400" dirty="0"/>
              <a:t>Thread States</a:t>
            </a:r>
          </a:p>
        </p:txBody>
      </p:sp>
      <p:sp>
        <p:nvSpPr>
          <p:cNvPr id="23556" name="Rectangle 3"/>
          <p:cNvSpPr>
            <a:spLocks noChangeArrowheads="1"/>
          </p:cNvSpPr>
          <p:nvPr/>
        </p:nvSpPr>
        <p:spPr bwMode="auto">
          <a:xfrm>
            <a:off x="940024" y="1812615"/>
            <a:ext cx="10413102" cy="48228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0" indent="0" eaLnBrk="0" hangingPunct="0">
              <a:lnSpc>
                <a:spcPct val="90000"/>
              </a:lnSpc>
              <a:buClr>
                <a:schemeClr val="tx2"/>
              </a:buClr>
              <a:buSzPct val="75000"/>
              <a:buNone/>
              <a:defRPr/>
            </a:pPr>
            <a:endParaRPr lang="en-US" altLang="zh-CN" sz="2400" dirty="0">
              <a:latin typeface="+mn-lt"/>
            </a:endParaRPr>
          </a:p>
          <a:p>
            <a:pPr marL="0" indent="0" eaLnBrk="0" hangingPunct="0">
              <a:lnSpc>
                <a:spcPct val="90000"/>
              </a:lnSpc>
              <a:buClr>
                <a:schemeClr val="tx2"/>
              </a:buClr>
              <a:buSzPct val="75000"/>
              <a:buNone/>
              <a:defRPr/>
            </a:pPr>
            <a:r>
              <a:rPr lang="en-US" altLang="zh-CN" sz="2400" dirty="0">
                <a:latin typeface="+mn-lt"/>
              </a:rPr>
              <a:t>A runnable thread enters the </a:t>
            </a:r>
            <a:r>
              <a:rPr lang="en-US" altLang="zh-CN" sz="2400" b="1" dirty="0">
                <a:solidFill>
                  <a:srgbClr val="FF0000"/>
                </a:solidFill>
                <a:latin typeface="+mn-lt"/>
              </a:rPr>
              <a:t>dead</a:t>
            </a:r>
            <a:r>
              <a:rPr lang="en-US" altLang="zh-CN" sz="24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  <a:latin typeface="+mn-lt"/>
              </a:rPr>
              <a:t>state</a:t>
            </a:r>
            <a:r>
              <a:rPr lang="en-US" altLang="zh-CN" sz="2400" dirty="0">
                <a:latin typeface="+mn-lt"/>
              </a:rPr>
              <a:t> when:</a:t>
            </a:r>
          </a:p>
          <a:p>
            <a:pPr lvl="1" eaLnBrk="0" hangingPunct="0">
              <a:lnSpc>
                <a:spcPct val="90000"/>
              </a:lnSpc>
              <a:buClr>
                <a:schemeClr val="tx2"/>
              </a:buClr>
              <a:buSzPct val="75000"/>
              <a:buFont typeface="Monotype Sorts" pitchFamily="2" charset="2"/>
              <a:buChar char="l"/>
              <a:defRPr/>
            </a:pPr>
            <a:endParaRPr lang="en-US" altLang="zh-CN" sz="2000" dirty="0">
              <a:latin typeface="+mn-lt"/>
            </a:endParaRPr>
          </a:p>
          <a:p>
            <a:pPr lvl="1" eaLnBrk="0" hangingPunct="0">
              <a:lnSpc>
                <a:spcPct val="90000"/>
              </a:lnSpc>
              <a:buClr>
                <a:schemeClr val="tx2"/>
              </a:buClr>
              <a:buSzPct val="75000"/>
              <a:defRPr/>
            </a:pPr>
            <a:r>
              <a:rPr lang="en-US" altLang="zh-CN" sz="2000" dirty="0">
                <a:latin typeface="+mn-lt"/>
              </a:rPr>
              <a:t>Its </a:t>
            </a:r>
            <a:r>
              <a:rPr lang="en-US" altLang="zh-CN" sz="2000" b="1" dirty="0">
                <a:latin typeface="+mn-lt"/>
              </a:rPr>
              <a:t>run</a:t>
            </a:r>
            <a:r>
              <a:rPr lang="en-US" altLang="zh-CN" sz="2000" dirty="0">
                <a:latin typeface="+mn-lt"/>
              </a:rPr>
              <a:t> method 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exits</a:t>
            </a:r>
            <a:r>
              <a:rPr lang="en-US" altLang="zh-CN" sz="2000" dirty="0">
                <a:latin typeface="+mn-lt"/>
              </a:rPr>
              <a:t> (Natural death).</a:t>
            </a:r>
          </a:p>
          <a:p>
            <a:pPr marL="457200" lvl="1" indent="0" eaLnBrk="0" hangingPunct="0">
              <a:lnSpc>
                <a:spcPct val="90000"/>
              </a:lnSpc>
              <a:buClr>
                <a:schemeClr val="tx2"/>
              </a:buClr>
              <a:buSzPct val="75000"/>
              <a:buNone/>
              <a:defRPr/>
            </a:pPr>
            <a:endParaRPr lang="en-US" altLang="zh-CN" sz="2000" dirty="0">
              <a:latin typeface="+mn-lt"/>
            </a:endParaRPr>
          </a:p>
          <a:p>
            <a:pPr lvl="1" eaLnBrk="0" hangingPunct="0">
              <a:lnSpc>
                <a:spcPct val="90000"/>
              </a:lnSpc>
              <a:buClr>
                <a:schemeClr val="tx2"/>
              </a:buClr>
              <a:buSzPct val="75000"/>
              <a:defRPr/>
            </a:pPr>
            <a:r>
              <a:rPr lang="en-US" altLang="zh-CN" sz="2000" dirty="0">
                <a:latin typeface="+mn-lt"/>
              </a:rPr>
              <a:t>An 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exception</a:t>
            </a:r>
            <a:r>
              <a:rPr lang="en-US" altLang="zh-CN" sz="2000" dirty="0">
                <a:latin typeface="+mn-lt"/>
              </a:rPr>
              <a:t> is thrown but not caught!</a:t>
            </a:r>
          </a:p>
        </p:txBody>
      </p:sp>
    </p:spTree>
    <p:extLst>
      <p:ext uri="{BB962C8B-B14F-4D97-AF65-F5344CB8AC3E}">
        <p14:creationId xmlns:p14="http://schemas.microsoft.com/office/powerpoint/2010/main" val="18739712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C432E-7C36-25BB-E311-2763220F3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C29967A2-06DE-F330-01D3-AC8CEF816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047285"/>
            <a:ext cx="10515600" cy="1816662"/>
          </a:xfrm>
        </p:spPr>
        <p:txBody>
          <a:bodyPr/>
          <a:lstStyle/>
          <a:p>
            <a:r>
              <a:rPr lang="en-US" altLang="en-US" dirty="0"/>
              <a:t>Thread Java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11092446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1026"/>
          <p:cNvSpPr>
            <a:spLocks noChangeArrowheads="1"/>
          </p:cNvSpPr>
          <p:nvPr/>
        </p:nvSpPr>
        <p:spPr bwMode="auto">
          <a:xfrm>
            <a:off x="915748" y="811227"/>
            <a:ext cx="7177494" cy="645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4400" dirty="0">
                <a:latin typeface="Times New Roman" panose="02020603050405020304" pitchFamily="18" charset="0"/>
              </a:rPr>
              <a:t>Thread Java Implementation</a:t>
            </a:r>
          </a:p>
        </p:txBody>
      </p:sp>
      <p:sp>
        <p:nvSpPr>
          <p:cNvPr id="25604" name="Rectangle 1027"/>
          <p:cNvSpPr>
            <a:spLocks noChangeArrowheads="1"/>
          </p:cNvSpPr>
          <p:nvPr/>
        </p:nvSpPr>
        <p:spPr bwMode="auto">
          <a:xfrm>
            <a:off x="915748" y="1693931"/>
            <a:ext cx="10409056" cy="4933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>
              <a:lnSpc>
                <a:spcPct val="90000"/>
              </a:lnSpc>
              <a:buClr>
                <a:schemeClr val="tx2"/>
              </a:buClr>
              <a:buSzPct val="75000"/>
              <a:buNone/>
            </a:pPr>
            <a:r>
              <a:rPr lang="en-US" altLang="zh-CN" sz="2800" b="1" dirty="0">
                <a:latin typeface="Arial" panose="020B0604020202020204" pitchFamily="34" charset="0"/>
              </a:rPr>
              <a:t>Two different  thread implementations:</a:t>
            </a:r>
          </a:p>
          <a:p>
            <a:pPr marL="0" indent="0">
              <a:lnSpc>
                <a:spcPct val="90000"/>
              </a:lnSpc>
              <a:buClr>
                <a:schemeClr val="tx2"/>
              </a:buClr>
              <a:buSzPct val="75000"/>
              <a:buNone/>
            </a:pPr>
            <a:endParaRPr lang="en-US" altLang="zh-CN" sz="2800" dirty="0">
              <a:latin typeface="Arial" panose="020B0604020202020204" pitchFamily="34" charset="0"/>
            </a:endParaRPr>
          </a:p>
          <a:p>
            <a:pPr marL="914400" lvl="1" indent="-514350">
              <a:lnSpc>
                <a:spcPct val="90000"/>
              </a:lnSpc>
              <a:buClr>
                <a:schemeClr val="tx2"/>
              </a:buClr>
              <a:buSzPct val="75000"/>
              <a:buAutoNum type="arabicPeriod"/>
            </a:pPr>
            <a:r>
              <a:rPr lang="en-US" altLang="zh-CN" dirty="0">
                <a:latin typeface="Arial" panose="020B0604020202020204" pitchFamily="34" charset="0"/>
              </a:rPr>
              <a:t>“</a:t>
            </a:r>
            <a:r>
              <a:rPr lang="en-US" altLang="zh-CN" dirty="0">
                <a:solidFill>
                  <a:srgbClr val="008000"/>
                </a:solidFill>
                <a:latin typeface="Arial" panose="020B0604020202020204" pitchFamily="34" charset="0"/>
              </a:rPr>
              <a:t>Native thread</a:t>
            </a:r>
            <a:r>
              <a:rPr lang="en-US" altLang="zh-CN" dirty="0">
                <a:latin typeface="Arial" panose="020B0604020202020204" pitchFamily="34" charset="0"/>
              </a:rPr>
              <a:t>” implementation (</a:t>
            </a:r>
            <a:r>
              <a:rPr lang="en-US" altLang="zh-CN" dirty="0">
                <a:solidFill>
                  <a:srgbClr val="00B050"/>
                </a:solidFill>
                <a:latin typeface="Arial" panose="020B0604020202020204" pitchFamily="34" charset="0"/>
              </a:rPr>
              <a:t>e.g. Windows</a:t>
            </a:r>
            <a:r>
              <a:rPr lang="en-US" altLang="zh-CN" dirty="0">
                <a:latin typeface="Arial" panose="020B0604020202020204" pitchFamily="34" charset="0"/>
              </a:rPr>
              <a:t>):</a:t>
            </a:r>
          </a:p>
          <a:p>
            <a:pPr lvl="2" indent="-342900">
              <a:lnSpc>
                <a:spcPct val="90000"/>
              </a:lnSpc>
              <a:buClr>
                <a:schemeClr val="tx2"/>
              </a:buClr>
              <a:buSzPct val="75000"/>
            </a:pPr>
            <a:endParaRPr lang="en-US" altLang="zh-CN" dirty="0">
              <a:latin typeface="Arial" panose="020B0604020202020204" pitchFamily="34" charset="0"/>
            </a:endParaRPr>
          </a:p>
          <a:p>
            <a:pPr lvl="2" indent="-342900">
              <a:lnSpc>
                <a:spcPct val="90000"/>
              </a:lnSpc>
              <a:buClr>
                <a:schemeClr val="tx2"/>
              </a:buClr>
              <a:buSzPct val="75000"/>
            </a:pPr>
            <a:r>
              <a:rPr lang="en-US" altLang="zh-CN" dirty="0">
                <a:latin typeface="Arial" panose="020B0604020202020204" pitchFamily="34" charset="0"/>
              </a:rPr>
              <a:t>Performs time-slicing</a:t>
            </a:r>
          </a:p>
          <a:p>
            <a:pPr lvl="2" indent="-342900">
              <a:lnSpc>
                <a:spcPct val="90000"/>
              </a:lnSpc>
              <a:buClr>
                <a:schemeClr val="tx2"/>
              </a:buClr>
              <a:buSzPct val="75000"/>
            </a:pPr>
            <a:endParaRPr lang="en-US" altLang="zh-CN" dirty="0">
              <a:latin typeface="Arial" panose="020B0604020202020204" pitchFamily="34" charset="0"/>
            </a:endParaRPr>
          </a:p>
          <a:p>
            <a:pPr lvl="2" indent="-342900">
              <a:lnSpc>
                <a:spcPct val="90000"/>
              </a:lnSpc>
              <a:buClr>
                <a:schemeClr val="tx2"/>
              </a:buClr>
              <a:buSzPct val="75000"/>
            </a:pPr>
            <a:r>
              <a:rPr lang="en-US" altLang="zh-CN" dirty="0">
                <a:latin typeface="Arial" panose="020B0604020202020204" pitchFamily="34" charset="0"/>
              </a:rPr>
              <a:t>Interrupts the running thread periodically </a:t>
            </a:r>
          </a:p>
        </p:txBody>
      </p:sp>
    </p:spTree>
    <p:extLst>
      <p:ext uri="{BB962C8B-B14F-4D97-AF65-F5344CB8AC3E}">
        <p14:creationId xmlns:p14="http://schemas.microsoft.com/office/powerpoint/2010/main" val="24176264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1026"/>
          <p:cNvSpPr>
            <a:spLocks noChangeArrowheads="1"/>
          </p:cNvSpPr>
          <p:nvPr/>
        </p:nvSpPr>
        <p:spPr bwMode="auto">
          <a:xfrm>
            <a:off x="915748" y="811227"/>
            <a:ext cx="7069210" cy="645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4400" dirty="0">
                <a:latin typeface="Times New Roman" panose="02020603050405020304" pitchFamily="18" charset="0"/>
              </a:rPr>
              <a:t>Thread Java Implementation</a:t>
            </a:r>
          </a:p>
        </p:txBody>
      </p:sp>
      <p:sp>
        <p:nvSpPr>
          <p:cNvPr id="25604" name="Rectangle 1027"/>
          <p:cNvSpPr>
            <a:spLocks noChangeArrowheads="1"/>
          </p:cNvSpPr>
          <p:nvPr/>
        </p:nvSpPr>
        <p:spPr bwMode="auto">
          <a:xfrm>
            <a:off x="915748" y="1693931"/>
            <a:ext cx="10409056" cy="4933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>
              <a:lnSpc>
                <a:spcPct val="90000"/>
              </a:lnSpc>
              <a:buClr>
                <a:schemeClr val="tx2"/>
              </a:buClr>
              <a:buSzPct val="75000"/>
              <a:buNone/>
            </a:pPr>
            <a:r>
              <a:rPr lang="en-US" altLang="zh-CN" sz="2800" dirty="0">
                <a:latin typeface="Arial" panose="020B0604020202020204" pitchFamily="34" charset="0"/>
              </a:rPr>
              <a:t>Two different  thread implementations</a:t>
            </a:r>
          </a:p>
          <a:p>
            <a:pPr marL="0" indent="0">
              <a:lnSpc>
                <a:spcPct val="90000"/>
              </a:lnSpc>
              <a:buClr>
                <a:schemeClr val="tx2"/>
              </a:buClr>
              <a:buSzPct val="75000"/>
              <a:buNone/>
            </a:pPr>
            <a:endParaRPr lang="en-US" altLang="zh-CN" dirty="0">
              <a:solidFill>
                <a:srgbClr val="008000"/>
              </a:solidFill>
              <a:latin typeface="Arial" panose="020B0604020202020204" pitchFamily="34" charset="0"/>
            </a:endParaRPr>
          </a:p>
          <a:p>
            <a:pPr marL="457200" lvl="1" indent="0">
              <a:lnSpc>
                <a:spcPct val="90000"/>
              </a:lnSpc>
              <a:buClr>
                <a:schemeClr val="tx2"/>
              </a:buClr>
              <a:buSzPct val="75000"/>
              <a:buNone/>
            </a:pPr>
            <a:r>
              <a:rPr lang="en-US" altLang="zh-CN" dirty="0">
                <a:solidFill>
                  <a:srgbClr val="008000"/>
                </a:solidFill>
                <a:latin typeface="Arial" panose="020B0604020202020204" pitchFamily="34" charset="0"/>
              </a:rPr>
              <a:t>2. “Green thread</a:t>
            </a:r>
            <a:r>
              <a:rPr lang="en-US" altLang="zh-CN" dirty="0">
                <a:latin typeface="Arial" panose="020B0604020202020204" pitchFamily="34" charset="0"/>
              </a:rPr>
              <a:t>” implementation (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e.g. Solaris</a:t>
            </a:r>
            <a:r>
              <a:rPr lang="en-US" altLang="zh-CN" dirty="0">
                <a:latin typeface="Arial" panose="020B0604020202020204" pitchFamily="34" charset="0"/>
              </a:rPr>
              <a:t>):</a:t>
            </a:r>
          </a:p>
          <a:p>
            <a:pPr lvl="2">
              <a:lnSpc>
                <a:spcPct val="90000"/>
              </a:lnSpc>
              <a:buClr>
                <a:schemeClr val="tx2"/>
              </a:buClr>
              <a:buSzPct val="75000"/>
            </a:pPr>
            <a:endParaRPr lang="en-US" altLang="zh-CN" dirty="0">
              <a:latin typeface="Arial" panose="020B0604020202020204" pitchFamily="34" charset="0"/>
            </a:endParaRPr>
          </a:p>
          <a:p>
            <a:pPr lvl="2">
              <a:lnSpc>
                <a:spcPct val="90000"/>
              </a:lnSpc>
              <a:buClr>
                <a:schemeClr val="tx2"/>
              </a:buClr>
              <a:buSzPct val="75000"/>
            </a:pPr>
            <a:r>
              <a:rPr lang="en-US" altLang="zh-CN" dirty="0">
                <a:latin typeface="Arial" panose="020B0604020202020204" pitchFamily="34" charset="0"/>
              </a:rPr>
              <a:t>Does 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</a:rPr>
              <a:t>not</a:t>
            </a:r>
            <a:r>
              <a:rPr lang="en-US" altLang="zh-CN" dirty="0">
                <a:latin typeface="Arial" panose="020B0604020202020204" pitchFamily="34" charset="0"/>
              </a:rPr>
              <a:t> perform time-slicing. </a:t>
            </a:r>
          </a:p>
          <a:p>
            <a:pPr lvl="2">
              <a:lnSpc>
                <a:spcPct val="90000"/>
              </a:lnSpc>
              <a:buClr>
                <a:schemeClr val="tx2"/>
              </a:buClr>
              <a:buSzPct val="75000"/>
            </a:pPr>
            <a:endParaRPr lang="en-US" altLang="zh-CN" dirty="0">
              <a:latin typeface="Arial" panose="020B0604020202020204" pitchFamily="34" charset="0"/>
            </a:endParaRPr>
          </a:p>
          <a:p>
            <a:pPr lvl="2">
              <a:lnSpc>
                <a:spcPct val="90000"/>
              </a:lnSpc>
              <a:buClr>
                <a:schemeClr val="tx2"/>
              </a:buClr>
              <a:buSzPct val="75000"/>
            </a:pPr>
            <a:r>
              <a:rPr lang="en-US" altLang="zh-CN" dirty="0">
                <a:latin typeface="Arial" panose="020B0604020202020204" pitchFamily="34" charset="0"/>
              </a:rPr>
              <a:t>It keeps a running thread active </a:t>
            </a:r>
          </a:p>
        </p:txBody>
      </p:sp>
    </p:spTree>
    <p:extLst>
      <p:ext uri="{BB962C8B-B14F-4D97-AF65-F5344CB8AC3E}">
        <p14:creationId xmlns:p14="http://schemas.microsoft.com/office/powerpoint/2010/main" val="22152248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831850" y="2047285"/>
            <a:ext cx="10515600" cy="1816662"/>
          </a:xfrm>
        </p:spPr>
        <p:txBody>
          <a:bodyPr/>
          <a:lstStyle/>
          <a:p>
            <a:r>
              <a:rPr lang="en-US" altLang="en-US" dirty="0"/>
              <a:t>Thread Scheduling</a:t>
            </a:r>
          </a:p>
        </p:txBody>
      </p:sp>
    </p:spTree>
    <p:extLst>
      <p:ext uri="{BB962C8B-B14F-4D97-AF65-F5344CB8AC3E}">
        <p14:creationId xmlns:p14="http://schemas.microsoft.com/office/powerpoint/2010/main" val="2331953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944608" y="761649"/>
            <a:ext cx="4545838" cy="658503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dirty="0"/>
              <a:t>Thread Scheduling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idx="1"/>
          </p:nvPr>
        </p:nvSpPr>
        <p:spPr>
          <a:xfrm>
            <a:off x="944608" y="1692583"/>
            <a:ext cx="10424702" cy="4946931"/>
          </a:xfrm>
        </p:spPr>
        <p:txBody>
          <a:bodyPr rtlCol="0">
            <a:normAutofit/>
          </a:bodyPr>
          <a:lstStyle/>
          <a:p>
            <a:pPr marL="0" indent="0">
              <a:buNone/>
              <a:defRPr/>
            </a:pPr>
            <a:endParaRPr lang="en-US" altLang="en-US" sz="2800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en-US" altLang="en-US" sz="2800" b="1" dirty="0">
                <a:solidFill>
                  <a:schemeClr val="tx1"/>
                </a:solidFill>
              </a:rPr>
              <a:t>Questions:</a:t>
            </a:r>
          </a:p>
          <a:p>
            <a:pPr lvl="1">
              <a:buFont typeface="Monotype Sorts" pitchFamily="2" charset="2"/>
              <a:buAutoNum type="arabicPeriod"/>
              <a:defRPr/>
            </a:pPr>
            <a:endParaRPr lang="en-US" altLang="en-US" dirty="0">
              <a:solidFill>
                <a:schemeClr val="tx1"/>
              </a:solidFill>
            </a:endParaRPr>
          </a:p>
          <a:p>
            <a:pPr lvl="1">
              <a:buFont typeface="Monotype Sorts" pitchFamily="2" charset="2"/>
              <a:buAutoNum type="arabicPeriod"/>
              <a:defRPr/>
            </a:pPr>
            <a:r>
              <a:rPr lang="en-US" altLang="en-US" dirty="0">
                <a:solidFill>
                  <a:schemeClr val="tx1"/>
                </a:solidFill>
              </a:rPr>
              <a:t>When does the </a:t>
            </a:r>
            <a:r>
              <a:rPr lang="en-US" altLang="en-US" b="1" dirty="0">
                <a:solidFill>
                  <a:srgbClr val="00B0F0"/>
                </a:solidFill>
              </a:rPr>
              <a:t>thread scheduler </a:t>
            </a:r>
            <a:r>
              <a:rPr lang="en-US" altLang="en-US" b="1" dirty="0">
                <a:solidFill>
                  <a:srgbClr val="00B050"/>
                </a:solidFill>
              </a:rPr>
              <a:t>kick in </a:t>
            </a:r>
            <a:r>
              <a:rPr lang="en-US" altLang="en-US" dirty="0">
                <a:solidFill>
                  <a:schemeClr val="tx1"/>
                </a:solidFill>
              </a:rPr>
              <a:t>and pick a thread?</a:t>
            </a:r>
          </a:p>
          <a:p>
            <a:pPr lvl="1">
              <a:buFont typeface="Monotype Sorts" pitchFamily="2" charset="2"/>
              <a:buAutoNum type="arabicPeriod"/>
              <a:defRPr/>
            </a:pPr>
            <a:endParaRPr lang="en-US" altLang="en-US" dirty="0">
              <a:solidFill>
                <a:schemeClr val="tx1"/>
              </a:solidFill>
            </a:endParaRPr>
          </a:p>
          <a:p>
            <a:pPr lvl="1">
              <a:buFont typeface="Monotype Sorts" pitchFamily="2" charset="2"/>
              <a:buAutoNum type="arabicPeriod"/>
              <a:defRPr/>
            </a:pPr>
            <a:endParaRPr lang="en-US" altLang="en-US" dirty="0">
              <a:solidFill>
                <a:schemeClr val="tx1"/>
              </a:solidFill>
            </a:endParaRPr>
          </a:p>
          <a:p>
            <a:pPr lvl="1">
              <a:buFont typeface="Monotype Sorts" pitchFamily="2" charset="2"/>
              <a:buAutoNum type="arabicPeriod"/>
              <a:defRPr/>
            </a:pPr>
            <a:r>
              <a:rPr lang="en-US" altLang="en-US" dirty="0">
                <a:solidFill>
                  <a:schemeClr val="tx1"/>
                </a:solidFill>
              </a:rPr>
              <a:t>How does the </a:t>
            </a:r>
            <a:r>
              <a:rPr lang="en-US" altLang="en-US" b="1" dirty="0">
                <a:solidFill>
                  <a:srgbClr val="00B0F0"/>
                </a:solidFill>
              </a:rPr>
              <a:t>thread scheduler </a:t>
            </a:r>
            <a:r>
              <a:rPr lang="en-US" altLang="en-US" b="1" dirty="0">
                <a:solidFill>
                  <a:srgbClr val="00B050"/>
                </a:solidFill>
              </a:rPr>
              <a:t>select the next one</a:t>
            </a:r>
            <a:r>
              <a:rPr lang="en-US" altLang="en-US" dirty="0">
                <a:solidFill>
                  <a:schemeClr val="tx1"/>
                </a:solidFill>
              </a:rPr>
              <a:t>?</a:t>
            </a:r>
            <a:endParaRPr lang="en-US" alt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78790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944608" y="761649"/>
            <a:ext cx="4545838" cy="658503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dirty="0"/>
              <a:t>Thread Scheduling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idx="1"/>
          </p:nvPr>
        </p:nvSpPr>
        <p:spPr>
          <a:xfrm>
            <a:off x="944608" y="1692583"/>
            <a:ext cx="10424702" cy="4946931"/>
          </a:xfrm>
        </p:spPr>
        <p:txBody>
          <a:bodyPr rtlCol="0">
            <a:normAutofit/>
          </a:bodyPr>
          <a:lstStyle/>
          <a:p>
            <a:pPr marL="0" indent="0">
              <a:buNone/>
              <a:defRPr/>
            </a:pPr>
            <a:endParaRPr lang="en-US" altLang="zh-CN" b="1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en-US" altLang="zh-CN" b="1" dirty="0">
                <a:solidFill>
                  <a:schemeClr val="tx1"/>
                </a:solidFill>
              </a:rPr>
              <a:t>1. </a:t>
            </a:r>
            <a:r>
              <a:rPr lang="en-US" altLang="en-US" dirty="0">
                <a:solidFill>
                  <a:schemeClr val="tx1"/>
                </a:solidFill>
              </a:rPr>
              <a:t>When does the </a:t>
            </a:r>
            <a:r>
              <a:rPr lang="en-US" altLang="en-US" b="1" dirty="0">
                <a:solidFill>
                  <a:srgbClr val="00B0F0"/>
                </a:solidFill>
              </a:rPr>
              <a:t>thread scheduler </a:t>
            </a:r>
            <a:r>
              <a:rPr lang="en-US" altLang="en-US" b="1" dirty="0">
                <a:solidFill>
                  <a:srgbClr val="00B050"/>
                </a:solidFill>
              </a:rPr>
              <a:t>kicks in</a:t>
            </a:r>
            <a:r>
              <a:rPr lang="en-US" altLang="en-US" b="1" dirty="0">
                <a:solidFill>
                  <a:schemeClr val="tx1"/>
                </a:solidFill>
              </a:rPr>
              <a:t>?</a:t>
            </a:r>
            <a:endParaRPr lang="en-US" altLang="zh-CN" b="1" dirty="0">
              <a:solidFill>
                <a:schemeClr val="tx1"/>
              </a:solidFill>
            </a:endParaRPr>
          </a:p>
          <a:p>
            <a:pPr lvl="2">
              <a:defRPr/>
            </a:pPr>
            <a:endParaRPr lang="en-US" altLang="zh-CN" dirty="0">
              <a:solidFill>
                <a:schemeClr val="tx1"/>
              </a:solidFill>
            </a:endParaRPr>
          </a:p>
          <a:p>
            <a:pPr lvl="2">
              <a:defRPr/>
            </a:pPr>
            <a:r>
              <a:rPr lang="en-US" altLang="zh-CN" dirty="0">
                <a:solidFill>
                  <a:schemeClr val="tx1"/>
                </a:solidFill>
              </a:rPr>
              <a:t>Current Thread calls </a:t>
            </a:r>
            <a:r>
              <a:rPr lang="en-US" altLang="zh-CN" b="1" dirty="0">
                <a:solidFill>
                  <a:srgbClr val="FF0000"/>
                </a:solidFill>
                <a:latin typeface="Courier New" pitchFamily="49" charset="0"/>
              </a:rPr>
              <a:t>yield</a:t>
            </a:r>
            <a:r>
              <a:rPr lang="en-US" altLang="zh-CN" dirty="0">
                <a:solidFill>
                  <a:schemeClr val="tx1"/>
                </a:solidFill>
              </a:rPr>
              <a:t> method</a:t>
            </a:r>
          </a:p>
          <a:p>
            <a:pPr marL="914400" lvl="2" indent="0">
              <a:buNone/>
              <a:defRPr/>
            </a:pPr>
            <a:endParaRPr lang="en-US" altLang="zh-CN" dirty="0">
              <a:solidFill>
                <a:schemeClr val="tx1"/>
              </a:solidFill>
            </a:endParaRPr>
          </a:p>
          <a:p>
            <a:pPr lvl="2">
              <a:defRPr/>
            </a:pPr>
            <a:endParaRPr lang="en-US" altLang="zh-CN" dirty="0">
              <a:solidFill>
                <a:schemeClr val="tx1"/>
              </a:solidFill>
            </a:endParaRPr>
          </a:p>
          <a:p>
            <a:pPr lvl="2">
              <a:defRPr/>
            </a:pPr>
            <a:r>
              <a:rPr lang="en-US" altLang="zh-CN" dirty="0">
                <a:solidFill>
                  <a:schemeClr val="tx1"/>
                </a:solidFill>
              </a:rPr>
              <a:t>Current Thread is </a:t>
            </a:r>
            <a:r>
              <a:rPr lang="en-US" altLang="zh-CN" b="1" dirty="0">
                <a:solidFill>
                  <a:srgbClr val="FF0000"/>
                </a:solidFill>
              </a:rPr>
              <a:t>dead</a:t>
            </a:r>
            <a:r>
              <a:rPr lang="en-US" altLang="zh-CN" dirty="0">
                <a:solidFill>
                  <a:schemeClr val="tx1"/>
                </a:solidFill>
              </a:rPr>
              <a:t> or blocked</a:t>
            </a:r>
          </a:p>
          <a:p>
            <a:pPr lvl="2">
              <a:defRPr/>
            </a:pPr>
            <a:endParaRPr lang="en-US" altLang="zh-CN" dirty="0">
              <a:solidFill>
                <a:schemeClr val="tx1"/>
              </a:solidFill>
            </a:endParaRPr>
          </a:p>
          <a:p>
            <a:pPr lvl="2">
              <a:defRPr/>
            </a:pPr>
            <a:endParaRPr lang="en-US" altLang="zh-CN" dirty="0">
              <a:solidFill>
                <a:schemeClr val="tx1"/>
              </a:solidFill>
            </a:endParaRPr>
          </a:p>
          <a:p>
            <a:pPr lvl="2">
              <a:defRPr/>
            </a:pPr>
            <a:r>
              <a:rPr lang="en-US" altLang="zh-CN" dirty="0">
                <a:solidFill>
                  <a:schemeClr val="tx1"/>
                </a:solidFill>
              </a:rPr>
              <a:t>Another thread with </a:t>
            </a:r>
            <a:r>
              <a:rPr lang="en-US" altLang="zh-CN" b="1" dirty="0">
                <a:solidFill>
                  <a:srgbClr val="FF0000"/>
                </a:solidFill>
              </a:rPr>
              <a:t>higher priority </a:t>
            </a:r>
            <a:r>
              <a:rPr lang="en-US" altLang="zh-CN" dirty="0">
                <a:solidFill>
                  <a:schemeClr val="tx1"/>
                </a:solidFill>
              </a:rPr>
              <a:t>moves out of blocked state</a:t>
            </a:r>
          </a:p>
        </p:txBody>
      </p:sp>
    </p:spTree>
    <p:extLst>
      <p:ext uri="{BB962C8B-B14F-4D97-AF65-F5344CB8AC3E}">
        <p14:creationId xmlns:p14="http://schemas.microsoft.com/office/powerpoint/2010/main" val="195687123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F2155-4EA4-5E24-0E67-A75E6BBBA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629EB3DB-BD2D-4B0B-FB45-BD721F6ADB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44608" y="761649"/>
            <a:ext cx="4545838" cy="658503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dirty="0"/>
              <a:t>Thread Scheduling</a:t>
            </a:r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A59CC8BD-53A2-7B49-02EA-416AAE895FF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44608" y="1692583"/>
            <a:ext cx="10424702" cy="4946931"/>
          </a:xfrm>
        </p:spPr>
        <p:txBody>
          <a:bodyPr rtlCol="0">
            <a:normAutofit/>
          </a:bodyPr>
          <a:lstStyle/>
          <a:p>
            <a:pPr marL="0" indent="0">
              <a:buNone/>
              <a:defRPr/>
            </a:pPr>
            <a:endParaRPr lang="en-US" altLang="zh-CN" b="1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en-US" altLang="zh-CN" dirty="0">
                <a:solidFill>
                  <a:schemeClr val="tx1"/>
                </a:solidFill>
              </a:rPr>
              <a:t>2. The </a:t>
            </a:r>
            <a:r>
              <a:rPr lang="en-US" altLang="zh-CN" b="1" dirty="0">
                <a:solidFill>
                  <a:srgbClr val="00B0F0"/>
                </a:solidFill>
              </a:rPr>
              <a:t>thread scheduler </a:t>
            </a:r>
            <a:r>
              <a:rPr lang="en-US" altLang="zh-CN" dirty="0">
                <a:solidFill>
                  <a:schemeClr val="tx1"/>
                </a:solidFill>
              </a:rPr>
              <a:t>kicks in and picks another thread:</a:t>
            </a:r>
          </a:p>
          <a:p>
            <a:pPr marL="0" indent="0">
              <a:buNone/>
              <a:defRPr/>
            </a:pPr>
            <a:endParaRPr lang="en-US" altLang="zh-CN" dirty="0">
              <a:solidFill>
                <a:schemeClr val="tx1"/>
              </a:solidFill>
            </a:endParaRPr>
          </a:p>
          <a:p>
            <a:pPr lvl="1">
              <a:defRPr/>
            </a:pPr>
            <a:r>
              <a:rPr lang="en-US" altLang="zh-CN" dirty="0">
                <a:solidFill>
                  <a:schemeClr val="tx1"/>
                </a:solidFill>
              </a:rPr>
              <a:t>with the highest </a:t>
            </a:r>
            <a:r>
              <a:rPr lang="en-US" altLang="zh-CN" b="1" dirty="0">
                <a:solidFill>
                  <a:srgbClr val="00B050"/>
                </a:solidFill>
              </a:rPr>
              <a:t>priority</a:t>
            </a:r>
            <a:r>
              <a:rPr lang="en-US" altLang="zh-CN" dirty="0">
                <a:solidFill>
                  <a:schemeClr val="tx1"/>
                </a:solidFill>
              </a:rPr>
              <a:t> to run</a:t>
            </a:r>
          </a:p>
          <a:p>
            <a:pPr marL="457200" lvl="1" indent="0">
              <a:buNone/>
              <a:defRPr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7747804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954186" y="804666"/>
            <a:ext cx="4427018" cy="487362"/>
          </a:xfrm>
          <a:ln>
            <a:miter lim="800000"/>
            <a:headEnd/>
            <a:tailEnd/>
          </a:ln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4000" dirty="0"/>
              <a:t>Thread Scheduling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954186" y="1772830"/>
            <a:ext cx="10411078" cy="4854547"/>
          </a:xfrm>
          <a:ln>
            <a:miter lim="800000"/>
            <a:headEnd/>
            <a:tailEnd/>
          </a:ln>
        </p:spPr>
        <p:txBody>
          <a:bodyPr>
            <a:normAutofit/>
          </a:bodyPr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b="1" dirty="0">
                <a:solidFill>
                  <a:schemeClr val="tx1"/>
                </a:solidFill>
              </a:rPr>
              <a:t>Priority Levels: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solidFill>
                  <a:schemeClr val="tx1"/>
                </a:solidFill>
              </a:rPr>
              <a:t>Java have 10 priority levels (constants of </a:t>
            </a:r>
            <a:r>
              <a:rPr lang="en-US" altLang="zh-CN" sz="2400" b="1" dirty="0">
                <a:solidFill>
                  <a:schemeClr val="tx1"/>
                </a:solidFill>
                <a:latin typeface="Courier New" panose="02070309020205020404" pitchFamily="49" charset="0"/>
              </a:rPr>
              <a:t>Thread</a:t>
            </a:r>
            <a:r>
              <a:rPr lang="en-US" altLang="zh-CN" sz="2400" dirty="0">
                <a:solidFill>
                  <a:schemeClr val="tx1"/>
                </a:solidFill>
              </a:rPr>
              <a:t> class)</a:t>
            </a:r>
          </a:p>
          <a:p>
            <a:pPr lvl="2" eaLnBrk="1" hangingPunct="1">
              <a:lnSpc>
                <a:spcPct val="90000"/>
              </a:lnSpc>
              <a:buClr>
                <a:schemeClr val="tx2"/>
              </a:buClr>
              <a:buSzPct val="75000"/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</a:rPr>
              <a:t>MIN-PRIORITY     = 1; </a:t>
            </a:r>
          </a:p>
          <a:p>
            <a:pPr lvl="2" eaLnBrk="1" hangingPunct="1">
              <a:lnSpc>
                <a:spcPct val="90000"/>
              </a:lnSpc>
              <a:buClr>
                <a:schemeClr val="tx2"/>
              </a:buClr>
              <a:buSzPct val="75000"/>
              <a:buFontTx/>
              <a:buNone/>
            </a:pPr>
            <a:r>
              <a:rPr lang="en-US" altLang="zh-CN" b="1" dirty="0">
                <a:solidFill>
                  <a:srgbClr val="00B0F0"/>
                </a:solidFill>
                <a:latin typeface="Courier New" panose="02070309020205020404" pitchFamily="49" charset="0"/>
              </a:rPr>
              <a:t>NORMAL_PRIORITY  = 5;</a:t>
            </a:r>
          </a:p>
          <a:p>
            <a:pPr lvl="2" eaLnBrk="1" hangingPunct="1">
              <a:lnSpc>
                <a:spcPct val="90000"/>
              </a:lnSpc>
              <a:buClr>
                <a:schemeClr val="tx2"/>
              </a:buClr>
              <a:buSzPct val="75000"/>
              <a:buFontTx/>
              <a:buNone/>
            </a:pPr>
            <a:r>
              <a:rPr lang="en-US" altLang="zh-CN" b="1" dirty="0">
                <a:solidFill>
                  <a:srgbClr val="00B050"/>
                </a:solidFill>
                <a:latin typeface="Courier New" panose="02070309020205020404" pitchFamily="49" charset="0"/>
              </a:rPr>
              <a:t>MAX_PRIORITY     = 10</a:t>
            </a:r>
          </a:p>
          <a:p>
            <a:pPr marL="457200" lvl="1" indent="0" eaLnBrk="1" hangingPunct="1">
              <a:lnSpc>
                <a:spcPct val="90000"/>
              </a:lnSpc>
              <a:buNone/>
            </a:pPr>
            <a:endParaRPr lang="en-US" altLang="zh-CN" sz="24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solidFill>
                  <a:schemeClr val="tx1"/>
                </a:solidFill>
              </a:rPr>
              <a:t>JVM maps Java priority levels to priority level </a:t>
            </a:r>
            <a:r>
              <a:rPr lang="en-US" altLang="zh-CN" sz="2400" b="1" dirty="0">
                <a:solidFill>
                  <a:schemeClr val="tx1"/>
                </a:solidFill>
              </a:rPr>
              <a:t>of the underlying OS</a:t>
            </a:r>
            <a:r>
              <a:rPr lang="en-US" altLang="zh-CN" sz="2400" dirty="0">
                <a:solidFill>
                  <a:schemeClr val="tx1"/>
                </a:solidFill>
              </a:rPr>
              <a:t>.</a:t>
            </a:r>
          </a:p>
          <a:p>
            <a:pPr lvl="1" eaLnBrk="1" hangingPunct="1">
              <a:lnSpc>
                <a:spcPct val="90000"/>
              </a:lnSpc>
            </a:pPr>
            <a:endParaRPr lang="en-US" altLang="zh-CN" sz="2400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solidFill>
                  <a:schemeClr val="tx1"/>
                </a:solidFill>
              </a:rPr>
              <a:t>A thread </a:t>
            </a:r>
            <a:r>
              <a:rPr lang="en-US" altLang="zh-CN" sz="2400" b="1" dirty="0">
                <a:solidFill>
                  <a:srgbClr val="00B050"/>
                </a:solidFill>
              </a:rPr>
              <a:t>inherits priority from its parent </a:t>
            </a:r>
            <a:r>
              <a:rPr lang="en-US" altLang="zh-CN" sz="2400" dirty="0">
                <a:solidFill>
                  <a:schemeClr val="tx1"/>
                </a:solidFill>
              </a:rPr>
              <a:t>thread.</a:t>
            </a:r>
          </a:p>
          <a:p>
            <a:pPr lvl="1" eaLnBrk="1" hangingPunct="1">
              <a:lnSpc>
                <a:spcPct val="90000"/>
              </a:lnSpc>
            </a:pPr>
            <a:endParaRPr lang="en-US" altLang="zh-CN" sz="2400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solidFill>
                  <a:schemeClr val="tx1"/>
                </a:solidFill>
              </a:rPr>
              <a:t>Can be increased or decreased using</a:t>
            </a:r>
            <a:r>
              <a:rPr lang="en-US" altLang="zh-CN" sz="2400" dirty="0"/>
              <a:t> </a:t>
            </a:r>
            <a:r>
              <a:rPr lang="en-US" altLang="zh-CN" sz="24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setPriority</a:t>
            </a:r>
            <a:r>
              <a:rPr lang="en-US" altLang="zh-CN" sz="2400" b="1" dirty="0">
                <a:solidFill>
                  <a:schemeClr val="tx1"/>
                </a:solidFill>
                <a:latin typeface="Courier New" panose="02070309020205020404" pitchFamily="49" charset="0"/>
              </a:rPr>
              <a:t>(…)</a:t>
            </a:r>
            <a:r>
              <a:rPr lang="en-US" altLang="zh-CN" sz="2400" dirty="0">
                <a:latin typeface="Courier New" panose="02070309020205020404" pitchFamily="49" charset="0"/>
              </a:rPr>
              <a:t> 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2552947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1027"/>
          <p:cNvSpPr>
            <a:spLocks noChangeArrowheads="1"/>
          </p:cNvSpPr>
          <p:nvPr/>
        </p:nvSpPr>
        <p:spPr bwMode="auto">
          <a:xfrm>
            <a:off x="935978" y="1536137"/>
            <a:ext cx="10421193" cy="51033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>
              <a:lnSpc>
                <a:spcPct val="90000"/>
              </a:lnSpc>
              <a:buClr>
                <a:schemeClr val="tx2"/>
              </a:buClr>
              <a:buSzPct val="75000"/>
              <a:buNone/>
            </a:pPr>
            <a:endParaRPr lang="en-US" altLang="zh-CN" sz="2400" b="1" dirty="0">
              <a:latin typeface="Arial" panose="020B0604020202020204" pitchFamily="34" charset="0"/>
            </a:endParaRPr>
          </a:p>
          <a:p>
            <a:pPr marL="0" indent="0">
              <a:lnSpc>
                <a:spcPct val="90000"/>
              </a:lnSpc>
              <a:buClr>
                <a:schemeClr val="tx2"/>
              </a:buClr>
              <a:buSzPct val="75000"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Example:</a:t>
            </a:r>
            <a:endParaRPr lang="en-US" altLang="zh-CN" sz="2400" b="1" dirty="0">
              <a:solidFill>
                <a:schemeClr val="tx2"/>
              </a:solidFill>
              <a:latin typeface="Courier New" panose="02070309020205020404" pitchFamily="49" charset="0"/>
            </a:endParaRPr>
          </a:p>
          <a:p>
            <a:pPr lvl="1">
              <a:lnSpc>
                <a:spcPct val="90000"/>
              </a:lnSpc>
              <a:buClr>
                <a:schemeClr val="tx2"/>
              </a:buClr>
              <a:buSzPct val="75000"/>
              <a:buFont typeface="Monotype Sorts" pitchFamily="2" charset="2"/>
              <a:buChar char="l"/>
            </a:pPr>
            <a:endParaRPr lang="en-US" altLang="zh-CN" sz="2000" dirty="0"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  <a:buClr>
                <a:schemeClr val="tx2"/>
              </a:buClr>
              <a:buSzPct val="75000"/>
            </a:pPr>
            <a:r>
              <a:rPr lang="en-US" altLang="zh-CN" sz="2400" dirty="0">
                <a:latin typeface="Arial" panose="020B0604020202020204" pitchFamily="34" charset="0"/>
              </a:rPr>
              <a:t>Two kinds of balls: </a:t>
            </a:r>
            <a:r>
              <a:rPr lang="en-US" altLang="zh-CN" sz="2400" b="1" dirty="0">
                <a:solidFill>
                  <a:srgbClr val="00B0F0"/>
                </a:solidFill>
                <a:latin typeface="Arial" panose="020B0604020202020204" pitchFamily="34" charset="0"/>
              </a:rPr>
              <a:t>blue</a:t>
            </a:r>
            <a:r>
              <a:rPr lang="en-US" altLang="zh-CN" sz="2400" dirty="0">
                <a:latin typeface="Arial" panose="020B0604020202020204" pitchFamily="34" charset="0"/>
              </a:rPr>
              <a:t> and 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</a:rPr>
              <a:t>red</a:t>
            </a:r>
            <a:r>
              <a:rPr lang="en-US" altLang="zh-CN" sz="2400" dirty="0">
                <a:latin typeface="Arial" panose="020B0604020202020204" pitchFamily="34" charset="0"/>
              </a:rPr>
              <a:t>.</a:t>
            </a:r>
          </a:p>
          <a:p>
            <a:pPr>
              <a:lnSpc>
                <a:spcPct val="90000"/>
              </a:lnSpc>
              <a:buClr>
                <a:schemeClr val="tx2"/>
              </a:buClr>
              <a:buSzPct val="75000"/>
            </a:pPr>
            <a:endParaRPr lang="en-US" altLang="zh-CN" sz="2400" b="1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  <a:buClr>
                <a:schemeClr val="tx2"/>
              </a:buClr>
              <a:buSzPct val="75000"/>
            </a:pP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</a:rPr>
              <a:t>Red</a:t>
            </a:r>
            <a:r>
              <a:rPr lang="en-US" altLang="zh-CN" sz="2400" dirty="0">
                <a:latin typeface="Arial" panose="020B0604020202020204" pitchFamily="34" charset="0"/>
              </a:rPr>
              <a:t> ball threads have </a:t>
            </a:r>
            <a:r>
              <a:rPr lang="en-US" altLang="zh-CN" sz="2400" b="1" dirty="0">
                <a:solidFill>
                  <a:srgbClr val="00B050"/>
                </a:solidFill>
                <a:latin typeface="Arial" panose="020B0604020202020204" pitchFamily="34" charset="0"/>
              </a:rPr>
              <a:t>higher</a:t>
            </a:r>
            <a:r>
              <a:rPr lang="en-US" altLang="zh-CN" sz="2400" dirty="0">
                <a:latin typeface="Arial" panose="020B0604020202020204" pitchFamily="34" charset="0"/>
              </a:rPr>
              <a:t> priority and hence get more chance to run. </a:t>
            </a:r>
          </a:p>
          <a:p>
            <a:pPr>
              <a:lnSpc>
                <a:spcPct val="90000"/>
              </a:lnSpc>
              <a:buClr>
                <a:schemeClr val="tx2"/>
              </a:buClr>
              <a:buSzPct val="75000"/>
            </a:pPr>
            <a:endParaRPr lang="en-US" altLang="zh-CN" sz="2400" dirty="0"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  <a:buClr>
                <a:schemeClr val="tx2"/>
              </a:buClr>
              <a:buSzPct val="75000"/>
            </a:pPr>
            <a:r>
              <a:rPr lang="en-US" altLang="zh-CN" sz="2400" dirty="0">
                <a:latin typeface="Arial" panose="020B0604020202020204" pitchFamily="34" charset="0"/>
              </a:rPr>
              <a:t>The effect is that 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</a:rPr>
              <a:t>red</a:t>
            </a:r>
            <a:r>
              <a:rPr lang="en-US" altLang="zh-CN" sz="2400" dirty="0">
                <a:latin typeface="Arial" panose="020B0604020202020204" pitchFamily="34" charset="0"/>
              </a:rPr>
              <a:t> balls appear to be faster.</a:t>
            </a:r>
          </a:p>
        </p:txBody>
      </p:sp>
      <p:sp>
        <p:nvSpPr>
          <p:cNvPr id="27652" name="Rectangle 1029"/>
          <p:cNvSpPr>
            <a:spLocks noChangeArrowheads="1"/>
          </p:cNvSpPr>
          <p:nvPr/>
        </p:nvSpPr>
        <p:spPr bwMode="auto">
          <a:xfrm>
            <a:off x="935979" y="774812"/>
            <a:ext cx="4497823" cy="653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4400" dirty="0">
                <a:latin typeface="Times New Roman" panose="02020603050405020304" pitchFamily="18" charset="0"/>
              </a:rPr>
              <a:t>Thread Scheduling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D8FED22-1AEB-4D39-473C-D8524CA7B468}"/>
              </a:ext>
            </a:extLst>
          </p:cNvPr>
          <p:cNvSpPr txBox="1">
            <a:spLocks/>
          </p:cNvSpPr>
          <p:nvPr/>
        </p:nvSpPr>
        <p:spPr>
          <a:xfrm>
            <a:off x="936515" y="14205"/>
            <a:ext cx="10240821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dirty="0">
                <a:solidFill>
                  <a:srgbClr val="FF0000"/>
                </a:solidFill>
                <a:latin typeface="+mn-lt"/>
              </a:rPr>
              <a:t>CSEN160_07_Threads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._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SingleThreaded.BouncingBalls_DifferentPriorities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7891147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A6353-2475-1B60-F6A6-C3F39B158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988FFAC4-3761-17CA-84FC-91405A74E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047285"/>
            <a:ext cx="10515600" cy="1816662"/>
          </a:xfrm>
        </p:spPr>
        <p:txBody>
          <a:bodyPr/>
          <a:lstStyle/>
          <a:p>
            <a:r>
              <a:rPr lang="en-US" altLang="en-US" dirty="0"/>
              <a:t>Sleep vs yield</a:t>
            </a:r>
          </a:p>
        </p:txBody>
      </p:sp>
    </p:spTree>
    <p:extLst>
      <p:ext uri="{BB962C8B-B14F-4D97-AF65-F5344CB8AC3E}">
        <p14:creationId xmlns:p14="http://schemas.microsoft.com/office/powerpoint/2010/main" val="253458047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1026"/>
          <p:cNvSpPr>
            <a:spLocks noChangeArrowheads="1"/>
          </p:cNvSpPr>
          <p:nvPr/>
        </p:nvSpPr>
        <p:spPr bwMode="auto">
          <a:xfrm>
            <a:off x="907656" y="1669655"/>
            <a:ext cx="10449515" cy="495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>
              <a:lnSpc>
                <a:spcPct val="90000"/>
              </a:lnSpc>
              <a:buClr>
                <a:schemeClr val="tx2"/>
              </a:buClr>
              <a:buSzPct val="75000"/>
              <a:buNone/>
            </a:pPr>
            <a:endParaRPr lang="en-US" altLang="zh-CN" sz="2000" dirty="0">
              <a:latin typeface="Arial" panose="020B0604020202020204" pitchFamily="34" charset="0"/>
            </a:endParaRPr>
          </a:p>
          <a:p>
            <a:pPr marL="0" indent="0">
              <a:lnSpc>
                <a:spcPct val="90000"/>
              </a:lnSpc>
              <a:buClr>
                <a:schemeClr val="tx2"/>
              </a:buClr>
              <a:buSzPct val="75000"/>
              <a:buNone/>
            </a:pPr>
            <a:endParaRPr lang="en-US" altLang="zh-CN" sz="2000" dirty="0">
              <a:latin typeface="Arial" panose="020B0604020202020204" pitchFamily="34" charset="0"/>
            </a:endParaRPr>
          </a:p>
          <a:p>
            <a:pPr marL="0" indent="0">
              <a:lnSpc>
                <a:spcPct val="90000"/>
              </a:lnSpc>
              <a:buClr>
                <a:schemeClr val="tx2"/>
              </a:buClr>
              <a:buSzPct val="75000"/>
              <a:buNone/>
            </a:pPr>
            <a:endParaRPr lang="en-US" altLang="zh-CN" sz="2000" dirty="0">
              <a:latin typeface="Arial" panose="020B0604020202020204" pitchFamily="34" charset="0"/>
            </a:endParaRPr>
          </a:p>
          <a:p>
            <a:pPr marL="0" indent="0">
              <a:lnSpc>
                <a:spcPct val="90000"/>
              </a:lnSpc>
              <a:buClr>
                <a:schemeClr val="tx2"/>
              </a:buClr>
              <a:buSzPct val="75000"/>
              <a:buNone/>
            </a:pPr>
            <a:endParaRPr lang="en-US" altLang="zh-CN" sz="2000" dirty="0">
              <a:latin typeface="Arial" panose="020B0604020202020204" pitchFamily="34" charset="0"/>
            </a:endParaRPr>
          </a:p>
          <a:p>
            <a:pPr marL="0" indent="0">
              <a:lnSpc>
                <a:spcPct val="90000"/>
              </a:lnSpc>
              <a:buClr>
                <a:schemeClr val="tx2"/>
              </a:buClr>
              <a:buSzPct val="75000"/>
              <a:buNone/>
            </a:pPr>
            <a:endParaRPr lang="en-US" altLang="zh-CN" sz="2000" dirty="0">
              <a:latin typeface="Arial" panose="020B0604020202020204" pitchFamily="34" charset="0"/>
            </a:endParaRPr>
          </a:p>
          <a:p>
            <a:pPr marL="0" indent="0">
              <a:lnSpc>
                <a:spcPct val="90000"/>
              </a:lnSpc>
              <a:buClr>
                <a:schemeClr val="tx2"/>
              </a:buClr>
              <a:buSzPct val="75000"/>
              <a:buNone/>
            </a:pPr>
            <a:endParaRPr lang="en-US" altLang="zh-CN" sz="2000" dirty="0">
              <a:latin typeface="Arial" panose="020B0604020202020204" pitchFamily="34" charset="0"/>
            </a:endParaRPr>
          </a:p>
          <a:p>
            <a:pPr marL="0" indent="0">
              <a:lnSpc>
                <a:spcPct val="90000"/>
              </a:lnSpc>
              <a:buClr>
                <a:schemeClr val="tx2"/>
              </a:buClr>
              <a:buSzPct val="75000"/>
              <a:buNone/>
            </a:pPr>
            <a:endParaRPr lang="en-US" altLang="zh-CN" sz="1800" b="1" dirty="0">
              <a:latin typeface="Courier New" panose="02070309020205020404" pitchFamily="49" charset="0"/>
            </a:endParaRPr>
          </a:p>
          <a:p>
            <a:pPr marL="0" indent="0">
              <a:lnSpc>
                <a:spcPct val="90000"/>
              </a:lnSpc>
              <a:buClr>
                <a:schemeClr val="tx2"/>
              </a:buClr>
              <a:buSzPct val="75000"/>
              <a:buNone/>
            </a:pPr>
            <a:r>
              <a:rPr lang="en-US" altLang="zh-CN" sz="1800" b="1" dirty="0">
                <a:latin typeface="Courier New" panose="02070309020205020404" pitchFamily="49" charset="0"/>
              </a:rPr>
              <a:t>sleep</a:t>
            </a:r>
            <a:r>
              <a:rPr lang="en-US" altLang="zh-CN" sz="1800" dirty="0">
                <a:latin typeface="Arial" panose="020B0604020202020204" pitchFamily="34" charset="0"/>
              </a:rPr>
              <a:t> is replaced with </a:t>
            </a:r>
            <a:r>
              <a:rPr lang="en-US" altLang="zh-CN" sz="1800" b="1" dirty="0">
                <a:latin typeface="Courier New" panose="02070309020205020404" pitchFamily="49" charset="0"/>
              </a:rPr>
              <a:t>yield</a:t>
            </a:r>
            <a:r>
              <a:rPr lang="en-US" altLang="zh-CN" sz="1800" dirty="0">
                <a:latin typeface="Arial" panose="020B0604020202020204" pitchFamily="34" charset="0"/>
              </a:rPr>
              <a:t>: </a:t>
            </a:r>
            <a:r>
              <a:rPr lang="en-US" altLang="zh-CN" sz="1800" b="1" dirty="0">
                <a:solidFill>
                  <a:srgbClr val="00B0F0"/>
                </a:solidFill>
                <a:latin typeface="Arial" panose="020B0604020202020204" pitchFamily="34" charset="0"/>
              </a:rPr>
              <a:t>blue</a:t>
            </a:r>
            <a:r>
              <a:rPr lang="en-US" altLang="zh-CN" sz="1800" dirty="0">
                <a:latin typeface="Arial" panose="020B0604020202020204" pitchFamily="34" charset="0"/>
              </a:rPr>
              <a:t> balls have no chance of moving before the </a:t>
            </a:r>
            <a:r>
              <a:rPr lang="en-US" altLang="zh-CN" sz="1800" b="1" dirty="0">
                <a:solidFill>
                  <a:srgbClr val="FF0000"/>
                </a:solidFill>
                <a:latin typeface="Arial" panose="020B0604020202020204" pitchFamily="34" charset="0"/>
              </a:rPr>
              <a:t>red</a:t>
            </a:r>
            <a:r>
              <a:rPr lang="en-US" altLang="zh-CN" sz="1800" dirty="0">
                <a:latin typeface="Arial" panose="020B0604020202020204" pitchFamily="34" charset="0"/>
              </a:rPr>
              <a:t> balls stop. </a:t>
            </a:r>
          </a:p>
          <a:p>
            <a:pPr marL="0" indent="0">
              <a:lnSpc>
                <a:spcPct val="90000"/>
              </a:lnSpc>
              <a:buClr>
                <a:schemeClr val="tx2"/>
              </a:buClr>
              <a:buSzPct val="75000"/>
              <a:buNone/>
            </a:pPr>
            <a:endParaRPr lang="en-US" altLang="zh-CN" sz="1800" dirty="0">
              <a:latin typeface="Arial" panose="020B0604020202020204" pitchFamily="34" charset="0"/>
            </a:endParaRPr>
          </a:p>
          <a:p>
            <a:pPr marL="0" indent="0">
              <a:lnSpc>
                <a:spcPct val="90000"/>
              </a:lnSpc>
              <a:buClr>
                <a:schemeClr val="tx2"/>
              </a:buClr>
              <a:buSzPct val="75000"/>
              <a:buNone/>
            </a:pPr>
            <a:r>
              <a:rPr lang="en-US" altLang="zh-CN" sz="1800" dirty="0">
                <a:latin typeface="Arial" panose="020B0604020202020204" pitchFamily="34" charset="0"/>
              </a:rPr>
              <a:t>Main difference:</a:t>
            </a:r>
          </a:p>
          <a:p>
            <a:pPr>
              <a:lnSpc>
                <a:spcPct val="90000"/>
              </a:lnSpc>
              <a:buClr>
                <a:schemeClr val="tx2"/>
              </a:buClr>
              <a:buSzPct val="75000"/>
            </a:pPr>
            <a:r>
              <a:rPr lang="en-US" altLang="zh-CN" sz="1800" dirty="0">
                <a:latin typeface="Arial" panose="020B0604020202020204" pitchFamily="34" charset="0"/>
              </a:rPr>
              <a:t>sleep(): thread pauses for a specified time.</a:t>
            </a:r>
          </a:p>
          <a:p>
            <a:pPr>
              <a:lnSpc>
                <a:spcPct val="90000"/>
              </a:lnSpc>
              <a:buClr>
                <a:schemeClr val="tx2"/>
              </a:buClr>
              <a:buSzPct val="75000"/>
            </a:pPr>
            <a:r>
              <a:rPr lang="en-US" altLang="zh-CN" sz="1800" dirty="0">
                <a:latin typeface="Arial" panose="020B0604020202020204" pitchFamily="34" charset="0"/>
              </a:rPr>
              <a:t>yield(): thread suggests that the scheduler give other runnable threads a chance to execute.</a:t>
            </a:r>
          </a:p>
          <a:p>
            <a:pPr marL="0" indent="0">
              <a:lnSpc>
                <a:spcPct val="90000"/>
              </a:lnSpc>
              <a:buClr>
                <a:schemeClr val="tx2"/>
              </a:buClr>
              <a:buSzPct val="75000"/>
              <a:buNone/>
            </a:pPr>
            <a:endParaRPr lang="en-US" altLang="zh-CN" sz="1800" dirty="0">
              <a:latin typeface="Arial" panose="020B0604020202020204" pitchFamily="34" charset="0"/>
            </a:endParaRPr>
          </a:p>
        </p:txBody>
      </p:sp>
      <p:sp>
        <p:nvSpPr>
          <p:cNvPr id="21508" name="Rectangle 1027"/>
          <p:cNvSpPr>
            <a:spLocks noChangeArrowheads="1"/>
          </p:cNvSpPr>
          <p:nvPr/>
        </p:nvSpPr>
        <p:spPr bwMode="auto">
          <a:xfrm>
            <a:off x="907657" y="718168"/>
            <a:ext cx="3927335" cy="6574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defRPr/>
            </a:pPr>
            <a:r>
              <a:rPr lang="en-US" altLang="zh-CN" sz="4000" b="1" dirty="0">
                <a:solidFill>
                  <a:srgbClr val="800000"/>
                </a:solidFill>
                <a:latin typeface="+mn-lt"/>
              </a:rPr>
              <a:t>sleep </a:t>
            </a:r>
            <a:r>
              <a:rPr lang="en-US" altLang="zh-CN" sz="4000" b="1" dirty="0">
                <a:latin typeface="+mn-lt"/>
              </a:rPr>
              <a:t>vs</a:t>
            </a:r>
            <a:r>
              <a:rPr lang="en-US" altLang="zh-CN" sz="4000" b="1" dirty="0">
                <a:solidFill>
                  <a:srgbClr val="800000"/>
                </a:solidFill>
                <a:latin typeface="+mn-lt"/>
              </a:rPr>
              <a:t>. yield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5921" y="1785040"/>
            <a:ext cx="4158452" cy="180707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845779" y="2217219"/>
            <a:ext cx="1286634" cy="18611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225389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1026"/>
          <p:cNvSpPr>
            <a:spLocks noChangeArrowheads="1"/>
          </p:cNvSpPr>
          <p:nvPr/>
        </p:nvSpPr>
        <p:spPr bwMode="auto">
          <a:xfrm>
            <a:off x="907656" y="1669655"/>
            <a:ext cx="10449515" cy="495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>
              <a:lnSpc>
                <a:spcPct val="90000"/>
              </a:lnSpc>
              <a:buClr>
                <a:schemeClr val="tx2"/>
              </a:buClr>
              <a:buSzPct val="75000"/>
              <a:buNone/>
            </a:pPr>
            <a:endParaRPr lang="en-US" altLang="zh-CN" sz="1800" b="1" dirty="0">
              <a:latin typeface="Arial" panose="020B0604020202020204" pitchFamily="34" charset="0"/>
            </a:endParaRPr>
          </a:p>
          <a:p>
            <a:pPr marL="0" indent="0">
              <a:lnSpc>
                <a:spcPct val="90000"/>
              </a:lnSpc>
              <a:buClr>
                <a:schemeClr val="tx2"/>
              </a:buClr>
              <a:buSzPct val="75000"/>
              <a:buNone/>
            </a:pPr>
            <a:r>
              <a:rPr lang="en-US" altLang="zh-CN" sz="1800" b="1" dirty="0">
                <a:solidFill>
                  <a:srgbClr val="FF0000"/>
                </a:solidFill>
                <a:latin typeface="Arial" panose="020B0604020202020204" pitchFamily="34" charset="0"/>
              </a:rPr>
              <a:t>Why?</a:t>
            </a:r>
          </a:p>
          <a:p>
            <a:pPr>
              <a:lnSpc>
                <a:spcPct val="90000"/>
              </a:lnSpc>
              <a:buClr>
                <a:schemeClr val="tx2"/>
              </a:buClr>
              <a:buSzPct val="75000"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  <a:buClr>
                <a:schemeClr val="tx2"/>
              </a:buClr>
              <a:buSzPct val="75000"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  <a:buClr>
                <a:schemeClr val="tx2"/>
              </a:buClr>
              <a:buSzPct val="75000"/>
            </a:pPr>
            <a:r>
              <a:rPr lang="en-US" altLang="en-US" sz="2000" dirty="0">
                <a:latin typeface="Arial" panose="020B0604020202020204" pitchFamily="34" charset="0"/>
              </a:rPr>
              <a:t>There are more than one thread with priority 8. </a:t>
            </a:r>
          </a:p>
          <a:p>
            <a:pPr>
              <a:lnSpc>
                <a:spcPct val="90000"/>
              </a:lnSpc>
              <a:buClr>
                <a:schemeClr val="tx2"/>
              </a:buClr>
              <a:buSzPct val="75000"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  <a:buClr>
                <a:schemeClr val="tx2"/>
              </a:buClr>
              <a:buSzPct val="75000"/>
            </a:pPr>
            <a:r>
              <a:rPr lang="en-US" altLang="en-US" sz="2000" dirty="0">
                <a:latin typeface="Arial" panose="020B0604020202020204" pitchFamily="34" charset="0"/>
              </a:rPr>
              <a:t>When one </a:t>
            </a:r>
            <a:r>
              <a:rPr lang="en-US" altLang="en-US" sz="2000" b="1" dirty="0">
                <a:solidFill>
                  <a:srgbClr val="FF0000"/>
                </a:solidFill>
                <a:latin typeface="Arial" panose="020B0604020202020204" pitchFamily="34" charset="0"/>
              </a:rPr>
              <a:t>yield</a:t>
            </a:r>
            <a:r>
              <a:rPr lang="en-US" altLang="en-US" sz="2000" dirty="0">
                <a:latin typeface="Arial" panose="020B0604020202020204" pitchFamily="34" charset="0"/>
              </a:rPr>
              <a:t>, thread scheduler picks another. </a:t>
            </a:r>
          </a:p>
          <a:p>
            <a:pPr>
              <a:lnSpc>
                <a:spcPct val="90000"/>
              </a:lnSpc>
              <a:buClr>
                <a:schemeClr val="tx2"/>
              </a:buClr>
              <a:buSzPct val="75000"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  <a:buClr>
                <a:schemeClr val="tx2"/>
              </a:buClr>
              <a:buSzPct val="75000"/>
            </a:pPr>
            <a:r>
              <a:rPr lang="en-US" altLang="en-US" sz="2000" dirty="0">
                <a:latin typeface="Arial" panose="020B0604020202020204" pitchFamily="34" charset="0"/>
              </a:rPr>
              <a:t>Threads with priority level 2 </a:t>
            </a:r>
            <a:r>
              <a:rPr lang="en-US" altLang="en-US" sz="2000" b="1" dirty="0">
                <a:solidFill>
                  <a:srgbClr val="FF0000"/>
                </a:solidFill>
                <a:latin typeface="Arial" panose="020B0604020202020204" pitchFamily="34" charset="0"/>
              </a:rPr>
              <a:t>never</a:t>
            </a:r>
            <a:r>
              <a:rPr lang="en-US" altLang="en-US" sz="2000" dirty="0">
                <a:latin typeface="Arial" panose="020B0604020202020204" pitchFamily="34" charset="0"/>
              </a:rPr>
              <a:t> get a chance to run.</a:t>
            </a:r>
          </a:p>
          <a:p>
            <a:pPr>
              <a:lnSpc>
                <a:spcPct val="90000"/>
              </a:lnSpc>
              <a:buClr>
                <a:schemeClr val="tx2"/>
              </a:buClr>
              <a:buSzPct val="75000"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  <a:buClr>
                <a:schemeClr val="tx2"/>
              </a:buClr>
              <a:buSzPct val="75000"/>
            </a:pPr>
            <a:r>
              <a:rPr lang="en-US" altLang="en-US" sz="2000" b="1" dirty="0">
                <a:solidFill>
                  <a:srgbClr val="FF0000"/>
                </a:solidFill>
                <a:latin typeface="Arial" panose="020B0604020202020204" pitchFamily="34" charset="0"/>
              </a:rPr>
              <a:t>No</a:t>
            </a:r>
            <a:r>
              <a:rPr lang="en-US" altLang="en-US" sz="2000" dirty="0">
                <a:latin typeface="Arial" panose="020B0604020202020204" pitchFamily="34" charset="0"/>
              </a:rPr>
              <a:t> guarantee to be picked</a:t>
            </a:r>
          </a:p>
          <a:p>
            <a:pPr marL="0" indent="0">
              <a:lnSpc>
                <a:spcPct val="90000"/>
              </a:lnSpc>
              <a:buClr>
                <a:schemeClr val="tx2"/>
              </a:buClr>
              <a:buSzPct val="75000"/>
              <a:buNone/>
            </a:pPr>
            <a:endParaRPr lang="en-US" altLang="zh-CN" sz="2000" dirty="0">
              <a:latin typeface="Arial" panose="020B0604020202020204" pitchFamily="34" charset="0"/>
            </a:endParaRPr>
          </a:p>
        </p:txBody>
      </p:sp>
      <p:sp>
        <p:nvSpPr>
          <p:cNvPr id="21508" name="Rectangle 1027"/>
          <p:cNvSpPr>
            <a:spLocks noChangeArrowheads="1"/>
          </p:cNvSpPr>
          <p:nvPr/>
        </p:nvSpPr>
        <p:spPr bwMode="auto">
          <a:xfrm>
            <a:off x="907657" y="718168"/>
            <a:ext cx="3927335" cy="6574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defRPr/>
            </a:pPr>
            <a:r>
              <a:rPr lang="en-US" altLang="zh-CN" sz="4000" b="1" dirty="0">
                <a:solidFill>
                  <a:srgbClr val="800000"/>
                </a:solidFill>
                <a:latin typeface="+mn-lt"/>
              </a:rPr>
              <a:t>sleep </a:t>
            </a:r>
            <a:r>
              <a:rPr lang="en-US" altLang="zh-CN" sz="4000" b="1" dirty="0">
                <a:latin typeface="+mn-lt"/>
              </a:rPr>
              <a:t>vs</a:t>
            </a:r>
            <a:r>
              <a:rPr lang="en-US" altLang="zh-CN" sz="4000" b="1" dirty="0">
                <a:solidFill>
                  <a:srgbClr val="800000"/>
                </a:solidFill>
                <a:latin typeface="+mn-lt"/>
              </a:rPr>
              <a:t>. yield</a:t>
            </a:r>
          </a:p>
        </p:txBody>
      </p:sp>
    </p:spTree>
    <p:extLst>
      <p:ext uri="{BB962C8B-B14F-4D97-AF65-F5344CB8AC3E}">
        <p14:creationId xmlns:p14="http://schemas.microsoft.com/office/powerpoint/2010/main" val="348324657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ChangeArrowheads="1"/>
          </p:cNvSpPr>
          <p:nvPr/>
        </p:nvSpPr>
        <p:spPr bwMode="auto">
          <a:xfrm>
            <a:off x="911703" y="734352"/>
            <a:ext cx="4279338" cy="673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4000" dirty="0">
                <a:latin typeface="Times New Roman" panose="02020603050405020304" pitchFamily="18" charset="0"/>
              </a:rPr>
              <a:t>Thread Scheduling</a:t>
            </a:r>
          </a:p>
        </p:txBody>
      </p:sp>
      <p:sp>
        <p:nvSpPr>
          <p:cNvPr id="29700" name="Rectangle 3"/>
          <p:cNvSpPr>
            <a:spLocks noChangeArrowheads="1"/>
          </p:cNvSpPr>
          <p:nvPr/>
        </p:nvSpPr>
        <p:spPr bwMode="auto">
          <a:xfrm>
            <a:off x="911703" y="1536137"/>
            <a:ext cx="10400962" cy="51033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>
              <a:lnSpc>
                <a:spcPct val="90000"/>
              </a:lnSpc>
              <a:buClr>
                <a:schemeClr val="tx2"/>
              </a:buClr>
              <a:buSzPct val="75000"/>
              <a:buNone/>
            </a:pPr>
            <a:r>
              <a:rPr lang="en-US" altLang="zh-CN" sz="2400" dirty="0">
                <a:latin typeface="Arial" panose="020B0604020202020204" pitchFamily="34" charset="0"/>
              </a:rPr>
              <a:t>Cooperating vs. Selfish threads:</a:t>
            </a:r>
          </a:p>
          <a:p>
            <a:pPr>
              <a:lnSpc>
                <a:spcPct val="90000"/>
              </a:lnSpc>
              <a:buClr>
                <a:schemeClr val="tx2"/>
              </a:buClr>
              <a:buSzPct val="75000"/>
              <a:buFont typeface="Monotype Sorts" pitchFamily="2" charset="2"/>
              <a:buChar char="l"/>
            </a:pPr>
            <a:endParaRPr lang="en-US" altLang="zh-CN" sz="2400" dirty="0">
              <a:latin typeface="Arial" panose="020B0604020202020204" pitchFamily="34" charset="0"/>
            </a:endParaRPr>
          </a:p>
          <a:p>
            <a:pPr lvl="1">
              <a:lnSpc>
                <a:spcPct val="90000"/>
              </a:lnSpc>
              <a:buClr>
                <a:schemeClr val="tx2"/>
              </a:buClr>
              <a:buSzPct val="75000"/>
            </a:pPr>
            <a:r>
              <a:rPr lang="en-US" altLang="zh-CN" sz="2400" dirty="0">
                <a:latin typeface="Arial" panose="020B0604020202020204" pitchFamily="34" charset="0"/>
              </a:rPr>
              <a:t>A cooperating thread gives others a chance to run</a:t>
            </a:r>
          </a:p>
          <a:p>
            <a:pPr lvl="2">
              <a:lnSpc>
                <a:spcPct val="90000"/>
              </a:lnSpc>
              <a:buClr>
                <a:schemeClr val="tx2"/>
              </a:buClr>
              <a:buSzPct val="75000"/>
              <a:buFont typeface="Monotype Sorts" pitchFamily="2" charset="2"/>
              <a:buChar char="l"/>
            </a:pPr>
            <a:endParaRPr lang="en-US" altLang="zh-CN" sz="2000" dirty="0">
              <a:latin typeface="Arial" panose="020B0604020202020204" pitchFamily="34" charset="0"/>
            </a:endParaRPr>
          </a:p>
          <a:p>
            <a:pPr lvl="2">
              <a:lnSpc>
                <a:spcPct val="90000"/>
              </a:lnSpc>
              <a:buClr>
                <a:schemeClr val="tx2"/>
              </a:buClr>
              <a:buSzPct val="75000"/>
            </a:pPr>
            <a:r>
              <a:rPr lang="en-US" altLang="zh-CN" sz="2000" dirty="0">
                <a:latin typeface="Arial" panose="020B0604020202020204" pitchFamily="34" charset="0"/>
              </a:rPr>
              <a:t>Calling </a:t>
            </a:r>
            <a:r>
              <a:rPr lang="en-US" altLang="zh-CN" sz="2000" b="1" dirty="0">
                <a:solidFill>
                  <a:srgbClr val="00B050"/>
                </a:solidFill>
                <a:latin typeface="Courier New" panose="02070309020205020404" pitchFamily="49" charset="0"/>
              </a:rPr>
              <a:t>sleep</a:t>
            </a:r>
            <a:r>
              <a:rPr lang="en-US" altLang="zh-CN" sz="2000" dirty="0">
                <a:latin typeface="Arial" panose="020B0604020202020204" pitchFamily="34" charset="0"/>
              </a:rPr>
              <a:t>: pause for the specified period of time</a:t>
            </a:r>
          </a:p>
          <a:p>
            <a:pPr lvl="2">
              <a:lnSpc>
                <a:spcPct val="90000"/>
              </a:lnSpc>
              <a:buClr>
                <a:schemeClr val="tx2"/>
              </a:buClr>
              <a:buSzPct val="75000"/>
            </a:pPr>
            <a:endParaRPr lang="en-US" altLang="zh-CN" sz="2000" dirty="0">
              <a:latin typeface="Arial" panose="020B0604020202020204" pitchFamily="34" charset="0"/>
            </a:endParaRPr>
          </a:p>
          <a:p>
            <a:pPr lvl="2">
              <a:lnSpc>
                <a:spcPct val="90000"/>
              </a:lnSpc>
              <a:buClr>
                <a:schemeClr val="tx2"/>
              </a:buClr>
              <a:buSzPct val="75000"/>
            </a:pPr>
            <a:r>
              <a:rPr lang="en-US" altLang="zh-CN" sz="2000" dirty="0">
                <a:latin typeface="Arial" panose="020B0604020202020204" pitchFamily="34" charset="0"/>
              </a:rPr>
              <a:t>Calling </a:t>
            </a:r>
            <a:r>
              <a:rPr lang="en-US" altLang="zh-CN" sz="2000" b="1" dirty="0">
                <a:solidFill>
                  <a:srgbClr val="00B050"/>
                </a:solidFill>
                <a:latin typeface="Courier New" panose="02070309020205020404" pitchFamily="49" charset="0"/>
              </a:rPr>
              <a:t>yield</a:t>
            </a:r>
            <a:r>
              <a:rPr lang="en-US" altLang="zh-CN" sz="2000" dirty="0">
                <a:latin typeface="Arial" panose="020B0604020202020204" pitchFamily="34" charset="0"/>
              </a:rPr>
              <a:t>: pause temporarily. </a:t>
            </a:r>
          </a:p>
          <a:p>
            <a:pPr lvl="2">
              <a:lnSpc>
                <a:spcPct val="90000"/>
              </a:lnSpc>
              <a:buClr>
                <a:schemeClr val="tx2"/>
              </a:buClr>
              <a:buSzPct val="75000"/>
              <a:buFont typeface="Monotype Sorts" pitchFamily="2" charset="2"/>
              <a:buChar char="l"/>
            </a:pPr>
            <a:endParaRPr lang="en-US" altLang="zh-CN" sz="2000" dirty="0">
              <a:latin typeface="Arial" panose="020B0604020202020204" pitchFamily="34" charset="0"/>
            </a:endParaRPr>
          </a:p>
          <a:p>
            <a:pPr lvl="1">
              <a:lnSpc>
                <a:spcPct val="90000"/>
              </a:lnSpc>
              <a:buClr>
                <a:schemeClr val="tx2"/>
              </a:buClr>
              <a:buSzPct val="75000"/>
            </a:pPr>
            <a:r>
              <a:rPr lang="en-US" altLang="zh-CN" sz="2400" dirty="0">
                <a:latin typeface="Arial" panose="020B0604020202020204" pitchFamily="34" charset="0"/>
              </a:rPr>
              <a:t>A selfish thread does 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</a:rPr>
              <a:t>none</a:t>
            </a:r>
            <a:r>
              <a:rPr lang="en-US" altLang="zh-CN" sz="2400" dirty="0">
                <a:latin typeface="Arial" panose="020B0604020202020204" pitchFamily="34" charset="0"/>
              </a:rPr>
              <a:t> of this </a:t>
            </a:r>
            <a:r>
              <a:rPr lang="en-US" altLang="zh-CN" sz="2400" dirty="0">
                <a:latin typeface="Arial" panose="020B0604020202020204" pitchFamily="34" charset="0"/>
                <a:sym typeface="Wingdings" panose="05000000000000000000" pitchFamily="2" charset="2"/>
              </a:rPr>
              <a:t></a:t>
            </a:r>
            <a:endParaRPr lang="en-US" altLang="zh-CN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980651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ChangeArrowheads="1"/>
          </p:cNvSpPr>
          <p:nvPr/>
        </p:nvSpPr>
        <p:spPr bwMode="auto">
          <a:xfrm>
            <a:off x="911703" y="734352"/>
            <a:ext cx="4279338" cy="673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4000" dirty="0">
                <a:latin typeface="Times New Roman" panose="02020603050405020304" pitchFamily="18" charset="0"/>
              </a:rPr>
              <a:t>Thread Scheduling</a:t>
            </a:r>
          </a:p>
        </p:txBody>
      </p:sp>
      <p:sp>
        <p:nvSpPr>
          <p:cNvPr id="29700" name="Rectangle 3"/>
          <p:cNvSpPr>
            <a:spLocks noChangeArrowheads="1"/>
          </p:cNvSpPr>
          <p:nvPr/>
        </p:nvSpPr>
        <p:spPr bwMode="auto">
          <a:xfrm>
            <a:off x="911703" y="1536137"/>
            <a:ext cx="10400962" cy="51033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57150" indent="0">
              <a:lnSpc>
                <a:spcPct val="90000"/>
              </a:lnSpc>
              <a:buClr>
                <a:schemeClr val="tx2"/>
              </a:buClr>
              <a:buSzPct val="75000"/>
              <a:buNone/>
            </a:pPr>
            <a:endParaRPr lang="en-US" altLang="zh-CN" sz="2800" dirty="0">
              <a:latin typeface="Arial" panose="020B0604020202020204" pitchFamily="34" charset="0"/>
            </a:endParaRPr>
          </a:p>
          <a:p>
            <a:pPr marL="57150" indent="0">
              <a:lnSpc>
                <a:spcPct val="90000"/>
              </a:lnSpc>
              <a:buClr>
                <a:schemeClr val="tx2"/>
              </a:buClr>
              <a:buSzPct val="75000"/>
              <a:buNone/>
            </a:pPr>
            <a:r>
              <a:rPr lang="en-US" altLang="zh-CN" sz="2800" dirty="0">
                <a:latin typeface="Arial" panose="020B0604020202020204" pitchFamily="34" charset="0"/>
              </a:rPr>
              <a:t>Effects of 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</a:rPr>
              <a:t>selfish</a:t>
            </a:r>
            <a:r>
              <a:rPr lang="en-US" altLang="zh-CN" sz="2800" dirty="0">
                <a:latin typeface="Arial" panose="020B0604020202020204" pitchFamily="34" charset="0"/>
              </a:rPr>
              <a:t> threads are system-dependent:</a:t>
            </a:r>
          </a:p>
          <a:p>
            <a:pPr lvl="1">
              <a:lnSpc>
                <a:spcPct val="90000"/>
              </a:lnSpc>
              <a:buClr>
                <a:schemeClr val="tx2"/>
              </a:buClr>
              <a:buSzPct val="75000"/>
              <a:buFont typeface="Monotype Sorts" pitchFamily="2" charset="2"/>
              <a:buChar char="l"/>
            </a:pPr>
            <a:endParaRPr lang="en-US" altLang="zh-CN" sz="2400" dirty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  <a:buClr>
                <a:schemeClr val="tx2"/>
              </a:buClr>
              <a:buSzPct val="75000"/>
            </a:pPr>
            <a:r>
              <a:rPr lang="en-US" altLang="zh-CN" sz="2400" b="1" dirty="0">
                <a:solidFill>
                  <a:srgbClr val="92D050"/>
                </a:solidFill>
                <a:latin typeface="Arial" panose="020B0604020202020204" pitchFamily="34" charset="0"/>
              </a:rPr>
              <a:t>Green thread</a:t>
            </a:r>
            <a:r>
              <a:rPr lang="en-US" altLang="zh-CN" sz="2400" dirty="0">
                <a:latin typeface="Arial" panose="020B0604020202020204" pitchFamily="34" charset="0"/>
              </a:rPr>
              <a:t>: A selfish thread can 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</a:rPr>
              <a:t>consume all the CPU time</a:t>
            </a:r>
            <a:r>
              <a:rPr lang="en-US" altLang="zh-CN" sz="2400" dirty="0">
                <a:latin typeface="Arial" panose="020B0604020202020204" pitchFamily="34" charset="0"/>
              </a:rPr>
              <a:t>.</a:t>
            </a:r>
          </a:p>
          <a:p>
            <a:pPr>
              <a:lnSpc>
                <a:spcPct val="90000"/>
              </a:lnSpc>
              <a:buClr>
                <a:schemeClr val="tx2"/>
              </a:buClr>
              <a:buSzPct val="75000"/>
            </a:pPr>
            <a:endParaRPr lang="en-US" altLang="zh-CN" sz="2400" dirty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  <a:buClr>
                <a:schemeClr val="tx2"/>
              </a:buClr>
              <a:buSzPct val="75000"/>
            </a:pPr>
            <a:r>
              <a:rPr lang="en-US" altLang="zh-CN" sz="2400" b="1" dirty="0">
                <a:solidFill>
                  <a:srgbClr val="00B0F0"/>
                </a:solidFill>
                <a:latin typeface="Arial" panose="020B0604020202020204" pitchFamily="34" charset="0"/>
              </a:rPr>
              <a:t>Native thread</a:t>
            </a:r>
            <a:r>
              <a:rPr lang="en-US" altLang="zh-CN" sz="2400" dirty="0">
                <a:latin typeface="Arial" panose="020B0604020202020204" pitchFamily="34" charset="0"/>
              </a:rPr>
              <a:t>: A selfish thread </a:t>
            </a:r>
            <a:r>
              <a:rPr lang="en-US" altLang="zh-CN" sz="2400" b="1" dirty="0">
                <a:solidFill>
                  <a:srgbClr val="00B0F0"/>
                </a:solidFill>
                <a:latin typeface="Arial" panose="020B0604020202020204" pitchFamily="34" charset="0"/>
              </a:rPr>
              <a:t>doesn’t pose a big problem</a:t>
            </a:r>
            <a:r>
              <a:rPr lang="en-US" altLang="zh-CN" sz="2400" dirty="0"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3643566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F461B-C26E-E0E8-3377-D27D3F833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AA5CE24B-0213-5EDB-743E-E22D08A15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047285"/>
            <a:ext cx="10515600" cy="1816662"/>
          </a:xfrm>
        </p:spPr>
        <p:txBody>
          <a:bodyPr/>
          <a:lstStyle/>
          <a:p>
            <a:r>
              <a:rPr lang="en-US" altLang="en-US" dirty="0"/>
              <a:t>Wait and Notify</a:t>
            </a:r>
          </a:p>
        </p:txBody>
      </p:sp>
    </p:spTree>
    <p:extLst>
      <p:ext uri="{BB962C8B-B14F-4D97-AF65-F5344CB8AC3E}">
        <p14:creationId xmlns:p14="http://schemas.microsoft.com/office/powerpoint/2010/main" val="375371865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>
          <a:xfrm>
            <a:off x="936516" y="733327"/>
            <a:ext cx="4303077" cy="715147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dirty="0"/>
              <a:t>Wait and Notify</a:t>
            </a:r>
          </a:p>
        </p:txBody>
      </p:sp>
      <p:sp>
        <p:nvSpPr>
          <p:cNvPr id="35843" name="Content Placeholder 2"/>
          <p:cNvSpPr>
            <a:spLocks noGrp="1"/>
          </p:cNvSpPr>
          <p:nvPr>
            <p:ph idx="1"/>
          </p:nvPr>
        </p:nvSpPr>
        <p:spPr>
          <a:xfrm>
            <a:off x="936516" y="1749425"/>
            <a:ext cx="10400426" cy="4906274"/>
          </a:xfrm>
          <a:ln>
            <a:miter lim="800000"/>
            <a:headEnd/>
            <a:tailEnd/>
          </a:ln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b="1" dirty="0">
                <a:solidFill>
                  <a:schemeClr val="tx1"/>
                </a:solidFill>
              </a:rPr>
              <a:t>You can actually wait for something:</a:t>
            </a:r>
          </a:p>
          <a:p>
            <a:pPr marL="0" indent="0" eaLnBrk="1" hangingPunct="1">
              <a:buNone/>
            </a:pPr>
            <a:endParaRPr lang="en-US" altLang="en-US" b="1" dirty="0">
              <a:solidFill>
                <a:schemeClr val="tx1"/>
              </a:solidFill>
            </a:endParaRPr>
          </a:p>
          <a:p>
            <a:pPr marL="0" indent="0" eaLnBrk="1" hangingPunct="1">
              <a:buNone/>
            </a:pPr>
            <a:endParaRPr lang="en-US" altLang="en-US" b="1" dirty="0">
              <a:solidFill>
                <a:schemeClr val="tx1"/>
              </a:solidFill>
            </a:endParaRPr>
          </a:p>
          <a:p>
            <a:pPr marL="0" indent="0" eaLnBrk="1" hangingPunct="1">
              <a:buNone/>
            </a:pPr>
            <a:endParaRPr lang="en-US" altLang="en-US" b="1" dirty="0">
              <a:solidFill>
                <a:schemeClr val="tx1"/>
              </a:solidFill>
            </a:endParaRPr>
          </a:p>
          <a:p>
            <a:pPr marL="0" indent="0" eaLnBrk="1" hangingPunct="1">
              <a:buNone/>
            </a:pPr>
            <a:endParaRPr lang="en-US" altLang="en-US" b="1" dirty="0">
              <a:solidFill>
                <a:schemeClr val="tx1"/>
              </a:solidFill>
            </a:endParaRPr>
          </a:p>
          <a:p>
            <a:pPr marL="0" indent="0" eaLnBrk="1" hangingPunct="1">
              <a:buNone/>
            </a:pPr>
            <a:r>
              <a:rPr lang="en-US" altLang="en-US" b="1" dirty="0">
                <a:solidFill>
                  <a:schemeClr val="tx1"/>
                </a:solidFill>
              </a:rPr>
              <a:t>And get notified when to continue:</a:t>
            </a:r>
          </a:p>
          <a:p>
            <a:pPr marL="0" indent="0" eaLnBrk="1" hangingPunct="1">
              <a:buNone/>
            </a:pPr>
            <a:endParaRPr lang="en-US" altLang="en-US" b="1" dirty="0"/>
          </a:p>
          <a:p>
            <a:pPr marL="0" indent="0" eaLnBrk="1" hangingPunct="1">
              <a:buNone/>
            </a:pPr>
            <a:endParaRPr lang="en-US" altLang="en-US" b="1" dirty="0"/>
          </a:p>
          <a:p>
            <a:endParaRPr lang="en-US" altLang="en-US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5005" y="2126183"/>
            <a:ext cx="7923447" cy="168457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2081" y="3961238"/>
            <a:ext cx="5373717" cy="2577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8996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468" y="957955"/>
            <a:ext cx="3200484" cy="1377079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9706" y="3083446"/>
            <a:ext cx="3777442" cy="3369217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612" y="2963701"/>
            <a:ext cx="6874508" cy="3608709"/>
          </a:xfrm>
          <a:prstGeom prst="rect">
            <a:avLst/>
          </a:prstGeom>
        </p:spPr>
      </p:pic>
      <p:sp>
        <p:nvSpPr>
          <p:cNvPr id="35842" name="Title 1"/>
          <p:cNvSpPr>
            <a:spLocks noGrp="1"/>
          </p:cNvSpPr>
          <p:nvPr>
            <p:ph type="title"/>
          </p:nvPr>
        </p:nvSpPr>
        <p:spPr>
          <a:xfrm>
            <a:off x="936516" y="733327"/>
            <a:ext cx="4303077" cy="715147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dirty="0"/>
              <a:t>Wait and Notify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H="1" flipV="1">
            <a:off x="3762796" y="4563908"/>
            <a:ext cx="5077754" cy="1310910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 flipV="1">
            <a:off x="3791119" y="3520035"/>
            <a:ext cx="5081799" cy="2508532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Down Arrow 12"/>
          <p:cNvSpPr/>
          <p:nvPr/>
        </p:nvSpPr>
        <p:spPr>
          <a:xfrm rot="7232043">
            <a:off x="8201278" y="2017243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A7D7461-78F6-D8CC-652C-3C770417424A}"/>
              </a:ext>
            </a:extLst>
          </p:cNvPr>
          <p:cNvSpPr txBox="1">
            <a:spLocks/>
          </p:cNvSpPr>
          <p:nvPr/>
        </p:nvSpPr>
        <p:spPr>
          <a:xfrm>
            <a:off x="936515" y="14205"/>
            <a:ext cx="10240821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CSEN160_07_Threads.C_WaitAndNotify.WaitAndNotify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945256-80BC-7E47-0DC2-9B93440C0A45}"/>
              </a:ext>
            </a:extLst>
          </p:cNvPr>
          <p:cNvSpPr/>
          <p:nvPr/>
        </p:nvSpPr>
        <p:spPr>
          <a:xfrm>
            <a:off x="2113547" y="5117435"/>
            <a:ext cx="2302041" cy="1363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F9567E-7BA6-3FC4-6BDE-B8E78DE95D40}"/>
              </a:ext>
            </a:extLst>
          </p:cNvPr>
          <p:cNvSpPr/>
          <p:nvPr/>
        </p:nvSpPr>
        <p:spPr>
          <a:xfrm>
            <a:off x="1588168" y="4045042"/>
            <a:ext cx="3292643" cy="13635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B4CDF4-856A-AF88-709E-62C2188ECDDA}"/>
              </a:ext>
            </a:extLst>
          </p:cNvPr>
          <p:cNvSpPr/>
          <p:nvPr/>
        </p:nvSpPr>
        <p:spPr>
          <a:xfrm>
            <a:off x="1588169" y="3754936"/>
            <a:ext cx="1247274" cy="136357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375886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831850" y="2047285"/>
            <a:ext cx="10515600" cy="1816662"/>
          </a:xfrm>
        </p:spPr>
        <p:txBody>
          <a:bodyPr/>
          <a:lstStyle/>
          <a:p>
            <a:r>
              <a:rPr lang="en-US" altLang="en-US" dirty="0"/>
              <a:t>Synchronization</a:t>
            </a:r>
          </a:p>
        </p:txBody>
      </p:sp>
    </p:spTree>
    <p:extLst>
      <p:ext uri="{BB962C8B-B14F-4D97-AF65-F5344CB8AC3E}">
        <p14:creationId xmlns:p14="http://schemas.microsoft.com/office/powerpoint/2010/main" val="373518525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>
          <a:xfrm>
            <a:off x="936516" y="745466"/>
            <a:ext cx="3133778" cy="767746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dirty="0"/>
              <a:t>Thread join()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672549"/>
            <a:ext cx="10408518" cy="4975057"/>
          </a:xfrm>
        </p:spPr>
        <p:txBody>
          <a:bodyPr rtlCol="0">
            <a:normAutofit/>
          </a:bodyPr>
          <a:lstStyle/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A thread calls a </a:t>
            </a:r>
            <a:r>
              <a:rPr lang="en-US" b="1" dirty="0">
                <a:solidFill>
                  <a:srgbClr val="00B0F0"/>
                </a:solidFill>
              </a:rPr>
              <a:t>join</a:t>
            </a:r>
            <a:r>
              <a:rPr lang="en-US" dirty="0">
                <a:solidFill>
                  <a:schemeClr val="tx1"/>
                </a:solidFill>
              </a:rPr>
              <a:t>() method when </a:t>
            </a:r>
            <a:r>
              <a:rPr lang="en-US" b="1" dirty="0">
                <a:solidFill>
                  <a:srgbClr val="FF0000"/>
                </a:solidFill>
              </a:rPr>
              <a:t>waiting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for another thread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The waiting thread is "</a:t>
            </a:r>
            <a:r>
              <a:rPr lang="en-US" b="1" dirty="0">
                <a:solidFill>
                  <a:srgbClr val="FF0000"/>
                </a:solidFill>
              </a:rPr>
              <a:t>joining</a:t>
            </a:r>
            <a:r>
              <a:rPr lang="en-US" dirty="0">
                <a:solidFill>
                  <a:schemeClr val="tx1"/>
                </a:solidFill>
              </a:rPr>
              <a:t>" with a previously started thread. 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The no-argument</a:t>
            </a:r>
            <a:r>
              <a:rPr lang="en-US" dirty="0"/>
              <a:t> </a:t>
            </a:r>
            <a:r>
              <a:rPr lang="en-US" b="1" dirty="0">
                <a:solidFill>
                  <a:srgbClr val="00B0F0"/>
                </a:solidFill>
              </a:rPr>
              <a:t>join</a:t>
            </a:r>
            <a:r>
              <a:rPr lang="en-US" dirty="0">
                <a:solidFill>
                  <a:schemeClr val="tx1"/>
                </a:solidFill>
              </a:rPr>
              <a:t>() method simply waits until another thread is </a:t>
            </a:r>
            <a:r>
              <a:rPr lang="en-US" b="1" dirty="0">
                <a:solidFill>
                  <a:srgbClr val="FF0000"/>
                </a:solidFill>
              </a:rPr>
              <a:t>no longer alive</a:t>
            </a:r>
          </a:p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497075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>
          <a:xfrm>
            <a:off x="936516" y="745466"/>
            <a:ext cx="3133778" cy="767746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dirty="0"/>
              <a:t>Thread join()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8490" y="1796685"/>
            <a:ext cx="5089213" cy="461597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3886" y="2863350"/>
            <a:ext cx="4751739" cy="1948594"/>
          </a:xfrm>
          <a:prstGeom prst="rect">
            <a:avLst/>
          </a:prstGeom>
        </p:spPr>
      </p:pic>
      <p:cxnSp>
        <p:nvCxnSpPr>
          <p:cNvPr id="7" name="Straight Arrow Connector 6"/>
          <p:cNvCxnSpPr/>
          <p:nvPr/>
        </p:nvCxnSpPr>
        <p:spPr>
          <a:xfrm flipV="1">
            <a:off x="4762163" y="3459345"/>
            <a:ext cx="2063469" cy="2225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4737887" y="4041972"/>
            <a:ext cx="2067515" cy="11854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762163" y="2423089"/>
            <a:ext cx="1633781" cy="646331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92D050"/>
                </a:solidFill>
              </a:rPr>
              <a:t>Easy example</a:t>
            </a:r>
          </a:p>
          <a:p>
            <a:pPr algn="ctr"/>
            <a:r>
              <a:rPr lang="en-US" dirty="0">
                <a:solidFill>
                  <a:srgbClr val="92D050"/>
                </a:solidFill>
              </a:rPr>
              <a:t>No loops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9E9939D-F7B5-305F-FAD8-CB20C8D5E56C}"/>
              </a:ext>
            </a:extLst>
          </p:cNvPr>
          <p:cNvSpPr txBox="1">
            <a:spLocks/>
          </p:cNvSpPr>
          <p:nvPr/>
        </p:nvSpPr>
        <p:spPr>
          <a:xfrm>
            <a:off x="936515" y="14205"/>
            <a:ext cx="10240821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dirty="0">
                <a:solidFill>
                  <a:srgbClr val="FF0000"/>
                </a:solidFill>
                <a:latin typeface="+mn-lt"/>
              </a:rPr>
              <a:t>CSEN160_07_Threads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.B_Join.ThreadJoinDemo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2A595B-86EB-9ECB-1C57-7FC1A99D6658}"/>
              </a:ext>
            </a:extLst>
          </p:cNvPr>
          <p:cNvSpPr txBox="1"/>
          <p:nvPr/>
        </p:nvSpPr>
        <p:spPr>
          <a:xfrm>
            <a:off x="1189698" y="4223088"/>
            <a:ext cx="119616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>
                <a:solidFill>
                  <a:srgbClr val="00B0F0"/>
                </a:solidFill>
              </a:rPr>
              <a:t>Wait that thread1 die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5F799D-A10D-939D-B04F-AD121132342E}"/>
              </a:ext>
            </a:extLst>
          </p:cNvPr>
          <p:cNvSpPr txBox="1"/>
          <p:nvPr/>
        </p:nvSpPr>
        <p:spPr>
          <a:xfrm>
            <a:off x="1185687" y="4439664"/>
            <a:ext cx="119616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>
                <a:solidFill>
                  <a:srgbClr val="00B0F0"/>
                </a:solidFill>
              </a:rPr>
              <a:t>Wait that thread2 die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0F6A35-7B39-7C78-31E2-78B5E2C7DC53}"/>
              </a:ext>
            </a:extLst>
          </p:cNvPr>
          <p:cNvSpPr txBox="1"/>
          <p:nvPr/>
        </p:nvSpPr>
        <p:spPr>
          <a:xfrm>
            <a:off x="1181676" y="4658463"/>
            <a:ext cx="119616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>
                <a:solidFill>
                  <a:srgbClr val="00B0F0"/>
                </a:solidFill>
              </a:rPr>
              <a:t>Wait that thread3 die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EB4947-443F-DE78-112B-E75436416010}"/>
              </a:ext>
            </a:extLst>
          </p:cNvPr>
          <p:cNvSpPr txBox="1"/>
          <p:nvPr/>
        </p:nvSpPr>
        <p:spPr>
          <a:xfrm>
            <a:off x="1169646" y="4875372"/>
            <a:ext cx="119616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>
                <a:solidFill>
                  <a:srgbClr val="00B0F0"/>
                </a:solidFill>
              </a:rPr>
              <a:t>Wait that thread4 die</a:t>
            </a:r>
          </a:p>
        </p:txBody>
      </p:sp>
    </p:spTree>
    <p:extLst>
      <p:ext uri="{BB962C8B-B14F-4D97-AF65-F5344CB8AC3E}">
        <p14:creationId xmlns:p14="http://schemas.microsoft.com/office/powerpoint/2010/main" val="184998097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944608" y="753557"/>
            <a:ext cx="4011764" cy="698963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dirty="0"/>
              <a:t>Synchronization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944608" y="1749903"/>
            <a:ext cx="10420656" cy="4877474"/>
          </a:xfrm>
          <a:ln>
            <a:miter lim="800000"/>
            <a:headEnd/>
            <a:tailEnd/>
          </a:ln>
        </p:spPr>
        <p:txBody>
          <a:bodyPr/>
          <a:lstStyle/>
          <a:p>
            <a:pPr marL="0" indent="0" eaLnBrk="1" hangingPunct="1">
              <a:buNone/>
            </a:pPr>
            <a:r>
              <a:rPr lang="en-US" altLang="zh-CN" b="1" dirty="0">
                <a:solidFill>
                  <a:schemeClr val="tx1"/>
                </a:solidFill>
              </a:rPr>
              <a:t>The Synchronization problem:</a:t>
            </a:r>
          </a:p>
          <a:p>
            <a:pPr lvl="1">
              <a:buClr>
                <a:schemeClr val="tx2"/>
              </a:buClr>
              <a:buSzPct val="75000"/>
            </a:pPr>
            <a:r>
              <a:rPr lang="en-US" altLang="zh-CN" dirty="0">
                <a:solidFill>
                  <a:schemeClr val="tx1"/>
                </a:solidFill>
              </a:rPr>
              <a:t>    Two different threads </a:t>
            </a:r>
            <a:r>
              <a:rPr lang="en-US" altLang="zh-CN" b="1" dirty="0">
                <a:solidFill>
                  <a:srgbClr val="FF0000"/>
                </a:solidFill>
              </a:rPr>
              <a:t>modify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chemeClr val="tx1"/>
                </a:solidFill>
              </a:rPr>
              <a:t>the same object at the same time, </a:t>
            </a:r>
            <a:r>
              <a:rPr lang="en-US" altLang="zh-CN" b="1" dirty="0">
                <a:solidFill>
                  <a:srgbClr val="FF0000"/>
                </a:solidFill>
              </a:rPr>
              <a:t>leading to a corrupted object</a:t>
            </a:r>
            <a:r>
              <a:rPr lang="en-US" altLang="zh-CN" dirty="0"/>
              <a:t>.</a:t>
            </a:r>
            <a:endParaRPr lang="en-US" altLang="en-US" dirty="0"/>
          </a:p>
          <a:p>
            <a:pPr marL="0" indent="0" eaLnBrk="1" hangingPunct="1">
              <a:buNone/>
            </a:pPr>
            <a:endParaRPr lang="en-US" altLang="en-US" dirty="0"/>
          </a:p>
          <a:p>
            <a:pPr marL="0" indent="0" eaLnBrk="1" hangingPunct="1">
              <a:buNone/>
            </a:pPr>
            <a:r>
              <a:rPr lang="en-US" altLang="en-US" b="1" dirty="0">
                <a:solidFill>
                  <a:schemeClr val="tx1"/>
                </a:solidFill>
              </a:rPr>
              <a:t>An analog: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</a:rPr>
              <a:t>A project report is kept at a centralized location:</a:t>
            </a:r>
          </a:p>
          <a:p>
            <a:pPr lvl="2" eaLnBrk="1" hangingPunct="1"/>
            <a:endParaRPr lang="en-US" altLang="en-US" dirty="0"/>
          </a:p>
          <a:p>
            <a:pPr lvl="2" eaLnBrk="1" hangingPunct="1"/>
            <a:r>
              <a:rPr lang="en-US" altLang="en-US" b="1" dirty="0">
                <a:solidFill>
                  <a:srgbClr val="00B050"/>
                </a:solidFill>
              </a:rPr>
              <a:t>You open </a:t>
            </a:r>
            <a:r>
              <a:rPr lang="en-US" altLang="en-US" dirty="0">
                <a:solidFill>
                  <a:schemeClr val="tx1"/>
                </a:solidFill>
              </a:rPr>
              <a:t>the report and edit it</a:t>
            </a:r>
          </a:p>
          <a:p>
            <a:pPr lvl="2" eaLnBrk="1" hangingPunct="1"/>
            <a:r>
              <a:rPr lang="en-US" altLang="en-US" b="1" dirty="0">
                <a:solidFill>
                  <a:srgbClr val="00B0F0"/>
                </a:solidFill>
              </a:rPr>
              <a:t>Your partner </a:t>
            </a:r>
            <a:r>
              <a:rPr lang="en-US" altLang="en-US" dirty="0">
                <a:solidFill>
                  <a:schemeClr val="tx1"/>
                </a:solidFill>
              </a:rPr>
              <a:t>opens the report and edits it</a:t>
            </a:r>
          </a:p>
          <a:p>
            <a:pPr lvl="2" eaLnBrk="1" hangingPunct="1"/>
            <a:r>
              <a:rPr lang="en-US" altLang="en-US" b="1" dirty="0">
                <a:solidFill>
                  <a:srgbClr val="00B050"/>
                </a:solidFill>
              </a:rPr>
              <a:t>You save </a:t>
            </a:r>
            <a:r>
              <a:rPr lang="en-US" altLang="en-US" dirty="0">
                <a:solidFill>
                  <a:schemeClr val="tx1"/>
                </a:solidFill>
              </a:rPr>
              <a:t>the edits.</a:t>
            </a:r>
          </a:p>
          <a:p>
            <a:pPr lvl="2" eaLnBrk="1" hangingPunct="1"/>
            <a:r>
              <a:rPr lang="en-US" altLang="en-US" b="1" dirty="0">
                <a:solidFill>
                  <a:srgbClr val="00B0F0"/>
                </a:solidFill>
              </a:rPr>
              <a:t>Your partner </a:t>
            </a:r>
            <a:r>
              <a:rPr lang="en-US" altLang="en-US" dirty="0">
                <a:solidFill>
                  <a:schemeClr val="tx1"/>
                </a:solidFill>
              </a:rPr>
              <a:t>saves his edits</a:t>
            </a:r>
          </a:p>
          <a:p>
            <a:pPr lvl="1" eaLnBrk="1" hangingPunct="1"/>
            <a:endParaRPr lang="en-US" altLang="en-US" b="1" dirty="0">
              <a:solidFill>
                <a:srgbClr val="FF0000"/>
              </a:solidFill>
            </a:endParaRPr>
          </a:p>
          <a:p>
            <a:pPr lvl="1" eaLnBrk="1" hangingPunct="1"/>
            <a:r>
              <a:rPr lang="en-US" altLang="en-US" b="1" dirty="0">
                <a:solidFill>
                  <a:srgbClr val="00B050"/>
                </a:solidFill>
              </a:rPr>
              <a:t>Your edits </a:t>
            </a:r>
            <a:r>
              <a:rPr lang="en-US" altLang="en-US" b="1" dirty="0">
                <a:solidFill>
                  <a:srgbClr val="FF0000"/>
                </a:solidFill>
              </a:rPr>
              <a:t>are lost!</a:t>
            </a:r>
          </a:p>
        </p:txBody>
      </p:sp>
    </p:spTree>
    <p:extLst>
      <p:ext uri="{BB962C8B-B14F-4D97-AF65-F5344CB8AC3E}">
        <p14:creationId xmlns:p14="http://schemas.microsoft.com/office/powerpoint/2010/main" val="85300515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957557" y="748022"/>
            <a:ext cx="3897664" cy="639762"/>
          </a:xfrm>
          <a:ln>
            <a:miter lim="800000"/>
            <a:headEnd/>
            <a:tailEnd/>
          </a:ln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4000" dirty="0"/>
              <a:t>Synchronization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xfrm>
            <a:off x="957556" y="1747206"/>
            <a:ext cx="10403661" cy="4892309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lnSpc>
                <a:spcPct val="90000"/>
              </a:lnSpc>
            </a:pPr>
            <a:endParaRPr lang="en-US" altLang="zh-CN" dirty="0"/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solidFill>
                  <a:schemeClr val="tx1"/>
                </a:solidFill>
              </a:rPr>
              <a:t>When threads need access to a </a:t>
            </a:r>
            <a:r>
              <a:rPr lang="en-US" altLang="zh-CN" b="1" dirty="0">
                <a:solidFill>
                  <a:srgbClr val="FF0000"/>
                </a:solidFill>
              </a:rPr>
              <a:t>shared resource</a:t>
            </a:r>
          </a:p>
          <a:p>
            <a:pPr eaLnBrk="1" hangingPunct="1">
              <a:lnSpc>
                <a:spcPct val="90000"/>
              </a:lnSpc>
            </a:pPr>
            <a:endParaRPr lang="en-US" altLang="zh-CN" dirty="0"/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solidFill>
                  <a:schemeClr val="tx1"/>
                </a:solidFill>
              </a:rPr>
              <a:t>Need a way to make sure resource will be used by </a:t>
            </a:r>
            <a:r>
              <a:rPr lang="en-US" altLang="zh-CN" b="1" dirty="0">
                <a:solidFill>
                  <a:srgbClr val="FF0000"/>
                </a:solidFill>
              </a:rPr>
              <a:t>only one thread at a time!</a:t>
            </a:r>
            <a:endParaRPr lang="en-US" altLang="zh-CN" dirty="0"/>
          </a:p>
          <a:p>
            <a:pPr eaLnBrk="1" hangingPunct="1">
              <a:lnSpc>
                <a:spcPct val="90000"/>
              </a:lnSpc>
            </a:pPr>
            <a:endParaRPr lang="en-US" altLang="zh-CN" dirty="0"/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solidFill>
                  <a:schemeClr val="tx1"/>
                </a:solidFill>
              </a:rPr>
              <a:t>Achieved by </a:t>
            </a:r>
            <a:r>
              <a:rPr lang="en-US" altLang="zh-CN" b="1" dirty="0">
                <a:solidFill>
                  <a:srgbClr val="00B050"/>
                </a:solidFill>
              </a:rPr>
              <a:t>thread</a:t>
            </a:r>
            <a:r>
              <a:rPr lang="en-US" altLang="zh-CN" dirty="0"/>
              <a:t> </a:t>
            </a:r>
            <a:r>
              <a:rPr lang="en-US" altLang="zh-CN" b="1" dirty="0">
                <a:solidFill>
                  <a:srgbClr val="00B050"/>
                </a:solidFill>
              </a:rPr>
              <a:t>synchronization</a:t>
            </a:r>
            <a:r>
              <a:rPr lang="en-US" altLang="zh-CN" dirty="0"/>
              <a:t>.</a:t>
            </a:r>
          </a:p>
          <a:p>
            <a:pPr eaLnBrk="1" hangingPunct="1">
              <a:lnSpc>
                <a:spcPct val="90000"/>
              </a:lnSpc>
            </a:pPr>
            <a:endParaRPr lang="en-US" altLang="zh-CN" dirty="0"/>
          </a:p>
          <a:p>
            <a:pPr eaLnBrk="1" hangingPunct="1">
              <a:lnSpc>
                <a:spcPct val="90000"/>
              </a:lnSpc>
            </a:pPr>
            <a:r>
              <a:rPr lang="en-US" altLang="zh-CN" b="1" dirty="0">
                <a:solidFill>
                  <a:srgbClr val="00B050"/>
                </a:solidFill>
              </a:rPr>
              <a:t>Synchronization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chemeClr val="tx1"/>
                </a:solidFill>
              </a:rPr>
              <a:t>in Java by making methods that modify critical recourses </a:t>
            </a:r>
            <a:r>
              <a:rPr lang="en-US" altLang="zh-CN" b="1" dirty="0">
                <a:solidFill>
                  <a:srgbClr val="00B050"/>
                </a:solidFill>
              </a:rPr>
              <a:t>synchronized</a:t>
            </a:r>
            <a:r>
              <a:rPr lang="en-US" altLang="zh-CN" dirty="0"/>
              <a:t>.</a:t>
            </a:r>
          </a:p>
          <a:p>
            <a:pPr eaLnBrk="1" hangingPunct="1">
              <a:lnSpc>
                <a:spcPct val="90000"/>
              </a:lnSpc>
            </a:pPr>
            <a:endParaRPr lang="en-US" altLang="zh-CN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798452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932470" y="745465"/>
            <a:ext cx="5581618" cy="658503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dirty="0"/>
              <a:t>Thread Synchronization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idx="1"/>
          </p:nvPr>
        </p:nvSpPr>
        <p:spPr>
          <a:xfrm>
            <a:off x="932470" y="1590085"/>
            <a:ext cx="10412564" cy="5065614"/>
          </a:xfrm>
        </p:spPr>
        <p:txBody>
          <a:bodyPr rtlCol="0">
            <a:normAutofit/>
          </a:bodyPr>
          <a:lstStyle/>
          <a:p>
            <a:pPr marL="0" indent="0">
              <a:buNone/>
              <a:defRPr/>
            </a:pPr>
            <a:endParaRPr lang="en-US" altLang="en-US" sz="2000" dirty="0"/>
          </a:p>
          <a:p>
            <a:pPr marL="0" indent="0">
              <a:buNone/>
              <a:defRPr/>
            </a:pPr>
            <a:r>
              <a:rPr lang="en-US" altLang="en-US" sz="2000" dirty="0">
                <a:solidFill>
                  <a:schemeClr val="tx1"/>
                </a:solidFill>
              </a:rPr>
              <a:t>Accessing</a:t>
            </a:r>
            <a:r>
              <a:rPr lang="en-US" altLang="en-US" sz="2000" b="1" dirty="0">
                <a:solidFill>
                  <a:schemeClr val="tx2"/>
                </a:solidFill>
                <a:latin typeface="Courier New" pitchFamily="49" charset="0"/>
              </a:rPr>
              <a:t> </a:t>
            </a:r>
            <a:r>
              <a:rPr lang="en-US" altLang="en-US" sz="2000" b="1" dirty="0">
                <a:solidFill>
                  <a:srgbClr val="00B050"/>
                </a:solidFill>
                <a:latin typeface="Courier New" pitchFamily="49" charset="0"/>
              </a:rPr>
              <a:t>synchronized</a:t>
            </a:r>
            <a:r>
              <a:rPr lang="en-US" altLang="en-US" sz="2000" b="1" dirty="0">
                <a:solidFill>
                  <a:schemeClr val="tx2"/>
                </a:solidFill>
                <a:latin typeface="Courier New" pitchFamily="49" charset="0"/>
              </a:rPr>
              <a:t> </a:t>
            </a:r>
            <a:r>
              <a:rPr lang="en-US" altLang="en-US" sz="2000" dirty="0">
                <a:solidFill>
                  <a:schemeClr val="tx1"/>
                </a:solidFill>
              </a:rPr>
              <a:t>methods:</a:t>
            </a:r>
          </a:p>
          <a:p>
            <a:pPr lvl="1">
              <a:defRPr/>
            </a:pPr>
            <a:endParaRPr lang="en-US" altLang="zh-CN" dirty="0">
              <a:solidFill>
                <a:schemeClr val="tx1"/>
              </a:solidFill>
            </a:endParaRPr>
          </a:p>
          <a:p>
            <a:pPr lvl="1">
              <a:defRPr/>
            </a:pPr>
            <a:r>
              <a:rPr lang="en-US" altLang="zh-CN" dirty="0">
                <a:solidFill>
                  <a:schemeClr val="tx1"/>
                </a:solidFill>
              </a:rPr>
              <a:t>An object with one or more synchronized methods (or blocks) is called a </a:t>
            </a:r>
            <a:r>
              <a:rPr lang="en-US" altLang="zh-CN" b="1" dirty="0">
                <a:solidFill>
                  <a:srgbClr val="00B0F0"/>
                </a:solidFill>
              </a:rPr>
              <a:t>monitor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chemeClr val="tx1"/>
                </a:solidFill>
              </a:rPr>
              <a:t>or a </a:t>
            </a:r>
            <a:r>
              <a:rPr lang="en-US" altLang="zh-CN" b="1" dirty="0">
                <a:solidFill>
                  <a:srgbClr val="FF0000"/>
                </a:solidFill>
              </a:rPr>
              <a:t>critical section</a:t>
            </a:r>
            <a:r>
              <a:rPr lang="en-US" altLang="zh-CN" dirty="0"/>
              <a:t>.</a:t>
            </a:r>
          </a:p>
          <a:p>
            <a:pPr lvl="1">
              <a:defRPr/>
            </a:pPr>
            <a:endParaRPr lang="en-US" altLang="zh-CN" dirty="0"/>
          </a:p>
          <a:p>
            <a:pPr lvl="1">
              <a:defRPr/>
            </a:pPr>
            <a:r>
              <a:rPr lang="en-US" altLang="zh-CN" dirty="0">
                <a:solidFill>
                  <a:schemeClr val="tx1"/>
                </a:solidFill>
              </a:rPr>
              <a:t>Every Java object with a </a:t>
            </a:r>
            <a:r>
              <a:rPr lang="en-US" altLang="zh-CN" b="1" dirty="0">
                <a:solidFill>
                  <a:srgbClr val="FF0000"/>
                </a:solidFill>
              </a:rPr>
              <a:t>critical section </a:t>
            </a:r>
            <a:r>
              <a:rPr lang="en-US" altLang="zh-CN" dirty="0">
                <a:solidFill>
                  <a:schemeClr val="tx1"/>
                </a:solidFill>
              </a:rPr>
              <a:t>of code gets a </a:t>
            </a:r>
            <a:r>
              <a:rPr lang="en-US" altLang="zh-CN" b="1" dirty="0">
                <a:solidFill>
                  <a:srgbClr val="00B0F0"/>
                </a:solidFill>
              </a:rPr>
              <a:t>lock</a:t>
            </a:r>
            <a:r>
              <a:rPr lang="en-US" altLang="zh-CN" dirty="0"/>
              <a:t>. </a:t>
            </a:r>
          </a:p>
          <a:p>
            <a:pPr lvl="1">
              <a:defRPr/>
            </a:pPr>
            <a:endParaRPr lang="en-US" altLang="zh-CN" dirty="0"/>
          </a:p>
          <a:p>
            <a:pPr lvl="1">
              <a:defRPr/>
            </a:pPr>
            <a:r>
              <a:rPr lang="en-US" altLang="zh-CN" dirty="0">
                <a:solidFill>
                  <a:schemeClr val="tx1"/>
                </a:solidFill>
              </a:rPr>
              <a:t>To enter a </a:t>
            </a:r>
            <a:r>
              <a:rPr lang="en-US" altLang="zh-CN" b="1" dirty="0">
                <a:solidFill>
                  <a:srgbClr val="FF0000"/>
                </a:solidFill>
              </a:rPr>
              <a:t>critical section</a:t>
            </a:r>
            <a:r>
              <a:rPr lang="en-US" altLang="zh-CN" dirty="0">
                <a:solidFill>
                  <a:schemeClr val="tx1"/>
                </a:solidFill>
              </a:rPr>
              <a:t>, a thread needs to obtain the </a:t>
            </a:r>
            <a:r>
              <a:rPr lang="en-US" altLang="zh-CN" b="1" dirty="0">
                <a:solidFill>
                  <a:srgbClr val="00B0F0"/>
                </a:solidFill>
              </a:rPr>
              <a:t>lock</a:t>
            </a:r>
            <a:r>
              <a:rPr lang="en-US" altLang="zh-CN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4006868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932470" y="745465"/>
            <a:ext cx="5581618" cy="658503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dirty="0"/>
              <a:t>Thread Synchronization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idx="1"/>
          </p:nvPr>
        </p:nvSpPr>
        <p:spPr>
          <a:xfrm>
            <a:off x="932470" y="1590085"/>
            <a:ext cx="10412564" cy="5065614"/>
          </a:xfrm>
        </p:spPr>
        <p:txBody>
          <a:bodyPr rtlCol="0">
            <a:normAutofit/>
          </a:bodyPr>
          <a:lstStyle/>
          <a:p>
            <a:pPr marL="0" indent="0">
              <a:buNone/>
              <a:defRPr/>
            </a:pPr>
            <a:endParaRPr lang="en-US" altLang="zh-CN" sz="2200" dirty="0"/>
          </a:p>
          <a:p>
            <a:pPr marL="0" indent="0">
              <a:buNone/>
              <a:defRPr/>
            </a:pPr>
            <a:r>
              <a:rPr lang="en-US" altLang="zh-CN" sz="2200" dirty="0">
                <a:solidFill>
                  <a:schemeClr val="tx1"/>
                </a:solidFill>
              </a:rPr>
              <a:t>A monitor lets only </a:t>
            </a:r>
            <a:r>
              <a:rPr lang="en-US" altLang="zh-CN" sz="2200" b="1" dirty="0">
                <a:solidFill>
                  <a:srgbClr val="00B0F0"/>
                </a:solidFill>
              </a:rPr>
              <a:t>ONE</a:t>
            </a:r>
            <a:r>
              <a:rPr lang="en-US" altLang="zh-CN" sz="2200" dirty="0"/>
              <a:t> </a:t>
            </a:r>
            <a:r>
              <a:rPr lang="en-US" altLang="zh-CN" sz="2200" dirty="0">
                <a:solidFill>
                  <a:schemeClr val="tx1"/>
                </a:solidFill>
              </a:rPr>
              <a:t>thread access its </a:t>
            </a:r>
            <a:r>
              <a:rPr lang="en-US" altLang="zh-CN" sz="2200" b="1" dirty="0">
                <a:solidFill>
                  <a:srgbClr val="00B050"/>
                </a:solidFill>
              </a:rPr>
              <a:t>synchronized</a:t>
            </a:r>
            <a:r>
              <a:rPr lang="en-US" altLang="zh-CN" sz="2200" dirty="0"/>
              <a:t> </a:t>
            </a:r>
            <a:r>
              <a:rPr lang="en-US" altLang="zh-CN" sz="2200" dirty="0">
                <a:solidFill>
                  <a:schemeClr val="tx1"/>
                </a:solidFill>
              </a:rPr>
              <a:t>methods:</a:t>
            </a:r>
          </a:p>
          <a:p>
            <a:pPr lvl="1">
              <a:defRPr/>
            </a:pPr>
            <a:endParaRPr lang="en-US" altLang="zh-CN" sz="1800" dirty="0"/>
          </a:p>
          <a:p>
            <a:pPr lvl="1">
              <a:defRPr/>
            </a:pPr>
            <a:endParaRPr lang="en-US" altLang="zh-CN" sz="1800" dirty="0"/>
          </a:p>
          <a:p>
            <a:pPr lvl="1">
              <a:defRPr/>
            </a:pPr>
            <a:r>
              <a:rPr lang="en-US" altLang="zh-CN" sz="1800" dirty="0">
                <a:solidFill>
                  <a:schemeClr val="tx1"/>
                </a:solidFill>
              </a:rPr>
              <a:t>While a thread is </a:t>
            </a:r>
            <a:r>
              <a:rPr lang="en-US" altLang="zh-CN" sz="1800" b="1" dirty="0">
                <a:solidFill>
                  <a:srgbClr val="00B0F0"/>
                </a:solidFill>
              </a:rPr>
              <a:t>executing</a:t>
            </a:r>
            <a:r>
              <a:rPr lang="en-US" altLang="zh-CN" sz="1800" dirty="0"/>
              <a:t> </a:t>
            </a:r>
            <a:r>
              <a:rPr lang="en-US" altLang="zh-CN" sz="1800" dirty="0">
                <a:solidFill>
                  <a:schemeClr val="tx1"/>
                </a:solidFill>
              </a:rPr>
              <a:t>one of the </a:t>
            </a:r>
            <a:r>
              <a:rPr lang="en-US" altLang="zh-CN" sz="1800" b="1" dirty="0">
                <a:solidFill>
                  <a:srgbClr val="00B050"/>
                </a:solidFill>
              </a:rPr>
              <a:t>synchronized</a:t>
            </a:r>
            <a:r>
              <a:rPr lang="en-US" altLang="zh-CN" sz="1800" dirty="0"/>
              <a:t> </a:t>
            </a:r>
            <a:r>
              <a:rPr lang="en-US" altLang="zh-CN" sz="1800" b="1" dirty="0">
                <a:solidFill>
                  <a:srgbClr val="00B0F0"/>
                </a:solidFill>
              </a:rPr>
              <a:t>methods</a:t>
            </a:r>
            <a:r>
              <a:rPr lang="en-US" altLang="zh-CN" sz="1800" dirty="0"/>
              <a:t>.</a:t>
            </a:r>
          </a:p>
          <a:p>
            <a:pPr lvl="1">
              <a:defRPr/>
            </a:pPr>
            <a:endParaRPr lang="en-US" altLang="zh-CN" sz="1800" dirty="0"/>
          </a:p>
          <a:p>
            <a:pPr lvl="1">
              <a:defRPr/>
            </a:pPr>
            <a:r>
              <a:rPr lang="en-US" altLang="zh-CN" sz="1800" dirty="0">
                <a:solidFill>
                  <a:schemeClr val="tx1"/>
                </a:solidFill>
              </a:rPr>
              <a:t>All other threads that call this </a:t>
            </a:r>
            <a:r>
              <a:rPr lang="en-US" altLang="zh-CN" sz="1800" b="1" dirty="0">
                <a:solidFill>
                  <a:srgbClr val="00B050"/>
                </a:solidFill>
              </a:rPr>
              <a:t>synchronized</a:t>
            </a:r>
            <a:r>
              <a:rPr lang="en-US" altLang="zh-CN" sz="1800" dirty="0"/>
              <a:t> </a:t>
            </a:r>
            <a:r>
              <a:rPr lang="en-US" altLang="zh-CN" sz="1800" dirty="0">
                <a:solidFill>
                  <a:schemeClr val="tx1"/>
                </a:solidFill>
              </a:rPr>
              <a:t>methods are </a:t>
            </a:r>
            <a:r>
              <a:rPr lang="en-US" altLang="zh-CN" sz="1800" b="1" dirty="0">
                <a:solidFill>
                  <a:srgbClr val="FF0000"/>
                </a:solidFill>
              </a:rPr>
              <a:t>blocked</a:t>
            </a:r>
            <a:r>
              <a:rPr lang="en-US" altLang="zh-CN" sz="1800" dirty="0"/>
              <a:t>.  </a:t>
            </a:r>
          </a:p>
          <a:p>
            <a:pPr lvl="1">
              <a:defRPr/>
            </a:pPr>
            <a:endParaRPr lang="en-US" altLang="zh-CN" sz="1800" dirty="0"/>
          </a:p>
          <a:p>
            <a:pPr lvl="1">
              <a:defRPr/>
            </a:pPr>
            <a:r>
              <a:rPr lang="en-US" altLang="zh-CN" sz="1800" dirty="0">
                <a:solidFill>
                  <a:schemeClr val="tx1"/>
                </a:solidFill>
              </a:rPr>
              <a:t>When the thread that locked the </a:t>
            </a:r>
            <a:r>
              <a:rPr lang="en-US" altLang="zh-CN" sz="1800" b="1" dirty="0">
                <a:solidFill>
                  <a:srgbClr val="00B050"/>
                </a:solidFill>
              </a:rPr>
              <a:t>synchronized</a:t>
            </a:r>
            <a:r>
              <a:rPr lang="en-US" altLang="zh-CN" sz="1800" dirty="0"/>
              <a:t> </a:t>
            </a:r>
            <a:r>
              <a:rPr lang="en-US" altLang="zh-CN" sz="1800" dirty="0">
                <a:solidFill>
                  <a:schemeClr val="tx1"/>
                </a:solidFill>
              </a:rPr>
              <a:t>method finishes, the next blocked thread can </a:t>
            </a:r>
            <a:r>
              <a:rPr lang="en-US" altLang="zh-CN" sz="1800" b="1" dirty="0">
                <a:solidFill>
                  <a:srgbClr val="FF0000"/>
                </a:solidFill>
              </a:rPr>
              <a:t>access</a:t>
            </a:r>
            <a:r>
              <a:rPr lang="en-US" altLang="zh-CN" sz="1800" dirty="0">
                <a:solidFill>
                  <a:schemeClr val="tx1"/>
                </a:solidFill>
              </a:rPr>
              <a:t> it.</a:t>
            </a:r>
          </a:p>
          <a:p>
            <a:pPr marL="457200" lvl="1" indent="0">
              <a:buNone/>
              <a:defRPr/>
            </a:pPr>
            <a:endParaRPr lang="en-US" altLang="zh-CN" sz="1800" dirty="0"/>
          </a:p>
          <a:p>
            <a:pPr lvl="1">
              <a:defRPr/>
            </a:pPr>
            <a:r>
              <a:rPr lang="en-US" altLang="zh-CN" sz="1800" dirty="0">
                <a:solidFill>
                  <a:schemeClr val="tx1"/>
                </a:solidFill>
              </a:rPr>
              <a:t>Methods that call </a:t>
            </a:r>
            <a:r>
              <a:rPr lang="en-US" altLang="zh-CN" sz="1800" b="1" dirty="0">
                <a:solidFill>
                  <a:srgbClr val="00B050"/>
                </a:solidFill>
              </a:rPr>
              <a:t>unsynchronized</a:t>
            </a:r>
            <a:r>
              <a:rPr lang="en-US" altLang="zh-CN" sz="1800" dirty="0"/>
              <a:t> </a:t>
            </a:r>
            <a:r>
              <a:rPr lang="en-US" altLang="zh-CN" sz="1800" dirty="0">
                <a:solidFill>
                  <a:schemeClr val="tx1"/>
                </a:solidFill>
              </a:rPr>
              <a:t>methods can </a:t>
            </a:r>
            <a:r>
              <a:rPr lang="en-US" altLang="zh-CN" sz="1800" b="1" dirty="0">
                <a:solidFill>
                  <a:srgbClr val="FF0000"/>
                </a:solidFill>
              </a:rPr>
              <a:t>proceed</a:t>
            </a:r>
            <a:r>
              <a:rPr lang="en-US" altLang="zh-CN" sz="1800" dirty="0"/>
              <a:t>.</a:t>
            </a:r>
          </a:p>
          <a:p>
            <a:pPr lvl="1">
              <a:defRPr/>
            </a:pPr>
            <a:endParaRPr lang="en-US" altLang="zh-CN" sz="1800" dirty="0"/>
          </a:p>
        </p:txBody>
      </p:sp>
    </p:spTree>
    <p:extLst>
      <p:ext uri="{BB962C8B-B14F-4D97-AF65-F5344CB8AC3E}">
        <p14:creationId xmlns:p14="http://schemas.microsoft.com/office/powerpoint/2010/main" val="63405582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>
          <a:xfrm>
            <a:off x="936516" y="733327"/>
            <a:ext cx="4303077" cy="715147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dirty="0"/>
              <a:t>Java </a:t>
            </a:r>
            <a:r>
              <a:rPr lang="en-US" altLang="en-US" i="1" dirty="0">
                <a:solidFill>
                  <a:srgbClr val="00B050"/>
                </a:solidFill>
              </a:rPr>
              <a:t>synchronized</a:t>
            </a:r>
          </a:p>
        </p:txBody>
      </p:sp>
      <p:sp>
        <p:nvSpPr>
          <p:cNvPr id="35843" name="Content Placeholder 2"/>
          <p:cNvSpPr>
            <a:spLocks noGrp="1"/>
          </p:cNvSpPr>
          <p:nvPr>
            <p:ph idx="1"/>
          </p:nvPr>
        </p:nvSpPr>
        <p:spPr>
          <a:xfrm>
            <a:off x="936516" y="1749425"/>
            <a:ext cx="10400426" cy="4906274"/>
          </a:xfrm>
          <a:ln>
            <a:miter lim="800000"/>
            <a:headEnd/>
            <a:tailEnd/>
          </a:ln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b="1" dirty="0">
                <a:solidFill>
                  <a:srgbClr val="00B050"/>
                </a:solidFill>
              </a:rPr>
              <a:t>Synchronized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tx1"/>
                </a:solidFill>
              </a:rPr>
              <a:t>keyword to mark different types of blocks: </a:t>
            </a:r>
          </a:p>
          <a:p>
            <a:pPr eaLnBrk="1" hangingPunct="1"/>
            <a:endParaRPr lang="en-US" altLang="en-US" b="1" dirty="0">
              <a:solidFill>
                <a:schemeClr val="tx1"/>
              </a:solidFill>
            </a:endParaRPr>
          </a:p>
          <a:p>
            <a:r>
              <a:rPr lang="en-US" altLang="en-US" b="1" dirty="0">
                <a:solidFill>
                  <a:schemeClr val="tx1"/>
                </a:solidFill>
              </a:rPr>
              <a:t>Instance and static methods</a:t>
            </a:r>
            <a:r>
              <a:rPr lang="en-US" altLang="en-US" dirty="0">
                <a:solidFill>
                  <a:schemeClr val="tx1"/>
                </a:solidFill>
              </a:rPr>
              <a:t>: Only one thread can execute the method. </a:t>
            </a:r>
          </a:p>
          <a:p>
            <a:pPr marL="0" indent="0" eaLnBrk="1" hangingPunct="1">
              <a:buNone/>
            </a:pPr>
            <a:endParaRPr lang="en-US" altLang="en-US" b="1" dirty="0">
              <a:solidFill>
                <a:schemeClr val="tx1"/>
              </a:solidFill>
            </a:endParaRPr>
          </a:p>
          <a:p>
            <a:pPr eaLnBrk="1" hangingPunct="1"/>
            <a:r>
              <a:rPr lang="en-US" altLang="en-US" b="1" dirty="0">
                <a:solidFill>
                  <a:schemeClr val="tx1"/>
                </a:solidFill>
              </a:rPr>
              <a:t>Code blocks inside methods: </a:t>
            </a:r>
          </a:p>
          <a:p>
            <a:pPr lvl="1"/>
            <a:endParaRPr lang="en-US" altLang="en-US" dirty="0">
              <a:solidFill>
                <a:schemeClr val="tx1"/>
              </a:solidFill>
            </a:endParaRP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Avoid </a:t>
            </a:r>
            <a:r>
              <a:rPr lang="en-US" altLang="en-US" b="1" dirty="0">
                <a:solidFill>
                  <a:srgbClr val="00B050"/>
                </a:solidFill>
              </a:rPr>
              <a:t>synchronizing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tx1"/>
                </a:solidFill>
              </a:rPr>
              <a:t>the </a:t>
            </a:r>
            <a:r>
              <a:rPr lang="en-US" altLang="en-US" b="1" dirty="0">
                <a:solidFill>
                  <a:srgbClr val="FF0000"/>
                </a:solidFill>
              </a:rPr>
              <a:t>whole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tx1"/>
                </a:solidFill>
              </a:rPr>
              <a:t>method!</a:t>
            </a:r>
            <a:r>
              <a:rPr lang="en-US" altLang="en-US" dirty="0"/>
              <a:t> 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A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00B050"/>
                </a:solidFill>
              </a:rPr>
              <a:t>synchronized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tx1"/>
                </a:solidFill>
              </a:rPr>
              <a:t>block can choose which objects are </a:t>
            </a:r>
            <a:r>
              <a:rPr lang="en-US" altLang="en-US" b="1" dirty="0">
                <a:solidFill>
                  <a:schemeClr val="tx1"/>
                </a:solidFill>
              </a:rPr>
              <a:t>synchronizes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</a:p>
          <a:p>
            <a:pPr lvl="1"/>
            <a:endParaRPr lang="en-US" altLang="en-US" dirty="0">
              <a:solidFill>
                <a:schemeClr val="tx1"/>
              </a:solidFill>
            </a:endParaRP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Make the </a:t>
            </a:r>
            <a:r>
              <a:rPr lang="en-US" altLang="en-US" b="1" dirty="0">
                <a:solidFill>
                  <a:srgbClr val="00B050"/>
                </a:solidFill>
              </a:rPr>
              <a:t>synchronized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tx1"/>
                </a:solidFill>
              </a:rPr>
              <a:t>part as </a:t>
            </a:r>
            <a:r>
              <a:rPr lang="en-US" altLang="en-US" sz="2400" b="1" dirty="0">
                <a:solidFill>
                  <a:srgbClr val="FF0000"/>
                </a:solidFill>
              </a:rPr>
              <a:t>small</a:t>
            </a:r>
            <a:r>
              <a:rPr lang="en-US" altLang="en-US" dirty="0">
                <a:solidFill>
                  <a:schemeClr val="tx1"/>
                </a:solidFill>
              </a:rPr>
              <a:t> as possible!</a:t>
            </a:r>
          </a:p>
        </p:txBody>
      </p:sp>
    </p:spTree>
    <p:extLst>
      <p:ext uri="{BB962C8B-B14F-4D97-AF65-F5344CB8AC3E}">
        <p14:creationId xmlns:p14="http://schemas.microsoft.com/office/powerpoint/2010/main" val="317966284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ChangeArrowheads="1"/>
          </p:cNvSpPr>
          <p:nvPr/>
        </p:nvSpPr>
        <p:spPr bwMode="auto">
          <a:xfrm>
            <a:off x="911702" y="734352"/>
            <a:ext cx="6763594" cy="673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4000" dirty="0">
                <a:latin typeface="Times New Roman" panose="02020603050405020304" pitchFamily="18" charset="0"/>
              </a:rPr>
              <a:t>Not synchronized example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171" y="1543511"/>
            <a:ext cx="4384658" cy="501103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7730" y="1757693"/>
            <a:ext cx="2645298" cy="97974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945" y="3139671"/>
            <a:ext cx="2618083" cy="107227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4945" y="4699147"/>
            <a:ext cx="2558210" cy="979740"/>
          </a:xfrm>
          <a:prstGeom prst="rect">
            <a:avLst/>
          </a:prstGeom>
        </p:spPr>
      </p:pic>
      <p:sp>
        <p:nvSpPr>
          <p:cNvPr id="7" name="Right Arrow 6"/>
          <p:cNvSpPr/>
          <p:nvPr/>
        </p:nvSpPr>
        <p:spPr>
          <a:xfrm>
            <a:off x="5891001" y="2194964"/>
            <a:ext cx="978408" cy="48463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579987" y="3390601"/>
            <a:ext cx="2239587" cy="28315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Problem: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On Assembler level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One thread reads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Other one writes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Mixed 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Confusion</a:t>
            </a:r>
          </a:p>
          <a:p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1472750" y="4826899"/>
            <a:ext cx="2399289" cy="283221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734392" y="5391743"/>
            <a:ext cx="2399289" cy="283221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5D9C2AB-3794-75FA-310F-5C86AA62D057}"/>
              </a:ext>
            </a:extLst>
          </p:cNvPr>
          <p:cNvSpPr txBox="1">
            <a:spLocks/>
          </p:cNvSpPr>
          <p:nvPr/>
        </p:nvSpPr>
        <p:spPr>
          <a:xfrm>
            <a:off x="936515" y="14205"/>
            <a:ext cx="10240821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dirty="0">
                <a:solidFill>
                  <a:srgbClr val="FF0000"/>
                </a:solidFill>
                <a:latin typeface="+mn-lt"/>
              </a:rPr>
              <a:t>CSEN160_07_Threads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.A_SimpleExamples.D_SimpleCounter_NotSynchronized</a:t>
            </a:r>
          </a:p>
        </p:txBody>
      </p:sp>
    </p:spTree>
    <p:extLst>
      <p:ext uri="{BB962C8B-B14F-4D97-AF65-F5344CB8AC3E}">
        <p14:creationId xmlns:p14="http://schemas.microsoft.com/office/powerpoint/2010/main" val="220732632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7E6AA-57DD-8BCB-78C9-E18572E3D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id="{561F7DBA-23B5-9A49-8BB1-A88EE86A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33327"/>
            <a:ext cx="8151337" cy="715147"/>
          </a:xfrm>
          <a:ln>
            <a:miter lim="800000"/>
            <a:headEnd/>
            <a:tailEnd/>
          </a:ln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Assembler Example – Race Condition</a:t>
            </a:r>
            <a:endParaRPr lang="en-US" altLang="en-US" i="1" dirty="0">
              <a:solidFill>
                <a:srgbClr val="00B050"/>
              </a:solidFill>
            </a:endParaRPr>
          </a:p>
        </p:txBody>
      </p:sp>
      <p:sp>
        <p:nvSpPr>
          <p:cNvPr id="35843" name="Content Placeholder 2">
            <a:extLst>
              <a:ext uri="{FF2B5EF4-FFF2-40B4-BE49-F238E27FC236}">
                <a16:creationId xmlns:a16="http://schemas.microsoft.com/office/drawing/2014/main" id="{9BEE6462-B755-A1C3-AE20-089A38741F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1323238"/>
            <a:ext cx="10400426" cy="4906274"/>
          </a:xfrm>
          <a:ln>
            <a:miter lim="800000"/>
            <a:headEnd/>
            <a:tailEnd/>
          </a:ln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dirty="0">
                <a:solidFill>
                  <a:schemeClr val="tx1"/>
                </a:solidFill>
              </a:rPr>
              <a:t>ARM assembler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77817D-7FFE-D680-13C0-CF3BF6F2F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640" y="2070680"/>
            <a:ext cx="2871353" cy="456325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D63A0F-2F07-79E4-ADE0-ED3F639735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6689" y="2098748"/>
            <a:ext cx="2848641" cy="452716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A957DB7-27D1-7835-074A-304626E48F31}"/>
              </a:ext>
            </a:extLst>
          </p:cNvPr>
          <p:cNvSpPr/>
          <p:nvPr/>
        </p:nvSpPr>
        <p:spPr>
          <a:xfrm>
            <a:off x="7851008" y="3757859"/>
            <a:ext cx="1240843" cy="18448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FCB1B8-7E30-6C72-3A20-7398F5427AA7}"/>
              </a:ext>
            </a:extLst>
          </p:cNvPr>
          <p:cNvSpPr/>
          <p:nvPr/>
        </p:nvSpPr>
        <p:spPr>
          <a:xfrm>
            <a:off x="2374316" y="3725780"/>
            <a:ext cx="1240843" cy="18448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9C72AE-874A-571F-4B59-85BA27CC11B0}"/>
              </a:ext>
            </a:extLst>
          </p:cNvPr>
          <p:cNvSpPr/>
          <p:nvPr/>
        </p:nvSpPr>
        <p:spPr>
          <a:xfrm>
            <a:off x="7851008" y="4439649"/>
            <a:ext cx="755572" cy="18448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AFE4BC-C071-5CA6-7A3F-53DD05D36A9B}"/>
              </a:ext>
            </a:extLst>
          </p:cNvPr>
          <p:cNvSpPr/>
          <p:nvPr/>
        </p:nvSpPr>
        <p:spPr>
          <a:xfrm>
            <a:off x="2374316" y="4415591"/>
            <a:ext cx="755572" cy="18448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1531AA-19A5-E7D0-8A6A-A5CBC0AC5525}"/>
              </a:ext>
            </a:extLst>
          </p:cNvPr>
          <p:cNvSpPr/>
          <p:nvPr/>
        </p:nvSpPr>
        <p:spPr>
          <a:xfrm>
            <a:off x="1034716" y="6264700"/>
            <a:ext cx="8053137" cy="178556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F5E19C-80EF-5F67-3D95-526AD5C250B4}"/>
              </a:ext>
            </a:extLst>
          </p:cNvPr>
          <p:cNvSpPr txBox="1"/>
          <p:nvPr/>
        </p:nvSpPr>
        <p:spPr>
          <a:xfrm>
            <a:off x="4109227" y="5955520"/>
            <a:ext cx="1980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Shared Resource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828D93-7C08-15F4-3DC6-9F52DC59CBB1}"/>
              </a:ext>
            </a:extLst>
          </p:cNvPr>
          <p:cNvSpPr txBox="1"/>
          <p:nvPr/>
        </p:nvSpPr>
        <p:spPr>
          <a:xfrm>
            <a:off x="7299148" y="1729416"/>
            <a:ext cx="104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B108EA-6553-42C9-1256-25CC37805040}"/>
              </a:ext>
            </a:extLst>
          </p:cNvPr>
          <p:cNvSpPr txBox="1"/>
          <p:nvPr/>
        </p:nvSpPr>
        <p:spPr>
          <a:xfrm>
            <a:off x="1776656" y="1727010"/>
            <a:ext cx="104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98E1AE-CBDE-FFFF-2C4C-20BB8A924FEE}"/>
              </a:ext>
            </a:extLst>
          </p:cNvPr>
          <p:cNvSpPr txBox="1"/>
          <p:nvPr/>
        </p:nvSpPr>
        <p:spPr>
          <a:xfrm>
            <a:off x="3771795" y="3696566"/>
            <a:ext cx="26548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00B050"/>
                </a:solidFill>
              </a:rPr>
              <a:t>Load the address from counter = $18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42485D-265A-0F2C-BD6A-54B315225254}"/>
              </a:ext>
            </a:extLst>
          </p:cNvPr>
          <p:cNvSpPr txBox="1"/>
          <p:nvPr/>
        </p:nvSpPr>
        <p:spPr>
          <a:xfrm>
            <a:off x="9202759" y="3717754"/>
            <a:ext cx="26548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00B050"/>
                </a:solidFill>
              </a:rPr>
              <a:t>Load the address from counter = $18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6702B20-D698-FA83-1AB8-44CECCA79465}"/>
              </a:ext>
            </a:extLst>
          </p:cNvPr>
          <p:cNvSpPr txBox="1"/>
          <p:nvPr/>
        </p:nvSpPr>
        <p:spPr>
          <a:xfrm>
            <a:off x="3774662" y="3923501"/>
            <a:ext cx="269336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00B050"/>
                </a:solidFill>
              </a:rPr>
              <a:t>Load the value from address $18 = 12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CE49C6-AA85-124C-13FD-1845023C0BB6}"/>
              </a:ext>
            </a:extLst>
          </p:cNvPr>
          <p:cNvSpPr txBox="1"/>
          <p:nvPr/>
        </p:nvSpPr>
        <p:spPr>
          <a:xfrm>
            <a:off x="3771795" y="4362522"/>
            <a:ext cx="304602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00B050"/>
                </a:solidFill>
              </a:rPr>
              <a:t>Write value 13 back to what $18 is pointing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A551F2-3ECA-ABFB-18ED-98B0F6AA6752}"/>
              </a:ext>
            </a:extLst>
          </p:cNvPr>
          <p:cNvSpPr txBox="1"/>
          <p:nvPr/>
        </p:nvSpPr>
        <p:spPr>
          <a:xfrm>
            <a:off x="3743200" y="4137810"/>
            <a:ext cx="85632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00B050"/>
                </a:solidFill>
              </a:rPr>
              <a:t>13 = 12+ 1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EDB1DCC-A9AE-4F66-CE85-EDA1ADAA4801}"/>
              </a:ext>
            </a:extLst>
          </p:cNvPr>
          <p:cNvSpPr txBox="1"/>
          <p:nvPr/>
        </p:nvSpPr>
        <p:spPr>
          <a:xfrm>
            <a:off x="9222267" y="4153981"/>
            <a:ext cx="85632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00B050"/>
                </a:solidFill>
              </a:rPr>
              <a:t>13 = 12+ 1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C3E8E5-8DDC-FDFE-3C10-21EEF25F8693}"/>
              </a:ext>
            </a:extLst>
          </p:cNvPr>
          <p:cNvSpPr txBox="1"/>
          <p:nvPr/>
        </p:nvSpPr>
        <p:spPr>
          <a:xfrm>
            <a:off x="9202746" y="3910264"/>
            <a:ext cx="26548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00B050"/>
                </a:solidFill>
              </a:rPr>
              <a:t>Load the address from counter = $18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C71D8F4-AA0A-9318-FA51-1CFC21C4EE0A}"/>
              </a:ext>
            </a:extLst>
          </p:cNvPr>
          <p:cNvSpPr txBox="1"/>
          <p:nvPr/>
        </p:nvSpPr>
        <p:spPr>
          <a:xfrm>
            <a:off x="9224692" y="4401085"/>
            <a:ext cx="304602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00B050"/>
                </a:solidFill>
              </a:rPr>
              <a:t>Write value 13 back to what $18 is pointing</a:t>
            </a:r>
          </a:p>
        </p:txBody>
      </p:sp>
    </p:spTree>
    <p:extLst>
      <p:ext uri="{BB962C8B-B14F-4D97-AF65-F5344CB8AC3E}">
        <p14:creationId xmlns:p14="http://schemas.microsoft.com/office/powerpoint/2010/main" val="54516870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073" y="1408014"/>
            <a:ext cx="3992759" cy="5209950"/>
          </a:xfrm>
          <a:prstGeom prst="rect">
            <a:avLst/>
          </a:prstGeom>
        </p:spPr>
      </p:pic>
      <p:sp>
        <p:nvSpPr>
          <p:cNvPr id="29699" name="Rectangle 2"/>
          <p:cNvSpPr>
            <a:spLocks noChangeArrowheads="1"/>
          </p:cNvSpPr>
          <p:nvPr/>
        </p:nvSpPr>
        <p:spPr bwMode="auto">
          <a:xfrm>
            <a:off x="911702" y="734352"/>
            <a:ext cx="6763594" cy="673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4000" dirty="0">
                <a:latin typeface="Times New Roman" panose="02020603050405020304" pitchFamily="18" charset="0"/>
              </a:rPr>
              <a:t>Synchronized example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88106" y="3133640"/>
            <a:ext cx="978408" cy="484632"/>
          </a:xfrm>
          <a:prstGeom prst="rightArrow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468704" y="4984817"/>
            <a:ext cx="3374379" cy="283221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689476" y="5504432"/>
            <a:ext cx="2235161" cy="283221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218789" y="1784293"/>
            <a:ext cx="3037622" cy="574535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2466" y="2071560"/>
            <a:ext cx="2645298" cy="87632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1461" y="3313650"/>
            <a:ext cx="2797702" cy="1072271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6325" y="4875775"/>
            <a:ext cx="2590868" cy="99062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C2B3F-6827-BFC7-FC8D-DF7EC0096879}"/>
              </a:ext>
            </a:extLst>
          </p:cNvPr>
          <p:cNvSpPr txBox="1">
            <a:spLocks/>
          </p:cNvSpPr>
          <p:nvPr/>
        </p:nvSpPr>
        <p:spPr>
          <a:xfrm>
            <a:off x="936515" y="14205"/>
            <a:ext cx="10240821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dirty="0">
                <a:solidFill>
                  <a:srgbClr val="FF0000"/>
                </a:solidFill>
                <a:latin typeface="+mn-lt"/>
              </a:rPr>
              <a:t>CSEN160_07_Threads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.A_SimpleExamples.E_SimpleCounter_Synchronized</a:t>
            </a:r>
          </a:p>
        </p:txBody>
      </p:sp>
    </p:spTree>
    <p:extLst>
      <p:ext uri="{BB962C8B-B14F-4D97-AF65-F5344CB8AC3E}">
        <p14:creationId xmlns:p14="http://schemas.microsoft.com/office/powerpoint/2010/main" val="21153648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>
          <a:xfrm>
            <a:off x="949465" y="1712816"/>
            <a:ext cx="10516949" cy="492265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Synchronized block: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Instead of set a whole function synchronized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A small block can be synchronized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Use synchronized as seldom and small as possible.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936516" y="737373"/>
            <a:ext cx="5379318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Synchronized Block</a:t>
            </a:r>
          </a:p>
        </p:txBody>
      </p:sp>
    </p:spTree>
    <p:extLst>
      <p:ext uri="{BB962C8B-B14F-4D97-AF65-F5344CB8AC3E}">
        <p14:creationId xmlns:p14="http://schemas.microsoft.com/office/powerpoint/2010/main" val="338304325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3755" y="794017"/>
            <a:ext cx="5193714" cy="5617901"/>
          </a:xfrm>
          <a:prstGeom prst="rect">
            <a:avLst/>
          </a:prstGeom>
        </p:spPr>
      </p:pic>
      <p:sp>
        <p:nvSpPr>
          <p:cNvPr id="8" name="Content Placeholder 2"/>
          <p:cNvSpPr txBox="1">
            <a:spLocks/>
          </p:cNvSpPr>
          <p:nvPr/>
        </p:nvSpPr>
        <p:spPr>
          <a:xfrm>
            <a:off x="949465" y="1712816"/>
            <a:ext cx="10516949" cy="492265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Example: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936516" y="737373"/>
            <a:ext cx="5379318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Synchronized Block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849908" y="1625827"/>
            <a:ext cx="1986595" cy="1524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849907" y="4250344"/>
            <a:ext cx="2031101" cy="1476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315834" y="904287"/>
            <a:ext cx="2900994" cy="31760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985327" y="2791752"/>
            <a:ext cx="1864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Cannot be null!</a:t>
            </a:r>
          </a:p>
        </p:txBody>
      </p:sp>
      <p:cxnSp>
        <p:nvCxnSpPr>
          <p:cNvPr id="11" name="Straight Arrow Connector 10"/>
          <p:cNvCxnSpPr>
            <a:stCxn id="5" idx="3"/>
          </p:cNvCxnSpPr>
          <p:nvPr/>
        </p:nvCxnSpPr>
        <p:spPr>
          <a:xfrm flipV="1">
            <a:off x="5849940" y="1778227"/>
            <a:ext cx="2286602" cy="119819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5" idx="3"/>
          </p:cNvCxnSpPr>
          <p:nvPr/>
        </p:nvCxnSpPr>
        <p:spPr>
          <a:xfrm>
            <a:off x="5849940" y="2976418"/>
            <a:ext cx="2250187" cy="126360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688864" y="878425"/>
            <a:ext cx="2108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Do not use String</a:t>
            </a:r>
          </a:p>
        </p:txBody>
      </p:sp>
      <p:cxnSp>
        <p:nvCxnSpPr>
          <p:cNvPr id="16" name="Straight Arrow Connector 15"/>
          <p:cNvCxnSpPr>
            <a:stCxn id="14" idx="1"/>
          </p:cNvCxnSpPr>
          <p:nvPr/>
        </p:nvCxnSpPr>
        <p:spPr>
          <a:xfrm flipH="1">
            <a:off x="9245150" y="1063091"/>
            <a:ext cx="4437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658B122-CA92-AD9B-122B-A452B4A7510A}"/>
              </a:ext>
            </a:extLst>
          </p:cNvPr>
          <p:cNvSpPr txBox="1">
            <a:spLocks/>
          </p:cNvSpPr>
          <p:nvPr/>
        </p:nvSpPr>
        <p:spPr>
          <a:xfrm>
            <a:off x="936516" y="14205"/>
            <a:ext cx="9202096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buNone/>
              <a:defRPr/>
            </a:pPr>
            <a:r>
              <a:rPr lang="en-US" dirty="0">
                <a:solidFill>
                  <a:srgbClr val="FF0000"/>
                </a:solidFill>
                <a:latin typeface="Arial" panose="020B0604020202020204"/>
              </a:rPr>
              <a:t>CSEN160_07_Threads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.</a:t>
            </a:r>
            <a:r>
              <a:rPr lang="en-US" dirty="0">
                <a:solidFill>
                  <a:srgbClr val="FF0000"/>
                </a:solidFill>
                <a:latin typeface="Arial" panose="020B0604020202020204"/>
              </a:rPr>
              <a:t>F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_threadProblems.A_Deadlock</a:t>
            </a:r>
          </a:p>
        </p:txBody>
      </p:sp>
    </p:spTree>
    <p:extLst>
      <p:ext uri="{BB962C8B-B14F-4D97-AF65-F5344CB8AC3E}">
        <p14:creationId xmlns:p14="http://schemas.microsoft.com/office/powerpoint/2010/main" val="122608022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Thread Memory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4249624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57603"/>
            <a:ext cx="5601849" cy="605905"/>
          </a:xfrm>
        </p:spPr>
        <p:txBody>
          <a:bodyPr/>
          <a:lstStyle/>
          <a:p>
            <a:r>
              <a:rPr lang="en-US" dirty="0"/>
              <a:t>Thread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684687"/>
            <a:ext cx="10436840" cy="4962919"/>
          </a:xfrm>
        </p:spPr>
        <p:txBody>
          <a:bodyPr/>
          <a:lstStyle/>
          <a:p>
            <a:pPr lvl="1"/>
            <a:endParaRPr lang="en-US" dirty="0"/>
          </a:p>
          <a:p>
            <a:pPr marL="457200" lvl="1" indent="0">
              <a:buNone/>
            </a:pPr>
            <a:r>
              <a:rPr lang="en-US" dirty="0">
                <a:solidFill>
                  <a:schemeClr val="tx1"/>
                </a:solidFill>
              </a:rPr>
              <a:t>Each thread has its </a:t>
            </a:r>
            <a:r>
              <a:rPr lang="en-US" b="1" dirty="0">
                <a:solidFill>
                  <a:srgbClr val="FF0000"/>
                </a:solidFill>
              </a:rPr>
              <a:t>own</a:t>
            </a:r>
            <a:r>
              <a:rPr lang="en-US" dirty="0">
                <a:solidFill>
                  <a:schemeClr val="tx1"/>
                </a:solidFill>
              </a:rPr>
              <a:t> stack (1 to 2 MB)</a:t>
            </a:r>
          </a:p>
          <a:p>
            <a:pPr lvl="2"/>
            <a:endParaRPr lang="en-US" dirty="0">
              <a:solidFill>
                <a:schemeClr val="tx1"/>
              </a:solidFill>
            </a:endParaRPr>
          </a:p>
          <a:p>
            <a:pPr lvl="2"/>
            <a:r>
              <a:rPr lang="en-US" dirty="0">
                <a:solidFill>
                  <a:schemeClr val="tx1"/>
                </a:solidFill>
              </a:rPr>
              <a:t>For local/auto variables in functions</a:t>
            </a:r>
          </a:p>
          <a:p>
            <a:pPr marL="457200" lvl="1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457200" lvl="1" indent="0">
              <a:buNone/>
            </a:pPr>
            <a:r>
              <a:rPr lang="en-US" b="1" dirty="0">
                <a:solidFill>
                  <a:srgbClr val="00B050"/>
                </a:solidFill>
              </a:rPr>
              <a:t>Heap</a:t>
            </a:r>
            <a:r>
              <a:rPr lang="en-US" dirty="0">
                <a:solidFill>
                  <a:schemeClr val="tx1"/>
                </a:solidFill>
              </a:rPr>
              <a:t> between Threads are </a:t>
            </a:r>
            <a:r>
              <a:rPr lang="en-US" b="1" dirty="0">
                <a:solidFill>
                  <a:srgbClr val="00B050"/>
                </a:solidFill>
              </a:rPr>
              <a:t>shared</a:t>
            </a:r>
            <a:r>
              <a:rPr lang="en-US" dirty="0">
                <a:solidFill>
                  <a:schemeClr val="tx1"/>
                </a:solidFill>
              </a:rPr>
              <a:t> for all objects </a:t>
            </a:r>
          </a:p>
          <a:p>
            <a:pPr lvl="2"/>
            <a:endParaRPr lang="en-US" dirty="0">
              <a:solidFill>
                <a:schemeClr val="tx1"/>
              </a:solidFill>
            </a:endParaRPr>
          </a:p>
          <a:p>
            <a:pPr lvl="2"/>
            <a:r>
              <a:rPr lang="en-US" dirty="0">
                <a:solidFill>
                  <a:schemeClr val="tx1"/>
                </a:solidFill>
              </a:rPr>
              <a:t>Class/object attributes </a:t>
            </a:r>
          </a:p>
          <a:p>
            <a:pPr marL="914400" lvl="2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lvl="2"/>
            <a:r>
              <a:rPr lang="en-US" dirty="0">
                <a:solidFill>
                  <a:schemeClr val="tx1"/>
                </a:solidFill>
              </a:rPr>
              <a:t>Everything created by “</a:t>
            </a:r>
            <a:r>
              <a:rPr lang="en-US" b="1" dirty="0">
                <a:solidFill>
                  <a:srgbClr val="00B050"/>
                </a:solidFill>
              </a:rPr>
              <a:t>new</a:t>
            </a:r>
            <a:r>
              <a:rPr lang="en-US" dirty="0">
                <a:solidFill>
                  <a:schemeClr val="tx1"/>
                </a:solidFill>
              </a:rPr>
              <a:t>”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710872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57603"/>
            <a:ext cx="5601849" cy="605905"/>
          </a:xfrm>
        </p:spPr>
        <p:txBody>
          <a:bodyPr/>
          <a:lstStyle/>
          <a:p>
            <a:r>
              <a:rPr lang="en-US" dirty="0"/>
              <a:t>Thread Memory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936516" y="1416103"/>
            <a:ext cx="9413197" cy="508989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 Program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2993" y="1889489"/>
            <a:ext cx="2973823" cy="31761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Thread 1</a:t>
            </a:r>
          </a:p>
        </p:txBody>
      </p:sp>
      <p:sp>
        <p:nvSpPr>
          <p:cNvPr id="7" name="Rectangle 6"/>
          <p:cNvSpPr/>
          <p:nvPr/>
        </p:nvSpPr>
        <p:spPr>
          <a:xfrm>
            <a:off x="4228762" y="1889488"/>
            <a:ext cx="2742525" cy="31761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Thread 2</a:t>
            </a:r>
          </a:p>
        </p:txBody>
      </p:sp>
      <p:sp>
        <p:nvSpPr>
          <p:cNvPr id="8" name="Rectangle 7"/>
          <p:cNvSpPr/>
          <p:nvPr/>
        </p:nvSpPr>
        <p:spPr>
          <a:xfrm>
            <a:off x="1515739" y="2868625"/>
            <a:ext cx="2168329" cy="210797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Stack for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Local variables: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Byte, short, char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long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float, double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references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13233" y="1920508"/>
            <a:ext cx="2973823" cy="31761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Thread 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01502" y="2868624"/>
            <a:ext cx="2168329" cy="210797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Stack for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Local variables: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Byte, short, char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long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float, double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references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27919" y="2868624"/>
            <a:ext cx="2168329" cy="210797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Stack for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Local variables: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Byte, short, char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long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float, double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references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12993" y="5251052"/>
            <a:ext cx="8974063" cy="105736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Heap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1500" y="5752759"/>
            <a:ext cx="921477" cy="4059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Object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11484" y="5752759"/>
            <a:ext cx="907825" cy="4059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Object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7816" y="5752758"/>
            <a:ext cx="880005" cy="4059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Object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52390" y="5752757"/>
            <a:ext cx="880005" cy="4059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Object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96964" y="5752757"/>
            <a:ext cx="880005" cy="4059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Object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41538" y="5752756"/>
            <a:ext cx="880005" cy="4059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Object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19143" y="5752755"/>
            <a:ext cx="880005" cy="4059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Object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95255" y="5752755"/>
            <a:ext cx="880005" cy="4059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Object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50956" y="5752755"/>
            <a:ext cx="880005" cy="4059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Object</a:t>
            </a:r>
          </a:p>
        </p:txBody>
      </p:sp>
      <p:cxnSp>
        <p:nvCxnSpPr>
          <p:cNvPr id="24" name="Straight Arrow Connector 23"/>
          <p:cNvCxnSpPr>
            <a:endCxn id="22" idx="0"/>
          </p:cNvCxnSpPr>
          <p:nvPr/>
        </p:nvCxnSpPr>
        <p:spPr>
          <a:xfrm>
            <a:off x="8512821" y="4806669"/>
            <a:ext cx="878138" cy="946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6116229" y="4722382"/>
            <a:ext cx="1369744" cy="10303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endCxn id="16" idx="0"/>
          </p:cNvCxnSpPr>
          <p:nvPr/>
        </p:nvCxnSpPr>
        <p:spPr>
          <a:xfrm>
            <a:off x="3007879" y="4722381"/>
            <a:ext cx="639940" cy="10303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H="1">
            <a:off x="3642748" y="4722381"/>
            <a:ext cx="2472476" cy="10303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>
            <a:off x="8457681" y="4806669"/>
            <a:ext cx="55140" cy="9278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H="1">
            <a:off x="2637663" y="4722381"/>
            <a:ext cx="357569" cy="10121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endCxn id="21" idx="0"/>
          </p:cNvCxnSpPr>
          <p:nvPr/>
        </p:nvCxnSpPr>
        <p:spPr>
          <a:xfrm>
            <a:off x="6124374" y="4722378"/>
            <a:ext cx="2310884" cy="10303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557232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105" y="2052459"/>
            <a:ext cx="8231673" cy="455873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57603"/>
            <a:ext cx="5601849" cy="605905"/>
          </a:xfrm>
        </p:spPr>
        <p:txBody>
          <a:bodyPr/>
          <a:lstStyle/>
          <a:p>
            <a:r>
              <a:rPr lang="en-US" dirty="0"/>
              <a:t>Thread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684688"/>
            <a:ext cx="1307760" cy="439472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Example: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71805" y="3684696"/>
            <a:ext cx="2501006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Object itself goes to heap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394" y="3853973"/>
            <a:ext cx="2775119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Reference goes to the Stack</a:t>
            </a:r>
          </a:p>
        </p:txBody>
      </p:sp>
      <p:cxnSp>
        <p:nvCxnSpPr>
          <p:cNvPr id="10" name="Straight Arrow Connector 9"/>
          <p:cNvCxnSpPr>
            <a:stCxn id="8" idx="3"/>
          </p:cNvCxnSpPr>
          <p:nvPr/>
        </p:nvCxnSpPr>
        <p:spPr>
          <a:xfrm flipV="1">
            <a:off x="2826513" y="3902578"/>
            <a:ext cx="952468" cy="120672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164209" y="3022150"/>
            <a:ext cx="30925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Local variable goes to the Stack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H="1">
            <a:off x="5142488" y="3853973"/>
            <a:ext cx="2929317" cy="374918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1" idx="1"/>
          </p:cNvCxnSpPr>
          <p:nvPr/>
        </p:nvCxnSpPr>
        <p:spPr>
          <a:xfrm flipH="1">
            <a:off x="3819441" y="3191427"/>
            <a:ext cx="3344768" cy="915281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79235" y="2305182"/>
            <a:ext cx="17940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Goes to the Heap</a:t>
            </a:r>
          </a:p>
        </p:txBody>
      </p:sp>
      <p:cxnSp>
        <p:nvCxnSpPr>
          <p:cNvPr id="28" name="Straight Arrow Connector 27"/>
          <p:cNvCxnSpPr>
            <a:stCxn id="26" idx="3"/>
          </p:cNvCxnSpPr>
          <p:nvPr/>
        </p:nvCxnSpPr>
        <p:spPr>
          <a:xfrm flipV="1">
            <a:off x="2073316" y="2445340"/>
            <a:ext cx="601102" cy="29119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759384" y="1783935"/>
            <a:ext cx="7745473" cy="562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674418" y="2178063"/>
            <a:ext cx="8132718" cy="514278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025164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831850" y="2047285"/>
            <a:ext cx="10515600" cy="1816662"/>
          </a:xfrm>
        </p:spPr>
        <p:txBody>
          <a:bodyPr/>
          <a:lstStyle/>
          <a:p>
            <a:r>
              <a:rPr lang="en-US" altLang="en-US" dirty="0"/>
              <a:t>Volatile</a:t>
            </a:r>
          </a:p>
        </p:txBody>
      </p:sp>
    </p:spTree>
    <p:extLst>
      <p:ext uri="{BB962C8B-B14F-4D97-AF65-F5344CB8AC3E}">
        <p14:creationId xmlns:p14="http://schemas.microsoft.com/office/powerpoint/2010/main" val="424966442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729195"/>
            <a:ext cx="10396380" cy="4906274"/>
          </a:xfrm>
        </p:spPr>
        <p:txBody>
          <a:bodyPr rtlCol="0">
            <a:normAutofit/>
          </a:bodyPr>
          <a:lstStyle/>
          <a:p>
            <a:pPr marL="0" indent="0">
              <a:buNone/>
              <a:defRPr/>
            </a:pPr>
            <a:r>
              <a:rPr lang="en-US" b="1" dirty="0">
                <a:solidFill>
                  <a:schemeClr val="tx1"/>
                </a:solidFill>
              </a:rPr>
              <a:t>Two problems: </a:t>
            </a:r>
          </a:p>
          <a:p>
            <a:pPr>
              <a:defRPr/>
            </a:pPr>
            <a:endParaRPr lang="en-US" b="1" dirty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  <a:defRPr/>
            </a:pPr>
            <a:r>
              <a:rPr lang="en-US" b="1" dirty="0">
                <a:solidFill>
                  <a:schemeClr val="tx1"/>
                </a:solidFill>
              </a:rPr>
              <a:t>Instruction reordering</a:t>
            </a:r>
          </a:p>
          <a:p>
            <a:pPr marL="457200" indent="-457200">
              <a:buFont typeface="+mj-lt"/>
              <a:buAutoNum type="arabicPeriod"/>
              <a:defRPr/>
            </a:pPr>
            <a:endParaRPr lang="en-US" dirty="0"/>
          </a:p>
          <a:p>
            <a:pPr marL="457200" indent="-457200">
              <a:buFont typeface="+mj-lt"/>
              <a:buAutoNum type="arabicPeriod"/>
              <a:defRPr/>
            </a:pPr>
            <a:r>
              <a:rPr lang="en-US" dirty="0">
                <a:solidFill>
                  <a:schemeClr val="tx1"/>
                </a:solidFill>
              </a:rPr>
              <a:t>L1, L2, L3 cache: </a:t>
            </a:r>
            <a:r>
              <a:rPr lang="en-US" dirty="0">
                <a:solidFill>
                  <a:srgbClr val="FF0000"/>
                </a:solidFill>
              </a:rPr>
              <a:t>Data not written to RAM immediately!</a:t>
            </a: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b="1" dirty="0"/>
          </a:p>
          <a:p>
            <a:pPr>
              <a:defRPr/>
            </a:pPr>
            <a:endParaRPr lang="en-US" b="1" dirty="0"/>
          </a:p>
        </p:txBody>
      </p:sp>
      <p:sp>
        <p:nvSpPr>
          <p:cNvPr id="30722" name="Title 1"/>
          <p:cNvSpPr>
            <a:spLocks noGrp="1"/>
          </p:cNvSpPr>
          <p:nvPr>
            <p:ph type="title"/>
          </p:nvPr>
        </p:nvSpPr>
        <p:spPr>
          <a:xfrm>
            <a:off x="936516" y="749511"/>
            <a:ext cx="2106089" cy="630181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dirty="0"/>
              <a:t>Volatile</a:t>
            </a:r>
          </a:p>
        </p:txBody>
      </p:sp>
    </p:spTree>
    <p:extLst>
      <p:ext uri="{BB962C8B-B14F-4D97-AF65-F5344CB8AC3E}">
        <p14:creationId xmlns:p14="http://schemas.microsoft.com/office/powerpoint/2010/main" val="134839867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729195"/>
            <a:ext cx="10396380" cy="4906274"/>
          </a:xfrm>
        </p:spPr>
        <p:txBody>
          <a:bodyPr rtlCol="0">
            <a:normAutofit fontScale="85000" lnSpcReduction="20000"/>
          </a:bodyPr>
          <a:lstStyle/>
          <a:p>
            <a:pPr marL="0" indent="0">
              <a:buNone/>
              <a:defRPr/>
            </a:pPr>
            <a:r>
              <a:rPr lang="en-US" b="1" dirty="0"/>
              <a:t>1. </a:t>
            </a:r>
            <a:r>
              <a:rPr lang="en-US" b="1" dirty="0">
                <a:solidFill>
                  <a:schemeClr val="tx1"/>
                </a:solidFill>
              </a:rPr>
              <a:t>Instruction Reordering Problem: </a:t>
            </a:r>
          </a:p>
          <a:p>
            <a:pPr marL="0" indent="0">
              <a:buNone/>
              <a:defRPr/>
            </a:pP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en-US" b="1" dirty="0">
                <a:solidFill>
                  <a:schemeClr val="tx1"/>
                </a:solidFill>
              </a:rPr>
              <a:t>Java “Happens Before Guarantee” </a:t>
            </a:r>
            <a:r>
              <a:rPr lang="en-US" sz="1400" dirty="0">
                <a:solidFill>
                  <a:schemeClr val="tx1"/>
                </a:solidFill>
              </a:rPr>
              <a:t>a set of rules that prevent instruction reordering from breaking visibility guarantees</a:t>
            </a:r>
          </a:p>
          <a:p>
            <a:pPr marL="0" indent="0">
              <a:buNone/>
              <a:defRPr/>
            </a:pP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en-US" b="1" dirty="0">
                <a:solidFill>
                  <a:schemeClr val="tx1"/>
                </a:solidFill>
              </a:rPr>
              <a:t>Issue: </a:t>
            </a: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Java JVM is</a:t>
            </a:r>
            <a:r>
              <a:rPr lang="en-US" dirty="0"/>
              <a:t> </a:t>
            </a:r>
            <a:r>
              <a:rPr lang="en-US" b="1" dirty="0">
                <a:solidFill>
                  <a:srgbClr val="00B050"/>
                </a:solidFill>
              </a:rPr>
              <a:t>allowed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to reorder code</a:t>
            </a: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But it does not consider </a:t>
            </a:r>
            <a:r>
              <a:rPr lang="en-US" b="1" dirty="0">
                <a:solidFill>
                  <a:srgbClr val="FF0000"/>
                </a:solidFill>
              </a:rPr>
              <a:t>concurrencies in different threads</a:t>
            </a:r>
            <a:r>
              <a:rPr lang="en-US" dirty="0">
                <a:solidFill>
                  <a:schemeClr val="tx1"/>
                </a:solidFill>
              </a:rPr>
              <a:t>!</a:t>
            </a: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JVM checks only one thread or sequence at a time.</a:t>
            </a:r>
          </a:p>
        </p:txBody>
      </p:sp>
      <p:sp>
        <p:nvSpPr>
          <p:cNvPr id="30722" name="Title 1"/>
          <p:cNvSpPr>
            <a:spLocks noGrp="1"/>
          </p:cNvSpPr>
          <p:nvPr>
            <p:ph type="title"/>
          </p:nvPr>
        </p:nvSpPr>
        <p:spPr>
          <a:xfrm>
            <a:off x="936516" y="749511"/>
            <a:ext cx="2106089" cy="630181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dirty="0"/>
              <a:t>Volatile</a:t>
            </a:r>
          </a:p>
        </p:txBody>
      </p:sp>
      <p:sp>
        <p:nvSpPr>
          <p:cNvPr id="2" name="Rectangle 1"/>
          <p:cNvSpPr/>
          <p:nvPr/>
        </p:nvSpPr>
        <p:spPr>
          <a:xfrm>
            <a:off x="4036980" y="2783660"/>
            <a:ext cx="1387785" cy="129944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= b + 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= m + n</a:t>
            </a:r>
          </a:p>
        </p:txBody>
      </p:sp>
      <p:sp>
        <p:nvSpPr>
          <p:cNvPr id="5" name="Rectangle 4"/>
          <p:cNvSpPr/>
          <p:nvPr/>
        </p:nvSpPr>
        <p:spPr>
          <a:xfrm>
            <a:off x="967228" y="2776916"/>
            <a:ext cx="2055377" cy="130618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1. </a:t>
            </a: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= b + c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2. 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 = </a:t>
            </a: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+ e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3. </a:t>
            </a: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= m + n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4. 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 = </a:t>
            </a: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+ q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24766" y="2783660"/>
            <a:ext cx="1494330" cy="12994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 = </a:t>
            </a: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+ 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 = </a:t>
            </a: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+ q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312119" y="2390999"/>
            <a:ext cx="1001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 T1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71313" y="2367801"/>
            <a:ext cx="1001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 T2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5306" y="2405564"/>
            <a:ext cx="659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Task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81025" y="2760331"/>
            <a:ext cx="1387785" cy="129944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= b + 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 = </a:t>
            </a: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+ 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963459" y="2760332"/>
            <a:ext cx="1494330" cy="12994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= m + 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 = </a:t>
            </a: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+ q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867746" y="2367671"/>
            <a:ext cx="1001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 T1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26940" y="2344473"/>
            <a:ext cx="1001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 T2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847" y="2529498"/>
            <a:ext cx="14991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 needs to wait!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(Until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is calc)</a:t>
            </a:r>
          </a:p>
        </p:txBody>
      </p:sp>
      <p:cxnSp>
        <p:nvCxnSpPr>
          <p:cNvPr id="19" name="Straight Arrow Connector 18"/>
          <p:cNvCxnSpPr>
            <a:cxnSpLocks/>
            <a:stCxn id="11" idx="1"/>
          </p:cNvCxnSpPr>
          <p:nvPr/>
        </p:nvCxnSpPr>
        <p:spPr>
          <a:xfrm flipH="1">
            <a:off x="6142525" y="2760331"/>
            <a:ext cx="843322" cy="3838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031434" y="3229777"/>
            <a:ext cx="14221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 need to wait!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(Until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is calc)</a:t>
            </a:r>
          </a:p>
        </p:txBody>
      </p:sp>
      <p:cxnSp>
        <p:nvCxnSpPr>
          <p:cNvPr id="22" name="Straight Arrow Connector 21"/>
          <p:cNvCxnSpPr>
            <a:cxnSpLocks/>
            <a:stCxn id="21" idx="1"/>
          </p:cNvCxnSpPr>
          <p:nvPr/>
        </p:nvCxnSpPr>
        <p:spPr>
          <a:xfrm flipH="1">
            <a:off x="6225484" y="3460610"/>
            <a:ext cx="805950" cy="163123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39FE752-6C99-6CAD-DC44-4BEE6476E132}"/>
              </a:ext>
            </a:extLst>
          </p:cNvPr>
          <p:cNvCxnSpPr>
            <a:cxnSpLocks/>
          </p:cNvCxnSpPr>
          <p:nvPr/>
        </p:nvCxnSpPr>
        <p:spPr>
          <a:xfrm>
            <a:off x="2751667" y="2951747"/>
            <a:ext cx="13885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7A5A071-23C5-C824-D4EB-06E99B549DA2}"/>
              </a:ext>
            </a:extLst>
          </p:cNvPr>
          <p:cNvCxnSpPr>
            <a:cxnSpLocks/>
          </p:cNvCxnSpPr>
          <p:nvPr/>
        </p:nvCxnSpPr>
        <p:spPr>
          <a:xfrm>
            <a:off x="2751667" y="3248952"/>
            <a:ext cx="2919646" cy="71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06FB339-37E1-CBD5-3475-99399F908667}"/>
              </a:ext>
            </a:extLst>
          </p:cNvPr>
          <p:cNvCxnSpPr>
            <a:cxnSpLocks/>
          </p:cNvCxnSpPr>
          <p:nvPr/>
        </p:nvCxnSpPr>
        <p:spPr>
          <a:xfrm>
            <a:off x="2751667" y="3544977"/>
            <a:ext cx="13885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D54F8AD-579A-7446-131E-0996DFC7AE84}"/>
              </a:ext>
            </a:extLst>
          </p:cNvPr>
          <p:cNvCxnSpPr>
            <a:cxnSpLocks/>
          </p:cNvCxnSpPr>
          <p:nvPr/>
        </p:nvCxnSpPr>
        <p:spPr>
          <a:xfrm>
            <a:off x="2751667" y="3852754"/>
            <a:ext cx="29196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12BA797-A861-C2FA-189E-E4A5738DD1A3}"/>
              </a:ext>
            </a:extLst>
          </p:cNvPr>
          <p:cNvSpPr txBox="1"/>
          <p:nvPr/>
        </p:nvSpPr>
        <p:spPr>
          <a:xfrm>
            <a:off x="9204014" y="3544977"/>
            <a:ext cx="15036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 Wait at all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Wingdings" panose="05000000000000000000" pitchFamily="2" charset="2"/>
              </a:rPr>
              <a:t>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5639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729195"/>
            <a:ext cx="10396380" cy="4906274"/>
          </a:xfrm>
        </p:spPr>
        <p:txBody>
          <a:bodyPr rtlCol="0">
            <a:normAutofit/>
          </a:bodyPr>
          <a:lstStyle/>
          <a:p>
            <a:pPr marL="0" indent="0">
              <a:buNone/>
              <a:defRPr/>
            </a:pPr>
            <a:r>
              <a:rPr lang="en-US" b="1" dirty="0"/>
              <a:t>2. </a:t>
            </a:r>
            <a:r>
              <a:rPr lang="en-US" b="1" dirty="0">
                <a:solidFill>
                  <a:schemeClr val="tx1"/>
                </a:solidFill>
              </a:rPr>
              <a:t>Cache Levels: L1, L2, L3, etc.</a:t>
            </a:r>
          </a:p>
          <a:p>
            <a:pPr>
              <a:defRPr/>
            </a:pP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en-US" dirty="0">
                <a:solidFill>
                  <a:schemeClr val="tx1"/>
                </a:solidFill>
              </a:rPr>
              <a:t>A write to RAM is </a:t>
            </a:r>
            <a:r>
              <a:rPr lang="en-US" b="1" dirty="0">
                <a:solidFill>
                  <a:srgbClr val="00B050"/>
                </a:solidFill>
              </a:rPr>
              <a:t>buffered </a:t>
            </a:r>
            <a:r>
              <a:rPr lang="en-US" dirty="0">
                <a:solidFill>
                  <a:schemeClr val="tx1"/>
                </a:solidFill>
              </a:rPr>
              <a:t>by the cache hierarchy!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A variable could </a:t>
            </a:r>
            <a:r>
              <a:rPr lang="en-US" b="1" dirty="0">
                <a:solidFill>
                  <a:srgbClr val="FF0000"/>
                </a:solidFill>
              </a:rPr>
              <a:t>stuck</a:t>
            </a:r>
            <a:r>
              <a:rPr lang="en-US" dirty="0">
                <a:solidFill>
                  <a:schemeClr val="tx1"/>
                </a:solidFill>
              </a:rPr>
              <a:t> in the cache hierarchy!</a:t>
            </a:r>
          </a:p>
          <a:p>
            <a:pPr marL="0" indent="0">
              <a:buNone/>
              <a:defRPr/>
            </a:pPr>
            <a:endParaRPr lang="en-US" dirty="0"/>
          </a:p>
          <a:p>
            <a:pPr marL="0" indent="0">
              <a:buNone/>
              <a:defRPr/>
            </a:pPr>
            <a:r>
              <a:rPr lang="en-US" b="1" dirty="0">
                <a:solidFill>
                  <a:schemeClr val="tx1"/>
                </a:solidFill>
              </a:rPr>
              <a:t>Possible</a:t>
            </a:r>
            <a:r>
              <a:rPr lang="en-US" dirty="0">
                <a:solidFill>
                  <a:schemeClr val="tx1"/>
                </a:solidFill>
              </a:rPr>
              <a:t>: 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  <a:defRPr/>
            </a:pPr>
            <a:r>
              <a:rPr lang="en-US" dirty="0">
                <a:solidFill>
                  <a:schemeClr val="tx1"/>
                </a:solidFill>
              </a:rPr>
              <a:t>Thread1 access date from Thread2</a:t>
            </a:r>
            <a:endParaRPr lang="en-US" sz="1800" dirty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  <a:defRPr/>
            </a:pPr>
            <a:r>
              <a:rPr lang="en-US" dirty="0">
                <a:solidFill>
                  <a:schemeClr val="tx1"/>
                </a:solidFill>
              </a:rPr>
              <a:t>Thread1 </a:t>
            </a:r>
            <a:r>
              <a:rPr lang="en-US" b="1" dirty="0">
                <a:solidFill>
                  <a:srgbClr val="00B050"/>
                </a:solidFill>
              </a:rPr>
              <a:t>changes some var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dirty="0">
                <a:solidFill>
                  <a:schemeClr val="tx1"/>
                </a:solidFill>
              </a:rPr>
              <a:t>But it is </a:t>
            </a:r>
            <a:r>
              <a:rPr lang="en-US" b="1" dirty="0">
                <a:solidFill>
                  <a:srgbClr val="FF0000"/>
                </a:solidFill>
              </a:rPr>
              <a:t>not immediately reflected </a:t>
            </a:r>
            <a:r>
              <a:rPr lang="en-US" dirty="0">
                <a:solidFill>
                  <a:schemeClr val="tx1"/>
                </a:solidFill>
              </a:rPr>
              <a:t>to Thread2</a:t>
            </a:r>
            <a:endParaRPr lang="en-US" b="1" dirty="0">
              <a:solidFill>
                <a:schemeClr val="tx1"/>
              </a:solidFill>
            </a:endParaRPr>
          </a:p>
          <a:p>
            <a:pPr>
              <a:defRPr/>
            </a:pPr>
            <a:endParaRPr lang="en-US" b="1" dirty="0"/>
          </a:p>
        </p:txBody>
      </p:sp>
      <p:sp>
        <p:nvSpPr>
          <p:cNvPr id="30722" name="Title 1"/>
          <p:cNvSpPr>
            <a:spLocks noGrp="1"/>
          </p:cNvSpPr>
          <p:nvPr>
            <p:ph type="title"/>
          </p:nvPr>
        </p:nvSpPr>
        <p:spPr>
          <a:xfrm>
            <a:off x="936516" y="749511"/>
            <a:ext cx="2106089" cy="630181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dirty="0"/>
              <a:t>Volatile</a:t>
            </a:r>
          </a:p>
        </p:txBody>
      </p:sp>
    </p:spTree>
    <p:extLst>
      <p:ext uri="{BB962C8B-B14F-4D97-AF65-F5344CB8AC3E}">
        <p14:creationId xmlns:p14="http://schemas.microsoft.com/office/powerpoint/2010/main" val="79807222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729195"/>
            <a:ext cx="10396380" cy="4906274"/>
          </a:xfrm>
        </p:spPr>
        <p:txBody>
          <a:bodyPr rtlCol="0">
            <a:normAutofit/>
          </a:bodyPr>
          <a:lstStyle/>
          <a:p>
            <a:pPr marL="0" indent="0">
              <a:buNone/>
              <a:defRPr/>
            </a:pPr>
            <a:r>
              <a:rPr lang="en-US" b="1" dirty="0">
                <a:solidFill>
                  <a:schemeClr val="tx1"/>
                </a:solidFill>
              </a:rPr>
              <a:t>Cache Hierarchy: </a:t>
            </a:r>
          </a:p>
          <a:p>
            <a:pPr marL="0" indent="0">
              <a:buNone/>
              <a:defRPr/>
            </a:pPr>
            <a:endParaRPr lang="en-US" b="1" dirty="0"/>
          </a:p>
          <a:p>
            <a:pPr marL="0" indent="0">
              <a:buNone/>
              <a:defRPr/>
            </a:pPr>
            <a:endParaRPr lang="en-US" b="1" dirty="0"/>
          </a:p>
          <a:p>
            <a:pPr marL="0" indent="0">
              <a:buNone/>
              <a:defRPr/>
            </a:pPr>
            <a:endParaRPr lang="en-US" b="1" dirty="0"/>
          </a:p>
          <a:p>
            <a:pPr marL="0" indent="0">
              <a:buNone/>
              <a:defRPr/>
            </a:pPr>
            <a:endParaRPr lang="en-US" b="1" dirty="0"/>
          </a:p>
          <a:p>
            <a:pPr marL="0" indent="0">
              <a:buNone/>
              <a:defRPr/>
            </a:pPr>
            <a:endParaRPr lang="en-US" b="1" dirty="0"/>
          </a:p>
          <a:p>
            <a:pPr marL="0" indent="0">
              <a:buNone/>
              <a:defRPr/>
            </a:pPr>
            <a:endParaRPr lang="en-US" b="1" dirty="0"/>
          </a:p>
          <a:p>
            <a:pPr marL="0" indent="0">
              <a:buNone/>
              <a:defRPr/>
            </a:pPr>
            <a:endParaRPr lang="en-US" b="1" dirty="0"/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Java Synchronized Visibility Guarantees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Use: volatile or synchronized</a:t>
            </a:r>
          </a:p>
        </p:txBody>
      </p:sp>
      <p:sp>
        <p:nvSpPr>
          <p:cNvPr id="30722" name="Title 1"/>
          <p:cNvSpPr>
            <a:spLocks noGrp="1"/>
          </p:cNvSpPr>
          <p:nvPr>
            <p:ph type="title"/>
          </p:nvPr>
        </p:nvSpPr>
        <p:spPr>
          <a:xfrm>
            <a:off x="936516" y="749511"/>
            <a:ext cx="2106089" cy="630181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dirty="0"/>
              <a:t>Volatile</a:t>
            </a:r>
          </a:p>
        </p:txBody>
      </p:sp>
      <p:sp>
        <p:nvSpPr>
          <p:cNvPr id="2" name="Rectangle 1"/>
          <p:cNvSpPr/>
          <p:nvPr/>
        </p:nvSpPr>
        <p:spPr>
          <a:xfrm>
            <a:off x="1356788" y="2641853"/>
            <a:ext cx="913662" cy="66546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count</a:t>
            </a:r>
          </a:p>
        </p:txBody>
      </p:sp>
      <p:sp>
        <p:nvSpPr>
          <p:cNvPr id="5" name="Rectangle 4"/>
          <p:cNvSpPr/>
          <p:nvPr/>
        </p:nvSpPr>
        <p:spPr>
          <a:xfrm>
            <a:off x="194748" y="2632037"/>
            <a:ext cx="1048088" cy="139452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count++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count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04290" y="2643210"/>
            <a:ext cx="2498565" cy="25842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0256" y="2271275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L1 cache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99305" y="2254609"/>
            <a:ext cx="1582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Main Memory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9374" y="225460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Thread 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94040" y="2640607"/>
            <a:ext cx="1031535" cy="108625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count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04755" y="2274557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L2 cache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49165" y="2642729"/>
            <a:ext cx="1031535" cy="19390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count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5730" y="2268000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L3 cache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32013" y="2629922"/>
            <a:ext cx="1031535" cy="19390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count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16248" y="2623941"/>
            <a:ext cx="1031535" cy="108625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count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61914" y="2623941"/>
            <a:ext cx="913662" cy="66546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count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727993" y="2610056"/>
            <a:ext cx="1185684" cy="139452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count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count++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68085" y="224072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Thread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73459" y="2254609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L1 cache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2988" y="2254609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L2 cache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53617" y="2240724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L3 cache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1152516" y="2836258"/>
            <a:ext cx="328326" cy="4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2176007" y="2828166"/>
            <a:ext cx="2783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V="1">
            <a:off x="3286414" y="2836258"/>
            <a:ext cx="431876" cy="67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4425968" y="2828166"/>
            <a:ext cx="120608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V="1">
            <a:off x="6303467" y="2828166"/>
            <a:ext cx="1173574" cy="148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8182994" y="2822771"/>
            <a:ext cx="548312" cy="53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9383592" y="2822771"/>
            <a:ext cx="4239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10460188" y="2822771"/>
            <a:ext cx="3588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30" name="Straight Arrow Connector 30729"/>
          <p:cNvCxnSpPr/>
          <p:nvPr/>
        </p:nvCxnSpPr>
        <p:spPr>
          <a:xfrm flipH="1" flipV="1">
            <a:off x="10430634" y="2957639"/>
            <a:ext cx="352100" cy="1416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 flipH="1" flipV="1">
            <a:off x="9218729" y="2956674"/>
            <a:ext cx="73544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 flipH="1" flipV="1">
            <a:off x="8109959" y="2973443"/>
            <a:ext cx="73544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 flipH="1" flipV="1">
            <a:off x="5993014" y="3027957"/>
            <a:ext cx="1590400" cy="3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 flipH="1" flipV="1">
            <a:off x="4231656" y="3024667"/>
            <a:ext cx="1590400" cy="3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flipH="1">
            <a:off x="3177295" y="3022181"/>
            <a:ext cx="828736" cy="49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 flipH="1">
            <a:off x="2007314" y="3012092"/>
            <a:ext cx="828736" cy="49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 flipH="1">
            <a:off x="972903" y="3021328"/>
            <a:ext cx="828736" cy="49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36" name="TextBox 30735"/>
          <p:cNvSpPr txBox="1"/>
          <p:nvPr/>
        </p:nvSpPr>
        <p:spPr>
          <a:xfrm>
            <a:off x="5308375" y="1492981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Cache not flushed!</a:t>
            </a:r>
          </a:p>
        </p:txBody>
      </p:sp>
      <p:cxnSp>
        <p:nvCxnSpPr>
          <p:cNvPr id="30738" name="Straight Arrow Connector 30737"/>
          <p:cNvCxnSpPr>
            <a:stCxn id="30736" idx="1"/>
          </p:cNvCxnSpPr>
          <p:nvPr/>
        </p:nvCxnSpPr>
        <p:spPr>
          <a:xfrm flipH="1">
            <a:off x="3549165" y="1677647"/>
            <a:ext cx="1759210" cy="64881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472548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>
          <a:xfrm>
            <a:off x="936516" y="749511"/>
            <a:ext cx="5593757" cy="630181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dirty="0"/>
              <a:t>Volatile keyword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729195"/>
            <a:ext cx="10396380" cy="4906274"/>
          </a:xfrm>
        </p:spPr>
        <p:txBody>
          <a:bodyPr rtlCol="0">
            <a:normAutofit/>
          </a:bodyPr>
          <a:lstStyle/>
          <a:p>
            <a:pPr marL="0" indent="0">
              <a:buNone/>
              <a:defRPr/>
            </a:pPr>
            <a:r>
              <a:rPr lang="en-US" b="1" dirty="0">
                <a:solidFill>
                  <a:schemeClr val="tx1"/>
                </a:solidFill>
              </a:rPr>
              <a:t>Volatile: 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“volatile” </a:t>
            </a:r>
            <a:r>
              <a:rPr lang="en-US" b="1" dirty="0">
                <a:solidFill>
                  <a:srgbClr val="FF0000"/>
                </a:solidFill>
              </a:rPr>
              <a:t>deactivates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the caching for a variable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“volatile” read it direct </a:t>
            </a:r>
            <a:r>
              <a:rPr lang="en-US" b="1" dirty="0">
                <a:solidFill>
                  <a:srgbClr val="00B050"/>
                </a:solidFill>
              </a:rPr>
              <a:t>from main memory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“volatile” prevents </a:t>
            </a:r>
            <a:r>
              <a:rPr lang="en-US" b="1" dirty="0">
                <a:solidFill>
                  <a:srgbClr val="00B0F0"/>
                </a:solidFill>
              </a:rPr>
              <a:t>reordering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of your code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“volatile” </a:t>
            </a:r>
            <a:r>
              <a:rPr lang="en-US" b="1" dirty="0">
                <a:solidFill>
                  <a:srgbClr val="FF0000"/>
                </a:solidFill>
              </a:rPr>
              <a:t>cannot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be used with classes/methods</a:t>
            </a:r>
          </a:p>
        </p:txBody>
      </p:sp>
    </p:spTree>
    <p:extLst>
      <p:ext uri="{BB962C8B-B14F-4D97-AF65-F5344CB8AC3E}">
        <p14:creationId xmlns:p14="http://schemas.microsoft.com/office/powerpoint/2010/main" val="69602241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>
          <a:xfrm>
            <a:off x="936516" y="749511"/>
            <a:ext cx="5593757" cy="630181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dirty="0"/>
              <a:t>Volatile keyword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729195"/>
            <a:ext cx="10396380" cy="4906274"/>
          </a:xfrm>
        </p:spPr>
        <p:txBody>
          <a:bodyPr rtlCol="0">
            <a:normAutofit/>
          </a:bodyPr>
          <a:lstStyle/>
          <a:p>
            <a:pPr marL="0" indent="0">
              <a:buNone/>
              <a:defRPr/>
            </a:pPr>
            <a:r>
              <a:rPr lang="en-US" b="1" dirty="0">
                <a:solidFill>
                  <a:schemeClr val="tx1"/>
                </a:solidFill>
              </a:rPr>
              <a:t>Volatile: 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Reading a “volatile” variable returns: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		the </a:t>
            </a:r>
            <a:r>
              <a:rPr lang="en-US" b="1" dirty="0">
                <a:solidFill>
                  <a:srgbClr val="00B050"/>
                </a:solidFill>
              </a:rPr>
              <a:t>most recent write </a:t>
            </a:r>
            <a:r>
              <a:rPr lang="en-US" dirty="0">
                <a:solidFill>
                  <a:schemeClr val="tx1"/>
                </a:solidFill>
              </a:rPr>
              <a:t>by any other thread.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Synchronize guarantee:</a:t>
            </a:r>
          </a:p>
          <a:p>
            <a:pPr lvl="1">
              <a:defRPr/>
            </a:pPr>
            <a:r>
              <a:rPr lang="en-US" b="1" dirty="0">
                <a:solidFill>
                  <a:srgbClr val="FF0000"/>
                </a:solidFill>
              </a:rPr>
              <a:t>Visibility</a:t>
            </a:r>
          </a:p>
          <a:p>
            <a:pPr lvl="1">
              <a:defRPr/>
            </a:pPr>
            <a:r>
              <a:rPr lang="en-US" dirty="0">
                <a:solidFill>
                  <a:schemeClr val="tx1"/>
                </a:solidFill>
              </a:rPr>
              <a:t>Atomicity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Volatile variables guarantees only </a:t>
            </a:r>
            <a:r>
              <a:rPr lang="en-US" b="1" dirty="0">
                <a:solidFill>
                  <a:srgbClr val="FF0000"/>
                </a:solidFill>
              </a:rPr>
              <a:t>visibility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890474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>
          <a:xfrm>
            <a:off x="936516" y="749511"/>
            <a:ext cx="5593757" cy="630181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dirty="0"/>
              <a:t>Volatile keyword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729195"/>
            <a:ext cx="10396380" cy="4906274"/>
          </a:xfrm>
        </p:spPr>
        <p:txBody>
          <a:bodyPr rtlCol="0">
            <a:normAutofit/>
          </a:bodyPr>
          <a:lstStyle/>
          <a:p>
            <a:pPr marL="0" indent="0">
              <a:buNone/>
              <a:defRPr/>
            </a:pPr>
            <a:r>
              <a:rPr lang="en-US" b="1" dirty="0">
                <a:solidFill>
                  <a:schemeClr val="tx1"/>
                </a:solidFill>
              </a:rPr>
              <a:t>Simple example for cache:</a:t>
            </a: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243" y="2350529"/>
            <a:ext cx="5225280" cy="293377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700" y="5584785"/>
            <a:ext cx="2095555" cy="76746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0702" y="2350529"/>
            <a:ext cx="5225280" cy="303719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3734" y="5546219"/>
            <a:ext cx="2100998" cy="93075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874184" y="2516623"/>
            <a:ext cx="647363" cy="190163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703734" y="6172875"/>
            <a:ext cx="1351254" cy="179373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11309" y="5826929"/>
            <a:ext cx="1582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Never stops!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693" y="5361553"/>
            <a:ext cx="16722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It should write 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it to memory</a:t>
            </a:r>
          </a:p>
        </p:txBody>
      </p:sp>
      <p:cxnSp>
        <p:nvCxnSpPr>
          <p:cNvPr id="13" name="Straight Arrow Connector 12"/>
          <p:cNvCxnSpPr>
            <a:stCxn id="11" idx="0"/>
          </p:cNvCxnSpPr>
          <p:nvPr/>
        </p:nvCxnSpPr>
        <p:spPr>
          <a:xfrm flipV="1">
            <a:off x="971820" y="4741933"/>
            <a:ext cx="638495" cy="6196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804387" y="1621780"/>
            <a:ext cx="23278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Or it got reordered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Wingdings" panose="05000000000000000000" pitchFamily="2" charset="2"/>
              </a:rPr>
              <a:t>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Wingdings" panose="05000000000000000000" pitchFamily="2" charset="2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Wingdings" panose="05000000000000000000" pitchFamily="2" charset="2"/>
              </a:rPr>
              <a:t>Pipelining, etc.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16" name="Straight Arrow Connector 15"/>
          <p:cNvCxnSpPr>
            <a:stCxn id="15" idx="1"/>
          </p:cNvCxnSpPr>
          <p:nvPr/>
        </p:nvCxnSpPr>
        <p:spPr>
          <a:xfrm flipH="1">
            <a:off x="3200401" y="1944946"/>
            <a:ext cx="1603986" cy="27969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5" idx="1"/>
          </p:cNvCxnSpPr>
          <p:nvPr/>
        </p:nvCxnSpPr>
        <p:spPr>
          <a:xfrm flipH="1">
            <a:off x="2981915" y="1944946"/>
            <a:ext cx="1822472" cy="10207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5A6DF9D-9DC5-E797-3F79-761E774DB76D}"/>
              </a:ext>
            </a:extLst>
          </p:cNvPr>
          <p:cNvSpPr txBox="1">
            <a:spLocks/>
          </p:cNvSpPr>
          <p:nvPr/>
        </p:nvSpPr>
        <p:spPr>
          <a:xfrm>
            <a:off x="936516" y="14205"/>
            <a:ext cx="9202096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CSEN160_07_Threads.I_volatileExample.A_ThreadNonVolatile</a:t>
            </a:r>
          </a:p>
        </p:txBody>
      </p:sp>
    </p:spTree>
    <p:extLst>
      <p:ext uri="{BB962C8B-B14F-4D97-AF65-F5344CB8AC3E}">
        <p14:creationId xmlns:p14="http://schemas.microsoft.com/office/powerpoint/2010/main" val="193418298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831850" y="2047285"/>
            <a:ext cx="10515600" cy="1816662"/>
          </a:xfrm>
        </p:spPr>
        <p:txBody>
          <a:bodyPr/>
          <a:lstStyle/>
          <a:p>
            <a:r>
              <a:rPr lang="en-US" altLang="en-US" dirty="0"/>
              <a:t>How to end Threads</a:t>
            </a:r>
          </a:p>
        </p:txBody>
      </p:sp>
    </p:spTree>
    <p:extLst>
      <p:ext uri="{BB962C8B-B14F-4D97-AF65-F5344CB8AC3E}">
        <p14:creationId xmlns:p14="http://schemas.microsoft.com/office/powerpoint/2010/main" val="388985368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ChangeArrowheads="1"/>
          </p:cNvSpPr>
          <p:nvPr/>
        </p:nvSpPr>
        <p:spPr bwMode="auto">
          <a:xfrm>
            <a:off x="911702" y="734352"/>
            <a:ext cx="5521465" cy="673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How to end Threads</a:t>
            </a:r>
          </a:p>
        </p:txBody>
      </p:sp>
      <p:sp>
        <p:nvSpPr>
          <p:cNvPr id="29700" name="Rectangle 3"/>
          <p:cNvSpPr>
            <a:spLocks noChangeArrowheads="1"/>
          </p:cNvSpPr>
          <p:nvPr/>
        </p:nvSpPr>
        <p:spPr bwMode="auto">
          <a:xfrm>
            <a:off x="911703" y="1536137"/>
            <a:ext cx="10400962" cy="51033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57150" marR="0" lvl="0" indent="0" algn="l" defTabSz="914400" rtl="0" eaLnBrk="0" fontAlgn="auto" latinLnBrk="0" hangingPunct="0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44546A"/>
              </a:buClr>
              <a:buSzPct val="75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If a Thread is in an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endless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 loop …</a:t>
            </a:r>
          </a:p>
          <a:p>
            <a:pPr marL="57150" marR="0" lvl="0" indent="0" algn="l" defTabSz="914400" rtl="0" eaLnBrk="0" fontAlgn="auto" latinLnBrk="0" hangingPunct="0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44546A"/>
              </a:buClr>
              <a:buSzPct val="75000"/>
              <a:buFont typeface="Arial" panose="020B0604020202020204" pitchFamily="34" charset="0"/>
              <a:buNone/>
              <a:tabLst/>
              <a:defRPr/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  <a:p>
            <a:pPr marL="57150" marR="0" lvl="0" indent="0" algn="l" defTabSz="914400" rtl="0" eaLnBrk="0" fontAlgn="auto" latinLnBrk="0" hangingPunct="0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44546A"/>
              </a:buClr>
              <a:buSzPct val="75000"/>
              <a:buFont typeface="Arial" panose="020B0604020202020204" pitchFamily="34" charset="0"/>
              <a:buNone/>
              <a:tabLst/>
              <a:defRPr/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  <a:p>
            <a:pPr marL="57150" marR="0" lvl="0" indent="0" algn="l" defTabSz="914400" rtl="0" eaLnBrk="0" fontAlgn="auto" latinLnBrk="0" hangingPunct="0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44546A"/>
              </a:buClr>
              <a:buSzPct val="75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First approach:</a:t>
            </a:r>
          </a:p>
          <a:p>
            <a:pPr marL="400050" marR="0" lvl="0" indent="-342900" algn="l" defTabSz="914400" rtl="0" eaLnBrk="0" fontAlgn="auto" latinLnBrk="0" hangingPunct="0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44546A"/>
              </a:buClr>
              <a:buSzPct val="75000"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  <a:p>
            <a:pPr marL="400050" marR="0" lvl="0" indent="-342900" algn="l" defTabSz="914400" rtl="0" eaLnBrk="0" fontAlgn="auto" latinLnBrk="0" hangingPunct="0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44546A"/>
              </a:buClr>
              <a:buSzPct val="7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Outside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: call interrupt()</a:t>
            </a:r>
          </a:p>
          <a:p>
            <a:pPr marL="400050" marR="0" lvl="0" indent="-342900" algn="l" defTabSz="914400" rtl="0" eaLnBrk="0" fontAlgn="auto" latinLnBrk="0" hangingPunct="0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44546A"/>
              </a:buClr>
              <a:buSzPct val="75000"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  <a:p>
            <a:pPr marL="400050" marR="0" lvl="0" indent="-342900" algn="l" defTabSz="914400" rtl="0" eaLnBrk="0" fontAlgn="auto" latinLnBrk="0" hangingPunct="0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44546A"/>
              </a:buClr>
              <a:buSzPct val="7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Thread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:  needs to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catch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InterruptException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!</a:t>
            </a:r>
          </a:p>
          <a:p>
            <a:pPr marL="400050" marR="0" lvl="0" indent="-342900" algn="l" defTabSz="914400" rtl="0" eaLnBrk="0" fontAlgn="auto" latinLnBrk="0" hangingPunct="0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44546A"/>
              </a:buClr>
              <a:buSzPct val="75000"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  <a:p>
            <a:pPr marL="400050" marR="0" lvl="0" indent="-342900" algn="l" defTabSz="914400" rtl="0" eaLnBrk="0" fontAlgn="auto" latinLnBrk="0" hangingPunct="0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44546A"/>
              </a:buClr>
              <a:buSzPct val="7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Thread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: and call interrupt() again</a:t>
            </a:r>
          </a:p>
          <a:p>
            <a:pPr marL="400050" marR="0" lvl="0" indent="-342900" algn="l" defTabSz="914400" rtl="0" eaLnBrk="0" fontAlgn="auto" latinLnBrk="0" hangingPunct="0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44546A"/>
              </a:buClr>
              <a:buSzPct val="75000"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  <a:p>
            <a:pPr marL="400050" marR="0" lvl="0" indent="-342900" algn="l" defTabSz="914400" rtl="0" eaLnBrk="0" fontAlgn="auto" latinLnBrk="0" hangingPunct="0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44546A"/>
              </a:buClr>
              <a:buSzPct val="75000"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321310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962" y="1651284"/>
            <a:ext cx="7571936" cy="4873082"/>
          </a:xfrm>
          <a:prstGeom prst="rect">
            <a:avLst/>
          </a:prstGeom>
        </p:spPr>
      </p:pic>
      <p:sp>
        <p:nvSpPr>
          <p:cNvPr id="29699" name="Rectangle 2"/>
          <p:cNvSpPr>
            <a:spLocks noChangeArrowheads="1"/>
          </p:cNvSpPr>
          <p:nvPr/>
        </p:nvSpPr>
        <p:spPr bwMode="auto">
          <a:xfrm>
            <a:off x="911703" y="734352"/>
            <a:ext cx="5282750" cy="673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How to end Threads</a:t>
            </a:r>
          </a:p>
        </p:txBody>
      </p:sp>
      <p:sp>
        <p:nvSpPr>
          <p:cNvPr id="29700" name="Rectangle 3"/>
          <p:cNvSpPr>
            <a:spLocks noChangeArrowheads="1"/>
          </p:cNvSpPr>
          <p:nvPr/>
        </p:nvSpPr>
        <p:spPr bwMode="auto">
          <a:xfrm>
            <a:off x="911703" y="1536137"/>
            <a:ext cx="10400962" cy="51033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57150" marR="0" lvl="0" indent="0" algn="l" defTabSz="914400" rtl="0" eaLnBrk="0" fontAlgn="auto" latinLnBrk="0" hangingPunct="0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44546A"/>
              </a:buClr>
              <a:buSzPct val="75000"/>
              <a:buFont typeface="Arial" panose="020B0604020202020204" pitchFamily="34" charset="0"/>
              <a:buNone/>
              <a:tabLst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9368" y="2791979"/>
            <a:ext cx="1734650" cy="3862191"/>
          </a:xfrm>
          <a:prstGeom prst="rect">
            <a:avLst/>
          </a:prstGeom>
        </p:spPr>
      </p:pic>
      <p:cxnSp>
        <p:nvCxnSpPr>
          <p:cNvPr id="5" name="Straight Arrow Connector 4"/>
          <p:cNvCxnSpPr/>
          <p:nvPr/>
        </p:nvCxnSpPr>
        <p:spPr>
          <a:xfrm>
            <a:off x="4309009" y="2350736"/>
            <a:ext cx="4725749" cy="11571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5122258" y="3266995"/>
            <a:ext cx="3977236" cy="21263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4309009" y="4009604"/>
            <a:ext cx="4818807" cy="21605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484370" y="6012382"/>
            <a:ext cx="1412579" cy="19420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002777" y="3006191"/>
            <a:ext cx="6481721" cy="14565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DB4835B-4625-4AC1-5E0F-7DB7FE9C0463}"/>
              </a:ext>
            </a:extLst>
          </p:cNvPr>
          <p:cNvSpPr txBox="1">
            <a:spLocks/>
          </p:cNvSpPr>
          <p:nvPr/>
        </p:nvSpPr>
        <p:spPr>
          <a:xfrm>
            <a:off x="936515" y="14205"/>
            <a:ext cx="10240821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CSEN160_07_Threads.A_SimpleExamples.F_KillingMe</a:t>
            </a:r>
          </a:p>
        </p:txBody>
      </p:sp>
    </p:spTree>
    <p:extLst>
      <p:ext uri="{BB962C8B-B14F-4D97-AF65-F5344CB8AC3E}">
        <p14:creationId xmlns:p14="http://schemas.microsoft.com/office/powerpoint/2010/main" val="267275994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ChangeArrowheads="1"/>
          </p:cNvSpPr>
          <p:nvPr/>
        </p:nvSpPr>
        <p:spPr bwMode="auto">
          <a:xfrm>
            <a:off x="911702" y="734352"/>
            <a:ext cx="6383267" cy="673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How to end Threads</a:t>
            </a:r>
          </a:p>
        </p:txBody>
      </p:sp>
      <p:sp>
        <p:nvSpPr>
          <p:cNvPr id="29700" name="Rectangle 3"/>
          <p:cNvSpPr>
            <a:spLocks noChangeArrowheads="1"/>
          </p:cNvSpPr>
          <p:nvPr/>
        </p:nvSpPr>
        <p:spPr bwMode="auto">
          <a:xfrm>
            <a:off x="911703" y="1536137"/>
            <a:ext cx="10400962" cy="51033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57150" marR="0" lvl="0" indent="0" algn="l" defTabSz="914400" rtl="0" eaLnBrk="0" fontAlgn="auto" latinLnBrk="0" hangingPunct="0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44546A"/>
              </a:buClr>
              <a:buSzPct val="75000"/>
              <a:buFont typeface="Arial" panose="020B0604020202020204" pitchFamily="34" charset="0"/>
              <a:buNone/>
              <a:tabLst/>
              <a:defRPr/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  <a:p>
            <a:pPr marL="57150" marR="0" lvl="0" indent="0" algn="l" defTabSz="914400" rtl="0" eaLnBrk="0" fontAlgn="auto" latinLnBrk="0" hangingPunct="0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44546A"/>
              </a:buClr>
              <a:buSzPct val="75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Why: “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Thread.currentThread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().interrupt();”?</a:t>
            </a:r>
          </a:p>
          <a:p>
            <a:pPr marL="400050" marR="0" lvl="0" indent="-342900" algn="l" defTabSz="914400" rtl="0" eaLnBrk="0" fontAlgn="auto" latinLnBrk="0" hangingPunct="0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44546A"/>
              </a:buClr>
              <a:buSzPct val="75000"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  <a:p>
            <a:pPr marL="400050" marR="0" lvl="0" indent="-342900" algn="l" defTabSz="914400" rtl="0" eaLnBrk="0" fontAlgn="auto" latinLnBrk="0" hangingPunct="0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44546A"/>
              </a:buClr>
              <a:buSzPct val="7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Thread is most of the time in sleep mode</a:t>
            </a:r>
          </a:p>
          <a:p>
            <a:pPr marL="400050" marR="0" lvl="0" indent="-342900" algn="l" defTabSz="914400" rtl="0" eaLnBrk="0" fontAlgn="auto" latinLnBrk="0" hangingPunct="0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44546A"/>
              </a:buClr>
              <a:buSzPct val="75000"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  <a:p>
            <a:pPr marL="400050" marR="0" lvl="0" indent="-342900" algn="l" defTabSz="914400" rtl="0" eaLnBrk="0" fontAlgn="auto" latinLnBrk="0" hangingPunct="0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44546A"/>
              </a:buClr>
              <a:buSzPct val="7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interrupt() interrupts the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sleep</a:t>
            </a:r>
          </a:p>
          <a:p>
            <a:pPr marL="400050" marR="0" lvl="0" indent="-342900" algn="l" defTabSz="914400" rtl="0" eaLnBrk="0" fontAlgn="auto" latinLnBrk="0" hangingPunct="0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44546A"/>
              </a:buClr>
              <a:buSzPct val="75000"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  <a:p>
            <a:pPr marL="400050" marR="0" lvl="0" indent="-342900" algn="l" defTabSz="914400" rtl="0" eaLnBrk="0" fontAlgn="auto" latinLnBrk="0" hangingPunct="0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44546A"/>
              </a:buClr>
              <a:buSzPct val="7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Need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another interrupt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to set “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isInterrupted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” flag</a:t>
            </a:r>
          </a:p>
          <a:p>
            <a:pPr marL="400050" marR="0" lvl="0" indent="-342900" algn="l" defTabSz="914400" rtl="0" eaLnBrk="0" fontAlgn="auto" latinLnBrk="0" hangingPunct="0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44546A"/>
              </a:buClr>
              <a:buSzPct val="75000"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513978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520" y="2410959"/>
            <a:ext cx="3677829" cy="4198584"/>
          </a:xfrm>
          <a:prstGeom prst="rect">
            <a:avLst/>
          </a:prstGeom>
        </p:spPr>
      </p:pic>
      <p:sp>
        <p:nvSpPr>
          <p:cNvPr id="29699" name="Rectangle 2"/>
          <p:cNvSpPr>
            <a:spLocks noChangeArrowheads="1"/>
          </p:cNvSpPr>
          <p:nvPr/>
        </p:nvSpPr>
        <p:spPr bwMode="auto">
          <a:xfrm>
            <a:off x="911703" y="734352"/>
            <a:ext cx="4760814" cy="673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How to end  Threads</a:t>
            </a:r>
          </a:p>
        </p:txBody>
      </p:sp>
      <p:sp>
        <p:nvSpPr>
          <p:cNvPr id="29700" name="Rectangle 3"/>
          <p:cNvSpPr>
            <a:spLocks noChangeArrowheads="1"/>
          </p:cNvSpPr>
          <p:nvPr/>
        </p:nvSpPr>
        <p:spPr bwMode="auto">
          <a:xfrm>
            <a:off x="911703" y="1536137"/>
            <a:ext cx="10400962" cy="51033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57150" marR="0" lvl="0" indent="0" algn="l" defTabSz="914400" rtl="0" eaLnBrk="0" fontAlgn="auto" latinLnBrk="0" hangingPunct="0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44546A"/>
              </a:buClr>
              <a:buSzPct val="75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If a Thread is in an endless loop: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  <a:p>
            <a:pPr marL="400050" marR="0" lvl="0" indent="-342900" algn="l" defTabSz="914400" rtl="0" eaLnBrk="0" fontAlgn="auto" latinLnBrk="0" hangingPunct="0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44546A"/>
              </a:buClr>
              <a:buSzPct val="7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stop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() – DEPRECATED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no replacement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  <a:sym typeface="Wingdings" panose="05000000000000000000" pitchFamily="2" charset="2"/>
              </a:rPr>
              <a:t>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  <a:p>
            <a:pPr marL="57150" marR="0" lvl="0" indent="0" algn="l" defTabSz="914400" rtl="0" eaLnBrk="0" fontAlgn="auto" latinLnBrk="0" hangingPunct="0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44546A"/>
              </a:buClr>
              <a:buSzPct val="75000"/>
              <a:buFont typeface="Arial" panose="020B0604020202020204" pitchFamily="34" charset="0"/>
              <a:buNone/>
              <a:tabLst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4353515" y="2985961"/>
            <a:ext cx="4859267" cy="4774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4960418" y="5454032"/>
            <a:ext cx="4252364" cy="7889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898258" y="6020474"/>
            <a:ext cx="990600" cy="1618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1384" y="2678265"/>
            <a:ext cx="2286792" cy="293356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86435" y="3853727"/>
            <a:ext cx="1633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Not executed</a:t>
            </a:r>
          </a:p>
        </p:txBody>
      </p:sp>
      <p:cxnSp>
        <p:nvCxnSpPr>
          <p:cNvPr id="19" name="Straight Arrow Connector 18"/>
          <p:cNvCxnSpPr>
            <a:stCxn id="17" idx="1"/>
          </p:cNvCxnSpPr>
          <p:nvPr/>
        </p:nvCxnSpPr>
        <p:spPr>
          <a:xfrm flipH="1" flipV="1">
            <a:off x="5045385" y="3657601"/>
            <a:ext cx="441050" cy="3807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7" idx="1"/>
          </p:cNvCxnSpPr>
          <p:nvPr/>
        </p:nvCxnSpPr>
        <p:spPr>
          <a:xfrm flipH="1">
            <a:off x="4353515" y="4038393"/>
            <a:ext cx="1132920" cy="22992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D0F68-8FFE-33BA-07B0-25266CA1A4B6}"/>
              </a:ext>
            </a:extLst>
          </p:cNvPr>
          <p:cNvSpPr txBox="1">
            <a:spLocks/>
          </p:cNvSpPr>
          <p:nvPr/>
        </p:nvSpPr>
        <p:spPr>
          <a:xfrm>
            <a:off x="936515" y="14205"/>
            <a:ext cx="10240821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CSEN160_07_Threads.A_SimpleExamples.F_KillingMe</a:t>
            </a:r>
          </a:p>
        </p:txBody>
      </p:sp>
    </p:spTree>
    <p:extLst>
      <p:ext uri="{BB962C8B-B14F-4D97-AF65-F5344CB8AC3E}">
        <p14:creationId xmlns:p14="http://schemas.microsoft.com/office/powerpoint/2010/main" val="243753425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ChangeArrowheads="1"/>
          </p:cNvSpPr>
          <p:nvPr/>
        </p:nvSpPr>
        <p:spPr bwMode="auto">
          <a:xfrm>
            <a:off x="911702" y="734352"/>
            <a:ext cx="6383267" cy="673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ThreadDeath</a:t>
            </a: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exception</a:t>
            </a:r>
          </a:p>
        </p:txBody>
      </p:sp>
      <p:sp>
        <p:nvSpPr>
          <p:cNvPr id="29700" name="Rectangle 3"/>
          <p:cNvSpPr>
            <a:spLocks noChangeArrowheads="1"/>
          </p:cNvSpPr>
          <p:nvPr/>
        </p:nvSpPr>
        <p:spPr bwMode="auto">
          <a:xfrm>
            <a:off x="911703" y="1536137"/>
            <a:ext cx="10400962" cy="51033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57150" marR="0" lvl="0" indent="0" algn="l" defTabSz="914400" rtl="0" eaLnBrk="0" fontAlgn="auto" latinLnBrk="0" hangingPunct="0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44546A"/>
              </a:buClr>
              <a:buSzPct val="75000"/>
              <a:buFont typeface="Arial" panose="020B0604020202020204" pitchFamily="34" charset="0"/>
              <a:buNone/>
              <a:tabLst/>
              <a:defRPr/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  <a:p>
            <a:pPr marL="57150" marR="0" lvl="0" indent="0" algn="l" defTabSz="914400" rtl="0" eaLnBrk="0" fontAlgn="auto" latinLnBrk="0" hangingPunct="0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44546A"/>
              </a:buClr>
              <a:buSzPct val="75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ThreadDeath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 exception:</a:t>
            </a:r>
          </a:p>
          <a:p>
            <a:pPr marL="400050" marR="0" lvl="0" indent="-342900" algn="l" defTabSz="914400" rtl="0" eaLnBrk="0" fontAlgn="auto" latinLnBrk="0" hangingPunct="0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44546A"/>
              </a:buClr>
              <a:buSzPct val="75000"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  <a:p>
            <a:pPr marL="400050" marR="0" lvl="0" indent="-342900" algn="l" defTabSz="914400" rtl="0" eaLnBrk="0" fontAlgn="auto" latinLnBrk="0" hangingPunct="0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44546A"/>
              </a:buClr>
              <a:buSzPct val="7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Intention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: </a:t>
            </a:r>
            <a:b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b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Gives time to clean up</a:t>
            </a:r>
          </a:p>
          <a:p>
            <a:pPr marL="400050" marR="0" lvl="0" indent="-342900" algn="l" defTabSz="914400" rtl="0" eaLnBrk="0" fontAlgn="auto" latinLnBrk="0" hangingPunct="0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44546A"/>
              </a:buClr>
              <a:buSzPct val="7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DEPREATED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8545" y="1536137"/>
            <a:ext cx="4778954" cy="490414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647607" y="3046651"/>
            <a:ext cx="3422931" cy="8051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5" name="Straight Arrow Connector 4"/>
          <p:cNvCxnSpPr>
            <a:cxnSpLocks/>
          </p:cNvCxnSpPr>
          <p:nvPr/>
        </p:nvCxnSpPr>
        <p:spPr>
          <a:xfrm>
            <a:off x="5085347" y="3324726"/>
            <a:ext cx="1792883" cy="820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70D60B0-200E-2C76-CBEF-7EA4B44E4771}"/>
              </a:ext>
            </a:extLst>
          </p:cNvPr>
          <p:cNvSpPr txBox="1">
            <a:spLocks/>
          </p:cNvSpPr>
          <p:nvPr/>
        </p:nvSpPr>
        <p:spPr>
          <a:xfrm>
            <a:off x="936515" y="14205"/>
            <a:ext cx="10240821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CSEN160_07_Threads.A_SimpleExamples.G_KillingMe_Unstoppable</a:t>
            </a:r>
          </a:p>
        </p:txBody>
      </p:sp>
    </p:spTree>
    <p:extLst>
      <p:ext uri="{BB962C8B-B14F-4D97-AF65-F5344CB8AC3E}">
        <p14:creationId xmlns:p14="http://schemas.microsoft.com/office/powerpoint/2010/main" val="98452637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831850" y="2047285"/>
            <a:ext cx="10515600" cy="1816662"/>
          </a:xfrm>
        </p:spPr>
        <p:txBody>
          <a:bodyPr/>
          <a:lstStyle/>
          <a:p>
            <a:r>
              <a:rPr lang="en-US" altLang="en-US" dirty="0"/>
              <a:t>Daemon</a:t>
            </a:r>
          </a:p>
        </p:txBody>
      </p:sp>
    </p:spTree>
    <p:extLst>
      <p:ext uri="{BB962C8B-B14F-4D97-AF65-F5344CB8AC3E}">
        <p14:creationId xmlns:p14="http://schemas.microsoft.com/office/powerpoint/2010/main" val="223467882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>
          <a:xfrm>
            <a:off x="936516" y="749511"/>
            <a:ext cx="5593757" cy="630181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dirty="0"/>
              <a:t>Daemon vs user threads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729195"/>
            <a:ext cx="10396380" cy="4906274"/>
          </a:xfrm>
        </p:spPr>
        <p:txBody>
          <a:bodyPr rtlCol="0">
            <a:normAutofit/>
          </a:bodyPr>
          <a:lstStyle/>
          <a:p>
            <a:pPr marL="0" indent="0">
              <a:buNone/>
              <a:defRPr/>
            </a:pPr>
            <a:r>
              <a:rPr lang="en-US" b="1" dirty="0">
                <a:solidFill>
                  <a:schemeClr val="tx1"/>
                </a:solidFill>
              </a:rPr>
              <a:t>Daemon thread: 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Is a </a:t>
            </a:r>
            <a:r>
              <a:rPr lang="en-US" b="1" dirty="0">
                <a:solidFill>
                  <a:srgbClr val="00B0F0"/>
                </a:solidFill>
              </a:rPr>
              <a:t>background </a:t>
            </a:r>
            <a:r>
              <a:rPr lang="en-US" b="1" dirty="0">
                <a:solidFill>
                  <a:schemeClr val="tx1"/>
                </a:solidFill>
              </a:rPr>
              <a:t>thread </a:t>
            </a:r>
            <a:r>
              <a:rPr lang="en-US" dirty="0">
                <a:solidFill>
                  <a:schemeClr val="tx1"/>
                </a:solidFill>
              </a:rPr>
              <a:t>with low priority. 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Creating thread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dies</a:t>
            </a:r>
            <a:r>
              <a:rPr lang="en-US" dirty="0">
                <a:solidFill>
                  <a:schemeClr val="tx1"/>
                </a:solidFill>
              </a:rPr>
              <a:t>, daemon thread </a:t>
            </a:r>
            <a:r>
              <a:rPr lang="en-US" b="1" dirty="0">
                <a:solidFill>
                  <a:schemeClr val="tx1"/>
                </a:solidFill>
              </a:rPr>
              <a:t>dies </a:t>
            </a:r>
            <a:r>
              <a:rPr lang="en-US" dirty="0">
                <a:solidFill>
                  <a:schemeClr val="tx1"/>
                </a:solidFill>
              </a:rPr>
              <a:t>with it.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A “daemon” </a:t>
            </a:r>
            <a:r>
              <a:rPr lang="en-US" b="1" dirty="0">
                <a:solidFill>
                  <a:srgbClr val="00B050"/>
                </a:solidFill>
              </a:rPr>
              <a:t>provides a general service </a:t>
            </a:r>
            <a:r>
              <a:rPr lang="en-US" dirty="0">
                <a:solidFill>
                  <a:schemeClr val="tx1"/>
                </a:solidFill>
              </a:rPr>
              <a:t>(background)</a:t>
            </a:r>
          </a:p>
        </p:txBody>
      </p:sp>
    </p:spTree>
    <p:extLst>
      <p:ext uri="{BB962C8B-B14F-4D97-AF65-F5344CB8AC3E}">
        <p14:creationId xmlns:p14="http://schemas.microsoft.com/office/powerpoint/2010/main" val="35059177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>
          <a:xfrm>
            <a:off x="936516" y="749511"/>
            <a:ext cx="5593757" cy="630181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dirty="0"/>
              <a:t>Daemon vs user threads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729195"/>
            <a:ext cx="10396380" cy="4906274"/>
          </a:xfrm>
        </p:spPr>
        <p:txBody>
          <a:bodyPr rtlCol="0">
            <a:normAutofit/>
          </a:bodyPr>
          <a:lstStyle/>
          <a:p>
            <a:pPr marL="0" indent="0">
              <a:buNone/>
              <a:defRPr/>
            </a:pPr>
            <a:r>
              <a:rPr lang="en-US" b="1" dirty="0">
                <a:solidFill>
                  <a:schemeClr val="tx1"/>
                </a:solidFill>
              </a:rPr>
              <a:t>Main difference</a:t>
            </a:r>
            <a:r>
              <a:rPr lang="en-US" dirty="0">
                <a:solidFill>
                  <a:schemeClr val="tx1"/>
                </a:solidFill>
              </a:rPr>
              <a:t>: 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Call </a:t>
            </a:r>
            <a:r>
              <a:rPr lang="en-US" i="1" dirty="0" err="1">
                <a:solidFill>
                  <a:schemeClr val="tx1"/>
                </a:solidFill>
              </a:rPr>
              <a:t>Thread.set</a:t>
            </a:r>
            <a:r>
              <a:rPr lang="en-US" b="1" i="1" dirty="0" err="1">
                <a:solidFill>
                  <a:srgbClr val="FF0000"/>
                </a:solidFill>
              </a:rPr>
              <a:t>Daemon</a:t>
            </a:r>
            <a:r>
              <a:rPr lang="en-US" i="1" dirty="0">
                <a:solidFill>
                  <a:schemeClr val="tx1"/>
                </a:solidFill>
              </a:rPr>
              <a:t>(true)</a:t>
            </a:r>
            <a:r>
              <a:rPr lang="en-US" dirty="0">
                <a:solidFill>
                  <a:schemeClr val="tx1"/>
                </a:solidFill>
              </a:rPr>
              <a:t> to make it a </a:t>
            </a:r>
            <a:r>
              <a:rPr lang="en-US" b="1" dirty="0">
                <a:solidFill>
                  <a:srgbClr val="FF0000"/>
                </a:solidFill>
              </a:rPr>
              <a:t>daemon</a:t>
            </a:r>
            <a:r>
              <a:rPr lang="en-US" dirty="0">
                <a:solidFill>
                  <a:schemeClr val="tx1"/>
                </a:solidFill>
              </a:rPr>
              <a:t>.</a:t>
            </a:r>
            <a:r>
              <a:rPr lang="en-US" dirty="0"/>
              <a:t> </a:t>
            </a:r>
          </a:p>
          <a:p>
            <a:pPr marL="0" indent="0">
              <a:buNone/>
              <a:defRPr/>
            </a:pPr>
            <a:endParaRPr lang="en-US" dirty="0"/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JVM is </a:t>
            </a:r>
            <a:r>
              <a:rPr lang="en-US" b="1" dirty="0">
                <a:solidFill>
                  <a:srgbClr val="FF0000"/>
                </a:solidFill>
              </a:rPr>
              <a:t>not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waiting that a daemon ends itself 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JVM </a:t>
            </a:r>
            <a:r>
              <a:rPr lang="en-US" b="1" dirty="0">
                <a:solidFill>
                  <a:srgbClr val="00B050"/>
                </a:solidFill>
              </a:rPr>
              <a:t>is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waiting for user Threads to terminate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621839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936516" y="737373"/>
            <a:ext cx="4003672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Daemons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5C38389-A90A-D0CC-5365-993AD06F9191}"/>
              </a:ext>
            </a:extLst>
          </p:cNvPr>
          <p:cNvSpPr txBox="1">
            <a:spLocks/>
          </p:cNvSpPr>
          <p:nvPr/>
        </p:nvSpPr>
        <p:spPr>
          <a:xfrm>
            <a:off x="936516" y="14205"/>
            <a:ext cx="9202096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CSEN160_07_Threads.E_daemon.A_ThreadDaemon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5F3973-646D-987F-0023-6D005F4C85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5506" y="838200"/>
            <a:ext cx="5881459" cy="572703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F342C11-7045-CFF9-864D-7D88AD525310}"/>
              </a:ext>
            </a:extLst>
          </p:cNvPr>
          <p:cNvSpPr/>
          <p:nvPr/>
        </p:nvSpPr>
        <p:spPr>
          <a:xfrm>
            <a:off x="4150896" y="2221832"/>
            <a:ext cx="3449052" cy="116305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864627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F92C1-ADB8-51A2-6537-6CEC60A2F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>
            <a:extLst>
              <a:ext uri="{FF2B5EF4-FFF2-40B4-BE49-F238E27FC236}">
                <a16:creationId xmlns:a16="http://schemas.microsoft.com/office/drawing/2014/main" id="{C44318D9-38D5-74D2-DB0E-6A0D2C43FBA7}"/>
              </a:ext>
            </a:extLst>
          </p:cNvPr>
          <p:cNvSpPr txBox="1">
            <a:spLocks noChangeArrowheads="1"/>
          </p:cNvSpPr>
          <p:nvPr/>
        </p:nvSpPr>
        <p:spPr>
          <a:xfrm>
            <a:off x="936516" y="737373"/>
            <a:ext cx="4003672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Daemons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3EF3BC4-045B-5A2A-26F2-DBE2D699329E}"/>
              </a:ext>
            </a:extLst>
          </p:cNvPr>
          <p:cNvSpPr txBox="1">
            <a:spLocks/>
          </p:cNvSpPr>
          <p:nvPr/>
        </p:nvSpPr>
        <p:spPr>
          <a:xfrm>
            <a:off x="936516" y="14205"/>
            <a:ext cx="9202096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CSEN160_07_Threads.E_daemon.B_ThreadDaemon_continues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B29743-9754-FAA4-3EBE-E206AEBA3F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0725" y="778042"/>
            <a:ext cx="4941854" cy="58342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107A329-B6EC-AE23-77FD-827CF78F736C}"/>
              </a:ext>
            </a:extLst>
          </p:cNvPr>
          <p:cNvSpPr/>
          <p:nvPr/>
        </p:nvSpPr>
        <p:spPr>
          <a:xfrm>
            <a:off x="4098759" y="2562725"/>
            <a:ext cx="3789945" cy="13234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981993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Problems with Threads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7790276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57603"/>
            <a:ext cx="5601849" cy="605905"/>
          </a:xfrm>
        </p:spPr>
        <p:txBody>
          <a:bodyPr/>
          <a:lstStyle/>
          <a:p>
            <a:r>
              <a:rPr lang="en-US" dirty="0"/>
              <a:t>Problems With Threads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684687"/>
            <a:ext cx="10436840" cy="4962919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Three types of problems: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Race conditions:	“counter” ARM assembler example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Deadlock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Starvation</a:t>
            </a:r>
          </a:p>
        </p:txBody>
      </p:sp>
    </p:spTree>
    <p:extLst>
      <p:ext uri="{BB962C8B-B14F-4D97-AF65-F5344CB8AC3E}">
        <p14:creationId xmlns:p14="http://schemas.microsoft.com/office/powerpoint/2010/main" val="67307614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7E6AA-57DD-8BCB-78C9-E18572E3D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id="{561F7DBA-23B5-9A49-8BB1-A88EE86A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33327"/>
            <a:ext cx="8151337" cy="715147"/>
          </a:xfrm>
          <a:ln>
            <a:miter lim="800000"/>
            <a:headEnd/>
            <a:tailEnd/>
          </a:ln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Assembler Example – Race Condition</a:t>
            </a:r>
            <a:endParaRPr lang="en-US" altLang="en-US" i="1" dirty="0">
              <a:solidFill>
                <a:srgbClr val="00B050"/>
              </a:solidFill>
            </a:endParaRPr>
          </a:p>
        </p:txBody>
      </p:sp>
      <p:sp>
        <p:nvSpPr>
          <p:cNvPr id="35843" name="Content Placeholder 2">
            <a:extLst>
              <a:ext uri="{FF2B5EF4-FFF2-40B4-BE49-F238E27FC236}">
                <a16:creationId xmlns:a16="http://schemas.microsoft.com/office/drawing/2014/main" id="{9BEE6462-B755-A1C3-AE20-089A38741F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1323238"/>
            <a:ext cx="10400426" cy="4906274"/>
          </a:xfrm>
          <a:ln>
            <a:miter lim="800000"/>
            <a:headEnd/>
            <a:tailEnd/>
          </a:ln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dirty="0">
                <a:solidFill>
                  <a:schemeClr val="tx1"/>
                </a:solidFill>
              </a:rPr>
              <a:t>ARM assembler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77817D-7FFE-D680-13C0-CF3BF6F2F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640" y="2070680"/>
            <a:ext cx="2871353" cy="456325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D63A0F-2F07-79E4-ADE0-ED3F639735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6689" y="2098748"/>
            <a:ext cx="2848641" cy="452716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A957DB7-27D1-7835-074A-304626E48F31}"/>
              </a:ext>
            </a:extLst>
          </p:cNvPr>
          <p:cNvSpPr/>
          <p:nvPr/>
        </p:nvSpPr>
        <p:spPr>
          <a:xfrm>
            <a:off x="7851008" y="3757859"/>
            <a:ext cx="1240843" cy="18448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FCB1B8-7E30-6C72-3A20-7398F5427AA7}"/>
              </a:ext>
            </a:extLst>
          </p:cNvPr>
          <p:cNvSpPr/>
          <p:nvPr/>
        </p:nvSpPr>
        <p:spPr>
          <a:xfrm>
            <a:off x="2374316" y="3725780"/>
            <a:ext cx="1240843" cy="18448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9C72AE-874A-571F-4B59-85BA27CC11B0}"/>
              </a:ext>
            </a:extLst>
          </p:cNvPr>
          <p:cNvSpPr/>
          <p:nvPr/>
        </p:nvSpPr>
        <p:spPr>
          <a:xfrm>
            <a:off x="7851008" y="4439649"/>
            <a:ext cx="755572" cy="18448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AFE4BC-C071-5CA6-7A3F-53DD05D36A9B}"/>
              </a:ext>
            </a:extLst>
          </p:cNvPr>
          <p:cNvSpPr/>
          <p:nvPr/>
        </p:nvSpPr>
        <p:spPr>
          <a:xfrm>
            <a:off x="2374316" y="4415591"/>
            <a:ext cx="755572" cy="18448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1531AA-19A5-E7D0-8A6A-A5CBC0AC5525}"/>
              </a:ext>
            </a:extLst>
          </p:cNvPr>
          <p:cNvSpPr/>
          <p:nvPr/>
        </p:nvSpPr>
        <p:spPr>
          <a:xfrm>
            <a:off x="1034716" y="6264700"/>
            <a:ext cx="8053137" cy="178556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F5E19C-80EF-5F67-3D95-526AD5C250B4}"/>
              </a:ext>
            </a:extLst>
          </p:cNvPr>
          <p:cNvSpPr txBox="1"/>
          <p:nvPr/>
        </p:nvSpPr>
        <p:spPr>
          <a:xfrm>
            <a:off x="4109227" y="5955520"/>
            <a:ext cx="1980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Shared Resource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828D93-7C08-15F4-3DC6-9F52DC59CBB1}"/>
              </a:ext>
            </a:extLst>
          </p:cNvPr>
          <p:cNvSpPr txBox="1"/>
          <p:nvPr/>
        </p:nvSpPr>
        <p:spPr>
          <a:xfrm>
            <a:off x="7299148" y="1729416"/>
            <a:ext cx="104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Thread2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B108EA-6553-42C9-1256-25CC37805040}"/>
              </a:ext>
            </a:extLst>
          </p:cNvPr>
          <p:cNvSpPr txBox="1"/>
          <p:nvPr/>
        </p:nvSpPr>
        <p:spPr>
          <a:xfrm>
            <a:off x="1776656" y="1727010"/>
            <a:ext cx="104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Thread1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98E1AE-CBDE-FFFF-2C4C-20BB8A924FEE}"/>
              </a:ext>
            </a:extLst>
          </p:cNvPr>
          <p:cNvSpPr txBox="1"/>
          <p:nvPr/>
        </p:nvSpPr>
        <p:spPr>
          <a:xfrm>
            <a:off x="3771795" y="3696566"/>
            <a:ext cx="26548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Load the address from counter = $18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42485D-265A-0F2C-BD6A-54B315225254}"/>
              </a:ext>
            </a:extLst>
          </p:cNvPr>
          <p:cNvSpPr txBox="1"/>
          <p:nvPr/>
        </p:nvSpPr>
        <p:spPr>
          <a:xfrm>
            <a:off x="9202759" y="3717754"/>
            <a:ext cx="26548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Load the address from counter = $18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6702B20-D698-FA83-1AB8-44CECCA79465}"/>
              </a:ext>
            </a:extLst>
          </p:cNvPr>
          <p:cNvSpPr txBox="1"/>
          <p:nvPr/>
        </p:nvSpPr>
        <p:spPr>
          <a:xfrm>
            <a:off x="3774662" y="3923501"/>
            <a:ext cx="269336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Load the value from address $18 = 12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CE49C6-AA85-124C-13FD-1845023C0BB6}"/>
              </a:ext>
            </a:extLst>
          </p:cNvPr>
          <p:cNvSpPr txBox="1"/>
          <p:nvPr/>
        </p:nvSpPr>
        <p:spPr>
          <a:xfrm>
            <a:off x="3771795" y="4362522"/>
            <a:ext cx="304602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Write value 13 back to what $18 is pointing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A551F2-3ECA-ABFB-18ED-98B0F6AA6752}"/>
              </a:ext>
            </a:extLst>
          </p:cNvPr>
          <p:cNvSpPr txBox="1"/>
          <p:nvPr/>
        </p:nvSpPr>
        <p:spPr>
          <a:xfrm>
            <a:off x="3743200" y="4137810"/>
            <a:ext cx="85632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13 = 12+ 1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EDB1DCC-A9AE-4F66-CE85-EDA1ADAA4801}"/>
              </a:ext>
            </a:extLst>
          </p:cNvPr>
          <p:cNvSpPr txBox="1"/>
          <p:nvPr/>
        </p:nvSpPr>
        <p:spPr>
          <a:xfrm>
            <a:off x="9222267" y="4153981"/>
            <a:ext cx="85632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13 = 12+ 1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C3E8E5-8DDC-FDFE-3C10-21EEF25F8693}"/>
              </a:ext>
            </a:extLst>
          </p:cNvPr>
          <p:cNvSpPr txBox="1"/>
          <p:nvPr/>
        </p:nvSpPr>
        <p:spPr>
          <a:xfrm>
            <a:off x="9202746" y="3910264"/>
            <a:ext cx="26548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Load the address from counter = $18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C71D8F4-AA0A-9318-FA51-1CFC21C4EE0A}"/>
              </a:ext>
            </a:extLst>
          </p:cNvPr>
          <p:cNvSpPr txBox="1"/>
          <p:nvPr/>
        </p:nvSpPr>
        <p:spPr>
          <a:xfrm>
            <a:off x="9224692" y="4401085"/>
            <a:ext cx="304602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Write value 13 back to what $18 is pointing</a:t>
            </a:r>
          </a:p>
        </p:txBody>
      </p:sp>
    </p:spTree>
    <p:extLst>
      <p:ext uri="{BB962C8B-B14F-4D97-AF65-F5344CB8AC3E}">
        <p14:creationId xmlns:p14="http://schemas.microsoft.com/office/powerpoint/2010/main" val="402625205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9465" y="704007"/>
            <a:ext cx="2732411" cy="679731"/>
          </a:xfrm>
        </p:spPr>
        <p:txBody>
          <a:bodyPr/>
          <a:lstStyle/>
          <a:p>
            <a:r>
              <a:rPr lang="en-US" dirty="0"/>
              <a:t>Deadlock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9465" y="1445314"/>
            <a:ext cx="10391523" cy="516804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Is when a thread </a:t>
            </a:r>
            <a:r>
              <a:rPr lang="en-US" i="1" dirty="0">
                <a:solidFill>
                  <a:schemeClr val="tx1"/>
                </a:solidFill>
              </a:rPr>
              <a:t>holds </a:t>
            </a:r>
            <a:r>
              <a:rPr lang="en-US" b="1" dirty="0">
                <a:solidFill>
                  <a:srgbClr val="00B0F0"/>
                </a:solidFill>
              </a:rPr>
              <a:t>a resource</a:t>
            </a:r>
            <a:r>
              <a:rPr lang="en-US" dirty="0"/>
              <a:t>, </a:t>
            </a:r>
            <a:r>
              <a:rPr lang="en-US" dirty="0">
                <a:solidFill>
                  <a:schemeClr val="tx1"/>
                </a:solidFill>
              </a:rPr>
              <a:t>as well as </a:t>
            </a:r>
            <a:r>
              <a:rPr lang="en-US" i="1" dirty="0">
                <a:solidFill>
                  <a:schemeClr val="tx1"/>
                </a:solidFill>
              </a:rPr>
              <a:t>waiting </a:t>
            </a:r>
            <a:r>
              <a:rPr lang="en-US" dirty="0">
                <a:solidFill>
                  <a:schemeClr val="tx1"/>
                </a:solidFill>
              </a:rPr>
              <a:t>for </a:t>
            </a:r>
            <a:r>
              <a:rPr lang="en-US" b="1" dirty="0">
                <a:solidFill>
                  <a:srgbClr val="00B0F0"/>
                </a:solidFill>
              </a:rPr>
              <a:t>a resource </a:t>
            </a:r>
            <a:br>
              <a:rPr lang="en-US" b="1" dirty="0">
                <a:solidFill>
                  <a:srgbClr val="00B0F0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that is held by another thread.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Thread1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holds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Lock1 and is blocked </a:t>
            </a:r>
            <a:r>
              <a:rPr lang="en-US" b="1" dirty="0">
                <a:solidFill>
                  <a:srgbClr val="FF0000"/>
                </a:solidFill>
              </a:rPr>
              <a:t>waiting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for Lock2.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Thread2 </a:t>
            </a:r>
            <a:r>
              <a:rPr lang="en-US" b="1" dirty="0">
                <a:solidFill>
                  <a:srgbClr val="FF0000"/>
                </a:solidFill>
              </a:rPr>
              <a:t>holds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Lock2 and is blocked </a:t>
            </a:r>
            <a:r>
              <a:rPr lang="en-US" b="1" dirty="0">
                <a:solidFill>
                  <a:srgbClr val="FF0000"/>
                </a:solidFill>
              </a:rPr>
              <a:t>waiting</a:t>
            </a:r>
            <a:r>
              <a:rPr lang="en-US" dirty="0"/>
              <a:t> for Lock1. </a:t>
            </a:r>
            <a:br>
              <a:rPr lang="en-US" dirty="0"/>
            </a:br>
            <a:r>
              <a:rPr lang="en-US" b="1" dirty="0">
                <a:solidFill>
                  <a:srgbClr val="FF0000"/>
                </a:solidFill>
              </a:rPr>
              <a:t>No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thread can proceed; thus, a deadlock has occurred.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2990" y="2512325"/>
            <a:ext cx="3663696" cy="2915408"/>
          </a:xfrm>
          <a:prstGeom prst="rect">
            <a:avLst/>
          </a:prstGeom>
        </p:spPr>
      </p:pic>
      <p:pic>
        <p:nvPicPr>
          <p:cNvPr id="1026" name="Picture 2" descr="r/pics - Traffic Deadlock">
            <a:extLst>
              <a:ext uri="{FF2B5EF4-FFF2-40B4-BE49-F238E27FC236}">
                <a16:creationId xmlns:a16="http://schemas.microsoft.com/office/drawing/2014/main" id="{EE3719E7-CB95-9737-479A-D61BCD8837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9172" y="2965211"/>
            <a:ext cx="3327592" cy="2365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4DF8DD8-3169-06C8-311A-99CFDDDFF35F}"/>
              </a:ext>
            </a:extLst>
          </p:cNvPr>
          <p:cNvSpPr txBox="1"/>
          <p:nvPr/>
        </p:nvSpPr>
        <p:spPr>
          <a:xfrm>
            <a:off x="8561425" y="2512325"/>
            <a:ext cx="2091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Or traffic Deadlock</a:t>
            </a:r>
          </a:p>
        </p:txBody>
      </p:sp>
    </p:spTree>
    <p:extLst>
      <p:ext uri="{BB962C8B-B14F-4D97-AF65-F5344CB8AC3E}">
        <p14:creationId xmlns:p14="http://schemas.microsoft.com/office/powerpoint/2010/main" val="211190114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9465" y="704007"/>
            <a:ext cx="2732411" cy="679731"/>
          </a:xfrm>
        </p:spPr>
        <p:txBody>
          <a:bodyPr/>
          <a:lstStyle/>
          <a:p>
            <a:r>
              <a:rPr lang="en-US" dirty="0"/>
              <a:t>Deadlock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9464" y="1565810"/>
            <a:ext cx="10391523" cy="50494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Example: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212" y="2122576"/>
            <a:ext cx="5296039" cy="324402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415" y="2319321"/>
            <a:ext cx="5181736" cy="267251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415" y="1014841"/>
            <a:ext cx="2977321" cy="91986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9938" y="5483095"/>
            <a:ext cx="2427578" cy="1132144"/>
          </a:xfrm>
          <a:prstGeom prst="rect">
            <a:avLst/>
          </a:prstGeom>
        </p:spPr>
      </p:pic>
      <p:cxnSp>
        <p:nvCxnSpPr>
          <p:cNvPr id="10" name="Straight Arrow Connector 9"/>
          <p:cNvCxnSpPr/>
          <p:nvPr/>
        </p:nvCxnSpPr>
        <p:spPr>
          <a:xfrm>
            <a:off x="5603735" y="3281320"/>
            <a:ext cx="339865" cy="27189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7169475" y="2880765"/>
            <a:ext cx="178094" cy="33258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3742566" y="4701473"/>
            <a:ext cx="1467372" cy="16062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>
            <a:off x="7529639" y="3880131"/>
            <a:ext cx="2306230" cy="26015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65AD928-DEB6-DF4B-B907-F7E391F7B67C}"/>
              </a:ext>
            </a:extLst>
          </p:cNvPr>
          <p:cNvSpPr txBox="1">
            <a:spLocks/>
          </p:cNvSpPr>
          <p:nvPr/>
        </p:nvSpPr>
        <p:spPr>
          <a:xfrm>
            <a:off x="936516" y="14205"/>
            <a:ext cx="9202096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CSEN160_07_Threads.F_threadProblems.A_Deadlock</a:t>
            </a:r>
          </a:p>
        </p:txBody>
      </p:sp>
    </p:spTree>
    <p:extLst>
      <p:ext uri="{BB962C8B-B14F-4D97-AF65-F5344CB8AC3E}">
        <p14:creationId xmlns:p14="http://schemas.microsoft.com/office/powerpoint/2010/main" val="358073848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65695"/>
            <a:ext cx="2725130" cy="601859"/>
          </a:xfrm>
        </p:spPr>
        <p:txBody>
          <a:bodyPr/>
          <a:lstStyle/>
          <a:p>
            <a:r>
              <a:rPr lang="en-US" dirty="0"/>
              <a:t>Starvation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644227"/>
            <a:ext cx="10376149" cy="499528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Starvation </a:t>
            </a:r>
            <a:r>
              <a:rPr lang="en-US" dirty="0">
                <a:solidFill>
                  <a:schemeClr val="tx1"/>
                </a:solidFill>
              </a:rPr>
              <a:t>occurs when a thread is not in a deadlock but is unable to continue: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Priority level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Lock on object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Etc.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358973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65695"/>
            <a:ext cx="2725130" cy="601859"/>
          </a:xfrm>
        </p:spPr>
        <p:txBody>
          <a:bodyPr/>
          <a:lstStyle/>
          <a:p>
            <a:r>
              <a:rPr lang="en-US" dirty="0"/>
              <a:t>Starvation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644227"/>
            <a:ext cx="10376149" cy="49952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Example: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High </a:t>
            </a:r>
            <a:r>
              <a:rPr lang="en-US" b="1" dirty="0">
                <a:solidFill>
                  <a:srgbClr val="00B050"/>
                </a:solidFill>
              </a:rPr>
              <a:t>priority</a:t>
            </a:r>
            <a:r>
              <a:rPr lang="en-US" dirty="0">
                <a:solidFill>
                  <a:schemeClr val="tx1"/>
                </a:solidFill>
              </a:rPr>
              <a:t> threads are always selected to run; 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A low priority thread may never run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Resulting in starvation.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77590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936516" y="737373"/>
            <a:ext cx="4003672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Threads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394" y="2302576"/>
            <a:ext cx="4675537" cy="27106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2779" y="1041705"/>
            <a:ext cx="5143635" cy="550287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4E893E5-B206-01F1-4513-A9E78672B7FF}"/>
              </a:ext>
            </a:extLst>
          </p:cNvPr>
          <p:cNvSpPr txBox="1">
            <a:spLocks/>
          </p:cNvSpPr>
          <p:nvPr/>
        </p:nvSpPr>
        <p:spPr>
          <a:xfrm>
            <a:off x="936516" y="14205"/>
            <a:ext cx="9202096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CSEN160_07_Threads.F_threadProblems.B_Starvation</a:t>
            </a:r>
          </a:p>
        </p:txBody>
      </p:sp>
    </p:spTree>
    <p:extLst>
      <p:ext uri="{BB962C8B-B14F-4D97-AF65-F5344CB8AC3E}">
        <p14:creationId xmlns:p14="http://schemas.microsoft.com/office/powerpoint/2010/main" val="215606160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Virtual Threads</a:t>
            </a:r>
            <a:br>
              <a:rPr lang="en-US" dirty="0"/>
            </a:br>
            <a:r>
              <a:rPr lang="en-US" dirty="0"/>
              <a:t>JDK 21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7100344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57603"/>
            <a:ext cx="5601849" cy="605905"/>
          </a:xfrm>
        </p:spPr>
        <p:txBody>
          <a:bodyPr/>
          <a:lstStyle/>
          <a:p>
            <a:r>
              <a:rPr lang="en-US" dirty="0"/>
              <a:t>Virtual Threads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684687"/>
            <a:ext cx="10436840" cy="4962919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Virtual Threads: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b="1" dirty="0">
                <a:solidFill>
                  <a:schemeClr val="tx1"/>
                </a:solidFill>
              </a:rPr>
              <a:t>New</a:t>
            </a:r>
            <a:r>
              <a:rPr lang="en-US" dirty="0">
                <a:solidFill>
                  <a:schemeClr val="tx1"/>
                </a:solidFill>
              </a:rPr>
              <a:t> in JDK 21</a:t>
            </a:r>
          </a:p>
          <a:p>
            <a:pPr lvl="1"/>
            <a:endParaRPr lang="en-US" dirty="0"/>
          </a:p>
          <a:p>
            <a:pPr lvl="2"/>
            <a:r>
              <a:rPr lang="en-US" b="1" dirty="0">
                <a:solidFill>
                  <a:srgbClr val="00B050"/>
                </a:solidFill>
              </a:rPr>
              <a:t>Virtual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Thread </a:t>
            </a:r>
            <a:r>
              <a:rPr lang="en-US">
                <a:solidFill>
                  <a:schemeClr val="tx1"/>
                </a:solidFill>
              </a:rPr>
              <a:t>(Project Loom)</a:t>
            </a:r>
            <a:endParaRPr lang="en-US" dirty="0">
              <a:solidFill>
                <a:schemeClr val="tx1"/>
              </a:solidFill>
            </a:endParaRPr>
          </a:p>
          <a:p>
            <a:pPr lvl="2"/>
            <a:endParaRPr lang="en-US" dirty="0">
              <a:solidFill>
                <a:schemeClr val="tx1"/>
              </a:solidFill>
            </a:endParaRPr>
          </a:p>
          <a:p>
            <a:pPr lvl="2"/>
            <a:r>
              <a:rPr lang="en-US" dirty="0">
                <a:solidFill>
                  <a:schemeClr val="tx1"/>
                </a:solidFill>
              </a:rPr>
              <a:t>Platform Thread (OS native Thread)</a:t>
            </a:r>
          </a:p>
          <a:p>
            <a:pPr lvl="1"/>
            <a:endParaRPr lang="en-US" dirty="0"/>
          </a:p>
          <a:p>
            <a:pPr lvl="1"/>
            <a:r>
              <a:rPr lang="en-US" b="1" dirty="0">
                <a:solidFill>
                  <a:srgbClr val="00B050"/>
                </a:solidFill>
              </a:rPr>
              <a:t>Virtual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Threads are created but not mounted.</a:t>
            </a:r>
          </a:p>
          <a:p>
            <a:pPr marL="457200" lvl="1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b="1" dirty="0">
                <a:solidFill>
                  <a:schemeClr val="tx1"/>
                </a:solidFill>
              </a:rPr>
              <a:t>Basically</a:t>
            </a:r>
            <a:r>
              <a:rPr lang="en-US" dirty="0">
                <a:solidFill>
                  <a:schemeClr val="tx1"/>
                </a:solidFill>
              </a:rPr>
              <a:t>: A Thread, </a:t>
            </a:r>
            <a:r>
              <a:rPr lang="en-US" b="1" dirty="0">
                <a:solidFill>
                  <a:srgbClr val="00B050"/>
                </a:solidFill>
              </a:rPr>
              <a:t>initiated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but not </a:t>
            </a:r>
            <a:r>
              <a:rPr lang="en-US" b="1" dirty="0">
                <a:solidFill>
                  <a:srgbClr val="00B0F0"/>
                </a:solidFill>
              </a:rPr>
              <a:t>started</a:t>
            </a:r>
            <a:r>
              <a:rPr lang="en-US" dirty="0">
                <a:solidFill>
                  <a:schemeClr val="tx1"/>
                </a:solidFill>
              </a:rPr>
              <a:t>, managed in a pool</a:t>
            </a:r>
          </a:p>
        </p:txBody>
      </p:sp>
    </p:spTree>
    <p:extLst>
      <p:ext uri="{BB962C8B-B14F-4D97-AF65-F5344CB8AC3E}">
        <p14:creationId xmlns:p14="http://schemas.microsoft.com/office/powerpoint/2010/main" val="124177736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9F600-AD71-E22A-E766-B1A9C7555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1F691-8667-8A42-39F4-CD7B1AC40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57603"/>
            <a:ext cx="5601849" cy="605905"/>
          </a:xfrm>
        </p:spPr>
        <p:txBody>
          <a:bodyPr/>
          <a:lstStyle/>
          <a:p>
            <a:r>
              <a:rPr lang="en-US" dirty="0"/>
              <a:t>Virtual Threads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34E19-A3CA-B2BB-0689-B070CDFD63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1684687"/>
            <a:ext cx="10436840" cy="4962919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Virtual Threads: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b="1" dirty="0">
                <a:solidFill>
                  <a:srgbClr val="00B050"/>
                </a:solidFill>
              </a:rPr>
              <a:t>Lightweight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(memory, creation)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Implemented in the </a:t>
            </a:r>
            <a:r>
              <a:rPr lang="en-US" b="1" dirty="0">
                <a:solidFill>
                  <a:srgbClr val="0070C0"/>
                </a:solidFill>
              </a:rPr>
              <a:t>JVM</a:t>
            </a:r>
            <a:r>
              <a:rPr lang="en-US" dirty="0">
                <a:solidFill>
                  <a:schemeClr val="tx1"/>
                </a:solidFill>
              </a:rPr>
              <a:t> (Project Loom)</a:t>
            </a:r>
          </a:p>
          <a:p>
            <a:pPr marL="457200" lvl="1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Cheap to create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Millions of them (if needed)</a:t>
            </a:r>
          </a:p>
        </p:txBody>
      </p:sp>
    </p:spTree>
    <p:extLst>
      <p:ext uri="{BB962C8B-B14F-4D97-AF65-F5344CB8AC3E}">
        <p14:creationId xmlns:p14="http://schemas.microsoft.com/office/powerpoint/2010/main" val="3636714486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57603"/>
            <a:ext cx="5601849" cy="605905"/>
          </a:xfrm>
        </p:spPr>
        <p:txBody>
          <a:bodyPr/>
          <a:lstStyle/>
          <a:p>
            <a:r>
              <a:rPr lang="en-US" dirty="0"/>
              <a:t>Virtual Threads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33322" y="1934040"/>
            <a:ext cx="1747879" cy="394082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OS Thread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70885" y="2373032"/>
            <a:ext cx="1529395" cy="3457322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Platform Thread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55853" y="3075017"/>
            <a:ext cx="1314956" cy="2743199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Virtual Thread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71136" y="1182458"/>
            <a:ext cx="16749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Mounted Virtual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Thread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2494" y="3145864"/>
            <a:ext cx="1768110" cy="2686556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367163" y="3325237"/>
            <a:ext cx="1344627" cy="70535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Virtual Thread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7163" y="4141184"/>
            <a:ext cx="1344627" cy="70535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Virtual Thread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7163" y="4942972"/>
            <a:ext cx="1344627" cy="70535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Virtual Thread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76337" y="2467482"/>
            <a:ext cx="23262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Unmounted Blocked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Virtual Threads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25059" y="3143798"/>
            <a:ext cx="1768110" cy="2686556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259728" y="3323171"/>
            <a:ext cx="1344627" cy="70535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Virtual Thread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59728" y="4139118"/>
            <a:ext cx="1344627" cy="70535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Virtual Thread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59728" y="4940906"/>
            <a:ext cx="1344627" cy="70535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Virtual Thread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2619" y="2407780"/>
            <a:ext cx="24929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Unmounted Runnable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Virtual Threads</a:t>
            </a:r>
          </a:p>
        </p:txBody>
      </p:sp>
      <p:cxnSp>
        <p:nvCxnSpPr>
          <p:cNvPr id="22" name="Straight Arrow Connector 21"/>
          <p:cNvCxnSpPr>
            <a:stCxn id="8" idx="2"/>
            <a:endCxn id="7" idx="0"/>
          </p:cNvCxnSpPr>
          <p:nvPr/>
        </p:nvCxnSpPr>
        <p:spPr>
          <a:xfrm>
            <a:off x="6208609" y="1767233"/>
            <a:ext cx="4722" cy="13077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403733" y="5940946"/>
            <a:ext cx="301076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Ready to go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As least as much as you have CPU cores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13498" y="3693423"/>
            <a:ext cx="147679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Blocked by: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I/O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Synchronized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Wait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Sleep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Etc.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131505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57603"/>
            <a:ext cx="5601849" cy="605905"/>
          </a:xfrm>
        </p:spPr>
        <p:txBody>
          <a:bodyPr/>
          <a:lstStyle/>
          <a:p>
            <a:r>
              <a:rPr lang="en-US" dirty="0"/>
              <a:t>Virtual Threads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684687"/>
            <a:ext cx="10436840" cy="4962919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Easy example: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3510" y="2240654"/>
            <a:ext cx="4267312" cy="338010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511" y="2115782"/>
            <a:ext cx="1154951" cy="3629846"/>
          </a:xfrm>
          <a:prstGeom prst="rect">
            <a:avLst/>
          </a:prstGeom>
        </p:spPr>
      </p:pic>
      <p:cxnSp>
        <p:nvCxnSpPr>
          <p:cNvPr id="7" name="Straight Arrow Connector 6"/>
          <p:cNvCxnSpPr/>
          <p:nvPr/>
        </p:nvCxnSpPr>
        <p:spPr>
          <a:xfrm flipV="1">
            <a:off x="5393342" y="3026421"/>
            <a:ext cx="2985961" cy="687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4628644" y="5073706"/>
            <a:ext cx="3718291" cy="3884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3770888" y="3580726"/>
            <a:ext cx="1278542" cy="246807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D4F2B43-5D09-E981-644A-FD5244979ADE}"/>
              </a:ext>
            </a:extLst>
          </p:cNvPr>
          <p:cNvSpPr txBox="1">
            <a:spLocks/>
          </p:cNvSpPr>
          <p:nvPr/>
        </p:nvSpPr>
        <p:spPr>
          <a:xfrm>
            <a:off x="936516" y="14205"/>
            <a:ext cx="9202096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CSEN160_07_Threads.J_virtual.A_VirtualThread</a:t>
            </a:r>
          </a:p>
        </p:txBody>
      </p:sp>
    </p:spTree>
    <p:extLst>
      <p:ext uri="{BB962C8B-B14F-4D97-AF65-F5344CB8AC3E}">
        <p14:creationId xmlns:p14="http://schemas.microsoft.com/office/powerpoint/2010/main" val="883654799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57603"/>
            <a:ext cx="5601849" cy="605905"/>
          </a:xfrm>
        </p:spPr>
        <p:txBody>
          <a:bodyPr/>
          <a:lstStyle/>
          <a:p>
            <a:r>
              <a:rPr lang="en-US" dirty="0"/>
              <a:t>Virtual Threads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684687"/>
            <a:ext cx="10436840" cy="4962919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But do not expect speed miracles: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Speed gain is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limited</a:t>
            </a:r>
          </a:p>
          <a:p>
            <a:pPr lvl="1"/>
            <a:endParaRPr lang="en-US" dirty="0"/>
          </a:p>
          <a:p>
            <a:pPr lvl="1"/>
            <a:r>
              <a:rPr lang="en-US" dirty="0">
                <a:solidFill>
                  <a:schemeClr val="tx1"/>
                </a:solidFill>
              </a:rPr>
              <a:t>Depends on the </a:t>
            </a:r>
            <a:r>
              <a:rPr lang="en-US" b="1" dirty="0">
                <a:solidFill>
                  <a:srgbClr val="FF0000"/>
                </a:solidFill>
              </a:rPr>
              <a:t>task</a:t>
            </a:r>
          </a:p>
          <a:p>
            <a:pPr lvl="1"/>
            <a:endParaRPr lang="en-US" dirty="0"/>
          </a:p>
          <a:p>
            <a:pPr lvl="1"/>
            <a:r>
              <a:rPr lang="en-US" dirty="0">
                <a:solidFill>
                  <a:schemeClr val="tx1"/>
                </a:solidFill>
              </a:rPr>
              <a:t>Depends on how </a:t>
            </a:r>
            <a:r>
              <a:rPr lang="en-US" b="1" dirty="0">
                <a:solidFill>
                  <a:srgbClr val="FF0000"/>
                </a:solidFill>
              </a:rPr>
              <a:t>many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Threads you need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In many tiny examples it is almost </a:t>
            </a:r>
            <a:r>
              <a:rPr lang="en-US" b="1" dirty="0">
                <a:solidFill>
                  <a:srgbClr val="FF0000"/>
                </a:solidFill>
              </a:rPr>
              <a:t>the same speed 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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5697058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D32233CF-B99C-701C-4F4D-BC678E5CE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8293" y="2355880"/>
            <a:ext cx="2224109" cy="385887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3045F97-F39E-EAA3-30C1-01F6848481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3852" y="2403338"/>
            <a:ext cx="3001019" cy="369705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845E91D-5815-6D66-5A56-FDA311D0CD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5727" y="2403338"/>
            <a:ext cx="2768125" cy="352215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57603"/>
            <a:ext cx="5601849" cy="605905"/>
          </a:xfrm>
        </p:spPr>
        <p:txBody>
          <a:bodyPr/>
          <a:lstStyle/>
          <a:p>
            <a:r>
              <a:rPr lang="en-US" dirty="0"/>
              <a:t>Virtual Threads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684687"/>
            <a:ext cx="10436840" cy="4962919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But do not expect speed miracles:</a:t>
            </a:r>
          </a:p>
        </p:txBody>
      </p:sp>
      <p:sp>
        <p:nvSpPr>
          <p:cNvPr id="7" name="Rectangle 6"/>
          <p:cNvSpPr/>
          <p:nvPr/>
        </p:nvSpPr>
        <p:spPr>
          <a:xfrm>
            <a:off x="2930332" y="3376401"/>
            <a:ext cx="533303" cy="1228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92300" y="3429000"/>
            <a:ext cx="592666" cy="979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003414" y="3326273"/>
            <a:ext cx="1821438" cy="1027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FBA0279-9373-4FEF-0ED7-FAB3AE6BF54E}"/>
              </a:ext>
            </a:extLst>
          </p:cNvPr>
          <p:cNvSpPr txBox="1">
            <a:spLocks/>
          </p:cNvSpPr>
          <p:nvPr/>
        </p:nvSpPr>
        <p:spPr>
          <a:xfrm>
            <a:off x="936516" y="14205"/>
            <a:ext cx="9202096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Week08_B_Threads_II.J_virtual.VirtualThreadExample2</a:t>
            </a:r>
          </a:p>
        </p:txBody>
      </p:sp>
    </p:spTree>
    <p:extLst>
      <p:ext uri="{BB962C8B-B14F-4D97-AF65-F5344CB8AC3E}">
        <p14:creationId xmlns:p14="http://schemas.microsoft.com/office/powerpoint/2010/main" val="1397791493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>
            <a:extLst>
              <a:ext uri="{FF2B5EF4-FFF2-40B4-BE49-F238E27FC236}">
                <a16:creationId xmlns:a16="http://schemas.microsoft.com/office/drawing/2014/main" id="{E5364D1D-ED2F-B37E-1333-CF9FB87CA3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3536" y="5275650"/>
            <a:ext cx="3340958" cy="593621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381C6E2A-D50C-3866-02C2-A6F51B988D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3537" y="4627087"/>
            <a:ext cx="3237086" cy="58856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2F303B9-3031-3998-E2DE-F483EF4405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3536" y="3987958"/>
            <a:ext cx="3131041" cy="58644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4365D9F-CC53-08EF-EC45-7FF31F2E28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3536" y="3371248"/>
            <a:ext cx="3131041" cy="6023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29A2CC0-47D3-BF89-3CF0-D03424C9E7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3536" y="2712895"/>
            <a:ext cx="3169368" cy="6001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5C64763-43C7-C6E5-A96E-CFE0F23EA1B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27698" y="2115810"/>
            <a:ext cx="3126879" cy="56539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57603"/>
            <a:ext cx="5601849" cy="605905"/>
          </a:xfrm>
        </p:spPr>
        <p:txBody>
          <a:bodyPr/>
          <a:lstStyle/>
          <a:p>
            <a:r>
              <a:rPr lang="en-US" dirty="0"/>
              <a:t>Virtual Threads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684687"/>
            <a:ext cx="10436840" cy="4962919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But do not expect speed miracles: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3943" y="2299742"/>
            <a:ext cx="2880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Thread: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3943" y="2815249"/>
            <a:ext cx="2880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Thread: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3943" y="3388896"/>
            <a:ext cx="2880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Thread: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3943" y="3964883"/>
            <a:ext cx="2880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Thread: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3943" y="4566482"/>
            <a:ext cx="2880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Thread: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10,000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3943" y="5188364"/>
            <a:ext cx="2880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Thread: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100,000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30543" y="2107428"/>
            <a:ext cx="1489454" cy="1878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130543" y="2705047"/>
            <a:ext cx="1489454" cy="1878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118065" y="3375595"/>
            <a:ext cx="1492668" cy="1878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118064" y="4002013"/>
            <a:ext cx="1495321" cy="18783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118065" y="4610128"/>
            <a:ext cx="1501932" cy="181931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124675" y="5275649"/>
            <a:ext cx="1495324" cy="206187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6137153" y="2299741"/>
            <a:ext cx="1482844" cy="350387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130543" y="2894318"/>
            <a:ext cx="1489454" cy="38259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6120717" y="3563431"/>
            <a:ext cx="1492668" cy="35766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6120717" y="4193044"/>
            <a:ext cx="1495322" cy="3734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6124674" y="4792059"/>
            <a:ext cx="1495323" cy="3963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6118064" y="5489871"/>
            <a:ext cx="1501935" cy="3539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43" name="Straight Arrow Connector 42"/>
          <p:cNvCxnSpPr>
            <a:cxnSpLocks/>
            <a:endCxn id="30" idx="3"/>
          </p:cNvCxnSpPr>
          <p:nvPr/>
        </p:nvCxnSpPr>
        <p:spPr>
          <a:xfrm flipH="1">
            <a:off x="7613385" y="4095286"/>
            <a:ext cx="1278241" cy="6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8930531" y="3920151"/>
            <a:ext cx="16466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It needs 1,000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Threads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Wingdings" panose="05000000000000000000" pitchFamily="2" charset="2"/>
              </a:rPr>
              <a:t>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90B419-C1C6-9E80-6E90-F2B25056D99B}"/>
              </a:ext>
            </a:extLst>
          </p:cNvPr>
          <p:cNvSpPr txBox="1"/>
          <p:nvPr/>
        </p:nvSpPr>
        <p:spPr>
          <a:xfrm>
            <a:off x="6137153" y="1754908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2025 JDK24</a:t>
            </a:r>
          </a:p>
        </p:txBody>
      </p:sp>
    </p:spTree>
    <p:extLst>
      <p:ext uri="{BB962C8B-B14F-4D97-AF65-F5344CB8AC3E}">
        <p14:creationId xmlns:p14="http://schemas.microsoft.com/office/powerpoint/2010/main" val="3807580729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57603"/>
            <a:ext cx="5601849" cy="605905"/>
          </a:xfrm>
        </p:spPr>
        <p:txBody>
          <a:bodyPr/>
          <a:lstStyle/>
          <a:p>
            <a:r>
              <a:rPr lang="en-US" dirty="0"/>
              <a:t>Virtual Threads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684687"/>
            <a:ext cx="10436840" cy="4962919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But do not expect speed miracles: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3943" y="2263106"/>
            <a:ext cx="2880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Thread: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1,000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057" y="2933858"/>
            <a:ext cx="1027688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Why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1,000 Threads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break even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The code itself is actually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tiny/lightweight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Wingdings" panose="05000000000000000000" pitchFamily="2" charset="2"/>
              </a:rPr>
              <a:t>Lightweight creation and pooling takes time to internally setup.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Most probable, if you use constantly a lot of threads it will pay off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Wingdings" panose="05000000000000000000" pitchFamily="2" charset="2"/>
              </a:rPr>
              <a:t>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8353C3-2AB5-3996-D0FB-FD1B585E0C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1210" y="2029968"/>
            <a:ext cx="5334274" cy="9334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BE73536-5802-7F29-7EBD-32BE273102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1825" y="3490232"/>
            <a:ext cx="3568883" cy="1587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629931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/>
              <a:t>Done</a:t>
            </a:r>
            <a:endParaRPr lang="en-US" dirty="0"/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53586173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A25F2-3AE0-BDCF-0880-EDD5EEF55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E57A2-3A61-C5F8-EEFD-EA29617843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… to here …</a:t>
            </a:r>
          </a:p>
        </p:txBody>
      </p:sp>
    </p:spTree>
    <p:extLst>
      <p:ext uri="{BB962C8B-B14F-4D97-AF65-F5344CB8AC3E}">
        <p14:creationId xmlns:p14="http://schemas.microsoft.com/office/powerpoint/2010/main" val="2815624037"/>
      </p:ext>
    </p:extLst>
  </p:cSld>
  <p:clrMapOvr>
    <a:masterClrMapping/>
  </p:clrMapOvr>
</p:sld>
</file>

<file path=ppt/theme/theme1.xml><?xml version="1.0" encoding="utf-8"?>
<a:theme xmlns:a="http://schemas.openxmlformats.org/drawingml/2006/main" name="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C2E27841-7055-4EC2-8474-90BDE5ACE175}"/>
    </a:ext>
  </a:extLst>
</a:theme>
</file>

<file path=ppt/theme/theme3.xml><?xml version="1.0" encoding="utf-8"?>
<a:theme xmlns:a="http://schemas.openxmlformats.org/drawingml/2006/main" name="1_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SCUTemplate</Template>
  <TotalTime>2045</TotalTime>
  <Words>3071</Words>
  <Application>Microsoft Office PowerPoint</Application>
  <PresentationFormat>Widescreen</PresentationFormat>
  <Paragraphs>808</Paragraphs>
  <Slides>103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103</vt:i4>
      </vt:variant>
    </vt:vector>
  </HeadingPairs>
  <TitlesOfParts>
    <vt:vector size="114" baseType="lpstr">
      <vt:lpstr>Arial</vt:lpstr>
      <vt:lpstr>Arial Narrow</vt:lpstr>
      <vt:lpstr>Calibri</vt:lpstr>
      <vt:lpstr>Courier New</vt:lpstr>
      <vt:lpstr>Garamond</vt:lpstr>
      <vt:lpstr>Monotype Sorts</vt:lpstr>
      <vt:lpstr>Times New Roman</vt:lpstr>
      <vt:lpstr>Wingdings</vt:lpstr>
      <vt:lpstr>SCUTemplate</vt:lpstr>
      <vt:lpstr>Custom Design</vt:lpstr>
      <vt:lpstr>1_SCUTemplate</vt:lpstr>
      <vt:lpstr>CSEN160</vt:lpstr>
      <vt:lpstr>Multithreading</vt:lpstr>
      <vt:lpstr>What are threads?</vt:lpstr>
      <vt:lpstr>What are threads?</vt:lpstr>
      <vt:lpstr>PowerPoint Presentation</vt:lpstr>
      <vt:lpstr>Advantages of multi-threaded programming</vt:lpstr>
      <vt:lpstr>Advantages of multi-threaded programming</vt:lpstr>
      <vt:lpstr>Advantages of multi-threaded programming</vt:lpstr>
      <vt:lpstr>Disadvantages of multi-threaded programming</vt:lpstr>
      <vt:lpstr>Disadvantages of multi-threaded programming</vt:lpstr>
      <vt:lpstr>Java Multithreading</vt:lpstr>
      <vt:lpstr>PowerPoint Presentation</vt:lpstr>
      <vt:lpstr>PowerPoint Presentation</vt:lpstr>
      <vt:lpstr>Creating and Running Threads</vt:lpstr>
      <vt:lpstr>Creating Threads - Two ways</vt:lpstr>
      <vt:lpstr>PowerPoint Presentation</vt:lpstr>
      <vt:lpstr>PowerPoint Presentation</vt:lpstr>
      <vt:lpstr>PowerPoint Presentation</vt:lpstr>
      <vt:lpstr>PowerPoint Presentation</vt:lpstr>
      <vt:lpstr>Bouncing Ball Example …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Thread States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Thread Java Implementation</vt:lpstr>
      <vt:lpstr>PowerPoint Presentation</vt:lpstr>
      <vt:lpstr>PowerPoint Presentation</vt:lpstr>
      <vt:lpstr>Thread Scheduling</vt:lpstr>
      <vt:lpstr>Thread Scheduling</vt:lpstr>
      <vt:lpstr>Thread Scheduling</vt:lpstr>
      <vt:lpstr>Thread Scheduling</vt:lpstr>
      <vt:lpstr>Thread Scheduling</vt:lpstr>
      <vt:lpstr>PowerPoint Presentation</vt:lpstr>
      <vt:lpstr>Sleep vs yield</vt:lpstr>
      <vt:lpstr>PowerPoint Presentation</vt:lpstr>
      <vt:lpstr>PowerPoint Presentation</vt:lpstr>
      <vt:lpstr>PowerPoint Presentation</vt:lpstr>
      <vt:lpstr>PowerPoint Presentation</vt:lpstr>
      <vt:lpstr>Wait and Notify</vt:lpstr>
      <vt:lpstr>Wait and Notify</vt:lpstr>
      <vt:lpstr>Wait and Notify</vt:lpstr>
      <vt:lpstr>Synchronization</vt:lpstr>
      <vt:lpstr>Thread join()</vt:lpstr>
      <vt:lpstr>Thread join()</vt:lpstr>
      <vt:lpstr>Synchronization</vt:lpstr>
      <vt:lpstr>Synchronization</vt:lpstr>
      <vt:lpstr>Thread Synchronization</vt:lpstr>
      <vt:lpstr>Thread Synchronization</vt:lpstr>
      <vt:lpstr>Java synchronized</vt:lpstr>
      <vt:lpstr>PowerPoint Presentation</vt:lpstr>
      <vt:lpstr>Assembler Example – Race Condition</vt:lpstr>
      <vt:lpstr>PowerPoint Presentation</vt:lpstr>
      <vt:lpstr>PowerPoint Presentation</vt:lpstr>
      <vt:lpstr>PowerPoint Presentation</vt:lpstr>
      <vt:lpstr>Thread Memory</vt:lpstr>
      <vt:lpstr>Thread Memory</vt:lpstr>
      <vt:lpstr>Thread Memory</vt:lpstr>
      <vt:lpstr>Thread Memory</vt:lpstr>
      <vt:lpstr>Volatile</vt:lpstr>
      <vt:lpstr>Volatile</vt:lpstr>
      <vt:lpstr>Volatile</vt:lpstr>
      <vt:lpstr>Volatile</vt:lpstr>
      <vt:lpstr>Volatile</vt:lpstr>
      <vt:lpstr>Volatile keyword</vt:lpstr>
      <vt:lpstr>Volatile keyword</vt:lpstr>
      <vt:lpstr>Volatile keyword</vt:lpstr>
      <vt:lpstr>How to end Threads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Daemon</vt:lpstr>
      <vt:lpstr>Daemon vs user threads</vt:lpstr>
      <vt:lpstr>Daemon vs user threads</vt:lpstr>
      <vt:lpstr>PowerPoint Presentation</vt:lpstr>
      <vt:lpstr>PowerPoint Presentation</vt:lpstr>
      <vt:lpstr>Problems with Threads</vt:lpstr>
      <vt:lpstr>Problems With Threads</vt:lpstr>
      <vt:lpstr>Assembler Example – Race Condition</vt:lpstr>
      <vt:lpstr>Deadlock</vt:lpstr>
      <vt:lpstr>Deadlock</vt:lpstr>
      <vt:lpstr>Starvation</vt:lpstr>
      <vt:lpstr>Starvation</vt:lpstr>
      <vt:lpstr>PowerPoint Presentation</vt:lpstr>
      <vt:lpstr>Virtual Threads JDK 21</vt:lpstr>
      <vt:lpstr>Virtual Threads</vt:lpstr>
      <vt:lpstr>Virtual Threads</vt:lpstr>
      <vt:lpstr>Virtual Threads</vt:lpstr>
      <vt:lpstr>Virtual Threads</vt:lpstr>
      <vt:lpstr>Virtual Threads</vt:lpstr>
      <vt:lpstr>Virtual Threads</vt:lpstr>
      <vt:lpstr>Virtual Threads</vt:lpstr>
      <vt:lpstr>Virtual Threads</vt:lpstr>
      <vt:lpstr>Done</vt:lpstr>
      <vt:lpstr>… to here 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Outline</dc:title>
  <dc:creator>Michael Schimpf</dc:creator>
  <cp:lastModifiedBy>Michael Schimpf</cp:lastModifiedBy>
  <cp:revision>244</cp:revision>
  <cp:lastPrinted>2023-09-11T21:46:56Z</cp:lastPrinted>
  <dcterms:created xsi:type="dcterms:W3CDTF">2023-09-09T19:51:41Z</dcterms:created>
  <dcterms:modified xsi:type="dcterms:W3CDTF">2026-10-27T21:48:07Z</dcterms:modified>
</cp:coreProperties>
</file>