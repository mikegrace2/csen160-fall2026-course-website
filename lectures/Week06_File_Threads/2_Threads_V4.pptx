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66"/>
  </p:notesMasterIdLst>
  <p:handoutMasterIdLst>
    <p:handoutMasterId r:id="rId67"/>
  </p:handoutMasterIdLst>
  <p:sldIdLst>
    <p:sldId id="333" r:id="rId4"/>
    <p:sldId id="334" r:id="rId5"/>
    <p:sldId id="339" r:id="rId6"/>
    <p:sldId id="431" r:id="rId7"/>
    <p:sldId id="437" r:id="rId8"/>
    <p:sldId id="430" r:id="rId9"/>
    <p:sldId id="340" r:id="rId10"/>
    <p:sldId id="375" r:id="rId11"/>
    <p:sldId id="341" r:id="rId12"/>
    <p:sldId id="376" r:id="rId13"/>
    <p:sldId id="433" r:id="rId14"/>
    <p:sldId id="405" r:id="rId15"/>
    <p:sldId id="406" r:id="rId16"/>
    <p:sldId id="400" r:id="rId17"/>
    <p:sldId id="401" r:id="rId18"/>
    <p:sldId id="382" r:id="rId19"/>
    <p:sldId id="407" r:id="rId20"/>
    <p:sldId id="408" r:id="rId21"/>
    <p:sldId id="409" r:id="rId22"/>
    <p:sldId id="390" r:id="rId23"/>
    <p:sldId id="379" r:id="rId24"/>
    <p:sldId id="384" r:id="rId25"/>
    <p:sldId id="371" r:id="rId26"/>
    <p:sldId id="344" r:id="rId27"/>
    <p:sldId id="385" r:id="rId28"/>
    <p:sldId id="387" r:id="rId29"/>
    <p:sldId id="354" r:id="rId30"/>
    <p:sldId id="355" r:id="rId31"/>
    <p:sldId id="356" r:id="rId32"/>
    <p:sldId id="377" r:id="rId33"/>
    <p:sldId id="357" r:id="rId34"/>
    <p:sldId id="435" r:id="rId35"/>
    <p:sldId id="359" r:id="rId36"/>
    <p:sldId id="372" r:id="rId37"/>
    <p:sldId id="404" r:id="rId38"/>
    <p:sldId id="358" r:id="rId39"/>
    <p:sldId id="411" r:id="rId40"/>
    <p:sldId id="434" r:id="rId41"/>
    <p:sldId id="360" r:id="rId42"/>
    <p:sldId id="361" r:id="rId43"/>
    <p:sldId id="438" r:id="rId44"/>
    <p:sldId id="362" r:id="rId45"/>
    <p:sldId id="419" r:id="rId46"/>
    <p:sldId id="363" r:id="rId47"/>
    <p:sldId id="429" r:id="rId48"/>
    <p:sldId id="445" r:id="rId49"/>
    <p:sldId id="446" r:id="rId50"/>
    <p:sldId id="447" r:id="rId51"/>
    <p:sldId id="402" r:id="rId52"/>
    <p:sldId id="365" r:id="rId53"/>
    <p:sldId id="420" r:id="rId54"/>
    <p:sldId id="366" r:id="rId55"/>
    <p:sldId id="367" r:id="rId56"/>
    <p:sldId id="368" r:id="rId57"/>
    <p:sldId id="421" r:id="rId58"/>
    <p:sldId id="369" r:id="rId59"/>
    <p:sldId id="417" r:id="rId60"/>
    <p:sldId id="436" r:id="rId61"/>
    <p:sldId id="425" r:id="rId62"/>
    <p:sldId id="426" r:id="rId63"/>
    <p:sldId id="427" r:id="rId64"/>
    <p:sldId id="336" r:id="rId65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480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424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presProps" Target="presProps.xml"/><Relationship Id="rId7" Type="http://schemas.openxmlformats.org/officeDocument/2006/relationships/slide" Target="slides/slide4.xml"/><Relationship Id="rId71" Type="http://schemas.openxmlformats.org/officeDocument/2006/relationships/tableStyles" Target="tableStyles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9" Type="http://schemas.openxmlformats.org/officeDocument/2006/relationships/slide" Target="slides/slide26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66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1" Type="http://schemas.openxmlformats.org/officeDocument/2006/relationships/slide" Target="slides/slide58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56" Type="http://schemas.openxmlformats.org/officeDocument/2006/relationships/slide" Target="slides/slide53.xml"/><Relationship Id="rId64" Type="http://schemas.openxmlformats.org/officeDocument/2006/relationships/slide" Target="slides/slide61.xml"/><Relationship Id="rId69" Type="http://schemas.openxmlformats.org/officeDocument/2006/relationships/viewProps" Target="viewProp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3" Type="http://schemas.openxmlformats.org/officeDocument/2006/relationships/slideMaster" Target="slideMasters/slideMaster3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46" Type="http://schemas.openxmlformats.org/officeDocument/2006/relationships/slide" Target="slides/slide43.xml"/><Relationship Id="rId59" Type="http://schemas.openxmlformats.org/officeDocument/2006/relationships/slide" Target="slides/slide56.xml"/><Relationship Id="rId67" Type="http://schemas.openxmlformats.org/officeDocument/2006/relationships/handoutMaster" Target="handoutMasters/handoutMaster1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8/21/2026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0244945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344D533-7F64-4678-892D-1BE11DF20521}" type="slidenum">
              <a:rPr lang="en-US" altLang="en-US"/>
              <a:pPr/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86166387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9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7.xml"/><Relationship Id="rId13" Type="http://schemas.openxmlformats.org/officeDocument/2006/relationships/slideLayout" Target="../slideLayouts/slideLayout32.xml"/><Relationship Id="rId18" Type="http://schemas.openxmlformats.org/officeDocument/2006/relationships/slideLayout" Target="../slideLayouts/slideLayout37.xml"/><Relationship Id="rId3" Type="http://schemas.openxmlformats.org/officeDocument/2006/relationships/slideLayout" Target="../slideLayouts/slideLayout22.xml"/><Relationship Id="rId21" Type="http://schemas.openxmlformats.org/officeDocument/2006/relationships/image" Target="../media/image1.png"/><Relationship Id="rId7" Type="http://schemas.openxmlformats.org/officeDocument/2006/relationships/slideLayout" Target="../slideLayouts/slideLayout26.xml"/><Relationship Id="rId12" Type="http://schemas.openxmlformats.org/officeDocument/2006/relationships/slideLayout" Target="../slideLayouts/slideLayout31.xml"/><Relationship Id="rId17" Type="http://schemas.openxmlformats.org/officeDocument/2006/relationships/slideLayout" Target="../slideLayouts/slideLayout36.xml"/><Relationship Id="rId2" Type="http://schemas.openxmlformats.org/officeDocument/2006/relationships/slideLayout" Target="../slideLayouts/slideLayout21.xml"/><Relationship Id="rId16" Type="http://schemas.openxmlformats.org/officeDocument/2006/relationships/slideLayout" Target="../slideLayouts/slideLayout35.xml"/><Relationship Id="rId20" Type="http://schemas.openxmlformats.org/officeDocument/2006/relationships/theme" Target="../theme/theme3.xml"/><Relationship Id="rId1" Type="http://schemas.openxmlformats.org/officeDocument/2006/relationships/slideLayout" Target="../slideLayouts/slideLayout20.xml"/><Relationship Id="rId6" Type="http://schemas.openxmlformats.org/officeDocument/2006/relationships/slideLayout" Target="../slideLayouts/slideLayout25.xml"/><Relationship Id="rId11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4.xml"/><Relationship Id="rId15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8.xml"/><Relationship Id="rId4" Type="http://schemas.openxmlformats.org/officeDocument/2006/relationships/slideLayout" Target="../slideLayouts/slideLayout23.xml"/><Relationship Id="rId9" Type="http://schemas.openxmlformats.org/officeDocument/2006/relationships/slideLayout" Target="../slideLayouts/slideLayout28.xml"/><Relationship Id="rId14" Type="http://schemas.openxmlformats.org/officeDocument/2006/relationships/slideLayout" Target="../slideLayouts/slideLayout33.xml"/><Relationship Id="rId22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  <p:sldLayoutId id="2147483705" r:id="rId18"/>
    <p:sldLayoutId id="2147483706" r:id="rId19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3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8.xml"/><Relationship Id="rId4" Type="http://schemas.openxmlformats.org/officeDocument/2006/relationships/image" Target="../media/image9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38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8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8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38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8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7.xml"/><Relationship Id="rId4" Type="http://schemas.openxmlformats.org/officeDocument/2006/relationships/image" Target="../media/image24.png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3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7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7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38.xml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8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38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3178902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r>
              <a:rPr lang="en-US" dirty="0">
                <a:solidFill>
                  <a:schemeClr val="tx1"/>
                </a:solidFill>
              </a:rPr>
              <a:t>Object-Oriented Analysis, Design and Programming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Michael Schimpf, PhD, mschimpf@scu.edu</a:t>
            </a:r>
          </a:p>
          <a:p>
            <a:r>
              <a:rPr lang="en-US" dirty="0">
                <a:solidFill>
                  <a:schemeClr val="tx1"/>
                </a:solidFill>
              </a:rPr>
              <a:t>Department of Computer Science and Engineering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CSEN160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Multithreading</a:t>
            </a:r>
          </a:p>
        </p:txBody>
      </p:sp>
    </p:spTree>
    <p:extLst>
      <p:ext uri="{BB962C8B-B14F-4D97-AF65-F5344CB8AC3E}">
        <p14:creationId xmlns:p14="http://schemas.microsoft.com/office/powerpoint/2010/main" val="387330571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/>
          <p:cNvSpPr>
            <a:spLocks noGrp="1"/>
          </p:cNvSpPr>
          <p:nvPr>
            <p:ph type="title"/>
          </p:nvPr>
        </p:nvSpPr>
        <p:spPr>
          <a:xfrm>
            <a:off x="936516" y="761649"/>
            <a:ext cx="4477056" cy="67873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What are threads?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526699"/>
            <a:ext cx="10408518" cy="5133046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thread is a </a:t>
            </a:r>
            <a:r>
              <a:rPr lang="en-US" b="1" dirty="0">
                <a:solidFill>
                  <a:srgbClr val="00B050"/>
                </a:solidFill>
              </a:rPr>
              <a:t>single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sequential control flow within a program.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rgbClr val="FF0000"/>
                </a:solidFill>
              </a:rPr>
              <a:t>single</a:t>
            </a:r>
            <a:r>
              <a:rPr lang="en-US" dirty="0">
                <a:solidFill>
                  <a:srgbClr val="800000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</a:rPr>
              <a:t>threaded program can handle </a:t>
            </a:r>
            <a:r>
              <a:rPr lang="en-US" b="1" dirty="0">
                <a:solidFill>
                  <a:srgbClr val="FF0000"/>
                </a:solidFill>
              </a:rPr>
              <a:t>one task</a:t>
            </a:r>
            <a:r>
              <a:rPr lang="en-US" dirty="0"/>
              <a:t>.</a:t>
            </a:r>
          </a:p>
          <a:p>
            <a:pPr marL="0" indent="0">
              <a:buNone/>
              <a:defRPr/>
            </a:pPr>
            <a:endParaRPr lang="en-US" dirty="0"/>
          </a:p>
        </p:txBody>
      </p:sp>
      <p:sp>
        <p:nvSpPr>
          <p:cNvPr id="2" name="Right Arrow 1">
            <a:extLst>
              <a:ext uri="{FF2B5EF4-FFF2-40B4-BE49-F238E27FC236}">
                <a16:creationId xmlns:a16="http://schemas.microsoft.com/office/drawing/2014/main" id="{D147FA03-87AB-24A0-750E-3C682DA95971}"/>
              </a:ext>
            </a:extLst>
          </p:cNvPr>
          <p:cNvSpPr/>
          <p:nvPr/>
        </p:nvSpPr>
        <p:spPr>
          <a:xfrm>
            <a:off x="0" y="2393093"/>
            <a:ext cx="846966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D13184EE-A87A-1180-B511-002ABDB42131}"/>
              </a:ext>
            </a:extLst>
          </p:cNvPr>
          <p:cNvSpPr/>
          <p:nvPr/>
        </p:nvSpPr>
        <p:spPr>
          <a:xfrm rot="10800000">
            <a:off x="8176055" y="2393093"/>
            <a:ext cx="978408" cy="484632"/>
          </a:xfrm>
          <a:prstGeom prst="rightArrow">
            <a:avLst/>
          </a:prstGeom>
          <a:solidFill>
            <a:schemeClr val="accent3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0340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5D378F-B413-6FB6-4B1C-D407F6584D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2" name="Title 1">
            <a:extLst>
              <a:ext uri="{FF2B5EF4-FFF2-40B4-BE49-F238E27FC236}">
                <a16:creationId xmlns:a16="http://schemas.microsoft.com/office/drawing/2014/main" id="{CDE8608E-407B-D3DF-8756-6169D538C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61649"/>
            <a:ext cx="4477056" cy="67873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What are threads?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A1D3B92-E7DC-3BBC-6626-9D5F16BD7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526699"/>
            <a:ext cx="10408518" cy="5133046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dirty="0"/>
          </a:p>
          <a:p>
            <a:pPr marL="0" indent="0">
              <a:buNone/>
              <a:defRPr/>
            </a:pPr>
            <a:r>
              <a:rPr lang="en-US" dirty="0">
                <a:solidFill>
                  <a:schemeClr val="tx1"/>
                </a:solidFill>
              </a:rPr>
              <a:t>A </a:t>
            </a:r>
            <a:r>
              <a:rPr lang="en-US" b="1" dirty="0">
                <a:solidFill>
                  <a:srgbClr val="00B050"/>
                </a:solidFill>
              </a:rPr>
              <a:t>multi-threaded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program: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Has </a:t>
            </a:r>
            <a:r>
              <a:rPr lang="en-US" b="1" dirty="0">
                <a:solidFill>
                  <a:srgbClr val="00B050"/>
                </a:solidFill>
              </a:rPr>
              <a:t>multiple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threads running</a:t>
            </a:r>
          </a:p>
          <a:p>
            <a:pPr lvl="1">
              <a:defRPr/>
            </a:pPr>
            <a:endParaRPr lang="en-US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dirty="0">
                <a:solidFill>
                  <a:schemeClr val="tx1"/>
                </a:solidFill>
              </a:rPr>
              <a:t>To handle </a:t>
            </a:r>
            <a:r>
              <a:rPr lang="en-US" b="1" dirty="0">
                <a:solidFill>
                  <a:srgbClr val="00B050"/>
                </a:solidFill>
              </a:rPr>
              <a:t>multiple</a:t>
            </a:r>
            <a:r>
              <a:rPr lang="en-US" dirty="0">
                <a:solidFill>
                  <a:schemeClr val="tx1"/>
                </a:solidFill>
              </a:rPr>
              <a:t> tasks </a:t>
            </a:r>
          </a:p>
          <a:p>
            <a:pPr marL="0" indent="0">
              <a:buNone/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83774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2A446C-D8E4-E7DA-B11D-ADD89607D5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>
            <a:extLst>
              <a:ext uri="{FF2B5EF4-FFF2-40B4-BE49-F238E27FC236}">
                <a16:creationId xmlns:a16="http://schemas.microsoft.com/office/drawing/2014/main" id="{867F401D-BA51-1C8C-83F4-93C02D61B4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044D7FC-7F35-1354-7BAA-998796ECD7C6}"/>
              </a:ext>
            </a:extLst>
          </p:cNvPr>
          <p:cNvSpPr txBox="1">
            <a:spLocks/>
          </p:cNvSpPr>
          <p:nvPr/>
        </p:nvSpPr>
        <p:spPr>
          <a:xfrm>
            <a:off x="963558" y="762003"/>
            <a:ext cx="4972021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Threads and Memory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DEFBFDE-822F-7E44-C112-340599576C0F}"/>
              </a:ext>
            </a:extLst>
          </p:cNvPr>
          <p:cNvSpPr txBox="1"/>
          <p:nvPr/>
        </p:nvSpPr>
        <p:spPr>
          <a:xfrm>
            <a:off x="963558" y="1918540"/>
            <a:ext cx="10414305" cy="32008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Memory:</a:t>
            </a:r>
          </a:p>
          <a:p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Threads share the </a:t>
            </a:r>
            <a:r>
              <a:rPr lang="en-US" sz="2000" b="1" dirty="0">
                <a:solidFill>
                  <a:srgbClr val="00B050"/>
                </a:solidFill>
              </a:rPr>
              <a:t>same address space</a:t>
            </a:r>
            <a:endParaRPr lang="en-US" sz="2000" dirty="0">
              <a:solidFill>
                <a:srgbClr val="00B050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Each thread has its own </a:t>
            </a:r>
            <a:r>
              <a:rPr lang="en-US" sz="2000" b="1" dirty="0">
                <a:solidFill>
                  <a:srgbClr val="FF0000"/>
                </a:solidFill>
              </a:rPr>
              <a:t>stack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Each thread has its own </a:t>
            </a:r>
            <a:r>
              <a:rPr lang="en-US" sz="2000" b="1" dirty="0">
                <a:solidFill>
                  <a:srgbClr val="00B0F0"/>
                </a:solidFill>
              </a:rPr>
              <a:t>copy of local variables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Same </a:t>
            </a:r>
            <a:r>
              <a:rPr lang="en-US" sz="2000" b="1" dirty="0">
                <a:solidFill>
                  <a:srgbClr val="FF0000"/>
                </a:solidFill>
              </a:rPr>
              <a:t>dynamic</a:t>
            </a:r>
            <a:r>
              <a:rPr lang="en-US" sz="2000" dirty="0"/>
              <a:t> memory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41838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586D6A-CC03-E689-B9DA-277985C2FD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>
            <a:extLst>
              <a:ext uri="{FF2B5EF4-FFF2-40B4-BE49-F238E27FC236}">
                <a16:creationId xmlns:a16="http://schemas.microsoft.com/office/drawing/2014/main" id="{BF8C48AF-5EA9-E69A-B94D-823DD1F8A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56746" y="762001"/>
            <a:ext cx="8915537" cy="625784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Advantages of multi-threaded programming</a:t>
            </a:r>
          </a:p>
        </p:txBody>
      </p:sp>
      <p:sp>
        <p:nvSpPr>
          <p:cNvPr id="6147" name="Content Placeholder 2">
            <a:extLst>
              <a:ext uri="{FF2B5EF4-FFF2-40B4-BE49-F238E27FC236}">
                <a16:creationId xmlns:a16="http://schemas.microsoft.com/office/drawing/2014/main" id="{71D291E1-5A07-1803-4331-AA1A83E929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6746" y="1546928"/>
            <a:ext cx="10388288" cy="5104725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For developing </a:t>
            </a:r>
            <a:r>
              <a:rPr lang="en-US" altLang="en-US" sz="2800" b="1" dirty="0">
                <a:solidFill>
                  <a:srgbClr val="FF0000"/>
                </a:solidFill>
              </a:rPr>
              <a:t>reactive systems</a:t>
            </a:r>
            <a:r>
              <a:rPr lang="en-US" altLang="en-US" sz="2800" dirty="0">
                <a:solidFill>
                  <a:srgbClr val="FF0000"/>
                </a:solidFill>
              </a:rPr>
              <a:t>:</a:t>
            </a:r>
          </a:p>
          <a:p>
            <a:pPr lvl="1"/>
            <a:endParaRPr lang="en-US" altLang="en-US" sz="2400" dirty="0"/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Check continuously </a:t>
            </a:r>
            <a:r>
              <a:rPr lang="en-US" altLang="en-US" sz="2400" b="1" dirty="0">
                <a:solidFill>
                  <a:srgbClr val="FF0000"/>
                </a:solidFill>
              </a:rPr>
              <a:t>sensors</a:t>
            </a:r>
            <a:r>
              <a:rPr lang="en-US" altLang="en-US" sz="2400" dirty="0"/>
              <a:t> </a:t>
            </a:r>
            <a:r>
              <a:rPr lang="en-US" altLang="en-US" sz="2400" dirty="0">
                <a:solidFill>
                  <a:schemeClr val="tx1"/>
                </a:solidFill>
              </a:rPr>
              <a:t>=&gt; actions.</a:t>
            </a:r>
          </a:p>
        </p:txBody>
      </p:sp>
    </p:spTree>
    <p:extLst>
      <p:ext uri="{BB962C8B-B14F-4D97-AF65-F5344CB8AC3E}">
        <p14:creationId xmlns:p14="http://schemas.microsoft.com/office/powerpoint/2010/main" val="340907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56746" y="762001"/>
            <a:ext cx="8915537" cy="625784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Advantages of multi-threaded programming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956746" y="1546928"/>
            <a:ext cx="10388288" cy="5104725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endParaRPr lang="en-US" altLang="en-US" sz="2800" dirty="0"/>
          </a:p>
          <a:p>
            <a:pPr marL="0" indent="0" eaLnBrk="1" hangingPunct="1">
              <a:buNone/>
            </a:pPr>
            <a:r>
              <a:rPr lang="en-US" altLang="en-US" sz="2800" dirty="0">
                <a:solidFill>
                  <a:schemeClr val="tx1"/>
                </a:solidFill>
              </a:rPr>
              <a:t>Applications becomes </a:t>
            </a:r>
            <a:r>
              <a:rPr lang="en-US" altLang="en-US" sz="2800" b="1" dirty="0">
                <a:solidFill>
                  <a:srgbClr val="00B0F0"/>
                </a:solidFill>
              </a:rPr>
              <a:t>responsive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to user input:</a:t>
            </a:r>
          </a:p>
          <a:p>
            <a:pPr lvl="1"/>
            <a:endParaRPr lang="en-US" altLang="en-US" sz="2400" dirty="0">
              <a:solidFill>
                <a:schemeClr val="tx1"/>
              </a:solidFill>
            </a:endParaRPr>
          </a:p>
          <a:p>
            <a:pPr lvl="1"/>
            <a:r>
              <a:rPr lang="en-US" altLang="en-US" sz="2400" dirty="0">
                <a:solidFill>
                  <a:schemeClr val="tx1"/>
                </a:solidFill>
              </a:rPr>
              <a:t>A GUI application </a:t>
            </a:r>
            <a:r>
              <a:rPr lang="en-US" altLang="en-US" sz="2400" b="1" dirty="0">
                <a:solidFill>
                  <a:srgbClr val="00B0F0"/>
                </a:solidFill>
              </a:rPr>
              <a:t>responds</a:t>
            </a:r>
            <a:r>
              <a:rPr lang="en-US" altLang="en-US" sz="2400" dirty="0"/>
              <a:t> </a:t>
            </a:r>
            <a:r>
              <a:rPr lang="en-US" altLang="en-US" sz="2400" b="1" dirty="0">
                <a:solidFill>
                  <a:srgbClr val="00B0F0"/>
                </a:solidFill>
              </a:rPr>
              <a:t>promptly </a:t>
            </a:r>
            <a:r>
              <a:rPr lang="en-US" altLang="en-US" sz="2400" dirty="0">
                <a:solidFill>
                  <a:schemeClr val="tx1"/>
                </a:solidFill>
              </a:rPr>
              <a:t>to user events</a:t>
            </a:r>
            <a:endParaRPr lang="en-US" altLang="en-US" sz="2400" b="1" dirty="0">
              <a:solidFill>
                <a:schemeClr val="tx1"/>
              </a:solidFill>
            </a:endParaRPr>
          </a:p>
          <a:p>
            <a:pPr lvl="1"/>
            <a:endParaRPr lang="en-US" altLang="en-US" sz="2400" dirty="0"/>
          </a:p>
          <a:p>
            <a:pPr lvl="1"/>
            <a:r>
              <a:rPr lang="en-US" altLang="en-US" sz="2400" b="1" dirty="0">
                <a:solidFill>
                  <a:srgbClr val="00B050"/>
                </a:solidFill>
              </a:rPr>
              <a:t>Even when </a:t>
            </a:r>
            <a:r>
              <a:rPr lang="en-US" altLang="en-US" sz="2400" dirty="0">
                <a:solidFill>
                  <a:schemeClr val="tx1"/>
                </a:solidFill>
              </a:rPr>
              <a:t>application performing </a:t>
            </a:r>
            <a:r>
              <a:rPr lang="en-US" altLang="en-US" sz="2400" b="1" dirty="0">
                <a:solidFill>
                  <a:srgbClr val="FF0000"/>
                </a:solidFill>
              </a:rPr>
              <a:t>time-consuming computations</a:t>
            </a:r>
            <a:r>
              <a:rPr lang="en-US" altLang="en-US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783138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6" name="Title 1"/>
          <p:cNvSpPr>
            <a:spLocks noGrp="1"/>
          </p:cNvSpPr>
          <p:nvPr>
            <p:ph type="title"/>
          </p:nvPr>
        </p:nvSpPr>
        <p:spPr>
          <a:xfrm>
            <a:off x="956746" y="762001"/>
            <a:ext cx="8915537" cy="625784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Advantages of multi-threaded programming</a:t>
            </a:r>
          </a:p>
        </p:txBody>
      </p:sp>
      <p:sp>
        <p:nvSpPr>
          <p:cNvPr id="6147" name="Content Placeholder 2"/>
          <p:cNvSpPr>
            <a:spLocks noGrp="1"/>
          </p:cNvSpPr>
          <p:nvPr>
            <p:ph idx="1"/>
          </p:nvPr>
        </p:nvSpPr>
        <p:spPr>
          <a:xfrm>
            <a:off x="956746" y="1546928"/>
            <a:ext cx="10388288" cy="5104725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endParaRPr lang="en-US" altLang="en-US" sz="2800" dirty="0"/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A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00B050"/>
                </a:solidFill>
              </a:rPr>
              <a:t>web-server</a:t>
            </a:r>
            <a:r>
              <a:rPr lang="en-US" altLang="en-US" sz="2800" dirty="0"/>
              <a:t> </a:t>
            </a:r>
            <a:r>
              <a:rPr lang="en-US" altLang="en-US" sz="2800" dirty="0">
                <a:solidFill>
                  <a:schemeClr val="tx1"/>
                </a:solidFill>
              </a:rPr>
              <a:t>can handle </a:t>
            </a:r>
            <a:r>
              <a:rPr lang="en-US" altLang="en-US" sz="2800" i="1" dirty="0">
                <a:solidFill>
                  <a:schemeClr val="tx1"/>
                </a:solidFill>
              </a:rPr>
              <a:t>multiple clients </a:t>
            </a:r>
            <a:r>
              <a:rPr lang="en-US" altLang="en-US" sz="2800" dirty="0">
                <a:solidFill>
                  <a:schemeClr val="tx1"/>
                </a:solidFill>
              </a:rPr>
              <a:t>at the same time.</a:t>
            </a:r>
          </a:p>
          <a:p>
            <a:pPr marL="0" indent="0" eaLnBrk="1" hangingPunct="1">
              <a:buNone/>
            </a:pPr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endParaRPr lang="en-US" altLang="en-US" sz="2800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Sharing recourses (in general) is </a:t>
            </a:r>
            <a:r>
              <a:rPr lang="en-US" altLang="en-US" sz="2800" b="1" dirty="0">
                <a:solidFill>
                  <a:srgbClr val="00B050"/>
                </a:solidFill>
              </a:rPr>
              <a:t>easier</a:t>
            </a:r>
            <a:r>
              <a:rPr lang="en-US" altLang="en-US" sz="2800" dirty="0">
                <a:solidFill>
                  <a:schemeClr val="tx1"/>
                </a:solidFill>
              </a:rPr>
              <a:t> (heap, files)</a:t>
            </a:r>
          </a:p>
        </p:txBody>
      </p:sp>
    </p:spTree>
    <p:extLst>
      <p:ext uri="{BB962C8B-B14F-4D97-AF65-F5344CB8AC3E}">
        <p14:creationId xmlns:p14="http://schemas.microsoft.com/office/powerpoint/2010/main" val="39858838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963558" y="762002"/>
            <a:ext cx="10417284" cy="79571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Disadvantages of multi-threaded programming</a:t>
            </a:r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63558" y="1712815"/>
            <a:ext cx="10353154" cy="4922653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Programming is </a:t>
            </a:r>
            <a:r>
              <a:rPr lang="en-US" altLang="en-US" sz="2800" b="1" dirty="0">
                <a:solidFill>
                  <a:srgbClr val="FF0000"/>
                </a:solidFill>
              </a:rPr>
              <a:t>difficult</a:t>
            </a:r>
            <a:r>
              <a:rPr lang="en-US" altLang="en-US" sz="2800" dirty="0"/>
              <a:t>.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The exact order of execution is </a:t>
            </a:r>
            <a:r>
              <a:rPr lang="en-US" altLang="en-US" sz="2800" b="1" dirty="0">
                <a:solidFill>
                  <a:srgbClr val="FF0000"/>
                </a:solidFill>
              </a:rPr>
              <a:t>non-deterministic</a:t>
            </a:r>
            <a:r>
              <a:rPr lang="en-US" altLang="en-US" sz="2800" dirty="0"/>
              <a:t>.</a:t>
            </a:r>
          </a:p>
          <a:p>
            <a:pPr eaLnBrk="1" hangingPunct="1"/>
            <a:endParaRPr lang="en-US" altLang="en-US" sz="2800" dirty="0"/>
          </a:p>
          <a:p>
            <a:r>
              <a:rPr lang="en-US" altLang="en-US" sz="2800" dirty="0">
                <a:solidFill>
                  <a:schemeClr val="tx1"/>
                </a:solidFill>
              </a:rPr>
              <a:t>Working together between threads </a:t>
            </a:r>
            <a:r>
              <a:rPr lang="en-US" altLang="en-US" sz="2800" b="1" dirty="0">
                <a:solidFill>
                  <a:srgbClr val="FF0000"/>
                </a:solidFill>
              </a:rPr>
              <a:t>(complicated)</a:t>
            </a:r>
            <a:r>
              <a:rPr lang="en-US" altLang="en-US" sz="2800" dirty="0"/>
              <a:t>.</a:t>
            </a:r>
          </a:p>
          <a:p>
            <a:pPr eaLnBrk="1" hangingPunct="1"/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3559107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0" name="Title 1"/>
          <p:cNvSpPr>
            <a:spLocks noGrp="1"/>
          </p:cNvSpPr>
          <p:nvPr>
            <p:ph type="title"/>
          </p:nvPr>
        </p:nvSpPr>
        <p:spPr>
          <a:xfrm>
            <a:off x="963558" y="762002"/>
            <a:ext cx="10417284" cy="795715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Disadvantages of multi-threaded programming</a:t>
            </a:r>
          </a:p>
        </p:txBody>
      </p:sp>
      <p:sp>
        <p:nvSpPr>
          <p:cNvPr id="7171" name="Content Placeholder 2"/>
          <p:cNvSpPr>
            <a:spLocks noGrp="1"/>
          </p:cNvSpPr>
          <p:nvPr>
            <p:ph idx="1"/>
          </p:nvPr>
        </p:nvSpPr>
        <p:spPr>
          <a:xfrm>
            <a:off x="963558" y="1712815"/>
            <a:ext cx="10353154" cy="4922653"/>
          </a:xfrm>
          <a:ln>
            <a:miter lim="800000"/>
            <a:headEnd/>
            <a:tailEnd/>
          </a:ln>
        </p:spPr>
        <p:txBody>
          <a:bodyPr>
            <a:normAutofit lnSpcReduction="10000"/>
          </a:bodyPr>
          <a:lstStyle/>
          <a:p>
            <a:pPr marL="0" indent="0" eaLnBrk="1" hangingPunct="1">
              <a:buNone/>
            </a:pPr>
            <a:r>
              <a:rPr lang="en-US" altLang="en-US" sz="2800" b="1" dirty="0">
                <a:solidFill>
                  <a:srgbClr val="FF0000"/>
                </a:solidFill>
              </a:rPr>
              <a:t>Overhead</a:t>
            </a:r>
            <a:r>
              <a:rPr lang="en-US" altLang="en-US" sz="2800" b="1" dirty="0"/>
              <a:t>: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Cost of thread </a:t>
            </a:r>
            <a:r>
              <a:rPr lang="en-US" altLang="en-US" sz="2800" b="1" dirty="0">
                <a:solidFill>
                  <a:srgbClr val="FF0000"/>
                </a:solidFill>
              </a:rPr>
              <a:t>creation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Context</a:t>
            </a:r>
            <a:r>
              <a:rPr lang="en-US" altLang="en-US" sz="2800" dirty="0"/>
              <a:t> </a:t>
            </a:r>
            <a:r>
              <a:rPr lang="en-US" altLang="en-US" sz="2800" b="1" dirty="0">
                <a:solidFill>
                  <a:srgbClr val="FF0000"/>
                </a:solidFill>
              </a:rPr>
              <a:t>switching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r>
              <a:rPr lang="en-US" altLang="en-US" sz="2800" b="1" dirty="0">
                <a:solidFill>
                  <a:srgbClr val="FF0000"/>
                </a:solidFill>
              </a:rPr>
              <a:t>Synchronization</a:t>
            </a:r>
          </a:p>
          <a:p>
            <a:pPr eaLnBrk="1" hangingPunct="1"/>
            <a:endParaRPr lang="en-US" altLang="en-US" sz="2800" b="1" dirty="0">
              <a:solidFill>
                <a:srgbClr val="FF0000"/>
              </a:solidFill>
            </a:endParaRPr>
          </a:p>
          <a:p>
            <a:pPr eaLnBrk="1" hangingPunct="1"/>
            <a:r>
              <a:rPr lang="en-US" altLang="en-US" sz="2800" dirty="0">
                <a:solidFill>
                  <a:schemeClr val="tx1"/>
                </a:solidFill>
              </a:rPr>
              <a:t>But if threads runs on different cores (without intense synchronization), the application can run </a:t>
            </a:r>
            <a:r>
              <a:rPr lang="en-US" altLang="en-US" sz="2800" b="1" dirty="0">
                <a:solidFill>
                  <a:srgbClr val="00B050"/>
                </a:solidFill>
              </a:rPr>
              <a:t>much faster</a:t>
            </a:r>
            <a:r>
              <a:rPr lang="en-US" altLang="en-US" sz="2800" dirty="0">
                <a:solidFill>
                  <a:schemeClr val="tx1"/>
                </a:solidFill>
              </a:rPr>
              <a:t>.</a:t>
            </a:r>
          </a:p>
          <a:p>
            <a:pPr eaLnBrk="1" hangingPunct="1"/>
            <a:endParaRPr lang="en-US" altLang="en-US" sz="2800" dirty="0"/>
          </a:p>
          <a:p>
            <a:pPr eaLnBrk="1" hangingPunct="1"/>
            <a:endParaRPr lang="en-US" altLang="en-US" sz="2800" dirty="0"/>
          </a:p>
        </p:txBody>
      </p:sp>
    </p:spTree>
    <p:extLst>
      <p:ext uri="{BB962C8B-B14F-4D97-AF65-F5344CB8AC3E}">
        <p14:creationId xmlns:p14="http://schemas.microsoft.com/office/powerpoint/2010/main" val="24246354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9CA42A-7ADE-40BA-7F49-BE2E8806B7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29290371-F7C2-EE44-4323-678AC87F1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Java Multithreading</a:t>
            </a:r>
          </a:p>
        </p:txBody>
      </p:sp>
    </p:spTree>
    <p:extLst>
      <p:ext uri="{BB962C8B-B14F-4D97-AF65-F5344CB8AC3E}">
        <p14:creationId xmlns:p14="http://schemas.microsoft.com/office/powerpoint/2010/main" val="45067228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Thread </a:t>
            </a:r>
            <a:r>
              <a:rPr lang="en-US" altLang="zh-CN" sz="2400" b="1" dirty="0" err="1">
                <a:latin typeface="Arial" panose="020B0604020202020204" pitchFamily="34" charset="0"/>
              </a:rPr>
              <a:t>WhoAmI</a:t>
            </a:r>
            <a:r>
              <a:rPr lang="en-US" altLang="zh-CN" sz="2400" b="1" dirty="0">
                <a:latin typeface="Arial" panose="020B0604020202020204" pitchFamily="34" charset="0"/>
              </a:rPr>
              <a:t>:</a:t>
            </a: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Information about a Thread(s)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08147" y="1495679"/>
            <a:ext cx="5650253" cy="500989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942090" y="4009604"/>
            <a:ext cx="20784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Output all Threads</a:t>
            </a:r>
          </a:p>
        </p:txBody>
      </p:sp>
      <p:cxnSp>
        <p:nvCxnSpPr>
          <p:cNvPr id="6" name="Straight Arrow Connector 5"/>
          <p:cNvCxnSpPr>
            <a:stCxn id="3" idx="3"/>
          </p:cNvCxnSpPr>
          <p:nvPr/>
        </p:nvCxnSpPr>
        <p:spPr>
          <a:xfrm>
            <a:off x="4020544" y="4194270"/>
            <a:ext cx="838723" cy="0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4851175" y="4086478"/>
            <a:ext cx="4256411" cy="218889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4859267" y="1760018"/>
            <a:ext cx="4899728" cy="1970410"/>
          </a:xfrm>
          <a:prstGeom prst="rect">
            <a:avLst/>
          </a:prstGeom>
          <a:noFill/>
          <a:ln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/>
          <p:cNvSpPr txBox="1"/>
          <p:nvPr/>
        </p:nvSpPr>
        <p:spPr>
          <a:xfrm>
            <a:off x="2133600" y="2471648"/>
            <a:ext cx="1745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Current Thread</a:t>
            </a:r>
          </a:p>
        </p:txBody>
      </p:sp>
      <p:cxnSp>
        <p:nvCxnSpPr>
          <p:cNvPr id="12" name="Straight Arrow Connector 11"/>
          <p:cNvCxnSpPr>
            <a:stCxn id="13" idx="3"/>
          </p:cNvCxnSpPr>
          <p:nvPr/>
        </p:nvCxnSpPr>
        <p:spPr>
          <a:xfrm>
            <a:off x="3878629" y="2656314"/>
            <a:ext cx="972546" cy="0"/>
          </a:xfrm>
          <a:prstGeom prst="straightConnector1">
            <a:avLst/>
          </a:prstGeom>
          <a:ln>
            <a:solidFill>
              <a:srgbClr val="00B0F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DCCE392E-DAE6-A29E-A2FD-CEC0DD14607E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.A_SimpleExamples.WhoAmI</a:t>
            </a:r>
          </a:p>
        </p:txBody>
      </p:sp>
    </p:spTree>
    <p:extLst>
      <p:ext uri="{BB962C8B-B14F-4D97-AF65-F5344CB8AC3E}">
        <p14:creationId xmlns:p14="http://schemas.microsoft.com/office/powerpoint/2010/main" val="7890748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Information about a Thread(s)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3559" y="1447803"/>
            <a:ext cx="4184264" cy="517957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47823" y="1447803"/>
            <a:ext cx="4332628" cy="429452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712091" y="3753472"/>
            <a:ext cx="3418204" cy="2873904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Rectangle 7"/>
          <p:cNvSpPr/>
          <p:nvPr/>
        </p:nvSpPr>
        <p:spPr>
          <a:xfrm>
            <a:off x="963558" y="1857122"/>
            <a:ext cx="3806697" cy="1994687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0" name="Straight Arrow Connector 9"/>
          <p:cNvCxnSpPr>
            <a:endCxn id="13" idx="1"/>
          </p:cNvCxnSpPr>
          <p:nvPr/>
        </p:nvCxnSpPr>
        <p:spPr>
          <a:xfrm>
            <a:off x="4770255" y="2872673"/>
            <a:ext cx="3941836" cy="3072950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12"/>
          <p:cNvSpPr/>
          <p:nvPr/>
        </p:nvSpPr>
        <p:spPr>
          <a:xfrm>
            <a:off x="8712091" y="5263869"/>
            <a:ext cx="3418204" cy="1363507"/>
          </a:xfrm>
          <a:prstGeom prst="rect">
            <a:avLst/>
          </a:prstGeom>
          <a:noFill/>
          <a:ln w="38100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1AF7CCD-4951-A9C4-4431-CC406E1AED59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.A_SimpleExamples.WhoAmI</a:t>
            </a:r>
          </a:p>
        </p:txBody>
      </p:sp>
    </p:spTree>
    <p:extLst>
      <p:ext uri="{BB962C8B-B14F-4D97-AF65-F5344CB8AC3E}">
        <p14:creationId xmlns:p14="http://schemas.microsoft.com/office/powerpoint/2010/main" val="6896189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/>
          <p:cNvSpPr>
            <a:spLocks noGrp="1" noChangeArrowheads="1"/>
          </p:cNvSpPr>
          <p:nvPr>
            <p:ph type="title"/>
          </p:nvPr>
        </p:nvSpPr>
        <p:spPr>
          <a:xfrm>
            <a:off x="933281" y="764206"/>
            <a:ext cx="7769703" cy="71596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4000" dirty="0"/>
              <a:t>Creating and Running Threads</a:t>
            </a:r>
          </a:p>
        </p:txBody>
      </p:sp>
      <p:sp>
        <p:nvSpPr>
          <p:cNvPr id="191491" name="Rectangle 3"/>
          <p:cNvSpPr>
            <a:spLocks noGrp="1" noChangeArrowheads="1"/>
          </p:cNvSpPr>
          <p:nvPr>
            <p:ph idx="1"/>
          </p:nvPr>
        </p:nvSpPr>
        <p:spPr>
          <a:xfrm>
            <a:off x="933280" y="1838241"/>
            <a:ext cx="10383431" cy="480127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r>
              <a:rPr lang="en-US" altLang="en-US" dirty="0">
                <a:solidFill>
                  <a:schemeClr val="tx1"/>
                </a:solidFill>
              </a:rPr>
              <a:t>A thread is an object of a class that is a subclass of: </a:t>
            </a:r>
            <a:br>
              <a:rPr lang="en-US" altLang="en-US" dirty="0">
                <a:solidFill>
                  <a:schemeClr val="tx1"/>
                </a:solidFill>
              </a:rPr>
            </a:br>
            <a:r>
              <a:rPr lang="en-US" altLang="en-US" dirty="0"/>
              <a:t>		</a:t>
            </a:r>
            <a:r>
              <a:rPr lang="en-US" altLang="en-US" b="1" dirty="0">
                <a:solidFill>
                  <a:srgbClr val="92D050"/>
                </a:solidFill>
                <a:latin typeface="Courier New" pitchFamily="49" charset="0"/>
              </a:rPr>
              <a:t>Thread</a:t>
            </a:r>
            <a:r>
              <a:rPr lang="en-US" altLang="en-US" b="1" dirty="0">
                <a:solidFill>
                  <a:schemeClr val="tx2"/>
                </a:solidFill>
                <a:latin typeface="Courier New" pitchFamily="49" charset="0"/>
              </a:rPr>
              <a:t> </a:t>
            </a:r>
            <a:r>
              <a:rPr lang="en-US" altLang="en-US" dirty="0">
                <a:solidFill>
                  <a:schemeClr val="tx1"/>
                </a:solidFill>
                <a:latin typeface="Arial Narrow" panose="020B0606020202030204" pitchFamily="34" charset="0"/>
              </a:rPr>
              <a:t>or a class that implements </a:t>
            </a:r>
            <a:r>
              <a:rPr lang="en-US" altLang="en-US" b="1" dirty="0">
                <a:solidFill>
                  <a:srgbClr val="00B0F0"/>
                </a:solidFill>
                <a:latin typeface="Courier New" pitchFamily="49" charset="0"/>
              </a:rPr>
              <a:t>Runnable</a:t>
            </a:r>
            <a:endParaRPr lang="en-US" altLang="en-US" dirty="0">
              <a:solidFill>
                <a:srgbClr val="00B0F0"/>
              </a:solidFill>
              <a:latin typeface="Courier New" pitchFamily="49" charset="0"/>
            </a:endParaRPr>
          </a:p>
          <a:p>
            <a:pPr marL="0" indent="0">
              <a:buNone/>
              <a:defRPr/>
            </a:pPr>
            <a:endParaRPr lang="en-US" altLang="en-US" dirty="0"/>
          </a:p>
          <a:p>
            <a:pPr marL="0" indent="0">
              <a:buNone/>
              <a:defRPr/>
            </a:pPr>
            <a:r>
              <a:rPr lang="en-US" altLang="en-US" b="1" dirty="0">
                <a:solidFill>
                  <a:schemeClr val="tx1"/>
                </a:solidFill>
              </a:rPr>
              <a:t>Basic methods of Thread:</a:t>
            </a:r>
          </a:p>
          <a:p>
            <a:pPr lvl="1">
              <a:defRPr/>
            </a:pP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Thread():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constructs a thread</a:t>
            </a:r>
          </a:p>
          <a:p>
            <a:pPr lvl="1">
              <a:defRPr/>
            </a:pPr>
            <a:endParaRPr lang="en-US" altLang="en-US" b="1" dirty="0">
              <a:solidFill>
                <a:srgbClr val="800000"/>
              </a:solidFill>
              <a:latin typeface="Courier New" pitchFamily="49" charset="0"/>
            </a:endParaRPr>
          </a:p>
          <a:p>
            <a:pPr lvl="1">
              <a:defRPr/>
            </a:pP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void run():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a method that </a:t>
            </a:r>
            <a:r>
              <a:rPr lang="en-US" altLang="en-US" b="1" dirty="0">
                <a:solidFill>
                  <a:srgbClr val="FF0000"/>
                </a:solidFill>
              </a:rPr>
              <a:t>you override </a:t>
            </a:r>
            <a:r>
              <a:rPr lang="en-US" altLang="en-US" dirty="0">
                <a:solidFill>
                  <a:schemeClr val="tx1"/>
                </a:solidFill>
              </a:rPr>
              <a:t>to specify what you want the thread to do</a:t>
            </a:r>
          </a:p>
          <a:p>
            <a:pPr lvl="1">
              <a:defRPr/>
            </a:pPr>
            <a:endParaRPr lang="en-US" altLang="en-US" b="1" dirty="0">
              <a:solidFill>
                <a:srgbClr val="800000"/>
              </a:solidFill>
              <a:latin typeface="Courier New" pitchFamily="49" charset="0"/>
            </a:endParaRPr>
          </a:p>
          <a:p>
            <a:pPr lvl="1">
              <a:defRPr/>
            </a:pP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void start():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92D050"/>
                </a:solidFill>
              </a:rPr>
              <a:t>starts the thread </a:t>
            </a:r>
            <a:r>
              <a:rPr lang="en-US" altLang="en-US" dirty="0">
                <a:solidFill>
                  <a:schemeClr val="tx1"/>
                </a:solidFill>
              </a:rPr>
              <a:t>(does setup and calls </a:t>
            </a:r>
            <a:r>
              <a:rPr lang="en-US" altLang="en-US" b="1" dirty="0">
                <a:solidFill>
                  <a:schemeClr val="tx1"/>
                </a:solidFill>
                <a:latin typeface="Courier New" pitchFamily="49" charset="0"/>
              </a:rPr>
              <a:t>run</a:t>
            </a:r>
            <a:r>
              <a:rPr lang="en-US" altLang="en-US" dirty="0">
                <a:solidFill>
                  <a:schemeClr val="tx1"/>
                </a:solidFill>
              </a:rPr>
              <a:t>)</a:t>
            </a:r>
          </a:p>
          <a:p>
            <a:pPr lvl="1">
              <a:defRPr/>
            </a:pPr>
            <a:endParaRPr lang="en-US" altLang="en-US" b="1" dirty="0">
              <a:solidFill>
                <a:srgbClr val="800000"/>
              </a:solidFill>
              <a:latin typeface="Courier New" pitchFamily="49" charset="0"/>
            </a:endParaRPr>
          </a:p>
          <a:p>
            <a:pPr lvl="1">
              <a:defRPr/>
            </a:pP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static void sleep(long </a:t>
            </a:r>
            <a:r>
              <a:rPr lang="en-US" altLang="en-US" b="1" dirty="0" err="1">
                <a:solidFill>
                  <a:srgbClr val="800000"/>
                </a:solidFill>
                <a:latin typeface="Courier New" pitchFamily="49" charset="0"/>
              </a:rPr>
              <a:t>millis</a:t>
            </a:r>
            <a:r>
              <a:rPr lang="en-US" altLang="en-US" b="1" dirty="0">
                <a:solidFill>
                  <a:srgbClr val="800000"/>
                </a:solidFill>
                <a:latin typeface="Courier New" pitchFamily="49" charset="0"/>
              </a:rPr>
              <a:t>):</a:t>
            </a:r>
            <a:r>
              <a:rPr lang="en-US" altLang="en-US" dirty="0"/>
              <a:t> </a:t>
            </a:r>
            <a:br>
              <a:rPr lang="en-US" altLang="en-US" dirty="0"/>
            </a:br>
            <a:r>
              <a:rPr lang="en-US" altLang="en-US" dirty="0">
                <a:solidFill>
                  <a:schemeClr val="tx1"/>
                </a:solidFill>
              </a:rPr>
              <a:t>static method. </a:t>
            </a:r>
            <a:r>
              <a:rPr lang="en-US" altLang="en-US" b="1" dirty="0" err="1">
                <a:solidFill>
                  <a:schemeClr val="tx1"/>
                </a:solidFill>
                <a:latin typeface="Courier New" pitchFamily="49" charset="0"/>
              </a:rPr>
              <a:t>Thread.sleep</a:t>
            </a:r>
            <a:r>
              <a:rPr lang="en-US" altLang="en-US" b="1" dirty="0">
                <a:solidFill>
                  <a:schemeClr val="tx1"/>
                </a:solidFill>
                <a:latin typeface="Courier New" pitchFamily="49" charset="0"/>
              </a:rPr>
              <a:t>(5)</a:t>
            </a:r>
            <a:r>
              <a:rPr lang="en-US" altLang="en-US" dirty="0">
                <a:solidFill>
                  <a:schemeClr val="tx1"/>
                </a:solidFill>
              </a:rPr>
              <a:t> puts the running thread to sleep for 5 milliseconds.</a:t>
            </a:r>
          </a:p>
        </p:txBody>
      </p:sp>
    </p:spTree>
    <p:extLst>
      <p:ext uri="{BB962C8B-B14F-4D97-AF65-F5344CB8AC3E}">
        <p14:creationId xmlns:p14="http://schemas.microsoft.com/office/powerpoint/2010/main" val="35510607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19149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2" dur="500"/>
                                        <p:tgtEl>
                                          <p:spTgt spid="19149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5" dur="500"/>
                                        <p:tgtEl>
                                          <p:spTgt spid="19149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18" dur="500"/>
                                        <p:tgtEl>
                                          <p:spTgt spid="19149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1" dur="500"/>
                                        <p:tgtEl>
                                          <p:spTgt spid="191491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9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24" dur="500"/>
                                        <p:tgtEl>
                                          <p:spTgt spid="191491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1491" grpId="0" build="p" autoUpdateAnimBg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Title 1"/>
          <p:cNvSpPr>
            <a:spLocks noGrp="1"/>
          </p:cNvSpPr>
          <p:nvPr>
            <p:ph type="title"/>
          </p:nvPr>
        </p:nvSpPr>
        <p:spPr>
          <a:xfrm>
            <a:off x="941373" y="764206"/>
            <a:ext cx="5904489" cy="639762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sz="3200" dirty="0"/>
              <a:t>Creating Threads - Two ways</a:t>
            </a:r>
          </a:p>
        </p:txBody>
      </p:sp>
      <p:pic>
        <p:nvPicPr>
          <p:cNvPr id="15363" name="Picture 2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3313689" y="2032450"/>
            <a:ext cx="5334000" cy="3817938"/>
          </a:xfr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>
                <a:solidFill>
                  <a:schemeClr val="tx1"/>
                </a:solidFill>
                <a:prstDash val="solid"/>
                <a:miter lim="800000"/>
                <a:headEnd type="none" w="sm" len="sm"/>
                <a:tailEnd type="none" w="sm" len="sm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1686747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Two ways:</a:t>
            </a:r>
          </a:p>
          <a:p>
            <a:pPr marL="457200" indent="-457200">
              <a:lnSpc>
                <a:spcPct val="90000"/>
              </a:lnSpc>
              <a:buClr>
                <a:schemeClr val="tx2"/>
              </a:buClr>
              <a:buSzPct val="75000"/>
              <a:buFont typeface="+mj-lt"/>
              <a:buAutoNum type="arabicPeriod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marL="457200" indent="-457200">
              <a:lnSpc>
                <a:spcPct val="90000"/>
              </a:lnSpc>
              <a:buClr>
                <a:schemeClr val="tx2"/>
              </a:buClr>
              <a:buSzPct val="75000"/>
              <a:buFont typeface="+mj-lt"/>
              <a:buAutoNum type="arabicPeriod"/>
            </a:pPr>
            <a:r>
              <a:rPr lang="en-US" altLang="zh-CN" sz="2400" dirty="0">
                <a:latin typeface="Arial" panose="020B0604020202020204" pitchFamily="34" charset="0"/>
              </a:rPr>
              <a:t>Extend Thread</a:t>
            </a:r>
          </a:p>
          <a:p>
            <a:pPr marL="457200" indent="-457200">
              <a:lnSpc>
                <a:spcPct val="90000"/>
              </a:lnSpc>
              <a:buClr>
                <a:schemeClr val="tx2"/>
              </a:buClr>
              <a:buSzPct val="75000"/>
              <a:buFont typeface="+mj-lt"/>
              <a:buAutoNum type="arabicPeriod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marL="457200" indent="-457200">
              <a:lnSpc>
                <a:spcPct val="90000"/>
              </a:lnSpc>
              <a:buClr>
                <a:schemeClr val="tx2"/>
              </a:buClr>
              <a:buSzPct val="75000"/>
              <a:buFont typeface="+mj-lt"/>
              <a:buAutoNum type="arabicPeriod"/>
            </a:pPr>
            <a:r>
              <a:rPr lang="en-US" altLang="zh-CN" sz="2400" dirty="0">
                <a:latin typeface="Arial" panose="020B0604020202020204" pitchFamily="34" charset="0"/>
              </a:rPr>
              <a:t>Implementing Runnable interface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Two ways to create a thread</a:t>
            </a:r>
          </a:p>
        </p:txBody>
      </p:sp>
    </p:spTree>
    <p:extLst>
      <p:ext uri="{BB962C8B-B14F-4D97-AF65-F5344CB8AC3E}">
        <p14:creationId xmlns:p14="http://schemas.microsoft.com/office/powerpoint/2010/main" val="15665840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7932" y="2212971"/>
            <a:ext cx="7732408" cy="3869742"/>
          </a:xfrm>
          <a:prstGeom prst="rect">
            <a:avLst/>
          </a:prstGeom>
        </p:spPr>
      </p:pic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1. Extend Thread:</a:t>
            </a: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Two ways to create a thread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3791119" y="2211150"/>
            <a:ext cx="1343277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06666" y="2600240"/>
            <a:ext cx="1607617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133600" y="3793816"/>
            <a:ext cx="1548276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3824837" y="5188343"/>
            <a:ext cx="856406" cy="41539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04867" y="1520453"/>
            <a:ext cx="1639016" cy="4546726"/>
          </a:xfrm>
          <a:prstGeom prst="rect">
            <a:avLst/>
          </a:prstGeom>
        </p:spPr>
      </p:pic>
      <p:sp>
        <p:nvSpPr>
          <p:cNvPr id="10" name="Right Arrow 9"/>
          <p:cNvSpPr/>
          <p:nvPr/>
        </p:nvSpPr>
        <p:spPr>
          <a:xfrm>
            <a:off x="8488546" y="371087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1654EB46-4497-4F07-BE54-A6C062CA87AF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.A_SimpleExamples.A_DemoThreadExtend</a:t>
            </a:r>
          </a:p>
        </p:txBody>
      </p:sp>
    </p:spTree>
    <p:extLst>
      <p:ext uri="{BB962C8B-B14F-4D97-AF65-F5344CB8AC3E}">
        <p14:creationId xmlns:p14="http://schemas.microsoft.com/office/powerpoint/2010/main" val="2897217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2198" y="2137989"/>
            <a:ext cx="8260525" cy="4477250"/>
          </a:xfrm>
          <a:prstGeom prst="rect">
            <a:avLst/>
          </a:prstGeom>
        </p:spPr>
      </p:pic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2. Implement Runnable interface:</a:t>
            </a: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Two ways to create a thread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87628" y="2122137"/>
            <a:ext cx="1869260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451172" y="2560541"/>
            <a:ext cx="1680446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2234750" y="3793816"/>
            <a:ext cx="1548276" cy="2225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785644" y="5690810"/>
            <a:ext cx="1159857" cy="41539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>
            <a:off x="8488546" y="3710873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785643" y="5275418"/>
            <a:ext cx="4558513" cy="415392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56087" y="1753450"/>
            <a:ext cx="1468718" cy="4399478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8F9CE41B-8A08-68BF-8ABD-187A13B9C683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.A_SimpleExamples.B_DemoThreadRunnable</a:t>
            </a:r>
          </a:p>
        </p:txBody>
      </p:sp>
    </p:spTree>
    <p:extLst>
      <p:ext uri="{BB962C8B-B14F-4D97-AF65-F5344CB8AC3E}">
        <p14:creationId xmlns:p14="http://schemas.microsoft.com/office/powerpoint/2010/main" val="34258030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4807" y="2059160"/>
            <a:ext cx="5519864" cy="4556079"/>
          </a:xfrm>
          <a:prstGeom prst="rect">
            <a:avLst/>
          </a:prstGeom>
        </p:spPr>
      </p:pic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2. Implement Runnable interface (Anonymous):</a:t>
            </a: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Two ways to create a thread</a:t>
            </a:r>
          </a:p>
        </p:txBody>
      </p:sp>
      <p:sp>
        <p:nvSpPr>
          <p:cNvPr id="7" name="Rectangle 6"/>
          <p:cNvSpPr/>
          <p:nvPr/>
        </p:nvSpPr>
        <p:spPr>
          <a:xfrm>
            <a:off x="1525349" y="2305642"/>
            <a:ext cx="5077752" cy="197504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525348" y="4379900"/>
            <a:ext cx="5077753" cy="2000670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Arrow 9"/>
          <p:cNvSpPr/>
          <p:nvPr/>
        </p:nvSpPr>
        <p:spPr>
          <a:xfrm>
            <a:off x="7768355" y="3905527"/>
            <a:ext cx="978408" cy="48463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30954" y="2257378"/>
            <a:ext cx="1362126" cy="4123192"/>
          </a:xfrm>
          <a:prstGeom prst="rect">
            <a:avLst/>
          </a:prstGeom>
        </p:spPr>
      </p:pic>
      <p:sp>
        <p:nvSpPr>
          <p:cNvPr id="15" name="Rectangle 14"/>
          <p:cNvSpPr/>
          <p:nvPr/>
        </p:nvSpPr>
        <p:spPr>
          <a:xfrm>
            <a:off x="1525348" y="4102662"/>
            <a:ext cx="724238" cy="178025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525348" y="6149947"/>
            <a:ext cx="724238" cy="230623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F38986-114C-3C2E-CE05-FE654892250D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.A_SimpleExamples.C_DemoThreadRunnable2</a:t>
            </a:r>
          </a:p>
        </p:txBody>
      </p:sp>
    </p:spTree>
    <p:extLst>
      <p:ext uri="{BB962C8B-B14F-4D97-AF65-F5344CB8AC3E}">
        <p14:creationId xmlns:p14="http://schemas.microsoft.com/office/powerpoint/2010/main" val="11844650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Bouncing Ball Example …</a:t>
            </a:r>
          </a:p>
        </p:txBody>
      </p:sp>
    </p:spTree>
    <p:extLst>
      <p:ext uri="{BB962C8B-B14F-4D97-AF65-F5344CB8AC3E}">
        <p14:creationId xmlns:p14="http://schemas.microsoft.com/office/powerpoint/2010/main" val="39198154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5650" y="1219200"/>
            <a:ext cx="10399614" cy="5404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Bouncing Ball: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This program has a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single thread </a:t>
            </a:r>
            <a:r>
              <a:rPr lang="en-US" altLang="zh-CN" sz="2400" dirty="0">
                <a:solidFill>
                  <a:srgbClr val="663300"/>
                </a:solidFill>
                <a:latin typeface="Arial" panose="020B0604020202020204" pitchFamily="34" charset="0"/>
              </a:rPr>
              <a:t>of control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Actions are executed </a:t>
            </a:r>
            <a:r>
              <a:rPr lang="en-US" altLang="zh-CN" sz="2400" b="1" dirty="0">
                <a:solidFill>
                  <a:srgbClr val="00B050"/>
                </a:solidFill>
                <a:latin typeface="Arial" panose="020B0604020202020204" pitchFamily="34" charset="0"/>
              </a:rPr>
              <a:t>one by one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Cannot execute </a:t>
            </a: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next action</a:t>
            </a:r>
            <a:r>
              <a:rPr lang="en-US" altLang="zh-CN" sz="2400" b="1" dirty="0">
                <a:latin typeface="Arial" panose="020B0604020202020204" pitchFamily="34" charset="0"/>
              </a:rPr>
              <a:t> </a:t>
            </a:r>
            <a:r>
              <a:rPr lang="en-US" altLang="zh-CN" sz="2400" dirty="0">
                <a:latin typeface="Arial" panose="020B0604020202020204" pitchFamily="34" charset="0"/>
              </a:rPr>
              <a:t>before current finishes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69439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A single ball bouncing around: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Bouncing Ball example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6085" y="2326675"/>
            <a:ext cx="3646810" cy="3750227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580853F6-F73F-4C50-2779-FCD1234AF9F4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._</a:t>
            </a:r>
            <a:r>
              <a:rPr lang="en-US" dirty="0">
                <a:solidFill>
                  <a:srgbClr val="FF0000"/>
                </a:solidFill>
                <a:latin typeface="+mn-lt"/>
              </a:rPr>
              <a:t>Single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Threaded.BouncingBalls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2777337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5650" y="1219200"/>
            <a:ext cx="10399614" cy="54041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Single Thread implications in general:</a:t>
            </a: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Cannot do </a:t>
            </a:r>
            <a:r>
              <a:rPr lang="en-US" altLang="zh-CN" sz="2400" b="1" dirty="0">
                <a:latin typeface="Arial" panose="020B0604020202020204" pitchFamily="34" charset="0"/>
              </a:rPr>
              <a:t>anything else </a:t>
            </a:r>
            <a:r>
              <a:rPr lang="en-US" altLang="zh-CN" sz="2400" dirty="0">
                <a:latin typeface="Arial" panose="020B0604020202020204" pitchFamily="34" charset="0"/>
              </a:rPr>
              <a:t>while waiting …</a:t>
            </a: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5715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Examples: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Cannot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stop</a:t>
            </a:r>
            <a:r>
              <a:rPr lang="en-US" altLang="zh-CN" sz="2400" i="1" dirty="0">
                <a:latin typeface="Arial" panose="020B0604020202020204" pitchFamily="34" charset="0"/>
              </a:rPr>
              <a:t> a download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i="1" dirty="0">
                <a:latin typeface="Arial" panose="020B0604020202020204" pitchFamily="34" charset="0"/>
              </a:rPr>
              <a:t>Cannot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react</a:t>
            </a:r>
            <a:r>
              <a:rPr lang="en-US" altLang="zh-CN" sz="2400" i="1" dirty="0">
                <a:latin typeface="Arial" panose="020B0604020202020204" pitchFamily="34" charset="0"/>
              </a:rPr>
              <a:t> to window close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i="1" dirty="0">
                <a:latin typeface="Arial" panose="020B0604020202020204" pitchFamily="34" charset="0"/>
              </a:rPr>
              <a:t>Cannot have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two players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i="1" dirty="0">
                <a:latin typeface="Arial" panose="020B0604020202020204" pitchFamily="34" charset="0"/>
              </a:rPr>
              <a:t>Cannot have an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enemy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i="1" dirty="0">
                <a:latin typeface="Arial" panose="020B0604020202020204" pitchFamily="34" charset="0"/>
              </a:rPr>
              <a:t>...</a:t>
            </a:r>
          </a:p>
          <a:p>
            <a:pPr marL="400050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i="1" dirty="0">
              <a:latin typeface="Arial" panose="020B0604020202020204" pitchFamily="34" charset="0"/>
            </a:endParaRPr>
          </a:p>
          <a:p>
            <a:pPr marL="400050" algn="r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8938509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7" name="Rectangle 2"/>
          <p:cNvSpPr>
            <a:spLocks noChangeArrowheads="1"/>
          </p:cNvSpPr>
          <p:nvPr/>
        </p:nvSpPr>
        <p:spPr bwMode="auto">
          <a:xfrm>
            <a:off x="964300" y="778857"/>
            <a:ext cx="7435233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>
              <a:defRPr/>
            </a:pPr>
            <a:r>
              <a:rPr lang="en-US" altLang="zh-CN" sz="4400" dirty="0">
                <a:latin typeface="+mn-lt"/>
              </a:rPr>
              <a:t>Example with multithreading </a:t>
            </a:r>
          </a:p>
        </p:txBody>
      </p:sp>
      <p:sp>
        <p:nvSpPr>
          <p:cNvPr id="10244" name="Rectangle 3"/>
          <p:cNvSpPr>
            <a:spLocks noChangeArrowheads="1"/>
          </p:cNvSpPr>
          <p:nvPr/>
        </p:nvSpPr>
        <p:spPr bwMode="auto">
          <a:xfrm>
            <a:off x="964299" y="1637964"/>
            <a:ext cx="10603265" cy="498536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Programs with more than one thread are called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multithreaded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Java Threads are OS </a:t>
            </a:r>
            <a:r>
              <a:rPr lang="en-US" altLang="zh-CN" sz="2400" b="1" dirty="0">
                <a:solidFill>
                  <a:srgbClr val="00B050"/>
                </a:solidFill>
                <a:latin typeface="Arial" panose="020B0604020202020204" pitchFamily="34" charset="0"/>
              </a:rPr>
              <a:t>native</a:t>
            </a: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OS runs one thread a short period of time 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Threads </a:t>
            </a:r>
            <a:r>
              <a:rPr lang="en-US" altLang="zh-CN" sz="2400" b="1" dirty="0">
                <a:solidFill>
                  <a:srgbClr val="00B050"/>
                </a:solidFill>
                <a:latin typeface="Arial" panose="020B0604020202020204" pitchFamily="34" charset="0"/>
              </a:rPr>
              <a:t>appear</a:t>
            </a:r>
            <a:r>
              <a:rPr lang="en-US" altLang="zh-CN" sz="2400" dirty="0">
                <a:latin typeface="Arial" panose="020B0604020202020204" pitchFamily="34" charset="0"/>
              </a:rPr>
              <a:t> to run simultaneously.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24138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9" name="Rectangle 2"/>
          <p:cNvSpPr>
            <a:spLocks noChangeArrowheads="1"/>
          </p:cNvSpPr>
          <p:nvPr/>
        </p:nvSpPr>
        <p:spPr bwMode="auto">
          <a:xfrm>
            <a:off x="2133600" y="228600"/>
            <a:ext cx="79248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zh-CN" sz="4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9220" name="Rectangle 3"/>
          <p:cNvSpPr>
            <a:spLocks noChangeArrowheads="1"/>
          </p:cNvSpPr>
          <p:nvPr/>
        </p:nvSpPr>
        <p:spPr bwMode="auto">
          <a:xfrm>
            <a:off x="963558" y="1680447"/>
            <a:ext cx="10377430" cy="493479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Three balls bouncing around: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4" name="Title 1"/>
          <p:cNvSpPr txBox="1">
            <a:spLocks/>
          </p:cNvSpPr>
          <p:nvPr/>
        </p:nvSpPr>
        <p:spPr>
          <a:xfrm>
            <a:off x="963558" y="762003"/>
            <a:ext cx="10417284" cy="544862"/>
          </a:xfrm>
          <a:prstGeom prst="rect">
            <a:avLst/>
          </a:prstGeom>
          <a:ln>
            <a:miter lim="800000"/>
            <a:headEnd/>
            <a:tailEnd/>
          </a:ln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n-US" altLang="en-US" sz="3200" dirty="0"/>
              <a:t>Bouncing Ball example</a:t>
            </a:r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7545" y="2929532"/>
            <a:ext cx="3695797" cy="3750227"/>
          </a:xfrm>
          <a:prstGeom prst="rect">
            <a:avLst/>
          </a:prstGeom>
        </p:spPr>
      </p:pic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A0FC38DB-920B-377E-2BE1-9FCF964FF1F8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._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MultiThreaded.BouncingBalls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2752563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Thread States</a:t>
            </a:r>
          </a:p>
        </p:txBody>
      </p:sp>
    </p:spTree>
    <p:extLst>
      <p:ext uri="{BB962C8B-B14F-4D97-AF65-F5344CB8AC3E}">
        <p14:creationId xmlns:p14="http://schemas.microsoft.com/office/powerpoint/2010/main" val="1652359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3" name="Rectangle 2"/>
          <p:cNvSpPr>
            <a:spLocks noChangeArrowheads="1"/>
          </p:cNvSpPr>
          <p:nvPr/>
        </p:nvSpPr>
        <p:spPr bwMode="auto">
          <a:xfrm>
            <a:off x="987931" y="771528"/>
            <a:ext cx="3927981" cy="6614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spcBef>
                <a:spcPct val="0"/>
              </a:spcBef>
              <a:buFontTx/>
              <a:buNone/>
              <a:defRPr/>
            </a:pPr>
            <a:r>
              <a:rPr lang="en-US" altLang="zh-CN" sz="4400" dirty="0">
                <a:latin typeface="+mn-lt"/>
              </a:rPr>
              <a:t>Thread States</a:t>
            </a:r>
          </a:p>
        </p:txBody>
      </p:sp>
      <p:sp>
        <p:nvSpPr>
          <p:cNvPr id="20484" name="Rectangle 3"/>
          <p:cNvSpPr>
            <a:spLocks noChangeArrowheads="1"/>
          </p:cNvSpPr>
          <p:nvPr/>
        </p:nvSpPr>
        <p:spPr bwMode="auto">
          <a:xfrm>
            <a:off x="987930" y="1585914"/>
            <a:ext cx="10365195" cy="50434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Four states for threads: </a:t>
            </a:r>
            <a:r>
              <a:rPr lang="en-US" altLang="zh-CN" sz="2400" b="1" dirty="0">
                <a:solidFill>
                  <a:srgbClr val="92D050"/>
                </a:solidFill>
                <a:latin typeface="Arial" panose="020B0604020202020204" pitchFamily="34" charset="0"/>
              </a:rPr>
              <a:t>new</a:t>
            </a:r>
            <a:r>
              <a:rPr lang="en-US" altLang="zh-CN" sz="2400" dirty="0">
                <a:solidFill>
                  <a:schemeClr val="tx2"/>
                </a:solidFill>
                <a:latin typeface="Arial" panose="020B0604020202020204" pitchFamily="34" charset="0"/>
              </a:rPr>
              <a:t>, </a:t>
            </a: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runnable</a:t>
            </a:r>
            <a:r>
              <a:rPr lang="en-US" altLang="zh-CN" sz="2400" dirty="0">
                <a:solidFill>
                  <a:schemeClr val="tx2"/>
                </a:solidFill>
                <a:latin typeface="Arial" panose="020B0604020202020204" pitchFamily="34" charset="0"/>
              </a:rPr>
              <a:t>,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blocked</a:t>
            </a:r>
            <a:r>
              <a:rPr lang="en-US" altLang="zh-CN" sz="2400" dirty="0">
                <a:solidFill>
                  <a:schemeClr val="tx2"/>
                </a:solidFill>
                <a:latin typeface="Arial" panose="020B0604020202020204" pitchFamily="34" charset="0"/>
              </a:rPr>
              <a:t>,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dead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400" dirty="0">
              <a:latin typeface="Arial" panose="020B0604020202020204" pitchFamily="34" charset="0"/>
            </a:endParaRPr>
          </a:p>
        </p:txBody>
      </p:sp>
      <p:sp>
        <p:nvSpPr>
          <p:cNvPr id="20485" name="Oval 5"/>
          <p:cNvSpPr>
            <a:spLocks noChangeArrowheads="1"/>
          </p:cNvSpPr>
          <p:nvPr/>
        </p:nvSpPr>
        <p:spPr bwMode="auto">
          <a:xfrm>
            <a:off x="2590800" y="2779714"/>
            <a:ext cx="1371600" cy="112712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1">
                <a:solidFill>
                  <a:schemeClr val="tx2"/>
                </a:solidFill>
                <a:latin typeface="Times New Roman" panose="02020603050405020304" pitchFamily="18" charset="0"/>
              </a:rPr>
              <a:t>new</a:t>
            </a:r>
            <a:endParaRPr lang="en-US" altLang="en-US" sz="2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486" name="Oval 6"/>
          <p:cNvSpPr>
            <a:spLocks noChangeArrowheads="1"/>
          </p:cNvSpPr>
          <p:nvPr/>
        </p:nvSpPr>
        <p:spPr bwMode="auto">
          <a:xfrm>
            <a:off x="4800600" y="3554414"/>
            <a:ext cx="1371600" cy="112712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1">
                <a:solidFill>
                  <a:schemeClr val="tx2"/>
                </a:solidFill>
                <a:latin typeface="Times New Roman" panose="02020603050405020304" pitchFamily="18" charset="0"/>
              </a:rPr>
              <a:t>runnable</a:t>
            </a:r>
            <a:endParaRPr lang="en-US" altLang="en-US" sz="2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487" name="Oval 7"/>
          <p:cNvSpPr>
            <a:spLocks noChangeArrowheads="1"/>
          </p:cNvSpPr>
          <p:nvPr/>
        </p:nvSpPr>
        <p:spPr bwMode="auto">
          <a:xfrm>
            <a:off x="3581400" y="4892676"/>
            <a:ext cx="1371600" cy="112712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1">
                <a:solidFill>
                  <a:schemeClr val="tx2"/>
                </a:solidFill>
                <a:latin typeface="Times New Roman" panose="02020603050405020304" pitchFamily="18" charset="0"/>
              </a:rPr>
              <a:t>dead</a:t>
            </a:r>
            <a:endParaRPr lang="en-US" altLang="en-US" sz="2400">
              <a:solidFill>
                <a:schemeClr val="tx2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488" name="Oval 8"/>
          <p:cNvSpPr>
            <a:spLocks noChangeArrowheads="1"/>
          </p:cNvSpPr>
          <p:nvPr/>
        </p:nvSpPr>
        <p:spPr bwMode="auto">
          <a:xfrm>
            <a:off x="8001000" y="2427289"/>
            <a:ext cx="1371600" cy="1127125"/>
          </a:xfrm>
          <a:prstGeom prst="ellipse">
            <a:avLst/>
          </a:prstGeom>
          <a:noFill/>
          <a:ln w="9525">
            <a:solidFill>
              <a:schemeClr val="tx1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400" b="1">
                <a:solidFill>
                  <a:schemeClr val="tx2"/>
                </a:solidFill>
                <a:latin typeface="Times New Roman" panose="02020603050405020304" pitchFamily="18" charset="0"/>
              </a:rPr>
              <a:t>blocked</a:t>
            </a:r>
          </a:p>
        </p:txBody>
      </p:sp>
      <p:sp>
        <p:nvSpPr>
          <p:cNvPr id="20489" name="Line 9"/>
          <p:cNvSpPr>
            <a:spLocks noChangeShapeType="1"/>
          </p:cNvSpPr>
          <p:nvPr/>
        </p:nvSpPr>
        <p:spPr bwMode="auto">
          <a:xfrm>
            <a:off x="3886200" y="3554414"/>
            <a:ext cx="990600" cy="422275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0" name="Freeform 10"/>
          <p:cNvSpPr>
            <a:spLocks/>
          </p:cNvSpPr>
          <p:nvPr/>
        </p:nvSpPr>
        <p:spPr bwMode="auto">
          <a:xfrm>
            <a:off x="5562600" y="2414589"/>
            <a:ext cx="2590800" cy="1139825"/>
          </a:xfrm>
          <a:custGeom>
            <a:avLst/>
            <a:gdLst>
              <a:gd name="T0" fmla="*/ 0 w 1632"/>
              <a:gd name="T1" fmla="*/ 2147483647 h 776"/>
              <a:gd name="T2" fmla="*/ 2147483647 w 1632"/>
              <a:gd name="T3" fmla="*/ 2147483647 h 776"/>
              <a:gd name="T4" fmla="*/ 2147483647 w 1632"/>
              <a:gd name="T5" fmla="*/ 2147483647 h 776"/>
              <a:gd name="T6" fmla="*/ 0 60000 65536"/>
              <a:gd name="T7" fmla="*/ 0 60000 65536"/>
              <a:gd name="T8" fmla="*/ 0 60000 65536"/>
              <a:gd name="T9" fmla="*/ 0 w 1632"/>
              <a:gd name="T10" fmla="*/ 0 h 776"/>
              <a:gd name="T11" fmla="*/ 1632 w 1632"/>
              <a:gd name="T12" fmla="*/ 776 h 77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32" h="776">
                <a:moveTo>
                  <a:pt x="0" y="776"/>
                </a:moveTo>
                <a:cubicBezTo>
                  <a:pt x="56" y="492"/>
                  <a:pt x="112" y="208"/>
                  <a:pt x="384" y="104"/>
                </a:cubicBezTo>
                <a:cubicBezTo>
                  <a:pt x="656" y="0"/>
                  <a:pt x="1432" y="144"/>
                  <a:pt x="1632" y="15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1" name="Freeform 11"/>
          <p:cNvSpPr>
            <a:spLocks/>
          </p:cNvSpPr>
          <p:nvPr/>
        </p:nvSpPr>
        <p:spPr bwMode="auto">
          <a:xfrm>
            <a:off x="5715000" y="2568575"/>
            <a:ext cx="2362200" cy="985838"/>
          </a:xfrm>
          <a:custGeom>
            <a:avLst/>
            <a:gdLst>
              <a:gd name="T0" fmla="*/ 0 w 1632"/>
              <a:gd name="T1" fmla="*/ 2147483647 h 776"/>
              <a:gd name="T2" fmla="*/ 2147483647 w 1632"/>
              <a:gd name="T3" fmla="*/ 2147483647 h 776"/>
              <a:gd name="T4" fmla="*/ 2147483647 w 1632"/>
              <a:gd name="T5" fmla="*/ 2147483647 h 776"/>
              <a:gd name="T6" fmla="*/ 0 60000 65536"/>
              <a:gd name="T7" fmla="*/ 0 60000 65536"/>
              <a:gd name="T8" fmla="*/ 0 60000 65536"/>
              <a:gd name="T9" fmla="*/ 0 w 1632"/>
              <a:gd name="T10" fmla="*/ 0 h 776"/>
              <a:gd name="T11" fmla="*/ 1632 w 1632"/>
              <a:gd name="T12" fmla="*/ 776 h 776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32" h="776">
                <a:moveTo>
                  <a:pt x="0" y="776"/>
                </a:moveTo>
                <a:cubicBezTo>
                  <a:pt x="56" y="492"/>
                  <a:pt x="112" y="208"/>
                  <a:pt x="384" y="104"/>
                </a:cubicBezTo>
                <a:cubicBezTo>
                  <a:pt x="656" y="0"/>
                  <a:pt x="1432" y="144"/>
                  <a:pt x="1632" y="152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2" name="Freeform 12"/>
          <p:cNvSpPr>
            <a:spLocks/>
          </p:cNvSpPr>
          <p:nvPr/>
        </p:nvSpPr>
        <p:spPr bwMode="auto">
          <a:xfrm>
            <a:off x="5867400" y="3124201"/>
            <a:ext cx="2133600" cy="500063"/>
          </a:xfrm>
          <a:custGeom>
            <a:avLst/>
            <a:gdLst>
              <a:gd name="T0" fmla="*/ 0 w 1344"/>
              <a:gd name="T1" fmla="*/ 2147483647 h 448"/>
              <a:gd name="T2" fmla="*/ 2147483647 w 1344"/>
              <a:gd name="T3" fmla="*/ 2147483647 h 448"/>
              <a:gd name="T4" fmla="*/ 2147483647 w 1344"/>
              <a:gd name="T5" fmla="*/ 2147483647 h 448"/>
              <a:gd name="T6" fmla="*/ 0 60000 65536"/>
              <a:gd name="T7" fmla="*/ 0 60000 65536"/>
              <a:gd name="T8" fmla="*/ 0 60000 65536"/>
              <a:gd name="T9" fmla="*/ 0 w 1344"/>
              <a:gd name="T10" fmla="*/ 0 h 448"/>
              <a:gd name="T11" fmla="*/ 1344 w 1344"/>
              <a:gd name="T12" fmla="*/ 448 h 44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344" h="448">
                <a:moveTo>
                  <a:pt x="0" y="448"/>
                </a:moveTo>
                <a:cubicBezTo>
                  <a:pt x="152" y="288"/>
                  <a:pt x="304" y="128"/>
                  <a:pt x="528" y="64"/>
                </a:cubicBezTo>
                <a:cubicBezTo>
                  <a:pt x="752" y="0"/>
                  <a:pt x="1208" y="64"/>
                  <a:pt x="1344" y="64"/>
                </a:cubicBezTo>
              </a:path>
            </a:pathLst>
          </a:custGeom>
          <a:noFill/>
          <a:ln w="9525" cap="flat">
            <a:solidFill>
              <a:schemeClr val="tx1"/>
            </a:solidFill>
            <a:prstDash val="sysDot"/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3" name="Freeform 13"/>
          <p:cNvSpPr>
            <a:spLocks/>
          </p:cNvSpPr>
          <p:nvPr/>
        </p:nvSpPr>
        <p:spPr bwMode="auto">
          <a:xfrm>
            <a:off x="6019800" y="3200400"/>
            <a:ext cx="2057400" cy="565150"/>
          </a:xfrm>
          <a:custGeom>
            <a:avLst/>
            <a:gdLst>
              <a:gd name="T0" fmla="*/ 0 w 1344"/>
              <a:gd name="T1" fmla="*/ 2147483647 h 448"/>
              <a:gd name="T2" fmla="*/ 2147483647 w 1344"/>
              <a:gd name="T3" fmla="*/ 2147483647 h 448"/>
              <a:gd name="T4" fmla="*/ 2147483647 w 1344"/>
              <a:gd name="T5" fmla="*/ 2147483647 h 448"/>
              <a:gd name="T6" fmla="*/ 0 60000 65536"/>
              <a:gd name="T7" fmla="*/ 0 60000 65536"/>
              <a:gd name="T8" fmla="*/ 0 60000 65536"/>
              <a:gd name="T9" fmla="*/ 0 w 1344"/>
              <a:gd name="T10" fmla="*/ 0 h 448"/>
              <a:gd name="T11" fmla="*/ 1344 w 1344"/>
              <a:gd name="T12" fmla="*/ 448 h 448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344" h="448">
                <a:moveTo>
                  <a:pt x="0" y="448"/>
                </a:moveTo>
                <a:cubicBezTo>
                  <a:pt x="152" y="288"/>
                  <a:pt x="304" y="128"/>
                  <a:pt x="528" y="64"/>
                </a:cubicBezTo>
                <a:cubicBezTo>
                  <a:pt x="752" y="0"/>
                  <a:pt x="1208" y="64"/>
                  <a:pt x="1344" y="64"/>
                </a:cubicBezTo>
              </a:path>
            </a:pathLst>
          </a:custGeom>
          <a:noFill/>
          <a:ln w="9525" cap="flat">
            <a:solidFill>
              <a:schemeClr val="tx1"/>
            </a:solidFill>
            <a:prstDash val="sysDot"/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4" name="Freeform 14"/>
          <p:cNvSpPr>
            <a:spLocks/>
          </p:cNvSpPr>
          <p:nvPr/>
        </p:nvSpPr>
        <p:spPr bwMode="auto">
          <a:xfrm>
            <a:off x="6172200" y="3343275"/>
            <a:ext cx="1981200" cy="750888"/>
          </a:xfrm>
          <a:custGeom>
            <a:avLst/>
            <a:gdLst>
              <a:gd name="T0" fmla="*/ 2147483647 w 1248"/>
              <a:gd name="T1" fmla="*/ 0 h 512"/>
              <a:gd name="T2" fmla="*/ 2147483647 w 1248"/>
              <a:gd name="T3" fmla="*/ 2147483647 h 512"/>
              <a:gd name="T4" fmla="*/ 0 w 1248"/>
              <a:gd name="T5" fmla="*/ 2147483647 h 512"/>
              <a:gd name="T6" fmla="*/ 0 60000 65536"/>
              <a:gd name="T7" fmla="*/ 0 60000 65536"/>
              <a:gd name="T8" fmla="*/ 0 60000 65536"/>
              <a:gd name="T9" fmla="*/ 0 w 1248"/>
              <a:gd name="T10" fmla="*/ 0 h 512"/>
              <a:gd name="T11" fmla="*/ 1248 w 1248"/>
              <a:gd name="T12" fmla="*/ 512 h 5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48" h="512">
                <a:moveTo>
                  <a:pt x="1248" y="0"/>
                </a:moveTo>
                <a:cubicBezTo>
                  <a:pt x="1064" y="176"/>
                  <a:pt x="880" y="352"/>
                  <a:pt x="672" y="432"/>
                </a:cubicBezTo>
                <a:cubicBezTo>
                  <a:pt x="464" y="512"/>
                  <a:pt x="232" y="496"/>
                  <a:pt x="0" y="48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lg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5" name="Freeform 15"/>
          <p:cNvSpPr>
            <a:spLocks/>
          </p:cNvSpPr>
          <p:nvPr/>
        </p:nvSpPr>
        <p:spPr bwMode="auto">
          <a:xfrm>
            <a:off x="6172200" y="3482975"/>
            <a:ext cx="2133600" cy="776288"/>
          </a:xfrm>
          <a:custGeom>
            <a:avLst/>
            <a:gdLst>
              <a:gd name="T0" fmla="*/ 2147483647 w 1248"/>
              <a:gd name="T1" fmla="*/ 0 h 512"/>
              <a:gd name="T2" fmla="*/ 2147483647 w 1248"/>
              <a:gd name="T3" fmla="*/ 2147483647 h 512"/>
              <a:gd name="T4" fmla="*/ 0 w 1248"/>
              <a:gd name="T5" fmla="*/ 2147483647 h 512"/>
              <a:gd name="T6" fmla="*/ 0 60000 65536"/>
              <a:gd name="T7" fmla="*/ 0 60000 65536"/>
              <a:gd name="T8" fmla="*/ 0 60000 65536"/>
              <a:gd name="T9" fmla="*/ 0 w 1248"/>
              <a:gd name="T10" fmla="*/ 0 h 512"/>
              <a:gd name="T11" fmla="*/ 1248 w 1248"/>
              <a:gd name="T12" fmla="*/ 512 h 512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248" h="512">
                <a:moveTo>
                  <a:pt x="1248" y="0"/>
                </a:moveTo>
                <a:cubicBezTo>
                  <a:pt x="1064" y="176"/>
                  <a:pt x="880" y="352"/>
                  <a:pt x="672" y="432"/>
                </a:cubicBezTo>
                <a:cubicBezTo>
                  <a:pt x="464" y="512"/>
                  <a:pt x="232" y="496"/>
                  <a:pt x="0" y="48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none" w="med" len="med"/>
            <a:tailEnd type="triangle" w="lg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6" name="Freeform 16"/>
          <p:cNvSpPr>
            <a:spLocks/>
          </p:cNvSpPr>
          <p:nvPr/>
        </p:nvSpPr>
        <p:spPr bwMode="auto">
          <a:xfrm>
            <a:off x="5943600" y="3554413"/>
            <a:ext cx="2667000" cy="1503362"/>
          </a:xfrm>
          <a:custGeom>
            <a:avLst/>
            <a:gdLst>
              <a:gd name="T0" fmla="*/ 0 w 1680"/>
              <a:gd name="T1" fmla="*/ 2147483647 h 1024"/>
              <a:gd name="T2" fmla="*/ 2147483647 w 1680"/>
              <a:gd name="T3" fmla="*/ 2147483647 h 1024"/>
              <a:gd name="T4" fmla="*/ 2147483647 w 1680"/>
              <a:gd name="T5" fmla="*/ 0 h 1024"/>
              <a:gd name="T6" fmla="*/ 0 60000 65536"/>
              <a:gd name="T7" fmla="*/ 0 60000 65536"/>
              <a:gd name="T8" fmla="*/ 0 60000 65536"/>
              <a:gd name="T9" fmla="*/ 0 w 1680"/>
              <a:gd name="T10" fmla="*/ 0 h 1024"/>
              <a:gd name="T11" fmla="*/ 1680 w 1680"/>
              <a:gd name="T12" fmla="*/ 1024 h 102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80" h="1024">
                <a:moveTo>
                  <a:pt x="0" y="672"/>
                </a:moveTo>
                <a:cubicBezTo>
                  <a:pt x="436" y="848"/>
                  <a:pt x="872" y="1024"/>
                  <a:pt x="1152" y="912"/>
                </a:cubicBezTo>
                <a:cubicBezTo>
                  <a:pt x="1432" y="800"/>
                  <a:pt x="1556" y="400"/>
                  <a:pt x="168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7" name="Freeform 17"/>
          <p:cNvSpPr>
            <a:spLocks/>
          </p:cNvSpPr>
          <p:nvPr/>
        </p:nvSpPr>
        <p:spPr bwMode="auto">
          <a:xfrm>
            <a:off x="5791200" y="3554413"/>
            <a:ext cx="2971800" cy="1643062"/>
          </a:xfrm>
          <a:custGeom>
            <a:avLst/>
            <a:gdLst>
              <a:gd name="T0" fmla="*/ 0 w 1680"/>
              <a:gd name="T1" fmla="*/ 2147483647 h 1024"/>
              <a:gd name="T2" fmla="*/ 2147483647 w 1680"/>
              <a:gd name="T3" fmla="*/ 2147483647 h 1024"/>
              <a:gd name="T4" fmla="*/ 2147483647 w 1680"/>
              <a:gd name="T5" fmla="*/ 0 h 1024"/>
              <a:gd name="T6" fmla="*/ 0 60000 65536"/>
              <a:gd name="T7" fmla="*/ 0 60000 65536"/>
              <a:gd name="T8" fmla="*/ 0 60000 65536"/>
              <a:gd name="T9" fmla="*/ 0 w 1680"/>
              <a:gd name="T10" fmla="*/ 0 h 1024"/>
              <a:gd name="T11" fmla="*/ 1680 w 1680"/>
              <a:gd name="T12" fmla="*/ 1024 h 102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1680" h="1024">
                <a:moveTo>
                  <a:pt x="0" y="672"/>
                </a:moveTo>
                <a:cubicBezTo>
                  <a:pt x="436" y="848"/>
                  <a:pt x="872" y="1024"/>
                  <a:pt x="1152" y="912"/>
                </a:cubicBezTo>
                <a:cubicBezTo>
                  <a:pt x="1432" y="800"/>
                  <a:pt x="1556" y="400"/>
                  <a:pt x="1680" y="0"/>
                </a:cubicBezTo>
              </a:path>
            </a:pathLst>
          </a:custGeom>
          <a:noFill/>
          <a:ln w="9525">
            <a:solidFill>
              <a:schemeClr val="tx1"/>
            </a:solidFill>
            <a:round/>
            <a:headEnd type="triangle" w="med" len="med"/>
            <a:tailEnd type="non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8" name="Line 18"/>
          <p:cNvSpPr>
            <a:spLocks noChangeShapeType="1"/>
          </p:cNvSpPr>
          <p:nvPr/>
        </p:nvSpPr>
        <p:spPr bwMode="auto">
          <a:xfrm flipH="1">
            <a:off x="4724400" y="4610101"/>
            <a:ext cx="381000" cy="423863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wrap="none" anchor="ctr"/>
          <a:lstStyle/>
          <a:p>
            <a:endParaRPr lang="en-US"/>
          </a:p>
        </p:txBody>
      </p:sp>
      <p:sp>
        <p:nvSpPr>
          <p:cNvPr id="20499" name="Text Box 19"/>
          <p:cNvSpPr txBox="1">
            <a:spLocks noChangeArrowheads="1"/>
          </p:cNvSpPr>
          <p:nvPr/>
        </p:nvSpPr>
        <p:spPr bwMode="auto">
          <a:xfrm>
            <a:off x="6581776" y="2233613"/>
            <a:ext cx="866775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sleep</a:t>
            </a:r>
            <a:endParaRPr lang="en-US" altLang="en-US" sz="2000" b="1">
              <a:latin typeface="Times New Roman" panose="02020603050405020304" pitchFamily="18" charset="0"/>
            </a:endParaRPr>
          </a:p>
        </p:txBody>
      </p:sp>
      <p:sp>
        <p:nvSpPr>
          <p:cNvPr id="20500" name="Text Box 20"/>
          <p:cNvSpPr txBox="1">
            <a:spLocks noChangeArrowheads="1"/>
          </p:cNvSpPr>
          <p:nvPr/>
        </p:nvSpPr>
        <p:spPr bwMode="auto">
          <a:xfrm>
            <a:off x="6324600" y="2590801"/>
            <a:ext cx="14986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Times New Roman" panose="02020603050405020304" pitchFamily="18" charset="0"/>
              </a:rPr>
              <a:t>done sleeping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20501" name="Text Box 21"/>
          <p:cNvSpPr txBox="1">
            <a:spLocks noChangeArrowheads="1"/>
          </p:cNvSpPr>
          <p:nvPr/>
        </p:nvSpPr>
        <p:spPr bwMode="auto">
          <a:xfrm>
            <a:off x="5943600" y="2895600"/>
            <a:ext cx="137160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i="1">
                <a:solidFill>
                  <a:srgbClr val="FF0000"/>
                </a:solidFill>
                <a:latin typeface="Courier New" panose="02070309020205020404" pitchFamily="49" charset="0"/>
              </a:rPr>
              <a:t>suspend</a:t>
            </a:r>
            <a:endParaRPr lang="en-US" altLang="en-US" sz="2000" i="1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502" name="Text Box 22"/>
          <p:cNvSpPr txBox="1">
            <a:spLocks noChangeArrowheads="1"/>
          </p:cNvSpPr>
          <p:nvPr/>
        </p:nvSpPr>
        <p:spPr bwMode="auto">
          <a:xfrm>
            <a:off x="6858000" y="3154363"/>
            <a:ext cx="100330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i="1">
                <a:solidFill>
                  <a:srgbClr val="FF0000"/>
                </a:solidFill>
                <a:latin typeface="Courier New" panose="02070309020205020404" pitchFamily="49" charset="0"/>
              </a:rPr>
              <a:t>resume</a:t>
            </a:r>
          </a:p>
        </p:txBody>
      </p:sp>
      <p:sp>
        <p:nvSpPr>
          <p:cNvPr id="20503" name="Text Box 23"/>
          <p:cNvSpPr txBox="1">
            <a:spLocks noChangeArrowheads="1"/>
          </p:cNvSpPr>
          <p:nvPr/>
        </p:nvSpPr>
        <p:spPr bwMode="auto">
          <a:xfrm>
            <a:off x="6477000" y="3657601"/>
            <a:ext cx="73025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wait</a:t>
            </a:r>
            <a:endParaRPr lang="en-US" altLang="en-US" sz="2000" b="1">
              <a:latin typeface="Times New Roman" panose="02020603050405020304" pitchFamily="18" charset="0"/>
            </a:endParaRPr>
          </a:p>
        </p:txBody>
      </p:sp>
      <p:sp>
        <p:nvSpPr>
          <p:cNvPr id="20504" name="Text Box 24"/>
          <p:cNvSpPr txBox="1">
            <a:spLocks noChangeArrowheads="1"/>
          </p:cNvSpPr>
          <p:nvPr/>
        </p:nvSpPr>
        <p:spPr bwMode="auto">
          <a:xfrm>
            <a:off x="7315200" y="3994151"/>
            <a:ext cx="10033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notify</a:t>
            </a:r>
            <a:endParaRPr lang="en-US" altLang="en-US" sz="2000" b="1">
              <a:latin typeface="Times New Roman" panose="02020603050405020304" pitchFamily="18" charset="0"/>
            </a:endParaRPr>
          </a:p>
        </p:txBody>
      </p:sp>
      <p:sp>
        <p:nvSpPr>
          <p:cNvPr id="20505" name="Text Box 25"/>
          <p:cNvSpPr txBox="1">
            <a:spLocks noChangeArrowheads="1"/>
          </p:cNvSpPr>
          <p:nvPr/>
        </p:nvSpPr>
        <p:spPr bwMode="auto">
          <a:xfrm>
            <a:off x="6705600" y="4538663"/>
            <a:ext cx="1403350" cy="3667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Times New Roman" panose="02020603050405020304" pitchFamily="18" charset="0"/>
              </a:rPr>
              <a:t>block on I/O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20506" name="Text Box 26"/>
          <p:cNvSpPr txBox="1">
            <a:spLocks noChangeArrowheads="1"/>
          </p:cNvSpPr>
          <p:nvPr/>
        </p:nvSpPr>
        <p:spPr bwMode="auto">
          <a:xfrm>
            <a:off x="6629400" y="5102226"/>
            <a:ext cx="1447800" cy="3667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Times New Roman" panose="02020603050405020304" pitchFamily="18" charset="0"/>
              </a:rPr>
              <a:t>I/O complete</a:t>
            </a:r>
            <a:endParaRPr lang="en-US" altLang="en-US" sz="2000">
              <a:latin typeface="Times New Roman" panose="02020603050405020304" pitchFamily="18" charset="0"/>
            </a:endParaRPr>
          </a:p>
        </p:txBody>
      </p:sp>
      <p:sp>
        <p:nvSpPr>
          <p:cNvPr id="20507" name="Text Box 27"/>
          <p:cNvSpPr txBox="1">
            <a:spLocks noChangeArrowheads="1"/>
          </p:cNvSpPr>
          <p:nvPr/>
        </p:nvSpPr>
        <p:spPr bwMode="auto">
          <a:xfrm>
            <a:off x="4038600" y="3343276"/>
            <a:ext cx="94615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>
                <a:latin typeface="Courier New" panose="02070309020205020404" pitchFamily="49" charset="0"/>
              </a:rPr>
              <a:t>start</a:t>
            </a:r>
            <a:endParaRPr lang="en-US" altLang="en-US" sz="2400" b="1">
              <a:latin typeface="Times New Roman" panose="02020603050405020304" pitchFamily="18" charset="0"/>
            </a:endParaRPr>
          </a:p>
        </p:txBody>
      </p:sp>
      <p:sp>
        <p:nvSpPr>
          <p:cNvPr id="20508" name="Text Box 28"/>
          <p:cNvSpPr txBox="1">
            <a:spLocks noChangeArrowheads="1"/>
          </p:cNvSpPr>
          <p:nvPr/>
        </p:nvSpPr>
        <p:spPr bwMode="auto">
          <a:xfrm>
            <a:off x="4870450" y="4768851"/>
            <a:ext cx="1210588" cy="6463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>
                <a:latin typeface="Courier New" panose="02070309020205020404" pitchFamily="49" charset="0"/>
              </a:rPr>
              <a:t>run</a:t>
            </a:r>
            <a:r>
              <a:rPr lang="en-US" altLang="en-US" sz="1800">
                <a:latin typeface="Courier New" panose="02070309020205020404" pitchFamily="49" charset="0"/>
              </a:rPr>
              <a:t> </a:t>
            </a:r>
            <a:r>
              <a:rPr lang="en-US" altLang="en-US" sz="1800">
                <a:latin typeface="Arial" panose="020B0604020202020204" pitchFamily="34" charset="0"/>
              </a:rPr>
              <a:t>exits</a:t>
            </a:r>
          </a:p>
          <a:p>
            <a:pPr>
              <a:spcBef>
                <a:spcPct val="0"/>
              </a:spcBef>
              <a:buFontTx/>
              <a:buNone/>
            </a:pPr>
            <a:r>
              <a:rPr lang="en-US" altLang="en-US" sz="1800" i="1">
                <a:solidFill>
                  <a:srgbClr val="FF0000"/>
                </a:solidFill>
                <a:latin typeface="Courier New" panose="02070309020205020404" pitchFamily="49" charset="0"/>
              </a:rPr>
              <a:t>stop</a:t>
            </a:r>
            <a:endParaRPr lang="en-US" altLang="en-US" sz="2000" i="1">
              <a:solidFill>
                <a:srgbClr val="FF0000"/>
              </a:solidFill>
              <a:latin typeface="Times New Roman" panose="02020603050405020304" pitchFamily="18" charset="0"/>
            </a:endParaRPr>
          </a:p>
        </p:txBody>
      </p:sp>
      <p:sp>
        <p:nvSpPr>
          <p:cNvPr id="20509" name="Text Box 29"/>
          <p:cNvSpPr txBox="1">
            <a:spLocks noChangeArrowheads="1"/>
          </p:cNvSpPr>
          <p:nvPr/>
        </p:nvSpPr>
        <p:spPr bwMode="auto">
          <a:xfrm>
            <a:off x="2057400" y="6172200"/>
            <a:ext cx="83820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12700">
                <a:solidFill>
                  <a:srgbClr val="000000"/>
                </a:solidFill>
                <a:miter lim="800000"/>
                <a:headEnd type="none" w="sm" len="sm"/>
                <a:tailEnd type="none" w="sm" len="sm"/>
              </a14:hiddenLine>
            </a:ext>
          </a:extLst>
        </p:spPr>
        <p:txBody>
          <a:bodyPr>
            <a:spAutoFit/>
          </a:bodyPr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50000"/>
              </a:spcBef>
              <a:buClr>
                <a:schemeClr val="tx2"/>
              </a:buClr>
              <a:buSzPct val="75000"/>
              <a:buFont typeface="Monotype Sorts" pitchFamily="2" charset="2"/>
              <a:buNone/>
            </a:pPr>
            <a:r>
              <a:rPr lang="en-US" altLang="en-US" sz="2400" b="1" dirty="0">
                <a:solidFill>
                  <a:srgbClr val="800000"/>
                </a:solidFill>
                <a:latin typeface="Arial" panose="020B0604020202020204" pitchFamily="34" charset="0"/>
              </a:rPr>
              <a:t>Note:</a:t>
            </a:r>
            <a:r>
              <a:rPr lang="en-US" altLang="en-US" sz="2400" dirty="0">
                <a:latin typeface="Arial" panose="020B0604020202020204" pitchFamily="34" charset="0"/>
              </a:rPr>
              <a:t> </a:t>
            </a:r>
            <a:r>
              <a:rPr lang="en-US" altLang="en-US" sz="2400" b="1" dirty="0">
                <a:solidFill>
                  <a:srgbClr val="FF0000"/>
                </a:solidFill>
                <a:latin typeface="Courier New" panose="02070309020205020404" pitchFamily="49" charset="0"/>
              </a:rPr>
              <a:t>suspend</a:t>
            </a:r>
            <a:r>
              <a:rPr lang="en-US" altLang="en-US" sz="2400" dirty="0">
                <a:solidFill>
                  <a:srgbClr val="FF0000"/>
                </a:solidFill>
                <a:latin typeface="Arial" panose="020B0604020202020204" pitchFamily="34" charset="0"/>
              </a:rPr>
              <a:t>, </a:t>
            </a:r>
            <a:r>
              <a:rPr lang="en-US" altLang="en-US" sz="24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resume</a:t>
            </a:r>
            <a:r>
              <a:rPr lang="en-US" altLang="en-US" sz="2400" dirty="0" err="1">
                <a:solidFill>
                  <a:srgbClr val="FF0000"/>
                </a:solidFill>
                <a:latin typeface="Courier New" panose="02070309020205020404" pitchFamily="49" charset="0"/>
              </a:rPr>
              <a:t>,</a:t>
            </a:r>
            <a:r>
              <a:rPr lang="en-US" altLang="en-US" sz="24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stop</a:t>
            </a:r>
            <a:r>
              <a:rPr lang="en-US" altLang="en-US" sz="2400" dirty="0">
                <a:solidFill>
                  <a:srgbClr val="FF0000"/>
                </a:solidFill>
                <a:latin typeface="Arial" panose="020B0604020202020204" pitchFamily="34" charset="0"/>
              </a:rPr>
              <a:t>  </a:t>
            </a:r>
            <a:r>
              <a:rPr lang="en-US" altLang="en-US" sz="2400" i="1" dirty="0">
                <a:latin typeface="Arial" panose="020B0604020202020204" pitchFamily="34" charset="0"/>
              </a:rPr>
              <a:t>are</a:t>
            </a:r>
            <a:r>
              <a:rPr lang="en-US" altLang="en-US" sz="2400" i="1" dirty="0">
                <a:solidFill>
                  <a:srgbClr val="FF0000"/>
                </a:solidFill>
                <a:latin typeface="Arial" panose="020B0604020202020204" pitchFamily="34" charset="0"/>
              </a:rPr>
              <a:t> </a:t>
            </a:r>
            <a:r>
              <a:rPr lang="en-US" altLang="en-US" sz="2400" dirty="0">
                <a:solidFill>
                  <a:schemeClr val="accent3">
                    <a:lumMod val="60000"/>
                    <a:lumOff val="40000"/>
                  </a:schemeClr>
                </a:solidFill>
                <a:latin typeface="Arial" panose="020B0604020202020204" pitchFamily="34" charset="0"/>
              </a:rPr>
              <a:t>deprecated</a:t>
            </a:r>
            <a:r>
              <a:rPr lang="en-US" altLang="en-US" sz="2400" dirty="0"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93022585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7" name="Rectangle 2"/>
          <p:cNvSpPr>
            <a:spLocks noChangeArrowheads="1"/>
          </p:cNvSpPr>
          <p:nvPr/>
        </p:nvSpPr>
        <p:spPr bwMode="auto">
          <a:xfrm>
            <a:off x="895519" y="758628"/>
            <a:ext cx="3542963" cy="72626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sz="4400" dirty="0"/>
              <a:t>Thread States</a:t>
            </a:r>
          </a:p>
        </p:txBody>
      </p:sp>
      <p:sp>
        <p:nvSpPr>
          <p:cNvPr id="21508" name="Rectangle 3"/>
          <p:cNvSpPr>
            <a:spLocks noChangeArrowheads="1"/>
          </p:cNvSpPr>
          <p:nvPr/>
        </p:nvSpPr>
        <p:spPr bwMode="auto">
          <a:xfrm>
            <a:off x="1014202" y="1727650"/>
            <a:ext cx="10306556" cy="49037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Thread created using </a:t>
            </a:r>
            <a:r>
              <a:rPr lang="en-US" altLang="zh-CN" sz="2400" b="1" dirty="0">
                <a:solidFill>
                  <a:srgbClr val="66CCFF"/>
                </a:solidFill>
                <a:latin typeface="+mn-lt"/>
              </a:rPr>
              <a:t>new</a:t>
            </a:r>
            <a:r>
              <a:rPr lang="en-US" altLang="zh-CN" sz="2400" dirty="0">
                <a:latin typeface="+mn-lt"/>
              </a:rPr>
              <a:t> -&gt; .start()</a:t>
            </a:r>
          </a:p>
          <a:p>
            <a:pPr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endParaRPr lang="en-US" altLang="zh-CN" sz="2400" dirty="0">
              <a:latin typeface="+mn-lt"/>
            </a:endParaRPr>
          </a:p>
          <a:p>
            <a:pPr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b="1" dirty="0">
                <a:solidFill>
                  <a:schemeClr val="accent2"/>
                </a:solidFill>
                <a:latin typeface="+mn-lt"/>
              </a:rPr>
              <a:t>start</a:t>
            </a:r>
            <a:r>
              <a:rPr lang="en-US" altLang="zh-CN" sz="2400" dirty="0">
                <a:latin typeface="+mn-lt"/>
              </a:rPr>
              <a:t> is invoked: thread is </a:t>
            </a:r>
            <a:r>
              <a:rPr lang="en-US" altLang="zh-CN" sz="2400" b="1" dirty="0">
                <a:solidFill>
                  <a:srgbClr val="00B0F0"/>
                </a:solidFill>
                <a:latin typeface="+mn-lt"/>
              </a:rPr>
              <a:t>now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runnable</a:t>
            </a:r>
            <a:r>
              <a:rPr lang="en-US" altLang="zh-CN" sz="2400" dirty="0">
                <a:latin typeface="+mn-lt"/>
              </a:rPr>
              <a:t>.</a:t>
            </a:r>
          </a:p>
          <a:p>
            <a:pPr marL="457200" lvl="1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4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A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runnable</a:t>
            </a:r>
            <a:r>
              <a:rPr lang="en-US" altLang="zh-CN" sz="2400" dirty="0">
                <a:latin typeface="+mn-lt"/>
              </a:rPr>
              <a:t> thread might not be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running!</a:t>
            </a:r>
            <a:endParaRPr lang="en-US" altLang="zh-CN" sz="2400" dirty="0">
              <a:solidFill>
                <a:srgbClr val="00B050"/>
              </a:solidFill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endParaRPr lang="en-US" altLang="zh-CN" sz="24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There can be many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runnable</a:t>
            </a:r>
            <a:r>
              <a:rPr lang="en-US" altLang="zh-CN" sz="2400" dirty="0">
                <a:latin typeface="+mn-lt"/>
              </a:rPr>
              <a:t> threads. 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endParaRPr lang="en-US" altLang="zh-CN" sz="24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But only </a:t>
            </a:r>
            <a:r>
              <a:rPr lang="en-US" altLang="zh-CN" sz="2400" b="1" dirty="0">
                <a:solidFill>
                  <a:srgbClr val="FF0000"/>
                </a:solidFill>
                <a:latin typeface="+mn-lt"/>
              </a:rPr>
              <a:t>one of them </a:t>
            </a:r>
            <a:r>
              <a:rPr lang="en-US" altLang="zh-CN" sz="2400" dirty="0">
                <a:latin typeface="+mn-lt"/>
              </a:rPr>
              <a:t>can be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really</a:t>
            </a:r>
            <a:r>
              <a:rPr lang="en-US" altLang="zh-CN" sz="2400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altLang="zh-CN" sz="2400" b="1" dirty="0">
                <a:solidFill>
                  <a:srgbClr val="00B050"/>
                </a:solidFill>
                <a:latin typeface="+mn-lt"/>
              </a:rPr>
              <a:t>running</a:t>
            </a:r>
            <a:r>
              <a:rPr lang="en-US" altLang="zh-CN" sz="2400" dirty="0">
                <a:solidFill>
                  <a:srgbClr val="00B050"/>
                </a:solidFill>
                <a:latin typeface="+mn-lt"/>
              </a:rPr>
              <a:t> </a:t>
            </a:r>
            <a:r>
              <a:rPr lang="en-US" altLang="zh-CN" sz="2400" dirty="0">
                <a:latin typeface="+mn-lt"/>
              </a:rPr>
              <a:t>(at any time)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endParaRPr lang="en-US" altLang="zh-CN" sz="24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400" dirty="0">
                <a:latin typeface="+mn-lt"/>
              </a:rPr>
              <a:t>OS decides which thread to run </a:t>
            </a:r>
            <a:r>
              <a:rPr lang="en-US" altLang="zh-CN" sz="2400" b="1" dirty="0">
                <a:solidFill>
                  <a:srgbClr val="FF0000"/>
                </a:solidFill>
                <a:latin typeface="+mn-lt"/>
              </a:rPr>
              <a:t>(not you)</a:t>
            </a:r>
            <a:r>
              <a:rPr lang="en-US" altLang="zh-CN" sz="2400" dirty="0">
                <a:latin typeface="+mn-lt"/>
              </a:rPr>
              <a:t>. 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  <a:defRPr/>
            </a:pPr>
            <a:endParaRPr lang="en-US" altLang="zh-CN" sz="2400" dirty="0">
              <a:latin typeface="Arial" charset="0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  <a:defRPr/>
            </a:pPr>
            <a:endParaRPr lang="en-US" altLang="zh-CN" sz="2000" dirty="0">
              <a:latin typeface="Arial" charset="0"/>
            </a:endParaRPr>
          </a:p>
          <a:p>
            <a:pPr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  <a:defRPr/>
            </a:pPr>
            <a:endParaRPr lang="en-US" altLang="zh-CN" sz="2400" dirty="0">
              <a:latin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4189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ChangeArrowheads="1"/>
          </p:cNvSpPr>
          <p:nvPr/>
        </p:nvSpPr>
        <p:spPr bwMode="auto">
          <a:xfrm>
            <a:off x="911703" y="774812"/>
            <a:ext cx="3684573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sz="4400" dirty="0"/>
              <a:t>Thread States</a:t>
            </a:r>
          </a:p>
        </p:txBody>
      </p:sp>
      <p:sp>
        <p:nvSpPr>
          <p:cNvPr id="22532" name="Rectangle 3"/>
          <p:cNvSpPr>
            <a:spLocks noChangeArrowheads="1"/>
          </p:cNvSpPr>
          <p:nvPr/>
        </p:nvSpPr>
        <p:spPr bwMode="auto">
          <a:xfrm>
            <a:off x="911702" y="1695281"/>
            <a:ext cx="10441423" cy="4948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457200" indent="-45720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914400" indent="-45720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000" dirty="0">
              <a:latin typeface="+mj-lt"/>
            </a:endParaRPr>
          </a:p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r>
              <a:rPr lang="en-US" altLang="zh-CN" sz="2000" b="1" dirty="0">
                <a:latin typeface="+mj-lt"/>
              </a:rPr>
              <a:t>A </a:t>
            </a: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runnable</a:t>
            </a:r>
            <a:r>
              <a:rPr lang="en-US" altLang="zh-CN" sz="2000" b="1" dirty="0">
                <a:latin typeface="+mj-lt"/>
              </a:rPr>
              <a:t> Thread enters the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blocked</a:t>
            </a:r>
            <a:r>
              <a:rPr lang="en-US" altLang="zh-CN" sz="2000" b="1" dirty="0">
                <a:latin typeface="+mj-lt"/>
              </a:rPr>
              <a:t> state when: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The Thread is currently </a:t>
            </a: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running</a:t>
            </a:r>
            <a:r>
              <a:rPr lang="en-US" altLang="zh-CN" sz="2000" dirty="0">
                <a:latin typeface="+mj-lt"/>
              </a:rPr>
              <a:t> and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sleep</a:t>
            </a:r>
            <a:r>
              <a:rPr lang="en-US" altLang="zh-CN" sz="2000" dirty="0">
                <a:latin typeface="+mj-lt"/>
              </a:rPr>
              <a:t> is called.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The Thread calls the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wait</a:t>
            </a:r>
            <a:r>
              <a:rPr lang="en-US" altLang="zh-CN" sz="2000" dirty="0">
                <a:latin typeface="+mj-lt"/>
              </a:rPr>
              <a:t> method.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The Thread tries to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lock an object,</a:t>
            </a:r>
            <a:r>
              <a:rPr lang="en-US" altLang="zh-CN" sz="2000" dirty="0">
                <a:latin typeface="+mj-lt"/>
              </a:rPr>
              <a:t> locked by another Thread.</a:t>
            </a:r>
          </a:p>
        </p:txBody>
      </p:sp>
    </p:spTree>
    <p:extLst>
      <p:ext uri="{BB962C8B-B14F-4D97-AF65-F5344CB8AC3E}">
        <p14:creationId xmlns:p14="http://schemas.microsoft.com/office/powerpoint/2010/main" val="34835846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1" name="Rectangle 2"/>
          <p:cNvSpPr>
            <a:spLocks noChangeArrowheads="1"/>
          </p:cNvSpPr>
          <p:nvPr/>
        </p:nvSpPr>
        <p:spPr bwMode="auto">
          <a:xfrm>
            <a:off x="911703" y="774812"/>
            <a:ext cx="3684573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sz="4400" dirty="0"/>
              <a:t>Thread States</a:t>
            </a:r>
          </a:p>
        </p:txBody>
      </p:sp>
      <p:sp>
        <p:nvSpPr>
          <p:cNvPr id="22532" name="Rectangle 3"/>
          <p:cNvSpPr>
            <a:spLocks noChangeArrowheads="1"/>
          </p:cNvSpPr>
          <p:nvPr/>
        </p:nvSpPr>
        <p:spPr bwMode="auto">
          <a:xfrm>
            <a:off x="911702" y="1695281"/>
            <a:ext cx="10441423" cy="494828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457200" indent="-45720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914400" indent="-45720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400" dirty="0">
              <a:latin typeface="+mj-lt"/>
            </a:endParaRPr>
          </a:p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r>
              <a:rPr lang="en-US" altLang="zh-CN" sz="2000" dirty="0">
                <a:latin typeface="+mj-lt"/>
              </a:rPr>
              <a:t>A blocked reenters </a:t>
            </a: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runnable</a:t>
            </a:r>
            <a:r>
              <a:rPr lang="en-US" altLang="zh-CN" sz="2000" dirty="0">
                <a:latin typeface="+mj-lt"/>
              </a:rPr>
              <a:t> state when: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It has </a:t>
            </a:r>
            <a:r>
              <a:rPr lang="en-US" altLang="zh-CN" sz="2000" b="1" dirty="0">
                <a:solidFill>
                  <a:srgbClr val="FF0000"/>
                </a:solidFill>
                <a:latin typeface="+mj-lt"/>
              </a:rPr>
              <a:t>slept</a:t>
            </a:r>
            <a:r>
              <a:rPr lang="en-US" altLang="zh-CN" sz="2000" dirty="0">
                <a:latin typeface="+mj-lt"/>
              </a:rPr>
              <a:t> through the allotted time.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b="1" dirty="0">
              <a:solidFill>
                <a:schemeClr val="accent2"/>
              </a:solidFill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notify</a:t>
            </a:r>
            <a:r>
              <a:rPr lang="en-US" altLang="zh-CN" sz="2000" dirty="0">
                <a:latin typeface="+mj-lt"/>
              </a:rPr>
              <a:t> or </a:t>
            </a:r>
            <a:r>
              <a:rPr lang="en-US" altLang="zh-CN" sz="2000" b="1" dirty="0" err="1">
                <a:solidFill>
                  <a:srgbClr val="00B050"/>
                </a:solidFill>
                <a:latin typeface="+mj-lt"/>
              </a:rPr>
              <a:t>notifyAll</a:t>
            </a:r>
            <a:r>
              <a:rPr lang="en-US" altLang="zh-CN" sz="2000" dirty="0">
                <a:latin typeface="+mj-lt"/>
              </a:rPr>
              <a:t> method called.  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endParaRPr lang="en-US" altLang="zh-CN" sz="2000" dirty="0">
              <a:latin typeface="+mj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AutoNum type="arabicPeriod"/>
              <a:defRPr/>
            </a:pPr>
            <a:r>
              <a:rPr lang="en-US" altLang="zh-CN" sz="2000" dirty="0">
                <a:latin typeface="+mj-lt"/>
              </a:rPr>
              <a:t>Object lock </a:t>
            </a:r>
            <a:r>
              <a:rPr lang="en-US" altLang="zh-CN" sz="2000" b="1" dirty="0">
                <a:solidFill>
                  <a:srgbClr val="00B050"/>
                </a:solidFill>
                <a:latin typeface="+mj-lt"/>
              </a:rPr>
              <a:t>released</a:t>
            </a:r>
            <a:r>
              <a:rPr lang="en-US" altLang="zh-CN" sz="2000" dirty="0">
                <a:latin typeface="+mj-lt"/>
              </a:rPr>
              <a:t> by other thread</a:t>
            </a:r>
          </a:p>
        </p:txBody>
      </p:sp>
    </p:spTree>
    <p:extLst>
      <p:ext uri="{BB962C8B-B14F-4D97-AF65-F5344CB8AC3E}">
        <p14:creationId xmlns:p14="http://schemas.microsoft.com/office/powerpoint/2010/main" val="6338357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5" name="Rectangle 2"/>
          <p:cNvSpPr>
            <a:spLocks noChangeArrowheads="1"/>
          </p:cNvSpPr>
          <p:nvPr/>
        </p:nvSpPr>
        <p:spPr bwMode="auto">
          <a:xfrm>
            <a:off x="940024" y="754582"/>
            <a:ext cx="3510595" cy="70198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 typeface="Arial" panose="020B0604020202020204" pitchFamily="34" charset="0"/>
              <a:buNone/>
            </a:pPr>
            <a:r>
              <a:rPr lang="en-US" altLang="zh-CN" sz="4400" dirty="0"/>
              <a:t>Thread States</a:t>
            </a:r>
          </a:p>
        </p:txBody>
      </p:sp>
      <p:sp>
        <p:nvSpPr>
          <p:cNvPr id="23556" name="Rectangle 3"/>
          <p:cNvSpPr>
            <a:spLocks noChangeArrowheads="1"/>
          </p:cNvSpPr>
          <p:nvPr/>
        </p:nvSpPr>
        <p:spPr bwMode="auto">
          <a:xfrm>
            <a:off x="940024" y="1812615"/>
            <a:ext cx="10413102" cy="48228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>
              <a:spcBef>
                <a:spcPct val="20000"/>
              </a:spcBef>
              <a:buFont typeface="Arial" charset="0"/>
              <a:buChar char="•"/>
              <a:defRPr sz="3200">
                <a:solidFill>
                  <a:schemeClr val="tx1"/>
                </a:solidFill>
                <a:latin typeface="Calibri" pitchFamily="34" charset="0"/>
              </a:defRPr>
            </a:lvl1pPr>
            <a:lvl2pPr marL="742950" indent="-285750">
              <a:spcBef>
                <a:spcPct val="20000"/>
              </a:spcBef>
              <a:buFont typeface="Arial" charset="0"/>
              <a:buChar char="–"/>
              <a:defRPr sz="2800">
                <a:solidFill>
                  <a:schemeClr val="tx1"/>
                </a:solidFill>
                <a:latin typeface="Calibri" pitchFamily="34" charset="0"/>
              </a:defRPr>
            </a:lvl2pPr>
            <a:lvl3pPr marL="1143000" indent="-228600">
              <a:spcBef>
                <a:spcPct val="20000"/>
              </a:spcBef>
              <a:buFont typeface="Arial" charset="0"/>
              <a:buChar char="•"/>
              <a:defRPr sz="2400">
                <a:solidFill>
                  <a:schemeClr val="tx1"/>
                </a:solidFill>
                <a:latin typeface="Calibri" pitchFamily="34" charset="0"/>
              </a:defRPr>
            </a:lvl3pPr>
            <a:lvl4pPr marL="1600200" indent="-228600">
              <a:spcBef>
                <a:spcPct val="20000"/>
              </a:spcBef>
              <a:buFont typeface="Arial" charset="0"/>
              <a:buChar char="–"/>
              <a:defRPr sz="2000">
                <a:solidFill>
                  <a:schemeClr val="tx1"/>
                </a:solidFill>
                <a:latin typeface="Calibri" pitchFamily="34" charset="0"/>
              </a:defRPr>
            </a:lvl4pPr>
            <a:lvl5pPr marL="2057400" indent="-228600">
              <a:spcBef>
                <a:spcPct val="20000"/>
              </a:spcBef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5pPr>
            <a:lvl6pPr marL="25146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6pPr>
            <a:lvl7pPr marL="29718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7pPr>
            <a:lvl8pPr marL="34290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8pPr>
            <a:lvl9pPr marL="3886200" indent="-228600" fontAlgn="base">
              <a:spcBef>
                <a:spcPct val="20000"/>
              </a:spcBef>
              <a:spcAft>
                <a:spcPct val="0"/>
              </a:spcAft>
              <a:buFont typeface="Arial" charset="0"/>
              <a:buChar char="»"/>
              <a:defRPr sz="2000">
                <a:solidFill>
                  <a:schemeClr val="tx1"/>
                </a:solidFill>
                <a:latin typeface="Calibri" pitchFamily="34" charset="0"/>
              </a:defRPr>
            </a:lvl9pPr>
          </a:lstStyle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400" dirty="0">
              <a:latin typeface="+mn-lt"/>
            </a:endParaRPr>
          </a:p>
          <a:p>
            <a:pPr marL="0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r>
              <a:rPr lang="en-US" altLang="zh-CN" sz="2400" dirty="0">
                <a:latin typeface="+mn-lt"/>
              </a:rPr>
              <a:t>A runnable thread enters the </a:t>
            </a:r>
            <a:r>
              <a:rPr lang="en-US" altLang="zh-CN" sz="2400" b="1" dirty="0">
                <a:solidFill>
                  <a:srgbClr val="FF0000"/>
                </a:solidFill>
                <a:latin typeface="+mn-lt"/>
              </a:rPr>
              <a:t>dead</a:t>
            </a:r>
            <a:r>
              <a:rPr lang="en-US" altLang="zh-CN" sz="2400" dirty="0">
                <a:solidFill>
                  <a:schemeClr val="tx2"/>
                </a:solidFill>
                <a:latin typeface="+mn-lt"/>
              </a:rPr>
              <a:t> </a:t>
            </a:r>
            <a:r>
              <a:rPr lang="en-US" altLang="zh-CN" sz="2400" b="1" dirty="0">
                <a:solidFill>
                  <a:srgbClr val="FF0000"/>
                </a:solidFill>
                <a:latin typeface="+mn-lt"/>
              </a:rPr>
              <a:t>state</a:t>
            </a:r>
            <a:r>
              <a:rPr lang="en-US" altLang="zh-CN" sz="2400" dirty="0">
                <a:latin typeface="+mn-lt"/>
              </a:rPr>
              <a:t> when:</a:t>
            </a: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  <a:defRPr/>
            </a:pPr>
            <a:endParaRPr lang="en-US" altLang="zh-CN" sz="20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000" dirty="0">
                <a:latin typeface="+mn-lt"/>
              </a:rPr>
              <a:t>Its </a:t>
            </a:r>
            <a:r>
              <a:rPr lang="en-US" altLang="zh-CN" sz="2000" b="1" dirty="0">
                <a:latin typeface="+mn-lt"/>
              </a:rPr>
              <a:t>run</a:t>
            </a:r>
            <a:r>
              <a:rPr lang="en-US" altLang="zh-CN" sz="2000" dirty="0">
                <a:latin typeface="+mn-lt"/>
              </a:rPr>
              <a:t> method </a:t>
            </a:r>
            <a:r>
              <a:rPr lang="en-US" altLang="zh-CN" sz="2000" b="1" dirty="0">
                <a:solidFill>
                  <a:srgbClr val="FF0000"/>
                </a:solidFill>
                <a:latin typeface="+mn-lt"/>
              </a:rPr>
              <a:t>exits</a:t>
            </a:r>
            <a:r>
              <a:rPr lang="en-US" altLang="zh-CN" sz="2000" dirty="0">
                <a:latin typeface="+mn-lt"/>
              </a:rPr>
              <a:t> (Natural death).</a:t>
            </a:r>
          </a:p>
          <a:p>
            <a:pPr marL="457200" lvl="1" indent="0" eaLnBrk="0" hangingPunct="0">
              <a:lnSpc>
                <a:spcPct val="90000"/>
              </a:lnSpc>
              <a:buClr>
                <a:schemeClr val="tx2"/>
              </a:buClr>
              <a:buSzPct val="75000"/>
              <a:buNone/>
              <a:defRPr/>
            </a:pPr>
            <a:endParaRPr lang="en-US" altLang="zh-CN" sz="2000" dirty="0">
              <a:latin typeface="+mn-lt"/>
            </a:endParaRPr>
          </a:p>
          <a:p>
            <a:pPr lvl="1" eaLnBrk="0" hangingPunct="0">
              <a:lnSpc>
                <a:spcPct val="90000"/>
              </a:lnSpc>
              <a:buClr>
                <a:schemeClr val="tx2"/>
              </a:buClr>
              <a:buSzPct val="75000"/>
              <a:defRPr/>
            </a:pPr>
            <a:r>
              <a:rPr lang="en-US" altLang="zh-CN" sz="2000" dirty="0">
                <a:latin typeface="+mn-lt"/>
              </a:rPr>
              <a:t>An </a:t>
            </a:r>
            <a:r>
              <a:rPr lang="en-US" altLang="zh-CN" sz="2000" b="1" dirty="0">
                <a:solidFill>
                  <a:srgbClr val="FF0000"/>
                </a:solidFill>
                <a:latin typeface="+mn-lt"/>
              </a:rPr>
              <a:t>exception</a:t>
            </a:r>
            <a:r>
              <a:rPr lang="en-US" altLang="zh-CN" sz="2000" dirty="0">
                <a:latin typeface="+mn-lt"/>
              </a:rPr>
              <a:t> is thrown but not caught!</a:t>
            </a:r>
          </a:p>
        </p:txBody>
      </p:sp>
    </p:spTree>
    <p:extLst>
      <p:ext uri="{BB962C8B-B14F-4D97-AF65-F5344CB8AC3E}">
        <p14:creationId xmlns:p14="http://schemas.microsoft.com/office/powerpoint/2010/main" val="187397126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DC432E-7C36-25BB-E311-2763220F3D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C29967A2-06DE-F330-01D3-AC8CEF8168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Thread Java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110924460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1026"/>
          <p:cNvSpPr>
            <a:spLocks noChangeArrowheads="1"/>
          </p:cNvSpPr>
          <p:nvPr/>
        </p:nvSpPr>
        <p:spPr bwMode="auto">
          <a:xfrm>
            <a:off x="915748" y="811227"/>
            <a:ext cx="7177494" cy="6453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dirty="0">
                <a:latin typeface="Times New Roman" panose="02020603050405020304" pitchFamily="18" charset="0"/>
              </a:rPr>
              <a:t>Thread Java Implementation</a:t>
            </a:r>
          </a:p>
        </p:txBody>
      </p:sp>
      <p:sp>
        <p:nvSpPr>
          <p:cNvPr id="25604" name="Rectangle 1027"/>
          <p:cNvSpPr>
            <a:spLocks noChangeArrowheads="1"/>
          </p:cNvSpPr>
          <p:nvPr/>
        </p:nvSpPr>
        <p:spPr bwMode="auto">
          <a:xfrm>
            <a:off x="915748" y="1693931"/>
            <a:ext cx="10409056" cy="4933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800" b="1" dirty="0">
                <a:latin typeface="Arial" panose="020B0604020202020204" pitchFamily="34" charset="0"/>
              </a:rPr>
              <a:t>Two different  thread implementations: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800" dirty="0">
              <a:latin typeface="Arial" panose="020B0604020202020204" pitchFamily="34" charset="0"/>
            </a:endParaRPr>
          </a:p>
          <a:p>
            <a:pPr marL="914400" lvl="1" indent="-514350">
              <a:lnSpc>
                <a:spcPct val="90000"/>
              </a:lnSpc>
              <a:buClr>
                <a:schemeClr val="tx2"/>
              </a:buClr>
              <a:buSzPct val="75000"/>
              <a:buAutoNum type="arabicPeriod"/>
            </a:pPr>
            <a:r>
              <a:rPr lang="en-US" altLang="zh-CN" dirty="0">
                <a:latin typeface="Arial" panose="020B0604020202020204" pitchFamily="34" charset="0"/>
              </a:rPr>
              <a:t>“</a:t>
            </a:r>
            <a:r>
              <a:rPr lang="en-US" altLang="zh-CN" dirty="0">
                <a:solidFill>
                  <a:srgbClr val="008000"/>
                </a:solidFill>
                <a:latin typeface="Arial" panose="020B0604020202020204" pitchFamily="34" charset="0"/>
              </a:rPr>
              <a:t>Native thread</a:t>
            </a:r>
            <a:r>
              <a:rPr lang="en-US" altLang="zh-CN" dirty="0">
                <a:latin typeface="Arial" panose="020B0604020202020204" pitchFamily="34" charset="0"/>
              </a:rPr>
              <a:t>” implementation (</a:t>
            </a:r>
            <a:r>
              <a:rPr lang="en-US" altLang="zh-CN" dirty="0">
                <a:solidFill>
                  <a:srgbClr val="00B050"/>
                </a:solidFill>
                <a:latin typeface="Arial" panose="020B0604020202020204" pitchFamily="34" charset="0"/>
              </a:rPr>
              <a:t>e.g. Windows</a:t>
            </a:r>
            <a:r>
              <a:rPr lang="en-US" altLang="zh-CN" dirty="0">
                <a:latin typeface="Arial" panose="020B0604020202020204" pitchFamily="34" charset="0"/>
              </a:rPr>
              <a:t>):</a:t>
            </a:r>
          </a:p>
          <a:p>
            <a:pPr lvl="2" indent="-342900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dirty="0">
              <a:latin typeface="Arial" panose="020B0604020202020204" pitchFamily="34" charset="0"/>
            </a:endParaRPr>
          </a:p>
          <a:p>
            <a:pPr lvl="2" indent="-34290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dirty="0">
                <a:latin typeface="Arial" panose="020B0604020202020204" pitchFamily="34" charset="0"/>
              </a:rPr>
              <a:t>Performs time-slicing</a:t>
            </a:r>
          </a:p>
          <a:p>
            <a:pPr lvl="2" indent="-342900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dirty="0">
              <a:latin typeface="Arial" panose="020B0604020202020204" pitchFamily="34" charset="0"/>
            </a:endParaRPr>
          </a:p>
          <a:p>
            <a:pPr lvl="2" indent="-342900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dirty="0">
                <a:latin typeface="Arial" panose="020B0604020202020204" pitchFamily="34" charset="0"/>
              </a:rPr>
              <a:t>Interrupts the running thread periodically </a:t>
            </a:r>
          </a:p>
        </p:txBody>
      </p:sp>
    </p:spTree>
    <p:extLst>
      <p:ext uri="{BB962C8B-B14F-4D97-AF65-F5344CB8AC3E}">
        <p14:creationId xmlns:p14="http://schemas.microsoft.com/office/powerpoint/2010/main" val="24176264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3" name="Rectangle 1026"/>
          <p:cNvSpPr>
            <a:spLocks noChangeArrowheads="1"/>
          </p:cNvSpPr>
          <p:nvPr/>
        </p:nvSpPr>
        <p:spPr bwMode="auto">
          <a:xfrm>
            <a:off x="915748" y="811227"/>
            <a:ext cx="7069210" cy="6453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dirty="0">
                <a:latin typeface="Times New Roman" panose="02020603050405020304" pitchFamily="18" charset="0"/>
              </a:rPr>
              <a:t>Thread Java Implementation</a:t>
            </a:r>
          </a:p>
        </p:txBody>
      </p:sp>
      <p:sp>
        <p:nvSpPr>
          <p:cNvPr id="25604" name="Rectangle 1027"/>
          <p:cNvSpPr>
            <a:spLocks noChangeArrowheads="1"/>
          </p:cNvSpPr>
          <p:nvPr/>
        </p:nvSpPr>
        <p:spPr bwMode="auto">
          <a:xfrm>
            <a:off x="915748" y="1693931"/>
            <a:ext cx="10409056" cy="49334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800" dirty="0">
                <a:latin typeface="Arial" panose="020B0604020202020204" pitchFamily="34" charset="0"/>
              </a:rPr>
              <a:t>Two different  thread implementations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dirty="0">
              <a:solidFill>
                <a:srgbClr val="008000"/>
              </a:solidFill>
              <a:latin typeface="Arial" panose="020B0604020202020204" pitchFamily="34" charset="0"/>
            </a:endParaRPr>
          </a:p>
          <a:p>
            <a:pPr marL="457200" lvl="1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dirty="0">
                <a:solidFill>
                  <a:srgbClr val="008000"/>
                </a:solidFill>
                <a:latin typeface="Arial" panose="020B0604020202020204" pitchFamily="34" charset="0"/>
              </a:rPr>
              <a:t>2. “Green thread</a:t>
            </a:r>
            <a:r>
              <a:rPr lang="en-US" altLang="zh-CN" dirty="0">
                <a:latin typeface="Arial" panose="020B0604020202020204" pitchFamily="34" charset="0"/>
              </a:rPr>
              <a:t>” implementation (</a:t>
            </a:r>
            <a:r>
              <a:rPr lang="en-US" altLang="zh-CN" dirty="0">
                <a:solidFill>
                  <a:srgbClr val="FF0000"/>
                </a:solidFill>
                <a:latin typeface="Arial" panose="020B0604020202020204" pitchFamily="34" charset="0"/>
              </a:rPr>
              <a:t>e.g. Solaris</a:t>
            </a:r>
            <a:r>
              <a:rPr lang="en-US" altLang="zh-CN" dirty="0">
                <a:latin typeface="Arial" panose="020B0604020202020204" pitchFamily="34" charset="0"/>
              </a:rPr>
              <a:t>):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dirty="0">
              <a:latin typeface="Arial" panose="020B0604020202020204" pitchFamily="34" charset="0"/>
            </a:endParaRP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dirty="0">
                <a:latin typeface="Arial" panose="020B0604020202020204" pitchFamily="34" charset="0"/>
              </a:rPr>
              <a:t>Does </a:t>
            </a:r>
            <a:r>
              <a:rPr lang="en-US" altLang="zh-CN" b="1" dirty="0">
                <a:solidFill>
                  <a:srgbClr val="FF0000"/>
                </a:solidFill>
                <a:latin typeface="Arial" panose="020B0604020202020204" pitchFamily="34" charset="0"/>
              </a:rPr>
              <a:t>not</a:t>
            </a:r>
            <a:r>
              <a:rPr lang="en-US" altLang="zh-CN" dirty="0">
                <a:latin typeface="Arial" panose="020B0604020202020204" pitchFamily="34" charset="0"/>
              </a:rPr>
              <a:t> perform time-slicing. 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dirty="0">
              <a:latin typeface="Arial" panose="020B0604020202020204" pitchFamily="34" charset="0"/>
            </a:endParaRP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dirty="0">
                <a:latin typeface="Arial" panose="020B0604020202020204" pitchFamily="34" charset="0"/>
              </a:rPr>
              <a:t>It keeps a running thread active </a:t>
            </a:r>
          </a:p>
        </p:txBody>
      </p:sp>
    </p:spTree>
    <p:extLst>
      <p:ext uri="{BB962C8B-B14F-4D97-AF65-F5344CB8AC3E}">
        <p14:creationId xmlns:p14="http://schemas.microsoft.com/office/powerpoint/2010/main" val="221522483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Thread Scheduling</a:t>
            </a:r>
          </a:p>
        </p:txBody>
      </p:sp>
    </p:spTree>
    <p:extLst>
      <p:ext uri="{BB962C8B-B14F-4D97-AF65-F5344CB8AC3E}">
        <p14:creationId xmlns:p14="http://schemas.microsoft.com/office/powerpoint/2010/main" val="233195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944608" y="761649"/>
            <a:ext cx="454583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Scheduling</a:t>
            </a:r>
          </a:p>
        </p:txBody>
      </p:sp>
      <p:sp>
        <p:nvSpPr>
          <p:cNvPr id="17412" name="Rectangle 3"/>
          <p:cNvSpPr>
            <a:spLocks noGrp="1" noChangeArrowheads="1"/>
          </p:cNvSpPr>
          <p:nvPr>
            <p:ph idx="1"/>
          </p:nvPr>
        </p:nvSpPr>
        <p:spPr>
          <a:xfrm>
            <a:off x="944608" y="1692583"/>
            <a:ext cx="10424702" cy="4946931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en-US" sz="2800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altLang="en-US" sz="2800" b="1" dirty="0">
                <a:solidFill>
                  <a:schemeClr val="tx1"/>
                </a:solidFill>
              </a:rPr>
              <a:t>Questions:</a:t>
            </a:r>
          </a:p>
          <a:p>
            <a:pPr lvl="1">
              <a:buFont typeface="Monotype Sorts" pitchFamily="2" charset="2"/>
              <a:buAutoNum type="arabicPeriod"/>
              <a:defRPr/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buFont typeface="Monotype Sorts" pitchFamily="2" charset="2"/>
              <a:buAutoNum type="arabicPeriod"/>
              <a:defRPr/>
            </a:pPr>
            <a:r>
              <a:rPr lang="en-US" altLang="en-US" dirty="0">
                <a:solidFill>
                  <a:schemeClr val="tx1"/>
                </a:solidFill>
              </a:rPr>
              <a:t>When does the </a:t>
            </a:r>
            <a:r>
              <a:rPr lang="en-US" altLang="en-US" b="1" dirty="0">
                <a:solidFill>
                  <a:srgbClr val="00B0F0"/>
                </a:solidFill>
              </a:rPr>
              <a:t>thread scheduler </a:t>
            </a:r>
            <a:r>
              <a:rPr lang="en-US" altLang="en-US" b="1" dirty="0">
                <a:solidFill>
                  <a:srgbClr val="00B050"/>
                </a:solidFill>
              </a:rPr>
              <a:t>kick in </a:t>
            </a:r>
            <a:r>
              <a:rPr lang="en-US" altLang="en-US" dirty="0">
                <a:solidFill>
                  <a:schemeClr val="tx1"/>
                </a:solidFill>
              </a:rPr>
              <a:t>and pick a thread?</a:t>
            </a:r>
          </a:p>
          <a:p>
            <a:pPr lvl="1">
              <a:buFont typeface="Monotype Sorts" pitchFamily="2" charset="2"/>
              <a:buAutoNum type="arabicPeriod"/>
              <a:defRPr/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buFont typeface="Monotype Sorts" pitchFamily="2" charset="2"/>
              <a:buAutoNum type="arabicPeriod"/>
              <a:defRPr/>
            </a:pPr>
            <a:endParaRPr lang="en-US" altLang="en-US" dirty="0">
              <a:solidFill>
                <a:schemeClr val="tx1"/>
              </a:solidFill>
            </a:endParaRPr>
          </a:p>
          <a:p>
            <a:pPr lvl="1">
              <a:buFont typeface="Monotype Sorts" pitchFamily="2" charset="2"/>
              <a:buAutoNum type="arabicPeriod"/>
              <a:defRPr/>
            </a:pPr>
            <a:r>
              <a:rPr lang="en-US" altLang="en-US" dirty="0">
                <a:solidFill>
                  <a:schemeClr val="tx1"/>
                </a:solidFill>
              </a:rPr>
              <a:t>How does the </a:t>
            </a:r>
            <a:r>
              <a:rPr lang="en-US" altLang="en-US" b="1" dirty="0">
                <a:solidFill>
                  <a:srgbClr val="00B0F0"/>
                </a:solidFill>
              </a:rPr>
              <a:t>thread scheduler </a:t>
            </a:r>
            <a:r>
              <a:rPr lang="en-US" altLang="en-US" b="1" dirty="0">
                <a:solidFill>
                  <a:srgbClr val="00B050"/>
                </a:solidFill>
              </a:rPr>
              <a:t>select the next one</a:t>
            </a:r>
            <a:r>
              <a:rPr lang="en-US" altLang="en-US" dirty="0">
                <a:solidFill>
                  <a:schemeClr val="tx1"/>
                </a:solidFill>
              </a:rPr>
              <a:t>?</a:t>
            </a:r>
            <a:endParaRPr lang="en-US" altLang="en-US" sz="24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8787906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/>
          <p:cNvSpPr>
            <a:spLocks noGrp="1" noChangeArrowheads="1"/>
          </p:cNvSpPr>
          <p:nvPr>
            <p:ph type="title"/>
          </p:nvPr>
        </p:nvSpPr>
        <p:spPr>
          <a:xfrm>
            <a:off x="944608" y="761649"/>
            <a:ext cx="454583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Scheduling</a:t>
            </a:r>
          </a:p>
        </p:txBody>
      </p:sp>
      <p:sp>
        <p:nvSpPr>
          <p:cNvPr id="17412" name="Rectangle 3"/>
          <p:cNvSpPr>
            <a:spLocks noGrp="1" noChangeArrowheads="1"/>
          </p:cNvSpPr>
          <p:nvPr>
            <p:ph idx="1"/>
          </p:nvPr>
        </p:nvSpPr>
        <p:spPr>
          <a:xfrm>
            <a:off x="944608" y="1692583"/>
            <a:ext cx="10424702" cy="4946931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zh-CN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altLang="zh-CN" b="1" dirty="0">
                <a:solidFill>
                  <a:schemeClr val="tx1"/>
                </a:solidFill>
              </a:rPr>
              <a:t>1. </a:t>
            </a:r>
            <a:r>
              <a:rPr lang="en-US" altLang="en-US" dirty="0">
                <a:solidFill>
                  <a:schemeClr val="tx1"/>
                </a:solidFill>
              </a:rPr>
              <a:t>When does the </a:t>
            </a:r>
            <a:r>
              <a:rPr lang="en-US" altLang="en-US" b="1" dirty="0">
                <a:solidFill>
                  <a:srgbClr val="00B0F0"/>
                </a:solidFill>
              </a:rPr>
              <a:t>thread scheduler </a:t>
            </a:r>
            <a:r>
              <a:rPr lang="en-US" altLang="en-US" b="1" dirty="0">
                <a:solidFill>
                  <a:srgbClr val="00B050"/>
                </a:solidFill>
              </a:rPr>
              <a:t>kicks in</a:t>
            </a:r>
            <a:r>
              <a:rPr lang="en-US" altLang="en-US" b="1" dirty="0">
                <a:solidFill>
                  <a:schemeClr val="tx1"/>
                </a:solidFill>
              </a:rPr>
              <a:t>?</a:t>
            </a:r>
            <a:endParaRPr lang="en-US" altLang="zh-CN" b="1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r>
              <a:rPr lang="en-US" altLang="zh-CN" dirty="0">
                <a:solidFill>
                  <a:schemeClr val="tx1"/>
                </a:solidFill>
              </a:rPr>
              <a:t>Current Thread calls </a:t>
            </a:r>
            <a:r>
              <a:rPr lang="en-US" altLang="zh-CN" b="1" dirty="0">
                <a:solidFill>
                  <a:srgbClr val="FF0000"/>
                </a:solidFill>
                <a:latin typeface="Courier New" pitchFamily="49" charset="0"/>
              </a:rPr>
              <a:t>yield</a:t>
            </a:r>
            <a:r>
              <a:rPr lang="en-US" altLang="zh-CN" dirty="0">
                <a:solidFill>
                  <a:schemeClr val="tx1"/>
                </a:solidFill>
              </a:rPr>
              <a:t> method</a:t>
            </a:r>
          </a:p>
          <a:p>
            <a:pPr marL="914400" lvl="2" indent="0">
              <a:buNone/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r>
              <a:rPr lang="en-US" altLang="zh-CN" dirty="0">
                <a:solidFill>
                  <a:schemeClr val="tx1"/>
                </a:solidFill>
              </a:rPr>
              <a:t>Current Thread is </a:t>
            </a:r>
            <a:r>
              <a:rPr lang="en-US" altLang="zh-CN" b="1" dirty="0">
                <a:solidFill>
                  <a:srgbClr val="FF0000"/>
                </a:solidFill>
              </a:rPr>
              <a:t>dead</a:t>
            </a:r>
            <a:r>
              <a:rPr lang="en-US" altLang="zh-CN" dirty="0">
                <a:solidFill>
                  <a:schemeClr val="tx1"/>
                </a:solidFill>
              </a:rPr>
              <a:t> or blocked</a:t>
            </a:r>
          </a:p>
          <a:p>
            <a:pPr lvl="2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2">
              <a:defRPr/>
            </a:pPr>
            <a:r>
              <a:rPr lang="en-US" altLang="zh-CN" dirty="0">
                <a:solidFill>
                  <a:schemeClr val="tx1"/>
                </a:solidFill>
              </a:rPr>
              <a:t>Another thread with </a:t>
            </a:r>
            <a:r>
              <a:rPr lang="en-US" altLang="zh-CN" b="1" dirty="0">
                <a:solidFill>
                  <a:srgbClr val="FF0000"/>
                </a:solidFill>
              </a:rPr>
              <a:t>higher priority </a:t>
            </a:r>
            <a:r>
              <a:rPr lang="en-US" altLang="zh-CN" dirty="0">
                <a:solidFill>
                  <a:schemeClr val="tx1"/>
                </a:solidFill>
              </a:rPr>
              <a:t>moves out of blocked state</a:t>
            </a:r>
          </a:p>
        </p:txBody>
      </p:sp>
    </p:spTree>
    <p:extLst>
      <p:ext uri="{BB962C8B-B14F-4D97-AF65-F5344CB8AC3E}">
        <p14:creationId xmlns:p14="http://schemas.microsoft.com/office/powerpoint/2010/main" val="195687123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8F2155-4EA4-5E24-0E67-A75E6BBBA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id="{629EB3DB-BD2D-4B0B-FB45-BD721F6ADB4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944608" y="761649"/>
            <a:ext cx="454583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Scheduling</a:t>
            </a:r>
          </a:p>
        </p:txBody>
      </p:sp>
      <p:sp>
        <p:nvSpPr>
          <p:cNvPr id="17412" name="Rectangle 3">
            <a:extLst>
              <a:ext uri="{FF2B5EF4-FFF2-40B4-BE49-F238E27FC236}">
                <a16:creationId xmlns:a16="http://schemas.microsoft.com/office/drawing/2014/main" id="{A59CC8BD-53A2-7B49-02EA-416AAE895FFD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944608" y="1692583"/>
            <a:ext cx="10424702" cy="4946931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zh-CN" b="1" dirty="0">
              <a:solidFill>
                <a:schemeClr val="tx1"/>
              </a:solidFill>
            </a:endParaRPr>
          </a:p>
          <a:p>
            <a:pPr marL="0" indent="0">
              <a:buNone/>
              <a:defRPr/>
            </a:pPr>
            <a:r>
              <a:rPr lang="en-US" altLang="zh-CN" dirty="0">
                <a:solidFill>
                  <a:schemeClr val="tx1"/>
                </a:solidFill>
              </a:rPr>
              <a:t>2. The </a:t>
            </a:r>
            <a:r>
              <a:rPr lang="en-US" altLang="zh-CN" b="1" dirty="0">
                <a:solidFill>
                  <a:srgbClr val="00B0F0"/>
                </a:solidFill>
              </a:rPr>
              <a:t>thread scheduler </a:t>
            </a:r>
            <a:r>
              <a:rPr lang="en-US" altLang="zh-CN" dirty="0">
                <a:solidFill>
                  <a:schemeClr val="tx1"/>
                </a:solidFill>
              </a:rPr>
              <a:t>kicks in and picks another thread:</a:t>
            </a:r>
          </a:p>
          <a:p>
            <a:pPr marL="0" indent="0">
              <a:buNone/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altLang="zh-CN" dirty="0">
                <a:solidFill>
                  <a:schemeClr val="tx1"/>
                </a:solidFill>
              </a:rPr>
              <a:t>with the highest </a:t>
            </a:r>
            <a:r>
              <a:rPr lang="en-US" altLang="zh-CN" b="1" dirty="0">
                <a:solidFill>
                  <a:srgbClr val="00B050"/>
                </a:solidFill>
              </a:rPr>
              <a:t>priority</a:t>
            </a:r>
            <a:r>
              <a:rPr lang="en-US" altLang="zh-CN" dirty="0">
                <a:solidFill>
                  <a:schemeClr val="tx1"/>
                </a:solidFill>
              </a:rPr>
              <a:t> to run</a:t>
            </a:r>
          </a:p>
          <a:p>
            <a:pPr marL="457200" lvl="1" indent="0">
              <a:buNone/>
              <a:defRPr/>
            </a:pPr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247747804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Rectangle 2"/>
          <p:cNvSpPr>
            <a:spLocks noGrp="1" noChangeArrowheads="1"/>
          </p:cNvSpPr>
          <p:nvPr>
            <p:ph type="title"/>
          </p:nvPr>
        </p:nvSpPr>
        <p:spPr>
          <a:xfrm>
            <a:off x="954186" y="804666"/>
            <a:ext cx="4427018" cy="487362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Thread Scheduling</a:t>
            </a:r>
          </a:p>
        </p:txBody>
      </p:sp>
      <p:sp>
        <p:nvSpPr>
          <p:cNvPr id="26627" name="Rectangle 3"/>
          <p:cNvSpPr>
            <a:spLocks noGrp="1" noChangeArrowheads="1"/>
          </p:cNvSpPr>
          <p:nvPr>
            <p:ph idx="1"/>
          </p:nvPr>
        </p:nvSpPr>
        <p:spPr>
          <a:xfrm>
            <a:off x="954186" y="1772830"/>
            <a:ext cx="10411078" cy="4854547"/>
          </a:xfrm>
          <a:ln>
            <a:miter lim="800000"/>
            <a:headEnd/>
            <a:tailEnd/>
          </a:ln>
        </p:spPr>
        <p:txBody>
          <a:bodyPr>
            <a:normAutofit/>
          </a:bodyPr>
          <a:lstStyle/>
          <a:p>
            <a:pPr marL="0" indent="0" eaLnBrk="1" hangingPunct="1">
              <a:lnSpc>
                <a:spcPct val="90000"/>
              </a:lnSpc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Priority Levels:</a:t>
            </a: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dirty="0">
                <a:solidFill>
                  <a:schemeClr val="tx1"/>
                </a:solidFill>
              </a:rPr>
              <a:t>Java have 10 priority levels (constants of </a:t>
            </a:r>
            <a:r>
              <a:rPr lang="en-US" altLang="zh-CN" sz="2400" b="1" dirty="0">
                <a:solidFill>
                  <a:schemeClr val="tx1"/>
                </a:solidFill>
                <a:latin typeface="Courier New" panose="02070309020205020404" pitchFamily="49" charset="0"/>
              </a:rPr>
              <a:t>Thread</a:t>
            </a:r>
            <a:r>
              <a:rPr lang="en-US" altLang="zh-CN" sz="2400" dirty="0">
                <a:solidFill>
                  <a:schemeClr val="tx1"/>
                </a:solidFill>
              </a:rPr>
              <a:t> class)</a:t>
            </a:r>
          </a:p>
          <a:p>
            <a:pPr lvl="2" eaLnBrk="1" hangingPunct="1">
              <a:lnSpc>
                <a:spcPct val="90000"/>
              </a:lnSpc>
              <a:buClr>
                <a:schemeClr val="tx2"/>
              </a:buClr>
              <a:buSzPct val="75000"/>
              <a:buFontTx/>
              <a:buNone/>
            </a:pPr>
            <a:r>
              <a:rPr lang="en-US" altLang="zh-CN" b="1" dirty="0">
                <a:solidFill>
                  <a:srgbClr val="FF0000"/>
                </a:solidFill>
                <a:latin typeface="Courier New" panose="02070309020205020404" pitchFamily="49" charset="0"/>
              </a:rPr>
              <a:t>MIN-PRIORITY     = 1; </a:t>
            </a:r>
          </a:p>
          <a:p>
            <a:pPr lvl="2" eaLnBrk="1" hangingPunct="1">
              <a:lnSpc>
                <a:spcPct val="90000"/>
              </a:lnSpc>
              <a:buClr>
                <a:schemeClr val="tx2"/>
              </a:buClr>
              <a:buSzPct val="75000"/>
              <a:buFontTx/>
              <a:buNone/>
            </a:pPr>
            <a:r>
              <a:rPr lang="en-US" altLang="zh-CN" b="1" dirty="0">
                <a:solidFill>
                  <a:srgbClr val="00B0F0"/>
                </a:solidFill>
                <a:latin typeface="Courier New" panose="02070309020205020404" pitchFamily="49" charset="0"/>
              </a:rPr>
              <a:t>NORMAL_PRIORITY  = 5;</a:t>
            </a:r>
          </a:p>
          <a:p>
            <a:pPr lvl="2" eaLnBrk="1" hangingPunct="1">
              <a:lnSpc>
                <a:spcPct val="90000"/>
              </a:lnSpc>
              <a:buClr>
                <a:schemeClr val="tx2"/>
              </a:buClr>
              <a:buSzPct val="75000"/>
              <a:buFontTx/>
              <a:buNone/>
            </a:pPr>
            <a:r>
              <a:rPr lang="en-US" altLang="zh-CN" b="1" dirty="0">
                <a:solidFill>
                  <a:srgbClr val="00B050"/>
                </a:solidFill>
                <a:latin typeface="Courier New" panose="02070309020205020404" pitchFamily="49" charset="0"/>
              </a:rPr>
              <a:t>MAX_PRIORITY     = 10</a:t>
            </a:r>
          </a:p>
          <a:p>
            <a:pPr marL="457200" lvl="1" indent="0" eaLnBrk="1" hangingPunct="1">
              <a:lnSpc>
                <a:spcPct val="90000"/>
              </a:lnSpc>
              <a:buNone/>
            </a:pPr>
            <a:endParaRPr lang="en-US" altLang="zh-CN" sz="2400" dirty="0"/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dirty="0">
                <a:solidFill>
                  <a:schemeClr val="tx1"/>
                </a:solidFill>
              </a:rPr>
              <a:t>JVM maps Java priority levels to priority level </a:t>
            </a:r>
            <a:r>
              <a:rPr lang="en-US" altLang="zh-CN" sz="2400" b="1" dirty="0">
                <a:solidFill>
                  <a:schemeClr val="tx1"/>
                </a:solidFill>
              </a:rPr>
              <a:t>of the underlying OS</a:t>
            </a:r>
            <a:r>
              <a:rPr lang="en-US" altLang="zh-CN" sz="2400" dirty="0">
                <a:solidFill>
                  <a:schemeClr val="tx1"/>
                </a:solidFill>
              </a:rPr>
              <a:t>.</a:t>
            </a:r>
          </a:p>
          <a:p>
            <a:pPr lvl="1" eaLnBrk="1" hangingPunct="1">
              <a:lnSpc>
                <a:spcPct val="90000"/>
              </a:lnSpc>
            </a:pPr>
            <a:endParaRPr lang="en-US" altLang="zh-CN" sz="2400" dirty="0">
              <a:solidFill>
                <a:schemeClr val="tx1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dirty="0">
                <a:solidFill>
                  <a:schemeClr val="tx1"/>
                </a:solidFill>
              </a:rPr>
              <a:t>A thread </a:t>
            </a:r>
            <a:r>
              <a:rPr lang="en-US" altLang="zh-CN" sz="2400" b="1" dirty="0">
                <a:solidFill>
                  <a:srgbClr val="00B050"/>
                </a:solidFill>
              </a:rPr>
              <a:t>inherits priority from its parent </a:t>
            </a:r>
            <a:r>
              <a:rPr lang="en-US" altLang="zh-CN" sz="2400" dirty="0">
                <a:solidFill>
                  <a:schemeClr val="tx1"/>
                </a:solidFill>
              </a:rPr>
              <a:t>thread.</a:t>
            </a:r>
          </a:p>
          <a:p>
            <a:pPr lvl="1" eaLnBrk="1" hangingPunct="1">
              <a:lnSpc>
                <a:spcPct val="90000"/>
              </a:lnSpc>
            </a:pPr>
            <a:endParaRPr lang="en-US" altLang="zh-CN" sz="2400" dirty="0">
              <a:solidFill>
                <a:schemeClr val="tx1"/>
              </a:solidFill>
            </a:endParaRPr>
          </a:p>
          <a:p>
            <a:pPr lvl="1" eaLnBrk="1" hangingPunct="1">
              <a:lnSpc>
                <a:spcPct val="90000"/>
              </a:lnSpc>
            </a:pPr>
            <a:r>
              <a:rPr lang="en-US" altLang="zh-CN" sz="2400" dirty="0">
                <a:solidFill>
                  <a:schemeClr val="tx1"/>
                </a:solidFill>
              </a:rPr>
              <a:t>Can be increased or decreased using</a:t>
            </a:r>
            <a:r>
              <a:rPr lang="en-US" altLang="zh-CN" sz="2400" dirty="0"/>
              <a:t> </a:t>
            </a:r>
            <a:r>
              <a:rPr lang="en-US" altLang="zh-CN" sz="2400" b="1" dirty="0" err="1">
                <a:solidFill>
                  <a:srgbClr val="FF0000"/>
                </a:solidFill>
                <a:latin typeface="Courier New" panose="02070309020205020404" pitchFamily="49" charset="0"/>
              </a:rPr>
              <a:t>setPriority</a:t>
            </a:r>
            <a:r>
              <a:rPr lang="en-US" altLang="zh-CN" sz="2400" b="1" dirty="0">
                <a:solidFill>
                  <a:schemeClr val="tx1"/>
                </a:solidFill>
                <a:latin typeface="Courier New" panose="02070309020205020404" pitchFamily="49" charset="0"/>
              </a:rPr>
              <a:t>(…)</a:t>
            </a:r>
            <a:r>
              <a:rPr lang="en-US" altLang="zh-CN" sz="2400" dirty="0">
                <a:latin typeface="Courier New" panose="02070309020205020404" pitchFamily="49" charset="0"/>
              </a:rPr>
              <a:t> </a:t>
            </a:r>
          </a:p>
          <a:p>
            <a:pPr lvl="1" eaLnBrk="1" hangingPunct="1">
              <a:lnSpc>
                <a:spcPct val="90000"/>
              </a:lnSpc>
              <a:buFontTx/>
              <a:buNone/>
            </a:pPr>
            <a:endParaRPr lang="en-US" altLang="en-US" sz="2400" dirty="0"/>
          </a:p>
        </p:txBody>
      </p:sp>
    </p:spTree>
    <p:extLst>
      <p:ext uri="{BB962C8B-B14F-4D97-AF65-F5344CB8AC3E}">
        <p14:creationId xmlns:p14="http://schemas.microsoft.com/office/powerpoint/2010/main" val="92552947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1" name="Rectangle 1027"/>
          <p:cNvSpPr>
            <a:spLocks noChangeArrowheads="1"/>
          </p:cNvSpPr>
          <p:nvPr/>
        </p:nvSpPr>
        <p:spPr bwMode="auto">
          <a:xfrm>
            <a:off x="935978" y="1536137"/>
            <a:ext cx="10421193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400" b="1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b="1" dirty="0">
                <a:latin typeface="Arial" panose="020B0604020202020204" pitchFamily="34" charset="0"/>
              </a:rPr>
              <a:t>Example:</a:t>
            </a:r>
            <a:endParaRPr lang="en-US" altLang="zh-CN" sz="2400" b="1" dirty="0">
              <a:solidFill>
                <a:schemeClr val="tx2"/>
              </a:solidFill>
              <a:latin typeface="Courier New" panose="02070309020205020404" pitchFamily="49" charset="0"/>
            </a:endParaRP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Two kinds of balls: </a:t>
            </a: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blue</a:t>
            </a:r>
            <a:r>
              <a:rPr lang="en-US" altLang="zh-CN" sz="2400" dirty="0">
                <a:latin typeface="Arial" panose="020B0604020202020204" pitchFamily="34" charset="0"/>
              </a:rPr>
              <a:t> and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b="1" dirty="0">
              <a:solidFill>
                <a:srgbClr val="FF0000"/>
              </a:solidFill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altLang="zh-CN" sz="2400" dirty="0">
                <a:latin typeface="Arial" panose="020B0604020202020204" pitchFamily="34" charset="0"/>
              </a:rPr>
              <a:t> ball threads have </a:t>
            </a:r>
            <a:r>
              <a:rPr lang="en-US" altLang="zh-CN" sz="2400" b="1" dirty="0">
                <a:solidFill>
                  <a:srgbClr val="00B050"/>
                </a:solidFill>
                <a:latin typeface="Arial" panose="020B0604020202020204" pitchFamily="34" charset="0"/>
              </a:rPr>
              <a:t>higher</a:t>
            </a:r>
            <a:r>
              <a:rPr lang="en-US" altLang="zh-CN" sz="2400" dirty="0">
                <a:latin typeface="Arial" panose="020B0604020202020204" pitchFamily="34" charset="0"/>
              </a:rPr>
              <a:t> priority and hence get more chance to run. 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The effect is that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altLang="zh-CN" sz="2400" dirty="0">
                <a:latin typeface="Arial" panose="020B0604020202020204" pitchFamily="34" charset="0"/>
              </a:rPr>
              <a:t> balls appear to be faster.</a:t>
            </a:r>
          </a:p>
        </p:txBody>
      </p:sp>
      <p:sp>
        <p:nvSpPr>
          <p:cNvPr id="27652" name="Rectangle 1029"/>
          <p:cNvSpPr>
            <a:spLocks noChangeArrowheads="1"/>
          </p:cNvSpPr>
          <p:nvPr/>
        </p:nvSpPr>
        <p:spPr bwMode="auto">
          <a:xfrm>
            <a:off x="935979" y="774812"/>
            <a:ext cx="4497823" cy="6534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400" dirty="0">
                <a:latin typeface="Times New Roman" panose="02020603050405020304" pitchFamily="18" charset="0"/>
              </a:rPr>
              <a:t>Thread Scheduling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D8FED22-1AEB-4D39-473C-D8524CA7B468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._</a:t>
            </a:r>
            <a:r>
              <a:rPr kumimoji="0" lang="en-US" sz="2600" b="0" i="0" u="none" strike="noStrike" kern="1200" cap="none" spc="0" normalizeH="0" baseline="0" noProof="0" dirty="0" err="1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SingleThreaded.BouncingBalls_DifferentPriorities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+mn-lt"/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978911470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A6353-2475-1B60-F6A6-C3F39B1586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988FFAC4-3761-17CA-84FC-91405A74EA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Sleep vs yield</a:t>
            </a:r>
          </a:p>
        </p:txBody>
      </p:sp>
    </p:spTree>
    <p:extLst>
      <p:ext uri="{BB962C8B-B14F-4D97-AF65-F5344CB8AC3E}">
        <p14:creationId xmlns:p14="http://schemas.microsoft.com/office/powerpoint/2010/main" val="253458047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1026"/>
          <p:cNvSpPr>
            <a:spLocks noChangeArrowheads="1"/>
          </p:cNvSpPr>
          <p:nvPr/>
        </p:nvSpPr>
        <p:spPr bwMode="auto">
          <a:xfrm>
            <a:off x="907656" y="1669655"/>
            <a:ext cx="10449515" cy="495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1800" b="1" dirty="0">
              <a:latin typeface="Courier New" panose="02070309020205020404" pitchFamily="49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1800" b="1" dirty="0">
                <a:latin typeface="Courier New" panose="02070309020205020404" pitchFamily="49" charset="0"/>
              </a:rPr>
              <a:t>sleep</a:t>
            </a:r>
            <a:r>
              <a:rPr lang="en-US" altLang="zh-CN" sz="1800" dirty="0">
                <a:latin typeface="Arial" panose="020B0604020202020204" pitchFamily="34" charset="0"/>
              </a:rPr>
              <a:t> is replaced with </a:t>
            </a:r>
            <a:r>
              <a:rPr lang="en-US" altLang="zh-CN" sz="1800" b="1" dirty="0">
                <a:latin typeface="Courier New" panose="02070309020205020404" pitchFamily="49" charset="0"/>
              </a:rPr>
              <a:t>yield</a:t>
            </a:r>
            <a:r>
              <a:rPr lang="en-US" altLang="zh-CN" sz="1800" dirty="0">
                <a:latin typeface="Arial" panose="020B0604020202020204" pitchFamily="34" charset="0"/>
              </a:rPr>
              <a:t>: </a:t>
            </a:r>
            <a:r>
              <a:rPr lang="en-US" altLang="zh-CN" sz="1800" b="1" dirty="0">
                <a:solidFill>
                  <a:srgbClr val="00B0F0"/>
                </a:solidFill>
                <a:latin typeface="Arial" panose="020B0604020202020204" pitchFamily="34" charset="0"/>
              </a:rPr>
              <a:t>blue</a:t>
            </a:r>
            <a:r>
              <a:rPr lang="en-US" altLang="zh-CN" sz="1800" dirty="0">
                <a:latin typeface="Arial" panose="020B0604020202020204" pitchFamily="34" charset="0"/>
              </a:rPr>
              <a:t> balls have no chance of moving before the </a:t>
            </a:r>
            <a:r>
              <a:rPr lang="en-US" altLang="zh-CN" sz="1800" b="1" dirty="0">
                <a:solidFill>
                  <a:srgbClr val="FF0000"/>
                </a:solidFill>
                <a:latin typeface="Arial" panose="020B0604020202020204" pitchFamily="34" charset="0"/>
              </a:rPr>
              <a:t>red</a:t>
            </a:r>
            <a:r>
              <a:rPr lang="en-US" altLang="zh-CN" sz="1800" dirty="0">
                <a:latin typeface="Arial" panose="020B0604020202020204" pitchFamily="34" charset="0"/>
              </a:rPr>
              <a:t> balls stop. </a:t>
            </a:r>
          </a:p>
        </p:txBody>
      </p:sp>
      <p:sp>
        <p:nvSpPr>
          <p:cNvPr id="21508" name="Rectangle 1027"/>
          <p:cNvSpPr>
            <a:spLocks noChangeArrowheads="1"/>
          </p:cNvSpPr>
          <p:nvPr/>
        </p:nvSpPr>
        <p:spPr bwMode="auto">
          <a:xfrm>
            <a:off x="907657" y="718168"/>
            <a:ext cx="3927335" cy="6574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>
              <a:defRPr/>
            </a:pPr>
            <a:r>
              <a:rPr lang="en-US" altLang="zh-CN" sz="4000" b="1" dirty="0">
                <a:solidFill>
                  <a:srgbClr val="800000"/>
                </a:solidFill>
                <a:latin typeface="+mn-lt"/>
              </a:rPr>
              <a:t>sleep </a:t>
            </a:r>
            <a:r>
              <a:rPr lang="en-US" altLang="zh-CN" sz="4000" b="1" dirty="0">
                <a:latin typeface="+mn-lt"/>
              </a:rPr>
              <a:t>vs</a:t>
            </a:r>
            <a:r>
              <a:rPr lang="en-US" altLang="zh-CN" sz="4000" b="1" dirty="0">
                <a:solidFill>
                  <a:srgbClr val="800000"/>
                </a:solidFill>
                <a:latin typeface="+mn-lt"/>
              </a:rPr>
              <a:t>. yield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5921" y="1785040"/>
            <a:ext cx="4158452" cy="1807076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4845779" y="2217219"/>
            <a:ext cx="1286634" cy="186116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1225389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5" name="Rectangle 1026"/>
          <p:cNvSpPr>
            <a:spLocks noChangeArrowheads="1"/>
          </p:cNvSpPr>
          <p:nvPr/>
        </p:nvSpPr>
        <p:spPr bwMode="auto">
          <a:xfrm>
            <a:off x="907656" y="1669655"/>
            <a:ext cx="10449515" cy="4953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1800" b="1" dirty="0">
              <a:latin typeface="Arial" panose="020B0604020202020204" pitchFamily="34" charset="0"/>
            </a:endParaRP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1800" b="1" dirty="0">
                <a:solidFill>
                  <a:srgbClr val="FF0000"/>
                </a:solidFill>
                <a:latin typeface="Arial" panose="020B0604020202020204" pitchFamily="34" charset="0"/>
              </a:rPr>
              <a:t>Why?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18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en-US" sz="2000" dirty="0">
                <a:latin typeface="Arial" panose="020B0604020202020204" pitchFamily="34" charset="0"/>
              </a:rPr>
              <a:t>There are more than one thread with priority 8. 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en-US" sz="2000" dirty="0">
                <a:latin typeface="Arial" panose="020B0604020202020204" pitchFamily="34" charset="0"/>
              </a:rPr>
              <a:t>When one </a:t>
            </a: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</a:rPr>
              <a:t>yield</a:t>
            </a:r>
            <a:r>
              <a:rPr lang="en-US" altLang="en-US" sz="2000" dirty="0">
                <a:latin typeface="Arial" panose="020B0604020202020204" pitchFamily="34" charset="0"/>
              </a:rPr>
              <a:t>, thread scheduler picks another. 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en-US" sz="2000" dirty="0">
                <a:latin typeface="Arial" panose="020B0604020202020204" pitchFamily="34" charset="0"/>
              </a:rPr>
              <a:t>Threads with priority level 2 </a:t>
            </a: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</a:rPr>
              <a:t>never</a:t>
            </a:r>
            <a:r>
              <a:rPr lang="en-US" altLang="en-US" sz="2000" dirty="0">
                <a:latin typeface="Arial" panose="020B0604020202020204" pitchFamily="34" charset="0"/>
              </a:rPr>
              <a:t> get a chance to run.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en-US" sz="2000" dirty="0"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en-US" sz="2000" b="1" dirty="0">
                <a:solidFill>
                  <a:srgbClr val="FF0000"/>
                </a:solidFill>
                <a:latin typeface="Arial" panose="020B0604020202020204" pitchFamily="34" charset="0"/>
              </a:rPr>
              <a:t>No</a:t>
            </a:r>
            <a:r>
              <a:rPr lang="en-US" altLang="en-US" sz="2000" dirty="0">
                <a:latin typeface="Arial" panose="020B0604020202020204" pitchFamily="34" charset="0"/>
              </a:rPr>
              <a:t> guarantee to be picked</a:t>
            </a:r>
          </a:p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000" dirty="0">
              <a:latin typeface="Arial" panose="020B0604020202020204" pitchFamily="34" charset="0"/>
            </a:endParaRPr>
          </a:p>
        </p:txBody>
      </p:sp>
      <p:sp>
        <p:nvSpPr>
          <p:cNvPr id="21508" name="Rectangle 1027"/>
          <p:cNvSpPr>
            <a:spLocks noChangeArrowheads="1"/>
          </p:cNvSpPr>
          <p:nvPr/>
        </p:nvSpPr>
        <p:spPr bwMode="auto">
          <a:xfrm>
            <a:off x="907657" y="718168"/>
            <a:ext cx="3927335" cy="65747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charset="0"/>
                <a:ea typeface="宋体" pitchFamily="2" charset="-122"/>
              </a:defRPr>
            </a:lvl9pPr>
          </a:lstStyle>
          <a:p>
            <a:pPr>
              <a:defRPr/>
            </a:pPr>
            <a:r>
              <a:rPr lang="en-US" altLang="zh-CN" sz="4000" b="1" dirty="0">
                <a:solidFill>
                  <a:srgbClr val="800000"/>
                </a:solidFill>
                <a:latin typeface="+mn-lt"/>
              </a:rPr>
              <a:t>sleep </a:t>
            </a:r>
            <a:r>
              <a:rPr lang="en-US" altLang="zh-CN" sz="4000" b="1" dirty="0">
                <a:latin typeface="+mn-lt"/>
              </a:rPr>
              <a:t>vs</a:t>
            </a:r>
            <a:r>
              <a:rPr lang="en-US" altLang="zh-CN" sz="4000" b="1" dirty="0">
                <a:solidFill>
                  <a:srgbClr val="800000"/>
                </a:solidFill>
                <a:latin typeface="+mn-lt"/>
              </a:rPr>
              <a:t>. yield</a:t>
            </a:r>
          </a:p>
        </p:txBody>
      </p:sp>
    </p:spTree>
    <p:extLst>
      <p:ext uri="{BB962C8B-B14F-4D97-AF65-F5344CB8AC3E}">
        <p14:creationId xmlns:p14="http://schemas.microsoft.com/office/powerpoint/2010/main" val="348324657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3" y="734352"/>
            <a:ext cx="4279338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000" dirty="0">
                <a:latin typeface="Times New Roman" panose="02020603050405020304" pitchFamily="18" charset="0"/>
              </a:rPr>
              <a:t>Thread Scheduling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400" dirty="0">
                <a:latin typeface="Arial" panose="020B0604020202020204" pitchFamily="34" charset="0"/>
              </a:rPr>
              <a:t>Cooperating vs. Selfish threads: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400" dirty="0">
              <a:latin typeface="Arial" panose="020B0604020202020204" pitchFamily="34" charset="0"/>
            </a:endParaRP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A cooperating thread gives others a chance to run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000" dirty="0">
                <a:latin typeface="Arial" panose="020B0604020202020204" pitchFamily="34" charset="0"/>
              </a:rPr>
              <a:t>Calling </a:t>
            </a:r>
            <a:r>
              <a:rPr lang="en-US" altLang="zh-CN" sz="2000" b="1" dirty="0">
                <a:solidFill>
                  <a:srgbClr val="00B050"/>
                </a:solidFill>
                <a:latin typeface="Courier New" panose="02070309020205020404" pitchFamily="49" charset="0"/>
              </a:rPr>
              <a:t>sleep</a:t>
            </a:r>
            <a:r>
              <a:rPr lang="en-US" altLang="zh-CN" sz="2000" dirty="0">
                <a:latin typeface="Arial" panose="020B0604020202020204" pitchFamily="34" charset="0"/>
              </a:rPr>
              <a:t>: pause for the specified period of time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000" dirty="0">
                <a:latin typeface="Arial" panose="020B0604020202020204" pitchFamily="34" charset="0"/>
              </a:rPr>
              <a:t>Calling </a:t>
            </a:r>
            <a:r>
              <a:rPr lang="en-US" altLang="zh-CN" sz="2000" b="1" dirty="0">
                <a:solidFill>
                  <a:srgbClr val="00B050"/>
                </a:solidFill>
                <a:latin typeface="Courier New" panose="02070309020205020404" pitchFamily="49" charset="0"/>
              </a:rPr>
              <a:t>yield</a:t>
            </a:r>
            <a:r>
              <a:rPr lang="en-US" altLang="zh-CN" sz="2000" dirty="0">
                <a:latin typeface="Arial" panose="020B0604020202020204" pitchFamily="34" charset="0"/>
              </a:rPr>
              <a:t>: pause temporarily. </a:t>
            </a:r>
          </a:p>
          <a:p>
            <a:pPr lvl="2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000" dirty="0">
              <a:latin typeface="Arial" panose="020B0604020202020204" pitchFamily="34" charset="0"/>
            </a:endParaRP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dirty="0">
                <a:latin typeface="Arial" panose="020B0604020202020204" pitchFamily="34" charset="0"/>
              </a:rPr>
              <a:t>A selfish thread does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none</a:t>
            </a:r>
            <a:r>
              <a:rPr lang="en-US" altLang="zh-CN" sz="2400" dirty="0">
                <a:latin typeface="Arial" panose="020B0604020202020204" pitchFamily="34" charset="0"/>
              </a:rPr>
              <a:t> of this </a:t>
            </a:r>
            <a:r>
              <a:rPr lang="en-US" altLang="zh-CN" sz="2400" dirty="0">
                <a:latin typeface="Arial" panose="020B0604020202020204" pitchFamily="34" charset="0"/>
                <a:sym typeface="Wingdings" panose="05000000000000000000" pitchFamily="2" charset="2"/>
              </a:rPr>
              <a:t></a:t>
            </a:r>
            <a:endParaRPr lang="en-US" altLang="zh-CN" sz="2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980651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3" y="734352"/>
            <a:ext cx="4279338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000" dirty="0">
                <a:latin typeface="Times New Roman" panose="02020603050405020304" pitchFamily="18" charset="0"/>
              </a:rPr>
              <a:t>Thread Scheduling</a:t>
            </a:r>
          </a:p>
        </p:txBody>
      </p:sp>
      <p:sp>
        <p:nvSpPr>
          <p:cNvPr id="29700" name="Rectangle 3"/>
          <p:cNvSpPr>
            <a:spLocks noChangeArrowheads="1"/>
          </p:cNvSpPr>
          <p:nvPr/>
        </p:nvSpPr>
        <p:spPr bwMode="auto">
          <a:xfrm>
            <a:off x="911703" y="1536137"/>
            <a:ext cx="10400962" cy="51033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/>
          <a:lstStyle>
            <a:lvl1pPr marL="342900" indent="-3429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5715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endParaRPr lang="en-US" altLang="zh-CN" sz="2800" dirty="0">
              <a:latin typeface="Arial" panose="020B0604020202020204" pitchFamily="34" charset="0"/>
            </a:endParaRPr>
          </a:p>
          <a:p>
            <a:pPr marL="57150" indent="0">
              <a:lnSpc>
                <a:spcPct val="90000"/>
              </a:lnSpc>
              <a:buClr>
                <a:schemeClr val="tx2"/>
              </a:buClr>
              <a:buSzPct val="75000"/>
              <a:buNone/>
            </a:pPr>
            <a:r>
              <a:rPr lang="en-US" altLang="zh-CN" sz="2800" dirty="0">
                <a:latin typeface="Arial" panose="020B0604020202020204" pitchFamily="34" charset="0"/>
              </a:rPr>
              <a:t>Effects of </a:t>
            </a:r>
            <a:r>
              <a:rPr lang="en-US" altLang="zh-CN" sz="2800" b="1" dirty="0">
                <a:solidFill>
                  <a:srgbClr val="FF0000"/>
                </a:solidFill>
                <a:latin typeface="Arial" panose="020B0604020202020204" pitchFamily="34" charset="0"/>
              </a:rPr>
              <a:t>selfish</a:t>
            </a:r>
            <a:r>
              <a:rPr lang="en-US" altLang="zh-CN" sz="2800" dirty="0">
                <a:latin typeface="Arial" panose="020B0604020202020204" pitchFamily="34" charset="0"/>
              </a:rPr>
              <a:t> threads are system-dependent:</a:t>
            </a:r>
          </a:p>
          <a:p>
            <a:pPr lvl="1">
              <a:lnSpc>
                <a:spcPct val="90000"/>
              </a:lnSpc>
              <a:buClr>
                <a:schemeClr val="tx2"/>
              </a:buClr>
              <a:buSzPct val="75000"/>
              <a:buFont typeface="Monotype Sorts" pitchFamily="2" charset="2"/>
              <a:buChar char="l"/>
            </a:pPr>
            <a:endParaRPr lang="en-US" altLang="zh-CN" sz="2400" dirty="0">
              <a:solidFill>
                <a:schemeClr val="tx2"/>
              </a:solidFill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b="1" dirty="0">
                <a:solidFill>
                  <a:srgbClr val="92D050"/>
                </a:solidFill>
                <a:latin typeface="Arial" panose="020B0604020202020204" pitchFamily="34" charset="0"/>
              </a:rPr>
              <a:t>Green thread</a:t>
            </a:r>
            <a:r>
              <a:rPr lang="en-US" altLang="zh-CN" sz="2400" dirty="0">
                <a:latin typeface="Arial" panose="020B0604020202020204" pitchFamily="34" charset="0"/>
              </a:rPr>
              <a:t>: A selfish thread can </a:t>
            </a:r>
            <a:r>
              <a:rPr lang="en-US" altLang="zh-CN" sz="2400" b="1" dirty="0">
                <a:solidFill>
                  <a:srgbClr val="FF0000"/>
                </a:solidFill>
                <a:latin typeface="Arial" panose="020B0604020202020204" pitchFamily="34" charset="0"/>
              </a:rPr>
              <a:t>consume all the CPU time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endParaRPr lang="en-US" altLang="zh-CN" sz="2400" dirty="0">
              <a:solidFill>
                <a:schemeClr val="tx2"/>
              </a:solidFill>
              <a:latin typeface="Arial" panose="020B0604020202020204" pitchFamily="34" charset="0"/>
            </a:endParaRPr>
          </a:p>
          <a:p>
            <a:pPr>
              <a:lnSpc>
                <a:spcPct val="90000"/>
              </a:lnSpc>
              <a:buClr>
                <a:schemeClr val="tx2"/>
              </a:buClr>
              <a:buSzPct val="75000"/>
            </a:pP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Native thread</a:t>
            </a:r>
            <a:r>
              <a:rPr lang="en-US" altLang="zh-CN" sz="2400" dirty="0">
                <a:latin typeface="Arial" panose="020B0604020202020204" pitchFamily="34" charset="0"/>
              </a:rPr>
              <a:t>: A selfish thread </a:t>
            </a:r>
            <a:r>
              <a:rPr lang="en-US" altLang="zh-CN" sz="2400" b="1" dirty="0">
                <a:solidFill>
                  <a:srgbClr val="00B0F0"/>
                </a:solidFill>
                <a:latin typeface="Arial" panose="020B0604020202020204" pitchFamily="34" charset="0"/>
              </a:rPr>
              <a:t>doesn’t pose a big problem</a:t>
            </a:r>
            <a:r>
              <a:rPr lang="en-US" altLang="zh-CN" sz="2400" dirty="0"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63643566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DF461B-C26E-E0E8-3377-D27D3F833D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>
            <a:extLst>
              <a:ext uri="{FF2B5EF4-FFF2-40B4-BE49-F238E27FC236}">
                <a16:creationId xmlns:a16="http://schemas.microsoft.com/office/drawing/2014/main" id="{AA5CE24B-0213-5EDB-743E-E22D08A150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Wait and Notify</a:t>
            </a:r>
          </a:p>
        </p:txBody>
      </p:sp>
    </p:spTree>
    <p:extLst>
      <p:ext uri="{BB962C8B-B14F-4D97-AF65-F5344CB8AC3E}">
        <p14:creationId xmlns:p14="http://schemas.microsoft.com/office/powerpoint/2010/main" val="37537186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/>
          <p:cNvSpPr>
            <a:spLocks noGrp="1"/>
          </p:cNvSpPr>
          <p:nvPr>
            <p:ph type="title"/>
          </p:nvPr>
        </p:nvSpPr>
        <p:spPr>
          <a:xfrm>
            <a:off x="936516" y="733327"/>
            <a:ext cx="4303077" cy="71514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Wait and Notify</a:t>
            </a:r>
          </a:p>
        </p:txBody>
      </p:sp>
      <p:sp>
        <p:nvSpPr>
          <p:cNvPr id="35843" name="Content Placeholder 2"/>
          <p:cNvSpPr>
            <a:spLocks noGrp="1"/>
          </p:cNvSpPr>
          <p:nvPr>
            <p:ph idx="1"/>
          </p:nvPr>
        </p:nvSpPr>
        <p:spPr>
          <a:xfrm>
            <a:off x="936516" y="1749425"/>
            <a:ext cx="10400426" cy="49062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You can actually wait for something:</a:t>
            </a: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And get notified when to continue:</a:t>
            </a:r>
          </a:p>
          <a:p>
            <a:pPr marL="0" indent="0" eaLnBrk="1" hangingPunct="1">
              <a:buNone/>
            </a:pPr>
            <a:endParaRPr lang="en-US" altLang="en-US" b="1" dirty="0"/>
          </a:p>
          <a:p>
            <a:pPr marL="0" indent="0" eaLnBrk="1" hangingPunct="1">
              <a:buNone/>
            </a:pPr>
            <a:endParaRPr lang="en-US" altLang="en-US" b="1" dirty="0"/>
          </a:p>
          <a:p>
            <a:endParaRPr lang="en-US" altLang="en-US" b="1" dirty="0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5005" y="2126183"/>
            <a:ext cx="7923447" cy="1684579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82081" y="3961238"/>
            <a:ext cx="5373717" cy="25771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8996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468" y="957955"/>
            <a:ext cx="3200484" cy="1377079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9706" y="3083446"/>
            <a:ext cx="3777442" cy="3369217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4612" y="2963701"/>
            <a:ext cx="6874508" cy="3608709"/>
          </a:xfrm>
          <a:prstGeom prst="rect">
            <a:avLst/>
          </a:prstGeom>
        </p:spPr>
      </p:pic>
      <p:sp>
        <p:nvSpPr>
          <p:cNvPr id="35842" name="Title 1"/>
          <p:cNvSpPr>
            <a:spLocks noGrp="1"/>
          </p:cNvSpPr>
          <p:nvPr>
            <p:ph type="title"/>
          </p:nvPr>
        </p:nvSpPr>
        <p:spPr>
          <a:xfrm>
            <a:off x="936516" y="733327"/>
            <a:ext cx="4303077" cy="71514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Wait and Notify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H="1" flipV="1">
            <a:off x="3762796" y="4563908"/>
            <a:ext cx="5077754" cy="1310910"/>
          </a:xfrm>
          <a:prstGeom prst="straightConnector1">
            <a:avLst/>
          </a:prstGeom>
          <a:ln w="95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 flipH="1" flipV="1">
            <a:off x="3791119" y="3520035"/>
            <a:ext cx="5081799" cy="2508532"/>
          </a:xfrm>
          <a:prstGeom prst="straightConnector1">
            <a:avLst/>
          </a:prstGeom>
          <a:ln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Down Arrow 12"/>
          <p:cNvSpPr/>
          <p:nvPr/>
        </p:nvSpPr>
        <p:spPr>
          <a:xfrm rot="7232043">
            <a:off x="8201278" y="2017243"/>
            <a:ext cx="484632" cy="978408"/>
          </a:xfrm>
          <a:prstGeom prst="down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A7D7461-78F6-D8CC-652C-3C770417424A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CSEN160_07_Threads.C_WaitAndNotify.WaitAndNotify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0945256-80BC-7E47-0DC2-9B93440C0A45}"/>
              </a:ext>
            </a:extLst>
          </p:cNvPr>
          <p:cNvSpPr/>
          <p:nvPr/>
        </p:nvSpPr>
        <p:spPr>
          <a:xfrm>
            <a:off x="2113547" y="5117435"/>
            <a:ext cx="2302041" cy="13635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EF9567E-7BA6-3FC4-6BDE-B8E78DE95D40}"/>
              </a:ext>
            </a:extLst>
          </p:cNvPr>
          <p:cNvSpPr/>
          <p:nvPr/>
        </p:nvSpPr>
        <p:spPr>
          <a:xfrm>
            <a:off x="1588168" y="4045042"/>
            <a:ext cx="3292643" cy="1363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FB4CDF4-856A-AF88-709E-62C2188ECDDA}"/>
              </a:ext>
            </a:extLst>
          </p:cNvPr>
          <p:cNvSpPr/>
          <p:nvPr/>
        </p:nvSpPr>
        <p:spPr>
          <a:xfrm>
            <a:off x="1588169" y="3754936"/>
            <a:ext cx="1247274" cy="136357"/>
          </a:xfrm>
          <a:prstGeom prst="rect">
            <a:avLst/>
          </a:prstGeom>
          <a:noFill/>
          <a:ln w="28575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2375886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8" name="Title 1"/>
          <p:cNvSpPr>
            <a:spLocks noGrp="1"/>
          </p:cNvSpPr>
          <p:nvPr>
            <p:ph type="title"/>
          </p:nvPr>
        </p:nvSpPr>
        <p:spPr>
          <a:xfrm>
            <a:off x="831850" y="2047285"/>
            <a:ext cx="10515600" cy="1816662"/>
          </a:xfrm>
        </p:spPr>
        <p:txBody>
          <a:bodyPr/>
          <a:lstStyle/>
          <a:p>
            <a:r>
              <a:rPr lang="en-US" altLang="en-US" dirty="0"/>
              <a:t>Synchronization</a:t>
            </a:r>
          </a:p>
        </p:txBody>
      </p:sp>
    </p:spTree>
    <p:extLst>
      <p:ext uri="{BB962C8B-B14F-4D97-AF65-F5344CB8AC3E}">
        <p14:creationId xmlns:p14="http://schemas.microsoft.com/office/powerpoint/2010/main" val="3735185252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3133778" cy="767746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join()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72549"/>
            <a:ext cx="10408518" cy="4975057"/>
          </a:xfrm>
        </p:spPr>
        <p:txBody>
          <a:bodyPr rtlCol="0">
            <a:normAutofit/>
          </a:bodyPr>
          <a:lstStyle/>
          <a:p>
            <a:pPr>
              <a:defRPr/>
            </a:pPr>
            <a:endParaRPr lang="en-US" dirty="0"/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A thread calls a </a:t>
            </a:r>
            <a:r>
              <a:rPr lang="en-US" b="1" dirty="0">
                <a:solidFill>
                  <a:srgbClr val="00B0F0"/>
                </a:solidFill>
              </a:rPr>
              <a:t>join</a:t>
            </a:r>
            <a:r>
              <a:rPr lang="en-US" dirty="0">
                <a:solidFill>
                  <a:schemeClr val="tx1"/>
                </a:solidFill>
              </a:rPr>
              <a:t>() method when </a:t>
            </a:r>
            <a:r>
              <a:rPr lang="en-US" b="1" dirty="0">
                <a:solidFill>
                  <a:srgbClr val="FF0000"/>
                </a:solidFill>
              </a:rPr>
              <a:t>waiting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for another thread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The waiting thread is "</a:t>
            </a:r>
            <a:r>
              <a:rPr lang="en-US" b="1" dirty="0">
                <a:solidFill>
                  <a:srgbClr val="FF0000"/>
                </a:solidFill>
              </a:rPr>
              <a:t>joining</a:t>
            </a:r>
            <a:r>
              <a:rPr lang="en-US" dirty="0">
                <a:solidFill>
                  <a:schemeClr val="tx1"/>
                </a:solidFill>
              </a:rPr>
              <a:t>" with a previously started thread. </a:t>
            </a: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endParaRPr lang="en-US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The no-argument</a:t>
            </a:r>
            <a:r>
              <a:rPr lang="en-US" dirty="0"/>
              <a:t> </a:t>
            </a:r>
            <a:r>
              <a:rPr lang="en-US" b="1" dirty="0">
                <a:solidFill>
                  <a:srgbClr val="00B0F0"/>
                </a:solidFill>
              </a:rPr>
              <a:t>join</a:t>
            </a:r>
            <a:r>
              <a:rPr lang="en-US" dirty="0">
                <a:solidFill>
                  <a:schemeClr val="tx1"/>
                </a:solidFill>
              </a:rPr>
              <a:t>() method simply waits until another thread is </a:t>
            </a:r>
            <a:r>
              <a:rPr lang="en-US" b="1" dirty="0">
                <a:solidFill>
                  <a:srgbClr val="FF0000"/>
                </a:solidFill>
              </a:rPr>
              <a:t>no longer alive</a:t>
            </a:r>
          </a:p>
          <a:p>
            <a:pPr>
              <a:defRPr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4970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Title 1"/>
          <p:cNvSpPr>
            <a:spLocks noGrp="1"/>
          </p:cNvSpPr>
          <p:nvPr>
            <p:ph type="title"/>
          </p:nvPr>
        </p:nvSpPr>
        <p:spPr>
          <a:xfrm>
            <a:off x="936516" y="745466"/>
            <a:ext cx="3133778" cy="767746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join()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18490" y="1796685"/>
            <a:ext cx="5089213" cy="4615978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3886" y="2863350"/>
            <a:ext cx="4751739" cy="1948594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4762163" y="3459345"/>
            <a:ext cx="2063469" cy="22253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4737887" y="4041972"/>
            <a:ext cx="2067515" cy="118548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762163" y="2423089"/>
            <a:ext cx="1633781" cy="646331"/>
          </a:xfrm>
          <a:prstGeom prst="rect">
            <a:avLst/>
          </a:prstGeom>
          <a:noFill/>
          <a:ln>
            <a:solidFill>
              <a:srgbClr val="92D05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>
                <a:solidFill>
                  <a:srgbClr val="92D050"/>
                </a:solidFill>
              </a:rPr>
              <a:t>Easy example</a:t>
            </a:r>
          </a:p>
          <a:p>
            <a:pPr algn="ctr"/>
            <a:r>
              <a:rPr lang="en-US" dirty="0">
                <a:solidFill>
                  <a:srgbClr val="92D050"/>
                </a:solidFill>
              </a:rPr>
              <a:t>No loops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B9E9939D-F7B5-305F-FAD8-CB20C8D5E56C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.B_Join.ThreadJoinDemo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52A595B-86EB-9ECB-1C57-7FC1A99D6658}"/>
              </a:ext>
            </a:extLst>
          </p:cNvPr>
          <p:cNvSpPr txBox="1"/>
          <p:nvPr/>
        </p:nvSpPr>
        <p:spPr>
          <a:xfrm>
            <a:off x="1189698" y="4223088"/>
            <a:ext cx="11961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00B0F0"/>
                </a:solidFill>
              </a:rPr>
              <a:t>Wait that thread1 die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5F799D-A10D-939D-B04F-AD121132342E}"/>
              </a:ext>
            </a:extLst>
          </p:cNvPr>
          <p:cNvSpPr txBox="1"/>
          <p:nvPr/>
        </p:nvSpPr>
        <p:spPr>
          <a:xfrm>
            <a:off x="1185687" y="4439664"/>
            <a:ext cx="11961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00B0F0"/>
                </a:solidFill>
              </a:rPr>
              <a:t>Wait that thread2 die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E0F6A35-7B39-7C78-31E2-78B5E2C7DC53}"/>
              </a:ext>
            </a:extLst>
          </p:cNvPr>
          <p:cNvSpPr txBox="1"/>
          <p:nvPr/>
        </p:nvSpPr>
        <p:spPr>
          <a:xfrm>
            <a:off x="1181676" y="4658463"/>
            <a:ext cx="11961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00B0F0"/>
                </a:solidFill>
              </a:rPr>
              <a:t>Wait that thread3 die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EB4947-443F-DE78-112B-E75436416010}"/>
              </a:ext>
            </a:extLst>
          </p:cNvPr>
          <p:cNvSpPr txBox="1"/>
          <p:nvPr/>
        </p:nvSpPr>
        <p:spPr>
          <a:xfrm>
            <a:off x="1169646" y="4875372"/>
            <a:ext cx="119616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b="1" dirty="0">
                <a:solidFill>
                  <a:srgbClr val="00B0F0"/>
                </a:solidFill>
              </a:rPr>
              <a:t>Wait that thread4 die</a:t>
            </a:r>
          </a:p>
        </p:txBody>
      </p:sp>
    </p:spTree>
    <p:extLst>
      <p:ext uri="{BB962C8B-B14F-4D97-AF65-F5344CB8AC3E}">
        <p14:creationId xmlns:p14="http://schemas.microsoft.com/office/powerpoint/2010/main" val="184998097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/>
          <p:cNvSpPr>
            <a:spLocks noGrp="1" noChangeArrowheads="1"/>
          </p:cNvSpPr>
          <p:nvPr>
            <p:ph type="title"/>
          </p:nvPr>
        </p:nvSpPr>
        <p:spPr>
          <a:xfrm>
            <a:off x="944608" y="753557"/>
            <a:ext cx="4011764" cy="69896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Synchronization</a:t>
            </a:r>
          </a:p>
        </p:txBody>
      </p:sp>
      <p:sp>
        <p:nvSpPr>
          <p:cNvPr id="32771" name="Rectangle 3"/>
          <p:cNvSpPr>
            <a:spLocks noGrp="1" noChangeArrowheads="1"/>
          </p:cNvSpPr>
          <p:nvPr>
            <p:ph idx="1"/>
          </p:nvPr>
        </p:nvSpPr>
        <p:spPr>
          <a:xfrm>
            <a:off x="944608" y="1749903"/>
            <a:ext cx="10420656" cy="48774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zh-CN" b="1" dirty="0">
                <a:solidFill>
                  <a:schemeClr val="tx1"/>
                </a:solidFill>
              </a:rPr>
              <a:t>The Synchronization problem:</a:t>
            </a:r>
          </a:p>
          <a:p>
            <a:pPr lvl="1">
              <a:buClr>
                <a:schemeClr val="tx2"/>
              </a:buClr>
              <a:buSzPct val="75000"/>
            </a:pPr>
            <a:r>
              <a:rPr lang="en-US" altLang="zh-CN" dirty="0">
                <a:solidFill>
                  <a:schemeClr val="tx1"/>
                </a:solidFill>
              </a:rPr>
              <a:t>    Two different threads </a:t>
            </a:r>
            <a:r>
              <a:rPr lang="en-US" altLang="zh-CN" b="1" dirty="0">
                <a:solidFill>
                  <a:srgbClr val="FF0000"/>
                </a:solidFill>
              </a:rPr>
              <a:t>modify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chemeClr val="tx1"/>
                </a:solidFill>
              </a:rPr>
              <a:t>the same object at the same time, </a:t>
            </a:r>
            <a:r>
              <a:rPr lang="en-US" altLang="zh-CN" b="1" dirty="0">
                <a:solidFill>
                  <a:srgbClr val="FF0000"/>
                </a:solidFill>
              </a:rPr>
              <a:t>leading to corrupted object</a:t>
            </a:r>
            <a:r>
              <a:rPr lang="en-US" altLang="zh-CN" dirty="0"/>
              <a:t>.</a:t>
            </a:r>
            <a:endParaRPr lang="en-US" altLang="en-US" dirty="0"/>
          </a:p>
          <a:p>
            <a:pPr marL="0" indent="0" eaLnBrk="1" hangingPunct="1">
              <a:buNone/>
            </a:pPr>
            <a:endParaRPr lang="en-US" altLang="en-US" dirty="0"/>
          </a:p>
          <a:p>
            <a:pPr marL="0" indent="0" eaLnBrk="1" hangingPunct="1">
              <a:buNone/>
            </a:pPr>
            <a:r>
              <a:rPr lang="en-US" altLang="en-US" b="1" dirty="0">
                <a:solidFill>
                  <a:schemeClr val="tx1"/>
                </a:solidFill>
              </a:rPr>
              <a:t>An analog:</a:t>
            </a:r>
          </a:p>
          <a:p>
            <a:pPr lvl="1" eaLnBrk="1" hangingPunct="1"/>
            <a:r>
              <a:rPr lang="en-US" altLang="en-US" dirty="0">
                <a:solidFill>
                  <a:schemeClr val="tx1"/>
                </a:solidFill>
              </a:rPr>
              <a:t>A project report is kept at a centralized location:</a:t>
            </a:r>
          </a:p>
          <a:p>
            <a:pPr lvl="2" eaLnBrk="1" hangingPunct="1"/>
            <a:endParaRPr lang="en-US" altLang="en-US" dirty="0"/>
          </a:p>
          <a:p>
            <a:pPr lvl="2" eaLnBrk="1" hangingPunct="1"/>
            <a:r>
              <a:rPr lang="en-US" altLang="en-US" b="1" dirty="0">
                <a:solidFill>
                  <a:srgbClr val="00B050"/>
                </a:solidFill>
              </a:rPr>
              <a:t>You open </a:t>
            </a:r>
            <a:r>
              <a:rPr lang="en-US" altLang="en-US" dirty="0">
                <a:solidFill>
                  <a:schemeClr val="tx1"/>
                </a:solidFill>
              </a:rPr>
              <a:t>the report and edit it</a:t>
            </a:r>
          </a:p>
          <a:p>
            <a:pPr lvl="2" eaLnBrk="1" hangingPunct="1"/>
            <a:r>
              <a:rPr lang="en-US" altLang="en-US" b="1" dirty="0">
                <a:solidFill>
                  <a:srgbClr val="00B0F0"/>
                </a:solidFill>
              </a:rPr>
              <a:t>Your partner </a:t>
            </a:r>
            <a:r>
              <a:rPr lang="en-US" altLang="en-US" dirty="0">
                <a:solidFill>
                  <a:schemeClr val="tx1"/>
                </a:solidFill>
              </a:rPr>
              <a:t>opens the report and edits it</a:t>
            </a:r>
          </a:p>
          <a:p>
            <a:pPr lvl="2" eaLnBrk="1" hangingPunct="1"/>
            <a:r>
              <a:rPr lang="en-US" altLang="en-US" b="1" dirty="0">
                <a:solidFill>
                  <a:srgbClr val="00B050"/>
                </a:solidFill>
              </a:rPr>
              <a:t>You save </a:t>
            </a:r>
            <a:r>
              <a:rPr lang="en-US" altLang="en-US" dirty="0">
                <a:solidFill>
                  <a:schemeClr val="tx1"/>
                </a:solidFill>
              </a:rPr>
              <a:t>the edits.</a:t>
            </a:r>
          </a:p>
          <a:p>
            <a:pPr lvl="2" eaLnBrk="1" hangingPunct="1"/>
            <a:r>
              <a:rPr lang="en-US" altLang="en-US" b="1" dirty="0">
                <a:solidFill>
                  <a:srgbClr val="00B0F0"/>
                </a:solidFill>
              </a:rPr>
              <a:t>Your partner </a:t>
            </a:r>
            <a:r>
              <a:rPr lang="en-US" altLang="en-US" dirty="0">
                <a:solidFill>
                  <a:schemeClr val="tx1"/>
                </a:solidFill>
              </a:rPr>
              <a:t>saves his edits</a:t>
            </a:r>
          </a:p>
          <a:p>
            <a:pPr lvl="1" eaLnBrk="1" hangingPunct="1"/>
            <a:endParaRPr lang="en-US" altLang="en-US" b="1" dirty="0">
              <a:solidFill>
                <a:srgbClr val="FF0000"/>
              </a:solidFill>
            </a:endParaRPr>
          </a:p>
          <a:p>
            <a:pPr lvl="1" eaLnBrk="1" hangingPunct="1"/>
            <a:r>
              <a:rPr lang="en-US" altLang="en-US" b="1" dirty="0">
                <a:solidFill>
                  <a:srgbClr val="00B050"/>
                </a:solidFill>
              </a:rPr>
              <a:t>Your edits </a:t>
            </a:r>
            <a:r>
              <a:rPr lang="en-US" altLang="en-US" b="1" dirty="0">
                <a:solidFill>
                  <a:srgbClr val="FF0000"/>
                </a:solidFill>
              </a:rPr>
              <a:t>are lost!</a:t>
            </a:r>
          </a:p>
        </p:txBody>
      </p:sp>
    </p:spTree>
    <p:extLst>
      <p:ext uri="{BB962C8B-B14F-4D97-AF65-F5344CB8AC3E}">
        <p14:creationId xmlns:p14="http://schemas.microsoft.com/office/powerpoint/2010/main" val="85300515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/>
          <p:cNvSpPr>
            <a:spLocks noGrp="1" noChangeArrowheads="1"/>
          </p:cNvSpPr>
          <p:nvPr>
            <p:ph type="title"/>
          </p:nvPr>
        </p:nvSpPr>
        <p:spPr>
          <a:xfrm>
            <a:off x="957557" y="748022"/>
            <a:ext cx="3897664" cy="639762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sz="4000" dirty="0"/>
              <a:t>Synchronization</a:t>
            </a:r>
          </a:p>
        </p:txBody>
      </p:sp>
      <p:sp>
        <p:nvSpPr>
          <p:cNvPr id="33795" name="Rectangle 3"/>
          <p:cNvSpPr>
            <a:spLocks noGrp="1" noChangeArrowheads="1"/>
          </p:cNvSpPr>
          <p:nvPr>
            <p:ph idx="1"/>
          </p:nvPr>
        </p:nvSpPr>
        <p:spPr>
          <a:xfrm>
            <a:off x="957556" y="1747206"/>
            <a:ext cx="10403661" cy="4892309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>
              <a:lnSpc>
                <a:spcPct val="90000"/>
              </a:lnSpc>
            </a:pPr>
            <a:endParaRPr lang="en-US" altLang="zh-CN" dirty="0"/>
          </a:p>
          <a:p>
            <a:pPr eaLnBrk="1" hangingPunct="1">
              <a:lnSpc>
                <a:spcPct val="90000"/>
              </a:lnSpc>
            </a:pPr>
            <a:r>
              <a:rPr lang="en-US" altLang="zh-CN" dirty="0">
                <a:solidFill>
                  <a:schemeClr val="tx1"/>
                </a:solidFill>
              </a:rPr>
              <a:t>When threads need access to a </a:t>
            </a:r>
            <a:r>
              <a:rPr lang="en-US" altLang="zh-CN" b="1" dirty="0">
                <a:solidFill>
                  <a:srgbClr val="FF0000"/>
                </a:solidFill>
              </a:rPr>
              <a:t>shared resource</a:t>
            </a:r>
          </a:p>
          <a:p>
            <a:pPr eaLnBrk="1" hangingPunct="1">
              <a:lnSpc>
                <a:spcPct val="90000"/>
              </a:lnSpc>
            </a:pPr>
            <a:endParaRPr lang="en-US" altLang="zh-CN" dirty="0"/>
          </a:p>
          <a:p>
            <a:pPr eaLnBrk="1" hangingPunct="1">
              <a:lnSpc>
                <a:spcPct val="90000"/>
              </a:lnSpc>
            </a:pPr>
            <a:r>
              <a:rPr lang="en-US" altLang="zh-CN" dirty="0">
                <a:solidFill>
                  <a:schemeClr val="tx1"/>
                </a:solidFill>
              </a:rPr>
              <a:t>Need a way to make sure resource will be used by </a:t>
            </a:r>
            <a:r>
              <a:rPr lang="en-US" altLang="zh-CN" b="1" dirty="0">
                <a:solidFill>
                  <a:srgbClr val="FF0000"/>
                </a:solidFill>
              </a:rPr>
              <a:t>only one thread at a time!</a:t>
            </a:r>
            <a:endParaRPr lang="en-US" altLang="zh-CN" dirty="0"/>
          </a:p>
          <a:p>
            <a:pPr eaLnBrk="1" hangingPunct="1">
              <a:lnSpc>
                <a:spcPct val="90000"/>
              </a:lnSpc>
            </a:pPr>
            <a:endParaRPr lang="en-US" altLang="zh-CN" dirty="0"/>
          </a:p>
          <a:p>
            <a:pPr eaLnBrk="1" hangingPunct="1">
              <a:lnSpc>
                <a:spcPct val="90000"/>
              </a:lnSpc>
            </a:pPr>
            <a:r>
              <a:rPr lang="en-US" altLang="zh-CN" dirty="0">
                <a:solidFill>
                  <a:schemeClr val="tx1"/>
                </a:solidFill>
              </a:rPr>
              <a:t>Achieved by </a:t>
            </a:r>
            <a:r>
              <a:rPr lang="en-US" altLang="zh-CN" b="1" dirty="0">
                <a:solidFill>
                  <a:srgbClr val="00B050"/>
                </a:solidFill>
              </a:rPr>
              <a:t>thread</a:t>
            </a:r>
            <a:r>
              <a:rPr lang="en-US" altLang="zh-CN" dirty="0"/>
              <a:t> </a:t>
            </a:r>
            <a:r>
              <a:rPr lang="en-US" altLang="zh-CN" b="1" dirty="0">
                <a:solidFill>
                  <a:srgbClr val="00B050"/>
                </a:solidFill>
              </a:rPr>
              <a:t>synchronization</a:t>
            </a:r>
            <a:r>
              <a:rPr lang="en-US" altLang="zh-CN" dirty="0"/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zh-CN" dirty="0"/>
          </a:p>
          <a:p>
            <a:pPr eaLnBrk="1" hangingPunct="1">
              <a:lnSpc>
                <a:spcPct val="90000"/>
              </a:lnSpc>
            </a:pPr>
            <a:r>
              <a:rPr lang="en-US" altLang="zh-CN" b="1" dirty="0">
                <a:solidFill>
                  <a:srgbClr val="00B050"/>
                </a:solidFill>
              </a:rPr>
              <a:t>Synchronization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chemeClr val="tx1"/>
                </a:solidFill>
              </a:rPr>
              <a:t>in Java by making methods that modify critical recourses </a:t>
            </a:r>
            <a:r>
              <a:rPr lang="en-US" altLang="zh-CN" b="1" dirty="0">
                <a:solidFill>
                  <a:srgbClr val="00B050"/>
                </a:solidFill>
              </a:rPr>
              <a:t>synchronized</a:t>
            </a:r>
            <a:r>
              <a:rPr lang="en-US" altLang="zh-CN" dirty="0"/>
              <a:t>.</a:t>
            </a:r>
          </a:p>
          <a:p>
            <a:pPr eaLnBrk="1" hangingPunct="1">
              <a:lnSpc>
                <a:spcPct val="90000"/>
              </a:lnSpc>
            </a:pPr>
            <a:endParaRPr lang="en-US" altLang="zh-CN" b="1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798452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932470" y="745465"/>
            <a:ext cx="558161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Synchronization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idx="1"/>
          </p:nvPr>
        </p:nvSpPr>
        <p:spPr>
          <a:xfrm>
            <a:off x="932470" y="1590085"/>
            <a:ext cx="10412564" cy="506561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en-US" sz="2000" dirty="0"/>
          </a:p>
          <a:p>
            <a:pPr marL="0" indent="0">
              <a:buNone/>
              <a:defRPr/>
            </a:pPr>
            <a:r>
              <a:rPr lang="en-US" altLang="en-US" sz="2000" dirty="0">
                <a:solidFill>
                  <a:schemeClr val="tx1"/>
                </a:solidFill>
              </a:rPr>
              <a:t>Accessing</a:t>
            </a:r>
            <a:r>
              <a:rPr lang="en-US" altLang="en-US" sz="2000" b="1" dirty="0">
                <a:solidFill>
                  <a:schemeClr val="tx2"/>
                </a:solidFill>
                <a:latin typeface="Courier New" pitchFamily="49" charset="0"/>
              </a:rPr>
              <a:t> </a:t>
            </a:r>
            <a:r>
              <a:rPr lang="en-US" altLang="en-US" sz="2000" b="1" dirty="0">
                <a:solidFill>
                  <a:srgbClr val="00B050"/>
                </a:solidFill>
                <a:latin typeface="Courier New" pitchFamily="49" charset="0"/>
              </a:rPr>
              <a:t>synchronized</a:t>
            </a:r>
            <a:r>
              <a:rPr lang="en-US" altLang="en-US" sz="2000" b="1" dirty="0">
                <a:solidFill>
                  <a:schemeClr val="tx2"/>
                </a:solidFill>
                <a:latin typeface="Courier New" pitchFamily="49" charset="0"/>
              </a:rPr>
              <a:t> </a:t>
            </a:r>
            <a:r>
              <a:rPr lang="en-US" altLang="en-US" sz="2000" dirty="0">
                <a:solidFill>
                  <a:schemeClr val="tx1"/>
                </a:solidFill>
              </a:rPr>
              <a:t>methods:</a:t>
            </a:r>
          </a:p>
          <a:p>
            <a:pPr lvl="1">
              <a:defRPr/>
            </a:pPr>
            <a:endParaRPr lang="en-US" altLang="zh-CN" dirty="0">
              <a:solidFill>
                <a:schemeClr val="tx1"/>
              </a:solidFill>
            </a:endParaRPr>
          </a:p>
          <a:p>
            <a:pPr lvl="1">
              <a:defRPr/>
            </a:pPr>
            <a:r>
              <a:rPr lang="en-US" altLang="zh-CN" dirty="0">
                <a:solidFill>
                  <a:schemeClr val="tx1"/>
                </a:solidFill>
              </a:rPr>
              <a:t>An object with one or more synchronized methods (or blocks) is called a </a:t>
            </a:r>
            <a:r>
              <a:rPr lang="en-US" altLang="zh-CN" b="1" dirty="0">
                <a:solidFill>
                  <a:srgbClr val="00B0F0"/>
                </a:solidFill>
              </a:rPr>
              <a:t>monitor</a:t>
            </a:r>
            <a:r>
              <a:rPr lang="en-US" altLang="zh-CN" dirty="0"/>
              <a:t> </a:t>
            </a:r>
            <a:r>
              <a:rPr lang="en-US" altLang="zh-CN" dirty="0">
                <a:solidFill>
                  <a:schemeClr val="tx1"/>
                </a:solidFill>
              </a:rPr>
              <a:t>or a </a:t>
            </a:r>
            <a:r>
              <a:rPr lang="en-US" altLang="zh-CN" b="1" dirty="0">
                <a:solidFill>
                  <a:srgbClr val="FF0000"/>
                </a:solidFill>
              </a:rPr>
              <a:t>critical section</a:t>
            </a:r>
            <a:r>
              <a:rPr lang="en-US" altLang="zh-CN" dirty="0"/>
              <a:t>.</a:t>
            </a:r>
          </a:p>
          <a:p>
            <a:pPr lvl="1">
              <a:defRPr/>
            </a:pPr>
            <a:endParaRPr lang="en-US" altLang="zh-CN" dirty="0"/>
          </a:p>
          <a:p>
            <a:pPr lvl="1">
              <a:defRPr/>
            </a:pPr>
            <a:r>
              <a:rPr lang="en-US" altLang="zh-CN" dirty="0">
                <a:solidFill>
                  <a:schemeClr val="tx1"/>
                </a:solidFill>
              </a:rPr>
              <a:t>Every Java object with a </a:t>
            </a:r>
            <a:r>
              <a:rPr lang="en-US" altLang="zh-CN" b="1" dirty="0">
                <a:solidFill>
                  <a:srgbClr val="FF0000"/>
                </a:solidFill>
              </a:rPr>
              <a:t>critical section </a:t>
            </a:r>
            <a:r>
              <a:rPr lang="en-US" altLang="zh-CN" dirty="0">
                <a:solidFill>
                  <a:schemeClr val="tx1"/>
                </a:solidFill>
              </a:rPr>
              <a:t>of code gets a </a:t>
            </a:r>
            <a:r>
              <a:rPr lang="en-US" altLang="zh-CN" b="1" dirty="0">
                <a:solidFill>
                  <a:srgbClr val="00B0F0"/>
                </a:solidFill>
              </a:rPr>
              <a:t>lock</a:t>
            </a:r>
            <a:r>
              <a:rPr lang="en-US" altLang="zh-CN" dirty="0"/>
              <a:t>. </a:t>
            </a:r>
          </a:p>
          <a:p>
            <a:pPr lvl="1">
              <a:defRPr/>
            </a:pPr>
            <a:endParaRPr lang="en-US" altLang="zh-CN" dirty="0"/>
          </a:p>
          <a:p>
            <a:pPr lvl="1">
              <a:defRPr/>
            </a:pPr>
            <a:r>
              <a:rPr lang="en-US" altLang="zh-CN" dirty="0">
                <a:solidFill>
                  <a:schemeClr val="tx1"/>
                </a:solidFill>
              </a:rPr>
              <a:t>To enter a </a:t>
            </a:r>
            <a:r>
              <a:rPr lang="en-US" altLang="zh-CN" b="1" dirty="0">
                <a:solidFill>
                  <a:srgbClr val="FF0000"/>
                </a:solidFill>
              </a:rPr>
              <a:t>critical section</a:t>
            </a:r>
            <a:r>
              <a:rPr lang="en-US" altLang="zh-CN" dirty="0">
                <a:solidFill>
                  <a:schemeClr val="tx1"/>
                </a:solidFill>
              </a:rPr>
              <a:t>, a thread needs to obtain the </a:t>
            </a:r>
            <a:r>
              <a:rPr lang="en-US" altLang="zh-CN" b="1" dirty="0">
                <a:solidFill>
                  <a:srgbClr val="00B0F0"/>
                </a:solidFill>
              </a:rPr>
              <a:t>lock</a:t>
            </a:r>
            <a:r>
              <a:rPr lang="en-US" altLang="zh-CN" dirty="0">
                <a:solidFill>
                  <a:schemeClr val="tx1"/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04006868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/>
          <p:cNvSpPr>
            <a:spLocks noGrp="1" noChangeArrowheads="1"/>
          </p:cNvSpPr>
          <p:nvPr>
            <p:ph type="title"/>
          </p:nvPr>
        </p:nvSpPr>
        <p:spPr>
          <a:xfrm>
            <a:off x="932470" y="745465"/>
            <a:ext cx="5581618" cy="658503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Thread Synchronization</a:t>
            </a:r>
          </a:p>
        </p:txBody>
      </p:sp>
      <p:sp>
        <p:nvSpPr>
          <p:cNvPr id="29700" name="Rectangle 3"/>
          <p:cNvSpPr>
            <a:spLocks noGrp="1" noChangeArrowheads="1"/>
          </p:cNvSpPr>
          <p:nvPr>
            <p:ph idx="1"/>
          </p:nvPr>
        </p:nvSpPr>
        <p:spPr>
          <a:xfrm>
            <a:off x="932470" y="1590085"/>
            <a:ext cx="10412564" cy="5065614"/>
          </a:xfrm>
        </p:spPr>
        <p:txBody>
          <a:bodyPr rtlCol="0">
            <a:normAutofit/>
          </a:bodyPr>
          <a:lstStyle/>
          <a:p>
            <a:pPr marL="0" indent="0">
              <a:buNone/>
              <a:defRPr/>
            </a:pPr>
            <a:endParaRPr lang="en-US" altLang="zh-CN" sz="2200" dirty="0"/>
          </a:p>
          <a:p>
            <a:pPr marL="0" indent="0">
              <a:buNone/>
              <a:defRPr/>
            </a:pPr>
            <a:r>
              <a:rPr lang="en-US" altLang="zh-CN" sz="2200" dirty="0">
                <a:solidFill>
                  <a:schemeClr val="tx1"/>
                </a:solidFill>
              </a:rPr>
              <a:t>A monitor lets only </a:t>
            </a:r>
            <a:r>
              <a:rPr lang="en-US" altLang="zh-CN" sz="2200" b="1" dirty="0">
                <a:solidFill>
                  <a:srgbClr val="00B0F0"/>
                </a:solidFill>
              </a:rPr>
              <a:t>ONE</a:t>
            </a:r>
            <a:r>
              <a:rPr lang="en-US" altLang="zh-CN" sz="2200" dirty="0"/>
              <a:t> </a:t>
            </a:r>
            <a:r>
              <a:rPr lang="en-US" altLang="zh-CN" sz="2200" dirty="0">
                <a:solidFill>
                  <a:schemeClr val="tx1"/>
                </a:solidFill>
              </a:rPr>
              <a:t>thread to access its </a:t>
            </a:r>
            <a:r>
              <a:rPr lang="en-US" altLang="zh-CN" sz="2200" b="1" dirty="0">
                <a:solidFill>
                  <a:srgbClr val="00B050"/>
                </a:solidFill>
              </a:rPr>
              <a:t>synchronized</a:t>
            </a:r>
            <a:r>
              <a:rPr lang="en-US" altLang="zh-CN" sz="2200" dirty="0"/>
              <a:t> </a:t>
            </a:r>
            <a:r>
              <a:rPr lang="en-US" altLang="zh-CN" sz="2200" dirty="0">
                <a:solidFill>
                  <a:schemeClr val="tx1"/>
                </a:solidFill>
              </a:rPr>
              <a:t>methods:</a:t>
            </a:r>
          </a:p>
          <a:p>
            <a:pPr lvl="1">
              <a:defRPr/>
            </a:pPr>
            <a:endParaRPr lang="en-US" altLang="zh-CN" sz="1800" dirty="0"/>
          </a:p>
          <a:p>
            <a:pPr lvl="1">
              <a:defRPr/>
            </a:pPr>
            <a:endParaRPr lang="en-US" altLang="zh-CN" sz="1800" dirty="0"/>
          </a:p>
          <a:p>
            <a:pPr lvl="1">
              <a:defRPr/>
            </a:pPr>
            <a:r>
              <a:rPr lang="en-US" altLang="zh-CN" sz="1800" dirty="0">
                <a:solidFill>
                  <a:schemeClr val="tx1"/>
                </a:solidFill>
              </a:rPr>
              <a:t>While a thread is </a:t>
            </a:r>
            <a:r>
              <a:rPr lang="en-US" altLang="zh-CN" sz="1800" b="1" dirty="0">
                <a:solidFill>
                  <a:srgbClr val="00B0F0"/>
                </a:solidFill>
              </a:rPr>
              <a:t>executing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one of the </a:t>
            </a:r>
            <a:r>
              <a:rPr lang="en-US" altLang="zh-CN" sz="1800" b="1" dirty="0">
                <a:solidFill>
                  <a:srgbClr val="00B050"/>
                </a:solidFill>
              </a:rPr>
              <a:t>synchronized</a:t>
            </a:r>
            <a:r>
              <a:rPr lang="en-US" altLang="zh-CN" sz="1800" dirty="0"/>
              <a:t> </a:t>
            </a:r>
            <a:r>
              <a:rPr lang="en-US" altLang="zh-CN" sz="1800" b="1" dirty="0">
                <a:solidFill>
                  <a:srgbClr val="00B0F0"/>
                </a:solidFill>
              </a:rPr>
              <a:t>methods</a:t>
            </a:r>
            <a:r>
              <a:rPr lang="en-US" altLang="zh-CN" sz="1800" dirty="0"/>
              <a:t>.</a:t>
            </a:r>
          </a:p>
          <a:p>
            <a:pPr lvl="1">
              <a:defRPr/>
            </a:pPr>
            <a:endParaRPr lang="en-US" altLang="zh-CN" sz="1800" dirty="0"/>
          </a:p>
          <a:p>
            <a:pPr lvl="1">
              <a:defRPr/>
            </a:pPr>
            <a:r>
              <a:rPr lang="en-US" altLang="zh-CN" sz="1800" dirty="0">
                <a:solidFill>
                  <a:schemeClr val="tx1"/>
                </a:solidFill>
              </a:rPr>
              <a:t>All other threads that try to call this </a:t>
            </a:r>
            <a:r>
              <a:rPr lang="en-US" altLang="zh-CN" sz="1800" b="1" dirty="0">
                <a:solidFill>
                  <a:srgbClr val="00B050"/>
                </a:solidFill>
              </a:rPr>
              <a:t>synchronized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methods are </a:t>
            </a:r>
            <a:r>
              <a:rPr lang="en-US" altLang="zh-CN" sz="1800" b="1" dirty="0">
                <a:solidFill>
                  <a:srgbClr val="FF0000"/>
                </a:solidFill>
              </a:rPr>
              <a:t>blocked</a:t>
            </a:r>
            <a:r>
              <a:rPr lang="en-US" altLang="zh-CN" sz="1800" dirty="0"/>
              <a:t>.  </a:t>
            </a:r>
          </a:p>
          <a:p>
            <a:pPr lvl="1">
              <a:defRPr/>
            </a:pPr>
            <a:endParaRPr lang="en-US" altLang="zh-CN" sz="1800" dirty="0"/>
          </a:p>
          <a:p>
            <a:pPr lvl="1">
              <a:defRPr/>
            </a:pPr>
            <a:r>
              <a:rPr lang="en-US" altLang="zh-CN" sz="1800" dirty="0">
                <a:solidFill>
                  <a:schemeClr val="tx1"/>
                </a:solidFill>
              </a:rPr>
              <a:t>When the thread that locked the </a:t>
            </a:r>
            <a:r>
              <a:rPr lang="en-US" altLang="zh-CN" sz="1800" b="1" dirty="0">
                <a:solidFill>
                  <a:srgbClr val="00B050"/>
                </a:solidFill>
              </a:rPr>
              <a:t>synchronized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method finishes, all blocked threads can </a:t>
            </a:r>
            <a:r>
              <a:rPr lang="en-US" altLang="zh-CN" sz="1800" b="1" dirty="0">
                <a:solidFill>
                  <a:srgbClr val="FF0000"/>
                </a:solidFill>
              </a:rPr>
              <a:t>access</a:t>
            </a:r>
            <a:r>
              <a:rPr lang="en-US" altLang="zh-CN" sz="1800" dirty="0">
                <a:solidFill>
                  <a:schemeClr val="tx1"/>
                </a:solidFill>
              </a:rPr>
              <a:t> it.</a:t>
            </a:r>
          </a:p>
          <a:p>
            <a:pPr marL="457200" lvl="1" indent="0">
              <a:buNone/>
              <a:defRPr/>
            </a:pPr>
            <a:endParaRPr lang="en-US" altLang="zh-CN" sz="1800" dirty="0"/>
          </a:p>
          <a:p>
            <a:pPr lvl="1">
              <a:defRPr/>
            </a:pPr>
            <a:r>
              <a:rPr lang="en-US" altLang="zh-CN" sz="1800" dirty="0">
                <a:solidFill>
                  <a:schemeClr val="tx1"/>
                </a:solidFill>
              </a:rPr>
              <a:t>Methods that call </a:t>
            </a:r>
            <a:r>
              <a:rPr lang="en-US" altLang="zh-CN" sz="1800" b="1" dirty="0">
                <a:solidFill>
                  <a:srgbClr val="00B050"/>
                </a:solidFill>
              </a:rPr>
              <a:t>unsynchronized</a:t>
            </a:r>
            <a:r>
              <a:rPr lang="en-US" altLang="zh-CN" sz="1800" dirty="0"/>
              <a:t> </a:t>
            </a:r>
            <a:r>
              <a:rPr lang="en-US" altLang="zh-CN" sz="1800" dirty="0">
                <a:solidFill>
                  <a:schemeClr val="tx1"/>
                </a:solidFill>
              </a:rPr>
              <a:t>methods can </a:t>
            </a:r>
            <a:r>
              <a:rPr lang="en-US" altLang="zh-CN" sz="1800" b="1" dirty="0">
                <a:solidFill>
                  <a:srgbClr val="FF0000"/>
                </a:solidFill>
              </a:rPr>
              <a:t>proceed</a:t>
            </a:r>
            <a:r>
              <a:rPr lang="en-US" altLang="zh-CN" sz="1800" dirty="0"/>
              <a:t>.</a:t>
            </a:r>
          </a:p>
          <a:p>
            <a:pPr lvl="1">
              <a:defRPr/>
            </a:pPr>
            <a:endParaRPr lang="en-US" altLang="zh-CN" sz="1800" dirty="0"/>
          </a:p>
        </p:txBody>
      </p:sp>
    </p:spTree>
    <p:extLst>
      <p:ext uri="{BB962C8B-B14F-4D97-AF65-F5344CB8AC3E}">
        <p14:creationId xmlns:p14="http://schemas.microsoft.com/office/powerpoint/2010/main" val="63405582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/>
          <p:cNvSpPr>
            <a:spLocks noGrp="1"/>
          </p:cNvSpPr>
          <p:nvPr>
            <p:ph type="title"/>
          </p:nvPr>
        </p:nvSpPr>
        <p:spPr>
          <a:xfrm>
            <a:off x="936516" y="733327"/>
            <a:ext cx="4303077" cy="715147"/>
          </a:xfrm>
          <a:ln>
            <a:miter lim="800000"/>
            <a:headEnd/>
            <a:tailEnd/>
          </a:ln>
        </p:spPr>
        <p:txBody>
          <a:bodyPr/>
          <a:lstStyle/>
          <a:p>
            <a:pPr eaLnBrk="1" hangingPunct="1"/>
            <a:r>
              <a:rPr lang="en-US" altLang="en-US" dirty="0"/>
              <a:t>Java </a:t>
            </a:r>
            <a:r>
              <a:rPr lang="en-US" altLang="en-US" i="1" dirty="0">
                <a:solidFill>
                  <a:srgbClr val="00B050"/>
                </a:solidFill>
              </a:rPr>
              <a:t>synchronized</a:t>
            </a:r>
          </a:p>
        </p:txBody>
      </p:sp>
      <p:sp>
        <p:nvSpPr>
          <p:cNvPr id="35843" name="Content Placeholder 2"/>
          <p:cNvSpPr>
            <a:spLocks noGrp="1"/>
          </p:cNvSpPr>
          <p:nvPr>
            <p:ph idx="1"/>
          </p:nvPr>
        </p:nvSpPr>
        <p:spPr>
          <a:xfrm>
            <a:off x="936516" y="1749425"/>
            <a:ext cx="10400426" cy="49062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b="1" dirty="0">
                <a:solidFill>
                  <a:srgbClr val="00B050"/>
                </a:solidFill>
              </a:rPr>
              <a:t>Synchronized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keyword to mark different types of blocks: </a:t>
            </a:r>
          </a:p>
          <a:p>
            <a:pPr eaLnBrk="1" hangingPunct="1"/>
            <a:endParaRPr lang="en-US" altLang="en-US" b="1" dirty="0">
              <a:solidFill>
                <a:schemeClr val="tx1"/>
              </a:solidFill>
            </a:endParaRPr>
          </a:p>
          <a:p>
            <a:r>
              <a:rPr lang="en-US" altLang="en-US" b="1" dirty="0">
                <a:solidFill>
                  <a:schemeClr val="tx1"/>
                </a:solidFill>
              </a:rPr>
              <a:t>Instance and static methods</a:t>
            </a:r>
            <a:r>
              <a:rPr lang="en-US" altLang="en-US" dirty="0">
                <a:solidFill>
                  <a:schemeClr val="tx1"/>
                </a:solidFill>
              </a:rPr>
              <a:t>: Only one thread can execute the method. </a:t>
            </a:r>
          </a:p>
          <a:p>
            <a:pPr marL="0" indent="0" eaLnBrk="1" hangingPunct="1">
              <a:buNone/>
            </a:pPr>
            <a:endParaRPr lang="en-US" altLang="en-US" b="1" dirty="0">
              <a:solidFill>
                <a:schemeClr val="tx1"/>
              </a:solidFill>
            </a:endParaRPr>
          </a:p>
          <a:p>
            <a:pPr eaLnBrk="1" hangingPunct="1"/>
            <a:r>
              <a:rPr lang="en-US" altLang="en-US" b="1" dirty="0">
                <a:solidFill>
                  <a:schemeClr val="tx1"/>
                </a:solidFill>
              </a:rPr>
              <a:t>Code blocks inside methods: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Avoid </a:t>
            </a:r>
            <a:r>
              <a:rPr lang="en-US" altLang="en-US" b="1" dirty="0">
                <a:solidFill>
                  <a:srgbClr val="00B050"/>
                </a:solidFill>
              </a:rPr>
              <a:t>synchronizing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the </a:t>
            </a:r>
            <a:r>
              <a:rPr lang="en-US" altLang="en-US" b="1" dirty="0">
                <a:solidFill>
                  <a:srgbClr val="FF0000"/>
                </a:solidFill>
              </a:rPr>
              <a:t>whole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method!</a:t>
            </a:r>
            <a:r>
              <a:rPr lang="en-US" altLang="en-US" dirty="0"/>
              <a:t> </a:t>
            </a:r>
          </a:p>
          <a:p>
            <a:pPr lvl="1"/>
            <a:endParaRPr lang="en-US" altLang="en-US" dirty="0"/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A</a:t>
            </a:r>
            <a:r>
              <a:rPr lang="en-US" altLang="en-US" dirty="0"/>
              <a:t> </a:t>
            </a:r>
            <a:r>
              <a:rPr lang="en-US" altLang="en-US" b="1" dirty="0">
                <a:solidFill>
                  <a:srgbClr val="00B050"/>
                </a:solidFill>
              </a:rPr>
              <a:t>synchronized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block can choose which objects are </a:t>
            </a:r>
            <a:r>
              <a:rPr lang="en-US" altLang="en-US" b="1" dirty="0">
                <a:solidFill>
                  <a:schemeClr val="tx1"/>
                </a:solidFill>
              </a:rPr>
              <a:t>synchronizes</a:t>
            </a:r>
            <a:r>
              <a:rPr lang="en-US" altLang="en-US" dirty="0">
                <a:solidFill>
                  <a:schemeClr val="tx1"/>
                </a:solidFill>
              </a:rPr>
              <a:t> </a:t>
            </a:r>
          </a:p>
          <a:p>
            <a:pPr lvl="1"/>
            <a:endParaRPr lang="en-US" altLang="en-US" dirty="0">
              <a:solidFill>
                <a:schemeClr val="tx1"/>
              </a:solidFill>
            </a:endParaRPr>
          </a:p>
          <a:p>
            <a:pPr lvl="1"/>
            <a:r>
              <a:rPr lang="en-US" altLang="en-US" dirty="0">
                <a:solidFill>
                  <a:schemeClr val="tx1"/>
                </a:solidFill>
              </a:rPr>
              <a:t>Make the </a:t>
            </a:r>
            <a:r>
              <a:rPr lang="en-US" altLang="en-US" b="1" dirty="0">
                <a:solidFill>
                  <a:srgbClr val="00B050"/>
                </a:solidFill>
              </a:rPr>
              <a:t>synchronized</a:t>
            </a:r>
            <a:r>
              <a:rPr lang="en-US" altLang="en-US" dirty="0"/>
              <a:t> </a:t>
            </a:r>
            <a:r>
              <a:rPr lang="en-US" altLang="en-US" dirty="0">
                <a:solidFill>
                  <a:schemeClr val="tx1"/>
                </a:solidFill>
              </a:rPr>
              <a:t>part as </a:t>
            </a:r>
            <a:r>
              <a:rPr lang="en-US" altLang="en-US" b="1" dirty="0">
                <a:solidFill>
                  <a:srgbClr val="FF0000"/>
                </a:solidFill>
              </a:rPr>
              <a:t>small</a:t>
            </a:r>
            <a:r>
              <a:rPr lang="en-US" altLang="en-US" dirty="0">
                <a:solidFill>
                  <a:schemeClr val="tx1"/>
                </a:solidFill>
              </a:rPr>
              <a:t> as possible!</a:t>
            </a:r>
          </a:p>
        </p:txBody>
      </p:sp>
    </p:spTree>
    <p:extLst>
      <p:ext uri="{BB962C8B-B14F-4D97-AF65-F5344CB8AC3E}">
        <p14:creationId xmlns:p14="http://schemas.microsoft.com/office/powerpoint/2010/main" val="317966284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2" y="734352"/>
            <a:ext cx="6763594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000" dirty="0">
                <a:latin typeface="Times New Roman" panose="02020603050405020304" pitchFamily="18" charset="0"/>
              </a:rPr>
              <a:t>Not synchronized example</a:t>
            </a: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8171" y="1543511"/>
            <a:ext cx="4384658" cy="5011038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47730" y="1757693"/>
            <a:ext cx="2645298" cy="97974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4945" y="3139671"/>
            <a:ext cx="2618083" cy="1072271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74945" y="4699147"/>
            <a:ext cx="2558210" cy="979740"/>
          </a:xfrm>
          <a:prstGeom prst="rect">
            <a:avLst/>
          </a:prstGeom>
        </p:spPr>
      </p:pic>
      <p:sp>
        <p:nvSpPr>
          <p:cNvPr id="7" name="Right Arrow 6"/>
          <p:cNvSpPr/>
          <p:nvPr/>
        </p:nvSpPr>
        <p:spPr>
          <a:xfrm>
            <a:off x="5891001" y="2194964"/>
            <a:ext cx="978408" cy="484632"/>
          </a:xfrm>
          <a:prstGeom prst="right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5579987" y="3390601"/>
            <a:ext cx="2239587" cy="28315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/>
              <a:t>Problem: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On Assembler level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One thread reads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Other one writes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Mixed up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Confusion</a:t>
            </a:r>
          </a:p>
          <a:p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1472750" y="4826899"/>
            <a:ext cx="2399289" cy="28322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734392" y="5391743"/>
            <a:ext cx="2399289" cy="28322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25D9C2AB-3794-75FA-310F-5C86AA62D057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.A_SimpleExamples.D_SimpleCounter_NotSynchronized</a:t>
            </a:r>
          </a:p>
        </p:txBody>
      </p:sp>
    </p:spTree>
    <p:extLst>
      <p:ext uri="{BB962C8B-B14F-4D97-AF65-F5344CB8AC3E}">
        <p14:creationId xmlns:p14="http://schemas.microsoft.com/office/powerpoint/2010/main" val="22073263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B7E6AA-57DD-8BCB-78C9-E18572E3D5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Title 1">
            <a:extLst>
              <a:ext uri="{FF2B5EF4-FFF2-40B4-BE49-F238E27FC236}">
                <a16:creationId xmlns:a16="http://schemas.microsoft.com/office/drawing/2014/main" id="{561F7DBA-23B5-9A49-8BB1-A88EE86AAC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733327"/>
            <a:ext cx="8151337" cy="715147"/>
          </a:xfrm>
          <a:ln>
            <a:miter lim="800000"/>
            <a:headEnd/>
            <a:tailEnd/>
          </a:ln>
        </p:spPr>
        <p:txBody>
          <a:bodyPr>
            <a:normAutofit fontScale="90000"/>
          </a:bodyPr>
          <a:lstStyle/>
          <a:p>
            <a:pPr eaLnBrk="1" hangingPunct="1"/>
            <a:r>
              <a:rPr lang="en-US" altLang="en-US" dirty="0"/>
              <a:t>Assembler Example – Race Condition</a:t>
            </a:r>
            <a:endParaRPr lang="en-US" altLang="en-US" i="1" dirty="0">
              <a:solidFill>
                <a:srgbClr val="00B050"/>
              </a:solidFill>
            </a:endParaRPr>
          </a:p>
        </p:txBody>
      </p:sp>
      <p:sp>
        <p:nvSpPr>
          <p:cNvPr id="35843" name="Content Placeholder 2">
            <a:extLst>
              <a:ext uri="{FF2B5EF4-FFF2-40B4-BE49-F238E27FC236}">
                <a16:creationId xmlns:a16="http://schemas.microsoft.com/office/drawing/2014/main" id="{9BEE6462-B755-A1C3-AE20-089A38741F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1323238"/>
            <a:ext cx="10400426" cy="4906274"/>
          </a:xfrm>
          <a:ln>
            <a:miter lim="800000"/>
            <a:headEnd/>
            <a:tailEnd/>
          </a:ln>
        </p:spPr>
        <p:txBody>
          <a:bodyPr/>
          <a:lstStyle/>
          <a:p>
            <a:pPr marL="0" indent="0" eaLnBrk="1" hangingPunct="1">
              <a:buNone/>
            </a:pPr>
            <a:r>
              <a:rPr lang="en-US" altLang="en-US" dirty="0">
                <a:solidFill>
                  <a:schemeClr val="tx1"/>
                </a:solidFill>
              </a:rPr>
              <a:t>ARM assembler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377817D-7FFE-D680-13C0-CF3BF6F2F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640" y="2070680"/>
            <a:ext cx="2871353" cy="45632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4D63A0F-2F07-79E4-ADE0-ED3F639735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6689" y="2098748"/>
            <a:ext cx="2848641" cy="45271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0A957DB7-27D1-7835-074A-304626E48F31}"/>
              </a:ext>
            </a:extLst>
          </p:cNvPr>
          <p:cNvSpPr/>
          <p:nvPr/>
        </p:nvSpPr>
        <p:spPr>
          <a:xfrm>
            <a:off x="7851008" y="3757859"/>
            <a:ext cx="1240843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AFCB1B8-7E30-6C72-3A20-7398F5427AA7}"/>
              </a:ext>
            </a:extLst>
          </p:cNvPr>
          <p:cNvSpPr/>
          <p:nvPr/>
        </p:nvSpPr>
        <p:spPr>
          <a:xfrm>
            <a:off x="2374316" y="3725780"/>
            <a:ext cx="1240843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19C72AE-874A-571F-4B59-85BA27CC11B0}"/>
              </a:ext>
            </a:extLst>
          </p:cNvPr>
          <p:cNvSpPr/>
          <p:nvPr/>
        </p:nvSpPr>
        <p:spPr>
          <a:xfrm>
            <a:off x="7851008" y="4439649"/>
            <a:ext cx="755572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FAFE4BC-C071-5CA6-7A3F-53DD05D36A9B}"/>
              </a:ext>
            </a:extLst>
          </p:cNvPr>
          <p:cNvSpPr/>
          <p:nvPr/>
        </p:nvSpPr>
        <p:spPr>
          <a:xfrm>
            <a:off x="2374316" y="4415591"/>
            <a:ext cx="755572" cy="18448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AB1531AA-19A5-E7D0-8A6A-A5CBC0AC5525}"/>
              </a:ext>
            </a:extLst>
          </p:cNvPr>
          <p:cNvSpPr/>
          <p:nvPr/>
        </p:nvSpPr>
        <p:spPr>
          <a:xfrm>
            <a:off x="1034716" y="6264700"/>
            <a:ext cx="8053137" cy="178556"/>
          </a:xfrm>
          <a:prstGeom prst="rect">
            <a:avLst/>
          </a:prstGeom>
          <a:noFill/>
          <a:ln w="19050">
            <a:solidFill>
              <a:srgbClr val="00B0F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F5E19C-80EF-5F67-3D95-526AD5C250B4}"/>
              </a:ext>
            </a:extLst>
          </p:cNvPr>
          <p:cNvSpPr txBox="1"/>
          <p:nvPr/>
        </p:nvSpPr>
        <p:spPr>
          <a:xfrm>
            <a:off x="4109227" y="5955520"/>
            <a:ext cx="19800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Shared Resource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C828D93-7C08-15F4-3DC6-9F52DC59CBB1}"/>
              </a:ext>
            </a:extLst>
          </p:cNvPr>
          <p:cNvSpPr txBox="1"/>
          <p:nvPr/>
        </p:nvSpPr>
        <p:spPr>
          <a:xfrm>
            <a:off x="7299148" y="1729416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CB108EA-6553-42C9-1256-25CC37805040}"/>
              </a:ext>
            </a:extLst>
          </p:cNvPr>
          <p:cNvSpPr txBox="1"/>
          <p:nvPr/>
        </p:nvSpPr>
        <p:spPr>
          <a:xfrm>
            <a:off x="1776656" y="1727010"/>
            <a:ext cx="104387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Thread1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98E1AE-CBDE-FFFF-2C4C-20BB8A924FEE}"/>
              </a:ext>
            </a:extLst>
          </p:cNvPr>
          <p:cNvSpPr txBox="1"/>
          <p:nvPr/>
        </p:nvSpPr>
        <p:spPr>
          <a:xfrm>
            <a:off x="3771795" y="3696566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Load the address from counter = $18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42485D-265A-0F2C-BD6A-54B315225254}"/>
              </a:ext>
            </a:extLst>
          </p:cNvPr>
          <p:cNvSpPr txBox="1"/>
          <p:nvPr/>
        </p:nvSpPr>
        <p:spPr>
          <a:xfrm>
            <a:off x="9202759" y="3717754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Load the address from counter = $18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6702B20-D698-FA83-1AB8-44CECCA79465}"/>
              </a:ext>
            </a:extLst>
          </p:cNvPr>
          <p:cNvSpPr txBox="1"/>
          <p:nvPr/>
        </p:nvSpPr>
        <p:spPr>
          <a:xfrm>
            <a:off x="3774662" y="3923501"/>
            <a:ext cx="269336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Load the value from address $18 = 12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CE49C6-AA85-124C-13FD-1845023C0BB6}"/>
              </a:ext>
            </a:extLst>
          </p:cNvPr>
          <p:cNvSpPr txBox="1"/>
          <p:nvPr/>
        </p:nvSpPr>
        <p:spPr>
          <a:xfrm>
            <a:off x="3771795" y="4362522"/>
            <a:ext cx="30460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Write value 13 back to what $18 is pointing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A551F2-3ECA-ABFB-18ED-98B0F6AA6752}"/>
              </a:ext>
            </a:extLst>
          </p:cNvPr>
          <p:cNvSpPr txBox="1"/>
          <p:nvPr/>
        </p:nvSpPr>
        <p:spPr>
          <a:xfrm>
            <a:off x="3743200" y="4137810"/>
            <a:ext cx="8563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13 = 12+ 1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DB1DCC-A9AE-4F66-CE85-EDA1ADAA4801}"/>
              </a:ext>
            </a:extLst>
          </p:cNvPr>
          <p:cNvSpPr txBox="1"/>
          <p:nvPr/>
        </p:nvSpPr>
        <p:spPr>
          <a:xfrm>
            <a:off x="9222267" y="4153981"/>
            <a:ext cx="856325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13 = 12+ 1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C3E8E5-8DDC-FDFE-3C10-21EEF25F8693}"/>
              </a:ext>
            </a:extLst>
          </p:cNvPr>
          <p:cNvSpPr txBox="1"/>
          <p:nvPr/>
        </p:nvSpPr>
        <p:spPr>
          <a:xfrm>
            <a:off x="9202746" y="3910264"/>
            <a:ext cx="265489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Load the address from counter = $18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71D8F4-AA0A-9318-FA51-1CFC21C4EE0A}"/>
              </a:ext>
            </a:extLst>
          </p:cNvPr>
          <p:cNvSpPr txBox="1"/>
          <p:nvPr/>
        </p:nvSpPr>
        <p:spPr>
          <a:xfrm>
            <a:off x="9224692" y="4401085"/>
            <a:ext cx="30460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>
                <a:solidFill>
                  <a:srgbClr val="00B050"/>
                </a:solidFill>
              </a:rPr>
              <a:t>Write value 13 back to what $18 is pointing</a:t>
            </a:r>
          </a:p>
        </p:txBody>
      </p:sp>
    </p:spTree>
    <p:extLst>
      <p:ext uri="{BB962C8B-B14F-4D97-AF65-F5344CB8AC3E}">
        <p14:creationId xmlns:p14="http://schemas.microsoft.com/office/powerpoint/2010/main" val="54516870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4073" y="1408014"/>
            <a:ext cx="3992759" cy="5209950"/>
          </a:xfrm>
          <a:prstGeom prst="rect">
            <a:avLst/>
          </a:prstGeom>
        </p:spPr>
      </p:pic>
      <p:sp>
        <p:nvSpPr>
          <p:cNvPr id="29699" name="Rectangle 2"/>
          <p:cNvSpPr>
            <a:spLocks noChangeArrowheads="1"/>
          </p:cNvSpPr>
          <p:nvPr/>
        </p:nvSpPr>
        <p:spPr bwMode="auto">
          <a:xfrm>
            <a:off x="911702" y="734352"/>
            <a:ext cx="6763594" cy="6736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2075" tIns="46038" rIns="92075" bIns="46038" anchor="b"/>
          <a:lstStyle>
            <a:lvl1pPr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 eaLnBrk="0" hangingPunct="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 eaLnBrk="0" hangingPunct="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 eaLnBrk="0" hangingPunct="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zh-CN" sz="4000" dirty="0">
                <a:latin typeface="Times New Roman" panose="02020603050405020304" pitchFamily="18" charset="0"/>
              </a:rPr>
              <a:t>Synchronized example</a:t>
            </a:r>
          </a:p>
        </p:txBody>
      </p:sp>
      <p:sp>
        <p:nvSpPr>
          <p:cNvPr id="7" name="Right Arrow 6"/>
          <p:cNvSpPr/>
          <p:nvPr/>
        </p:nvSpPr>
        <p:spPr>
          <a:xfrm>
            <a:off x="5988106" y="3133640"/>
            <a:ext cx="978408" cy="484632"/>
          </a:xfrm>
          <a:prstGeom prst="rightArrow">
            <a:avLst/>
          </a:prstGeom>
          <a:solidFill>
            <a:srgbClr val="92D050"/>
          </a:solidFill>
          <a:ln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468704" y="4984817"/>
            <a:ext cx="3374379" cy="28322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689476" y="5504432"/>
            <a:ext cx="2235161" cy="283221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218789" y="1784293"/>
            <a:ext cx="3037622" cy="574535"/>
          </a:xfrm>
          <a:prstGeom prst="rect">
            <a:avLst/>
          </a:prstGeom>
          <a:noFill/>
          <a:ln w="28575">
            <a:solidFill>
              <a:srgbClr val="92D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12466" y="2071560"/>
            <a:ext cx="2645298" cy="876323"/>
          </a:xfrm>
          <a:prstGeom prst="rect">
            <a:avLst/>
          </a:prstGeom>
        </p:spPr>
      </p:pic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1461" y="3313650"/>
            <a:ext cx="2797702" cy="1072271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96325" y="4875775"/>
            <a:ext cx="2590868" cy="99062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3C2B3F-6827-BFC7-FC8D-DF7EC0096879}"/>
              </a:ext>
            </a:extLst>
          </p:cNvPr>
          <p:cNvSpPr txBox="1">
            <a:spLocks/>
          </p:cNvSpPr>
          <p:nvPr/>
        </p:nvSpPr>
        <p:spPr>
          <a:xfrm>
            <a:off x="936515" y="14205"/>
            <a:ext cx="10240821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+mn-lt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+mn-lt"/>
                <a:ea typeface="+mn-ea"/>
              </a:rPr>
              <a:t>.A_SimpleExamples.E_SimpleCounter_Synchronized</a:t>
            </a:r>
          </a:p>
        </p:txBody>
      </p:sp>
    </p:spTree>
    <p:extLst>
      <p:ext uri="{BB962C8B-B14F-4D97-AF65-F5344CB8AC3E}">
        <p14:creationId xmlns:p14="http://schemas.microsoft.com/office/powerpoint/2010/main" val="211536480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Synchronized block:</a:t>
            </a:r>
          </a:p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Instead of set a whole function synchronized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A small block can be synchronized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Arial Narrow" panose="020B0604020202020204" pitchFamily="34" charset="0"/>
              <a:ea typeface="+mn-ea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Use synchronized as seldom and small as possible.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379318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Synchronized Block</a:t>
            </a:r>
          </a:p>
        </p:txBody>
      </p:sp>
    </p:spTree>
    <p:extLst>
      <p:ext uri="{BB962C8B-B14F-4D97-AF65-F5344CB8AC3E}">
        <p14:creationId xmlns:p14="http://schemas.microsoft.com/office/powerpoint/2010/main" val="338304325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3755" y="794017"/>
            <a:ext cx="5193714" cy="5617901"/>
          </a:xfrm>
          <a:prstGeom prst="rect">
            <a:avLst/>
          </a:prstGeom>
        </p:spPr>
      </p:pic>
      <p:sp>
        <p:nvSpPr>
          <p:cNvPr id="8" name="Content Placeholder 2"/>
          <p:cNvSpPr txBox="1">
            <a:spLocks/>
          </p:cNvSpPr>
          <p:nvPr/>
        </p:nvSpPr>
        <p:spPr>
          <a:xfrm>
            <a:off x="949465" y="1712816"/>
            <a:ext cx="10516949" cy="4922653"/>
          </a:xfrm>
          <a:prstGeom prst="rect">
            <a:avLst/>
          </a:prstGeom>
        </p:spPr>
        <p:txBody>
          <a:bodyPr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B30738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Arial Narrow" panose="020B0604020202020204" pitchFamily="34" charset="0"/>
                <a:ea typeface="+mn-ea"/>
              </a:rPr>
              <a:t>Example:</a:t>
            </a:r>
          </a:p>
        </p:txBody>
      </p:sp>
      <p:sp>
        <p:nvSpPr>
          <p:cNvPr id="9" name="Rectangle 2"/>
          <p:cNvSpPr txBox="1">
            <a:spLocks noChangeArrowheads="1"/>
          </p:cNvSpPr>
          <p:nvPr/>
        </p:nvSpPr>
        <p:spPr>
          <a:xfrm>
            <a:off x="936516" y="737373"/>
            <a:ext cx="5379318" cy="723239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b="1" i="0" kern="1200" baseline="0">
                <a:solidFill>
                  <a:schemeClr val="tx1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3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 pitchFamily="34" charset="0"/>
                <a:ea typeface="+mj-ea"/>
                <a:cs typeface="Arial" panose="020B0604020202020204" pitchFamily="34" charset="0"/>
              </a:rPr>
              <a:t>Synchronized Block</a:t>
            </a:r>
          </a:p>
        </p:txBody>
      </p:sp>
      <p:sp>
        <p:nvSpPr>
          <p:cNvPr id="4" name="Rectangle 3"/>
          <p:cNvSpPr/>
          <p:nvPr/>
        </p:nvSpPr>
        <p:spPr>
          <a:xfrm>
            <a:off x="6849908" y="1625827"/>
            <a:ext cx="1986595" cy="152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849907" y="4250344"/>
            <a:ext cx="2031101" cy="1476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315834" y="904287"/>
            <a:ext cx="2900994" cy="31760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985327" y="2791752"/>
            <a:ext cx="18646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Cannot be null!</a:t>
            </a:r>
          </a:p>
        </p:txBody>
      </p:sp>
      <p:cxnSp>
        <p:nvCxnSpPr>
          <p:cNvPr id="11" name="Straight Arrow Connector 10"/>
          <p:cNvCxnSpPr>
            <a:stCxn id="5" idx="3"/>
          </p:cNvCxnSpPr>
          <p:nvPr/>
        </p:nvCxnSpPr>
        <p:spPr>
          <a:xfrm flipV="1">
            <a:off x="5849940" y="1778227"/>
            <a:ext cx="2286602" cy="1198191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>
            <a:stCxn id="5" idx="3"/>
          </p:cNvCxnSpPr>
          <p:nvPr/>
        </p:nvCxnSpPr>
        <p:spPr>
          <a:xfrm>
            <a:off x="5849940" y="2976418"/>
            <a:ext cx="2250187" cy="126360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688864" y="878425"/>
            <a:ext cx="21082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Do not use String</a:t>
            </a:r>
          </a:p>
        </p:txBody>
      </p:sp>
      <p:cxnSp>
        <p:nvCxnSpPr>
          <p:cNvPr id="16" name="Straight Arrow Connector 15"/>
          <p:cNvCxnSpPr>
            <a:stCxn id="14" idx="1"/>
          </p:cNvCxnSpPr>
          <p:nvPr/>
        </p:nvCxnSpPr>
        <p:spPr>
          <a:xfrm flipH="1">
            <a:off x="9245150" y="1063091"/>
            <a:ext cx="44371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9658B122-CA92-AD9B-122B-A452B4A7510A}"/>
              </a:ext>
            </a:extLst>
          </p:cNvPr>
          <p:cNvSpPr txBox="1">
            <a:spLocks/>
          </p:cNvSpPr>
          <p:nvPr/>
        </p:nvSpPr>
        <p:spPr>
          <a:xfrm>
            <a:off x="936516" y="14205"/>
            <a:ext cx="9202096" cy="360606"/>
          </a:xfrm>
          <a:prstGeom prst="rect">
            <a:avLst/>
          </a:prstGeom>
          <a:ln w="28575">
            <a:solidFill>
              <a:srgbClr val="FF0000"/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600" b="0" i="0" kern="1200">
                <a:solidFill>
                  <a:srgbClr val="002060"/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accent2">
                    <a:lumMod val="7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buNone/>
              <a:defRPr/>
            </a:pP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CSEN160_07_Threads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.</a:t>
            </a:r>
            <a:r>
              <a:rPr lang="en-US" dirty="0">
                <a:solidFill>
                  <a:srgbClr val="FF0000"/>
                </a:solidFill>
                <a:latin typeface="Arial" panose="020B0604020202020204"/>
              </a:rPr>
              <a:t>F</a:t>
            </a:r>
            <a:r>
              <a:rPr kumimoji="0" lang="en-US" sz="26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</a:rPr>
              <a:t>_threadProblems.A_Deadlock</a:t>
            </a:r>
          </a:p>
        </p:txBody>
      </p:sp>
    </p:spTree>
    <p:extLst>
      <p:ext uri="{BB962C8B-B14F-4D97-AF65-F5344CB8AC3E}">
        <p14:creationId xmlns:p14="http://schemas.microsoft.com/office/powerpoint/2010/main" val="122608022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/>
              <a:t>Done</a:t>
            </a:r>
            <a:endParaRPr lang="en-US" dirty="0"/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453586173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1987</TotalTime>
  <Words>1730</Words>
  <Application>Microsoft Office PowerPoint</Application>
  <PresentationFormat>Widescreen</PresentationFormat>
  <Paragraphs>430</Paragraphs>
  <Slides>62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62</vt:i4>
      </vt:variant>
    </vt:vector>
  </HeadingPairs>
  <TitlesOfParts>
    <vt:vector size="72" baseType="lpstr">
      <vt:lpstr>Arial</vt:lpstr>
      <vt:lpstr>Arial Narrow</vt:lpstr>
      <vt:lpstr>Calibri</vt:lpstr>
      <vt:lpstr>Courier New</vt:lpstr>
      <vt:lpstr>Garamond</vt:lpstr>
      <vt:lpstr>Monotype Sorts</vt:lpstr>
      <vt:lpstr>Times New Roman</vt:lpstr>
      <vt:lpstr>SCUTemplate</vt:lpstr>
      <vt:lpstr>Custom Design</vt:lpstr>
      <vt:lpstr>1_SCUTemplate</vt:lpstr>
      <vt:lpstr>CSEN160</vt:lpstr>
      <vt:lpstr>Multithreading</vt:lpstr>
      <vt:lpstr>What are threads?</vt:lpstr>
      <vt:lpstr>What are threads?</vt:lpstr>
      <vt:lpstr>PowerPoint Presentation</vt:lpstr>
      <vt:lpstr>Advantages of multi-threaded programming</vt:lpstr>
      <vt:lpstr>Advantages of multi-threaded programming</vt:lpstr>
      <vt:lpstr>Advantages of multi-threaded programming</vt:lpstr>
      <vt:lpstr>Disadvantages of multi-threaded programming</vt:lpstr>
      <vt:lpstr>Disadvantages of multi-threaded programming</vt:lpstr>
      <vt:lpstr>Java Multithreading</vt:lpstr>
      <vt:lpstr>PowerPoint Presentation</vt:lpstr>
      <vt:lpstr>PowerPoint Presentation</vt:lpstr>
      <vt:lpstr>Creating and Running Threads</vt:lpstr>
      <vt:lpstr>Creating Threads - Two ways</vt:lpstr>
      <vt:lpstr>PowerPoint Presentation</vt:lpstr>
      <vt:lpstr>PowerPoint Presentation</vt:lpstr>
      <vt:lpstr>PowerPoint Presentation</vt:lpstr>
      <vt:lpstr>PowerPoint Presentation</vt:lpstr>
      <vt:lpstr>Bouncing Ball Example …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Thread States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Thread Java Implementation</vt:lpstr>
      <vt:lpstr>PowerPoint Presentation</vt:lpstr>
      <vt:lpstr>PowerPoint Presentation</vt:lpstr>
      <vt:lpstr>Thread Scheduling</vt:lpstr>
      <vt:lpstr>Thread Scheduling</vt:lpstr>
      <vt:lpstr>Thread Scheduling</vt:lpstr>
      <vt:lpstr>Thread Scheduling</vt:lpstr>
      <vt:lpstr>Thread Scheduling</vt:lpstr>
      <vt:lpstr>PowerPoint Presentation</vt:lpstr>
      <vt:lpstr>Sleep vs yield</vt:lpstr>
      <vt:lpstr>PowerPoint Presentation</vt:lpstr>
      <vt:lpstr>PowerPoint Presentation</vt:lpstr>
      <vt:lpstr>PowerPoint Presentation</vt:lpstr>
      <vt:lpstr>PowerPoint Presentation</vt:lpstr>
      <vt:lpstr>Wait and Notify</vt:lpstr>
      <vt:lpstr>Wait and Notify</vt:lpstr>
      <vt:lpstr>Wait and Notify</vt:lpstr>
      <vt:lpstr>Synchronization</vt:lpstr>
      <vt:lpstr>Thread join()</vt:lpstr>
      <vt:lpstr>Thread join()</vt:lpstr>
      <vt:lpstr>Synchronization</vt:lpstr>
      <vt:lpstr>Synchronization</vt:lpstr>
      <vt:lpstr>Thread Synchronization</vt:lpstr>
      <vt:lpstr>Thread Synchronization</vt:lpstr>
      <vt:lpstr>Java synchronized</vt:lpstr>
      <vt:lpstr>PowerPoint Presentation</vt:lpstr>
      <vt:lpstr>Assembler Example – Race Condition</vt:lpstr>
      <vt:lpstr>PowerPoint Presentation</vt:lpstr>
      <vt:lpstr>PowerPoint Presentation</vt:lpstr>
      <vt:lpstr>PowerPoint Presentation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241</cp:revision>
  <cp:lastPrinted>2023-09-11T21:46:56Z</cp:lastPrinted>
  <dcterms:created xsi:type="dcterms:W3CDTF">2023-09-09T19:51:41Z</dcterms:created>
  <dcterms:modified xsi:type="dcterms:W3CDTF">2026-08-21T22:42:43Z</dcterms:modified>
</cp:coreProperties>
</file>