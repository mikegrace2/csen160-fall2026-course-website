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notesMasterIdLst>
    <p:notesMasterId r:id="rId86"/>
  </p:notesMasterIdLst>
  <p:handoutMasterIdLst>
    <p:handoutMasterId r:id="rId87"/>
  </p:handoutMasterIdLst>
  <p:sldIdLst>
    <p:sldId id="333" r:id="rId3"/>
    <p:sldId id="426" r:id="rId4"/>
    <p:sldId id="338" r:id="rId5"/>
    <p:sldId id="407" r:id="rId6"/>
    <p:sldId id="339" r:id="rId7"/>
    <p:sldId id="340" r:id="rId8"/>
    <p:sldId id="341" r:id="rId9"/>
    <p:sldId id="342" r:id="rId10"/>
    <p:sldId id="424" r:id="rId11"/>
    <p:sldId id="425" r:id="rId12"/>
    <p:sldId id="404" r:id="rId13"/>
    <p:sldId id="346" r:id="rId14"/>
    <p:sldId id="347" r:id="rId15"/>
    <p:sldId id="348" r:id="rId16"/>
    <p:sldId id="349" r:id="rId17"/>
    <p:sldId id="350" r:id="rId18"/>
    <p:sldId id="351" r:id="rId19"/>
    <p:sldId id="405" r:id="rId20"/>
    <p:sldId id="354" r:id="rId21"/>
    <p:sldId id="412" r:id="rId22"/>
    <p:sldId id="355" r:id="rId23"/>
    <p:sldId id="356" r:id="rId24"/>
    <p:sldId id="409" r:id="rId25"/>
    <p:sldId id="382" r:id="rId26"/>
    <p:sldId id="383" r:id="rId27"/>
    <p:sldId id="414" r:id="rId28"/>
    <p:sldId id="384" r:id="rId29"/>
    <p:sldId id="415" r:id="rId30"/>
    <p:sldId id="385" r:id="rId31"/>
    <p:sldId id="408" r:id="rId32"/>
    <p:sldId id="380" r:id="rId33"/>
    <p:sldId id="420" r:id="rId34"/>
    <p:sldId id="381" r:id="rId35"/>
    <p:sldId id="423" r:id="rId36"/>
    <p:sldId id="386" r:id="rId37"/>
    <p:sldId id="388" r:id="rId38"/>
    <p:sldId id="406" r:id="rId39"/>
    <p:sldId id="357" r:id="rId40"/>
    <p:sldId id="358" r:id="rId41"/>
    <p:sldId id="413" r:id="rId42"/>
    <p:sldId id="359" r:id="rId43"/>
    <p:sldId id="360" r:id="rId44"/>
    <p:sldId id="361" r:id="rId45"/>
    <p:sldId id="362" r:id="rId46"/>
    <p:sldId id="363" r:id="rId47"/>
    <p:sldId id="364" r:id="rId48"/>
    <p:sldId id="430" r:id="rId49"/>
    <p:sldId id="418" r:id="rId50"/>
    <p:sldId id="427" r:id="rId51"/>
    <p:sldId id="367" r:id="rId52"/>
    <p:sldId id="365" r:id="rId53"/>
    <p:sldId id="366" r:id="rId54"/>
    <p:sldId id="370" r:id="rId55"/>
    <p:sldId id="431" r:id="rId56"/>
    <p:sldId id="368" r:id="rId57"/>
    <p:sldId id="419" r:id="rId58"/>
    <p:sldId id="429" r:id="rId59"/>
    <p:sldId id="371" r:id="rId60"/>
    <p:sldId id="432" r:id="rId61"/>
    <p:sldId id="433" r:id="rId62"/>
    <p:sldId id="372" r:id="rId63"/>
    <p:sldId id="416" r:id="rId64"/>
    <p:sldId id="373" r:id="rId65"/>
    <p:sldId id="376" r:id="rId66"/>
    <p:sldId id="374" r:id="rId67"/>
    <p:sldId id="411" r:id="rId68"/>
    <p:sldId id="397" r:id="rId69"/>
    <p:sldId id="398" r:id="rId70"/>
    <p:sldId id="399" r:id="rId71"/>
    <p:sldId id="400" r:id="rId72"/>
    <p:sldId id="428" r:id="rId73"/>
    <p:sldId id="401" r:id="rId74"/>
    <p:sldId id="434" r:id="rId75"/>
    <p:sldId id="378" r:id="rId76"/>
    <p:sldId id="379" r:id="rId77"/>
    <p:sldId id="410" r:id="rId78"/>
    <p:sldId id="390" r:id="rId79"/>
    <p:sldId id="391" r:id="rId80"/>
    <p:sldId id="392" r:id="rId81"/>
    <p:sldId id="393" r:id="rId82"/>
    <p:sldId id="395" r:id="rId83"/>
    <p:sldId id="394" r:id="rId84"/>
    <p:sldId id="336" r:id="rId85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668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792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viewProps" Target="viewProp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theme" Target="theme/theme1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handoutMaster" Target="handoutMasters/handoutMaster1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1034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B289B0-9BEC-4093-861C-76154CD68B5D}" type="datetimeFigureOut">
              <a:rPr lang="en-US"/>
              <a:pPr>
                <a:defRPr/>
              </a:pPr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136E94-7335-4773-A64D-0D46B1CA62E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64998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3" r:id="rId14"/>
    <p:sldLayoutId id="2147483685" r:id="rId15"/>
    <p:sldLayoutId id="2147483686" r:id="rId16"/>
    <p:sldLayoutId id="2147483687" r:id="rId17"/>
    <p:sldLayoutId id="214748368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s.utexas.edu/~mitra/csSpring2008/cs313/lectures/fileIO.html#:~:text=There%20are%20two%20types%20of,as%20a%20sequence%20of%20bytes." TargetMode="External"/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8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8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8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8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8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8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8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828810" cy="321480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Object-Oriented Analysis, Design and Programming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Michael Schimpf, PhD 	mschimpf@scu.edu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Department of Computer Science and Engineering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CSEN160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2782F-0722-7BB5-A8B3-6A378D5FA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7A2D8227-BD0A-E930-F046-E576E6A71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File I/O</a:t>
            </a:r>
          </a:p>
        </p:txBody>
      </p:sp>
    </p:spTree>
    <p:extLst>
      <p:ext uri="{BB962C8B-B14F-4D97-AF65-F5344CB8AC3E}">
        <p14:creationId xmlns:p14="http://schemas.microsoft.com/office/powerpoint/2010/main" val="3840110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9741"/>
            <a:ext cx="10417284" cy="605905"/>
          </a:xfrm>
        </p:spPr>
        <p:txBody>
          <a:bodyPr/>
          <a:lstStyle/>
          <a:p>
            <a:r>
              <a:rPr lang="en-US" dirty="0"/>
              <a:t>Classes File I/O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510709"/>
            <a:ext cx="4683403" cy="51288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Classes in the</a:t>
            </a:r>
            <a:r>
              <a:rPr lang="en-US" dirty="0">
                <a:solidFill>
                  <a:schemeClr val="tx1"/>
                </a:solidFill>
                <a:cs typeface="Courier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java.io</a:t>
            </a:r>
            <a:r>
              <a:rPr lang="en-US" sz="2000" dirty="0">
                <a:solidFill>
                  <a:schemeClr val="tx1"/>
                </a:solidFill>
                <a:cs typeface="Courier"/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package: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dirty="0">
                <a:solidFill>
                  <a:schemeClr val="tx1"/>
                </a:solidFill>
              </a:rPr>
              <a:t>For </a:t>
            </a:r>
            <a:r>
              <a:rPr lang="en-US" b="1" dirty="0">
                <a:solidFill>
                  <a:srgbClr val="92D050"/>
                </a:solidFill>
              </a:rPr>
              <a:t>character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streams</a:t>
            </a:r>
          </a:p>
          <a:p>
            <a:pPr lvl="2"/>
            <a:r>
              <a:rPr lang="en-US" dirty="0" err="1">
                <a:solidFill>
                  <a:schemeClr val="tx1"/>
                </a:solidFill>
                <a:latin typeface="Courier"/>
                <a:cs typeface="Courier"/>
              </a:rPr>
              <a:t>FileReader</a:t>
            </a:r>
            <a:endParaRPr lang="en-US" dirty="0">
              <a:solidFill>
                <a:schemeClr val="tx1"/>
              </a:solidFill>
              <a:latin typeface="Courier"/>
              <a:cs typeface="Courier"/>
            </a:endParaRPr>
          </a:p>
          <a:p>
            <a:pPr lvl="2"/>
            <a:r>
              <a:rPr lang="en-US" dirty="0" err="1">
                <a:solidFill>
                  <a:schemeClr val="tx1"/>
                </a:solidFill>
                <a:latin typeface="Courier"/>
                <a:cs typeface="Courier"/>
              </a:rPr>
              <a:t>FileWriter</a:t>
            </a:r>
            <a:endParaRPr lang="en-US" dirty="0">
              <a:solidFill>
                <a:schemeClr val="tx1"/>
              </a:solidFill>
              <a:latin typeface="Courier"/>
              <a:cs typeface="Courier"/>
            </a:endParaRPr>
          </a:p>
          <a:p>
            <a:pPr lvl="2"/>
            <a:r>
              <a:rPr lang="en-US" dirty="0" err="1">
                <a:solidFill>
                  <a:schemeClr val="tx1"/>
                </a:solidFill>
                <a:latin typeface="Courier"/>
                <a:cs typeface="Courier"/>
              </a:rPr>
              <a:t>BufferedReader</a:t>
            </a:r>
            <a:endParaRPr lang="en-US" dirty="0">
              <a:solidFill>
                <a:schemeClr val="tx1"/>
              </a:solidFill>
              <a:latin typeface="Courier"/>
              <a:cs typeface="Courier"/>
            </a:endParaRPr>
          </a:p>
          <a:p>
            <a:pPr lvl="2"/>
            <a:r>
              <a:rPr lang="en-US" dirty="0" err="1">
                <a:solidFill>
                  <a:schemeClr val="tx1"/>
                </a:solidFill>
                <a:latin typeface="Courier"/>
                <a:cs typeface="Courier"/>
              </a:rPr>
              <a:t>BufferedWriter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en-US" dirty="0"/>
              <a:t> 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077656" y="1481038"/>
            <a:ext cx="4683403" cy="5128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>
                <a:solidFill>
                  <a:schemeClr val="tx1"/>
                </a:solidFill>
              </a:rPr>
              <a:t>For </a:t>
            </a:r>
            <a:r>
              <a:rPr lang="en-US" b="1" dirty="0">
                <a:solidFill>
                  <a:srgbClr val="00B0F0"/>
                </a:solidFill>
              </a:rPr>
              <a:t>binary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streams</a:t>
            </a:r>
          </a:p>
          <a:p>
            <a:pPr lvl="2"/>
            <a:r>
              <a:rPr lang="en-US" dirty="0" err="1">
                <a:solidFill>
                  <a:schemeClr val="tx1"/>
                </a:solidFill>
                <a:latin typeface="Courier"/>
                <a:cs typeface="Courier"/>
              </a:rPr>
              <a:t>FileInputStream</a:t>
            </a:r>
            <a:endParaRPr lang="en-US" dirty="0">
              <a:solidFill>
                <a:schemeClr val="tx1"/>
              </a:solidFill>
              <a:latin typeface="Courier"/>
              <a:cs typeface="Courier"/>
            </a:endParaRPr>
          </a:p>
          <a:p>
            <a:pPr lvl="2"/>
            <a:r>
              <a:rPr lang="en-US" dirty="0" err="1">
                <a:solidFill>
                  <a:schemeClr val="tx1"/>
                </a:solidFill>
                <a:latin typeface="Courier"/>
                <a:cs typeface="Courier"/>
              </a:rPr>
              <a:t>FileOutputStream</a:t>
            </a:r>
            <a:endParaRPr lang="en-US" dirty="0">
              <a:solidFill>
                <a:schemeClr val="tx1"/>
              </a:solidFill>
              <a:latin typeface="Courier"/>
              <a:cs typeface="Courier"/>
            </a:endParaRPr>
          </a:p>
          <a:p>
            <a:pPr lvl="2"/>
            <a:r>
              <a:rPr lang="en-US" dirty="0" err="1">
                <a:solidFill>
                  <a:schemeClr val="tx1"/>
                </a:solidFill>
                <a:latin typeface="Courier"/>
                <a:cs typeface="Courier"/>
              </a:rPr>
              <a:t>BufferedInputStream</a:t>
            </a:r>
            <a:endParaRPr lang="en-US" dirty="0">
              <a:solidFill>
                <a:schemeClr val="tx1"/>
              </a:solidFill>
              <a:latin typeface="Courier"/>
              <a:cs typeface="Courier"/>
            </a:endParaRPr>
          </a:p>
          <a:p>
            <a:pPr lvl="2"/>
            <a:r>
              <a:rPr lang="en-US" dirty="0" err="1">
                <a:solidFill>
                  <a:schemeClr val="tx1"/>
                </a:solidFill>
                <a:latin typeface="Courier"/>
                <a:cs typeface="Courier"/>
              </a:rPr>
              <a:t>BufferedOutputStream</a:t>
            </a:r>
            <a:endParaRPr lang="en-US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dirty="0">
                <a:solidFill>
                  <a:schemeClr val="tx1"/>
                </a:solidFill>
              </a:rPr>
              <a:t>For</a:t>
            </a:r>
            <a:r>
              <a:rPr lang="en-US" dirty="0"/>
              <a:t> </a:t>
            </a:r>
            <a:r>
              <a:rPr lang="en-US" b="1" dirty="0">
                <a:solidFill>
                  <a:srgbClr val="FFC000"/>
                </a:solidFill>
              </a:rPr>
              <a:t>random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access</a:t>
            </a:r>
          </a:p>
          <a:p>
            <a:pPr lvl="2"/>
            <a:r>
              <a:rPr lang="en-US" dirty="0" err="1">
                <a:solidFill>
                  <a:schemeClr val="tx1"/>
                </a:solidFill>
                <a:latin typeface="Courier"/>
                <a:cs typeface="Courier"/>
              </a:rPr>
              <a:t>RandomAccessFile</a:t>
            </a:r>
            <a:endParaRPr lang="en-US" dirty="0">
              <a:solidFill>
                <a:schemeClr val="tx1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671283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FileReader</a:t>
            </a:r>
            <a:r>
              <a:rPr lang="en-US" altLang="en-US" dirty="0"/>
              <a:t> &amp; </a:t>
            </a:r>
            <a:r>
              <a:rPr lang="en-US" altLang="en-US" dirty="0" err="1"/>
              <a:t>FileWriter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04025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700" y="761649"/>
            <a:ext cx="4404227" cy="650411"/>
          </a:xfrm>
        </p:spPr>
        <p:txBody>
          <a:bodyPr/>
          <a:lstStyle/>
          <a:p>
            <a:r>
              <a:rPr lang="en-US" dirty="0"/>
              <a:t>Class </a:t>
            </a:r>
            <a:r>
              <a:rPr lang="en-US" dirty="0" err="1">
                <a:latin typeface="Courier"/>
                <a:cs typeface="Courier"/>
              </a:rPr>
              <a:t>FileReader</a:t>
            </a:r>
            <a:endParaRPr lang="en-US" dirty="0">
              <a:latin typeface="Courier"/>
              <a:cs typeface="Courier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700" y="1460613"/>
            <a:ext cx="10404472" cy="518294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Used to read/write text files.</a:t>
            </a:r>
          </a:p>
          <a:p>
            <a:r>
              <a:rPr lang="en-US" b="1" dirty="0">
                <a:solidFill>
                  <a:schemeClr val="tx1"/>
                </a:solidFill>
              </a:rPr>
              <a:t>Sequential</a:t>
            </a:r>
            <a:r>
              <a:rPr lang="en-US" dirty="0">
                <a:solidFill>
                  <a:schemeClr val="tx1"/>
                </a:solidFill>
              </a:rPr>
              <a:t> access.</a:t>
            </a:r>
          </a:p>
          <a:p>
            <a:r>
              <a:rPr lang="en-US" dirty="0">
                <a:solidFill>
                  <a:schemeClr val="tx1"/>
                </a:solidFill>
              </a:rPr>
              <a:t>Method </a:t>
            </a:r>
            <a:r>
              <a:rPr lang="en-US" dirty="0">
                <a:solidFill>
                  <a:schemeClr val="tx1"/>
                </a:solidFill>
                <a:latin typeface="Courier"/>
                <a:cs typeface="Courier"/>
              </a:rPr>
              <a:t>read</a:t>
            </a:r>
            <a:r>
              <a:rPr lang="en-US" dirty="0">
                <a:solidFill>
                  <a:schemeClr val="tx1"/>
                </a:solidFill>
              </a:rPr>
              <a:t> returns the value </a:t>
            </a:r>
            <a:r>
              <a:rPr lang="en-US" b="1" dirty="0">
                <a:solidFill>
                  <a:schemeClr val="tx1"/>
                </a:solidFill>
              </a:rPr>
              <a:t>-1</a:t>
            </a:r>
            <a:r>
              <a:rPr lang="en-US" dirty="0">
                <a:solidFill>
                  <a:schemeClr val="tx1"/>
                </a:solidFill>
              </a:rPr>
              <a:t> (called </a:t>
            </a:r>
            <a:r>
              <a:rPr lang="en-US" b="1" dirty="0">
                <a:solidFill>
                  <a:schemeClr val="tx1"/>
                </a:solidFill>
              </a:rPr>
              <a:t>end-of-file or EOF</a:t>
            </a:r>
            <a:r>
              <a:rPr lang="en-US" dirty="0">
                <a:solidFill>
                  <a:schemeClr val="tx1"/>
                </a:solidFill>
              </a:rPr>
              <a:t>).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en-US" dirty="0"/>
              <a:t>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3353772"/>
            <a:ext cx="5867400" cy="27422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505200" y="4342726"/>
            <a:ext cx="2335226" cy="965649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20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235" y="772789"/>
            <a:ext cx="4075689" cy="550258"/>
          </a:xfrm>
        </p:spPr>
        <p:txBody>
          <a:bodyPr>
            <a:normAutofit fontScale="90000"/>
          </a:bodyPr>
          <a:lstStyle/>
          <a:p>
            <a:r>
              <a:rPr lang="en-US" dirty="0"/>
              <a:t>Class </a:t>
            </a:r>
            <a:r>
              <a:rPr lang="en-US" dirty="0" err="1">
                <a:latin typeface="Courier"/>
                <a:cs typeface="Courier"/>
              </a:rPr>
              <a:t>FileWriter</a:t>
            </a:r>
            <a:endParaRPr lang="en-US" dirty="0">
              <a:latin typeface="Courier"/>
              <a:cs typeface="Courier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9234" y="1476978"/>
            <a:ext cx="10423891" cy="517872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Text files.</a:t>
            </a:r>
          </a:p>
          <a:p>
            <a:r>
              <a:rPr lang="en-US" dirty="0">
                <a:solidFill>
                  <a:schemeClr val="tx1"/>
                </a:solidFill>
              </a:rPr>
              <a:t>File is created, if it does not exist.</a:t>
            </a:r>
          </a:p>
          <a:p>
            <a:r>
              <a:rPr lang="en-US" dirty="0">
                <a:solidFill>
                  <a:schemeClr val="tx1"/>
                </a:solidFill>
              </a:rPr>
              <a:t>If the file exists, its content are </a:t>
            </a:r>
            <a:r>
              <a:rPr lang="en-US" b="1" dirty="0">
                <a:solidFill>
                  <a:srgbClr val="FF0000"/>
                </a:solidFill>
              </a:rPr>
              <a:t>erased</a:t>
            </a:r>
            <a:r>
              <a:rPr lang="en-US" dirty="0"/>
              <a:t>. </a:t>
            </a:r>
          </a:p>
          <a:p>
            <a:r>
              <a:rPr lang="en-US" dirty="0">
                <a:solidFill>
                  <a:schemeClr val="tx1"/>
                </a:solidFill>
              </a:rPr>
              <a:t>To </a:t>
            </a:r>
            <a:r>
              <a:rPr lang="en-US" b="1" i="1" dirty="0">
                <a:solidFill>
                  <a:schemeClr val="tx1"/>
                </a:solidFill>
              </a:rPr>
              <a:t>append data</a:t>
            </a:r>
            <a:r>
              <a:rPr lang="en-US" i="1" dirty="0">
                <a:solidFill>
                  <a:schemeClr val="tx1"/>
                </a:solidFill>
              </a:rPr>
              <a:t>,</a:t>
            </a:r>
            <a:r>
              <a:rPr lang="en-US" dirty="0">
                <a:solidFill>
                  <a:schemeClr val="tx1"/>
                </a:solidFill>
              </a:rPr>
              <a:t> use constructor: </a:t>
            </a:r>
            <a:r>
              <a:rPr lang="en-US" sz="1800" dirty="0" err="1">
                <a:solidFill>
                  <a:schemeClr val="tx1"/>
                </a:solidFill>
                <a:latin typeface="Courier"/>
                <a:cs typeface="Courier"/>
              </a:rPr>
              <a:t>FileWriter</a:t>
            </a:r>
            <a:r>
              <a:rPr lang="en-US" sz="1800" dirty="0">
                <a:solidFill>
                  <a:schemeClr val="tx1"/>
                </a:solidFill>
                <a:latin typeface="Courier"/>
                <a:cs typeface="Courier"/>
              </a:rPr>
              <a:t>(</a:t>
            </a:r>
            <a:r>
              <a:rPr lang="en-US" sz="1800" i="1" dirty="0">
                <a:solidFill>
                  <a:schemeClr val="tx1"/>
                </a:solidFill>
              </a:rPr>
              <a:t>filename</a:t>
            </a:r>
            <a:r>
              <a:rPr lang="en-US" sz="1800" dirty="0">
                <a:solidFill>
                  <a:schemeClr val="tx1"/>
                </a:solidFill>
              </a:rPr>
              <a:t>, </a:t>
            </a:r>
            <a:r>
              <a:rPr lang="en-US" sz="1800" dirty="0">
                <a:solidFill>
                  <a:schemeClr val="tx1"/>
                </a:solidFill>
                <a:latin typeface="Courier"/>
                <a:cs typeface="Courier"/>
              </a:rPr>
              <a:t>true)</a:t>
            </a:r>
          </a:p>
          <a:p>
            <a:pPr lvl="1">
              <a:buNone/>
            </a:pPr>
            <a:endParaRPr lang="en-US" dirty="0">
              <a:latin typeface="Courier"/>
              <a:cs typeface="Courier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en-US" dirty="0"/>
              <a:t>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694" y="3455299"/>
            <a:ext cx="5605956" cy="3200400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H="1">
            <a:off x="6287512" y="3163986"/>
            <a:ext cx="1282587" cy="1294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603694" y="4867359"/>
            <a:ext cx="2335226" cy="1351370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857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From a File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en-US" dirty="0"/>
              <a:t>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2209800"/>
            <a:ext cx="6442302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668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9511"/>
            <a:ext cx="3987488" cy="662549"/>
          </a:xfrm>
        </p:spPr>
        <p:txBody>
          <a:bodyPr>
            <a:normAutofit/>
          </a:bodyPr>
          <a:lstStyle/>
          <a:p>
            <a:r>
              <a:rPr lang="en-US" dirty="0"/>
              <a:t>IntelliJ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822253"/>
            <a:ext cx="10388288" cy="480917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A text file called </a:t>
            </a:r>
            <a:r>
              <a:rPr lang="en-US" sz="2000" dirty="0">
                <a:solidFill>
                  <a:schemeClr val="tx1"/>
                </a:solidFill>
                <a:latin typeface="Courier"/>
                <a:cs typeface="Courier"/>
              </a:rPr>
              <a:t>info.txt</a:t>
            </a:r>
            <a:r>
              <a:rPr lang="en-US" sz="2000" dirty="0">
                <a:solidFill>
                  <a:schemeClr val="tx1"/>
                </a:solidFill>
              </a:rPr>
              <a:t> which </a:t>
            </a:r>
            <a:r>
              <a:rPr lang="en-US" dirty="0">
                <a:solidFill>
                  <a:schemeClr val="tx1"/>
                </a:solidFill>
              </a:rPr>
              <a:t>contains: 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“Audio files can be stored in a variety of formats such as wav, wma, mp3, </a:t>
            </a:r>
            <a:r>
              <a:rPr lang="en-US" dirty="0" err="1">
                <a:solidFill>
                  <a:schemeClr val="tx1"/>
                </a:solidFill>
              </a:rPr>
              <a:t>aiff</a:t>
            </a:r>
            <a:r>
              <a:rPr lang="en-US" dirty="0">
                <a:solidFill>
                  <a:schemeClr val="tx1"/>
                </a:solidFill>
              </a:rPr>
              <a:t>, au and many others.”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Programs: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914400" lvl="1" indent="-457200">
              <a:buFont typeface="+mj-lt"/>
              <a:buAutoNum type="alphaLcParenR"/>
            </a:pPr>
            <a:r>
              <a:rPr lang="en-US" dirty="0">
                <a:solidFill>
                  <a:schemeClr val="tx1"/>
                </a:solidFill>
              </a:rPr>
              <a:t>Print out each character of </a:t>
            </a:r>
            <a:r>
              <a:rPr lang="en-US" sz="1600" dirty="0">
                <a:solidFill>
                  <a:schemeClr val="tx1"/>
                </a:solidFill>
                <a:latin typeface="Courier"/>
                <a:cs typeface="Courier"/>
              </a:rPr>
              <a:t>info.txt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on the console.</a:t>
            </a:r>
          </a:p>
          <a:p>
            <a:pPr marL="914400" lvl="1" indent="-457200">
              <a:buFont typeface="+mj-lt"/>
              <a:buAutoNum type="alphaLcParenR"/>
            </a:pPr>
            <a:endParaRPr lang="en-US" dirty="0">
              <a:solidFill>
                <a:schemeClr val="tx1"/>
              </a:solidFill>
            </a:endParaRPr>
          </a:p>
          <a:p>
            <a:pPr marL="914400" lvl="1" indent="-457200">
              <a:buFont typeface="+mj-lt"/>
              <a:buAutoNum type="alphaLcParenR"/>
            </a:pPr>
            <a:r>
              <a:rPr lang="en-US" dirty="0">
                <a:solidFill>
                  <a:schemeClr val="tx1"/>
                </a:solidFill>
              </a:rPr>
              <a:t>Copy the contents of </a:t>
            </a:r>
            <a:r>
              <a:rPr lang="en-US" sz="1600" dirty="0">
                <a:solidFill>
                  <a:schemeClr val="tx1"/>
                </a:solidFill>
                <a:latin typeface="Courier"/>
                <a:cs typeface="Courier"/>
              </a:rPr>
              <a:t>info.txt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to a new file called </a:t>
            </a:r>
            <a:r>
              <a:rPr lang="en-US" sz="1600" dirty="0">
                <a:solidFill>
                  <a:schemeClr val="tx1"/>
                </a:solidFill>
                <a:latin typeface="Courier"/>
                <a:cs typeface="Courier"/>
              </a:rPr>
              <a:t>copyOfInfo.txt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en-US" dirty="0"/>
              <a:t>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CF73B2B-7949-1CDC-F9EB-24B58311D110}"/>
              </a:ext>
            </a:extLst>
          </p:cNvPr>
          <p:cNvSpPr txBox="1">
            <a:spLocks/>
          </p:cNvSpPr>
          <p:nvPr/>
        </p:nvSpPr>
        <p:spPr>
          <a:xfrm>
            <a:off x="936516" y="0"/>
            <a:ext cx="7391328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“CSEN160_06_Lecture_FileIO_AdvancedFileIO_Serialize.scu.csen160.</a:t>
            </a:r>
            <a:r>
              <a:rPr lang="en-US" dirty="0" err="1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A_FileReaderExample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88080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3508C-6099-A64B-5DD1-6F3068824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3CC69-377D-D63E-DEDB-99A2E045A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49511"/>
            <a:ext cx="3987488" cy="662549"/>
          </a:xfrm>
        </p:spPr>
        <p:txBody>
          <a:bodyPr>
            <a:normAutofit/>
          </a:bodyPr>
          <a:lstStyle/>
          <a:p>
            <a:r>
              <a:rPr lang="en-US" dirty="0"/>
              <a:t>IntelliJ example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92CBBB-69D2-A51E-1C8A-580BD6A9A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CFCC41-6060-08E0-96DE-04003F4D4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en-US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02BAF1-945A-684E-5696-3DBEA3BE6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698" y="1355558"/>
            <a:ext cx="6740785" cy="517758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AAA131E-B52F-5BFB-3915-6727F1BA7B50}"/>
              </a:ext>
            </a:extLst>
          </p:cNvPr>
          <p:cNvSpPr txBox="1">
            <a:spLocks/>
          </p:cNvSpPr>
          <p:nvPr/>
        </p:nvSpPr>
        <p:spPr>
          <a:xfrm>
            <a:off x="936516" y="0"/>
            <a:ext cx="7391328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“CSEN160_06_Lecture_FileIO_AdvancedFileIO_Serialize.scu.csen160.</a:t>
            </a:r>
            <a:r>
              <a:rPr lang="en-US" dirty="0" err="1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A_FileReaderExample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”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0F688B-4A42-CE08-A3C3-36331ACB3077}"/>
              </a:ext>
            </a:extLst>
          </p:cNvPr>
          <p:cNvSpPr/>
          <p:nvPr/>
        </p:nvSpPr>
        <p:spPr>
          <a:xfrm>
            <a:off x="3831878" y="3838248"/>
            <a:ext cx="3779655" cy="437419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85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AE62A-72A4-946E-8C51-7FB12DA29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B2C6-AAAF-A882-5834-CD3AD5AA2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49511"/>
            <a:ext cx="3987488" cy="662549"/>
          </a:xfrm>
        </p:spPr>
        <p:txBody>
          <a:bodyPr>
            <a:normAutofit/>
          </a:bodyPr>
          <a:lstStyle/>
          <a:p>
            <a:r>
              <a:rPr lang="en-US" dirty="0"/>
              <a:t>IntelliJ example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93592A-836F-3F93-A3C9-3C8D608E7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1E1F10-8C41-FC94-705D-F14033A3B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23041A-109F-8505-97E7-52479546A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316" y="1383630"/>
            <a:ext cx="6049116" cy="5201593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E690180-DAF5-7925-5C9A-69CB61CC0789}"/>
              </a:ext>
            </a:extLst>
          </p:cNvPr>
          <p:cNvSpPr txBox="1">
            <a:spLocks/>
          </p:cNvSpPr>
          <p:nvPr/>
        </p:nvSpPr>
        <p:spPr>
          <a:xfrm>
            <a:off x="936516" y="0"/>
            <a:ext cx="8627079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“CSEN160_06_Lecture_FileIO_AdvancedFileIO_Serialize.scu.csen160.</a:t>
            </a: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B_FileReaderFileWriterExample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”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3D3100-DEA1-73B0-2424-CDF509BDA46E}"/>
              </a:ext>
            </a:extLst>
          </p:cNvPr>
          <p:cNvSpPr/>
          <p:nvPr/>
        </p:nvSpPr>
        <p:spPr>
          <a:xfrm>
            <a:off x="4052012" y="3728181"/>
            <a:ext cx="3051522" cy="361219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3528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BufferedReader</a:t>
            </a:r>
            <a:r>
              <a:rPr lang="en-US" altLang="en-US" dirty="0"/>
              <a:t> &amp; </a:t>
            </a:r>
            <a:r>
              <a:rPr lang="en-US" altLang="en-US" dirty="0" err="1"/>
              <a:t>BufferedWriter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61481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1649"/>
            <a:ext cx="5577572" cy="686825"/>
          </a:xfrm>
        </p:spPr>
        <p:txBody>
          <a:bodyPr>
            <a:normAutofit/>
          </a:bodyPr>
          <a:lstStyle/>
          <a:p>
            <a:r>
              <a:rPr lang="en-US" dirty="0">
                <a:latin typeface="+mn-lt"/>
                <a:cs typeface="Courier"/>
              </a:rPr>
              <a:t>Class </a:t>
            </a:r>
            <a:r>
              <a:rPr lang="en-US" dirty="0" err="1">
                <a:latin typeface="Courier"/>
                <a:cs typeface="Courier"/>
              </a:rPr>
              <a:t>BufferedReader</a:t>
            </a:r>
            <a:endParaRPr lang="en-US" dirty="0">
              <a:latin typeface="Courier"/>
              <a:cs typeface="Courier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19951"/>
            <a:ext cx="10404472" cy="5023609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Optimizes reading from a stream of type </a:t>
            </a:r>
            <a:r>
              <a:rPr lang="en-US" sz="1946" dirty="0">
                <a:solidFill>
                  <a:schemeClr val="tx1"/>
                </a:solidFill>
                <a:latin typeface="Courier"/>
                <a:cs typeface="Courier"/>
              </a:rPr>
              <a:t>Reader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A </a:t>
            </a:r>
            <a:r>
              <a:rPr lang="en-US" sz="2000" b="1" dirty="0" err="1">
                <a:solidFill>
                  <a:schemeClr val="tx1"/>
                </a:solidFill>
                <a:latin typeface="Courier"/>
                <a:cs typeface="Courier"/>
              </a:rPr>
              <a:t>BufferedReader</a:t>
            </a:r>
            <a:r>
              <a:rPr lang="en-US" b="1" dirty="0">
                <a:solidFill>
                  <a:schemeClr val="tx1"/>
                </a:solidFill>
              </a:rPr>
              <a:t>: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b="1" dirty="0">
                <a:solidFill>
                  <a:schemeClr val="tx1"/>
                </a:solidFill>
              </a:rPr>
              <a:t>Get a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fixed</a:t>
            </a:r>
            <a:r>
              <a:rPr lang="en-US" b="1" dirty="0"/>
              <a:t> </a:t>
            </a:r>
            <a:r>
              <a:rPr lang="en-US" b="1" dirty="0">
                <a:solidFill>
                  <a:schemeClr val="tx1"/>
                </a:solidFill>
              </a:rPr>
              <a:t>number</a:t>
            </a:r>
            <a:r>
              <a:rPr lang="en-US" dirty="0">
                <a:solidFill>
                  <a:schemeClr val="tx1"/>
                </a:solidFill>
              </a:rPr>
              <a:t> of characters (at a time). 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Program reads from </a:t>
            </a:r>
            <a:r>
              <a:rPr lang="en-US" b="1" dirty="0">
                <a:solidFill>
                  <a:schemeClr val="tx1"/>
                </a:solidFill>
              </a:rPr>
              <a:t>buffer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When </a:t>
            </a:r>
            <a:r>
              <a:rPr lang="en-US" b="1" dirty="0">
                <a:solidFill>
                  <a:schemeClr val="tx1"/>
                </a:solidFill>
              </a:rPr>
              <a:t>all data in buffer has been </a:t>
            </a:r>
            <a:r>
              <a:rPr lang="en-US" b="1" dirty="0">
                <a:solidFill>
                  <a:srgbClr val="00B050"/>
                </a:solidFill>
              </a:rPr>
              <a:t>read</a:t>
            </a:r>
            <a:r>
              <a:rPr lang="en-US" dirty="0">
                <a:solidFill>
                  <a:schemeClr val="tx1"/>
                </a:solidFill>
              </a:rPr>
              <a:t>, the buffer will be </a:t>
            </a:r>
            <a:r>
              <a:rPr lang="en-US" b="1" dirty="0">
                <a:solidFill>
                  <a:srgbClr val="00B050"/>
                </a:solidFill>
              </a:rPr>
              <a:t>refilled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  <a:p>
            <a:pPr lvl="1"/>
            <a:endParaRPr lang="en-US" dirty="0"/>
          </a:p>
          <a:p>
            <a:pPr lvl="1"/>
            <a:r>
              <a:rPr lang="en-US" dirty="0">
                <a:solidFill>
                  <a:schemeClr val="tx1"/>
                </a:solidFill>
              </a:rPr>
              <a:t>Reduces the number of times the </a:t>
            </a:r>
            <a:r>
              <a:rPr lang="en-US" b="1" dirty="0">
                <a:solidFill>
                  <a:schemeClr val="tx1"/>
                </a:solidFill>
              </a:rPr>
              <a:t>disk is </a:t>
            </a:r>
            <a:r>
              <a:rPr lang="en-US" b="1" dirty="0">
                <a:solidFill>
                  <a:srgbClr val="FF0000"/>
                </a:solidFill>
              </a:rPr>
              <a:t>accessed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59554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3557"/>
            <a:ext cx="5618033" cy="678733"/>
          </a:xfrm>
        </p:spPr>
        <p:txBody>
          <a:bodyPr>
            <a:normAutofit/>
          </a:bodyPr>
          <a:lstStyle/>
          <a:p>
            <a:r>
              <a:rPr lang="en-US" dirty="0">
                <a:latin typeface="+mn-lt"/>
                <a:cs typeface="Courier"/>
              </a:rPr>
              <a:t>Class </a:t>
            </a:r>
            <a:r>
              <a:rPr lang="en-US" dirty="0" err="1">
                <a:latin typeface="Courier"/>
                <a:cs typeface="Courier"/>
              </a:rPr>
              <a:t>BufferedWriter</a:t>
            </a:r>
            <a:endParaRPr lang="en-US" dirty="0">
              <a:latin typeface="Courier"/>
              <a:cs typeface="Courier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64457"/>
            <a:ext cx="10404472" cy="49629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Optimizes writing to a stream of type </a:t>
            </a:r>
            <a:r>
              <a:rPr lang="en-US" sz="1946" dirty="0">
                <a:solidFill>
                  <a:schemeClr val="tx1"/>
                </a:solidFill>
                <a:latin typeface="Courier"/>
                <a:cs typeface="Courier"/>
              </a:rPr>
              <a:t>Writer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A </a:t>
            </a:r>
            <a:r>
              <a:rPr lang="en-US" sz="2000" b="1" dirty="0" err="1">
                <a:solidFill>
                  <a:schemeClr val="tx1"/>
                </a:solidFill>
                <a:latin typeface="Courier"/>
                <a:cs typeface="Courier"/>
              </a:rPr>
              <a:t>BufferedWriter</a:t>
            </a:r>
            <a:r>
              <a:rPr lang="en-US" b="1" dirty="0">
                <a:solidFill>
                  <a:schemeClr val="tx1"/>
                </a:solidFill>
              </a:rPr>
              <a:t>: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Writes each character to a </a:t>
            </a:r>
            <a:r>
              <a:rPr lang="en-US" b="1" dirty="0">
                <a:solidFill>
                  <a:srgbClr val="00B050"/>
                </a:solidFill>
              </a:rPr>
              <a:t>buffer</a:t>
            </a:r>
            <a:endParaRPr lang="en-US" dirty="0">
              <a:solidFill>
                <a:srgbClr val="00B050"/>
              </a:solidFill>
            </a:endParaRPr>
          </a:p>
          <a:p>
            <a:pPr lvl="1"/>
            <a:endParaRPr lang="en-US" dirty="0"/>
          </a:p>
          <a:p>
            <a:pPr lvl="1"/>
            <a:r>
              <a:rPr lang="en-US" dirty="0">
                <a:solidFill>
                  <a:schemeClr val="tx1"/>
                </a:solidFill>
              </a:rPr>
              <a:t>Transfers all </a:t>
            </a:r>
            <a:r>
              <a:rPr lang="en-US" b="1" dirty="0">
                <a:solidFill>
                  <a:schemeClr val="tx1"/>
                </a:solidFill>
              </a:rPr>
              <a:t>data from buffer to disk</a:t>
            </a:r>
            <a:r>
              <a:rPr lang="en-US" dirty="0">
                <a:solidFill>
                  <a:schemeClr val="tx1"/>
                </a:solidFill>
              </a:rPr>
              <a:t> (when the buffer is </a:t>
            </a:r>
            <a:r>
              <a:rPr lang="en-US" b="1" i="1" dirty="0">
                <a:solidFill>
                  <a:srgbClr val="FF0000"/>
                </a:solidFill>
              </a:rPr>
              <a:t>full</a:t>
            </a:r>
            <a:r>
              <a:rPr lang="en-US" i="1" dirty="0">
                <a:solidFill>
                  <a:schemeClr val="tx1"/>
                </a:solidFill>
              </a:rPr>
              <a:t>)</a:t>
            </a:r>
          </a:p>
          <a:p>
            <a:pPr lvl="1"/>
            <a:endParaRPr lang="en-US" i="1" dirty="0">
              <a:solidFill>
                <a:schemeClr val="tx1"/>
              </a:solidFill>
            </a:endParaRPr>
          </a:p>
          <a:p>
            <a:pPr lvl="1"/>
            <a:r>
              <a:rPr lang="en-US" b="1" dirty="0">
                <a:solidFill>
                  <a:schemeClr val="tx1"/>
                </a:solidFill>
              </a:rPr>
              <a:t>More efficient </a:t>
            </a:r>
            <a:r>
              <a:rPr lang="en-US" dirty="0">
                <a:solidFill>
                  <a:schemeClr val="tx1"/>
                </a:solidFill>
              </a:rPr>
              <a:t>than writing one character at a time (to disk). </a:t>
            </a:r>
          </a:p>
        </p:txBody>
      </p:sp>
    </p:spTree>
    <p:extLst>
      <p:ext uri="{BB962C8B-B14F-4D97-AF65-F5344CB8AC3E}">
        <p14:creationId xmlns:p14="http://schemas.microsoft.com/office/powerpoint/2010/main" val="2692022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4186" y="761213"/>
            <a:ext cx="8229600" cy="537559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latin typeface="+mn-lt"/>
                <a:cs typeface="Courier"/>
              </a:rPr>
              <a:t>Class </a:t>
            </a:r>
            <a:r>
              <a:rPr lang="en-US" sz="3200" dirty="0" err="1">
                <a:latin typeface="Courier"/>
                <a:cs typeface="Courier"/>
              </a:rPr>
              <a:t>BufferedReader</a:t>
            </a:r>
            <a:endParaRPr lang="en-US" sz="3200" dirty="0">
              <a:latin typeface="Courier"/>
              <a:cs typeface="Courier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6866" y="1986035"/>
            <a:ext cx="6705600" cy="426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006866" y="3677831"/>
            <a:ext cx="2273188" cy="1027688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423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2057400"/>
            <a:ext cx="6678909" cy="3733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097" y="755256"/>
            <a:ext cx="8229600" cy="478779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latin typeface="+mn-lt"/>
                <a:cs typeface="Courier"/>
              </a:rPr>
              <a:t>Class </a:t>
            </a:r>
            <a:r>
              <a:rPr lang="en-US" sz="3200" dirty="0" err="1">
                <a:latin typeface="Courier"/>
                <a:cs typeface="Courier"/>
              </a:rPr>
              <a:t>BufferedWriter</a:t>
            </a:r>
            <a:endParaRPr lang="en-US" sz="3200" dirty="0">
              <a:latin typeface="Courier"/>
              <a:cs typeface="Courier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02145" y="3778981"/>
            <a:ext cx="3406747" cy="934630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326460" y="4875451"/>
            <a:ext cx="5947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67168" y="4690785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Important</a:t>
            </a:r>
          </a:p>
        </p:txBody>
      </p:sp>
    </p:spTree>
    <p:extLst>
      <p:ext uri="{BB962C8B-B14F-4D97-AF65-F5344CB8AC3E}">
        <p14:creationId xmlns:p14="http://schemas.microsoft.com/office/powerpoint/2010/main" val="2240616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5695"/>
            <a:ext cx="10417284" cy="57758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  <a:cs typeface="Courier"/>
              </a:rPr>
              <a:t>Classes </a:t>
            </a:r>
            <a:r>
              <a:rPr lang="en-US" dirty="0" err="1">
                <a:latin typeface="Courier"/>
                <a:cs typeface="Courier"/>
              </a:rPr>
              <a:t>BufferedReader</a:t>
            </a:r>
            <a:r>
              <a:rPr lang="en-US" dirty="0" err="1"/>
              <a:t>/</a:t>
            </a:r>
            <a:r>
              <a:rPr lang="en-US" dirty="0" err="1">
                <a:latin typeface="Courier"/>
                <a:cs typeface="Courier"/>
              </a:rPr>
              <a:t>BufferedWriter</a:t>
            </a:r>
            <a:endParaRPr lang="en-US" dirty="0">
              <a:latin typeface="Courier"/>
              <a:cs typeface="Courier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84687"/>
            <a:ext cx="10364011" cy="49426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Note:</a:t>
            </a:r>
          </a:p>
          <a:p>
            <a:pPr lvl="1"/>
            <a:endParaRPr lang="en-US" dirty="0"/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Closing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a buffered reader/writer </a:t>
            </a:r>
            <a:r>
              <a:rPr lang="en-US" b="1" dirty="0">
                <a:solidFill>
                  <a:schemeClr val="tx1"/>
                </a:solidFill>
              </a:rPr>
              <a:t>also </a:t>
            </a:r>
            <a:r>
              <a:rPr lang="en-US" b="1" dirty="0">
                <a:solidFill>
                  <a:srgbClr val="FF0000"/>
                </a:solidFill>
              </a:rPr>
              <a:t>closes</a:t>
            </a:r>
            <a:r>
              <a:rPr lang="en-US" b="1" dirty="0"/>
              <a:t> </a:t>
            </a:r>
            <a:r>
              <a:rPr lang="en-US" b="1" dirty="0">
                <a:solidFill>
                  <a:schemeClr val="tx1"/>
                </a:solidFill>
              </a:rPr>
              <a:t>the underlying stream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Flush a buffered writer (before closing it).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Close the readers and writers in the </a:t>
            </a:r>
            <a:r>
              <a:rPr lang="en-US" sz="1800" dirty="0">
                <a:solidFill>
                  <a:schemeClr val="tx1"/>
                </a:solidFill>
                <a:latin typeface="Courier"/>
                <a:cs typeface="Courier"/>
              </a:rPr>
              <a:t>finally</a:t>
            </a:r>
            <a:r>
              <a:rPr lang="en-US" sz="1800" dirty="0">
                <a:solidFill>
                  <a:schemeClr val="tx1"/>
                </a:solidFill>
                <a:cs typeface="Courier"/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block.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Examples:</a:t>
            </a:r>
          </a:p>
          <a:p>
            <a:pPr lvl="1">
              <a:buNone/>
            </a:pPr>
            <a:endParaRPr lang="en-US" dirty="0">
              <a:solidFill>
                <a:schemeClr val="tx1"/>
              </a:solidFill>
              <a:latin typeface="Courier"/>
              <a:cs typeface="Courier"/>
            </a:endParaRPr>
          </a:p>
          <a:p>
            <a:pPr lvl="1">
              <a:buNone/>
            </a:pPr>
            <a:r>
              <a:rPr lang="en-US" dirty="0" err="1">
                <a:solidFill>
                  <a:schemeClr val="tx1"/>
                </a:solidFill>
                <a:latin typeface="Courier"/>
                <a:cs typeface="Courier"/>
              </a:rPr>
              <a:t>bufferedReader</a:t>
            </a:r>
            <a:r>
              <a:rPr lang="en-US" dirty="0">
                <a:solidFill>
                  <a:schemeClr val="tx1"/>
                </a:solidFill>
                <a:latin typeface="Courier"/>
                <a:cs typeface="Courier"/>
              </a:rPr>
              <a:t> = new </a:t>
            </a:r>
            <a:r>
              <a:rPr lang="en-US" dirty="0" err="1">
                <a:solidFill>
                  <a:schemeClr val="tx1"/>
                </a:solidFill>
                <a:latin typeface="Courier"/>
                <a:cs typeface="Courier"/>
              </a:rPr>
              <a:t>BufferedReader</a:t>
            </a:r>
            <a:r>
              <a:rPr lang="en-US" dirty="0">
                <a:solidFill>
                  <a:schemeClr val="tx1"/>
                </a:solidFill>
                <a:latin typeface="Courier"/>
                <a:cs typeface="Courier"/>
              </a:rPr>
              <a:t>(reader);</a:t>
            </a:r>
          </a:p>
          <a:p>
            <a:pPr lvl="1">
              <a:buNone/>
            </a:pPr>
            <a:endParaRPr lang="en-US" dirty="0">
              <a:solidFill>
                <a:schemeClr val="tx1"/>
              </a:solidFill>
              <a:latin typeface="Courier"/>
              <a:cs typeface="Courier"/>
            </a:endParaRPr>
          </a:p>
          <a:p>
            <a:pPr lvl="1">
              <a:buNone/>
            </a:pPr>
            <a:r>
              <a:rPr lang="en-US" dirty="0" err="1">
                <a:solidFill>
                  <a:schemeClr val="tx1"/>
                </a:solidFill>
                <a:latin typeface="Courier"/>
                <a:cs typeface="Courier"/>
              </a:rPr>
              <a:t>bufferedWriter</a:t>
            </a:r>
            <a:r>
              <a:rPr lang="en-US" dirty="0">
                <a:solidFill>
                  <a:schemeClr val="tx1"/>
                </a:solidFill>
                <a:latin typeface="Courier"/>
                <a:cs typeface="Courier"/>
              </a:rPr>
              <a:t> = new </a:t>
            </a:r>
            <a:r>
              <a:rPr lang="en-US" dirty="0" err="1">
                <a:solidFill>
                  <a:schemeClr val="tx1"/>
                </a:solidFill>
                <a:latin typeface="Courier"/>
                <a:cs typeface="Courier"/>
              </a:rPr>
              <a:t>BufferedWriter</a:t>
            </a:r>
            <a:r>
              <a:rPr lang="en-US" dirty="0">
                <a:solidFill>
                  <a:schemeClr val="tx1"/>
                </a:solidFill>
                <a:latin typeface="Courier"/>
                <a:cs typeface="Courier"/>
              </a:rPr>
              <a:t>(writer);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0630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77833"/>
            <a:ext cx="2178918" cy="577583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589731-5C53-EB66-C750-1FE0AA856745}"/>
              </a:ext>
            </a:extLst>
          </p:cNvPr>
          <p:cNvSpPr txBox="1">
            <a:spLocks/>
          </p:cNvSpPr>
          <p:nvPr/>
        </p:nvSpPr>
        <p:spPr>
          <a:xfrm>
            <a:off x="936516" y="7552"/>
            <a:ext cx="8532439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“CSEN160_06_Lecture_FileIO_AdvancedFileIO_Serialize.scu.csen160.</a:t>
            </a:r>
            <a:r>
              <a:rPr lang="en-US" sz="1400" dirty="0" err="1">
                <a:solidFill>
                  <a:srgbClr val="FF0000"/>
                </a:solidFill>
                <a:latin typeface="+mn-lt"/>
                <a:cs typeface="Courier"/>
              </a:rPr>
              <a:t>C_BufferedReaderWriterExample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1FBD79-4C35-06F2-EC94-A505F6AD3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379" y="777833"/>
            <a:ext cx="5665753" cy="585090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E77DF5B-410F-1249-1C8D-F0897C53DE2E}"/>
              </a:ext>
            </a:extLst>
          </p:cNvPr>
          <p:cNvSpPr/>
          <p:nvPr/>
        </p:nvSpPr>
        <p:spPr>
          <a:xfrm>
            <a:off x="3958879" y="5159048"/>
            <a:ext cx="4414654" cy="505152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D1CB38-C115-69AE-56BA-F7D6FDD0DF28}"/>
              </a:ext>
            </a:extLst>
          </p:cNvPr>
          <p:cNvSpPr/>
          <p:nvPr/>
        </p:nvSpPr>
        <p:spPr>
          <a:xfrm>
            <a:off x="3958879" y="3858690"/>
            <a:ext cx="1925454" cy="171444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7700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Scanner</a:t>
            </a:r>
          </a:p>
        </p:txBody>
      </p:sp>
    </p:spTree>
    <p:extLst>
      <p:ext uri="{BB962C8B-B14F-4D97-AF65-F5344CB8AC3E}">
        <p14:creationId xmlns:p14="http://schemas.microsoft.com/office/powerpoint/2010/main" val="1639532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9742"/>
            <a:ext cx="3162100" cy="520938"/>
          </a:xfrm>
        </p:spPr>
        <p:txBody>
          <a:bodyPr>
            <a:normAutofit fontScale="90000"/>
          </a:bodyPr>
          <a:lstStyle/>
          <a:p>
            <a:r>
              <a:rPr lang="en-US" dirty="0"/>
              <a:t>Class </a:t>
            </a:r>
            <a:r>
              <a:rPr lang="en-US" dirty="0">
                <a:latin typeface="Courier"/>
                <a:cs typeface="Courier"/>
              </a:rPr>
              <a:t>Scanner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547123"/>
            <a:ext cx="10416610" cy="50762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General:</a:t>
            </a: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Use scanner this time with a </a:t>
            </a:r>
            <a:r>
              <a:rPr lang="en-US" b="1" dirty="0">
                <a:solidFill>
                  <a:srgbClr val="FF0000"/>
                </a:solidFill>
              </a:rPr>
              <a:t>file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Simpler to use than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FileReader</a:t>
            </a:r>
            <a:r>
              <a:rPr lang="en-US" sz="2000" dirty="0">
                <a:solidFill>
                  <a:schemeClr val="tx1"/>
                </a:solidFill>
                <a:cs typeface="Courier"/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and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BufferedFileReader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Defined in the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java.util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package</a:t>
            </a:r>
          </a:p>
        </p:txBody>
      </p:sp>
    </p:spTree>
    <p:extLst>
      <p:ext uri="{BB962C8B-B14F-4D97-AF65-F5344CB8AC3E}">
        <p14:creationId xmlns:p14="http://schemas.microsoft.com/office/powerpoint/2010/main" val="20044877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9742"/>
            <a:ext cx="3162100" cy="520938"/>
          </a:xfrm>
        </p:spPr>
        <p:txBody>
          <a:bodyPr>
            <a:normAutofit fontScale="90000"/>
          </a:bodyPr>
          <a:lstStyle/>
          <a:p>
            <a:r>
              <a:rPr lang="en-US" dirty="0"/>
              <a:t>Class </a:t>
            </a:r>
            <a:r>
              <a:rPr lang="en-US" dirty="0">
                <a:latin typeface="Courier"/>
                <a:cs typeface="Courier"/>
              </a:rPr>
              <a:t>Scanner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547123"/>
            <a:ext cx="10416610" cy="507620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Token: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Reads data in the form of </a:t>
            </a:r>
            <a:r>
              <a:rPr lang="en-US" i="1" dirty="0">
                <a:solidFill>
                  <a:srgbClr val="00B050"/>
                </a:solidFill>
              </a:rPr>
              <a:t>tokens</a:t>
            </a:r>
            <a:r>
              <a:rPr lang="en-US" b="1" dirty="0">
                <a:solidFill>
                  <a:schemeClr val="tx1"/>
                </a:solidFill>
              </a:rPr>
              <a:t>.</a:t>
            </a:r>
          </a:p>
          <a:p>
            <a:endParaRPr lang="en-US" b="1" dirty="0"/>
          </a:p>
          <a:p>
            <a:r>
              <a:rPr lang="en-US" dirty="0">
                <a:solidFill>
                  <a:schemeClr val="tx1"/>
                </a:solidFill>
              </a:rPr>
              <a:t>A </a:t>
            </a:r>
            <a:r>
              <a:rPr lang="en-US" b="1" dirty="0">
                <a:solidFill>
                  <a:schemeClr val="tx1"/>
                </a:solidFill>
              </a:rPr>
              <a:t>token </a:t>
            </a:r>
            <a:r>
              <a:rPr lang="en-US" dirty="0">
                <a:solidFill>
                  <a:schemeClr val="tx1"/>
                </a:solidFill>
              </a:rPr>
              <a:t>consists of a set of characters, separated by </a:t>
            </a:r>
            <a:r>
              <a:rPr lang="en-US" b="1" i="1" dirty="0">
                <a:solidFill>
                  <a:srgbClr val="FF0000"/>
                </a:solidFill>
              </a:rPr>
              <a:t>whitespace</a:t>
            </a:r>
            <a:r>
              <a:rPr lang="en-US" i="1" dirty="0">
                <a:solidFill>
                  <a:schemeClr val="tx1"/>
                </a:solidFill>
              </a:rPr>
              <a:t>.</a:t>
            </a:r>
            <a:r>
              <a:rPr lang="en-US" i="1" dirty="0"/>
              <a:t> </a:t>
            </a:r>
          </a:p>
          <a:p>
            <a:endParaRPr lang="en-US" i="1" dirty="0"/>
          </a:p>
          <a:p>
            <a:r>
              <a:rPr lang="en-US" b="1" dirty="0">
                <a:solidFill>
                  <a:schemeClr val="tx1"/>
                </a:solidFill>
              </a:rPr>
              <a:t>Whitespace</a:t>
            </a:r>
            <a:r>
              <a:rPr lang="en-US" i="1" dirty="0">
                <a:solidFill>
                  <a:schemeClr val="tx1"/>
                </a:solidFill>
              </a:rPr>
              <a:t>: </a:t>
            </a:r>
            <a:r>
              <a:rPr lang="en-US" dirty="0">
                <a:solidFill>
                  <a:schemeClr val="tx1"/>
                </a:solidFill>
              </a:rPr>
              <a:t>space bar, tab, enter keys, …</a:t>
            </a:r>
            <a:endParaRPr lang="en-US" b="1" dirty="0">
              <a:solidFill>
                <a:schemeClr val="tx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7862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9511"/>
            <a:ext cx="5452146" cy="557353"/>
          </a:xfrm>
        </p:spPr>
        <p:txBody>
          <a:bodyPr>
            <a:normAutofit fontScale="90000"/>
          </a:bodyPr>
          <a:lstStyle/>
          <a:p>
            <a:r>
              <a:rPr lang="en-US" dirty="0"/>
              <a:t>Class </a:t>
            </a:r>
            <a:r>
              <a:rPr lang="en-US" dirty="0">
                <a:latin typeface="Courier"/>
                <a:cs typeface="Courier"/>
              </a:rPr>
              <a:t>Scanner</a:t>
            </a:r>
            <a:r>
              <a:rPr lang="en-US" dirty="0">
                <a:latin typeface="+mn-lt"/>
                <a:cs typeface="Courier"/>
              </a:rPr>
              <a:t> (</a:t>
            </a:r>
            <a:r>
              <a:rPr lang="en-US" dirty="0"/>
              <a:t>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19951"/>
            <a:ext cx="10416610" cy="50357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chemeClr val="tx1"/>
                </a:solidFill>
              </a:rPr>
              <a:t>Iterator like:</a:t>
            </a:r>
          </a:p>
          <a:p>
            <a:pPr marL="0" indent="0">
              <a:buNone/>
            </a:pPr>
            <a:endParaRPr lang="en-US" sz="2900" dirty="0">
              <a:solidFill>
                <a:schemeClr val="tx1"/>
              </a:solidFill>
            </a:endParaRPr>
          </a:p>
          <a:p>
            <a:r>
              <a:rPr lang="en-US" sz="2900" dirty="0">
                <a:solidFill>
                  <a:schemeClr val="tx1"/>
                </a:solidFill>
              </a:rPr>
              <a:t>The </a:t>
            </a:r>
            <a:r>
              <a:rPr lang="en-US" sz="2900" dirty="0">
                <a:solidFill>
                  <a:schemeClr val="tx1"/>
                </a:solidFill>
                <a:latin typeface="Courier"/>
                <a:cs typeface="Courier"/>
              </a:rPr>
              <a:t>next</a:t>
            </a:r>
            <a:r>
              <a:rPr lang="en-US" sz="2900" dirty="0">
                <a:solidFill>
                  <a:schemeClr val="tx1"/>
                </a:solidFill>
                <a:cs typeface="Courier"/>
              </a:rPr>
              <a:t> </a:t>
            </a:r>
            <a:r>
              <a:rPr lang="en-US" sz="2900" dirty="0">
                <a:solidFill>
                  <a:schemeClr val="tx1"/>
                </a:solidFill>
              </a:rPr>
              <a:t>method reads one token from the input each time it is called. </a:t>
            </a:r>
          </a:p>
          <a:p>
            <a:endParaRPr lang="en-US" sz="2900" dirty="0">
              <a:solidFill>
                <a:schemeClr val="tx1"/>
              </a:solidFill>
            </a:endParaRPr>
          </a:p>
          <a:p>
            <a:r>
              <a:rPr lang="en-US" sz="2900" dirty="0">
                <a:solidFill>
                  <a:schemeClr val="tx1"/>
                </a:solidFill>
              </a:rPr>
              <a:t>Use </a:t>
            </a:r>
            <a:r>
              <a:rPr lang="en-US" sz="2900" dirty="0" err="1">
                <a:solidFill>
                  <a:schemeClr val="tx1"/>
                </a:solidFill>
                <a:latin typeface="Courier"/>
                <a:cs typeface="Courier"/>
              </a:rPr>
              <a:t>hasNext</a:t>
            </a:r>
            <a:r>
              <a:rPr lang="en-US" sz="2900" dirty="0">
                <a:solidFill>
                  <a:schemeClr val="tx1"/>
                </a:solidFill>
                <a:cs typeface="Courier"/>
              </a:rPr>
              <a:t> </a:t>
            </a:r>
            <a:r>
              <a:rPr lang="en-US" sz="2900" dirty="0">
                <a:solidFill>
                  <a:schemeClr val="tx1"/>
                </a:solidFill>
              </a:rPr>
              <a:t>to determine whether a next token is available </a:t>
            </a:r>
            <a:br>
              <a:rPr lang="en-US" sz="2900" dirty="0">
                <a:solidFill>
                  <a:schemeClr val="tx1"/>
                </a:solidFill>
              </a:rPr>
            </a:br>
            <a:r>
              <a:rPr lang="en-US" sz="2900" dirty="0">
                <a:solidFill>
                  <a:schemeClr val="tx1"/>
                </a:solidFill>
              </a:rPr>
              <a:t>(before calling </a:t>
            </a:r>
            <a:r>
              <a:rPr lang="en-US" sz="2900" dirty="0">
                <a:solidFill>
                  <a:schemeClr val="tx1"/>
                </a:solidFill>
                <a:latin typeface="Courier"/>
                <a:cs typeface="Courier"/>
              </a:rPr>
              <a:t>next)</a:t>
            </a:r>
            <a:r>
              <a:rPr lang="en-US" sz="29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84254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76305"/>
            <a:ext cx="2013031" cy="549260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03136" y="6153993"/>
            <a:ext cx="7772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CDE4F4E-30E5-D9C9-0A04-1B42A0C855DD}"/>
              </a:ext>
            </a:extLst>
          </p:cNvPr>
          <p:cNvSpPr txBox="1">
            <a:spLocks/>
          </p:cNvSpPr>
          <p:nvPr/>
        </p:nvSpPr>
        <p:spPr>
          <a:xfrm>
            <a:off x="975624" y="4847"/>
            <a:ext cx="7391328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“CSEN160_06_Lecture_FileIO_AdvancedFileIO_Serialize.scu.csen160.</a:t>
            </a:r>
            <a:r>
              <a:rPr lang="en-US" dirty="0" err="1">
                <a:solidFill>
                  <a:srgbClr val="FF0000"/>
                </a:solidFill>
                <a:latin typeface="+mn-lt"/>
                <a:cs typeface="Courier"/>
              </a:rPr>
              <a:t>D_ScannerExample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”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889FCA-CB73-0C2B-1B9A-A559E21AD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031" y="1736417"/>
            <a:ext cx="8457803" cy="4576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5778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831850" y="2306230"/>
            <a:ext cx="10515600" cy="1440382"/>
          </a:xfrm>
        </p:spPr>
        <p:txBody>
          <a:bodyPr>
            <a:normAutofit/>
          </a:bodyPr>
          <a:lstStyle/>
          <a:p>
            <a:r>
              <a:rPr lang="en-US" altLang="en-US" dirty="0"/>
              <a:t>Text File Formats</a:t>
            </a:r>
          </a:p>
        </p:txBody>
      </p:sp>
    </p:spTree>
    <p:extLst>
      <p:ext uri="{BB962C8B-B14F-4D97-AF65-F5344CB8AC3E}">
        <p14:creationId xmlns:p14="http://schemas.microsoft.com/office/powerpoint/2010/main" val="514870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5695"/>
            <a:ext cx="4084592" cy="658503"/>
          </a:xfrm>
        </p:spPr>
        <p:txBody>
          <a:bodyPr/>
          <a:lstStyle/>
          <a:p>
            <a:r>
              <a:rPr lang="en-US" dirty="0"/>
              <a:t>Text File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97977"/>
            <a:ext cx="10372103" cy="48132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Three formats:</a:t>
            </a:r>
          </a:p>
          <a:p>
            <a:pPr lvl="1"/>
            <a:endParaRPr lang="en-US" sz="3200" dirty="0">
              <a:solidFill>
                <a:schemeClr val="tx1"/>
              </a:solidFill>
            </a:endParaRPr>
          </a:p>
          <a:p>
            <a:pPr lvl="1"/>
            <a:r>
              <a:rPr lang="en-US" sz="3200" dirty="0">
                <a:solidFill>
                  <a:schemeClr val="tx1"/>
                </a:solidFill>
              </a:rPr>
              <a:t>ASCII</a:t>
            </a:r>
          </a:p>
          <a:p>
            <a:pPr lvl="1"/>
            <a:endParaRPr lang="en-US" sz="3200" dirty="0">
              <a:solidFill>
                <a:schemeClr val="tx1"/>
              </a:solidFill>
            </a:endParaRPr>
          </a:p>
          <a:p>
            <a:pPr lvl="1"/>
            <a:r>
              <a:rPr lang="en-US" sz="3200" dirty="0">
                <a:solidFill>
                  <a:schemeClr val="tx1"/>
                </a:solidFill>
              </a:rPr>
              <a:t>ANSI</a:t>
            </a:r>
          </a:p>
          <a:p>
            <a:pPr lvl="1"/>
            <a:endParaRPr lang="en-US" sz="3200" dirty="0">
              <a:solidFill>
                <a:schemeClr val="tx1"/>
              </a:solidFill>
            </a:endParaRPr>
          </a:p>
          <a:p>
            <a:pPr lvl="1"/>
            <a:r>
              <a:rPr lang="en-US" sz="3200" dirty="0">
                <a:solidFill>
                  <a:schemeClr val="tx1"/>
                </a:solidFill>
              </a:rPr>
              <a:t>Unicode</a:t>
            </a:r>
          </a:p>
        </p:txBody>
      </p:sp>
    </p:spTree>
    <p:extLst>
      <p:ext uri="{BB962C8B-B14F-4D97-AF65-F5344CB8AC3E}">
        <p14:creationId xmlns:p14="http://schemas.microsoft.com/office/powerpoint/2010/main" val="30507744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5466"/>
            <a:ext cx="4193834" cy="775838"/>
          </a:xfrm>
        </p:spPr>
        <p:txBody>
          <a:bodyPr/>
          <a:lstStyle/>
          <a:p>
            <a:r>
              <a:rPr lang="en-US" dirty="0"/>
              <a:t>ASCII File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17057"/>
            <a:ext cx="10400426" cy="4906274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Uses</a:t>
            </a:r>
            <a:r>
              <a:rPr lang="en-US" dirty="0">
                <a:solidFill>
                  <a:srgbClr val="0000FF"/>
                </a:solidFill>
              </a:rPr>
              <a:t> 7-bit </a:t>
            </a:r>
            <a:r>
              <a:rPr lang="en-US" dirty="0">
                <a:solidFill>
                  <a:schemeClr val="tx1"/>
                </a:solidFill>
              </a:rPr>
              <a:t>binary numbers to represent characters. 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Limited to letters in the English alphabet and some special symbols (such as + and −) that can be seen on a keyboard.</a:t>
            </a:r>
          </a:p>
        </p:txBody>
      </p:sp>
    </p:spTree>
    <p:extLst>
      <p:ext uri="{BB962C8B-B14F-4D97-AF65-F5344CB8AC3E}">
        <p14:creationId xmlns:p14="http://schemas.microsoft.com/office/powerpoint/2010/main" val="11633989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5466"/>
            <a:ext cx="4193834" cy="775838"/>
          </a:xfrm>
        </p:spPr>
        <p:txBody>
          <a:bodyPr/>
          <a:lstStyle/>
          <a:p>
            <a:r>
              <a:rPr lang="en-US" dirty="0"/>
              <a:t>ASCII File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17057"/>
            <a:ext cx="10400426" cy="49062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Examples:</a:t>
            </a:r>
          </a:p>
          <a:p>
            <a:pPr lvl="1"/>
            <a:endParaRPr lang="en-US" sz="2400" dirty="0">
              <a:solidFill>
                <a:schemeClr val="tx1"/>
              </a:solidFill>
            </a:endParaRPr>
          </a:p>
          <a:p>
            <a:pPr lvl="1"/>
            <a:endParaRPr lang="en-US" sz="2400" dirty="0">
              <a:solidFill>
                <a:schemeClr val="tx1"/>
              </a:solidFill>
            </a:endParaRP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“a” has the ASCII code “110 0001” (or decimal value 97), </a:t>
            </a:r>
          </a:p>
          <a:p>
            <a:pPr lvl="1"/>
            <a:endParaRPr lang="en-US" sz="2400" dirty="0">
              <a:solidFill>
                <a:schemeClr val="tx1"/>
              </a:solidFill>
            </a:endParaRP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“A” has the ASCII code “100 0001” (or decimal value 65).</a:t>
            </a:r>
          </a:p>
          <a:p>
            <a:pPr lvl="1"/>
            <a:endParaRPr lang="en-US" sz="2400" dirty="0">
              <a:solidFill>
                <a:schemeClr val="tx1"/>
              </a:solidFill>
            </a:endParaRP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…</a:t>
            </a:r>
          </a:p>
          <a:p>
            <a:pPr marL="457200" lvl="1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009363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1649"/>
            <a:ext cx="1414220" cy="682779"/>
          </a:xfrm>
        </p:spPr>
        <p:txBody>
          <a:bodyPr/>
          <a:lstStyle/>
          <a:p>
            <a:r>
              <a:rPr lang="en-US" dirty="0"/>
              <a:t>ANSI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77747"/>
            <a:ext cx="10388288" cy="4849630"/>
          </a:xfrm>
        </p:spPr>
        <p:txBody>
          <a:bodyPr>
            <a:normAutofit/>
          </a:bodyPr>
          <a:lstStyle/>
          <a:p>
            <a:endParaRPr lang="en-US" sz="2800" dirty="0"/>
          </a:p>
          <a:p>
            <a:r>
              <a:rPr lang="en-US" sz="2800" dirty="0">
                <a:solidFill>
                  <a:schemeClr val="tx1"/>
                </a:solidFill>
              </a:rPr>
              <a:t>Uses </a:t>
            </a:r>
            <a:r>
              <a:rPr lang="en-US" sz="2800" dirty="0">
                <a:solidFill>
                  <a:srgbClr val="0000FF"/>
                </a:solidFill>
              </a:rPr>
              <a:t>8-bit </a:t>
            </a:r>
            <a:r>
              <a:rPr lang="en-US" sz="2800" dirty="0">
                <a:solidFill>
                  <a:schemeClr val="tx1"/>
                </a:solidFill>
              </a:rPr>
              <a:t>codes. </a:t>
            </a:r>
          </a:p>
          <a:p>
            <a:endParaRPr lang="en-US" sz="2800" dirty="0"/>
          </a:p>
          <a:p>
            <a:r>
              <a:rPr lang="en-US" sz="2800" dirty="0">
                <a:solidFill>
                  <a:schemeClr val="tx1"/>
                </a:solidFill>
              </a:rPr>
              <a:t>Can represent more information than ASCII 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Such as symbols and letters from some European languages ä, ö, and ü.</a:t>
            </a:r>
          </a:p>
        </p:txBody>
      </p:sp>
    </p:spTree>
    <p:extLst>
      <p:ext uri="{BB962C8B-B14F-4D97-AF65-F5344CB8AC3E}">
        <p14:creationId xmlns:p14="http://schemas.microsoft.com/office/powerpoint/2010/main" val="18103009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1649"/>
            <a:ext cx="1414220" cy="682779"/>
          </a:xfrm>
        </p:spPr>
        <p:txBody>
          <a:bodyPr/>
          <a:lstStyle/>
          <a:p>
            <a:r>
              <a:rPr lang="en-US" dirty="0"/>
              <a:t>ANSI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77747"/>
            <a:ext cx="10388288" cy="48496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Example: </a:t>
            </a:r>
          </a:p>
          <a:p>
            <a:pPr lvl="1"/>
            <a:endParaRPr lang="en-US" sz="2800" dirty="0">
              <a:solidFill>
                <a:schemeClr val="tx1"/>
              </a:solidFill>
            </a:endParaRP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The file </a:t>
            </a:r>
            <a:r>
              <a:rPr lang="en-US" sz="2400" dirty="0">
                <a:solidFill>
                  <a:schemeClr val="tx1"/>
                </a:solidFill>
                <a:latin typeface="Courier"/>
                <a:cs typeface="Courier"/>
              </a:rPr>
              <a:t>info.txt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800" dirty="0">
                <a:solidFill>
                  <a:schemeClr val="tx1"/>
                </a:solidFill>
              </a:rPr>
              <a:t>is stored in an ANSI format (each character one byte) </a:t>
            </a:r>
          </a:p>
          <a:p>
            <a:pPr lvl="1"/>
            <a:endParaRPr lang="en-US" sz="2800" dirty="0">
              <a:solidFill>
                <a:schemeClr val="tx1"/>
              </a:solidFill>
            </a:endParaRP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Moving file pointer in </a:t>
            </a:r>
            <a:r>
              <a:rPr lang="en-US" sz="2400" dirty="0">
                <a:solidFill>
                  <a:schemeClr val="tx1"/>
                </a:solidFill>
                <a:latin typeface="Courier"/>
                <a:cs typeface="Courier"/>
              </a:rPr>
              <a:t>info.txt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800" dirty="0">
                <a:solidFill>
                  <a:schemeClr val="tx1"/>
                </a:solidFill>
              </a:rPr>
              <a:t>4 bytes forwards</a:t>
            </a:r>
          </a:p>
          <a:p>
            <a:pPr lvl="1"/>
            <a:endParaRPr lang="en-US" sz="2800" dirty="0">
              <a:solidFill>
                <a:schemeClr val="tx1"/>
              </a:solidFill>
            </a:endParaRP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Moves it ahead by 4 characters in the file.</a:t>
            </a:r>
          </a:p>
        </p:txBody>
      </p:sp>
    </p:spTree>
    <p:extLst>
      <p:ext uri="{BB962C8B-B14F-4D97-AF65-F5344CB8AC3E}">
        <p14:creationId xmlns:p14="http://schemas.microsoft.com/office/powerpoint/2010/main" val="37581828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1419"/>
            <a:ext cx="2195102" cy="735377"/>
          </a:xfrm>
        </p:spPr>
        <p:txBody>
          <a:bodyPr/>
          <a:lstStyle/>
          <a:p>
            <a:r>
              <a:rPr lang="en-US" dirty="0"/>
              <a:t>Unicode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194" y="1826299"/>
            <a:ext cx="10428748" cy="4805124"/>
          </a:xfrm>
        </p:spPr>
        <p:txBody>
          <a:bodyPr>
            <a:normAutofit/>
          </a:bodyPr>
          <a:lstStyle/>
          <a:p>
            <a:endParaRPr lang="en-US" sz="2800" dirty="0"/>
          </a:p>
          <a:p>
            <a:r>
              <a:rPr lang="en-US" sz="2800" dirty="0">
                <a:solidFill>
                  <a:schemeClr val="tx1"/>
                </a:solidFill>
              </a:rPr>
              <a:t>Stores characters as </a:t>
            </a:r>
            <a:r>
              <a:rPr lang="en-US" sz="2800" dirty="0">
                <a:solidFill>
                  <a:srgbClr val="0000FF"/>
                </a:solidFill>
              </a:rPr>
              <a:t>16-bit </a:t>
            </a:r>
            <a:r>
              <a:rPr lang="en-US" sz="2800" dirty="0">
                <a:solidFill>
                  <a:schemeClr val="tx1"/>
                </a:solidFill>
              </a:rPr>
              <a:t>values. </a:t>
            </a:r>
          </a:p>
          <a:p>
            <a:endParaRPr lang="en-US" sz="2800" dirty="0"/>
          </a:p>
          <a:p>
            <a:r>
              <a:rPr lang="en-US" sz="2800" dirty="0">
                <a:solidFill>
                  <a:schemeClr val="tx1"/>
                </a:solidFill>
              </a:rPr>
              <a:t>Represents a wider range of characters than ASCII and ANSI </a:t>
            </a:r>
            <a:br>
              <a:rPr lang="en-US" sz="2800" dirty="0">
                <a:solidFill>
                  <a:schemeClr val="tx1"/>
                </a:solidFill>
              </a:rPr>
            </a:br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Such as characters from Asian languages.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251489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831850" y="2306230"/>
            <a:ext cx="10515600" cy="1440382"/>
          </a:xfrm>
        </p:spPr>
        <p:txBody>
          <a:bodyPr/>
          <a:lstStyle/>
          <a:p>
            <a:r>
              <a:rPr lang="en-US" altLang="en-US" dirty="0" err="1"/>
              <a:t>RandomAccessFile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271138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3557"/>
            <a:ext cx="6083325" cy="662549"/>
          </a:xfrm>
        </p:spPr>
        <p:txBody>
          <a:bodyPr/>
          <a:lstStyle/>
          <a:p>
            <a:r>
              <a:rPr lang="en-US" dirty="0"/>
              <a:t>Accessing Files Randomly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854621"/>
            <a:ext cx="10392334" cy="4792986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Class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RandomAccessFil</a:t>
            </a:r>
            <a:r>
              <a:rPr lang="en-US" sz="2000" dirty="0" err="1">
                <a:solidFill>
                  <a:schemeClr val="tx1"/>
                </a:solidFill>
                <a:cs typeface="Courier"/>
              </a:rPr>
              <a:t>e</a:t>
            </a:r>
            <a:r>
              <a:rPr lang="en-US" sz="2000" dirty="0">
                <a:solidFill>
                  <a:schemeClr val="tx1"/>
                </a:solidFill>
                <a:cs typeface="Courier"/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can be used to:</a:t>
            </a:r>
          </a:p>
          <a:p>
            <a:pPr lvl="1"/>
            <a:r>
              <a:rPr lang="en-US" b="1" i="1" dirty="0">
                <a:solidFill>
                  <a:schemeClr val="tx1"/>
                </a:solidFill>
              </a:rPr>
              <a:t>read</a:t>
            </a:r>
            <a:r>
              <a:rPr lang="en-US" i="1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or </a:t>
            </a:r>
            <a:r>
              <a:rPr lang="en-US" b="1" i="1" dirty="0">
                <a:solidFill>
                  <a:schemeClr val="tx1"/>
                </a:solidFill>
              </a:rPr>
              <a:t>write</a:t>
            </a:r>
            <a:r>
              <a:rPr lang="en-US" i="1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to any </a:t>
            </a:r>
            <a:r>
              <a:rPr lang="en-US" b="1" i="1" dirty="0">
                <a:solidFill>
                  <a:schemeClr val="tx1"/>
                </a:solidFill>
              </a:rPr>
              <a:t>arbitrary</a:t>
            </a:r>
            <a:r>
              <a:rPr lang="en-US" i="1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location (within a file).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Used to read: </a:t>
            </a:r>
            <a:r>
              <a:rPr lang="en-US" b="1" dirty="0">
                <a:solidFill>
                  <a:srgbClr val="0000FF"/>
                </a:solidFill>
              </a:rPr>
              <a:t>textual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and</a:t>
            </a:r>
            <a:r>
              <a:rPr lang="en-US" dirty="0"/>
              <a:t> </a:t>
            </a:r>
            <a:r>
              <a:rPr lang="en-US" b="1" dirty="0">
                <a:solidFill>
                  <a:srgbClr val="0000FF"/>
                </a:solidFill>
              </a:rPr>
              <a:t>binary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data.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Contains a </a:t>
            </a:r>
            <a:r>
              <a:rPr lang="en-US" b="1" dirty="0">
                <a:solidFill>
                  <a:schemeClr val="tx1"/>
                </a:solidFill>
              </a:rPr>
              <a:t>file pointer, </a:t>
            </a:r>
            <a:r>
              <a:rPr lang="en-US" dirty="0">
                <a:solidFill>
                  <a:schemeClr val="tx1"/>
                </a:solidFill>
              </a:rPr>
              <a:t>which can be moved.</a:t>
            </a:r>
          </a:p>
        </p:txBody>
      </p:sp>
    </p:spTree>
    <p:extLst>
      <p:ext uri="{BB962C8B-B14F-4D97-AF65-F5344CB8AC3E}">
        <p14:creationId xmlns:p14="http://schemas.microsoft.com/office/powerpoint/2010/main" val="39752072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3557"/>
            <a:ext cx="6083325" cy="662549"/>
          </a:xfrm>
        </p:spPr>
        <p:txBody>
          <a:bodyPr/>
          <a:lstStyle/>
          <a:p>
            <a:r>
              <a:rPr lang="en-US" dirty="0"/>
              <a:t>Accessing Files Randomly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854621"/>
            <a:ext cx="10392334" cy="479298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b="1" dirty="0">
                <a:solidFill>
                  <a:schemeClr val="tx1"/>
                </a:solidFill>
              </a:rPr>
              <a:t>Initially</a:t>
            </a:r>
            <a:r>
              <a:rPr lang="en-US" dirty="0">
                <a:solidFill>
                  <a:schemeClr val="tx1"/>
                </a:solidFill>
              </a:rPr>
              <a:t>: the file pointer is at the beginning.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Reading/writing starts from the location, where this file pointer is positioned.</a:t>
            </a:r>
          </a:p>
          <a:p>
            <a:endParaRPr lang="en-US" sz="2000" dirty="0">
              <a:solidFill>
                <a:schemeClr val="tx1"/>
              </a:solidFill>
              <a:latin typeface="Courier"/>
              <a:cs typeface="Courier"/>
            </a:endParaRPr>
          </a:p>
          <a:p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RandomAccessFile</a:t>
            </a:r>
            <a:r>
              <a:rPr lang="en-US" sz="2000" dirty="0">
                <a:solidFill>
                  <a:schemeClr val="tx1"/>
                </a:solidFill>
                <a:cs typeface="Courier"/>
              </a:rPr>
              <a:t> </a:t>
            </a:r>
            <a:r>
              <a:rPr lang="en-US" b="1" i="1" dirty="0">
                <a:solidFill>
                  <a:srgbClr val="FF0000"/>
                </a:solidFill>
              </a:rPr>
              <a:t>cannot</a:t>
            </a:r>
            <a:r>
              <a:rPr lang="en-US" i="1" dirty="0"/>
              <a:t> </a:t>
            </a:r>
            <a:r>
              <a:rPr lang="en-US" dirty="0">
                <a:solidFill>
                  <a:schemeClr val="tx1"/>
                </a:solidFill>
              </a:rPr>
              <a:t>be wrapped inside a buffered stream.</a:t>
            </a:r>
          </a:p>
        </p:txBody>
      </p:sp>
    </p:spTree>
    <p:extLst>
      <p:ext uri="{BB962C8B-B14F-4D97-AF65-F5344CB8AC3E}">
        <p14:creationId xmlns:p14="http://schemas.microsoft.com/office/powerpoint/2010/main" val="36370707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8009" y="1229990"/>
            <a:ext cx="4244947" cy="53723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052" y="747164"/>
            <a:ext cx="5423012" cy="52733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Class </a:t>
            </a:r>
            <a:r>
              <a:rPr lang="en-US" sz="3200" dirty="0" err="1">
                <a:latin typeface="Courier"/>
                <a:cs typeface="Courier"/>
              </a:rPr>
              <a:t>RandomAccessFile</a:t>
            </a:r>
            <a:endParaRPr lang="en-US" sz="3200" dirty="0">
              <a:latin typeface="Courier"/>
              <a:cs typeface="Courier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28009" y="2091791"/>
            <a:ext cx="4244947" cy="400556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928009" y="2520669"/>
            <a:ext cx="4244947" cy="2168666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932055" y="4689335"/>
            <a:ext cx="4244947" cy="11814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9459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831850" y="2306230"/>
            <a:ext cx="10515600" cy="1440382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Exercise </a:t>
            </a:r>
            <a:br>
              <a:rPr lang="en-US" altLang="en-US" dirty="0"/>
            </a:br>
            <a:r>
              <a:rPr lang="en-US" altLang="en-US" dirty="0" err="1"/>
              <a:t>RandomAccessFile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2537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5131"/>
            <a:ext cx="2138457" cy="699298"/>
          </a:xfrm>
        </p:spPr>
        <p:txBody>
          <a:bodyPr>
            <a:normAutofit/>
          </a:bodyPr>
          <a:lstStyle/>
          <a:p>
            <a:r>
              <a:rPr lang="en-US" dirty="0"/>
              <a:t>Exercise</a:t>
            </a:r>
            <a:endParaRPr lang="en-US" dirty="0">
              <a:latin typeface="Courier"/>
              <a:cs typeface="Courier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856" y="1683054"/>
            <a:ext cx="11274365" cy="489172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Create file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sz="2000" dirty="0">
                <a:solidFill>
                  <a:schemeClr val="tx1"/>
                </a:solidFill>
                <a:latin typeface="Courier"/>
                <a:cs typeface="Courier"/>
              </a:rPr>
              <a:t>info.txt</a:t>
            </a:r>
            <a:r>
              <a:rPr lang="en-US" sz="2000" dirty="0">
                <a:solidFill>
                  <a:schemeClr val="tx1"/>
                </a:solidFill>
              </a:rPr>
              <a:t> and paste the following text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“Audio files can be stored in a variety of formats such as wav, wma, mp3, </a:t>
            </a:r>
            <a:r>
              <a:rPr lang="en-US" dirty="0" err="1">
                <a:solidFill>
                  <a:schemeClr val="tx1"/>
                </a:solidFill>
              </a:rPr>
              <a:t>aiff</a:t>
            </a:r>
            <a:r>
              <a:rPr lang="en-US" dirty="0">
                <a:solidFill>
                  <a:schemeClr val="tx1"/>
                </a:solidFill>
              </a:rPr>
              <a:t>, au and many others.”</a:t>
            </a:r>
          </a:p>
          <a:p>
            <a:r>
              <a:rPr lang="en-US" b="1" dirty="0">
                <a:solidFill>
                  <a:schemeClr val="tx1"/>
                </a:solidFill>
              </a:rPr>
              <a:t>Change: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From 	“Audio files can be stored in a variety of formats such as wav, </a:t>
            </a:r>
            <a:r>
              <a:rPr lang="en-US" dirty="0" err="1">
                <a:solidFill>
                  <a:schemeClr val="tx1"/>
                </a:solidFill>
              </a:rPr>
              <a:t>wma</a:t>
            </a:r>
            <a:r>
              <a:rPr lang="en-US" dirty="0">
                <a:solidFill>
                  <a:schemeClr val="tx1"/>
                </a:solidFill>
              </a:rPr>
              <a:t>, mp3, </a:t>
            </a:r>
            <a:r>
              <a:rPr lang="en-US" dirty="0" err="1">
                <a:solidFill>
                  <a:schemeClr val="tx1"/>
                </a:solidFill>
              </a:rPr>
              <a:t>aiff</a:t>
            </a:r>
            <a:r>
              <a:rPr lang="en-US" dirty="0">
                <a:solidFill>
                  <a:schemeClr val="tx1"/>
                </a:solidFill>
              </a:rPr>
              <a:t>, au </a:t>
            </a:r>
            <a:r>
              <a:rPr lang="en-US" b="1" dirty="0">
                <a:solidFill>
                  <a:srgbClr val="FF0000"/>
                </a:solidFill>
              </a:rPr>
              <a:t>and many others.</a:t>
            </a:r>
            <a:r>
              <a:rPr lang="en-US" dirty="0">
                <a:solidFill>
                  <a:schemeClr val="tx1"/>
                </a:solidFill>
              </a:rPr>
              <a:t>”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To	      	“Audio files can be stored in a variety of formats such as wav, </a:t>
            </a:r>
            <a:r>
              <a:rPr lang="en-US" dirty="0" err="1">
                <a:solidFill>
                  <a:schemeClr val="tx1"/>
                </a:solidFill>
              </a:rPr>
              <a:t>wma</a:t>
            </a:r>
            <a:r>
              <a:rPr lang="en-US" dirty="0">
                <a:solidFill>
                  <a:schemeClr val="tx1"/>
                </a:solidFill>
              </a:rPr>
              <a:t>, mp3, </a:t>
            </a:r>
            <a:r>
              <a:rPr lang="en-US" dirty="0" err="1">
                <a:solidFill>
                  <a:schemeClr val="tx1"/>
                </a:solidFill>
              </a:rPr>
              <a:t>aiff</a:t>
            </a:r>
            <a:r>
              <a:rPr lang="en-US" dirty="0">
                <a:solidFill>
                  <a:schemeClr val="tx1"/>
                </a:solidFill>
              </a:rPr>
              <a:t>, au </a:t>
            </a:r>
            <a:r>
              <a:rPr lang="en-US" b="1" dirty="0">
                <a:solidFill>
                  <a:srgbClr val="00B050"/>
                </a:solidFill>
              </a:rPr>
              <a:t>etc</a:t>
            </a:r>
            <a:r>
              <a:rPr lang="en-US" dirty="0">
                <a:solidFill>
                  <a:srgbClr val="92D050"/>
                </a:solidFill>
              </a:rPr>
              <a:t>.</a:t>
            </a:r>
            <a:r>
              <a:rPr lang="en-US" dirty="0">
                <a:solidFill>
                  <a:schemeClr val="tx1"/>
                </a:solidFill>
              </a:rPr>
              <a:t>”</a:t>
            </a:r>
          </a:p>
          <a:p>
            <a:r>
              <a:rPr lang="en-US" b="1" dirty="0"/>
              <a:t>Object</a:t>
            </a:r>
            <a:r>
              <a:rPr lang="en-US" dirty="0"/>
              <a:t>: “</a:t>
            </a:r>
            <a:r>
              <a:rPr lang="en-US" dirty="0" err="1"/>
              <a:t>RandomAccessFile</a:t>
            </a:r>
            <a:r>
              <a:rPr lang="en-US" dirty="0"/>
              <a:t> </a:t>
            </a:r>
            <a:r>
              <a:rPr lang="en-US" dirty="0" err="1"/>
              <a:t>rafile</a:t>
            </a:r>
            <a:r>
              <a:rPr lang="en-US" dirty="0"/>
              <a:t> = new </a:t>
            </a:r>
            <a:r>
              <a:rPr lang="en-US" dirty="0" err="1"/>
              <a:t>RandomAccessFile</a:t>
            </a:r>
            <a:r>
              <a:rPr lang="en-US" dirty="0"/>
              <a:t>(new File("info.txt"), "</a:t>
            </a:r>
            <a:r>
              <a:rPr lang="en-US" dirty="0" err="1"/>
              <a:t>rw</a:t>
            </a:r>
            <a:r>
              <a:rPr lang="en-US" dirty="0"/>
              <a:t>");”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Move file pointer with seek: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Write a character with: </a:t>
            </a:r>
            <a:r>
              <a:rPr lang="en-US" dirty="0">
                <a:solidFill>
                  <a:schemeClr val="tx1"/>
                </a:solidFill>
                <a:latin typeface="Courier"/>
              </a:rPr>
              <a:t>“</a:t>
            </a:r>
            <a:r>
              <a:rPr lang="en-US" dirty="0" err="1">
                <a:solidFill>
                  <a:schemeClr val="tx1"/>
                </a:solidFill>
                <a:latin typeface="Courier"/>
              </a:rPr>
              <a:t>rafile.write</a:t>
            </a:r>
            <a:r>
              <a:rPr lang="en-US" dirty="0">
                <a:solidFill>
                  <a:schemeClr val="tx1"/>
                </a:solidFill>
                <a:latin typeface="Courier"/>
              </a:rPr>
              <a:t>(</a:t>
            </a:r>
            <a:r>
              <a:rPr lang="en-US" dirty="0" err="1">
                <a:solidFill>
                  <a:schemeClr val="tx1"/>
                </a:solidFill>
                <a:latin typeface="Courier"/>
              </a:rPr>
              <a:t>ch</a:t>
            </a:r>
            <a:r>
              <a:rPr lang="en-US" dirty="0">
                <a:solidFill>
                  <a:schemeClr val="tx1"/>
                </a:solidFill>
                <a:latin typeface="Courier"/>
              </a:rPr>
              <a:t>);”</a:t>
            </a:r>
          </a:p>
          <a:p>
            <a:r>
              <a:rPr lang="en-US" dirty="0">
                <a:solidFill>
                  <a:schemeClr val="tx1"/>
                </a:solidFill>
              </a:rPr>
              <a:t>With “</a:t>
            </a:r>
            <a:r>
              <a:rPr lang="en-US" sz="2000" dirty="0" err="1">
                <a:solidFill>
                  <a:schemeClr val="tx1"/>
                </a:solidFill>
                <a:latin typeface="Courier"/>
              </a:rPr>
              <a:t>rafile.setLength</a:t>
            </a:r>
            <a:r>
              <a:rPr lang="en-US" sz="2000" dirty="0">
                <a:solidFill>
                  <a:schemeClr val="tx1"/>
                </a:solidFill>
                <a:latin typeface="Courier"/>
              </a:rPr>
              <a:t>( some number );</a:t>
            </a:r>
            <a:r>
              <a:rPr lang="en-US" dirty="0">
                <a:solidFill>
                  <a:schemeClr val="tx1"/>
                </a:solidFill>
              </a:rPr>
              <a:t>” You can actually shorten a file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38856" y="4945137"/>
            <a:ext cx="106553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None/>
            </a:pPr>
            <a:r>
              <a:rPr lang="en-US" dirty="0" err="1">
                <a:latin typeface="Courier"/>
                <a:cs typeface="Courier"/>
              </a:rPr>
              <a:t>rafile.seek</a:t>
            </a:r>
            <a:r>
              <a:rPr lang="en-US" dirty="0">
                <a:latin typeface="Courier"/>
                <a:cs typeface="Courier"/>
              </a:rPr>
              <a:t>(4); </a:t>
            </a:r>
            <a:r>
              <a:rPr lang="en-US" sz="1400" dirty="0">
                <a:latin typeface="Courier"/>
                <a:cs typeface="Courier"/>
              </a:rPr>
              <a:t>// The offset position, measured in bytes from the beginning of the file</a:t>
            </a:r>
          </a:p>
        </p:txBody>
      </p:sp>
    </p:spTree>
    <p:extLst>
      <p:ext uri="{BB962C8B-B14F-4D97-AF65-F5344CB8AC3E}">
        <p14:creationId xmlns:p14="http://schemas.microsoft.com/office/powerpoint/2010/main" val="3472434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1880"/>
            <a:ext cx="4950440" cy="731332"/>
          </a:xfrm>
        </p:spPr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A4649B0-80E1-EF65-8803-98A346ACB4C8}"/>
              </a:ext>
            </a:extLst>
          </p:cNvPr>
          <p:cNvSpPr txBox="1">
            <a:spLocks/>
          </p:cNvSpPr>
          <p:nvPr/>
        </p:nvSpPr>
        <p:spPr>
          <a:xfrm>
            <a:off x="936516" y="13329"/>
            <a:ext cx="7890091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“CSEN160_06_Lecture_FileIO_AdvancedFileIO_Serialize.scu.csen160.</a:t>
            </a:r>
            <a:r>
              <a:rPr lang="en-US" dirty="0" err="1">
                <a:solidFill>
                  <a:srgbClr val="FF0000"/>
                </a:solidFill>
                <a:latin typeface="+mn-lt"/>
                <a:cs typeface="Courier"/>
              </a:rPr>
              <a:t>E_RandomAccessFileExample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4AA455-E186-D840-4B95-ABC326260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517" y="1427675"/>
            <a:ext cx="9547000" cy="514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652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FileInputStream</a:t>
            </a:r>
            <a:r>
              <a:rPr lang="en-US" altLang="en-US" dirty="0"/>
              <a:t> &amp; </a:t>
            </a:r>
            <a:r>
              <a:rPr lang="en-US" altLang="en-US" dirty="0" err="1"/>
              <a:t>FileOutputStream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304088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7604"/>
            <a:ext cx="10683647" cy="1014670"/>
          </a:xfrm>
        </p:spPr>
        <p:txBody>
          <a:bodyPr>
            <a:normAutofit/>
          </a:bodyPr>
          <a:lstStyle/>
          <a:p>
            <a:r>
              <a:rPr lang="en-US" dirty="0"/>
              <a:t>Classes </a:t>
            </a:r>
            <a:r>
              <a:rPr lang="en-US" dirty="0" err="1">
                <a:latin typeface="Courier"/>
                <a:cs typeface="Courier"/>
              </a:rPr>
              <a:t>FileInputStream</a:t>
            </a:r>
            <a:r>
              <a:rPr lang="en-US" dirty="0" err="1"/>
              <a:t>/</a:t>
            </a:r>
            <a:r>
              <a:rPr lang="en-US" dirty="0" err="1">
                <a:latin typeface="Courier"/>
                <a:cs typeface="Courier"/>
              </a:rPr>
              <a:t>FileOutputStream</a:t>
            </a:r>
            <a:endParaRPr lang="en-US" dirty="0">
              <a:latin typeface="Courier"/>
              <a:cs typeface="Courier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84688"/>
            <a:ext cx="10417284" cy="38358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Used for reading/writing </a:t>
            </a:r>
            <a:r>
              <a:rPr lang="en-US" sz="3200" b="1" dirty="0">
                <a:solidFill>
                  <a:srgbClr val="00B050"/>
                </a:solidFill>
              </a:rPr>
              <a:t>binary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files.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4485" y="2567447"/>
            <a:ext cx="3380232" cy="38801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935" y="2567447"/>
            <a:ext cx="3130285" cy="34337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250935" y="3948913"/>
            <a:ext cx="2980566" cy="1246174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344156" y="4611111"/>
            <a:ext cx="3204445" cy="1246174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98801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2931477" cy="642319"/>
          </a:xfrm>
        </p:spPr>
        <p:txBody>
          <a:bodyPr/>
          <a:lstStyle/>
          <a:p>
            <a:r>
              <a:rPr lang="en-US" dirty="0"/>
              <a:t>Binary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Different from text: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A text file is processed as a sequence of </a:t>
            </a:r>
            <a:r>
              <a:rPr lang="en-US" b="1" dirty="0">
                <a:solidFill>
                  <a:schemeClr val="tx1"/>
                </a:solidFill>
              </a:rPr>
              <a:t>characters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  <a:hlinkClick r:id="rId2"/>
              </a:rPr>
              <a:t>(source)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A binary file is processed as a sequence of </a:t>
            </a:r>
            <a:r>
              <a:rPr lang="en-US" b="1" dirty="0">
                <a:solidFill>
                  <a:schemeClr val="tx1"/>
                </a:solidFill>
              </a:rPr>
              <a:t>bytes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  <a:hlinkClick r:id="rId2"/>
              </a:rPr>
              <a:t>(source)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Example: WAV files that store audio data.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Use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BufferedInputStream</a:t>
            </a:r>
            <a:r>
              <a:rPr lang="en-US" dirty="0">
                <a:solidFill>
                  <a:schemeClr val="tx1"/>
                </a:solidFill>
              </a:rPr>
              <a:t>/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BufferedOuputStream</a:t>
            </a:r>
            <a:r>
              <a:rPr lang="en-US" sz="2000" dirty="0">
                <a:solidFill>
                  <a:schemeClr val="tx1"/>
                </a:solidFill>
                <a:latin typeface="Courier"/>
                <a:cs typeface="Courier"/>
              </a:rPr>
              <a:t> </a:t>
            </a:r>
            <a:br>
              <a:rPr lang="en-US" sz="2000" dirty="0">
                <a:solidFill>
                  <a:schemeClr val="tx1"/>
                </a:solidFill>
                <a:latin typeface="Courier"/>
                <a:cs typeface="Courier"/>
              </a:rPr>
            </a:br>
            <a:r>
              <a:rPr lang="en-US" dirty="0">
                <a:solidFill>
                  <a:schemeClr val="tx1"/>
                </a:solidFill>
              </a:rPr>
              <a:t>to manipulate these files.</a:t>
            </a:r>
          </a:p>
        </p:txBody>
      </p:sp>
    </p:spTree>
    <p:extLst>
      <p:ext uri="{BB962C8B-B14F-4D97-AF65-F5344CB8AC3E}">
        <p14:creationId xmlns:p14="http://schemas.microsoft.com/office/powerpoint/2010/main" val="7840544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Audio Example</a:t>
            </a:r>
          </a:p>
        </p:txBody>
      </p:sp>
    </p:spTree>
    <p:extLst>
      <p:ext uri="{BB962C8B-B14F-4D97-AF65-F5344CB8AC3E}">
        <p14:creationId xmlns:p14="http://schemas.microsoft.com/office/powerpoint/2010/main" val="35214254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3020489" cy="597813"/>
          </a:xfrm>
        </p:spPr>
        <p:txBody>
          <a:bodyPr/>
          <a:lstStyle/>
          <a:p>
            <a:r>
              <a:rPr lang="en-US" dirty="0"/>
              <a:t>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77747"/>
            <a:ext cx="10404472" cy="485367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Frequency: </a:t>
            </a:r>
            <a:r>
              <a:rPr lang="en-US" dirty="0">
                <a:solidFill>
                  <a:schemeClr val="tx1"/>
                </a:solidFill>
              </a:rPr>
              <a:t>rate at which air particles vibrate in response to a sound.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b="1" dirty="0">
                <a:solidFill>
                  <a:srgbClr val="0000FF"/>
                </a:solidFill>
              </a:rPr>
              <a:t>frequency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is the </a:t>
            </a:r>
            <a:r>
              <a:rPr lang="en-US" b="1" dirty="0">
                <a:solidFill>
                  <a:schemeClr val="tx1"/>
                </a:solidFill>
              </a:rPr>
              <a:t>pitch </a:t>
            </a:r>
            <a:r>
              <a:rPr lang="en-US" dirty="0">
                <a:solidFill>
                  <a:schemeClr val="tx1"/>
                </a:solidFill>
              </a:rPr>
              <a:t>of the sound.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If the </a:t>
            </a:r>
            <a:r>
              <a:rPr lang="en-US" b="1" dirty="0">
                <a:solidFill>
                  <a:srgbClr val="0000FF"/>
                </a:solidFill>
              </a:rPr>
              <a:t>frequency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is high, the sound has a higher pitch.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If the</a:t>
            </a:r>
            <a:r>
              <a:rPr lang="en-US" dirty="0"/>
              <a:t> </a:t>
            </a:r>
            <a:r>
              <a:rPr lang="en-US" b="1" dirty="0">
                <a:solidFill>
                  <a:srgbClr val="0000FF"/>
                </a:solidFill>
              </a:rPr>
              <a:t>frequency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is low, the pitch is lower.</a:t>
            </a:r>
          </a:p>
          <a:p>
            <a:endParaRPr lang="en-US" b="1" dirty="0"/>
          </a:p>
          <a:p>
            <a:r>
              <a:rPr lang="en-US" b="1" dirty="0">
                <a:solidFill>
                  <a:srgbClr val="FF0000"/>
                </a:solidFill>
              </a:rPr>
              <a:t>Intensity</a:t>
            </a:r>
            <a:r>
              <a:rPr lang="en-US" b="1" dirty="0"/>
              <a:t> </a:t>
            </a:r>
            <a:r>
              <a:rPr lang="en-US" dirty="0">
                <a:solidFill>
                  <a:schemeClr val="tx1"/>
                </a:solidFill>
              </a:rPr>
              <a:t>describes the </a:t>
            </a:r>
            <a:r>
              <a:rPr lang="en-US" i="1" dirty="0">
                <a:solidFill>
                  <a:schemeClr val="tx1"/>
                </a:solidFill>
              </a:rPr>
              <a:t>loudness </a:t>
            </a:r>
            <a:r>
              <a:rPr lang="en-US" dirty="0">
                <a:solidFill>
                  <a:schemeClr val="tx1"/>
                </a:solidFill>
              </a:rPr>
              <a:t>of a sound.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volume of sound is measured in </a:t>
            </a:r>
            <a:r>
              <a:rPr lang="en-US" b="1" dirty="0">
                <a:solidFill>
                  <a:schemeClr val="tx1"/>
                </a:solidFill>
              </a:rPr>
              <a:t>decibels, or dB for short.</a:t>
            </a:r>
          </a:p>
        </p:txBody>
      </p:sp>
    </p:spTree>
    <p:extLst>
      <p:ext uri="{BB962C8B-B14F-4D97-AF65-F5344CB8AC3E}">
        <p14:creationId xmlns:p14="http://schemas.microsoft.com/office/powerpoint/2010/main" val="22062488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98064"/>
            <a:ext cx="3967257" cy="630181"/>
          </a:xfrm>
        </p:spPr>
        <p:txBody>
          <a:bodyPr/>
          <a:lstStyle/>
          <a:p>
            <a:r>
              <a:rPr lang="en-US" dirty="0"/>
              <a:t>Digitizing Sound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85839"/>
            <a:ext cx="10424702" cy="4845584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Uses two steps:</a:t>
            </a:r>
          </a:p>
          <a:p>
            <a:pPr marL="457200" lvl="1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lvl="1"/>
            <a:r>
              <a:rPr lang="en-US" b="1" dirty="0">
                <a:solidFill>
                  <a:schemeClr val="tx1"/>
                </a:solidFill>
              </a:rPr>
              <a:t>Sampling</a:t>
            </a:r>
            <a:r>
              <a:rPr lang="en-US" dirty="0">
                <a:solidFill>
                  <a:schemeClr val="tx1"/>
                </a:solidFill>
              </a:rPr>
              <a:t>: process of recording </a:t>
            </a:r>
            <a:r>
              <a:rPr lang="en-US" b="1" dirty="0">
                <a:solidFill>
                  <a:schemeClr val="tx1"/>
                </a:solidFill>
              </a:rPr>
              <a:t>amplitudes</a:t>
            </a:r>
            <a:r>
              <a:rPr lang="en-US" dirty="0">
                <a:solidFill>
                  <a:schemeClr val="tx1"/>
                </a:solidFill>
              </a:rPr>
              <a:t>, of a sound wave.</a:t>
            </a:r>
          </a:p>
          <a:p>
            <a:pPr marL="457200" lvl="1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lvl="1"/>
            <a:r>
              <a:rPr lang="en-US" b="1" dirty="0">
                <a:solidFill>
                  <a:schemeClr val="tx1"/>
                </a:solidFill>
              </a:rPr>
              <a:t>Quantization</a:t>
            </a:r>
            <a:r>
              <a:rPr lang="en-US" dirty="0">
                <a:solidFill>
                  <a:schemeClr val="tx1"/>
                </a:solidFill>
              </a:rPr>
              <a:t>: process of converting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analog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amplitudes, into an </a:t>
            </a:r>
            <a:r>
              <a:rPr lang="en-US" b="1" dirty="0">
                <a:solidFill>
                  <a:schemeClr val="tx1"/>
                </a:solidFill>
              </a:rPr>
              <a:t>integer-value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068191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1879"/>
            <a:ext cx="2369080" cy="642319"/>
          </a:xfrm>
        </p:spPr>
        <p:txBody>
          <a:bodyPr/>
          <a:lstStyle/>
          <a:p>
            <a:r>
              <a:rPr lang="en-US" dirty="0"/>
              <a:t>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29195"/>
            <a:ext cx="10404472" cy="491032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The</a:t>
            </a:r>
            <a:r>
              <a:rPr lang="en-US" dirty="0"/>
              <a:t> </a:t>
            </a:r>
            <a:r>
              <a:rPr lang="en-US" b="1" dirty="0">
                <a:solidFill>
                  <a:srgbClr val="00B0F0"/>
                </a:solidFill>
              </a:rPr>
              <a:t>sample rate </a:t>
            </a:r>
            <a:r>
              <a:rPr lang="en-US" dirty="0">
                <a:solidFill>
                  <a:schemeClr val="tx1"/>
                </a:solidFill>
              </a:rPr>
              <a:t>is the total number of </a:t>
            </a:r>
            <a:r>
              <a:rPr lang="en-US" b="1" dirty="0">
                <a:solidFill>
                  <a:srgbClr val="00B0F0"/>
                </a:solidFill>
              </a:rPr>
              <a:t>samples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(per second). </a:t>
            </a:r>
          </a:p>
          <a:p>
            <a:endParaRPr lang="en-US" dirty="0"/>
          </a:p>
          <a:p>
            <a:r>
              <a:rPr lang="en-US" b="1" dirty="0">
                <a:solidFill>
                  <a:srgbClr val="0000FF"/>
                </a:solidFill>
              </a:rPr>
              <a:t>Frequency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itself is not directly recorded.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When the </a:t>
            </a:r>
            <a:r>
              <a:rPr lang="en-US" b="1" dirty="0">
                <a:solidFill>
                  <a:srgbClr val="00B0F0"/>
                </a:solidFill>
              </a:rPr>
              <a:t>samples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played back (at the same rate as they were recorded),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the original</a:t>
            </a:r>
            <a:r>
              <a:rPr lang="en-US" b="1" dirty="0"/>
              <a:t> </a:t>
            </a:r>
            <a:r>
              <a:rPr lang="en-US" b="1" dirty="0">
                <a:solidFill>
                  <a:srgbClr val="0000FF"/>
                </a:solidFill>
              </a:rPr>
              <a:t>frequencies</a:t>
            </a:r>
            <a:r>
              <a:rPr lang="en-US" b="1" dirty="0"/>
              <a:t> </a:t>
            </a:r>
            <a:r>
              <a:rPr lang="en-US" b="1" dirty="0">
                <a:solidFill>
                  <a:schemeClr val="tx1"/>
                </a:solidFill>
              </a:rPr>
              <a:t>are reproduced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unit for a</a:t>
            </a:r>
            <a:r>
              <a:rPr lang="en-US" dirty="0"/>
              <a:t> </a:t>
            </a:r>
            <a:r>
              <a:rPr lang="en-US" b="1" i="1" dirty="0">
                <a:solidFill>
                  <a:srgbClr val="00B0F0"/>
                </a:solidFill>
              </a:rPr>
              <a:t>sample rate </a:t>
            </a:r>
            <a:r>
              <a:rPr lang="en-US" dirty="0">
                <a:solidFill>
                  <a:schemeClr val="tx1"/>
                </a:solidFill>
              </a:rPr>
              <a:t>is </a:t>
            </a:r>
            <a:r>
              <a:rPr lang="en-US" b="1" dirty="0">
                <a:solidFill>
                  <a:schemeClr val="tx1"/>
                </a:solidFill>
              </a:rPr>
              <a:t>Hz (</a:t>
            </a:r>
            <a:r>
              <a:rPr lang="en-US" dirty="0">
                <a:solidFill>
                  <a:schemeClr val="tx1"/>
                </a:solidFill>
              </a:rPr>
              <a:t>number of </a:t>
            </a:r>
            <a:r>
              <a:rPr lang="en-US" b="1" i="1" dirty="0">
                <a:solidFill>
                  <a:srgbClr val="00B0F0"/>
                </a:solidFill>
              </a:rPr>
              <a:t>samples</a:t>
            </a:r>
            <a:r>
              <a:rPr lang="en-US" i="1" dirty="0"/>
              <a:t> </a:t>
            </a:r>
            <a:r>
              <a:rPr lang="en-US" i="1" dirty="0">
                <a:solidFill>
                  <a:schemeClr val="tx1"/>
                </a:solidFill>
              </a:rPr>
              <a:t>per second).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3127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2492" y="741094"/>
            <a:ext cx="4988740" cy="73165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Sampling</a:t>
            </a:r>
            <a:r>
              <a:rPr lang="en-US" dirty="0"/>
              <a:t>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3740" y="2060099"/>
            <a:ext cx="10383431" cy="457537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Need at least two points from every period (to approximate a sine curve).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</a:t>
            </a:r>
            <a:r>
              <a:rPr lang="en-US" dirty="0"/>
              <a:t> </a:t>
            </a:r>
            <a:r>
              <a:rPr lang="en-US" b="1" dirty="0">
                <a:solidFill>
                  <a:srgbClr val="00B0F0"/>
                </a:solidFill>
              </a:rPr>
              <a:t>sampling rate </a:t>
            </a:r>
            <a:r>
              <a:rPr lang="en-US" dirty="0">
                <a:solidFill>
                  <a:schemeClr val="tx1"/>
                </a:solidFill>
              </a:rPr>
              <a:t>should be at least twice the max </a:t>
            </a:r>
            <a:r>
              <a:rPr lang="en-US" b="1" dirty="0">
                <a:solidFill>
                  <a:srgbClr val="0000FF"/>
                </a:solidFill>
              </a:rPr>
              <a:t>frequency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in the signal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(known as </a:t>
            </a:r>
            <a:r>
              <a:rPr lang="en-US" b="1" dirty="0" err="1">
                <a:solidFill>
                  <a:schemeClr val="tx1"/>
                </a:solidFill>
              </a:rPr>
              <a:t>Nyquist</a:t>
            </a:r>
            <a:r>
              <a:rPr lang="en-US" b="1" dirty="0">
                <a:solidFill>
                  <a:schemeClr val="tx1"/>
                </a:solidFill>
              </a:rPr>
              <a:t> rate).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Sound is composed of </a:t>
            </a:r>
            <a:r>
              <a:rPr lang="en-US" b="1" dirty="0">
                <a:solidFill>
                  <a:schemeClr val="tx1"/>
                </a:solidFill>
              </a:rPr>
              <a:t>individual waves </a:t>
            </a:r>
            <a:r>
              <a:rPr lang="en-US" dirty="0">
                <a:solidFill>
                  <a:schemeClr val="tx1"/>
                </a:solidFill>
              </a:rPr>
              <a:t>with </a:t>
            </a:r>
            <a:r>
              <a:rPr lang="en-US" b="1" dirty="0">
                <a:solidFill>
                  <a:schemeClr val="tx1"/>
                </a:solidFill>
              </a:rPr>
              <a:t>different </a:t>
            </a:r>
            <a:r>
              <a:rPr lang="en-US" b="1" dirty="0">
                <a:solidFill>
                  <a:srgbClr val="0000FF"/>
                </a:solidFill>
              </a:rPr>
              <a:t>frequencies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1252" y="2606312"/>
            <a:ext cx="5845548" cy="2017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2359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94017"/>
            <a:ext cx="4873565" cy="731331"/>
          </a:xfrm>
        </p:spPr>
        <p:txBody>
          <a:bodyPr/>
          <a:lstStyle/>
          <a:p>
            <a:r>
              <a:rPr lang="en-US" dirty="0"/>
              <a:t>Sampling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866759"/>
            <a:ext cx="10408518" cy="4768710"/>
          </a:xfrm>
        </p:spPr>
        <p:txBody>
          <a:bodyPr/>
          <a:lstStyle/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i="1" dirty="0">
                <a:solidFill>
                  <a:schemeClr val="tx1"/>
                </a:solidFill>
              </a:rPr>
              <a:t>The human ear can hear </a:t>
            </a:r>
            <a:r>
              <a:rPr lang="en-US" b="1" i="1" dirty="0">
                <a:solidFill>
                  <a:srgbClr val="0000FF"/>
                </a:solidFill>
              </a:rPr>
              <a:t>frequencies</a:t>
            </a:r>
            <a:r>
              <a:rPr lang="en-US" i="1" dirty="0">
                <a:solidFill>
                  <a:schemeClr val="tx1"/>
                </a:solidFill>
              </a:rPr>
              <a:t> up to </a:t>
            </a:r>
            <a:r>
              <a:rPr lang="en-US" b="1" i="1" dirty="0">
                <a:solidFill>
                  <a:schemeClr val="tx1"/>
                </a:solidFill>
              </a:rPr>
              <a:t>20,000 Hz</a:t>
            </a:r>
            <a:r>
              <a:rPr lang="en-US" i="1" dirty="0">
                <a:solidFill>
                  <a:schemeClr val="tx1"/>
                </a:solidFill>
              </a:rPr>
              <a:t>. What should be </a:t>
            </a:r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b="1" dirty="0">
                <a:solidFill>
                  <a:srgbClr val="00B0F0"/>
                </a:solidFill>
              </a:rPr>
              <a:t>sampling rate</a:t>
            </a:r>
            <a:r>
              <a:rPr lang="en-US" dirty="0">
                <a:solidFill>
                  <a:schemeClr val="tx1"/>
                </a:solidFill>
              </a:rPr>
              <a:t>?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The value should be at least </a:t>
            </a:r>
            <a:r>
              <a:rPr lang="en-US" b="1" dirty="0">
                <a:solidFill>
                  <a:schemeClr val="tx1"/>
                </a:solidFill>
              </a:rPr>
              <a:t>40,000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rgbClr val="00B0F0"/>
                </a:solidFill>
              </a:rPr>
              <a:t>samples</a:t>
            </a:r>
            <a:r>
              <a:rPr lang="en-US" dirty="0">
                <a:solidFill>
                  <a:schemeClr val="tx1"/>
                </a:solidFill>
              </a:rPr>
              <a:t> per second, or 40,000 </a:t>
            </a:r>
            <a:r>
              <a:rPr lang="en-US" b="1" dirty="0">
                <a:solidFill>
                  <a:srgbClr val="0000FF"/>
                </a:solidFill>
              </a:rPr>
              <a:t>Hz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The sampling rate for </a:t>
            </a:r>
            <a:r>
              <a:rPr lang="en-US" b="1" dirty="0">
                <a:solidFill>
                  <a:schemeClr val="tx1"/>
                </a:solidFill>
              </a:rPr>
              <a:t>CDs is 44.1 </a:t>
            </a:r>
            <a:r>
              <a:rPr lang="en-US" b="1" dirty="0">
                <a:solidFill>
                  <a:srgbClr val="0000FF"/>
                </a:solidFill>
              </a:rPr>
              <a:t>kHz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Tascam </a:t>
            </a:r>
            <a:r>
              <a:rPr lang="en-US" dirty="0" err="1">
                <a:solidFill>
                  <a:schemeClr val="tx1"/>
                </a:solidFill>
              </a:rPr>
              <a:t>Portacapture</a:t>
            </a:r>
            <a:r>
              <a:rPr lang="en-US" dirty="0">
                <a:solidFill>
                  <a:schemeClr val="tx1"/>
                </a:solidFill>
              </a:rPr>
              <a:t> X8 up to 196KHz 32Bit</a:t>
            </a:r>
          </a:p>
        </p:txBody>
      </p:sp>
      <p:pic>
        <p:nvPicPr>
          <p:cNvPr id="1026" name="Picture 2" descr="Compact Discs | The Bob Angle">
            <a:extLst>
              <a:ext uri="{FF2B5EF4-FFF2-40B4-BE49-F238E27FC236}">
                <a16:creationId xmlns:a16="http://schemas.microsoft.com/office/drawing/2014/main" id="{E5A34F0A-436C-82C0-4811-EFE4A330B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1732" y="3707409"/>
            <a:ext cx="3016832" cy="1895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D1D713-791A-7D27-B055-1EE8E29A1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234" y="3909914"/>
            <a:ext cx="1359506" cy="2503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2111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1649"/>
            <a:ext cx="3077134" cy="650411"/>
          </a:xfrm>
        </p:spPr>
        <p:txBody>
          <a:bodyPr/>
          <a:lstStyle/>
          <a:p>
            <a:r>
              <a:rPr lang="en-US" dirty="0"/>
              <a:t>Quantization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04917"/>
            <a:ext cx="10404472" cy="4918413"/>
          </a:xfrm>
        </p:spPr>
        <p:txBody>
          <a:bodyPr>
            <a:normAutofit/>
          </a:bodyPr>
          <a:lstStyle/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b="1" dirty="0">
                <a:solidFill>
                  <a:srgbClr val="00B0F0"/>
                </a:solidFill>
              </a:rPr>
              <a:t>samples</a:t>
            </a:r>
            <a:r>
              <a:rPr lang="en-US" dirty="0">
                <a:solidFill>
                  <a:schemeClr val="tx1"/>
                </a:solidFill>
              </a:rPr>
              <a:t> are stored as binary numbers. 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 </a:t>
            </a:r>
            <a:r>
              <a:rPr lang="en-US" b="1" dirty="0">
                <a:solidFill>
                  <a:srgbClr val="00B0F0"/>
                </a:solidFill>
              </a:rPr>
              <a:t>sample</a:t>
            </a:r>
            <a:r>
              <a:rPr lang="en-US" dirty="0">
                <a:solidFill>
                  <a:schemeClr val="tx1"/>
                </a:solidFill>
              </a:rPr>
              <a:t> represents the intensity, or loudness. </a:t>
            </a:r>
          </a:p>
        </p:txBody>
      </p:sp>
    </p:spTree>
    <p:extLst>
      <p:ext uri="{BB962C8B-B14F-4D97-AF65-F5344CB8AC3E}">
        <p14:creationId xmlns:p14="http://schemas.microsoft.com/office/powerpoint/2010/main" val="22848293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1649"/>
            <a:ext cx="3077134" cy="650411"/>
          </a:xfrm>
        </p:spPr>
        <p:txBody>
          <a:bodyPr/>
          <a:lstStyle/>
          <a:p>
            <a:r>
              <a:rPr lang="en-US" dirty="0"/>
              <a:t>Quantization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04917"/>
            <a:ext cx="10404472" cy="4918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The number of bits determines how many levels are available: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If a single bit is used in a </a:t>
            </a:r>
            <a:r>
              <a:rPr lang="en-US" b="1" dirty="0">
                <a:solidFill>
                  <a:srgbClr val="00B0F0"/>
                </a:solidFill>
              </a:rPr>
              <a:t>sample</a:t>
            </a:r>
            <a:r>
              <a:rPr lang="en-US" dirty="0">
                <a:solidFill>
                  <a:schemeClr val="tx1"/>
                </a:solidFill>
              </a:rPr>
              <a:t>, there will be only two distinct sound levels: 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0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1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If two bits are used, there will be four sound levels, with values: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00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01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10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11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With 8 bits, there are 256 levels. 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CD-quality sound uses 16 bits, which provides 65,536 sound levels.</a:t>
            </a:r>
          </a:p>
        </p:txBody>
      </p:sp>
    </p:spTree>
    <p:extLst>
      <p:ext uri="{BB962C8B-B14F-4D97-AF65-F5344CB8AC3E}">
        <p14:creationId xmlns:p14="http://schemas.microsoft.com/office/powerpoint/2010/main" val="22304061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Wave File</a:t>
            </a:r>
          </a:p>
        </p:txBody>
      </p:sp>
    </p:spTree>
    <p:extLst>
      <p:ext uri="{BB962C8B-B14F-4D97-AF65-F5344CB8AC3E}">
        <p14:creationId xmlns:p14="http://schemas.microsoft.com/office/powerpoint/2010/main" val="24730960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5695"/>
            <a:ext cx="4359721" cy="605905"/>
          </a:xfrm>
        </p:spPr>
        <p:txBody>
          <a:bodyPr>
            <a:normAutofit/>
          </a:bodyPr>
          <a:lstStyle/>
          <a:p>
            <a:r>
              <a:rPr lang="en-US" dirty="0"/>
              <a:t>Class </a:t>
            </a:r>
            <a:r>
              <a:rPr lang="en-US" dirty="0" err="1">
                <a:latin typeface="Courier"/>
                <a:cs typeface="Courier"/>
              </a:rPr>
              <a:t>AudioMixer</a:t>
            </a:r>
            <a:endParaRPr lang="en-US" dirty="0">
              <a:latin typeface="Courier"/>
              <a:cs typeface="Courier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194" y="1749425"/>
            <a:ext cx="10440886" cy="489009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Read and display the WAV file header.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Merge WAV files.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Play WAV files</a:t>
            </a:r>
          </a:p>
        </p:txBody>
      </p:sp>
    </p:spTree>
    <p:extLst>
      <p:ext uri="{BB962C8B-B14F-4D97-AF65-F5344CB8AC3E}">
        <p14:creationId xmlns:p14="http://schemas.microsoft.com/office/powerpoint/2010/main" val="35123879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5695"/>
            <a:ext cx="4359721" cy="605905"/>
          </a:xfrm>
        </p:spPr>
        <p:txBody>
          <a:bodyPr/>
          <a:lstStyle/>
          <a:p>
            <a:r>
              <a:rPr lang="en-US" dirty="0"/>
              <a:t>Class </a:t>
            </a:r>
            <a:r>
              <a:rPr lang="en-US" dirty="0" err="1">
                <a:latin typeface="Courier"/>
                <a:cs typeface="Courier"/>
              </a:rPr>
              <a:t>AudioMixer</a:t>
            </a:r>
            <a:endParaRPr lang="en-US" dirty="0">
              <a:latin typeface="Courier"/>
              <a:cs typeface="Courier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194" y="1749425"/>
            <a:ext cx="10440886" cy="489009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Assumption: 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WAV file is </a:t>
            </a:r>
            <a:r>
              <a:rPr lang="en-US" b="1" dirty="0">
                <a:solidFill>
                  <a:srgbClr val="00B050"/>
                </a:solidFill>
              </a:rPr>
              <a:t>uncompressed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Mono or stereo channel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Sample size: </a:t>
            </a:r>
            <a:r>
              <a:rPr lang="en-US" b="1" dirty="0">
                <a:solidFill>
                  <a:srgbClr val="FF0000"/>
                </a:solidFill>
              </a:rPr>
              <a:t>8, 16, 24 or 32 bits</a:t>
            </a:r>
          </a:p>
        </p:txBody>
      </p:sp>
    </p:spTree>
    <p:extLst>
      <p:ext uri="{BB962C8B-B14F-4D97-AF65-F5344CB8AC3E}">
        <p14:creationId xmlns:p14="http://schemas.microsoft.com/office/powerpoint/2010/main" val="11542654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9511"/>
            <a:ext cx="2417633" cy="634227"/>
          </a:xfrm>
        </p:spPr>
        <p:txBody>
          <a:bodyPr/>
          <a:lstStyle/>
          <a:p>
            <a:r>
              <a:rPr lang="en-US" dirty="0"/>
              <a:t>WAV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17057"/>
            <a:ext cx="10380196" cy="4898182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Consist of two parts: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b="1" dirty="0">
                <a:solidFill>
                  <a:schemeClr val="tx1"/>
                </a:solidFill>
              </a:rPr>
              <a:t>Header</a:t>
            </a:r>
            <a:r>
              <a:rPr lang="en-US" dirty="0">
                <a:solidFill>
                  <a:schemeClr val="tx1"/>
                </a:solidFill>
              </a:rPr>
              <a:t>: contains important information: audio format, sample rate, byte rate, …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b="1" dirty="0">
                <a:solidFill>
                  <a:schemeClr val="tx1"/>
                </a:solidFill>
              </a:rPr>
              <a:t>Samples</a:t>
            </a:r>
            <a:r>
              <a:rPr lang="en-US" dirty="0">
                <a:solidFill>
                  <a:schemeClr val="tx1"/>
                </a:solidFill>
              </a:rPr>
              <a:t>: contain the audio data.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Header has a size of 44 bytes.</a:t>
            </a:r>
          </a:p>
        </p:txBody>
      </p:sp>
    </p:spTree>
    <p:extLst>
      <p:ext uri="{BB962C8B-B14F-4D97-AF65-F5344CB8AC3E}">
        <p14:creationId xmlns:p14="http://schemas.microsoft.com/office/powerpoint/2010/main" val="11983152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37373"/>
            <a:ext cx="4408273" cy="638273"/>
          </a:xfrm>
        </p:spPr>
        <p:txBody>
          <a:bodyPr/>
          <a:lstStyle/>
          <a:p>
            <a:r>
              <a:rPr lang="en-US" dirty="0"/>
              <a:t>A WAV File Header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122" y="1654151"/>
            <a:ext cx="6986124" cy="49219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55851" y="1573901"/>
            <a:ext cx="7553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Bytes/</a:t>
            </a:r>
          </a:p>
        </p:txBody>
      </p:sp>
    </p:spTree>
    <p:extLst>
      <p:ext uri="{BB962C8B-B14F-4D97-AF65-F5344CB8AC3E}">
        <p14:creationId xmlns:p14="http://schemas.microsoft.com/office/powerpoint/2010/main" val="18096938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1649"/>
            <a:ext cx="10417284" cy="638273"/>
          </a:xfrm>
        </p:spPr>
        <p:txBody>
          <a:bodyPr>
            <a:normAutofit/>
          </a:bodyPr>
          <a:lstStyle/>
          <a:p>
            <a:r>
              <a:rPr lang="en-US" sz="2400" dirty="0"/>
              <a:t>Class </a:t>
            </a:r>
            <a:r>
              <a:rPr lang="en-US" sz="2400" dirty="0" err="1">
                <a:latin typeface="Courier"/>
                <a:cs typeface="Courier"/>
              </a:rPr>
              <a:t>AudioMixer</a:t>
            </a:r>
            <a:r>
              <a:rPr lang="en-US" sz="2400" dirty="0"/>
              <a:t>: Displaying the Header of a WAV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567353"/>
            <a:ext cx="10417284" cy="505193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The first four bytes (in binary) in a WAV header represent the </a:t>
            </a:r>
            <a:r>
              <a:rPr lang="en-US" dirty="0">
                <a:solidFill>
                  <a:srgbClr val="0000FF"/>
                </a:solidFill>
              </a:rPr>
              <a:t>RIFF Chunk ID</a:t>
            </a:r>
            <a:r>
              <a:rPr lang="en-US" dirty="0"/>
              <a:t>: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01010010 (decimal 82) “</a:t>
            </a:r>
            <a:r>
              <a:rPr lang="en-US" dirty="0">
                <a:solidFill>
                  <a:srgbClr val="0000FF"/>
                </a:solidFill>
              </a:rPr>
              <a:t>R</a:t>
            </a:r>
            <a:r>
              <a:rPr lang="en-US" dirty="0">
                <a:solidFill>
                  <a:schemeClr val="tx1"/>
                </a:solidFill>
              </a:rPr>
              <a:t>”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 01001001 (decimal 73) “</a:t>
            </a:r>
            <a:r>
              <a:rPr lang="en-US" dirty="0">
                <a:solidFill>
                  <a:srgbClr val="0000FF"/>
                </a:solidFill>
              </a:rPr>
              <a:t>I</a:t>
            </a:r>
            <a:r>
              <a:rPr lang="en-US" dirty="0">
                <a:solidFill>
                  <a:schemeClr val="tx1"/>
                </a:solidFill>
              </a:rPr>
              <a:t>”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 01000110 (decimal 70) “</a:t>
            </a:r>
            <a:r>
              <a:rPr lang="en-US" dirty="0">
                <a:solidFill>
                  <a:srgbClr val="0000FF"/>
                </a:solidFill>
              </a:rPr>
              <a:t>F</a:t>
            </a:r>
            <a:r>
              <a:rPr lang="en-US" dirty="0">
                <a:solidFill>
                  <a:schemeClr val="tx1"/>
                </a:solidFill>
              </a:rPr>
              <a:t>”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 01000110 (decimal 70) “</a:t>
            </a:r>
            <a:r>
              <a:rPr lang="en-US" dirty="0">
                <a:solidFill>
                  <a:srgbClr val="0000FF"/>
                </a:solidFill>
              </a:rPr>
              <a:t>F</a:t>
            </a:r>
            <a:r>
              <a:rPr lang="en-US" dirty="0">
                <a:solidFill>
                  <a:schemeClr val="tx1"/>
                </a:solidFill>
              </a:rPr>
              <a:t>”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bytes 8 to 11 (</a:t>
            </a:r>
            <a:r>
              <a:rPr lang="en-US" dirty="0">
                <a:solidFill>
                  <a:srgbClr val="0000FF"/>
                </a:solidFill>
              </a:rPr>
              <a:t>Type: WAV field</a:t>
            </a:r>
            <a:r>
              <a:rPr lang="en-US" dirty="0">
                <a:solidFill>
                  <a:schemeClr val="tx1"/>
                </a:solidFill>
              </a:rPr>
              <a:t>) have the decimal values 87, 65, 86, and 69</a:t>
            </a:r>
            <a:br>
              <a:rPr lang="en-US" dirty="0"/>
            </a:br>
            <a:r>
              <a:rPr lang="en-US" dirty="0"/>
              <a:t>							       “</a:t>
            </a:r>
            <a:r>
              <a:rPr lang="en-US" dirty="0">
                <a:solidFill>
                  <a:srgbClr val="0000FF"/>
                </a:solidFill>
              </a:rPr>
              <a:t>W</a:t>
            </a:r>
            <a:r>
              <a:rPr lang="en-US" dirty="0"/>
              <a:t>” “</a:t>
            </a:r>
            <a:r>
              <a:rPr lang="en-US" dirty="0">
                <a:solidFill>
                  <a:srgbClr val="0000FF"/>
                </a:solidFill>
              </a:rPr>
              <a:t>A</a:t>
            </a:r>
            <a:r>
              <a:rPr lang="en-US" dirty="0"/>
              <a:t>”  “</a:t>
            </a:r>
            <a:r>
              <a:rPr lang="en-US" dirty="0">
                <a:solidFill>
                  <a:srgbClr val="0000FF"/>
                </a:solidFill>
              </a:rPr>
              <a:t>V</a:t>
            </a:r>
            <a:r>
              <a:rPr lang="en-US" dirty="0"/>
              <a:t>”        “</a:t>
            </a:r>
            <a:r>
              <a:rPr lang="en-US" dirty="0">
                <a:solidFill>
                  <a:srgbClr val="0000FF"/>
                </a:solidFill>
              </a:rPr>
              <a:t>E</a:t>
            </a:r>
            <a:r>
              <a:rPr lang="en-US" dirty="0"/>
              <a:t>”.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These bytes identify a file as WAV.</a:t>
            </a:r>
          </a:p>
        </p:txBody>
      </p:sp>
    </p:spTree>
    <p:extLst>
      <p:ext uri="{BB962C8B-B14F-4D97-AF65-F5344CB8AC3E}">
        <p14:creationId xmlns:p14="http://schemas.microsoft.com/office/powerpoint/2010/main" val="7971119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37373"/>
            <a:ext cx="4408273" cy="638273"/>
          </a:xfrm>
        </p:spPr>
        <p:txBody>
          <a:bodyPr/>
          <a:lstStyle/>
          <a:p>
            <a:r>
              <a:rPr lang="en-US" dirty="0"/>
              <a:t>A WAV File Header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79" y="2623960"/>
            <a:ext cx="11215272" cy="30971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61646" y="1387707"/>
            <a:ext cx="235833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52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(hex)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82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dec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“R”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49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(hex)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73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dec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“I”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46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(hex)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70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dec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“F”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46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(hex)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70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dec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“F”</a:t>
            </a:r>
          </a:p>
        </p:txBody>
      </p:sp>
      <p:cxnSp>
        <p:nvCxnSpPr>
          <p:cNvPr id="5" name="Straight Arrow Connector 4"/>
          <p:cNvCxnSpPr>
            <a:cxnSpLocks/>
            <a:stCxn id="3" idx="1"/>
            <a:endCxn id="6" idx="0"/>
          </p:cNvCxnSpPr>
          <p:nvPr/>
        </p:nvCxnSpPr>
        <p:spPr>
          <a:xfrm flipH="1">
            <a:off x="2870650" y="1987872"/>
            <a:ext cx="790996" cy="997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079653" y="2985394"/>
            <a:ext cx="1581993" cy="2387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71785E-925C-5800-CFC8-16F3DD16660A}"/>
              </a:ext>
            </a:extLst>
          </p:cNvPr>
          <p:cNvSpPr/>
          <p:nvPr/>
        </p:nvSpPr>
        <p:spPr>
          <a:xfrm>
            <a:off x="5344789" y="3005625"/>
            <a:ext cx="1581993" cy="2184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B4104D-5736-586E-120E-F07A4152966F}"/>
              </a:ext>
            </a:extLst>
          </p:cNvPr>
          <p:cNvSpPr txBox="1"/>
          <p:nvPr/>
        </p:nvSpPr>
        <p:spPr>
          <a:xfrm>
            <a:off x="7460893" y="1387706"/>
            <a:ext cx="2409634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57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(hex)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87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(dec)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“W”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41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(hex)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65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(dec)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“A”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56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(hex)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86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(dec)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“V”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45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(hex)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69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(dec)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“E”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9EF5234-BC6A-F5C0-0ED7-122633B50ADD}"/>
              </a:ext>
            </a:extLst>
          </p:cNvPr>
          <p:cNvCxnSpPr>
            <a:cxnSpLocks/>
          </p:cNvCxnSpPr>
          <p:nvPr/>
        </p:nvCxnSpPr>
        <p:spPr>
          <a:xfrm flipH="1">
            <a:off x="6135785" y="1972178"/>
            <a:ext cx="1325108" cy="10334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063909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E23BB79-4F63-38C7-EF7E-42A00D0D0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334" y="1347372"/>
            <a:ext cx="7580181" cy="524593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77833"/>
            <a:ext cx="10417284" cy="670641"/>
          </a:xfrm>
        </p:spPr>
        <p:txBody>
          <a:bodyPr>
            <a:normAutofit/>
          </a:bodyPr>
          <a:lstStyle/>
          <a:p>
            <a:r>
              <a:rPr lang="en-US" sz="2800" dirty="0"/>
              <a:t>Class </a:t>
            </a:r>
            <a:r>
              <a:rPr lang="en-US" sz="2800" dirty="0" err="1">
                <a:latin typeface="Courier"/>
                <a:cs typeface="Courier"/>
              </a:rPr>
              <a:t>AudioMixer</a:t>
            </a:r>
            <a:r>
              <a:rPr lang="en-US" sz="2800" dirty="0"/>
              <a:t>: Displaying the Header of a WAV File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9FB003-2D76-F981-9EBB-2E2ADA1DE068}"/>
              </a:ext>
            </a:extLst>
          </p:cNvPr>
          <p:cNvSpPr txBox="1">
            <a:spLocks/>
          </p:cNvSpPr>
          <p:nvPr/>
        </p:nvSpPr>
        <p:spPr>
          <a:xfrm>
            <a:off x="1123317" y="21350"/>
            <a:ext cx="7890091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“CSEN160_06_Lecture_FileIO_AdvancedFileIO_Serialize.scu.csen160.AudioPlayer”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15B951-E0CB-EFF6-61E8-354AF3975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750" y="1448474"/>
            <a:ext cx="3548200" cy="126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8502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Big-Endian and Little-Endian </a:t>
            </a:r>
          </a:p>
        </p:txBody>
      </p:sp>
    </p:spTree>
    <p:extLst>
      <p:ext uri="{BB962C8B-B14F-4D97-AF65-F5344CB8AC3E}">
        <p14:creationId xmlns:p14="http://schemas.microsoft.com/office/powerpoint/2010/main" val="3661928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967" y="1812984"/>
            <a:ext cx="9268281" cy="349910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9464" y="742444"/>
            <a:ext cx="8229600" cy="706030"/>
          </a:xfrm>
        </p:spPr>
        <p:txBody>
          <a:bodyPr/>
          <a:lstStyle/>
          <a:p>
            <a:r>
              <a:rPr lang="en-US" dirty="0"/>
              <a:t>Big-</a:t>
            </a:r>
            <a:r>
              <a:rPr lang="en-US" dirty="0" err="1"/>
              <a:t>Endian</a:t>
            </a:r>
            <a:r>
              <a:rPr lang="en-US" dirty="0"/>
              <a:t> and Little-</a:t>
            </a:r>
            <a:r>
              <a:rPr lang="en-US" dirty="0" err="1"/>
              <a:t>Endian</a:t>
            </a:r>
            <a:r>
              <a:rPr lang="en-US" dirty="0"/>
              <a:t>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94014" y="6611193"/>
            <a:ext cx="52581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Source: https://uynguyen.github.io/2018/04/30/Big-Endian-vs-Little-Endian/</a:t>
            </a:r>
          </a:p>
        </p:txBody>
      </p:sp>
      <p:sp>
        <p:nvSpPr>
          <p:cNvPr id="3" name="Rectangle 2"/>
          <p:cNvSpPr/>
          <p:nvPr/>
        </p:nvSpPr>
        <p:spPr>
          <a:xfrm>
            <a:off x="10227360" y="4546886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327747" y="4357398"/>
            <a:ext cx="180409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x86-64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6502 in 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Apple II 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7747" y="3161891"/>
            <a:ext cx="23872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 first Macintosh models 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based on 68K CPUs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RISC CPUs/Apple in 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PowerPC and ARM systems</a:t>
            </a:r>
          </a:p>
        </p:txBody>
      </p:sp>
    </p:spTree>
    <p:extLst>
      <p:ext uri="{BB962C8B-B14F-4D97-AF65-F5344CB8AC3E}">
        <p14:creationId xmlns:p14="http://schemas.microsoft.com/office/powerpoint/2010/main" val="353159517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9464" y="742444"/>
            <a:ext cx="8229600" cy="706030"/>
          </a:xfrm>
        </p:spPr>
        <p:txBody>
          <a:bodyPr/>
          <a:lstStyle/>
          <a:p>
            <a:r>
              <a:rPr lang="en-US" dirty="0"/>
              <a:t>Big-</a:t>
            </a:r>
            <a:r>
              <a:rPr lang="en-US" dirty="0" err="1"/>
              <a:t>Endian</a:t>
            </a:r>
            <a:r>
              <a:rPr lang="en-US" dirty="0"/>
              <a:t> and Little-</a:t>
            </a:r>
            <a:r>
              <a:rPr lang="en-US" dirty="0" err="1"/>
              <a:t>Endian</a:t>
            </a:r>
            <a:r>
              <a:rPr lang="en-US" dirty="0"/>
              <a:t> 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9464" y="1664366"/>
            <a:ext cx="10427937" cy="4963011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These fields are stored in: </a:t>
            </a:r>
            <a:r>
              <a:rPr lang="en-US" b="1" i="1" dirty="0">
                <a:solidFill>
                  <a:srgbClr val="92D050"/>
                </a:solidFill>
              </a:rPr>
              <a:t>big-endian </a:t>
            </a:r>
            <a:r>
              <a:rPr lang="en-US" b="1" dirty="0">
                <a:solidFill>
                  <a:schemeClr val="tx1"/>
                </a:solidFill>
              </a:rPr>
              <a:t>order</a:t>
            </a:r>
          </a:p>
          <a:p>
            <a:endParaRPr lang="en-US" i="1" dirty="0">
              <a:solidFill>
                <a:schemeClr val="tx1"/>
              </a:solidFill>
            </a:endParaRPr>
          </a:p>
          <a:p>
            <a:r>
              <a:rPr lang="en-US" i="1" dirty="0">
                <a:solidFill>
                  <a:schemeClr val="tx1"/>
                </a:solidFill>
              </a:rPr>
              <a:t>RIFF Chunk ID</a:t>
            </a:r>
          </a:p>
          <a:p>
            <a:endParaRPr lang="en-US" i="1" dirty="0">
              <a:solidFill>
                <a:schemeClr val="tx1"/>
              </a:solidFill>
            </a:endParaRPr>
          </a:p>
          <a:p>
            <a:r>
              <a:rPr lang="en-US" i="1" dirty="0">
                <a:solidFill>
                  <a:schemeClr val="tx1"/>
                </a:solidFill>
              </a:rPr>
              <a:t>Type</a:t>
            </a:r>
          </a:p>
          <a:p>
            <a:endParaRPr lang="en-US" i="1" dirty="0">
              <a:solidFill>
                <a:schemeClr val="tx1"/>
              </a:solidFill>
            </a:endParaRPr>
          </a:p>
          <a:p>
            <a:r>
              <a:rPr lang="en-US" i="1" dirty="0">
                <a:solidFill>
                  <a:schemeClr val="tx1"/>
                </a:solidFill>
              </a:rPr>
              <a:t>Format Chunk ID</a:t>
            </a:r>
          </a:p>
          <a:p>
            <a:endParaRPr lang="en-US" i="1" dirty="0">
              <a:solidFill>
                <a:schemeClr val="tx1"/>
              </a:solidFill>
            </a:endParaRPr>
          </a:p>
          <a:p>
            <a:r>
              <a:rPr lang="en-US" i="1" dirty="0">
                <a:solidFill>
                  <a:schemeClr val="tx1"/>
                </a:solidFill>
              </a:rPr>
              <a:t>Data Chunk ID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6896" y="2619954"/>
            <a:ext cx="6570906" cy="1749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81136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9464" y="742444"/>
            <a:ext cx="8229600" cy="706030"/>
          </a:xfrm>
        </p:spPr>
        <p:txBody>
          <a:bodyPr/>
          <a:lstStyle/>
          <a:p>
            <a:r>
              <a:rPr lang="en-US" dirty="0"/>
              <a:t>Big-</a:t>
            </a:r>
            <a:r>
              <a:rPr lang="en-US" dirty="0" err="1"/>
              <a:t>Endian</a:t>
            </a:r>
            <a:r>
              <a:rPr lang="en-US" dirty="0"/>
              <a:t> and Little-</a:t>
            </a:r>
            <a:r>
              <a:rPr lang="en-US" dirty="0" err="1"/>
              <a:t>Endian</a:t>
            </a:r>
            <a:r>
              <a:rPr lang="en-US" dirty="0"/>
              <a:t> 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9464" y="1664366"/>
            <a:ext cx="10427937" cy="4963011"/>
          </a:xfrm>
        </p:spPr>
        <p:txBody>
          <a:bodyPr/>
          <a:lstStyle/>
          <a:p>
            <a:pPr marL="0" indent="0">
              <a:buNone/>
            </a:pPr>
            <a:r>
              <a:rPr lang="en-US" i="1" dirty="0">
                <a:solidFill>
                  <a:schemeClr val="tx1"/>
                </a:solidFill>
              </a:rPr>
              <a:t>The remaining fields </a:t>
            </a:r>
            <a:r>
              <a:rPr lang="en-US" dirty="0">
                <a:solidFill>
                  <a:schemeClr val="tx1"/>
                </a:solidFill>
              </a:rPr>
              <a:t>are</a:t>
            </a:r>
            <a:r>
              <a:rPr lang="en-US" dirty="0"/>
              <a:t> </a:t>
            </a:r>
            <a:r>
              <a:rPr lang="en-US" b="1" dirty="0">
                <a:solidFill>
                  <a:srgbClr val="00B0F0"/>
                </a:solidFill>
              </a:rPr>
              <a:t>little-endian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order: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2382" y="2590785"/>
            <a:ext cx="6781800" cy="1805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17757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37373"/>
            <a:ext cx="4408273" cy="638273"/>
          </a:xfrm>
        </p:spPr>
        <p:txBody>
          <a:bodyPr/>
          <a:lstStyle/>
          <a:p>
            <a:r>
              <a:rPr lang="en-US" dirty="0"/>
              <a:t>A WAV File Header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122" y="1654151"/>
            <a:ext cx="6986124" cy="49219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55851" y="1573901"/>
            <a:ext cx="7553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Bytes/</a:t>
            </a:r>
          </a:p>
        </p:txBody>
      </p:sp>
      <p:sp>
        <p:nvSpPr>
          <p:cNvPr id="4" name="Rectangle 3"/>
          <p:cNvSpPr/>
          <p:nvPr/>
        </p:nvSpPr>
        <p:spPr>
          <a:xfrm>
            <a:off x="3269182" y="1912455"/>
            <a:ext cx="1703374" cy="329039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69182" y="2570608"/>
            <a:ext cx="1703374" cy="329039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69182" y="2884820"/>
            <a:ext cx="1703374" cy="329039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69182" y="5501244"/>
            <a:ext cx="1703374" cy="527322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02688" y="1912455"/>
            <a:ext cx="13516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big-endian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02688" y="2530315"/>
            <a:ext cx="13516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big-endian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202688" y="2871336"/>
            <a:ext cx="13516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big-endian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202688" y="5613259"/>
            <a:ext cx="13516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big-endian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202688" y="2218415"/>
            <a:ext cx="1479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little-endian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202688" y="3177089"/>
            <a:ext cx="1479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little-endian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202688" y="3523291"/>
            <a:ext cx="1479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little-endian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202688" y="3824926"/>
            <a:ext cx="1479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little-endian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202688" y="4148161"/>
            <a:ext cx="1479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little-endian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202688" y="4457869"/>
            <a:ext cx="1479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little-endian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202688" y="4787925"/>
            <a:ext cx="1479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little-endian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202688" y="5155892"/>
            <a:ext cx="1479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little-endian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202688" y="6060651"/>
            <a:ext cx="1479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little-endian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269182" y="2281787"/>
            <a:ext cx="1703374" cy="254537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269182" y="3239915"/>
            <a:ext cx="1703374" cy="28012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269182" y="3567897"/>
            <a:ext cx="1703374" cy="28012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269182" y="3892623"/>
            <a:ext cx="1703374" cy="28012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269182" y="4213291"/>
            <a:ext cx="1703374" cy="28012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269182" y="4536599"/>
            <a:ext cx="1703374" cy="28012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269182" y="4857256"/>
            <a:ext cx="1703374" cy="28012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269182" y="5185993"/>
            <a:ext cx="1703374" cy="28012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269182" y="6060651"/>
            <a:ext cx="1703374" cy="477714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868271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7604"/>
            <a:ext cx="10417284" cy="735378"/>
          </a:xfrm>
        </p:spPr>
        <p:txBody>
          <a:bodyPr>
            <a:normAutofit/>
          </a:bodyPr>
          <a:lstStyle/>
          <a:p>
            <a:r>
              <a:rPr lang="en-US" dirty="0"/>
              <a:t>Changing Binary Values in an Array to Decimal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89885"/>
            <a:ext cx="10417284" cy="48455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The four bytes of </a:t>
            </a:r>
            <a:r>
              <a:rPr lang="en-US" b="1" i="1" dirty="0">
                <a:solidFill>
                  <a:srgbClr val="92D050"/>
                </a:solidFill>
              </a:rPr>
              <a:t>Sample Rate</a:t>
            </a:r>
            <a:r>
              <a:rPr lang="en-US" b="1" dirty="0">
                <a:solidFill>
                  <a:srgbClr val="92D050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in a WAV Header are stored in an array of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type </a:t>
            </a:r>
            <a:r>
              <a:rPr lang="en-US" dirty="0">
                <a:solidFill>
                  <a:schemeClr val="tx1"/>
                </a:solidFill>
                <a:latin typeface="Courier"/>
                <a:cs typeface="Courier"/>
              </a:rPr>
              <a:t>byte</a:t>
            </a:r>
            <a:r>
              <a:rPr lang="en-US" dirty="0">
                <a:solidFill>
                  <a:schemeClr val="tx1"/>
                </a:solidFill>
                <a:cs typeface="Courier"/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called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sampleRateArray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lvl="1">
              <a:buNone/>
            </a:pPr>
            <a:r>
              <a:rPr lang="en-US" sz="1800" dirty="0" err="1">
                <a:solidFill>
                  <a:schemeClr val="tx1"/>
                </a:solidFill>
                <a:latin typeface="Courier"/>
                <a:cs typeface="Courier"/>
              </a:rPr>
              <a:t>sampleRateArray</a:t>
            </a:r>
            <a:r>
              <a:rPr lang="en-US" sz="1800" dirty="0">
                <a:solidFill>
                  <a:schemeClr val="tx1"/>
                </a:solidFill>
                <a:latin typeface="Courier"/>
                <a:cs typeface="Courier"/>
              </a:rPr>
              <a:t> [0] = 00000000</a:t>
            </a:r>
          </a:p>
          <a:p>
            <a:pPr lvl="1">
              <a:buNone/>
            </a:pPr>
            <a:r>
              <a:rPr lang="en-US" sz="1800" dirty="0" err="1">
                <a:solidFill>
                  <a:schemeClr val="tx1"/>
                </a:solidFill>
                <a:latin typeface="Courier"/>
                <a:cs typeface="Courier"/>
              </a:rPr>
              <a:t>sampleRateArray</a:t>
            </a:r>
            <a:r>
              <a:rPr lang="en-US" sz="1800" dirty="0">
                <a:solidFill>
                  <a:schemeClr val="tx1"/>
                </a:solidFill>
                <a:latin typeface="Courier"/>
                <a:cs typeface="Courier"/>
              </a:rPr>
              <a:t> [1] = 00000000</a:t>
            </a:r>
          </a:p>
          <a:p>
            <a:pPr lvl="1">
              <a:buNone/>
            </a:pPr>
            <a:r>
              <a:rPr lang="en-US" sz="1800" dirty="0" err="1">
                <a:solidFill>
                  <a:schemeClr val="tx1"/>
                </a:solidFill>
                <a:latin typeface="Courier"/>
                <a:cs typeface="Courier"/>
              </a:rPr>
              <a:t>sampleRateArray</a:t>
            </a:r>
            <a:r>
              <a:rPr lang="en-US" sz="1800" dirty="0">
                <a:solidFill>
                  <a:schemeClr val="tx1"/>
                </a:solidFill>
                <a:latin typeface="Courier"/>
                <a:cs typeface="Courier"/>
              </a:rPr>
              <a:t> [2] = 10101100</a:t>
            </a:r>
          </a:p>
          <a:p>
            <a:pPr lvl="1">
              <a:buNone/>
            </a:pPr>
            <a:r>
              <a:rPr lang="en-US" sz="1800" dirty="0" err="1">
                <a:solidFill>
                  <a:schemeClr val="tx1"/>
                </a:solidFill>
                <a:latin typeface="Courier"/>
                <a:cs typeface="Courier"/>
              </a:rPr>
              <a:t>sampleRateArray</a:t>
            </a:r>
            <a:r>
              <a:rPr lang="en-US" sz="1800" dirty="0">
                <a:solidFill>
                  <a:schemeClr val="tx1"/>
                </a:solidFill>
                <a:latin typeface="Courier"/>
                <a:cs typeface="Courier"/>
              </a:rPr>
              <a:t> [3] = 01000100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82579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7604"/>
            <a:ext cx="10417284" cy="735378"/>
          </a:xfrm>
        </p:spPr>
        <p:txBody>
          <a:bodyPr>
            <a:normAutofit/>
          </a:bodyPr>
          <a:lstStyle/>
          <a:p>
            <a:r>
              <a:rPr lang="en-US" dirty="0"/>
              <a:t>Changing Binary Values in an Array to Decimal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89885"/>
            <a:ext cx="10417284" cy="48455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Use the constructor of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BigDecimal</a:t>
            </a:r>
            <a:r>
              <a:rPr lang="en-US" sz="2000" dirty="0">
                <a:solidFill>
                  <a:schemeClr val="tx1"/>
                </a:solidFill>
                <a:cs typeface="Courier"/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to get the </a:t>
            </a:r>
            <a:r>
              <a:rPr lang="en-US" dirty="0">
                <a:solidFill>
                  <a:srgbClr val="3366FF"/>
                </a:solidFill>
              </a:rPr>
              <a:t>decimal </a:t>
            </a:r>
            <a:r>
              <a:rPr lang="en-US" dirty="0">
                <a:solidFill>
                  <a:schemeClr val="tx1"/>
                </a:solidFill>
              </a:rPr>
              <a:t>value of this </a:t>
            </a:r>
            <a:r>
              <a:rPr lang="en-US" dirty="0">
                <a:solidFill>
                  <a:srgbClr val="3366FF"/>
                </a:solidFill>
              </a:rPr>
              <a:t>binary </a:t>
            </a:r>
            <a:r>
              <a:rPr lang="en-US" dirty="0">
                <a:solidFill>
                  <a:schemeClr val="tx1"/>
                </a:solidFill>
              </a:rPr>
              <a:t>number:</a:t>
            </a:r>
          </a:p>
          <a:p>
            <a:pPr lvl="1"/>
            <a:endParaRPr lang="en-US" sz="1800" b="1" dirty="0">
              <a:solidFill>
                <a:schemeClr val="tx1"/>
              </a:solidFill>
              <a:latin typeface="Courier"/>
              <a:cs typeface="Courier"/>
            </a:endParaRPr>
          </a:p>
          <a:p>
            <a:pPr lvl="1"/>
            <a:r>
              <a:rPr lang="en-US" sz="1800" b="1" dirty="0">
                <a:solidFill>
                  <a:schemeClr val="tx1"/>
                </a:solidFill>
                <a:latin typeface="Courier"/>
                <a:cs typeface="Courier"/>
              </a:rPr>
              <a:t>public</a:t>
            </a:r>
            <a:r>
              <a:rPr lang="en-US" sz="1800" b="1" dirty="0">
                <a:latin typeface="Courier"/>
                <a:cs typeface="Courier"/>
              </a:rPr>
              <a:t> </a:t>
            </a:r>
            <a:r>
              <a:rPr lang="en-US" sz="1800" b="1" dirty="0" err="1">
                <a:solidFill>
                  <a:srgbClr val="00B0F0"/>
                </a:solidFill>
                <a:latin typeface="Courier"/>
                <a:cs typeface="Courier"/>
              </a:rPr>
              <a:t>BigInteger</a:t>
            </a:r>
            <a:r>
              <a:rPr lang="en-US" sz="1800" b="1" dirty="0">
                <a:solidFill>
                  <a:srgbClr val="00B0F0"/>
                </a:solidFill>
                <a:latin typeface="Courier"/>
                <a:cs typeface="Courier"/>
              </a:rPr>
              <a:t>(byte[] </a:t>
            </a:r>
            <a:r>
              <a:rPr lang="en-US" sz="1800" b="1" dirty="0" err="1">
                <a:solidFill>
                  <a:srgbClr val="00B0F0"/>
                </a:solidFill>
                <a:latin typeface="Courier"/>
                <a:cs typeface="Courier"/>
              </a:rPr>
              <a:t>val</a:t>
            </a:r>
            <a:r>
              <a:rPr lang="en-US" sz="1800" b="1" dirty="0">
                <a:latin typeface="Courier"/>
                <a:cs typeface="Courier"/>
              </a:rPr>
              <a:t>)</a:t>
            </a:r>
            <a:br>
              <a:rPr lang="en-US" b="1" dirty="0">
                <a:cs typeface="Courier"/>
              </a:rPr>
            </a:br>
            <a:r>
              <a:rPr lang="en-US" sz="1800" b="1" dirty="0">
                <a:solidFill>
                  <a:srgbClr val="92D050"/>
                </a:solidFill>
              </a:rPr>
              <a:t>converts</a:t>
            </a:r>
            <a:r>
              <a:rPr lang="en-US" sz="1800" dirty="0"/>
              <a:t> </a:t>
            </a:r>
            <a:r>
              <a:rPr lang="en-US" sz="1800" dirty="0">
                <a:solidFill>
                  <a:schemeClr val="tx1"/>
                </a:solidFill>
              </a:rPr>
              <a:t>a </a:t>
            </a:r>
            <a:r>
              <a:rPr lang="en-US" sz="1800" dirty="0">
                <a:solidFill>
                  <a:schemeClr val="tx1"/>
                </a:solidFill>
                <a:latin typeface="Courier"/>
                <a:cs typeface="Courier"/>
              </a:rPr>
              <a:t>byte</a:t>
            </a:r>
            <a:r>
              <a:rPr lang="en-US" sz="1800" dirty="0">
                <a:solidFill>
                  <a:schemeClr val="tx1"/>
                </a:solidFill>
                <a:cs typeface="Courier"/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array in </a:t>
            </a:r>
            <a:r>
              <a:rPr lang="en-US" sz="1800" b="1" dirty="0">
                <a:solidFill>
                  <a:srgbClr val="92D050"/>
                </a:solidFill>
              </a:rPr>
              <a:t>big-endian</a:t>
            </a:r>
            <a:r>
              <a:rPr lang="en-US" sz="1800" dirty="0"/>
              <a:t> </a:t>
            </a:r>
            <a:r>
              <a:rPr lang="en-US" sz="1800" dirty="0">
                <a:solidFill>
                  <a:schemeClr val="tx1"/>
                </a:solidFill>
              </a:rPr>
              <a:t>order.</a:t>
            </a:r>
            <a:endParaRPr lang="en-US" sz="1600" dirty="0">
              <a:solidFill>
                <a:schemeClr val="tx1"/>
              </a:solidFill>
              <a:latin typeface="Courier"/>
              <a:cs typeface="Courier"/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Example:</a:t>
            </a:r>
          </a:p>
          <a:p>
            <a:pPr lvl="1">
              <a:buNone/>
            </a:pPr>
            <a:r>
              <a:rPr lang="en-US" sz="1600" b="1" dirty="0" err="1">
                <a:solidFill>
                  <a:srgbClr val="00B0F0"/>
                </a:solidFill>
                <a:latin typeface="Courier"/>
                <a:cs typeface="Courier"/>
              </a:rPr>
              <a:t>BigInteger</a:t>
            </a:r>
            <a:r>
              <a:rPr lang="en-US" sz="1600" dirty="0">
                <a:latin typeface="Courier"/>
                <a:cs typeface="Courier"/>
              </a:rPr>
              <a:t> </a:t>
            </a:r>
            <a:r>
              <a:rPr lang="en-US" sz="1600" dirty="0" err="1">
                <a:latin typeface="Courier"/>
                <a:cs typeface="Courier"/>
              </a:rPr>
              <a:t>sampleRate</a:t>
            </a:r>
            <a:r>
              <a:rPr lang="en-US" sz="1600" dirty="0">
                <a:latin typeface="Courier"/>
                <a:cs typeface="Courier"/>
              </a:rPr>
              <a:t> = new </a:t>
            </a:r>
            <a:r>
              <a:rPr lang="en-US" sz="1600" b="1" dirty="0" err="1">
                <a:solidFill>
                  <a:srgbClr val="00B0F0"/>
                </a:solidFill>
                <a:latin typeface="Courier"/>
                <a:cs typeface="Courier"/>
              </a:rPr>
              <a:t>BigInteger</a:t>
            </a:r>
            <a:r>
              <a:rPr lang="en-US" sz="1600" dirty="0" err="1">
                <a:latin typeface="Courier"/>
                <a:cs typeface="Courier"/>
              </a:rPr>
              <a:t>(sampleRateArray</a:t>
            </a:r>
            <a:r>
              <a:rPr lang="en-US" sz="1600" dirty="0">
                <a:latin typeface="Courier"/>
                <a:cs typeface="Courier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34656197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8193" y="741419"/>
            <a:ext cx="10417284" cy="650411"/>
          </a:xfrm>
        </p:spPr>
        <p:txBody>
          <a:bodyPr>
            <a:normAutofit/>
          </a:bodyPr>
          <a:lstStyle/>
          <a:p>
            <a:r>
              <a:rPr lang="en-US" sz="2800" dirty="0"/>
              <a:t>Changing Binary Values In an Array to Decimal 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193" y="1663039"/>
            <a:ext cx="10417284" cy="4960292"/>
          </a:xfrm>
        </p:spPr>
        <p:txBody>
          <a:bodyPr/>
          <a:lstStyle/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Array passed to the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BigInteger</a:t>
            </a:r>
            <a:r>
              <a:rPr lang="en-US" sz="2000" dirty="0">
                <a:solidFill>
                  <a:schemeClr val="tx1"/>
                </a:solidFill>
                <a:cs typeface="Courier"/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constructor must be </a:t>
            </a:r>
            <a:r>
              <a:rPr lang="en-US" b="1" dirty="0">
                <a:solidFill>
                  <a:srgbClr val="92D050"/>
                </a:solidFill>
              </a:rPr>
              <a:t>big-endian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If the array is </a:t>
            </a:r>
            <a:r>
              <a:rPr lang="en-US" b="1" dirty="0">
                <a:solidFill>
                  <a:srgbClr val="FF0000"/>
                </a:solidFill>
              </a:rPr>
              <a:t>little-endian</a:t>
            </a:r>
            <a:r>
              <a:rPr lang="en-US" dirty="0">
                <a:solidFill>
                  <a:schemeClr val="tx1"/>
                </a:solidFill>
              </a:rPr>
              <a:t>, it must be </a:t>
            </a:r>
            <a:r>
              <a:rPr lang="en-US" b="1" i="1" dirty="0">
                <a:solidFill>
                  <a:srgbClr val="FF0000"/>
                </a:solidFill>
              </a:rPr>
              <a:t>reversed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Add method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getDecimalValueOfByteArray</a:t>
            </a:r>
            <a:r>
              <a:rPr lang="en-US" sz="2000" dirty="0">
                <a:solidFill>
                  <a:schemeClr val="tx1"/>
                </a:solidFill>
                <a:latin typeface="Courier"/>
                <a:cs typeface="Courier"/>
              </a:rPr>
              <a:t>(…)</a:t>
            </a:r>
            <a:r>
              <a:rPr lang="en-US" sz="2000" dirty="0">
                <a:solidFill>
                  <a:schemeClr val="tx1"/>
                </a:solidFill>
                <a:cs typeface="Courier"/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to our class.</a:t>
            </a:r>
          </a:p>
        </p:txBody>
      </p:sp>
    </p:spTree>
    <p:extLst>
      <p:ext uri="{BB962C8B-B14F-4D97-AF65-F5344CB8AC3E}">
        <p14:creationId xmlns:p14="http://schemas.microsoft.com/office/powerpoint/2010/main" val="237822290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2470" y="733327"/>
            <a:ext cx="10417284" cy="638273"/>
          </a:xfrm>
        </p:spPr>
        <p:txBody>
          <a:bodyPr>
            <a:normAutofit/>
          </a:bodyPr>
          <a:lstStyle/>
          <a:p>
            <a:r>
              <a:rPr lang="en-US" sz="3200" dirty="0"/>
              <a:t>Class </a:t>
            </a:r>
            <a:r>
              <a:rPr lang="en-US" sz="3200" dirty="0" err="1">
                <a:latin typeface="Courier"/>
                <a:cs typeface="Courier"/>
              </a:rPr>
              <a:t>AudioMixer</a:t>
            </a:r>
            <a:r>
              <a:rPr lang="en-US" sz="3200" dirty="0"/>
              <a:t>: Displaying Header in Decimal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2470" y="1723605"/>
            <a:ext cx="10417284" cy="49159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Sample output of method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printSummary</a:t>
            </a:r>
            <a:r>
              <a:rPr lang="en-US" sz="2000" dirty="0">
                <a:solidFill>
                  <a:schemeClr val="tx1"/>
                </a:solidFill>
                <a:latin typeface="Courier"/>
                <a:cs typeface="Courier"/>
              </a:rPr>
              <a:t>(…)</a:t>
            </a:r>
            <a:r>
              <a:rPr lang="en-US" sz="2000" dirty="0">
                <a:solidFill>
                  <a:schemeClr val="tx1"/>
                </a:solidFill>
              </a:rPr>
              <a:t>:</a:t>
            </a: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lvl="1">
              <a:buNone/>
            </a:pPr>
            <a:r>
              <a:rPr lang="en-US" dirty="0">
                <a:solidFill>
                  <a:schemeClr val="tx1"/>
                </a:solidFill>
              </a:rPr>
              <a:t>Audio Format                             	= 1</a:t>
            </a:r>
          </a:p>
          <a:p>
            <a:pPr lvl="1">
              <a:buNone/>
            </a:pPr>
            <a:r>
              <a:rPr lang="en-US" dirty="0">
                <a:solidFill>
                  <a:schemeClr val="tx1"/>
                </a:solidFill>
              </a:rPr>
              <a:t>Number of Channels                  	= 1</a:t>
            </a:r>
          </a:p>
          <a:p>
            <a:pPr lvl="1">
              <a:buNone/>
            </a:pPr>
            <a:r>
              <a:rPr lang="en-US" dirty="0">
                <a:solidFill>
                  <a:schemeClr val="tx1"/>
                </a:solidFill>
              </a:rPr>
              <a:t>Sample Rate                              	= 44100</a:t>
            </a:r>
          </a:p>
          <a:p>
            <a:pPr lvl="1">
              <a:buNone/>
            </a:pPr>
            <a:r>
              <a:rPr lang="en-US" dirty="0">
                <a:solidFill>
                  <a:schemeClr val="tx1"/>
                </a:solidFill>
              </a:rPr>
              <a:t>Byte Rate                                   	= 44100</a:t>
            </a:r>
          </a:p>
          <a:p>
            <a:pPr lvl="1">
              <a:buNone/>
            </a:pPr>
            <a:r>
              <a:rPr lang="en-US" dirty="0">
                <a:solidFill>
                  <a:schemeClr val="tx1"/>
                </a:solidFill>
              </a:rPr>
              <a:t>Bytes per sample                       	= 1</a:t>
            </a:r>
          </a:p>
          <a:p>
            <a:pPr lvl="1">
              <a:buNone/>
            </a:pPr>
            <a:r>
              <a:rPr lang="en-US" dirty="0">
                <a:solidFill>
                  <a:schemeClr val="tx1"/>
                </a:solidFill>
              </a:rPr>
              <a:t>Bits per sample for all channels 	= 8</a:t>
            </a:r>
          </a:p>
          <a:p>
            <a:pPr lvl="1">
              <a:buNone/>
            </a:pPr>
            <a:r>
              <a:rPr lang="en-US" dirty="0">
                <a:solidFill>
                  <a:schemeClr val="tx1"/>
                </a:solidFill>
              </a:rPr>
              <a:t>Total bytes of audio data            	= 1320290</a:t>
            </a:r>
          </a:p>
        </p:txBody>
      </p:sp>
    </p:spTree>
    <p:extLst>
      <p:ext uri="{BB962C8B-B14F-4D97-AF65-F5344CB8AC3E}">
        <p14:creationId xmlns:p14="http://schemas.microsoft.com/office/powerpoint/2010/main" val="334280037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558" y="733327"/>
            <a:ext cx="10417284" cy="561399"/>
          </a:xfrm>
        </p:spPr>
        <p:txBody>
          <a:bodyPr>
            <a:normAutofit/>
          </a:bodyPr>
          <a:lstStyle/>
          <a:p>
            <a:r>
              <a:rPr lang="en-US" sz="2400" dirty="0"/>
              <a:t>Class </a:t>
            </a:r>
            <a:r>
              <a:rPr lang="en-US" sz="2400" dirty="0" err="1">
                <a:latin typeface="Courier"/>
                <a:cs typeface="Courier"/>
              </a:rPr>
              <a:t>AudioMixer</a:t>
            </a:r>
            <a:r>
              <a:rPr lang="en-US" sz="2400" dirty="0"/>
              <a:t>: Method to Return Integer Value of a Byte Array</a:t>
            </a:r>
          </a:p>
        </p:txBody>
      </p:sp>
      <p:sp>
        <p:nvSpPr>
          <p:cNvPr id="3" name="Rectangle 2"/>
          <p:cNvSpPr/>
          <p:nvPr/>
        </p:nvSpPr>
        <p:spPr>
          <a:xfrm>
            <a:off x="963557" y="1656425"/>
            <a:ext cx="886017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IntelliJ: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Courier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Courier"/>
                <a:sym typeface="Wingdings" panose="05000000000000000000" pitchFamily="2" charset="2"/>
              </a:rPr>
              <a:t>ShowWAVEHeader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Courier"/>
                <a:sym typeface="Wingdings" panose="05000000000000000000" pitchFamily="2" charset="2"/>
              </a:rPr>
              <a:t> 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getDecimalValueOfByteArray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(…)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Courier"/>
                <a:sym typeface="Wingdings" panose="05000000000000000000" pitchFamily="2" charset="2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Courier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Courier"/>
                <a:sym typeface="Wingdings" panose="05000000000000000000" pitchFamily="2" charset="2"/>
              </a:rPr>
              <a:t>ShowWAVEHeader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Courier"/>
                <a:sym typeface="Wingdings" panose="05000000000000000000" pitchFamily="2" charset="2"/>
              </a:rPr>
              <a:t>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Courier"/>
                <a:sym typeface="Wingdings" panose="05000000000000000000" pitchFamily="2" charset="2"/>
              </a:rPr>
              <a:t>printSummary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Courier"/>
                <a:sym typeface="Wingdings" panose="05000000000000000000" pitchFamily="2" charset="2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(…)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Courier"/>
                <a:sym typeface="Wingdings" panose="05000000000000000000" pitchFamily="2" charset="2"/>
              </a:rPr>
              <a:t>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Courier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Courier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7136" y="2158542"/>
            <a:ext cx="4789840" cy="425642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7618651" y="4122892"/>
            <a:ext cx="3762191" cy="13068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852961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831850" y="2306230"/>
            <a:ext cx="10515600" cy="1440382"/>
          </a:xfrm>
        </p:spPr>
        <p:txBody>
          <a:bodyPr>
            <a:normAutofit fontScale="90000"/>
          </a:bodyPr>
          <a:lstStyle/>
          <a:p>
            <a:r>
              <a:rPr lang="en-US" altLang="en-US" dirty="0" err="1"/>
              <a:t>AudioSystem</a:t>
            </a:r>
            <a:br>
              <a:rPr lang="en-US" altLang="en-US" dirty="0"/>
            </a:br>
            <a:r>
              <a:rPr lang="en-US" altLang="en-US" dirty="0"/>
              <a:t>Play Audio</a:t>
            </a:r>
          </a:p>
        </p:txBody>
      </p:sp>
    </p:spTree>
    <p:extLst>
      <p:ext uri="{BB962C8B-B14F-4D97-AF65-F5344CB8AC3E}">
        <p14:creationId xmlns:p14="http://schemas.microsoft.com/office/powerpoint/2010/main" val="15716131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2470" y="749511"/>
            <a:ext cx="4723863" cy="630181"/>
          </a:xfrm>
        </p:spPr>
        <p:txBody>
          <a:bodyPr/>
          <a:lstStyle/>
          <a:p>
            <a:r>
              <a:rPr lang="en-US" dirty="0"/>
              <a:t>Class </a:t>
            </a:r>
            <a:r>
              <a:rPr lang="en-US" dirty="0" err="1">
                <a:latin typeface="Courier"/>
                <a:cs typeface="Courier"/>
              </a:rPr>
              <a:t>AudioSystem</a:t>
            </a:r>
            <a:endParaRPr lang="en-US" dirty="0">
              <a:latin typeface="Courier"/>
              <a:cs typeface="Courier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0386" y="1583343"/>
            <a:ext cx="10322740" cy="506831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Main class in Java’s sound API:</a:t>
            </a:r>
          </a:p>
          <a:p>
            <a:r>
              <a:rPr lang="en-US" dirty="0">
                <a:solidFill>
                  <a:schemeClr val="tx1"/>
                </a:solidFill>
              </a:rPr>
              <a:t>Contains various static methods, that provide information about audio files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6536" y="2810913"/>
            <a:ext cx="5562600" cy="3543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49670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3511" y="724237"/>
            <a:ext cx="3497108" cy="675685"/>
          </a:xfrm>
        </p:spPr>
        <p:txBody>
          <a:bodyPr/>
          <a:lstStyle/>
          <a:p>
            <a:r>
              <a:rPr lang="en-US" dirty="0"/>
              <a:t>Interface </a:t>
            </a:r>
            <a:r>
              <a:rPr lang="en-US" dirty="0">
                <a:latin typeface="Courier"/>
                <a:cs typeface="Courier"/>
              </a:rPr>
              <a:t>Clip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3510" y="1693933"/>
            <a:ext cx="10399615" cy="4953674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 clip can </a:t>
            </a:r>
            <a:r>
              <a:rPr lang="en-US" b="1" dirty="0">
                <a:solidFill>
                  <a:schemeClr val="tx1"/>
                </a:solidFill>
              </a:rPr>
              <a:t>open</a:t>
            </a:r>
            <a:r>
              <a:rPr lang="en-US" dirty="0">
                <a:solidFill>
                  <a:schemeClr val="tx1"/>
                </a:solidFill>
              </a:rPr>
              <a:t> an audio stream, and </a:t>
            </a:r>
            <a:r>
              <a:rPr lang="en-US" b="1" dirty="0">
                <a:solidFill>
                  <a:schemeClr val="tx1"/>
                </a:solidFill>
              </a:rPr>
              <a:t>play</a:t>
            </a:r>
            <a:r>
              <a:rPr lang="en-US" dirty="0">
                <a:solidFill>
                  <a:schemeClr val="tx1"/>
                </a:solidFill>
              </a:rPr>
              <a:t> it.</a:t>
            </a:r>
          </a:p>
          <a:p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sz="2000" dirty="0">
                <a:solidFill>
                  <a:schemeClr val="tx1"/>
                </a:solidFill>
                <a:latin typeface="Courier"/>
                <a:cs typeface="Courier"/>
              </a:rPr>
              <a:t>Clip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interface declares several methods, to </a:t>
            </a:r>
            <a:r>
              <a:rPr lang="en-US" b="1" dirty="0">
                <a:solidFill>
                  <a:schemeClr val="tx1"/>
                </a:solidFill>
              </a:rPr>
              <a:t>open</a:t>
            </a:r>
            <a:r>
              <a:rPr lang="en-US" dirty="0">
                <a:solidFill>
                  <a:schemeClr val="tx1"/>
                </a:solidFill>
              </a:rPr>
              <a:t> and </a:t>
            </a:r>
            <a:r>
              <a:rPr lang="en-US" b="1" dirty="0">
                <a:solidFill>
                  <a:schemeClr val="tx1"/>
                </a:solidFill>
              </a:rPr>
              <a:t>play</a:t>
            </a:r>
            <a:r>
              <a:rPr lang="en-US" dirty="0">
                <a:solidFill>
                  <a:schemeClr val="tx1"/>
                </a:solidFill>
              </a:rPr>
              <a:t> a clip. </a:t>
            </a:r>
          </a:p>
          <a:p>
            <a:r>
              <a:rPr lang="en-US" dirty="0">
                <a:solidFill>
                  <a:schemeClr val="tx1"/>
                </a:solidFill>
              </a:rPr>
              <a:t>You can obtain a clip using the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getClip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method in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AudioSystem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2197" y="3485645"/>
            <a:ext cx="7215239" cy="2667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772197" y="5611827"/>
            <a:ext cx="2139668" cy="303451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01667" y="5578314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interesting</a:t>
            </a:r>
          </a:p>
        </p:txBody>
      </p:sp>
      <p:cxnSp>
        <p:nvCxnSpPr>
          <p:cNvPr id="8" name="Straight Arrow Connector 7"/>
          <p:cNvCxnSpPr>
            <a:stCxn id="5" idx="3"/>
            <a:endCxn id="4" idx="1"/>
          </p:cNvCxnSpPr>
          <p:nvPr/>
        </p:nvCxnSpPr>
        <p:spPr>
          <a:xfrm>
            <a:off x="2450727" y="5762980"/>
            <a:ext cx="321470" cy="5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833704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5946"/>
            <a:ext cx="6176383" cy="747265"/>
          </a:xfrm>
        </p:spPr>
        <p:txBody>
          <a:bodyPr/>
          <a:lstStyle/>
          <a:p>
            <a:r>
              <a:rPr lang="en-US" dirty="0"/>
              <a:t>Class </a:t>
            </a:r>
            <a:r>
              <a:rPr lang="en-US" dirty="0" err="1">
                <a:latin typeface="Courier"/>
                <a:cs typeface="Courier"/>
              </a:rPr>
              <a:t>AudioInputStream</a:t>
            </a:r>
            <a:endParaRPr lang="en-US" dirty="0">
              <a:latin typeface="Courier"/>
              <a:cs typeface="Courier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04472" cy="472420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To</a:t>
            </a:r>
            <a:r>
              <a:rPr lang="en-US" dirty="0"/>
              <a:t> </a:t>
            </a:r>
            <a:r>
              <a:rPr lang="en-US" b="1" dirty="0">
                <a:solidFill>
                  <a:srgbClr val="0000FF"/>
                </a:solidFill>
              </a:rPr>
              <a:t>read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an audio file, convert it to an </a:t>
            </a:r>
            <a:r>
              <a:rPr lang="en-US" b="1" dirty="0">
                <a:solidFill>
                  <a:schemeClr val="tx1"/>
                </a:solidFill>
              </a:rPr>
              <a:t>audio stream, </a:t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using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getAudioInputStream</a:t>
            </a:r>
            <a:r>
              <a:rPr lang="en-US" sz="2000" dirty="0">
                <a:solidFill>
                  <a:schemeClr val="tx1"/>
                </a:solidFill>
                <a:latin typeface="Courier"/>
                <a:cs typeface="Courier"/>
              </a:rPr>
              <a:t>(…)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method of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AudioSystem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To</a:t>
            </a:r>
            <a:r>
              <a:rPr lang="en-US" dirty="0"/>
              <a:t> </a:t>
            </a:r>
            <a:r>
              <a:rPr lang="en-US" b="1" dirty="0">
                <a:solidFill>
                  <a:srgbClr val="0000FF"/>
                </a:solidFill>
              </a:rPr>
              <a:t>open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an audio stream, use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AudioInputStream</a:t>
            </a:r>
            <a:r>
              <a:rPr lang="en-US" sz="2000" dirty="0">
                <a:solidFill>
                  <a:schemeClr val="tx1"/>
                </a:solidFill>
                <a:cs typeface="Courier"/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as argument.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To </a:t>
            </a:r>
            <a:r>
              <a:rPr lang="en-US" b="1" dirty="0">
                <a:solidFill>
                  <a:srgbClr val="0000FF"/>
                </a:solidFill>
              </a:rPr>
              <a:t>start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playback, use </a:t>
            </a:r>
            <a:r>
              <a:rPr lang="en-US" sz="2000" dirty="0">
                <a:solidFill>
                  <a:schemeClr val="tx1"/>
                </a:solidFill>
                <a:latin typeface="Courier"/>
                <a:cs typeface="Courier"/>
              </a:rPr>
              <a:t>start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method:</a:t>
            </a:r>
          </a:p>
        </p:txBody>
      </p:sp>
      <p:sp>
        <p:nvSpPr>
          <p:cNvPr id="6" name="Rectangle 5"/>
          <p:cNvSpPr/>
          <p:nvPr/>
        </p:nvSpPr>
        <p:spPr>
          <a:xfrm>
            <a:off x="2486951" y="5148558"/>
            <a:ext cx="6629400" cy="923330"/>
          </a:xfrm>
          <a:prstGeom prst="rect">
            <a:avLst/>
          </a:prstGeom>
          <a:solidFill>
            <a:srgbClr val="FFFFCC"/>
          </a:solidFill>
          <a:ln w="3175" cmpd="sng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/>
                <a:ea typeface="+mn-ea"/>
                <a:cs typeface="Courier"/>
              </a:rPr>
              <a:t>Clip clip = (Clip)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/>
                <a:ea typeface="+mn-ea"/>
                <a:cs typeface="Courier"/>
              </a:rPr>
              <a:t>AudioSystem.getClip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/>
                <a:ea typeface="+mn-ea"/>
                <a:cs typeface="Courier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/>
                <a:ea typeface="+mn-ea"/>
                <a:cs typeface="Courier"/>
              </a:rPr>
              <a:t>clip.open(stream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/>
                <a:ea typeface="+mn-ea"/>
                <a:cs typeface="Courier"/>
              </a:rPr>
              <a:t>); 	// open the audio stream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/>
                <a:ea typeface="+mn-ea"/>
                <a:cs typeface="Courier"/>
              </a:rPr>
              <a:t>clip.start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/>
                <a:ea typeface="+mn-ea"/>
                <a:cs typeface="Courier"/>
              </a:rPr>
              <a:t>(); 	// start playing the audio</a:t>
            </a:r>
          </a:p>
        </p:txBody>
      </p:sp>
      <p:sp>
        <p:nvSpPr>
          <p:cNvPr id="7" name="Rectangle 6"/>
          <p:cNvSpPr/>
          <p:nvPr/>
        </p:nvSpPr>
        <p:spPr>
          <a:xfrm>
            <a:off x="1212455" y="2911469"/>
            <a:ext cx="9655147" cy="369332"/>
          </a:xfrm>
          <a:prstGeom prst="rect">
            <a:avLst/>
          </a:prstGeom>
          <a:solidFill>
            <a:srgbClr val="FFFFCC"/>
          </a:solidFill>
          <a:ln w="3175" cmpd="sng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/>
                <a:ea typeface="+mn-ea"/>
                <a:cs typeface="Courier"/>
              </a:rPr>
              <a:t>AudioInputStream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/>
                <a:ea typeface="+mn-ea"/>
                <a:cs typeface="Courier"/>
              </a:rPr>
              <a:t> stream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/>
                <a:ea typeface="+mn-ea"/>
                <a:cs typeface="Courier"/>
              </a:rPr>
              <a:t>AudioSystem.getAudioInputStream(audioFile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/>
                <a:ea typeface="+mn-ea"/>
                <a:cs typeface="Courier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2776706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9512"/>
            <a:ext cx="6621445" cy="74347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>
                <a:latin typeface="Courier"/>
                <a:cs typeface="Courier"/>
              </a:rPr>
              <a:t>LineListener</a:t>
            </a:r>
            <a:r>
              <a:rPr lang="en-US" dirty="0">
                <a:latin typeface="+mn-lt"/>
                <a:cs typeface="Courier"/>
              </a:rPr>
              <a:t> </a:t>
            </a:r>
            <a:r>
              <a:rPr lang="en-US" dirty="0"/>
              <a:t>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80641"/>
            <a:ext cx="10404472" cy="4946735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b="1" dirty="0">
                <a:solidFill>
                  <a:schemeClr val="tx1"/>
                </a:solidFill>
              </a:rPr>
              <a:t>After the audio has been played</a:t>
            </a:r>
            <a:r>
              <a:rPr lang="en-US" dirty="0">
                <a:solidFill>
                  <a:schemeClr val="tx1"/>
                </a:solidFill>
              </a:rPr>
              <a:t>, event: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LineEvent.Type.STOP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 happens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Add an event handler: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LineListener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using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addLineListener</a:t>
            </a:r>
            <a:r>
              <a:rPr lang="en-US" sz="2000" dirty="0">
                <a:solidFill>
                  <a:schemeClr val="tx1"/>
                </a:solidFill>
                <a:latin typeface="Courier"/>
                <a:cs typeface="Courier"/>
              </a:rPr>
              <a:t>(…)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method to listen for this event.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interface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LineListener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contains an </a:t>
            </a:r>
            <a:r>
              <a:rPr lang="en-US" sz="2000" dirty="0">
                <a:solidFill>
                  <a:schemeClr val="tx1"/>
                </a:solidFill>
                <a:latin typeface="Courier"/>
                <a:cs typeface="Courier"/>
              </a:rPr>
              <a:t>update(…)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method:</a:t>
            </a:r>
          </a:p>
          <a:p>
            <a:pPr lvl="1">
              <a:buNone/>
            </a:pPr>
            <a:r>
              <a:rPr lang="en-US" dirty="0">
                <a:solidFill>
                  <a:schemeClr val="tx1"/>
                </a:solidFill>
                <a:latin typeface="Courier"/>
                <a:cs typeface="Courier"/>
              </a:rPr>
              <a:t>void update(</a:t>
            </a:r>
            <a:r>
              <a:rPr lang="en-US" dirty="0" err="1">
                <a:solidFill>
                  <a:schemeClr val="tx1"/>
                </a:solidFill>
                <a:latin typeface="Courier"/>
                <a:cs typeface="Courier"/>
              </a:rPr>
              <a:t>LineEvent</a:t>
            </a:r>
            <a:r>
              <a:rPr lang="en-US" dirty="0">
                <a:solidFill>
                  <a:schemeClr val="tx1"/>
                </a:solidFill>
                <a:latin typeface="Courier"/>
                <a:cs typeface="Courier"/>
              </a:rPr>
              <a:t> event)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275286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9512"/>
            <a:ext cx="6621445" cy="74347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>
                <a:latin typeface="Courier"/>
                <a:cs typeface="Courier"/>
              </a:rPr>
              <a:t>LineListener</a:t>
            </a:r>
            <a:r>
              <a:rPr lang="en-US" dirty="0">
                <a:latin typeface="+mn-lt"/>
                <a:cs typeface="Courier"/>
              </a:rPr>
              <a:t> </a:t>
            </a:r>
            <a:r>
              <a:rPr lang="en-US" dirty="0"/>
              <a:t>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80641"/>
            <a:ext cx="10404472" cy="494673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The event listener must implement this method </a:t>
            </a:r>
            <a:r>
              <a:rPr lang="en-US" sz="2000" dirty="0">
                <a:solidFill>
                  <a:schemeClr val="tx1"/>
                </a:solidFill>
                <a:latin typeface="Courier"/>
                <a:cs typeface="Courier"/>
              </a:rPr>
              <a:t>update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LineEvent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class, contains the method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getType</a:t>
            </a:r>
            <a:r>
              <a:rPr lang="en-US" sz="2000" dirty="0">
                <a:solidFill>
                  <a:schemeClr val="tx1"/>
                </a:solidFill>
                <a:latin typeface="Courier"/>
                <a:cs typeface="Courier"/>
              </a:rPr>
              <a:t>,</a:t>
            </a:r>
            <a:br>
              <a:rPr lang="en-US" sz="2000" dirty="0">
                <a:solidFill>
                  <a:schemeClr val="tx1"/>
                </a:solidFill>
                <a:latin typeface="Courier"/>
                <a:cs typeface="Courier"/>
              </a:rPr>
            </a:br>
            <a:r>
              <a:rPr lang="en-US" dirty="0">
                <a:solidFill>
                  <a:schemeClr val="tx1"/>
                </a:solidFill>
              </a:rPr>
              <a:t>to obtain the type of the event that has occurred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(such as </a:t>
            </a:r>
            <a:r>
              <a:rPr lang="en-US" dirty="0">
                <a:solidFill>
                  <a:schemeClr val="tx1"/>
                </a:solidFill>
                <a:latin typeface="Courier"/>
                <a:cs typeface="Courier"/>
              </a:rPr>
              <a:t>START</a:t>
            </a:r>
            <a:r>
              <a:rPr lang="en-US" dirty="0">
                <a:solidFill>
                  <a:schemeClr val="tx1"/>
                </a:solidFill>
                <a:cs typeface="Courier"/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or </a:t>
            </a:r>
            <a:r>
              <a:rPr lang="en-US" dirty="0">
                <a:solidFill>
                  <a:schemeClr val="tx1"/>
                </a:solidFill>
                <a:latin typeface="Courier"/>
                <a:cs typeface="Courier"/>
              </a:rPr>
              <a:t>STOP</a:t>
            </a:r>
            <a:r>
              <a:rPr lang="en-US" dirty="0">
                <a:solidFill>
                  <a:schemeClr val="tx1"/>
                </a:solidFill>
              </a:rPr>
              <a:t>, among others).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030" y="3866939"/>
            <a:ext cx="8143443" cy="2295145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>
            <a:off x="5494492" y="3285366"/>
            <a:ext cx="2298138" cy="1480843"/>
          </a:xfrm>
          <a:prstGeom prst="straightConnector1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951627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9465" y="741770"/>
            <a:ext cx="10707111" cy="64601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Courier"/>
                <a:cs typeface="Courier"/>
              </a:rPr>
              <a:t>AudioMixer</a:t>
            </a:r>
            <a:r>
              <a:rPr lang="en-US" sz="2800" dirty="0"/>
              <a:t>: Adding a Method to Play Audio Files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038" y="1435980"/>
            <a:ext cx="8783366" cy="510117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A94A618-FE42-F8FB-0E98-BDFF4721C8DD}"/>
              </a:ext>
            </a:extLst>
          </p:cNvPr>
          <p:cNvSpPr txBox="1">
            <a:spLocks/>
          </p:cNvSpPr>
          <p:nvPr/>
        </p:nvSpPr>
        <p:spPr>
          <a:xfrm>
            <a:off x="949465" y="35530"/>
            <a:ext cx="812635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“CSEN160_06_Lecture_FileIO_AdvancedFileIO_Serialize.scu.csen160.AudioPlayer.play(…)”</a:t>
            </a:r>
          </a:p>
        </p:txBody>
      </p:sp>
    </p:spTree>
    <p:extLst>
      <p:ext uri="{BB962C8B-B14F-4D97-AF65-F5344CB8AC3E}">
        <p14:creationId xmlns:p14="http://schemas.microsoft.com/office/powerpoint/2010/main" val="6802806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FBBF6-4227-E366-F5C9-F35970F44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A20D1755-185B-4B2C-3401-37B277AE8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306230"/>
            <a:ext cx="10515600" cy="1440382"/>
          </a:xfrm>
        </p:spPr>
        <p:txBody>
          <a:bodyPr/>
          <a:lstStyle/>
          <a:p>
            <a:r>
              <a:rPr lang="en-US" altLang="en-US" dirty="0"/>
              <a:t>Merge Audio</a:t>
            </a:r>
          </a:p>
        </p:txBody>
      </p:sp>
    </p:spTree>
    <p:extLst>
      <p:ext uri="{BB962C8B-B14F-4D97-AF65-F5344CB8AC3E}">
        <p14:creationId xmlns:p14="http://schemas.microsoft.com/office/powerpoint/2010/main" val="126877864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3557"/>
            <a:ext cx="10412564" cy="609951"/>
          </a:xfrm>
        </p:spPr>
        <p:txBody>
          <a:bodyPr>
            <a:normAutofit/>
          </a:bodyPr>
          <a:lstStyle/>
          <a:p>
            <a:r>
              <a:rPr lang="en-US" dirty="0"/>
              <a:t>Class </a:t>
            </a:r>
            <a:r>
              <a:rPr lang="en-US" dirty="0" err="1">
                <a:latin typeface="Courier"/>
                <a:cs typeface="Courier"/>
              </a:rPr>
              <a:t>AudioMixer</a:t>
            </a:r>
            <a:r>
              <a:rPr lang="en-US" dirty="0"/>
              <a:t>: Mixing Two WAV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97305"/>
            <a:ext cx="10412564" cy="49341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The algorithm:</a:t>
            </a:r>
          </a:p>
          <a:p>
            <a:pPr marL="45720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b="1" dirty="0">
                <a:solidFill>
                  <a:schemeClr val="tx1"/>
                </a:solidFill>
              </a:rPr>
              <a:t>Combine</a:t>
            </a:r>
            <a:r>
              <a:rPr lang="en-US" dirty="0">
                <a:solidFill>
                  <a:schemeClr val="tx1"/>
                </a:solidFill>
              </a:rPr>
              <a:t> audio samples from source WAV files:</a:t>
            </a:r>
          </a:p>
          <a:p>
            <a:pPr lvl="2"/>
            <a:r>
              <a:rPr lang="en-US" sz="1600" dirty="0">
                <a:solidFill>
                  <a:schemeClr val="tx1"/>
                </a:solidFill>
                <a:latin typeface="Courier"/>
                <a:cs typeface="Courier"/>
              </a:rPr>
              <a:t>data3 = data1 + data2 - 128;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The value 128 represents </a:t>
            </a:r>
            <a:r>
              <a:rPr lang="en-US" b="1" dirty="0">
                <a:solidFill>
                  <a:srgbClr val="FF0000"/>
                </a:solidFill>
              </a:rPr>
              <a:t>silence</a:t>
            </a:r>
            <a:r>
              <a:rPr lang="en-US" dirty="0">
                <a:solidFill>
                  <a:schemeClr val="tx1"/>
                </a:solidFill>
              </a:rPr>
              <a:t> for 8-bit audio. 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b="1" dirty="0">
                <a:solidFill>
                  <a:schemeClr val="tx1"/>
                </a:solidFill>
              </a:rPr>
              <a:t>Subtracting 128 </a:t>
            </a:r>
            <a:r>
              <a:rPr lang="en-US" dirty="0">
                <a:solidFill>
                  <a:schemeClr val="tx1"/>
                </a:solidFill>
              </a:rPr>
              <a:t>from the sum of </a:t>
            </a:r>
            <a:r>
              <a:rPr lang="en-US" sz="1800" dirty="0">
                <a:solidFill>
                  <a:schemeClr val="tx1"/>
                </a:solidFill>
                <a:latin typeface="Courier"/>
                <a:cs typeface="Courier"/>
              </a:rPr>
              <a:t>data1</a:t>
            </a:r>
            <a:r>
              <a:rPr lang="en-US" sz="1800" dirty="0">
                <a:solidFill>
                  <a:schemeClr val="tx1"/>
                </a:solidFill>
                <a:cs typeface="Courier"/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and </a:t>
            </a:r>
            <a:r>
              <a:rPr lang="en-US" sz="1800" dirty="0">
                <a:solidFill>
                  <a:schemeClr val="tx1"/>
                </a:solidFill>
                <a:latin typeface="Courier"/>
                <a:cs typeface="Courier"/>
              </a:rPr>
              <a:t>data2,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makes sure </a:t>
            </a:r>
            <a:r>
              <a:rPr lang="en-US" dirty="0">
                <a:solidFill>
                  <a:schemeClr val="tx1"/>
                </a:solidFill>
              </a:rPr>
              <a:t>that when </a:t>
            </a:r>
            <a:r>
              <a:rPr lang="en-US" sz="1800" dirty="0">
                <a:solidFill>
                  <a:schemeClr val="tx1"/>
                </a:solidFill>
                <a:latin typeface="Courier"/>
                <a:cs typeface="Courier"/>
              </a:rPr>
              <a:t>data1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and </a:t>
            </a:r>
            <a:r>
              <a:rPr lang="en-US" sz="1800" dirty="0">
                <a:solidFill>
                  <a:schemeClr val="tx1"/>
                </a:solidFill>
                <a:latin typeface="Courier"/>
                <a:cs typeface="Courier"/>
              </a:rPr>
              <a:t>data2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are both 128,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Then that </a:t>
            </a:r>
            <a:r>
              <a:rPr lang="en-US" sz="1800" dirty="0">
                <a:solidFill>
                  <a:schemeClr val="tx1"/>
                </a:solidFill>
                <a:latin typeface="Courier"/>
                <a:cs typeface="Courier"/>
              </a:rPr>
              <a:t>data3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is also 128.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Samples can have values only from </a:t>
            </a:r>
            <a:r>
              <a:rPr lang="en-US" b="1" dirty="0">
                <a:solidFill>
                  <a:schemeClr val="tx1"/>
                </a:solidFill>
              </a:rPr>
              <a:t>0 to 255 for 8-bit audio</a:t>
            </a:r>
            <a:r>
              <a:rPr lang="en-US" dirty="0">
                <a:solidFill>
                  <a:schemeClr val="tx1"/>
                </a:solidFill>
              </a:rPr>
              <a:t>,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and so </a:t>
            </a:r>
            <a:r>
              <a:rPr lang="en-US" sz="1800" dirty="0">
                <a:solidFill>
                  <a:schemeClr val="tx1"/>
                </a:solidFill>
                <a:latin typeface="Courier"/>
                <a:cs typeface="Courier"/>
              </a:rPr>
              <a:t>data3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is constrained to lie within this range.</a:t>
            </a:r>
          </a:p>
        </p:txBody>
      </p:sp>
    </p:spTree>
    <p:extLst>
      <p:ext uri="{BB962C8B-B14F-4D97-AF65-F5344CB8AC3E}">
        <p14:creationId xmlns:p14="http://schemas.microsoft.com/office/powerpoint/2010/main" val="390827305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9465" y="733678"/>
            <a:ext cx="7547172" cy="569140"/>
          </a:xfrm>
        </p:spPr>
        <p:txBody>
          <a:bodyPr>
            <a:normAutofit/>
          </a:bodyPr>
          <a:lstStyle/>
          <a:p>
            <a:r>
              <a:rPr lang="en-US" sz="2800" dirty="0"/>
              <a:t>Class </a:t>
            </a:r>
            <a:r>
              <a:rPr lang="en-US" sz="2800" dirty="0" err="1">
                <a:latin typeface="Courier"/>
                <a:cs typeface="Courier"/>
              </a:rPr>
              <a:t>AudioMixer</a:t>
            </a:r>
            <a:r>
              <a:rPr lang="en-US" sz="2800" dirty="0"/>
              <a:t>: Mixing Two WAV Files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9797FE6-386A-A247-3F28-2424A1E6D38C}"/>
              </a:ext>
            </a:extLst>
          </p:cNvPr>
          <p:cNvSpPr txBox="1">
            <a:spLocks/>
          </p:cNvSpPr>
          <p:nvPr/>
        </p:nvSpPr>
        <p:spPr>
          <a:xfrm>
            <a:off x="1066985" y="0"/>
            <a:ext cx="8445983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“CSEN160_06_Lecture_FileIO_AdvancedFileIO_Serialize.scu.csen160.E_AudioMixer.merge(…)”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9A9183-2924-4CD2-E267-47D449843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028" y="1806125"/>
            <a:ext cx="7106433" cy="4612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18077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831850" y="2306230"/>
            <a:ext cx="10515600" cy="1440382"/>
          </a:xfrm>
        </p:spPr>
        <p:txBody>
          <a:bodyPr/>
          <a:lstStyle/>
          <a:p>
            <a:r>
              <a:rPr lang="en-US" altLang="en-US" dirty="0"/>
              <a:t>Serialization</a:t>
            </a:r>
          </a:p>
        </p:txBody>
      </p:sp>
    </p:spTree>
    <p:extLst>
      <p:ext uri="{BB962C8B-B14F-4D97-AF65-F5344CB8AC3E}">
        <p14:creationId xmlns:p14="http://schemas.microsoft.com/office/powerpoint/2010/main" val="136111214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9741"/>
            <a:ext cx="3089272" cy="662549"/>
          </a:xfrm>
        </p:spPr>
        <p:txBody>
          <a:bodyPr/>
          <a:lstStyle/>
          <a:p>
            <a:r>
              <a:rPr lang="en-US" dirty="0"/>
              <a:t>Serialization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368057" cy="474848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Serialization: </a:t>
            </a:r>
            <a:r>
              <a:rPr lang="en-US" dirty="0">
                <a:solidFill>
                  <a:schemeClr val="tx1"/>
                </a:solidFill>
              </a:rPr>
              <a:t>saving an object to disk: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When an object is serialized: it is </a:t>
            </a:r>
            <a:r>
              <a:rPr lang="en-US" b="1" dirty="0">
                <a:solidFill>
                  <a:schemeClr val="tx1"/>
                </a:solidFill>
              </a:rPr>
              <a:t>flattened/deflated.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reverse of constructing an object back from the binary data is </a:t>
            </a:r>
            <a:r>
              <a:rPr lang="en-US" b="1" dirty="0">
                <a:solidFill>
                  <a:schemeClr val="tx1"/>
                </a:solidFill>
              </a:rPr>
              <a:t>deserialization.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 </a:t>
            </a:r>
            <a:r>
              <a:rPr lang="en-US" b="1" dirty="0">
                <a:solidFill>
                  <a:schemeClr val="tx1"/>
                </a:solidFill>
              </a:rPr>
              <a:t>deserialized (or inflated) </a:t>
            </a:r>
            <a:r>
              <a:rPr lang="en-US" dirty="0">
                <a:solidFill>
                  <a:schemeClr val="tx1"/>
                </a:solidFill>
              </a:rPr>
              <a:t>object is one </a:t>
            </a:r>
            <a:r>
              <a:rPr lang="en-US" b="1" dirty="0">
                <a:solidFill>
                  <a:schemeClr val="tx1"/>
                </a:solidFill>
              </a:rPr>
              <a:t>whose state has been restored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9483017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9971"/>
            <a:ext cx="10417284" cy="654457"/>
          </a:xfrm>
        </p:spPr>
        <p:txBody>
          <a:bodyPr>
            <a:normAutofit/>
          </a:bodyPr>
          <a:lstStyle/>
          <a:p>
            <a:r>
              <a:rPr lang="en-US" sz="2800" dirty="0"/>
              <a:t>Classes </a:t>
            </a:r>
            <a:r>
              <a:rPr lang="en-US" sz="2800" dirty="0" err="1">
                <a:latin typeface="Courier"/>
                <a:cs typeface="Courier"/>
              </a:rPr>
              <a:t>ObjectInputStream</a:t>
            </a:r>
            <a:r>
              <a:rPr lang="en-US" sz="2800" dirty="0">
                <a:latin typeface="Courier"/>
                <a:cs typeface="Courier"/>
              </a:rPr>
              <a:t> </a:t>
            </a:r>
            <a:r>
              <a:rPr lang="en-US" sz="2800" dirty="0"/>
              <a:t>and </a:t>
            </a:r>
            <a:r>
              <a:rPr lang="en-US" sz="2800" dirty="0" err="1">
                <a:latin typeface="Courier"/>
                <a:cs typeface="Courier"/>
              </a:rPr>
              <a:t>ObjectOutputStream</a:t>
            </a:r>
            <a:endParaRPr lang="en-US" sz="2800" dirty="0">
              <a:latin typeface="Courier"/>
              <a:cs typeface="Courier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84687"/>
            <a:ext cx="10417284" cy="4942689"/>
          </a:xfrm>
        </p:spPr>
        <p:txBody>
          <a:bodyPr/>
          <a:lstStyle/>
          <a:p>
            <a:endParaRPr lang="en-US" dirty="0"/>
          </a:p>
          <a:p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ObjectOutputStream</a:t>
            </a:r>
            <a:r>
              <a:rPr lang="en-US" sz="2000" dirty="0">
                <a:solidFill>
                  <a:schemeClr val="tx1"/>
                </a:solidFill>
                <a:cs typeface="Courier"/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is used to convert the </a:t>
            </a:r>
            <a:r>
              <a:rPr lang="en-US" b="1" i="1" dirty="0">
                <a:solidFill>
                  <a:schemeClr val="tx1"/>
                </a:solidFill>
              </a:rPr>
              <a:t>instance fields</a:t>
            </a:r>
            <a:r>
              <a:rPr lang="en-US" i="1" dirty="0">
                <a:solidFill>
                  <a:schemeClr val="tx1"/>
                </a:solidFill>
              </a:rPr>
              <a:t>, </a:t>
            </a:r>
            <a:br>
              <a:rPr lang="en-US" i="1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of an object into a stream of bytes.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This </a:t>
            </a:r>
            <a:r>
              <a:rPr lang="en-US" b="1" dirty="0">
                <a:solidFill>
                  <a:schemeClr val="tx1"/>
                </a:solidFill>
              </a:rPr>
              <a:t>byte stream </a:t>
            </a:r>
            <a:r>
              <a:rPr lang="en-US" dirty="0">
                <a:solidFill>
                  <a:schemeClr val="tx1"/>
                </a:solidFill>
              </a:rPr>
              <a:t>can be sent to a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FileOutputStream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binary data can be read back, using a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FileInputStream</a:t>
            </a:r>
            <a:r>
              <a:rPr lang="en-US" sz="2000" dirty="0">
                <a:solidFill>
                  <a:schemeClr val="tx1"/>
                </a:solidFill>
                <a:latin typeface="Courier"/>
                <a:cs typeface="Courier"/>
              </a:rPr>
              <a:t> </a:t>
            </a:r>
            <a:br>
              <a:rPr lang="en-US" sz="2000" dirty="0">
                <a:solidFill>
                  <a:schemeClr val="tx1"/>
                </a:solidFill>
                <a:latin typeface="Courier"/>
                <a:cs typeface="Courier"/>
              </a:rPr>
            </a:br>
            <a:r>
              <a:rPr lang="en-US" dirty="0">
                <a:solidFill>
                  <a:schemeClr val="tx1"/>
                </a:solidFill>
              </a:rPr>
              <a:t>and sent to an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ObjectInputStream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879233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0849"/>
            <a:ext cx="10417284" cy="651211"/>
          </a:xfrm>
        </p:spPr>
        <p:txBody>
          <a:bodyPr>
            <a:normAutofit/>
          </a:bodyPr>
          <a:lstStyle/>
          <a:p>
            <a:r>
              <a:rPr lang="en-US" sz="2800" dirty="0"/>
              <a:t>Classes </a:t>
            </a:r>
            <a:r>
              <a:rPr lang="en-US" sz="2800" dirty="0" err="1">
                <a:latin typeface="Courier"/>
                <a:cs typeface="Courier"/>
              </a:rPr>
              <a:t>ObjectInputStream</a:t>
            </a:r>
            <a:r>
              <a:rPr lang="en-US" sz="2800" dirty="0">
                <a:latin typeface="Courier"/>
                <a:cs typeface="Courier"/>
              </a:rPr>
              <a:t> </a:t>
            </a:r>
            <a:r>
              <a:rPr lang="en-US" sz="2800" dirty="0"/>
              <a:t>and </a:t>
            </a:r>
            <a:r>
              <a:rPr lang="en-US" sz="2800" dirty="0" err="1">
                <a:latin typeface="Courier"/>
                <a:cs typeface="Courier"/>
              </a:rPr>
              <a:t>ObjectOutputStream</a:t>
            </a:r>
            <a:endParaRPr lang="en-US" sz="2800" dirty="0">
              <a:latin typeface="Courier"/>
              <a:cs typeface="Courier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81793"/>
            <a:ext cx="10384242" cy="482940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</a:rPr>
              <a:t>(a) The </a:t>
            </a:r>
            <a:r>
              <a:rPr lang="en-US" sz="1730" dirty="0" err="1">
                <a:solidFill>
                  <a:schemeClr val="tx1"/>
                </a:solidFill>
                <a:latin typeface="Courier"/>
                <a:cs typeface="Courier"/>
              </a:rPr>
              <a:t>writeObject</a:t>
            </a:r>
            <a:r>
              <a:rPr lang="en-US" sz="1730" dirty="0">
                <a:solidFill>
                  <a:schemeClr val="tx1"/>
                </a:solidFill>
                <a:cs typeface="Courier"/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method of </a:t>
            </a:r>
            <a:r>
              <a:rPr lang="en-US" sz="1730" dirty="0" err="1">
                <a:solidFill>
                  <a:schemeClr val="tx1"/>
                </a:solidFill>
                <a:latin typeface="Courier"/>
                <a:cs typeface="Courier"/>
              </a:rPr>
              <a:t>ObjectOutputStream</a:t>
            </a:r>
            <a:r>
              <a:rPr lang="en-US" sz="1730" dirty="0">
                <a:solidFill>
                  <a:schemeClr val="tx1"/>
                </a:solidFill>
                <a:cs typeface="Courier"/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serializes an object. </a:t>
            </a:r>
          </a:p>
          <a:p>
            <a:pPr>
              <a:buNone/>
            </a:pPr>
            <a:endParaRPr lang="en-US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</a:rPr>
              <a:t>(b) The </a:t>
            </a:r>
            <a:r>
              <a:rPr lang="en-US" sz="1730" dirty="0" err="1">
                <a:solidFill>
                  <a:schemeClr val="tx1"/>
                </a:solidFill>
                <a:latin typeface="Courier"/>
                <a:cs typeface="Courier"/>
              </a:rPr>
              <a:t>readObject</a:t>
            </a:r>
            <a:r>
              <a:rPr lang="en-US" sz="1730" dirty="0">
                <a:solidFill>
                  <a:schemeClr val="tx1"/>
                </a:solidFill>
                <a:cs typeface="Courier"/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method of </a:t>
            </a:r>
            <a:r>
              <a:rPr lang="en-US" sz="1730" dirty="0" err="1">
                <a:solidFill>
                  <a:schemeClr val="tx1"/>
                </a:solidFill>
                <a:latin typeface="Courier"/>
                <a:cs typeface="Courier"/>
              </a:rPr>
              <a:t>ObjectInputStream</a:t>
            </a:r>
            <a:r>
              <a:rPr lang="en-US" sz="1946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deserializes</a:t>
            </a:r>
            <a:r>
              <a:rPr lang="en-US" dirty="0">
                <a:solidFill>
                  <a:schemeClr val="tx1"/>
                </a:solidFill>
              </a:rPr>
              <a:t> an object.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279" y="1702702"/>
            <a:ext cx="3225952" cy="276273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536" y="1702702"/>
            <a:ext cx="3443002" cy="2682650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 flipH="1" flipV="1">
            <a:off x="2638004" y="3216586"/>
            <a:ext cx="20230" cy="1828798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2658234" y="3151850"/>
            <a:ext cx="5029200" cy="2872670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93052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9741"/>
            <a:ext cx="4464918" cy="626135"/>
          </a:xfrm>
        </p:spPr>
        <p:txBody>
          <a:bodyPr/>
          <a:lstStyle/>
          <a:p>
            <a:r>
              <a:rPr lang="en-US" dirty="0"/>
              <a:t>Object Serialization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882943"/>
            <a:ext cx="10420656" cy="4728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Object is serialized by the following steps: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</a:rPr>
              <a:t>1. Create a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FileOutputStream</a:t>
            </a:r>
            <a:r>
              <a:rPr lang="en-US" sz="2000" dirty="0">
                <a:solidFill>
                  <a:schemeClr val="tx1"/>
                </a:solidFill>
                <a:cs typeface="Courier"/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to write to file,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wrap it inside an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ObjectOutputStream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>
              <a:buNone/>
            </a:pPr>
            <a:endParaRPr lang="en-US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</a:rPr>
              <a:t>2. Invoke the object stream’s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writeObject</a:t>
            </a:r>
            <a:r>
              <a:rPr lang="en-US" sz="2000" dirty="0">
                <a:solidFill>
                  <a:schemeClr val="tx1"/>
                </a:solidFill>
                <a:cs typeface="Courier"/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method,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to save the object’s state.</a:t>
            </a:r>
          </a:p>
        </p:txBody>
      </p:sp>
    </p:spTree>
    <p:extLst>
      <p:ext uri="{BB962C8B-B14F-4D97-AF65-F5344CB8AC3E}">
        <p14:creationId xmlns:p14="http://schemas.microsoft.com/office/powerpoint/2010/main" val="350102871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1650"/>
            <a:ext cx="5067774" cy="771792"/>
          </a:xfrm>
        </p:spPr>
        <p:txBody>
          <a:bodyPr/>
          <a:lstStyle/>
          <a:p>
            <a:r>
              <a:rPr lang="en-US" dirty="0"/>
              <a:t>Object </a:t>
            </a:r>
            <a:r>
              <a:rPr lang="en-US" dirty="0" err="1"/>
              <a:t>Deserialization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846529"/>
            <a:ext cx="10400426" cy="4788940"/>
          </a:xfrm>
        </p:spPr>
        <p:txBody>
          <a:bodyPr/>
          <a:lstStyle/>
          <a:p>
            <a:pPr>
              <a:buNone/>
            </a:pPr>
            <a:r>
              <a:rPr lang="en-US" b="1" dirty="0">
                <a:solidFill>
                  <a:schemeClr val="tx1"/>
                </a:solidFill>
              </a:rPr>
              <a:t>Object is </a:t>
            </a:r>
            <a:r>
              <a:rPr lang="en-US" b="1" dirty="0" err="1">
                <a:solidFill>
                  <a:schemeClr val="tx1"/>
                </a:solidFill>
              </a:rPr>
              <a:t>deserialized</a:t>
            </a:r>
            <a:r>
              <a:rPr lang="en-US" b="1" dirty="0">
                <a:solidFill>
                  <a:schemeClr val="tx1"/>
                </a:solidFill>
              </a:rPr>
              <a:t> using the following steps:</a:t>
            </a:r>
          </a:p>
          <a:p>
            <a:pPr>
              <a:buNone/>
            </a:pPr>
            <a:endParaRPr lang="en-US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</a:rPr>
              <a:t>1. Create a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FileInputStream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to read from a file,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wrap it inside an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ObjectInputStream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>
              <a:buNone/>
            </a:pPr>
            <a:endParaRPr lang="en-US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</a:rPr>
              <a:t>2. Invoke the object stream’s </a:t>
            </a:r>
            <a:r>
              <a:rPr lang="en-US" sz="2000" dirty="0" err="1">
                <a:solidFill>
                  <a:schemeClr val="tx1"/>
                </a:solidFill>
                <a:latin typeface="Courier"/>
                <a:cs typeface="Courier"/>
              </a:rPr>
              <a:t>readObject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method,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to restore the object’s state.</a:t>
            </a:r>
          </a:p>
        </p:txBody>
      </p:sp>
    </p:spTree>
    <p:extLst>
      <p:ext uri="{BB962C8B-B14F-4D97-AF65-F5344CB8AC3E}">
        <p14:creationId xmlns:p14="http://schemas.microsoft.com/office/powerpoint/2010/main" val="119920184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1649"/>
            <a:ext cx="7123151" cy="569197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of Object Serialization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C45FD6B-0CD6-94E6-55EE-0BEDB3E9ED03}"/>
              </a:ext>
            </a:extLst>
          </p:cNvPr>
          <p:cNvSpPr txBox="1">
            <a:spLocks/>
          </p:cNvSpPr>
          <p:nvPr/>
        </p:nvSpPr>
        <p:spPr>
          <a:xfrm>
            <a:off x="901341" y="0"/>
            <a:ext cx="8098282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“CSEN160_06_Lecture_FileIO_AdvancedFileIO_Serialize.scu.csen160.AudioMixerSerialized”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2ECE97-2CFE-8DDB-0E63-53E53E36C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199" y="1366941"/>
            <a:ext cx="8165682" cy="5242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75793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/>
              <a:t>Done</a:t>
            </a:r>
            <a:endParaRPr lang="en-US" dirty="0"/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47800001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1579</TotalTime>
  <Words>2740</Words>
  <Application>Microsoft Office PowerPoint</Application>
  <PresentationFormat>Widescreen</PresentationFormat>
  <Paragraphs>498</Paragraphs>
  <Slides>83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83</vt:i4>
      </vt:variant>
    </vt:vector>
  </HeadingPairs>
  <TitlesOfParts>
    <vt:vector size="90" baseType="lpstr">
      <vt:lpstr>Arial</vt:lpstr>
      <vt:lpstr>Arial Narrow</vt:lpstr>
      <vt:lpstr>Calibri</vt:lpstr>
      <vt:lpstr>Courier</vt:lpstr>
      <vt:lpstr>Garamond</vt:lpstr>
      <vt:lpstr>SCUTemplate</vt:lpstr>
      <vt:lpstr>Custom Design</vt:lpstr>
      <vt:lpstr>CSEN160</vt:lpstr>
      <vt:lpstr>File I/O</vt:lpstr>
      <vt:lpstr>Classes File I/O</vt:lpstr>
      <vt:lpstr>FileReader &amp; FileWriter</vt:lpstr>
      <vt:lpstr>Class FileReader</vt:lpstr>
      <vt:lpstr>Class FileWriter</vt:lpstr>
      <vt:lpstr>Reading From a File</vt:lpstr>
      <vt:lpstr>IntelliJ example</vt:lpstr>
      <vt:lpstr>IntelliJ example</vt:lpstr>
      <vt:lpstr>IntelliJ example</vt:lpstr>
      <vt:lpstr>BufferedReader &amp; BufferedWriter</vt:lpstr>
      <vt:lpstr>Class BufferedReader</vt:lpstr>
      <vt:lpstr>Class BufferedWriter</vt:lpstr>
      <vt:lpstr>Class BufferedReader</vt:lpstr>
      <vt:lpstr>Class BufferedWriter</vt:lpstr>
      <vt:lpstr>Classes BufferedReader/BufferedWriter</vt:lpstr>
      <vt:lpstr>Example</vt:lpstr>
      <vt:lpstr>Scanner</vt:lpstr>
      <vt:lpstr>Class Scanner</vt:lpstr>
      <vt:lpstr>Class Scanner</vt:lpstr>
      <vt:lpstr>Class Scanner (continued)</vt:lpstr>
      <vt:lpstr>Example</vt:lpstr>
      <vt:lpstr>Text File Formats</vt:lpstr>
      <vt:lpstr>Text File Formats</vt:lpstr>
      <vt:lpstr>ASCII File Format</vt:lpstr>
      <vt:lpstr>ASCII File Format</vt:lpstr>
      <vt:lpstr>ANSI</vt:lpstr>
      <vt:lpstr>ANSI</vt:lpstr>
      <vt:lpstr>Unicode</vt:lpstr>
      <vt:lpstr>RandomAccessFile</vt:lpstr>
      <vt:lpstr>Accessing Files Randomly</vt:lpstr>
      <vt:lpstr>Accessing Files Randomly</vt:lpstr>
      <vt:lpstr>Class RandomAccessFile</vt:lpstr>
      <vt:lpstr>Exercise  RandomAccessFile</vt:lpstr>
      <vt:lpstr>Exercise</vt:lpstr>
      <vt:lpstr>Exercise</vt:lpstr>
      <vt:lpstr>FileInputStream &amp; FileOutputStream</vt:lpstr>
      <vt:lpstr>Classes FileInputStream/FileOutputStream</vt:lpstr>
      <vt:lpstr>Binary Files</vt:lpstr>
      <vt:lpstr>Audio Example</vt:lpstr>
      <vt:lpstr>Terminology</vt:lpstr>
      <vt:lpstr>Digitizing Sound</vt:lpstr>
      <vt:lpstr>Sampling</vt:lpstr>
      <vt:lpstr>Sampling (continued)</vt:lpstr>
      <vt:lpstr>Sampling (continued)</vt:lpstr>
      <vt:lpstr>Quantization</vt:lpstr>
      <vt:lpstr>Quantization</vt:lpstr>
      <vt:lpstr>Wave File</vt:lpstr>
      <vt:lpstr>Class AudioMixer</vt:lpstr>
      <vt:lpstr>Class AudioMixer</vt:lpstr>
      <vt:lpstr>WAV Files</vt:lpstr>
      <vt:lpstr>A WAV File Header</vt:lpstr>
      <vt:lpstr>Class AudioMixer: Displaying the Header of a WAV File</vt:lpstr>
      <vt:lpstr>A WAV File Header</vt:lpstr>
      <vt:lpstr>Class AudioMixer: Displaying the Header of a WAV File</vt:lpstr>
      <vt:lpstr>Big-Endian and Little-Endian </vt:lpstr>
      <vt:lpstr>Big-Endian and Little-Endian Order</vt:lpstr>
      <vt:lpstr>Big-Endian and Little-Endian Order</vt:lpstr>
      <vt:lpstr>Big-Endian and Little-Endian Order</vt:lpstr>
      <vt:lpstr>A WAV File Header</vt:lpstr>
      <vt:lpstr>Changing Binary Values in an Array to Decimal</vt:lpstr>
      <vt:lpstr>Changing Binary Values in an Array to Decimal</vt:lpstr>
      <vt:lpstr>Changing Binary Values In an Array to Decimal continued</vt:lpstr>
      <vt:lpstr>Class AudioMixer: Displaying Header in Decimal</vt:lpstr>
      <vt:lpstr>Class AudioMixer: Method to Return Integer Value of a Byte Array</vt:lpstr>
      <vt:lpstr>AudioSystem Play Audio</vt:lpstr>
      <vt:lpstr>Class AudioSystem</vt:lpstr>
      <vt:lpstr>Interface Clip</vt:lpstr>
      <vt:lpstr>Class AudioInputStream</vt:lpstr>
      <vt:lpstr>The LineListener Interface</vt:lpstr>
      <vt:lpstr>The LineListener Interface</vt:lpstr>
      <vt:lpstr>AudioMixer: Adding a Method to Play Audio Files</vt:lpstr>
      <vt:lpstr>Merge Audio</vt:lpstr>
      <vt:lpstr>Class AudioMixer: Mixing Two WAV Files</vt:lpstr>
      <vt:lpstr>Class AudioMixer: Mixing Two WAV Files</vt:lpstr>
      <vt:lpstr>Serialization</vt:lpstr>
      <vt:lpstr>Serialization</vt:lpstr>
      <vt:lpstr>Classes ObjectInputStream and ObjectOutputStream</vt:lpstr>
      <vt:lpstr>Classes ObjectInputStream and ObjectOutputStream</vt:lpstr>
      <vt:lpstr>Object Serialization</vt:lpstr>
      <vt:lpstr>Object Deserialization</vt:lpstr>
      <vt:lpstr>Example of Object Serialization</vt:lpstr>
      <vt:lpstr>Done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235</cp:revision>
  <cp:lastPrinted>2023-09-11T21:46:56Z</cp:lastPrinted>
  <dcterms:created xsi:type="dcterms:W3CDTF">2023-09-09T19:51:41Z</dcterms:created>
  <dcterms:modified xsi:type="dcterms:W3CDTF">2026-08-21T22:40:50Z</dcterms:modified>
</cp:coreProperties>
</file>