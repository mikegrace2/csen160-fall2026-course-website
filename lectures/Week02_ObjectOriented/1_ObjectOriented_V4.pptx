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4" r:id="rId2"/>
  </p:sldMasterIdLst>
  <p:notesMasterIdLst>
    <p:notesMasterId r:id="rId63"/>
  </p:notesMasterIdLst>
  <p:handoutMasterIdLst>
    <p:handoutMasterId r:id="rId64"/>
  </p:handoutMasterIdLst>
  <p:sldIdLst>
    <p:sldId id="333" r:id="rId3"/>
    <p:sldId id="431" r:id="rId4"/>
    <p:sldId id="432" r:id="rId5"/>
    <p:sldId id="420" r:id="rId6"/>
    <p:sldId id="421" r:id="rId7"/>
    <p:sldId id="422" r:id="rId8"/>
    <p:sldId id="423" r:id="rId9"/>
    <p:sldId id="424" r:id="rId10"/>
    <p:sldId id="425" r:id="rId11"/>
    <p:sldId id="430" r:id="rId12"/>
    <p:sldId id="360" r:id="rId13"/>
    <p:sldId id="375" r:id="rId14"/>
    <p:sldId id="286" r:id="rId15"/>
    <p:sldId id="374" r:id="rId16"/>
    <p:sldId id="377" r:id="rId17"/>
    <p:sldId id="378" r:id="rId18"/>
    <p:sldId id="298" r:id="rId19"/>
    <p:sldId id="433" r:id="rId20"/>
    <p:sldId id="388" r:id="rId21"/>
    <p:sldId id="362" r:id="rId22"/>
    <p:sldId id="363" r:id="rId23"/>
    <p:sldId id="361" r:id="rId24"/>
    <p:sldId id="290" r:id="rId25"/>
    <p:sldId id="364" r:id="rId26"/>
    <p:sldId id="365" r:id="rId27"/>
    <p:sldId id="366" r:id="rId28"/>
    <p:sldId id="367" r:id="rId29"/>
    <p:sldId id="368" r:id="rId30"/>
    <p:sldId id="380" r:id="rId31"/>
    <p:sldId id="369" r:id="rId32"/>
    <p:sldId id="371" r:id="rId33"/>
    <p:sldId id="381" r:id="rId34"/>
    <p:sldId id="370" r:id="rId35"/>
    <p:sldId id="287" r:id="rId36"/>
    <p:sldId id="393" r:id="rId37"/>
    <p:sldId id="394" r:id="rId38"/>
    <p:sldId id="395" r:id="rId39"/>
    <p:sldId id="396" r:id="rId40"/>
    <p:sldId id="397" r:id="rId41"/>
    <p:sldId id="435" r:id="rId42"/>
    <p:sldId id="436" r:id="rId43"/>
    <p:sldId id="398" r:id="rId44"/>
    <p:sldId id="399" r:id="rId45"/>
    <p:sldId id="400" r:id="rId46"/>
    <p:sldId id="401" r:id="rId47"/>
    <p:sldId id="402" r:id="rId48"/>
    <p:sldId id="403" r:id="rId49"/>
    <p:sldId id="404" r:id="rId50"/>
    <p:sldId id="405" r:id="rId51"/>
    <p:sldId id="406" r:id="rId52"/>
    <p:sldId id="407" r:id="rId53"/>
    <p:sldId id="408" r:id="rId54"/>
    <p:sldId id="409" r:id="rId55"/>
    <p:sldId id="509" r:id="rId56"/>
    <p:sldId id="410" r:id="rId57"/>
    <p:sldId id="414" r:id="rId58"/>
    <p:sldId id="415" r:id="rId59"/>
    <p:sldId id="416" r:id="rId60"/>
    <p:sldId id="418" r:id="rId61"/>
    <p:sldId id="419" r:id="rId62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644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72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notesMaster" Target="notesMasters/notesMaster1.xml"/><Relationship Id="rId68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viewProps" Target="viewProps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handoutMaster" Target="handoutMasters/handoutMaster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theme" Target="theme/theme1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8E938536-29D3-49BD-A567-41CAF057586A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B2E2B272-7A3A-4005-B1B0-0F9070B870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79073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71559A16-B3AD-4CE2-9A5E-FAAD3C2C27CA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28C6438F-747C-40FA-8F40-021E653C05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901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57066" indent="-291179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64717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30604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96491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62377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028264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94151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960038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03532ECB-D9D2-4A06-A4A9-4FCCF7B35F41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20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9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765175" y="788988"/>
            <a:ext cx="5494338" cy="3090862"/>
          </a:xfr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</p:spTree>
    <p:extLst>
      <p:ext uri="{BB962C8B-B14F-4D97-AF65-F5344CB8AC3E}">
        <p14:creationId xmlns:p14="http://schemas.microsoft.com/office/powerpoint/2010/main" val="4287422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57066" indent="-291179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64717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30604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96491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62377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028264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94151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960038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807C462-5D86-40EE-8B15-1E0F1198A2D2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21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12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765175" y="788988"/>
            <a:ext cx="5494338" cy="3090862"/>
          </a:xfr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</p:spTree>
    <p:extLst>
      <p:ext uri="{BB962C8B-B14F-4D97-AF65-F5344CB8AC3E}">
        <p14:creationId xmlns:p14="http://schemas.microsoft.com/office/powerpoint/2010/main" val="21012015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57066" indent="-291179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64717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30604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96491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62377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028264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94151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960038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F18C831-FF89-4CEE-831F-73EE9D5B9890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22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765175" y="788988"/>
            <a:ext cx="5494338" cy="3090862"/>
          </a:xfr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</p:spTree>
    <p:extLst>
      <p:ext uri="{BB962C8B-B14F-4D97-AF65-F5344CB8AC3E}">
        <p14:creationId xmlns:p14="http://schemas.microsoft.com/office/powerpoint/2010/main" val="134824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57066" indent="-291179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64717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30604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96491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62377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028264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94151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960038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921E668-922D-4170-A485-784946DE0130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24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3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765175" y="788988"/>
            <a:ext cx="5494338" cy="3090862"/>
          </a:xfr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</p:spTree>
    <p:extLst>
      <p:ext uri="{BB962C8B-B14F-4D97-AF65-F5344CB8AC3E}">
        <p14:creationId xmlns:p14="http://schemas.microsoft.com/office/powerpoint/2010/main" val="20623425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57066" indent="-291179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64717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30604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96491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62377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028264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94151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960038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0A215FB-F7D6-4B56-A018-3334257D8F5B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33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20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047644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57066" indent="-291179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64717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30604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96491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62377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028264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94151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960038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F18C831-FF89-4CEE-831F-73EE9D5B9890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765175" y="788988"/>
            <a:ext cx="5494338" cy="3090862"/>
          </a:xfr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</p:spTree>
    <p:extLst>
      <p:ext uri="{BB962C8B-B14F-4D97-AF65-F5344CB8AC3E}">
        <p14:creationId xmlns:p14="http://schemas.microsoft.com/office/powerpoint/2010/main" val="15392370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6D5B4C3-9B00-474A-97E8-C13B4A35C4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91831"/>
            <a:ext cx="9144000" cy="1655762"/>
          </a:xfrm>
        </p:spPr>
        <p:txBody>
          <a:bodyPr/>
          <a:lstStyle>
            <a:lvl1pPr marL="0" indent="0" algn="l">
              <a:buNone/>
              <a:defRPr sz="2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D22AE50-6F90-E24E-B822-6568D311B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32145"/>
            <a:ext cx="9144000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B2EB50-2D06-0F47-91A8-A0077BC58D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8669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AA9E0-FD26-B94E-9B92-E4BB7FDAC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D2F48-A24B-4049-960D-8B798AEFA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6" y="2449386"/>
            <a:ext cx="10417284" cy="3805364"/>
          </a:xfrm>
        </p:spPr>
        <p:txBody>
          <a:bodyPr/>
          <a:lstStyle>
            <a:lvl1pPr>
              <a:buClr>
                <a:srgbClr val="B30738"/>
              </a:buClr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2pPr>
            <a:lvl3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3pPr>
            <a:lvl4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4pPr>
            <a:lvl5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4C7CA-926E-AD42-9C16-D63E0CBCB0B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54750"/>
            <a:ext cx="3873500" cy="4000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38119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55421C-28F7-134B-8F0E-FE7D28044B4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207617" y="1170297"/>
            <a:ext cx="2316923" cy="215804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035" y="1170297"/>
            <a:ext cx="10379765" cy="4683851"/>
          </a:xfrm>
        </p:spPr>
        <p:txBody>
          <a:bodyPr>
            <a:normAutofit/>
          </a:bodyPr>
          <a:lstStyle>
            <a:lvl1pPr>
              <a:defRPr sz="6000" b="0" i="0">
                <a:solidFill>
                  <a:schemeClr val="tx1">
                    <a:lumMod val="50000"/>
                    <a:lumOff val="50000"/>
                  </a:schemeClr>
                </a:solidFill>
                <a:latin typeface="Garamond" panose="02020404030301010803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3C62840-6E05-504B-B2F6-709D240E69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86984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10691-0E51-0642-89F8-2E84D8B86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D74316-63BB-3446-BDDD-074CD2479E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677103"/>
            <a:ext cx="10515600" cy="141254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7D355E-B4A2-6F4F-B305-737A32A3AC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8417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112F8-AE85-BC4D-8ACE-BD36C7043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E9A7C-E733-9C48-89C3-E864661018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36516" y="2438399"/>
            <a:ext cx="5083284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853515-618E-BC46-A98D-B716B4327E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38399"/>
            <a:ext cx="5181600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F872C4E-C1EA-6E4F-ACE3-4DD19FF177F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84945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2EAC0-550E-1740-BE53-8E9F0A34C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0" y="882869"/>
            <a:ext cx="10419967" cy="8078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6707B4-CFB5-CF4A-9970-F7B61DECC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5421" y="1839309"/>
            <a:ext cx="5062154" cy="66576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EA7258-4408-8940-BE1F-BB96B82778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5421" y="2653695"/>
            <a:ext cx="5062154" cy="360740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1E6BE5-8409-9441-A406-BB5D9E6F94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39309"/>
            <a:ext cx="5183188" cy="66576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3EBE53-5EFB-6744-957B-B93F2D10CC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53695"/>
            <a:ext cx="5183188" cy="360740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0A5D7E1-E327-DF48-B848-9BDF99F875D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0007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3651EA50-74CA-AA48-8D7F-2B85A97EE6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540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46758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AC4C19D-273F-DD4F-AB1E-92F31DD503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0107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52473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A9A9976-053D-644A-ACDD-10A8928C18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07211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9C3A92E6-32C2-FB44-B5B2-762BF26633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534275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E849984-83FA-4B45-A602-6A412FE0CC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99200"/>
            <a:ext cx="3873500" cy="355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5034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C6088-92BE-7449-8B28-318FAB3F2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4138612" cy="142995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42DAB-D135-604C-8CA5-59E8EBB19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52673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DFE57F-E4E9-7543-83FD-1DD747CAD0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71750"/>
            <a:ext cx="4138612" cy="38290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2E940D73-0AAB-1944-9712-6637A75B1A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324600"/>
            <a:ext cx="3873500" cy="3302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1048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42C89-5587-0348-8D17-7C08B2EAD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1" y="956440"/>
            <a:ext cx="4011228" cy="116664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21D3EC-E376-5D4E-835F-620AC359D3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62167" y="956441"/>
            <a:ext cx="6172200" cy="532370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B5B150-6498-3B43-813F-7D37535FB1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5420" y="2291254"/>
            <a:ext cx="4011229" cy="398889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131420AC-1CC6-B24D-864B-D3A8C0514E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80150"/>
            <a:ext cx="3873500" cy="3746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31787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600">
                <a:solidFill>
                  <a:srgbClr val="002060"/>
                </a:solidFill>
              </a:defRPr>
            </a:lvl1pPr>
            <a:lvl2pPr>
              <a:defRPr sz="2400">
                <a:solidFill>
                  <a:schemeClr val="accent2">
                    <a:lumMod val="75000"/>
                  </a:schemeClr>
                </a:solidFill>
              </a:defRPr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656F1-AD33-45CA-85C7-DC330226D9FE}" type="datetime1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9600" y="6324601"/>
            <a:ext cx="2844800" cy="365125"/>
          </a:xfrm>
        </p:spPr>
        <p:txBody>
          <a:bodyPr/>
          <a:lstStyle/>
          <a:p>
            <a:pPr algn="l"/>
            <a:fld id="{4FBCB832-F407-431A-BE08-B640AFF97906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51205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F94DD4-5043-4A3A-99E2-3B90AB8E4ADF}" type="datetime1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482688-28AB-45F1-92FC-1F2EF8C0909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913645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145046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87506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53848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09600" y="3938589"/>
            <a:ext cx="53848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7600" y="3938589"/>
            <a:ext cx="53848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B8F5A0C9-BF71-4B49-BF30-72A41E09105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1501853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248008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7F930-5302-8041-8D70-01651E1577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217" y="1351721"/>
            <a:ext cx="10555357" cy="2317267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2F13BE-DC53-5D42-92BC-B1405D01D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217" y="4228203"/>
            <a:ext cx="10555357" cy="13774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440867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220731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80891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2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1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58DCC4-D98B-2742-9141-E813C534F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21E8D8-70CD-BF4D-805E-3BA2B3E84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6516" y="2449386"/>
            <a:ext cx="10417284" cy="383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0FD0265-AE87-AC4A-BBB3-EF8B93299236}"/>
              </a:ext>
            </a:extLst>
          </p:cNvPr>
          <p:cNvCxnSpPr>
            <a:cxnSpLocks/>
          </p:cNvCxnSpPr>
          <p:nvPr/>
        </p:nvCxnSpPr>
        <p:spPr>
          <a:xfrm>
            <a:off x="936516" y="730089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1606507F-9FCF-7C40-9CCC-8081F5D27FC8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050924" y="471954"/>
            <a:ext cx="3880944" cy="160105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215C687-9087-C947-AB5A-223EF7DA7E9A}"/>
              </a:ext>
            </a:extLst>
          </p:cNvPr>
          <p:cNvCxnSpPr>
            <a:cxnSpLocks/>
          </p:cNvCxnSpPr>
          <p:nvPr/>
        </p:nvCxnSpPr>
        <p:spPr>
          <a:xfrm>
            <a:off x="936516" y="388502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3AF69D0A-C2A3-A54B-87B3-155829A53D57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32474" y="160495"/>
            <a:ext cx="804042" cy="804042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2A6E712-938E-934E-86D2-CF80E3166B5B}"/>
              </a:ext>
            </a:extLst>
          </p:cNvPr>
          <p:cNvCxnSpPr>
            <a:cxnSpLocks/>
          </p:cNvCxnSpPr>
          <p:nvPr/>
        </p:nvCxnSpPr>
        <p:spPr>
          <a:xfrm>
            <a:off x="936516" y="6652668"/>
            <a:ext cx="10417284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9243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9" r:id="rId13"/>
    <p:sldLayoutId id="2147483680" r:id="rId14"/>
    <p:sldLayoutId id="2147483682" r:id="rId15"/>
    <p:sldLayoutId id="2147483683" r:id="rId16"/>
    <p:sldLayoutId id="2147483684" r:id="rId17"/>
    <p:sldLayoutId id="2147483685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B30738"/>
        </a:buClr>
        <a:buFont typeface="Arial" panose="020B0604020202020204" pitchFamily="34" charset="0"/>
        <a:buChar char="•"/>
        <a:defRPr sz="2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20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8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6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B307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EF7EA9-7F89-AB44-B414-A35A39B88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0015"/>
            <a:ext cx="10515600" cy="6427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D578A8-B26A-4945-96B6-DF5E5BC7DE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697162"/>
            <a:ext cx="10515600" cy="32464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 err="1"/>
              <a:t>Secod</a:t>
            </a:r>
            <a:r>
              <a:rPr lang="en-US" dirty="0"/>
              <a:t>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94CFB0A-34C6-5D42-83C5-6E58C3499080}"/>
              </a:ext>
            </a:extLst>
          </p:cNvPr>
          <p:cNvCxnSpPr>
            <a:cxnSpLocks/>
          </p:cNvCxnSpPr>
          <p:nvPr/>
        </p:nvCxnSpPr>
        <p:spPr>
          <a:xfrm>
            <a:off x="956394" y="730089"/>
            <a:ext cx="11255484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306B758-975E-984A-8DF2-F551E50A3FBA}"/>
              </a:ext>
            </a:extLst>
          </p:cNvPr>
          <p:cNvCxnSpPr>
            <a:cxnSpLocks/>
          </p:cNvCxnSpPr>
          <p:nvPr/>
        </p:nvCxnSpPr>
        <p:spPr>
          <a:xfrm>
            <a:off x="956394" y="388502"/>
            <a:ext cx="11255484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4BCBDF38-9EC5-8347-AE99-4FA5381A78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0924" y="472981"/>
            <a:ext cx="3880944" cy="17262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A5D1952-D4DE-0B48-9AEC-F81A6CB6ED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2474" y="157274"/>
            <a:ext cx="804042" cy="804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626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2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12.png"/><Relationship Id="rId4" Type="http://schemas.openxmlformats.org/officeDocument/2006/relationships/image" Target="../media/image11.emf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0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3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5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3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DAF3DE3F-7502-904F-9BAB-B1F5DEA23B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91831"/>
            <a:ext cx="9144000" cy="317890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Fall 2026</a:t>
            </a:r>
          </a:p>
          <a:p>
            <a:r>
              <a:rPr lang="en-US" dirty="0">
                <a:solidFill>
                  <a:schemeClr val="tx1"/>
                </a:solidFill>
              </a:rPr>
              <a:t>Object-Oriented Analysis, Design and Programming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Michael Schimpf, PhD</a:t>
            </a:r>
          </a:p>
          <a:p>
            <a:r>
              <a:rPr lang="en-US" dirty="0">
                <a:solidFill>
                  <a:schemeClr val="tx1"/>
                </a:solidFill>
              </a:rPr>
              <a:t>Department of Computer Science and Engineering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A818BAB-0338-734A-B1E8-2463F3B29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CSEN160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20801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>
          <a:xfrm>
            <a:off x="1854319" y="2874270"/>
            <a:ext cx="8661281" cy="907655"/>
          </a:xfrm>
        </p:spPr>
        <p:txBody>
          <a:bodyPr>
            <a:normAutofit fontScale="92500"/>
          </a:bodyPr>
          <a:lstStyle/>
          <a:p>
            <a:pPr marL="0" indent="0" algn="just" eaLnBrk="1" hangingPunct="1">
              <a:lnSpc>
                <a:spcPct val="90000"/>
              </a:lnSpc>
              <a:buNone/>
            </a:pPr>
            <a:r>
              <a:rPr lang="en-US" altLang="en-US" sz="4000" b="1" dirty="0">
                <a:solidFill>
                  <a:srgbClr val="800000"/>
                </a:solidFill>
                <a:cs typeface="Times New Roman" panose="02020603050405020304" pitchFamily="18" charset="0"/>
              </a:rPr>
              <a:t>Why Object Oriented Software Development?</a:t>
            </a:r>
            <a:endParaRPr lang="en-US" altLang="en-US" dirty="0"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69949274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>
          <a:xfrm>
            <a:off x="930690" y="1555269"/>
            <a:ext cx="10423110" cy="50861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sz="2400" b="1" dirty="0"/>
              <a:t>OO is actual amazing because:</a:t>
            </a:r>
          </a:p>
          <a:p>
            <a:pPr marL="0" indent="0">
              <a:buNone/>
            </a:pPr>
            <a:endParaRPr lang="en-US" altLang="en-US" sz="2400" dirty="0"/>
          </a:p>
          <a:p>
            <a:r>
              <a:rPr lang="en-US" altLang="en-US" sz="2400" dirty="0"/>
              <a:t>Classes/object dot notation:</a:t>
            </a:r>
          </a:p>
          <a:p>
            <a:endParaRPr lang="en-US" altLang="en-US" sz="2400" dirty="0"/>
          </a:p>
          <a:p>
            <a:r>
              <a:rPr lang="en-US" altLang="en-US" sz="2400" dirty="0"/>
              <a:t>Information Hiding</a:t>
            </a:r>
          </a:p>
          <a:p>
            <a:endParaRPr lang="en-US" altLang="en-US" sz="2400" dirty="0"/>
          </a:p>
          <a:p>
            <a:r>
              <a:rPr lang="en-US" altLang="en-US" sz="2400" dirty="0"/>
              <a:t>Write code only once (no duplicates)</a:t>
            </a:r>
          </a:p>
          <a:p>
            <a:endParaRPr lang="en-US" altLang="en-US" sz="2400" dirty="0"/>
          </a:p>
          <a:p>
            <a:r>
              <a:rPr lang="en-US" altLang="en-US" sz="2400" dirty="0"/>
              <a:t>In general, it is easier to understand/design/analyze</a:t>
            </a:r>
          </a:p>
          <a:p>
            <a:endParaRPr lang="en-US" altLang="en-US" sz="2400" dirty="0"/>
          </a:p>
          <a:p>
            <a:r>
              <a:rPr lang="en-US" altLang="en-US" sz="2400" dirty="0"/>
              <a:t>Without OO, it would be only </a:t>
            </a:r>
            <a:r>
              <a:rPr lang="en-US" altLang="en-US" sz="2400" b="1" dirty="0">
                <a:solidFill>
                  <a:srgbClr val="FF0000"/>
                </a:solidFill>
              </a:rPr>
              <a:t>C</a:t>
            </a:r>
            <a:endParaRPr lang="en-US" altLang="en-US" sz="2400" dirty="0"/>
          </a:p>
          <a:p>
            <a:endParaRPr lang="en-US" altLang="en-US" sz="2400" dirty="0"/>
          </a:p>
          <a:p>
            <a:pPr marL="0" indent="0">
              <a:buNone/>
            </a:pPr>
            <a:endParaRPr lang="en-US" altLang="en-US" sz="2400" dirty="0"/>
          </a:p>
          <a:p>
            <a:pPr marL="0" indent="0">
              <a:buNone/>
            </a:pPr>
            <a:endParaRPr lang="en-US" altLang="en-US" sz="2400" dirty="0"/>
          </a:p>
          <a:p>
            <a:pPr marL="457200" lvl="1" indent="0" algn="just" eaLnBrk="1" hangingPunct="1">
              <a:lnSpc>
                <a:spcPct val="90000"/>
              </a:lnSpc>
              <a:buNone/>
            </a:pPr>
            <a:endParaRPr lang="en-US" altLang="en-US" dirty="0">
              <a:cs typeface="Times New Roman" panose="02020603050405020304" pitchFamily="18" charset="0"/>
            </a:endParaRPr>
          </a:p>
          <a:p>
            <a:pPr lvl="1" algn="just" eaLnBrk="1" hangingPunct="1">
              <a:lnSpc>
                <a:spcPct val="90000"/>
              </a:lnSpc>
            </a:pPr>
            <a:endParaRPr lang="en-US" altLang="en-US" dirty="0"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endParaRPr lang="en-US" altLang="en-US" dirty="0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30690" y="750963"/>
            <a:ext cx="3777668" cy="521936"/>
          </a:xfrm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  <a:normAutofit fontScale="90000"/>
          </a:bodyPr>
          <a:lstStyle/>
          <a:p>
            <a:pPr eaLnBrk="1" hangingPunct="1"/>
            <a:r>
              <a:rPr lang="en-US" altLang="en-US" sz="2800" dirty="0"/>
              <a:t>Why Object Oriented?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8358" y="2253173"/>
            <a:ext cx="3570608" cy="1845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233112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44217" y="2290046"/>
            <a:ext cx="10555357" cy="1378942"/>
          </a:xfrm>
        </p:spPr>
        <p:txBody>
          <a:bodyPr rtlCol="0">
            <a:normAutofit/>
          </a:bodyPr>
          <a:lstStyle/>
          <a:p>
            <a:pPr>
              <a:defRPr/>
            </a:pPr>
            <a:r>
              <a:rPr lang="en-US" dirty="0"/>
              <a:t>OOA, OOD &amp; OOP</a:t>
            </a:r>
          </a:p>
        </p:txBody>
      </p:sp>
      <p:sp>
        <p:nvSpPr>
          <p:cNvPr id="5123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947373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>
          <a:xfrm>
            <a:off x="1918487" y="1354742"/>
            <a:ext cx="9812302" cy="528267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sz="2400" b="1" dirty="0">
                <a:solidFill>
                  <a:srgbClr val="800000"/>
                </a:solidFill>
              </a:rPr>
              <a:t>OO Analysis:</a:t>
            </a:r>
            <a:r>
              <a:rPr lang="en-US" altLang="en-US" sz="2400" dirty="0"/>
              <a:t>  </a:t>
            </a:r>
          </a:p>
          <a:p>
            <a:endParaRPr lang="en-US" altLang="en-US" sz="2400" dirty="0"/>
          </a:p>
          <a:p>
            <a:r>
              <a:rPr lang="en-US" altLang="en-US" sz="2400" dirty="0"/>
              <a:t>To create a model of the system </a:t>
            </a:r>
          </a:p>
          <a:p>
            <a:r>
              <a:rPr lang="en-US" altLang="en-US" sz="2400" b="1" dirty="0">
                <a:solidFill>
                  <a:srgbClr val="FF0000"/>
                </a:solidFill>
              </a:rPr>
              <a:t>Independent</a:t>
            </a:r>
            <a:r>
              <a:rPr lang="en-US" altLang="en-US" sz="2400" dirty="0"/>
              <a:t> of implementation details </a:t>
            </a:r>
          </a:p>
          <a:p>
            <a:r>
              <a:rPr lang="en-US" altLang="en-US" sz="2400" b="1" dirty="0"/>
              <a:t>Use cases</a:t>
            </a:r>
            <a:endParaRPr lang="en-US" altLang="en-US" sz="2400" dirty="0"/>
          </a:p>
          <a:p>
            <a:r>
              <a:rPr lang="en-US" altLang="en-US" sz="2400" dirty="0"/>
              <a:t>Entity Relationship (ER) diagram</a:t>
            </a:r>
          </a:p>
          <a:p>
            <a:r>
              <a:rPr lang="en-US" altLang="en-US" sz="2400" dirty="0"/>
              <a:t>Structure charts</a:t>
            </a:r>
          </a:p>
          <a:p>
            <a:pPr marL="0" indent="0">
              <a:buNone/>
            </a:pPr>
            <a:endParaRPr lang="en-US" altLang="en-US" sz="2400" dirty="0"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en-US" sz="2400" dirty="0"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2400" b="1" dirty="0">
                <a:cs typeface="Times New Roman" panose="02020603050405020304" pitchFamily="18" charset="0"/>
              </a:rPr>
              <a:t>Memorize</a:t>
            </a:r>
            <a:r>
              <a:rPr lang="en-US" altLang="en-US" sz="2400" dirty="0">
                <a:cs typeface="Times New Roman" panose="02020603050405020304" pitchFamily="18" charset="0"/>
              </a:rPr>
              <a:t>: OOA =&gt; use cases</a:t>
            </a:r>
            <a:endParaRPr lang="en-US" altLang="en-US" dirty="0">
              <a:cs typeface="Times New Roman" panose="02020603050405020304" pitchFamily="18" charset="0"/>
            </a:endParaRPr>
          </a:p>
          <a:p>
            <a:pPr lvl="1" algn="just" eaLnBrk="1" hangingPunct="1">
              <a:lnSpc>
                <a:spcPct val="90000"/>
              </a:lnSpc>
            </a:pPr>
            <a:endParaRPr lang="en-US" altLang="en-US" dirty="0">
              <a:cs typeface="Times New Roman" panose="02020603050405020304" pitchFamily="18" charset="0"/>
            </a:endParaRPr>
          </a:p>
          <a:p>
            <a:pPr lvl="1" algn="just" eaLnBrk="1" hangingPunct="1">
              <a:lnSpc>
                <a:spcPct val="90000"/>
              </a:lnSpc>
            </a:pPr>
            <a:endParaRPr lang="en-US" altLang="en-US" dirty="0"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endParaRPr lang="en-US" alt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5350" y="2788258"/>
            <a:ext cx="2205698" cy="2012341"/>
          </a:xfrm>
          <a:prstGeom prst="rect">
            <a:avLst/>
          </a:prstGeom>
        </p:spPr>
      </p:pic>
      <p:cxnSp>
        <p:nvCxnSpPr>
          <p:cNvPr id="4" name="Straight Arrow Connector 3"/>
          <p:cNvCxnSpPr/>
          <p:nvPr/>
        </p:nvCxnSpPr>
        <p:spPr>
          <a:xfrm flipV="1">
            <a:off x="6067926" y="3838074"/>
            <a:ext cx="3217424" cy="80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 descr="undefined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2124" y="4224780"/>
            <a:ext cx="3169898" cy="19987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Straight Arrow Connector 7"/>
          <p:cNvCxnSpPr>
            <a:endCxn id="2050" idx="1"/>
          </p:cNvCxnSpPr>
          <p:nvPr/>
        </p:nvCxnSpPr>
        <p:spPr>
          <a:xfrm>
            <a:off x="4114800" y="4315326"/>
            <a:ext cx="1867324" cy="9088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2077698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>
          <a:xfrm>
            <a:off x="1687864" y="1326420"/>
            <a:ext cx="8229600" cy="5343085"/>
          </a:xfrm>
        </p:spPr>
        <p:txBody>
          <a:bodyPr>
            <a:normAutofit/>
          </a:bodyPr>
          <a:lstStyle/>
          <a:p>
            <a:pPr marL="0" indent="0" algn="just" eaLnBrk="1" hangingPunct="1">
              <a:lnSpc>
                <a:spcPct val="90000"/>
              </a:lnSpc>
              <a:buNone/>
            </a:pPr>
            <a:r>
              <a:rPr lang="en-US" altLang="en-US" sz="2400" b="1" dirty="0">
                <a:solidFill>
                  <a:srgbClr val="800000"/>
                </a:solidFill>
                <a:cs typeface="Times New Roman" panose="02020603050405020304" pitchFamily="18" charset="0"/>
              </a:rPr>
              <a:t>OO Design</a:t>
            </a:r>
            <a:r>
              <a:rPr lang="en-US" altLang="en-US" sz="2400" dirty="0">
                <a:solidFill>
                  <a:srgbClr val="800000"/>
                </a:solidFill>
                <a:cs typeface="Times New Roman" panose="02020603050405020304" pitchFamily="18" charset="0"/>
              </a:rPr>
              <a:t>: </a:t>
            </a:r>
          </a:p>
          <a:p>
            <a:pPr algn="just"/>
            <a:endParaRPr lang="en-US" altLang="en-US" dirty="0">
              <a:cs typeface="Times New Roman" panose="02020603050405020304" pitchFamily="18" charset="0"/>
            </a:endParaRPr>
          </a:p>
          <a:p>
            <a:pPr algn="just"/>
            <a:r>
              <a:rPr lang="en-US" altLang="en-US" dirty="0">
                <a:cs typeface="Times New Roman" panose="02020603050405020304" pitchFamily="18" charset="0"/>
              </a:rPr>
              <a:t>Decompose complex systems</a:t>
            </a:r>
          </a:p>
          <a:p>
            <a:pPr algn="just"/>
            <a:r>
              <a:rPr lang="en-US" altLang="en-US" dirty="0">
                <a:cs typeface="Times New Roman" panose="02020603050405020304" pitchFamily="18" charset="0"/>
              </a:rPr>
              <a:t>Add implementation constrains</a:t>
            </a:r>
          </a:p>
          <a:p>
            <a:pPr algn="just"/>
            <a:r>
              <a:rPr lang="en-US" altLang="en-US" sz="2800" b="1" dirty="0">
                <a:cs typeface="Times New Roman" panose="02020603050405020304" pitchFamily="18" charset="0"/>
              </a:rPr>
              <a:t>Class diagram</a:t>
            </a:r>
          </a:p>
          <a:p>
            <a:pPr algn="just"/>
            <a:r>
              <a:rPr lang="en-US" altLang="en-US" sz="2800" b="1" dirty="0">
                <a:cs typeface="Times New Roman" panose="02020603050405020304" pitchFamily="18" charset="0"/>
              </a:rPr>
              <a:t>Sequence diagram</a:t>
            </a:r>
          </a:p>
          <a:p>
            <a:pPr algn="just"/>
            <a:r>
              <a:rPr lang="en-US" altLang="en-US" sz="2800" b="1" dirty="0">
                <a:cs typeface="Times New Roman" panose="02020603050405020304" pitchFamily="18" charset="0"/>
              </a:rPr>
              <a:t>State diagram</a:t>
            </a:r>
          </a:p>
          <a:p>
            <a:pPr algn="just"/>
            <a:r>
              <a:rPr lang="en-US" altLang="en-US" sz="2800" b="1" dirty="0">
                <a:cs typeface="Times New Roman" panose="02020603050405020304" pitchFamily="18" charset="0"/>
              </a:rPr>
              <a:t>…</a:t>
            </a:r>
          </a:p>
          <a:p>
            <a:pPr algn="just"/>
            <a:endParaRPr lang="en-US" altLang="en-US" sz="3000" b="1" dirty="0"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altLang="en-US" b="1" dirty="0">
                <a:cs typeface="Times New Roman" panose="02020603050405020304" pitchFamily="18" charset="0"/>
              </a:rPr>
              <a:t>Memorize</a:t>
            </a:r>
            <a:r>
              <a:rPr lang="en-US" altLang="en-US" dirty="0">
                <a:cs typeface="Times New Roman" panose="02020603050405020304" pitchFamily="18" charset="0"/>
              </a:rPr>
              <a:t>: OOD =&gt; use cases to rest of UML</a:t>
            </a:r>
            <a:endParaRPr lang="en-US" altLang="en-US" sz="2200" dirty="0">
              <a:cs typeface="Times New Roman" panose="02020603050405020304" pitchFamily="18" charset="0"/>
            </a:endParaRPr>
          </a:p>
          <a:p>
            <a:pPr lvl="1" algn="just" eaLnBrk="1" hangingPunct="1">
              <a:lnSpc>
                <a:spcPct val="90000"/>
              </a:lnSpc>
            </a:pPr>
            <a:endParaRPr lang="en-US" altLang="en-US" dirty="0"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56272705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>
          <a:xfrm>
            <a:off x="2181477" y="1488260"/>
            <a:ext cx="8229600" cy="4742607"/>
          </a:xfrm>
        </p:spPr>
        <p:txBody>
          <a:bodyPr>
            <a:normAutofit/>
          </a:bodyPr>
          <a:lstStyle/>
          <a:p>
            <a:pPr marL="0" indent="0" algn="just" eaLnBrk="1" hangingPunct="1">
              <a:lnSpc>
                <a:spcPct val="90000"/>
              </a:lnSpc>
              <a:buNone/>
            </a:pPr>
            <a:r>
              <a:rPr lang="en-US" altLang="en-US" sz="2400" b="1" dirty="0">
                <a:solidFill>
                  <a:srgbClr val="800000"/>
                </a:solidFill>
                <a:cs typeface="Times New Roman" panose="02020603050405020304" pitchFamily="18" charset="0"/>
              </a:rPr>
              <a:t>OO Programming (Java):</a:t>
            </a:r>
          </a:p>
          <a:p>
            <a:pPr algn="just"/>
            <a:r>
              <a:rPr lang="en-US" altLang="en-US" dirty="0">
                <a:cs typeface="Times New Roman" panose="02020603050405020304" pitchFamily="18" charset="0"/>
              </a:rPr>
              <a:t>Implement everything</a:t>
            </a:r>
          </a:p>
          <a:p>
            <a:pPr algn="just"/>
            <a:r>
              <a:rPr lang="en-US" altLang="en-US" dirty="0">
                <a:cs typeface="Times New Roman" panose="02020603050405020304" pitchFamily="18" charset="0"/>
              </a:rPr>
              <a:t>Classes</a:t>
            </a:r>
          </a:p>
          <a:p>
            <a:pPr algn="just"/>
            <a:r>
              <a:rPr lang="en-US" altLang="en-US" dirty="0">
                <a:cs typeface="Times New Roman" panose="02020603050405020304" pitchFamily="18" charset="0"/>
              </a:rPr>
              <a:t>Objects</a:t>
            </a:r>
          </a:p>
          <a:p>
            <a:pPr algn="just"/>
            <a:r>
              <a:rPr lang="en-US" altLang="en-US" dirty="0">
                <a:cs typeface="Times New Roman" panose="02020603050405020304" pitchFamily="18" charset="0"/>
              </a:rPr>
              <a:t>Interfaces</a:t>
            </a:r>
          </a:p>
          <a:p>
            <a:pPr algn="just"/>
            <a:r>
              <a:rPr lang="en-US" altLang="en-US" dirty="0">
                <a:cs typeface="Times New Roman" panose="02020603050405020304" pitchFamily="18" charset="0"/>
              </a:rPr>
              <a:t>Abstract classes</a:t>
            </a:r>
          </a:p>
          <a:p>
            <a:pPr algn="just"/>
            <a:r>
              <a:rPr lang="en-US" altLang="en-US" dirty="0">
                <a:cs typeface="Times New Roman" panose="02020603050405020304" pitchFamily="18" charset="0"/>
              </a:rPr>
              <a:t>Inheritance</a:t>
            </a:r>
          </a:p>
          <a:p>
            <a:pPr algn="just"/>
            <a:r>
              <a:rPr lang="en-US" altLang="en-US" dirty="0">
                <a:cs typeface="Times New Roman" panose="02020603050405020304" pitchFamily="18" charset="0"/>
              </a:rPr>
              <a:t>etc.</a:t>
            </a:r>
          </a:p>
          <a:p>
            <a:pPr lvl="1" algn="just" eaLnBrk="1" hangingPunct="1">
              <a:lnSpc>
                <a:spcPct val="90000"/>
              </a:lnSpc>
            </a:pPr>
            <a:endParaRPr lang="en-US" altLang="en-US" dirty="0"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altLang="en-US" b="1" dirty="0">
                <a:cs typeface="Times New Roman" panose="02020603050405020304" pitchFamily="18" charset="0"/>
              </a:rPr>
              <a:t>Memorize</a:t>
            </a:r>
            <a:r>
              <a:rPr lang="en-US" altLang="en-US" dirty="0">
                <a:cs typeface="Times New Roman" panose="02020603050405020304" pitchFamily="18" charset="0"/>
              </a:rPr>
              <a:t>: Implement object oriented…</a:t>
            </a:r>
          </a:p>
          <a:p>
            <a:pPr lvl="2" algn="just" eaLnBrk="1" hangingPunct="1">
              <a:lnSpc>
                <a:spcPct val="90000"/>
              </a:lnSpc>
              <a:buFontTx/>
              <a:buNone/>
            </a:pPr>
            <a:endParaRPr lang="en-US" altLang="en-US" dirty="0">
              <a:cs typeface="Times New Roman" panose="02020603050405020304" pitchFamily="18" charset="0"/>
            </a:endParaRPr>
          </a:p>
          <a:p>
            <a:pPr lvl="1" algn="just" eaLnBrk="1" hangingPunct="1">
              <a:lnSpc>
                <a:spcPct val="90000"/>
              </a:lnSpc>
            </a:pPr>
            <a:endParaRPr lang="en-US" altLang="en-US" dirty="0">
              <a:cs typeface="Times New Roman" panose="02020603050405020304" pitchFamily="18" charset="0"/>
            </a:endParaRPr>
          </a:p>
          <a:p>
            <a:pPr lvl="1" algn="just" eaLnBrk="1" hangingPunct="1">
              <a:lnSpc>
                <a:spcPct val="90000"/>
              </a:lnSpc>
            </a:pPr>
            <a:endParaRPr lang="en-US" altLang="en-US" dirty="0"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841388071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>
          <a:xfrm>
            <a:off x="2800803" y="2878281"/>
            <a:ext cx="6463513" cy="907655"/>
          </a:xfrm>
        </p:spPr>
        <p:txBody>
          <a:bodyPr>
            <a:normAutofit fontScale="92500"/>
          </a:bodyPr>
          <a:lstStyle/>
          <a:p>
            <a:pPr marL="0" indent="0" algn="just" eaLnBrk="1" hangingPunct="1">
              <a:lnSpc>
                <a:spcPct val="90000"/>
              </a:lnSpc>
              <a:buNone/>
            </a:pPr>
            <a:r>
              <a:rPr lang="en-US" altLang="en-US" sz="4000" b="1" dirty="0">
                <a:solidFill>
                  <a:srgbClr val="800000"/>
                </a:solidFill>
                <a:cs typeface="Times New Roman" panose="02020603050405020304" pitchFamily="18" charset="0"/>
              </a:rPr>
              <a:t>Why are we doing OOA and OOD?</a:t>
            </a:r>
            <a:endParaRPr lang="en-US" altLang="en-US" dirty="0"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272772986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>
          <a:xfrm>
            <a:off x="1301469" y="1092424"/>
            <a:ext cx="7967958" cy="5348835"/>
          </a:xfrm>
        </p:spPr>
        <p:txBody>
          <a:bodyPr>
            <a:normAutofit/>
          </a:bodyPr>
          <a:lstStyle/>
          <a:p>
            <a:pPr marL="457200" lvl="1" indent="0" algn="just" eaLnBrk="1" hangingPunct="1">
              <a:lnSpc>
                <a:spcPct val="90000"/>
              </a:lnSpc>
              <a:buNone/>
            </a:pPr>
            <a:r>
              <a:rPr lang="en-US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Waterfall Software Development </a:t>
            </a:r>
          </a:p>
          <a:p>
            <a:pPr lvl="1" algn="just"/>
            <a:endParaRPr lang="en-US" altLang="en-US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1" algn="just"/>
            <a:r>
              <a:rPr lang="en-US" altLang="en-US" dirty="0">
                <a:solidFill>
                  <a:schemeClr val="tx1"/>
                </a:solidFill>
                <a:cs typeface="Times New Roman" panose="02020603050405020304" pitchFamily="18" charset="0"/>
              </a:rPr>
              <a:t>Do everything in steps</a:t>
            </a:r>
          </a:p>
          <a:p>
            <a:pPr lvl="1" algn="just"/>
            <a:endParaRPr lang="en-US" altLang="en-US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1" algn="just"/>
            <a:r>
              <a:rPr lang="en-US" altLang="en-US" dirty="0">
                <a:solidFill>
                  <a:schemeClr val="tx1"/>
                </a:solidFill>
                <a:cs typeface="Times New Roman" panose="02020603050405020304" pitchFamily="18" charset="0"/>
              </a:rPr>
              <a:t>Requirement analysis</a:t>
            </a:r>
          </a:p>
          <a:p>
            <a:pPr lvl="1" algn="just"/>
            <a:endParaRPr lang="en-US" altLang="en-US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1" algn="just"/>
            <a:r>
              <a:rPr lang="en-US" altLang="en-US" dirty="0">
                <a:solidFill>
                  <a:schemeClr val="tx1"/>
                </a:solidFill>
                <a:cs typeface="Times New Roman" panose="02020603050405020304" pitchFamily="18" charset="0"/>
              </a:rPr>
              <a:t>Design</a:t>
            </a:r>
          </a:p>
          <a:p>
            <a:pPr lvl="1" algn="just"/>
            <a:endParaRPr lang="en-US" altLang="en-US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1" algn="just"/>
            <a:r>
              <a:rPr lang="en-US" altLang="en-US" dirty="0">
                <a:solidFill>
                  <a:schemeClr val="tx1"/>
                </a:solidFill>
                <a:cs typeface="Times New Roman" panose="02020603050405020304" pitchFamily="18" charset="0"/>
              </a:rPr>
              <a:t>Implementation</a:t>
            </a:r>
          </a:p>
          <a:p>
            <a:pPr lvl="1" algn="just"/>
            <a:endParaRPr lang="en-US" altLang="en-US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1" algn="just"/>
            <a:r>
              <a:rPr lang="en-US" altLang="en-US" dirty="0">
                <a:solidFill>
                  <a:schemeClr val="tx1"/>
                </a:solidFill>
                <a:cs typeface="Times New Roman" panose="02020603050405020304" pitchFamily="18" charset="0"/>
              </a:rPr>
              <a:t>Done</a:t>
            </a:r>
          </a:p>
          <a:p>
            <a:pPr eaLnBrk="1" hangingPunct="1">
              <a:lnSpc>
                <a:spcPct val="90000"/>
              </a:lnSpc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740188958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>
          <a:xfrm>
            <a:off x="1301469" y="1092424"/>
            <a:ext cx="7967958" cy="5348835"/>
          </a:xfrm>
        </p:spPr>
        <p:txBody>
          <a:bodyPr>
            <a:normAutofit/>
          </a:bodyPr>
          <a:lstStyle/>
          <a:p>
            <a:pPr marL="457200" lvl="1" indent="0" algn="just" eaLnBrk="1" hangingPunct="1">
              <a:lnSpc>
                <a:spcPct val="90000"/>
              </a:lnSpc>
              <a:buNone/>
            </a:pPr>
            <a:r>
              <a:rPr lang="en-US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Agile Software Development</a:t>
            </a:r>
          </a:p>
          <a:p>
            <a:pPr lvl="1" algn="just"/>
            <a:endParaRPr lang="en-US" altLang="en-US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1" algn="just"/>
            <a:r>
              <a:rPr lang="en-US" altLang="en-US" dirty="0">
                <a:solidFill>
                  <a:schemeClr val="tx1"/>
                </a:solidFill>
                <a:cs typeface="Times New Roman" panose="02020603050405020304" pitchFamily="18" charset="0"/>
              </a:rPr>
              <a:t>Do everything in small iterations/cycles</a:t>
            </a:r>
          </a:p>
          <a:p>
            <a:pPr lvl="1" algn="just"/>
            <a:endParaRPr lang="en-US" altLang="en-US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1" algn="just"/>
            <a:r>
              <a:rPr lang="en-US" altLang="en-US" dirty="0">
                <a:solidFill>
                  <a:schemeClr val="tx1"/>
                </a:solidFill>
                <a:cs typeface="Times New Roman" panose="02020603050405020304" pitchFamily="18" charset="0"/>
              </a:rPr>
              <a:t>Every cycle includes:</a:t>
            </a:r>
          </a:p>
          <a:p>
            <a:pPr lvl="2" algn="just"/>
            <a:endParaRPr lang="en-US" altLang="en-US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2" algn="just"/>
            <a:r>
              <a:rPr lang="en-US" altLang="en-US" dirty="0">
                <a:solidFill>
                  <a:schemeClr val="tx1"/>
                </a:solidFill>
                <a:cs typeface="Times New Roman" panose="02020603050405020304" pitchFamily="18" charset="0"/>
              </a:rPr>
              <a:t>Requirements analysis (change request)</a:t>
            </a:r>
          </a:p>
          <a:p>
            <a:pPr lvl="2" algn="just"/>
            <a:endParaRPr lang="en-US" altLang="en-US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2" algn="just"/>
            <a:r>
              <a:rPr lang="en-US" altLang="en-US" dirty="0">
                <a:solidFill>
                  <a:schemeClr val="tx1"/>
                </a:solidFill>
                <a:cs typeface="Times New Roman" panose="02020603050405020304" pitchFamily="18" charset="0"/>
              </a:rPr>
              <a:t>Update design</a:t>
            </a:r>
          </a:p>
          <a:p>
            <a:pPr lvl="2" algn="just"/>
            <a:endParaRPr lang="en-US" altLang="en-US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2" algn="just"/>
            <a:r>
              <a:rPr lang="en-US" altLang="en-US" dirty="0">
                <a:solidFill>
                  <a:schemeClr val="tx1"/>
                </a:solidFill>
                <a:cs typeface="Times New Roman" panose="02020603050405020304" pitchFamily="18" charset="0"/>
              </a:rPr>
              <a:t>Continue implementation</a:t>
            </a:r>
          </a:p>
          <a:p>
            <a:pPr lvl="1" algn="just"/>
            <a:endParaRPr lang="en-US" altLang="en-US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1" algn="just"/>
            <a:r>
              <a:rPr lang="en-US" altLang="en-US" dirty="0">
                <a:solidFill>
                  <a:schemeClr val="tx1"/>
                </a:solidFill>
                <a:cs typeface="Times New Roman" panose="02020603050405020304" pitchFamily="18" charset="0"/>
              </a:rPr>
              <a:t>Done</a:t>
            </a:r>
          </a:p>
          <a:p>
            <a:pPr lvl="1" algn="just"/>
            <a:endParaRPr lang="en-US" altLang="en-US" dirty="0"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867654461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dirty="0"/>
              <a:t>Basics of Object-Oriented Programming</a:t>
            </a:r>
          </a:p>
        </p:txBody>
      </p:sp>
      <p:sp>
        <p:nvSpPr>
          <p:cNvPr id="5123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>
                <a:solidFill>
                  <a:srgbClr val="898989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399577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30690" y="750963"/>
            <a:ext cx="7772400" cy="521936"/>
          </a:xfrm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 sz="2800" dirty="0"/>
              <a:t>Key phases in OO application development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>
          <a:xfrm>
            <a:off x="930690" y="1479494"/>
            <a:ext cx="10395036" cy="5169959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endParaRPr lang="en-US" altLang="en-US" sz="2400" b="1" dirty="0">
              <a:solidFill>
                <a:srgbClr val="800000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2400" b="1" dirty="0">
                <a:solidFill>
                  <a:srgbClr val="800000"/>
                </a:solidFill>
              </a:rPr>
              <a:t>OO Analysis:</a:t>
            </a:r>
            <a:r>
              <a:rPr lang="en-US" altLang="en-US" sz="2400" dirty="0"/>
              <a:t>  Gather requirements, discovers classes, objects, etc.</a:t>
            </a:r>
          </a:p>
          <a:p>
            <a:pPr algn="just" eaLnBrk="1" hangingPunct="1">
              <a:lnSpc>
                <a:spcPct val="90000"/>
              </a:lnSpc>
            </a:pPr>
            <a:endParaRPr lang="en-US" altLang="en-US" sz="2400" b="1" dirty="0">
              <a:solidFill>
                <a:srgbClr val="800000"/>
              </a:solidFill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90000"/>
              </a:lnSpc>
            </a:pPr>
            <a:r>
              <a:rPr lang="en-US" altLang="en-US" sz="2400" b="1" dirty="0">
                <a:solidFill>
                  <a:srgbClr val="800000"/>
                </a:solidFill>
                <a:cs typeface="Times New Roman" panose="02020603050405020304" pitchFamily="18" charset="0"/>
              </a:rPr>
              <a:t>OO Design</a:t>
            </a:r>
            <a:r>
              <a:rPr lang="en-US" altLang="en-US" sz="2400" dirty="0">
                <a:solidFill>
                  <a:srgbClr val="800000"/>
                </a:solidFill>
                <a:cs typeface="Times New Roman" panose="02020603050405020304" pitchFamily="18" charset="0"/>
              </a:rPr>
              <a:t>: 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dirty="0">
                <a:solidFill>
                  <a:schemeClr val="tx1"/>
                </a:solidFill>
                <a:cs typeface="Times New Roman" panose="02020603050405020304" pitchFamily="18" charset="0"/>
              </a:rPr>
              <a:t>Structuring a complex system using OO decomposition.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dirty="0">
                <a:solidFill>
                  <a:schemeClr val="tx1"/>
                </a:solidFill>
                <a:cs typeface="Times New Roman" panose="02020603050405020304" pitchFamily="18" charset="0"/>
              </a:rPr>
              <a:t>Express in different models (state, class, sequence, …)</a:t>
            </a:r>
          </a:p>
          <a:p>
            <a:pPr algn="just" eaLnBrk="1" hangingPunct="1">
              <a:lnSpc>
                <a:spcPct val="90000"/>
              </a:lnSpc>
            </a:pPr>
            <a:endParaRPr lang="en-US" altLang="en-US" sz="2400" b="1" dirty="0">
              <a:solidFill>
                <a:srgbClr val="800000"/>
              </a:solidFill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90000"/>
              </a:lnSpc>
            </a:pPr>
            <a:r>
              <a:rPr lang="en-US" altLang="en-US" sz="2400" b="1" dirty="0">
                <a:solidFill>
                  <a:srgbClr val="800000"/>
                </a:solidFill>
                <a:cs typeface="Times New Roman" panose="02020603050405020304" pitchFamily="18" charset="0"/>
              </a:rPr>
              <a:t>OO Programming: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dirty="0">
                <a:solidFill>
                  <a:schemeClr val="tx1"/>
                </a:solidFill>
                <a:cs typeface="Times New Roman" panose="02020603050405020304" pitchFamily="18" charset="0"/>
              </a:rPr>
              <a:t>Implementation using classes and objects.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dirty="0">
                <a:solidFill>
                  <a:schemeClr val="tx1"/>
                </a:solidFill>
                <a:cs typeface="Times New Roman" panose="02020603050405020304" pitchFamily="18" charset="0"/>
              </a:rPr>
              <a:t>Objects with interface + hidden local state.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dirty="0">
                <a:solidFill>
                  <a:schemeClr val="tx1"/>
                </a:solidFill>
                <a:cs typeface="Times New Roman" panose="02020603050405020304" pitchFamily="18" charset="0"/>
              </a:rPr>
              <a:t>Objects have types. 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dirty="0">
                <a:solidFill>
                  <a:schemeClr val="tx1"/>
                </a:solidFill>
                <a:cs typeface="Times New Roman" panose="02020603050405020304" pitchFamily="18" charset="0"/>
              </a:rPr>
              <a:t>Types are arranged in hierarchies</a:t>
            </a:r>
            <a:endParaRPr lang="en-US" altLang="en-US" dirty="0">
              <a:cs typeface="Times New Roman" panose="02020603050405020304" pitchFamily="18" charset="0"/>
            </a:endParaRPr>
          </a:p>
          <a:p>
            <a:pPr lvl="1" algn="just" eaLnBrk="1" hangingPunct="1">
              <a:lnSpc>
                <a:spcPct val="90000"/>
              </a:lnSpc>
            </a:pPr>
            <a:endParaRPr lang="en-US" altLang="en-US" dirty="0"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251999315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13453"/>
            <a:ext cx="6073884" cy="646116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dirty="0"/>
              <a:t>Object-Oriented Principles</a:t>
            </a:r>
          </a:p>
        </p:txBody>
      </p:sp>
      <p:sp>
        <p:nvSpPr>
          <p:cNvPr id="10243" name="Content Placeholder 2"/>
          <p:cNvSpPr>
            <a:spLocks noGrp="1"/>
          </p:cNvSpPr>
          <p:nvPr>
            <p:ph idx="1"/>
          </p:nvPr>
        </p:nvSpPr>
        <p:spPr>
          <a:xfrm>
            <a:off x="936516" y="1711448"/>
            <a:ext cx="10417284" cy="4933993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4000" dirty="0"/>
              <a:t>Encapsulation and Information Hiding</a:t>
            </a:r>
          </a:p>
          <a:p>
            <a:pPr eaLnBrk="1" hangingPunct="1"/>
            <a:endParaRPr lang="en-US" altLang="en-US" sz="4000" dirty="0">
              <a:solidFill>
                <a:srgbClr val="C00000"/>
              </a:solidFill>
            </a:endParaRPr>
          </a:p>
          <a:p>
            <a:pPr eaLnBrk="1" hangingPunct="1"/>
            <a:r>
              <a:rPr lang="en-US" altLang="en-US" sz="4000" dirty="0">
                <a:solidFill>
                  <a:srgbClr val="C00000"/>
                </a:solidFill>
              </a:rPr>
              <a:t>Abstraction</a:t>
            </a:r>
          </a:p>
          <a:p>
            <a:pPr eaLnBrk="1" hangingPunct="1"/>
            <a:endParaRPr lang="en-US" altLang="en-US" sz="4000" dirty="0"/>
          </a:p>
          <a:p>
            <a:pPr eaLnBrk="1" hangingPunct="1"/>
            <a:r>
              <a:rPr lang="en-US" altLang="en-US" sz="4000" dirty="0"/>
              <a:t>Inheritance (an </a:t>
            </a:r>
            <a:r>
              <a:rPr lang="en-US" altLang="en-US" sz="4000" i="1" dirty="0"/>
              <a:t>is-a</a:t>
            </a:r>
            <a:r>
              <a:rPr lang="en-US" altLang="en-US" sz="4000" dirty="0"/>
              <a:t> hierarchy)</a:t>
            </a:r>
          </a:p>
          <a:p>
            <a:pPr eaLnBrk="1" hangingPunct="1"/>
            <a:endParaRPr lang="en-US" altLang="en-US" sz="4000" dirty="0">
              <a:solidFill>
                <a:srgbClr val="C00000"/>
              </a:solidFill>
            </a:endParaRPr>
          </a:p>
          <a:p>
            <a:pPr eaLnBrk="1" hangingPunct="1"/>
            <a:r>
              <a:rPr lang="en-US" altLang="en-US" sz="4000" dirty="0">
                <a:solidFill>
                  <a:srgbClr val="C00000"/>
                </a:solidFill>
              </a:rPr>
              <a:t>Polymorphism</a:t>
            </a:r>
          </a:p>
        </p:txBody>
      </p:sp>
    </p:spTree>
    <p:extLst>
      <p:ext uri="{BB962C8B-B14F-4D97-AF65-F5344CB8AC3E}">
        <p14:creationId xmlns:p14="http://schemas.microsoft.com/office/powerpoint/2010/main" val="41289740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46840" y="746667"/>
            <a:ext cx="7772400" cy="546212"/>
          </a:xfrm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 sz="3200" dirty="0"/>
              <a:t>Major components of an Object Model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>
          <a:xfrm>
            <a:off x="946840" y="1596758"/>
            <a:ext cx="10358834" cy="5056705"/>
          </a:xfrm>
        </p:spPr>
        <p:txBody>
          <a:bodyPr/>
          <a:lstStyle/>
          <a:p>
            <a:pPr eaLnBrk="1" hangingPunct="1"/>
            <a:r>
              <a:rPr lang="en-US" altLang="en-US" sz="2400" b="1" dirty="0">
                <a:solidFill>
                  <a:srgbClr val="800000"/>
                </a:solidFill>
              </a:rPr>
              <a:t>Object Model Concepts</a:t>
            </a:r>
          </a:p>
          <a:p>
            <a:pPr lvl="1" eaLnBrk="1" hangingPunct="1"/>
            <a:r>
              <a:rPr lang="en-US" altLang="en-US" dirty="0"/>
              <a:t>Structural and behavioral aspects. </a:t>
            </a:r>
          </a:p>
          <a:p>
            <a:pPr eaLnBrk="1" hangingPunct="1"/>
            <a:r>
              <a:rPr lang="en-US" altLang="en-US" sz="2400" b="1" dirty="0">
                <a:solidFill>
                  <a:srgbClr val="800000"/>
                </a:solidFill>
              </a:rPr>
              <a:t>Notation</a:t>
            </a:r>
          </a:p>
          <a:p>
            <a:pPr lvl="1" eaLnBrk="1" hangingPunct="1"/>
            <a:r>
              <a:rPr lang="en-US" altLang="en-US" dirty="0"/>
              <a:t>The language for expressing the model.</a:t>
            </a:r>
          </a:p>
          <a:p>
            <a:pPr eaLnBrk="1" hangingPunct="1"/>
            <a:r>
              <a:rPr lang="en-US" altLang="en-US" sz="2400" b="1" dirty="0">
                <a:solidFill>
                  <a:srgbClr val="800000"/>
                </a:solidFill>
              </a:rPr>
              <a:t>Process</a:t>
            </a:r>
          </a:p>
          <a:p>
            <a:pPr lvl="1" eaLnBrk="1" hangingPunct="1"/>
            <a:r>
              <a:rPr lang="en-US" altLang="en-US" dirty="0"/>
              <a:t>Activities to construct the system’s models.</a:t>
            </a:r>
          </a:p>
          <a:p>
            <a:pPr eaLnBrk="1" hangingPunct="1"/>
            <a:r>
              <a:rPr lang="en-US" altLang="en-US" sz="2400" b="1" dirty="0">
                <a:solidFill>
                  <a:srgbClr val="800000"/>
                </a:solidFill>
              </a:rPr>
              <a:t>Tools</a:t>
            </a:r>
          </a:p>
          <a:p>
            <a:pPr lvl="1" eaLnBrk="1" hangingPunct="1"/>
            <a:r>
              <a:rPr lang="en-US" altLang="en-US" dirty="0"/>
              <a:t>Support for specific notations, syntax and semantic checking and code generation.</a:t>
            </a:r>
          </a:p>
          <a:p>
            <a:pPr eaLnBrk="1" hangingPunct="1"/>
            <a:r>
              <a:rPr lang="en-US" altLang="en-US" sz="2400" b="1" dirty="0">
                <a:solidFill>
                  <a:srgbClr val="800000"/>
                </a:solidFill>
              </a:rPr>
              <a:t>Quality Criteria</a:t>
            </a:r>
          </a:p>
          <a:p>
            <a:pPr lvl="1" eaLnBrk="1" hangingPunct="1"/>
            <a:r>
              <a:rPr lang="en-US" altLang="en-US" dirty="0"/>
              <a:t>A set of criteria to determine the quality of the system.</a:t>
            </a:r>
          </a:p>
        </p:txBody>
      </p:sp>
    </p:spTree>
    <p:extLst>
      <p:ext uri="{BB962C8B-B14F-4D97-AF65-F5344CB8AC3E}">
        <p14:creationId xmlns:p14="http://schemas.microsoft.com/office/powerpoint/2010/main" val="4101746526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46484" y="753091"/>
            <a:ext cx="6039853" cy="612972"/>
          </a:xfrm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 dirty="0"/>
              <a:t>Evolution Of Object Model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idx="1"/>
          </p:nvPr>
        </p:nvSpPr>
        <p:spPr>
          <a:xfrm>
            <a:off x="946484" y="1748198"/>
            <a:ext cx="10407316" cy="4869170"/>
          </a:xfrm>
        </p:spPr>
        <p:txBody>
          <a:bodyPr>
            <a:normAutofit/>
          </a:bodyPr>
          <a:lstStyle/>
          <a:p>
            <a:pPr marL="0" indent="0" eaLnBrk="1" hangingPunct="1">
              <a:buNone/>
            </a:pPr>
            <a:r>
              <a:rPr lang="en-US" altLang="en-US" b="1" dirty="0">
                <a:cs typeface="Times New Roman" panose="02020603050405020304" pitchFamily="18" charset="0"/>
              </a:rPr>
              <a:t>Object-based and Object-Oriented Programming languages:</a:t>
            </a:r>
          </a:p>
          <a:p>
            <a:pPr algn="just" eaLnBrk="1" hangingPunct="1"/>
            <a:endParaRPr lang="en-US" altLang="en-US" dirty="0">
              <a:cs typeface="Times New Roman" panose="02020603050405020304" pitchFamily="18" charset="0"/>
            </a:endParaRPr>
          </a:p>
          <a:p>
            <a:pPr algn="just" eaLnBrk="1" hangingPunct="1"/>
            <a:r>
              <a:rPr lang="en-US" altLang="en-US" dirty="0">
                <a:cs typeface="Times New Roman" panose="02020603050405020304" pitchFamily="18" charset="0"/>
              </a:rPr>
              <a:t>Logical building blocks – Classes and Objects.</a:t>
            </a:r>
          </a:p>
          <a:p>
            <a:pPr algn="just" eaLnBrk="1" hangingPunct="1"/>
            <a:endParaRPr lang="en-US" altLang="en-US" dirty="0">
              <a:cs typeface="Times New Roman" panose="02020603050405020304" pitchFamily="18" charset="0"/>
            </a:endParaRPr>
          </a:p>
          <a:p>
            <a:pPr algn="just" eaLnBrk="1" hangingPunct="1"/>
            <a:r>
              <a:rPr lang="en-US" altLang="en-US" dirty="0">
                <a:cs typeface="Times New Roman" panose="02020603050405020304" pitchFamily="18" charset="0"/>
              </a:rPr>
              <a:t>Physical Building Block - Module</a:t>
            </a:r>
          </a:p>
          <a:p>
            <a:pPr marL="0" indent="0" algn="just" eaLnBrk="1" hangingPunct="1">
              <a:buNone/>
            </a:pPr>
            <a:endParaRPr lang="en-US" altLang="en-US" dirty="0">
              <a:cs typeface="Times New Roman" panose="02020603050405020304" pitchFamily="18" charset="0"/>
            </a:endParaRPr>
          </a:p>
          <a:p>
            <a:pPr algn="just" eaLnBrk="1" hangingPunct="1"/>
            <a:r>
              <a:rPr lang="en-US" altLang="en-US" dirty="0">
                <a:cs typeface="Times New Roman" panose="02020603050405020304" pitchFamily="18" charset="0"/>
              </a:rPr>
              <a:t>Objects can be arranged in layers of clusters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151552595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46485" y="753234"/>
            <a:ext cx="5703536" cy="503729"/>
          </a:xfrm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  <a:normAutofit fontScale="90000"/>
          </a:bodyPr>
          <a:lstStyle/>
          <a:p>
            <a:pPr eaLnBrk="1" hangingPunct="1"/>
            <a:r>
              <a:rPr lang="en-US" altLang="en-US" dirty="0"/>
              <a:t>Benefits of the Object Model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idx="1"/>
          </p:nvPr>
        </p:nvSpPr>
        <p:spPr>
          <a:xfrm>
            <a:off x="946485" y="1633769"/>
            <a:ext cx="10407315" cy="5003651"/>
          </a:xfrm>
        </p:spPr>
        <p:txBody>
          <a:bodyPr>
            <a:normAutofit/>
          </a:bodyPr>
          <a:lstStyle/>
          <a:p>
            <a:pPr eaLnBrk="1" hangingPunct="1"/>
            <a:endParaRPr lang="en-US" altLang="en-US" dirty="0"/>
          </a:p>
          <a:p>
            <a:pPr eaLnBrk="1" hangingPunct="1"/>
            <a:r>
              <a:rPr lang="en-US" altLang="en-US" dirty="0"/>
              <a:t>A better management of complexity… (big code base)</a:t>
            </a:r>
          </a:p>
          <a:p>
            <a:pPr eaLnBrk="1" hangingPunct="1"/>
            <a:endParaRPr lang="en-US" altLang="en-US" dirty="0"/>
          </a:p>
          <a:p>
            <a:pPr eaLnBrk="1" hangingPunct="1"/>
            <a:r>
              <a:rPr lang="en-US" altLang="en-US" dirty="0"/>
              <a:t>… provides a “</a:t>
            </a:r>
            <a:r>
              <a:rPr lang="en-US" altLang="en-US" b="1" dirty="0">
                <a:solidFill>
                  <a:srgbClr val="800000"/>
                </a:solidFill>
              </a:rPr>
              <a:t>better model of reality</a:t>
            </a:r>
            <a:r>
              <a:rPr lang="en-US" altLang="en-US" dirty="0"/>
              <a:t>” (think in objects).</a:t>
            </a:r>
          </a:p>
          <a:p>
            <a:pPr eaLnBrk="1" hangingPunct="1"/>
            <a:endParaRPr lang="en-US" altLang="en-US" dirty="0"/>
          </a:p>
          <a:p>
            <a:pPr eaLnBrk="1" hangingPunct="1"/>
            <a:r>
              <a:rPr lang="en-US" altLang="en-US" dirty="0"/>
              <a:t>Encourages reuse.</a:t>
            </a:r>
          </a:p>
          <a:p>
            <a:pPr eaLnBrk="1" hangingPunct="1"/>
            <a:endParaRPr lang="en-US" altLang="en-US" dirty="0"/>
          </a:p>
          <a:p>
            <a:pPr eaLnBrk="1" hangingPunct="1"/>
            <a:r>
              <a:rPr lang="en-US" altLang="en-US" dirty="0"/>
              <a:t>Systems are more </a:t>
            </a:r>
            <a:r>
              <a:rPr lang="en-US" altLang="en-US" b="1" dirty="0">
                <a:solidFill>
                  <a:srgbClr val="92D050"/>
                </a:solidFill>
              </a:rPr>
              <a:t>resilient</a:t>
            </a:r>
            <a:r>
              <a:rPr lang="en-US" altLang="en-US" dirty="0"/>
              <a:t> to change and evolve </a:t>
            </a:r>
            <a:r>
              <a:rPr lang="en-US" altLang="en-US" b="1" dirty="0">
                <a:solidFill>
                  <a:srgbClr val="92D050"/>
                </a:solidFill>
              </a:rPr>
              <a:t>easier</a:t>
            </a:r>
            <a:r>
              <a:rPr lang="en-US" altLang="en-US" dirty="0"/>
              <a:t>.</a:t>
            </a:r>
          </a:p>
          <a:p>
            <a:pPr marL="0" indent="0" eaLnBrk="1" hangingPunct="1">
              <a:buNone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984679688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39687" y="748300"/>
            <a:ext cx="5976980" cy="457200"/>
          </a:xfrm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  <a:normAutofit fontScale="90000"/>
          </a:bodyPr>
          <a:lstStyle/>
          <a:p>
            <a:pPr eaLnBrk="1" hangingPunct="1">
              <a:defRPr/>
            </a:pPr>
            <a:r>
              <a:rPr lang="en-US" altLang="en-US" sz="3200" dirty="0"/>
              <a:t>More Vocabulary of OO systems 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>
          <a:xfrm>
            <a:off x="939686" y="1639524"/>
            <a:ext cx="10398071" cy="5001907"/>
          </a:xfrm>
        </p:spPr>
        <p:txBody>
          <a:bodyPr>
            <a:normAutofit/>
          </a:bodyPr>
          <a:lstStyle/>
          <a:p>
            <a:pPr eaLnBrk="1" hangingPunct="1"/>
            <a:endParaRPr lang="en-US" altLang="en-US" b="1" dirty="0"/>
          </a:p>
          <a:p>
            <a:pPr eaLnBrk="1" hangingPunct="1"/>
            <a:r>
              <a:rPr lang="en-US" altLang="en-US" b="1" dirty="0"/>
              <a:t>Instantiation</a:t>
            </a:r>
            <a:r>
              <a:rPr lang="en-US" altLang="en-US" dirty="0"/>
              <a:t>: Creating objects from classes</a:t>
            </a:r>
          </a:p>
          <a:p>
            <a:pPr eaLnBrk="1" hangingPunct="1"/>
            <a:endParaRPr lang="en-US" altLang="en-US" b="1" dirty="0"/>
          </a:p>
          <a:p>
            <a:pPr eaLnBrk="1" hangingPunct="1"/>
            <a:r>
              <a:rPr lang="en-US" altLang="en-US" b="1" dirty="0"/>
              <a:t>Methods</a:t>
            </a:r>
            <a:r>
              <a:rPr lang="en-US" altLang="en-US" dirty="0"/>
              <a:t>: A procedure associated with an object class.</a:t>
            </a:r>
          </a:p>
          <a:p>
            <a:pPr eaLnBrk="1" hangingPunct="1"/>
            <a:endParaRPr lang="en-US" altLang="en-US" b="1" dirty="0"/>
          </a:p>
          <a:p>
            <a:pPr eaLnBrk="1" hangingPunct="1"/>
            <a:r>
              <a:rPr lang="en-US" altLang="en-US" b="1" dirty="0"/>
              <a:t>Messages: </a:t>
            </a:r>
            <a:r>
              <a:rPr lang="en-US" altLang="en-US" dirty="0"/>
              <a:t>Binding of procedure names to behavior. </a:t>
            </a:r>
          </a:p>
        </p:txBody>
      </p:sp>
    </p:spTree>
    <p:extLst>
      <p:ext uri="{BB962C8B-B14F-4D97-AF65-F5344CB8AC3E}">
        <p14:creationId xmlns:p14="http://schemas.microsoft.com/office/powerpoint/2010/main" val="423675196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31666" y="788405"/>
            <a:ext cx="5976980" cy="928102"/>
          </a:xfrm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  <a:normAutofit/>
          </a:bodyPr>
          <a:lstStyle/>
          <a:p>
            <a:pPr eaLnBrk="1" hangingPunct="1">
              <a:defRPr/>
            </a:pPr>
            <a:r>
              <a:rPr lang="en-US" altLang="en-US" sz="3200" dirty="0"/>
              <a:t>Basic IntelliJ examples: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idx="1"/>
          </p:nvPr>
        </p:nvSpPr>
        <p:spPr>
          <a:xfrm>
            <a:off x="939686" y="1639524"/>
            <a:ext cx="10398071" cy="5001907"/>
          </a:xfrm>
        </p:spPr>
        <p:txBody>
          <a:bodyPr>
            <a:normAutofit/>
          </a:bodyPr>
          <a:lstStyle/>
          <a:p>
            <a:pPr eaLnBrk="1" hangingPunct="1"/>
            <a:endParaRPr lang="en-US" altLang="en-US" b="1" dirty="0"/>
          </a:p>
          <a:p>
            <a:pPr eaLnBrk="1" hangingPunct="1"/>
            <a:r>
              <a:rPr lang="en-US" altLang="en-US" b="1" dirty="0"/>
              <a:t>Class </a:t>
            </a:r>
          </a:p>
          <a:p>
            <a:pPr eaLnBrk="1" hangingPunct="1"/>
            <a:endParaRPr lang="en-US" altLang="en-US" b="1" dirty="0"/>
          </a:p>
          <a:p>
            <a:pPr eaLnBrk="1" hangingPunct="1"/>
            <a:r>
              <a:rPr lang="en-US" altLang="en-US" b="1" dirty="0"/>
              <a:t>Extends</a:t>
            </a:r>
          </a:p>
          <a:p>
            <a:pPr marL="0" indent="0" eaLnBrk="1" hangingPunct="1">
              <a:buNone/>
            </a:pPr>
            <a:endParaRPr lang="en-US" altLang="en-US" b="1" dirty="0"/>
          </a:p>
          <a:p>
            <a:r>
              <a:rPr lang="en-US" altLang="en-US" b="1" dirty="0"/>
              <a:t>Constructor</a:t>
            </a:r>
          </a:p>
        </p:txBody>
      </p:sp>
    </p:spTree>
    <p:extLst>
      <p:ext uri="{BB962C8B-B14F-4D97-AF65-F5344CB8AC3E}">
        <p14:creationId xmlns:p14="http://schemas.microsoft.com/office/powerpoint/2010/main" val="3818677639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dirty="0"/>
              <a:t>Object-Oriented </a:t>
            </a:r>
            <a:br>
              <a:rPr lang="en-US" dirty="0"/>
            </a:br>
            <a:r>
              <a:rPr lang="en-US" dirty="0"/>
              <a:t>Bank Account Example</a:t>
            </a:r>
          </a:p>
        </p:txBody>
      </p:sp>
      <p:sp>
        <p:nvSpPr>
          <p:cNvPr id="5123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>
                <a:solidFill>
                  <a:srgbClr val="898989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351911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941018" y="755185"/>
            <a:ext cx="8686800" cy="609600"/>
          </a:xfrm>
        </p:spPr>
        <p:txBody>
          <a:bodyPr vert="horz" lIns="103584" tIns="51793" rIns="103584" bIns="51793" rtlCol="0" anchor="ctr">
            <a:normAutofit/>
          </a:bodyPr>
          <a:lstStyle/>
          <a:p>
            <a:pPr>
              <a:defRPr/>
            </a:pPr>
            <a:r>
              <a:rPr lang="en-US" b="1" dirty="0"/>
              <a:t>An Object-Oriented (OO) System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>
          <a:xfrm>
            <a:off x="941018" y="1698436"/>
            <a:ext cx="4741898" cy="4942995"/>
          </a:xfrm>
          <a:ln>
            <a:miter lim="800000"/>
            <a:headEnd/>
            <a:tailEnd/>
          </a:ln>
        </p:spPr>
        <p:txBody>
          <a:bodyPr vert="horz" lIns="103584" tIns="51793" rIns="103584" bIns="51793" rtlCol="0">
            <a:normAutofit/>
          </a:bodyPr>
          <a:lstStyle/>
          <a:p>
            <a:pPr marL="114300" indent="-114300">
              <a:buNone/>
            </a:pPr>
            <a:r>
              <a:rPr lang="en-US" altLang="en-US" dirty="0"/>
              <a:t>To understand object-oriented </a:t>
            </a:r>
            <a:r>
              <a:rPr lang="en-US" altLang="en-US" dirty="0">
                <a:solidFill>
                  <a:srgbClr val="0000FF"/>
                </a:solidFill>
              </a:rPr>
              <a:t>concepts</a:t>
            </a:r>
            <a:r>
              <a:rPr lang="en-US" altLang="en-US" dirty="0"/>
              <a:t> and </a:t>
            </a:r>
            <a:r>
              <a:rPr lang="en-US" altLang="en-US" dirty="0">
                <a:solidFill>
                  <a:srgbClr val="0000FF"/>
                </a:solidFill>
              </a:rPr>
              <a:t>OO design</a:t>
            </a:r>
          </a:p>
          <a:p>
            <a:pPr marL="114300" indent="-114300">
              <a:buNone/>
            </a:pPr>
            <a:r>
              <a:rPr lang="en-US" altLang="en-US" dirty="0">
                <a:solidFill>
                  <a:schemeClr val="tx1"/>
                </a:solidFill>
              </a:rPr>
              <a:t>example: banking</a:t>
            </a:r>
          </a:p>
          <a:p>
            <a:pPr marL="114300" indent="-114300">
              <a:buNone/>
            </a:pPr>
            <a:endParaRPr lang="en-US" altLang="en-US" u="sng" dirty="0">
              <a:solidFill>
                <a:srgbClr val="990000"/>
              </a:solidFill>
            </a:endParaRPr>
          </a:p>
          <a:p>
            <a:pPr marL="114300" indent="-114300">
              <a:buNone/>
            </a:pPr>
            <a:r>
              <a:rPr lang="en-US" altLang="en-US" dirty="0">
                <a:solidFill>
                  <a:schemeClr val="tx1"/>
                </a:solidFill>
              </a:rPr>
              <a:t>A simple bank:</a:t>
            </a:r>
          </a:p>
          <a:p>
            <a:r>
              <a:rPr lang="en-US" altLang="en-US" dirty="0">
                <a:solidFill>
                  <a:schemeClr val="tx1"/>
                </a:solidFill>
              </a:rPr>
              <a:t>A bank has </a:t>
            </a:r>
            <a:r>
              <a:rPr lang="en-US" altLang="en-US" b="1" dirty="0">
                <a:solidFill>
                  <a:srgbClr val="92D050"/>
                </a:solidFill>
              </a:rPr>
              <a:t>customers</a:t>
            </a:r>
            <a:r>
              <a:rPr lang="en-US" altLang="en-US" dirty="0">
                <a:solidFill>
                  <a:schemeClr val="tx1"/>
                </a:solidFill>
              </a:rPr>
              <a:t>.</a:t>
            </a:r>
          </a:p>
          <a:p>
            <a:r>
              <a:rPr lang="en-US" altLang="en-US" dirty="0">
                <a:solidFill>
                  <a:schemeClr val="tx1"/>
                </a:solidFill>
              </a:rPr>
              <a:t>A bank has bank </a:t>
            </a:r>
            <a:r>
              <a:rPr lang="en-US" altLang="en-US" b="1" dirty="0">
                <a:solidFill>
                  <a:srgbClr val="0000FF"/>
                </a:solidFill>
              </a:rPr>
              <a:t>accounts</a:t>
            </a:r>
            <a:r>
              <a:rPr lang="en-US" altLang="en-US" dirty="0">
                <a:solidFill>
                  <a:schemeClr val="tx1"/>
                </a:solidFill>
              </a:rPr>
              <a:t>. </a:t>
            </a:r>
          </a:p>
          <a:p>
            <a:r>
              <a:rPr lang="en-US" altLang="en-US" dirty="0">
                <a:solidFill>
                  <a:schemeClr val="tx1"/>
                </a:solidFill>
              </a:rPr>
              <a:t>A bank </a:t>
            </a:r>
            <a:r>
              <a:rPr lang="en-US" altLang="en-US" b="1" dirty="0">
                <a:solidFill>
                  <a:srgbClr val="92D050"/>
                </a:solidFill>
              </a:rPr>
              <a:t>customer </a:t>
            </a:r>
            <a:r>
              <a:rPr lang="en-US" altLang="en-US" dirty="0">
                <a:solidFill>
                  <a:schemeClr val="tx1"/>
                </a:solidFill>
              </a:rPr>
              <a:t>has bank </a:t>
            </a:r>
            <a:r>
              <a:rPr lang="en-US" altLang="en-US" b="1" dirty="0">
                <a:solidFill>
                  <a:srgbClr val="0000FF"/>
                </a:solidFill>
              </a:rPr>
              <a:t>accounts</a:t>
            </a:r>
            <a:r>
              <a:rPr lang="en-US" altLang="en-US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8196" name="Slide Number Placeholder 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>
                <a:solidFill>
                  <a:srgbClr val="898989"/>
                </a:solidFill>
              </a:rPr>
              <a:t> 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6226891" y="2412310"/>
            <a:ext cx="4741898" cy="4036616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lIns="103584" tIns="51793" rIns="103584" bIns="51793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dirty="0">
                <a:solidFill>
                  <a:schemeClr val="tx1"/>
                </a:solidFill>
              </a:rPr>
              <a:t>A bank </a:t>
            </a:r>
            <a:r>
              <a:rPr lang="en-US" altLang="en-US" b="1" dirty="0">
                <a:solidFill>
                  <a:srgbClr val="0000FF"/>
                </a:solidFill>
              </a:rPr>
              <a:t>account</a:t>
            </a:r>
            <a:r>
              <a:rPr lang="en-US" altLang="en-US" dirty="0">
                <a:solidFill>
                  <a:schemeClr val="tx1"/>
                </a:solidFill>
              </a:rPr>
              <a:t> can be a:</a:t>
            </a:r>
          </a:p>
          <a:p>
            <a:pPr lvl="1"/>
            <a:r>
              <a:rPr lang="en-US" altLang="en-US" dirty="0" err="1">
                <a:solidFill>
                  <a:schemeClr val="tx1"/>
                </a:solidFill>
              </a:rPr>
              <a:t>CheckingAccount</a:t>
            </a:r>
            <a:endParaRPr lang="en-US" altLang="en-US" dirty="0">
              <a:solidFill>
                <a:schemeClr val="tx1"/>
              </a:solidFill>
            </a:endParaRPr>
          </a:p>
          <a:p>
            <a:pPr lvl="1"/>
            <a:r>
              <a:rPr lang="en-US" altLang="en-US" dirty="0" err="1">
                <a:solidFill>
                  <a:schemeClr val="tx1"/>
                </a:solidFill>
              </a:rPr>
              <a:t>SavingsAccount</a:t>
            </a:r>
            <a:endParaRPr lang="en-US" altLang="en-US" dirty="0">
              <a:solidFill>
                <a:schemeClr val="tx1"/>
              </a:solidFill>
            </a:endParaRPr>
          </a:p>
          <a:p>
            <a:pPr lvl="1"/>
            <a:r>
              <a:rPr lang="en-US" altLang="en-US" dirty="0" err="1">
                <a:solidFill>
                  <a:schemeClr val="tx1"/>
                </a:solidFill>
              </a:rPr>
              <a:t>PerformanceSavingsAccount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</a:p>
          <a:p>
            <a:r>
              <a:rPr lang="en-US" altLang="en-US" dirty="0">
                <a:solidFill>
                  <a:schemeClr val="tx1"/>
                </a:solidFill>
              </a:rPr>
              <a:t>A </a:t>
            </a:r>
            <a:r>
              <a:rPr lang="en-US" altLang="en-US" b="1" dirty="0">
                <a:solidFill>
                  <a:srgbClr val="92D050"/>
                </a:solidFill>
              </a:rPr>
              <a:t>customer</a:t>
            </a:r>
            <a:r>
              <a:rPr lang="en-US" altLang="en-US" dirty="0">
                <a:solidFill>
                  <a:schemeClr val="tx1"/>
                </a:solidFill>
              </a:rPr>
              <a:t>:</a:t>
            </a:r>
          </a:p>
          <a:p>
            <a:pPr lvl="1"/>
            <a:r>
              <a:rPr lang="en-US" altLang="en-US" dirty="0">
                <a:solidFill>
                  <a:schemeClr val="tx1"/>
                </a:solidFill>
              </a:rPr>
              <a:t>Get balance (of an </a:t>
            </a:r>
            <a:r>
              <a:rPr lang="en-US" altLang="en-US" b="1" dirty="0">
                <a:solidFill>
                  <a:srgbClr val="0000FF"/>
                </a:solidFill>
              </a:rPr>
              <a:t>account</a:t>
            </a:r>
            <a:r>
              <a:rPr lang="en-US" altLang="en-US" dirty="0">
                <a:solidFill>
                  <a:schemeClr val="tx1"/>
                </a:solidFill>
              </a:rPr>
              <a:t>)</a:t>
            </a:r>
          </a:p>
          <a:p>
            <a:pPr lvl="1"/>
            <a:r>
              <a:rPr lang="en-US" altLang="en-US" dirty="0">
                <a:solidFill>
                  <a:schemeClr val="tx1"/>
                </a:solidFill>
              </a:rPr>
              <a:t>Get interest rate (of an </a:t>
            </a:r>
            <a:r>
              <a:rPr lang="en-US" altLang="en-US" b="1" dirty="0">
                <a:solidFill>
                  <a:srgbClr val="0000FF"/>
                </a:solidFill>
              </a:rPr>
              <a:t>account</a:t>
            </a:r>
            <a:r>
              <a:rPr lang="en-US" altLang="en-US" dirty="0">
                <a:solidFill>
                  <a:schemeClr val="tx1"/>
                </a:solidFill>
              </a:rPr>
              <a:t>)</a:t>
            </a:r>
          </a:p>
          <a:p>
            <a:pPr lvl="1"/>
            <a:r>
              <a:rPr lang="en-US" altLang="en-US" dirty="0">
                <a:solidFill>
                  <a:schemeClr val="tx1"/>
                </a:solidFill>
              </a:rPr>
              <a:t>Deposits money</a:t>
            </a:r>
          </a:p>
          <a:p>
            <a:pPr lvl="1"/>
            <a:r>
              <a:rPr lang="en-US" altLang="en-US" dirty="0">
                <a:solidFill>
                  <a:schemeClr val="tx1"/>
                </a:solidFill>
              </a:rPr>
              <a:t>Withdraws money.</a:t>
            </a:r>
          </a:p>
        </p:txBody>
      </p:sp>
    </p:spTree>
    <p:extLst>
      <p:ext uri="{BB962C8B-B14F-4D97-AF65-F5344CB8AC3E}">
        <p14:creationId xmlns:p14="http://schemas.microsoft.com/office/powerpoint/2010/main" val="1026376252"/>
      </p:ext>
    </p:extLst>
  </p:cSld>
  <p:clrMapOvr>
    <a:masterClrMapping/>
  </p:clrMapOvr>
  <p:transition spd="slow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950424" y="763154"/>
            <a:ext cx="8686800" cy="685800"/>
          </a:xfrm>
          <a:ln>
            <a:miter lim="800000"/>
            <a:headEnd/>
            <a:tailEnd/>
          </a:ln>
        </p:spPr>
        <p:txBody>
          <a:bodyPr vert="horz" lIns="103584" tIns="51793" rIns="103584" bIns="51793" rtlCol="0" anchor="ctr">
            <a:normAutofit/>
          </a:bodyPr>
          <a:lstStyle/>
          <a:p>
            <a:pPr eaLnBrk="1" hangingPunct="1"/>
            <a:r>
              <a:rPr lang="en-US" altLang="en-US" b="1" dirty="0"/>
              <a:t>An Object-Oriented System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>
          <a:xfrm>
            <a:off x="950424" y="1966479"/>
            <a:ext cx="8534400" cy="1833520"/>
          </a:xfrm>
          <a:ln>
            <a:miter lim="800000"/>
            <a:headEnd/>
            <a:tailEnd/>
          </a:ln>
        </p:spPr>
        <p:txBody>
          <a:bodyPr vert="horz" lIns="103584" tIns="51793" rIns="103584" bIns="51793" rtlCol="0">
            <a:normAutofit/>
          </a:bodyPr>
          <a:lstStyle/>
          <a:p>
            <a:pPr marL="114300" indent="-114300">
              <a:buNone/>
            </a:pPr>
            <a:r>
              <a:rPr lang="en-US" altLang="en-US" sz="2800" dirty="0"/>
              <a:t>A </a:t>
            </a:r>
            <a:r>
              <a:rPr lang="en-US" altLang="en-US" sz="2800" dirty="0">
                <a:solidFill>
                  <a:srgbClr val="0000FF"/>
                </a:solidFill>
              </a:rPr>
              <a:t>customer</a:t>
            </a:r>
            <a:r>
              <a:rPr lang="en-US" altLang="en-US" sz="2800" dirty="0"/>
              <a:t> calls a </a:t>
            </a:r>
            <a:r>
              <a:rPr lang="en-US" altLang="en-US" sz="2800" dirty="0" err="1">
                <a:solidFill>
                  <a:srgbClr val="800000"/>
                </a:solidFill>
              </a:rPr>
              <a:t>showBalance</a:t>
            </a:r>
            <a:r>
              <a:rPr lang="en-US" altLang="en-US" sz="2800" dirty="0">
                <a:solidFill>
                  <a:srgbClr val="800000"/>
                </a:solidFill>
              </a:rPr>
              <a:t>()</a:t>
            </a:r>
            <a:r>
              <a:rPr lang="en-US" altLang="en-US" sz="2800" dirty="0"/>
              <a:t> function on a </a:t>
            </a:r>
            <a:r>
              <a:rPr lang="en-US" altLang="en-US" sz="2800" dirty="0">
                <a:solidFill>
                  <a:srgbClr val="0000FF"/>
                </a:solidFill>
              </a:rPr>
              <a:t>bank</a:t>
            </a:r>
            <a:r>
              <a:rPr lang="en-US" altLang="en-US" sz="2800" dirty="0"/>
              <a:t> object; </a:t>
            </a:r>
            <a:br>
              <a:rPr lang="en-US" altLang="en-US" sz="2800" dirty="0"/>
            </a:br>
            <a:r>
              <a:rPr lang="en-US" altLang="en-US" sz="2800" dirty="0"/>
              <a:t>a bank object calls </a:t>
            </a:r>
            <a:r>
              <a:rPr lang="en-US" altLang="en-US" sz="2800" dirty="0" err="1">
                <a:solidFill>
                  <a:srgbClr val="800000"/>
                </a:solidFill>
              </a:rPr>
              <a:t>getBalance</a:t>
            </a:r>
            <a:r>
              <a:rPr lang="en-US" altLang="en-US" sz="2800" dirty="0">
                <a:solidFill>
                  <a:srgbClr val="800000"/>
                </a:solidFill>
              </a:rPr>
              <a:t>()</a:t>
            </a:r>
            <a:r>
              <a:rPr lang="en-US" altLang="en-US" sz="2800" dirty="0"/>
              <a:t> function on a </a:t>
            </a:r>
            <a:r>
              <a:rPr lang="en-US" altLang="en-US" sz="2800" dirty="0">
                <a:solidFill>
                  <a:srgbClr val="0000FF"/>
                </a:solidFill>
              </a:rPr>
              <a:t>bank account</a:t>
            </a:r>
            <a:r>
              <a:rPr lang="en-US" altLang="en-US" sz="2800" dirty="0"/>
              <a:t> object. </a:t>
            </a:r>
            <a:endParaRPr lang="en-US" altLang="en-US" dirty="0"/>
          </a:p>
        </p:txBody>
      </p:sp>
      <p:sp>
        <p:nvSpPr>
          <p:cNvPr id="10252" name="Slide Number Placeholder 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>
                <a:solidFill>
                  <a:srgbClr val="898989"/>
                </a:solidFill>
              </a:rPr>
              <a:t> </a:t>
            </a:r>
          </a:p>
        </p:txBody>
      </p:sp>
      <p:pic>
        <p:nvPicPr>
          <p:cNvPr id="3" name="Picture 2" descr="A diagram of a line&#10;&#10;Description automatically generated">
            <a:extLst>
              <a:ext uri="{FF2B5EF4-FFF2-40B4-BE49-F238E27FC236}">
                <a16:creationId xmlns:a16="http://schemas.microsoft.com/office/drawing/2014/main" id="{D85A9FD4-2E71-308C-5176-B3F6F27C46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5740" y="3019581"/>
            <a:ext cx="5043754" cy="3460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4754854"/>
      </p:ext>
    </p:extLst>
  </p:cSld>
  <p:clrMapOvr>
    <a:masterClrMapping/>
  </p:clrMapOvr>
  <p:transition spd="slow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942976" y="752903"/>
            <a:ext cx="8763000" cy="685800"/>
          </a:xfrm>
          <a:ln>
            <a:miter lim="800000"/>
            <a:headEnd/>
            <a:tailEnd/>
          </a:ln>
        </p:spPr>
        <p:txBody>
          <a:bodyPr vert="horz" lIns="103584" tIns="51793" rIns="103584" bIns="51793" rtlCol="0" anchor="ctr">
            <a:normAutofit/>
          </a:bodyPr>
          <a:lstStyle/>
          <a:p>
            <a:pPr eaLnBrk="1" hangingPunct="1"/>
            <a:r>
              <a:rPr lang="en-US" altLang="en-US" b="1" dirty="0"/>
              <a:t>An Object-Oriented System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942976" y="1859891"/>
            <a:ext cx="10410824" cy="4841698"/>
          </a:xfrm>
          <a:ln>
            <a:miter lim="800000"/>
            <a:headEnd/>
            <a:tailEnd/>
          </a:ln>
        </p:spPr>
        <p:txBody>
          <a:bodyPr vert="horz" lIns="103584" tIns="51793" rIns="103584" bIns="51793" rtlCol="0">
            <a:normAutofit/>
          </a:bodyPr>
          <a:lstStyle/>
          <a:p>
            <a:pPr marL="114300" indent="-114300">
              <a:buNone/>
            </a:pPr>
            <a:r>
              <a:rPr lang="en-US" altLang="en-US" dirty="0"/>
              <a:t>An object-oriented system consists of a network of </a:t>
            </a:r>
            <a:r>
              <a:rPr lang="en-US" altLang="en-US" dirty="0">
                <a:solidFill>
                  <a:srgbClr val="000099"/>
                </a:solidFill>
              </a:rPr>
              <a:t>objects</a:t>
            </a:r>
            <a:r>
              <a:rPr lang="en-US" altLang="en-US" dirty="0"/>
              <a:t> </a:t>
            </a:r>
          </a:p>
          <a:p>
            <a:pPr marL="114300" indent="-114300">
              <a:buNone/>
            </a:pPr>
            <a:endParaRPr lang="en-US" altLang="en-US" dirty="0"/>
          </a:p>
          <a:p>
            <a:pPr marL="114300" indent="-114300">
              <a:buNone/>
            </a:pPr>
            <a:r>
              <a:rPr lang="en-US" altLang="en-US" dirty="0"/>
              <a:t>Objects </a:t>
            </a:r>
            <a:r>
              <a:rPr lang="en-US" altLang="en-US" dirty="0">
                <a:solidFill>
                  <a:srgbClr val="2121C5"/>
                </a:solidFill>
              </a:rPr>
              <a:t>store </a:t>
            </a:r>
            <a:r>
              <a:rPr lang="en-US" altLang="en-US" b="1" dirty="0">
                <a:solidFill>
                  <a:srgbClr val="2121C5"/>
                </a:solidFill>
              </a:rPr>
              <a:t>data</a:t>
            </a:r>
            <a:r>
              <a:rPr lang="en-US" altLang="en-US" dirty="0"/>
              <a:t> and </a:t>
            </a:r>
            <a:r>
              <a:rPr lang="en-US" altLang="en-US" dirty="0">
                <a:solidFill>
                  <a:srgbClr val="2121C5"/>
                </a:solidFill>
              </a:rPr>
              <a:t>perform </a:t>
            </a:r>
            <a:r>
              <a:rPr lang="en-US" altLang="en-US" b="1" dirty="0">
                <a:solidFill>
                  <a:srgbClr val="2121C5"/>
                </a:solidFill>
              </a:rPr>
              <a:t>actions</a:t>
            </a:r>
            <a:r>
              <a:rPr lang="en-US" altLang="en-US" dirty="0"/>
              <a:t>.</a:t>
            </a:r>
          </a:p>
        </p:txBody>
      </p:sp>
      <p:sp>
        <p:nvSpPr>
          <p:cNvPr id="6156" name="Slide Number Placeholder 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>
                <a:solidFill>
                  <a:srgbClr val="898989"/>
                </a:solidFill>
              </a:rPr>
              <a:t> </a:t>
            </a:r>
          </a:p>
        </p:txBody>
      </p:sp>
      <p:pic>
        <p:nvPicPr>
          <p:cNvPr id="3" name="Picture 2" descr="A computer screen shot of a computer&#10;&#10;Description automatically generated">
            <a:extLst>
              <a:ext uri="{FF2B5EF4-FFF2-40B4-BE49-F238E27FC236}">
                <a16:creationId xmlns:a16="http://schemas.microsoft.com/office/drawing/2014/main" id="{008C706F-B7ED-6CEC-BEB0-4299866FAA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4025" y="3244516"/>
            <a:ext cx="6941116" cy="3296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063807"/>
      </p:ext>
    </p:extLst>
  </p:cSld>
  <p:clrMapOvr>
    <a:masterClrMapping/>
  </p:clrMapOvr>
  <p:transition spd="slow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44497" y="738273"/>
            <a:ext cx="1678423" cy="609263"/>
          </a:xfrm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  <a:normAutofit/>
          </a:bodyPr>
          <a:lstStyle/>
          <a:p>
            <a:pPr eaLnBrk="1" hangingPunct="1">
              <a:defRPr/>
            </a:pPr>
            <a:r>
              <a:rPr lang="en-US" altLang="en-US" sz="3200" dirty="0"/>
              <a:t>Objects 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>
          <a:xfrm>
            <a:off x="944497" y="1671645"/>
            <a:ext cx="10413314" cy="4977807"/>
          </a:xfrm>
        </p:spPr>
        <p:txBody>
          <a:bodyPr/>
          <a:lstStyle/>
          <a:p>
            <a:pPr eaLnBrk="1" hangingPunct="1"/>
            <a:endParaRPr lang="en-US" altLang="en-US" dirty="0"/>
          </a:p>
          <a:p>
            <a:pPr eaLnBrk="1" hangingPunct="1"/>
            <a:r>
              <a:rPr lang="en-US" altLang="en-US" dirty="0"/>
              <a:t>Objects are instances of classes.</a:t>
            </a:r>
          </a:p>
          <a:p>
            <a:pPr eaLnBrk="1" hangingPunct="1"/>
            <a:endParaRPr lang="en-US" altLang="en-US" dirty="0"/>
          </a:p>
          <a:p>
            <a:pPr eaLnBrk="1" hangingPunct="1"/>
            <a:r>
              <a:rPr lang="en-US" altLang="en-US" dirty="0"/>
              <a:t>A class is a template that describes the structural and behavioral </a:t>
            </a:r>
            <a:br>
              <a:rPr lang="en-US" altLang="en-US" dirty="0"/>
            </a:br>
            <a:r>
              <a:rPr lang="en-US" altLang="en-US" dirty="0"/>
              <a:t>properties of a set of objects.</a:t>
            </a:r>
          </a:p>
          <a:p>
            <a:pPr eaLnBrk="1" hangingPunct="1"/>
            <a:endParaRPr lang="en-US" altLang="en-US" dirty="0"/>
          </a:p>
          <a:p>
            <a:pPr eaLnBrk="1" hangingPunct="1"/>
            <a:r>
              <a:rPr lang="en-US" altLang="en-US" dirty="0"/>
              <a:t>An object contains </a:t>
            </a:r>
            <a:r>
              <a:rPr lang="en-US" altLang="en-US" dirty="0">
                <a:solidFill>
                  <a:srgbClr val="0000FF"/>
                </a:solidFill>
              </a:rPr>
              <a:t>values</a:t>
            </a:r>
            <a:r>
              <a:rPr lang="en-US" altLang="en-US" dirty="0"/>
              <a:t>.</a:t>
            </a:r>
          </a:p>
          <a:p>
            <a:pPr eaLnBrk="1" hangingPunct="1"/>
            <a:endParaRPr lang="en-US" altLang="en-US" dirty="0"/>
          </a:p>
          <a:p>
            <a:pPr eaLnBrk="1" hangingPunct="1"/>
            <a:r>
              <a:rPr lang="en-US" altLang="en-US" dirty="0"/>
              <a:t>An object has a </a:t>
            </a:r>
            <a:r>
              <a:rPr lang="en-US" altLang="en-US" b="1" dirty="0">
                <a:solidFill>
                  <a:srgbClr val="C00000"/>
                </a:solidFill>
              </a:rPr>
              <a:t>state</a:t>
            </a:r>
            <a:r>
              <a:rPr lang="en-US" altLang="en-US" dirty="0"/>
              <a:t>.</a:t>
            </a:r>
          </a:p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011722986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/>
          <p:cNvSpPr>
            <a:spLocks noGrp="1" noChangeArrowheads="1"/>
          </p:cNvSpPr>
          <p:nvPr>
            <p:ph type="title" sz="quarter"/>
          </p:nvPr>
        </p:nvSpPr>
        <p:spPr>
          <a:xfrm>
            <a:off x="944319" y="751478"/>
            <a:ext cx="4425776" cy="639171"/>
          </a:xfrm>
        </p:spPr>
        <p:txBody>
          <a:bodyPr vert="horz" lIns="103584" tIns="51793" rIns="103584" bIns="51793" rtlCol="0" anchor="ctr">
            <a:normAutofit fontScale="90000"/>
          </a:bodyPr>
          <a:lstStyle/>
          <a:p>
            <a:pPr>
              <a:defRPr/>
            </a:pPr>
            <a:r>
              <a:rPr lang="en-US" sz="4000" dirty="0"/>
              <a:t>What are Objects?</a:t>
            </a:r>
          </a:p>
        </p:txBody>
      </p:sp>
      <p:graphicFrame>
        <p:nvGraphicFramePr>
          <p:cNvPr id="12291" name="Object 19"/>
          <p:cNvGraphicFramePr>
            <a:graphicFrameLocks noGrp="1" noChangeAspect="1"/>
          </p:cNvGraphicFramePr>
          <p:nvPr>
            <p:ph sz="quarter" idx="1"/>
          </p:nvPr>
        </p:nvGraphicFramePr>
        <p:xfrm>
          <a:off x="2603500" y="5494339"/>
          <a:ext cx="255588" cy="230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3" imgW="1817280" imgH="1600600" progId="MSGraph.Chart.8">
                  <p:embed followColorScheme="full"/>
                </p:oleObj>
              </mc:Choice>
              <mc:Fallback>
                <p:oleObj name="Chart" r:id="rId3" imgW="1817280" imgH="1600600" progId="MSGraph.Chart.8">
                  <p:embed followColorScheme="full"/>
                  <p:pic>
                    <p:nvPicPr>
                      <p:cNvPr id="12291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3500" y="5494339"/>
                        <a:ext cx="255588" cy="230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C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293" name="Picture 16" descr="teacherchalkboards2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440864" y="2680771"/>
            <a:ext cx="1644650" cy="1682750"/>
          </a:xfrm>
          <a:noFill/>
        </p:spPr>
      </p:pic>
      <p:sp>
        <p:nvSpPr>
          <p:cNvPr id="12294" name="Rectangle 7"/>
          <p:cNvSpPr>
            <a:spLocks noChangeArrowheads="1"/>
          </p:cNvSpPr>
          <p:nvPr/>
        </p:nvSpPr>
        <p:spPr bwMode="auto">
          <a:xfrm>
            <a:off x="944319" y="1710579"/>
            <a:ext cx="10409816" cy="44134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03584" tIns="51793" rIns="103584" bIns="51793">
            <a:spAutoFit/>
          </a:bodyPr>
          <a:lstStyle>
            <a:lvl1pPr marL="385763" indent="-385763" defTabSz="10287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385763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102870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385763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10287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385763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102870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385763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102870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385763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10287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385763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10287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385763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10287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385763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10287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385763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>
                <a:solidFill>
                  <a:srgbClr val="333333"/>
                </a:solidFill>
                <a:latin typeface="Arial" panose="020B0604020202020204" pitchFamily="34" charset="0"/>
              </a:rPr>
              <a:t>Objects are “</a:t>
            </a:r>
            <a:r>
              <a:rPr lang="en-US" altLang="en-US" sz="2800" b="1" dirty="0">
                <a:solidFill>
                  <a:srgbClr val="000099"/>
                </a:solidFill>
                <a:latin typeface="Arial" panose="020B0604020202020204" pitchFamily="34" charset="0"/>
              </a:rPr>
              <a:t>things</a:t>
            </a:r>
            <a:r>
              <a:rPr lang="en-US" altLang="en-US" sz="2800" dirty="0">
                <a:solidFill>
                  <a:srgbClr val="333333"/>
                </a:solidFill>
                <a:latin typeface="Arial" panose="020B0604020202020204" pitchFamily="34" charset="0"/>
              </a:rPr>
              <a:t>” that encapsulate </a:t>
            </a:r>
            <a:r>
              <a:rPr lang="en-US" altLang="en-US" sz="2800" b="1" dirty="0">
                <a:solidFill>
                  <a:srgbClr val="000099"/>
                </a:solidFill>
                <a:latin typeface="Arial" panose="020B0604020202020204" pitchFamily="34" charset="0"/>
              </a:rPr>
              <a:t>data and behavior </a:t>
            </a:r>
            <a:r>
              <a:rPr lang="en-US" altLang="en-US" sz="2800" dirty="0">
                <a:latin typeface="Arial" panose="020B0604020202020204" pitchFamily="34" charset="0"/>
              </a:rPr>
              <a:t>(actions called</a:t>
            </a:r>
            <a:r>
              <a:rPr lang="en-US" altLang="en-US" sz="2800" b="1" dirty="0">
                <a:solidFill>
                  <a:srgbClr val="000099"/>
                </a:solidFill>
                <a:latin typeface="Arial" panose="020B0604020202020204" pitchFamily="34" charset="0"/>
              </a:rPr>
              <a:t> methods</a:t>
            </a:r>
            <a:r>
              <a:rPr lang="en-US" altLang="en-US" sz="2800" b="1" dirty="0">
                <a:latin typeface="Arial" panose="020B0604020202020204" pitchFamily="34" charset="0"/>
              </a:rPr>
              <a:t>).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800" dirty="0">
              <a:solidFill>
                <a:srgbClr val="333333"/>
              </a:solidFill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>
                <a:solidFill>
                  <a:srgbClr val="333333"/>
                </a:solidFill>
                <a:latin typeface="Arial" panose="020B0604020202020204" pitchFamily="34" charset="0"/>
              </a:rPr>
              <a:t>Objects can be “</a:t>
            </a:r>
            <a:r>
              <a:rPr lang="en-US" altLang="en-US" sz="2800" b="1" dirty="0">
                <a:solidFill>
                  <a:srgbClr val="000099"/>
                </a:solidFill>
                <a:latin typeface="Arial" panose="020B0604020202020204" pitchFamily="34" charset="0"/>
              </a:rPr>
              <a:t>physical</a:t>
            </a:r>
            <a:r>
              <a:rPr lang="en-US" altLang="en-US" sz="2800" dirty="0">
                <a:solidFill>
                  <a:srgbClr val="333333"/>
                </a:solidFill>
                <a:latin typeface="Arial" panose="020B0604020202020204" pitchFamily="34" charset="0"/>
              </a:rPr>
              <a:t>” things </a:t>
            </a:r>
            <a:br>
              <a:rPr lang="en-US" altLang="en-US" sz="2800" dirty="0">
                <a:solidFill>
                  <a:srgbClr val="333333"/>
                </a:solidFill>
                <a:latin typeface="Arial" panose="020B0604020202020204" pitchFamily="34" charset="0"/>
              </a:rPr>
            </a:br>
            <a:r>
              <a:rPr lang="en-US" altLang="en-US" sz="2800" dirty="0">
                <a:solidFill>
                  <a:srgbClr val="333333"/>
                </a:solidFill>
                <a:latin typeface="Arial" panose="020B0604020202020204" pitchFamily="34" charset="0"/>
              </a:rPr>
              <a:t>(e.g.: </a:t>
            </a:r>
            <a:r>
              <a:rPr lang="en-US" altLang="en-US" sz="2800" dirty="0">
                <a:solidFill>
                  <a:srgbClr val="006600"/>
                </a:solidFill>
                <a:latin typeface="Arial" panose="020B0604020202020204" pitchFamily="34" charset="0"/>
              </a:rPr>
              <a:t>teacher, book, fish</a:t>
            </a:r>
            <a:r>
              <a:rPr lang="en-US" altLang="en-US" sz="2800" dirty="0">
                <a:solidFill>
                  <a:srgbClr val="333333"/>
                </a:solidFill>
                <a:latin typeface="Arial" panose="020B0604020202020204" pitchFamily="34" charset="0"/>
              </a:rPr>
              <a:t>). 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800" dirty="0">
              <a:solidFill>
                <a:srgbClr val="333333"/>
              </a:solidFill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>
                <a:solidFill>
                  <a:srgbClr val="333333"/>
                </a:solidFill>
                <a:latin typeface="Arial" panose="020B0604020202020204" pitchFamily="34" charset="0"/>
              </a:rPr>
              <a:t>Objects can be “</a:t>
            </a:r>
            <a:r>
              <a:rPr lang="en-US" altLang="en-US" sz="2800" b="1" dirty="0">
                <a:solidFill>
                  <a:srgbClr val="000099"/>
                </a:solidFill>
                <a:latin typeface="Arial" panose="020B0604020202020204" pitchFamily="34" charset="0"/>
              </a:rPr>
              <a:t>conceptual</a:t>
            </a:r>
            <a:r>
              <a:rPr lang="en-US" altLang="en-US" sz="2800" dirty="0">
                <a:solidFill>
                  <a:srgbClr val="333333"/>
                </a:solidFill>
                <a:latin typeface="Arial" panose="020B0604020202020204" pitchFamily="34" charset="0"/>
              </a:rPr>
              <a:t>” things </a:t>
            </a:r>
            <a:br>
              <a:rPr lang="en-US" altLang="en-US" sz="2800" dirty="0">
                <a:solidFill>
                  <a:srgbClr val="333333"/>
                </a:solidFill>
                <a:latin typeface="Arial" panose="020B0604020202020204" pitchFamily="34" charset="0"/>
              </a:rPr>
            </a:br>
            <a:r>
              <a:rPr lang="en-US" altLang="en-US" sz="2800" dirty="0">
                <a:solidFill>
                  <a:srgbClr val="333333"/>
                </a:solidFill>
                <a:latin typeface="Arial" panose="020B0604020202020204" pitchFamily="34" charset="0"/>
              </a:rPr>
              <a:t>(e.g.: </a:t>
            </a:r>
            <a:r>
              <a:rPr lang="en-US" altLang="en-US" sz="2800" dirty="0">
                <a:solidFill>
                  <a:srgbClr val="006600"/>
                </a:solidFill>
                <a:latin typeface="Arial" panose="020B0604020202020204" pitchFamily="34" charset="0"/>
              </a:rPr>
              <a:t>registration, payment, bank account</a:t>
            </a:r>
            <a:r>
              <a:rPr lang="en-US" altLang="en-US" sz="2800" dirty="0">
                <a:solidFill>
                  <a:srgbClr val="333333"/>
                </a:solidFill>
                <a:latin typeface="Arial" panose="020B0604020202020204" pitchFamily="34" charset="0"/>
              </a:rPr>
              <a:t>).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800" dirty="0">
              <a:solidFill>
                <a:srgbClr val="333333"/>
              </a:solidFill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>
                <a:solidFill>
                  <a:srgbClr val="333333"/>
                </a:solidFill>
                <a:latin typeface="Arial" panose="020B0604020202020204" pitchFamily="34" charset="0"/>
              </a:rPr>
              <a:t>Objects correspond to “</a:t>
            </a:r>
            <a:r>
              <a:rPr lang="en-US" altLang="en-US" sz="2800" b="1" dirty="0">
                <a:solidFill>
                  <a:srgbClr val="000099"/>
                </a:solidFill>
                <a:latin typeface="Arial" panose="020B0604020202020204" pitchFamily="34" charset="0"/>
              </a:rPr>
              <a:t>nouns</a:t>
            </a:r>
            <a:r>
              <a:rPr lang="en-US" altLang="en-US" sz="2800" dirty="0">
                <a:solidFill>
                  <a:srgbClr val="333333"/>
                </a:solidFill>
                <a:latin typeface="Arial" panose="020B0604020202020204" pitchFamily="34" charset="0"/>
              </a:rPr>
              <a:t>” in problem description.</a:t>
            </a:r>
          </a:p>
        </p:txBody>
      </p:sp>
      <p:sp>
        <p:nvSpPr>
          <p:cNvPr id="12295" name="Rectangle 8"/>
          <p:cNvSpPr>
            <a:spLocks noChangeArrowheads="1"/>
          </p:cNvSpPr>
          <p:nvPr/>
        </p:nvSpPr>
        <p:spPr bwMode="auto">
          <a:xfrm>
            <a:off x="2743201" y="3048000"/>
            <a:ext cx="6697663" cy="788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Arial" panose="020B0604020202020204" pitchFamily="34" charset="0"/>
            </a:endParaRPr>
          </a:p>
        </p:txBody>
      </p:sp>
      <p:sp>
        <p:nvSpPr>
          <p:cNvPr id="12296" name="Slide Number Placeholder 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>
                <a:solidFill>
                  <a:srgbClr val="898989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19063572"/>
      </p:ext>
    </p:extLst>
  </p:cSld>
  <p:clrMapOvr>
    <a:masterClrMapping/>
  </p:clrMapOvr>
  <p:transition spd="slow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939173" y="740170"/>
            <a:ext cx="4416903" cy="595335"/>
          </a:xfrm>
          <a:ln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altLang="en-US" b="1" dirty="0"/>
              <a:t>What are objects</a:t>
            </a:r>
            <a:r>
              <a:rPr lang="en-US" altLang="en-US" dirty="0"/>
              <a:t>?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>
          <a:xfrm>
            <a:off x="939173" y="1695162"/>
            <a:ext cx="10410616" cy="4910175"/>
          </a:xfrm>
          <a:ln>
            <a:miter lim="800000"/>
            <a:headEnd/>
            <a:tailEnd/>
          </a:ln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dirty="0"/>
              <a:t>Objects </a:t>
            </a:r>
            <a:r>
              <a:rPr lang="en-US" altLang="en-US" dirty="0">
                <a:solidFill>
                  <a:srgbClr val="990000"/>
                </a:solidFill>
              </a:rPr>
              <a:t>encapsulate</a:t>
            </a:r>
            <a:r>
              <a:rPr lang="en-US" altLang="en-US" dirty="0">
                <a:solidFill>
                  <a:srgbClr val="000099"/>
                </a:solidFill>
              </a:rPr>
              <a:t> </a:t>
            </a:r>
            <a:r>
              <a:rPr lang="en-US" altLang="en-US" u="sng" dirty="0">
                <a:solidFill>
                  <a:srgbClr val="990000"/>
                </a:solidFill>
              </a:rPr>
              <a:t>data</a:t>
            </a:r>
            <a:r>
              <a:rPr lang="en-US" altLang="en-US" dirty="0">
                <a:solidFill>
                  <a:srgbClr val="000099"/>
                </a:solidFill>
              </a:rPr>
              <a:t> and </a:t>
            </a:r>
            <a:r>
              <a:rPr lang="en-US" altLang="en-US" u="sng" dirty="0">
                <a:solidFill>
                  <a:srgbClr val="990000"/>
                </a:solidFill>
              </a:rPr>
              <a:t>behavior</a:t>
            </a:r>
            <a:r>
              <a:rPr lang="en-US" altLang="en-US" dirty="0">
                <a:solidFill>
                  <a:srgbClr val="000099"/>
                </a:solidFill>
              </a:rPr>
              <a:t>.</a:t>
            </a:r>
            <a:r>
              <a:rPr lang="en-US" altLang="en-US" dirty="0"/>
              <a:t> 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n-US" altLang="en-US" dirty="0"/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dirty="0"/>
              <a:t>A </a:t>
            </a:r>
            <a:r>
              <a:rPr lang="en-US" altLang="en-US" b="1" dirty="0">
                <a:solidFill>
                  <a:srgbClr val="0000FF"/>
                </a:solidFill>
              </a:rPr>
              <a:t>Bank Account</a:t>
            </a:r>
            <a:r>
              <a:rPr lang="en-US" altLang="en-US" dirty="0"/>
              <a:t> object has: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3200" b="1" dirty="0" err="1">
                <a:solidFill>
                  <a:srgbClr val="006600"/>
                </a:solidFill>
              </a:rPr>
              <a:t>accountNumber</a:t>
            </a:r>
            <a:endParaRPr lang="en-US" altLang="en-US" sz="3200" b="1" dirty="0">
              <a:solidFill>
                <a:srgbClr val="006600"/>
              </a:solidFill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en-US" sz="3200" b="1" dirty="0" err="1">
                <a:solidFill>
                  <a:srgbClr val="006600"/>
                </a:solidFill>
              </a:rPr>
              <a:t>ballance</a:t>
            </a:r>
            <a:endParaRPr lang="en-US" altLang="en-US" sz="3200" b="1" dirty="0">
              <a:solidFill>
                <a:srgbClr val="006600"/>
              </a:solidFill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en-US" sz="3200" b="1" dirty="0">
                <a:solidFill>
                  <a:srgbClr val="000099"/>
                </a:solidFill>
              </a:rPr>
              <a:t>deposit ()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3200" b="1" dirty="0">
                <a:solidFill>
                  <a:srgbClr val="000099"/>
                </a:solidFill>
              </a:rPr>
              <a:t>withdraw ()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3200" b="1" dirty="0" err="1">
                <a:solidFill>
                  <a:srgbClr val="000099"/>
                </a:solidFill>
              </a:rPr>
              <a:t>getBalance</a:t>
            </a:r>
            <a:r>
              <a:rPr lang="en-US" altLang="en-US" sz="3200" b="1" dirty="0">
                <a:solidFill>
                  <a:srgbClr val="000099"/>
                </a:solidFill>
              </a:rPr>
              <a:t>()</a:t>
            </a:r>
          </a:p>
        </p:txBody>
      </p:sp>
      <p:sp>
        <p:nvSpPr>
          <p:cNvPr id="14340" name="Line 4"/>
          <p:cNvSpPr>
            <a:spLocks noChangeShapeType="1"/>
          </p:cNvSpPr>
          <p:nvPr/>
        </p:nvSpPr>
        <p:spPr bwMode="auto">
          <a:xfrm>
            <a:off x="4497681" y="3088449"/>
            <a:ext cx="1967493" cy="25637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41" name="Text Box 6"/>
          <p:cNvSpPr txBox="1">
            <a:spLocks noChangeArrowheads="1"/>
          </p:cNvSpPr>
          <p:nvPr/>
        </p:nvSpPr>
        <p:spPr bwMode="auto">
          <a:xfrm>
            <a:off x="6453186" y="3157973"/>
            <a:ext cx="862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>
                <a:latin typeface="Arial" panose="020B0604020202020204" pitchFamily="34" charset="0"/>
              </a:rPr>
              <a:t> data</a:t>
            </a:r>
          </a:p>
        </p:txBody>
      </p:sp>
      <p:sp>
        <p:nvSpPr>
          <p:cNvPr id="14342" name="Line 7"/>
          <p:cNvSpPr>
            <a:spLocks noChangeShapeType="1"/>
          </p:cNvSpPr>
          <p:nvPr/>
        </p:nvSpPr>
        <p:spPr bwMode="auto">
          <a:xfrm>
            <a:off x="3409772" y="4092071"/>
            <a:ext cx="2962955" cy="86507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43" name="Line 9"/>
          <p:cNvSpPr>
            <a:spLocks noChangeShapeType="1"/>
          </p:cNvSpPr>
          <p:nvPr/>
        </p:nvSpPr>
        <p:spPr bwMode="auto">
          <a:xfrm flipV="1">
            <a:off x="3857146" y="5091150"/>
            <a:ext cx="2515581" cy="3821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44" name="Text Box 10"/>
          <p:cNvSpPr txBox="1">
            <a:spLocks noChangeArrowheads="1"/>
          </p:cNvSpPr>
          <p:nvPr/>
        </p:nvSpPr>
        <p:spPr bwMode="auto">
          <a:xfrm>
            <a:off x="7467600" y="5365014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Arial" panose="020B0604020202020204" pitchFamily="34" charset="0"/>
            </a:endParaRPr>
          </a:p>
        </p:txBody>
      </p:sp>
      <p:sp>
        <p:nvSpPr>
          <p:cNvPr id="14345" name="Text Box 11"/>
          <p:cNvSpPr txBox="1">
            <a:spLocks noChangeArrowheads="1"/>
          </p:cNvSpPr>
          <p:nvPr/>
        </p:nvSpPr>
        <p:spPr bwMode="auto">
          <a:xfrm>
            <a:off x="6372726" y="4541644"/>
            <a:ext cx="3160295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>
                <a:latin typeface="Arial" panose="020B0604020202020204" pitchFamily="34" charset="0"/>
              </a:rPr>
              <a:t>methods (functions)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>
                <a:latin typeface="Arial" panose="020B0604020202020204" pitchFamily="34" charset="0"/>
              </a:rPr>
              <a:t>(</a:t>
            </a:r>
            <a:r>
              <a:rPr lang="en-US" altLang="en-US" sz="2400" dirty="0">
                <a:solidFill>
                  <a:srgbClr val="2121C5"/>
                </a:solidFill>
                <a:latin typeface="Arial" panose="020B0604020202020204" pitchFamily="34" charset="0"/>
              </a:rPr>
              <a:t>behavior</a:t>
            </a:r>
            <a:r>
              <a:rPr lang="en-US" altLang="en-US" sz="2400" dirty="0">
                <a:latin typeface="Arial" panose="020B0604020202020204" pitchFamily="34" charset="0"/>
              </a:rPr>
              <a:t>)</a:t>
            </a:r>
          </a:p>
        </p:txBody>
      </p:sp>
      <p:sp>
        <p:nvSpPr>
          <p:cNvPr id="14346" name="Line 13"/>
          <p:cNvSpPr>
            <a:spLocks noChangeShapeType="1"/>
          </p:cNvSpPr>
          <p:nvPr/>
        </p:nvSpPr>
        <p:spPr bwMode="auto">
          <a:xfrm flipV="1">
            <a:off x="3409772" y="3564155"/>
            <a:ext cx="3119717" cy="5101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47" name="Slide Number Placeholder 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>
                <a:solidFill>
                  <a:srgbClr val="898989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100559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946485" y="752524"/>
            <a:ext cx="4283241" cy="685800"/>
          </a:xfrm>
          <a:ln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altLang="en-US" b="1" dirty="0"/>
              <a:t>What are objects?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>
          <a:xfrm>
            <a:off x="946485" y="1711217"/>
            <a:ext cx="10399294" cy="4926204"/>
          </a:xfrm>
          <a:ln>
            <a:miter lim="800000"/>
            <a:headEnd/>
            <a:tailEnd/>
          </a:ln>
        </p:spPr>
        <p:txBody>
          <a:bodyPr>
            <a:normAutofit/>
          </a:bodyPr>
          <a:lstStyle/>
          <a:p>
            <a:pPr eaLnBrk="1" hangingPunct="1"/>
            <a:r>
              <a:rPr lang="en-US" altLang="en-US" dirty="0"/>
              <a:t>Objects may have an internal structure (</a:t>
            </a:r>
            <a:r>
              <a:rPr lang="en-US" altLang="en-US" b="1" dirty="0">
                <a:solidFill>
                  <a:srgbClr val="FF0000"/>
                </a:solidFill>
              </a:rPr>
              <a:t>private</a:t>
            </a:r>
            <a:r>
              <a:rPr lang="en-US" altLang="en-US" dirty="0"/>
              <a:t>). </a:t>
            </a:r>
          </a:p>
          <a:p>
            <a:pPr lvl="1" eaLnBrk="1" hangingPunct="1"/>
            <a:r>
              <a:rPr lang="en-US" altLang="en-US" sz="3200" dirty="0" err="1"/>
              <a:t>Eg</a:t>
            </a:r>
            <a:r>
              <a:rPr lang="en-US" altLang="en-US" sz="3200" dirty="0"/>
              <a:t>: A </a:t>
            </a:r>
            <a:r>
              <a:rPr lang="en-US" altLang="en-US" sz="3200" dirty="0">
                <a:solidFill>
                  <a:srgbClr val="0000FF"/>
                </a:solidFill>
              </a:rPr>
              <a:t>bank account </a:t>
            </a:r>
            <a:r>
              <a:rPr lang="en-US" altLang="en-US" sz="3200" dirty="0"/>
              <a:t>store data:</a:t>
            </a:r>
          </a:p>
          <a:p>
            <a:pPr lvl="2"/>
            <a:r>
              <a:rPr lang="en-US" altLang="en-US" sz="2800" dirty="0" err="1"/>
              <a:t>accountNumber</a:t>
            </a:r>
            <a:endParaRPr lang="en-US" altLang="en-US" sz="2800" dirty="0"/>
          </a:p>
          <a:p>
            <a:pPr lvl="2"/>
            <a:r>
              <a:rPr lang="en-US" altLang="en-US" sz="2800" dirty="0" err="1"/>
              <a:t>ballance</a:t>
            </a:r>
            <a:endParaRPr lang="en-US" altLang="en-US" sz="2800" dirty="0"/>
          </a:p>
          <a:p>
            <a:pPr lvl="2"/>
            <a:r>
              <a:rPr lang="en-US" altLang="en-US" sz="2800" dirty="0"/>
              <a:t>etc.</a:t>
            </a:r>
          </a:p>
          <a:p>
            <a:pPr eaLnBrk="1" hangingPunct="1"/>
            <a:r>
              <a:rPr lang="en-US" altLang="en-US" dirty="0"/>
              <a:t>Objects reveal themselves by their external behavior (</a:t>
            </a:r>
            <a:r>
              <a:rPr lang="en-US" altLang="en-US" b="1" dirty="0">
                <a:solidFill>
                  <a:srgbClr val="00B050"/>
                </a:solidFill>
              </a:rPr>
              <a:t>public methods</a:t>
            </a:r>
            <a:r>
              <a:rPr lang="en-US" altLang="en-US" dirty="0"/>
              <a:t>). </a:t>
            </a:r>
          </a:p>
          <a:p>
            <a:pPr lvl="1" eaLnBrk="1" hangingPunct="1"/>
            <a:r>
              <a:rPr lang="en-US" altLang="en-US" sz="3200" dirty="0" err="1"/>
              <a:t>Eg</a:t>
            </a:r>
            <a:r>
              <a:rPr lang="en-US" altLang="en-US" sz="3200" dirty="0"/>
              <a:t>: A </a:t>
            </a:r>
            <a:r>
              <a:rPr lang="en-US" altLang="en-US" sz="3200" dirty="0">
                <a:solidFill>
                  <a:srgbClr val="0000FF"/>
                </a:solidFill>
              </a:rPr>
              <a:t>back account</a:t>
            </a:r>
            <a:r>
              <a:rPr lang="en-US" altLang="en-US" sz="3200" dirty="0"/>
              <a:t> public methods, like: </a:t>
            </a:r>
          </a:p>
          <a:p>
            <a:pPr lvl="2"/>
            <a:r>
              <a:rPr lang="en-US" altLang="en-US" sz="2800" dirty="0">
                <a:solidFill>
                  <a:srgbClr val="0000FF"/>
                </a:solidFill>
              </a:rPr>
              <a:t>deposit</a:t>
            </a:r>
          </a:p>
          <a:p>
            <a:pPr lvl="2"/>
            <a:r>
              <a:rPr lang="en-US" altLang="en-US" sz="2800" dirty="0">
                <a:solidFill>
                  <a:srgbClr val="0000FF"/>
                </a:solidFill>
              </a:rPr>
              <a:t>withdraw</a:t>
            </a:r>
          </a:p>
          <a:p>
            <a:pPr lvl="2"/>
            <a:r>
              <a:rPr lang="en-US" altLang="en-US" sz="2800" dirty="0">
                <a:solidFill>
                  <a:srgbClr val="0000FF"/>
                </a:solidFill>
              </a:rPr>
              <a:t>etc.</a:t>
            </a:r>
            <a:endParaRPr lang="en-US" altLang="en-US" sz="2800" dirty="0"/>
          </a:p>
          <a:p>
            <a:pPr eaLnBrk="1" hangingPunct="1"/>
            <a:endParaRPr lang="en-US" altLang="en-US" dirty="0"/>
          </a:p>
        </p:txBody>
      </p:sp>
      <p:sp>
        <p:nvSpPr>
          <p:cNvPr id="15364" name="Slide Number Placeholder 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>
                <a:solidFill>
                  <a:srgbClr val="898989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169715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929661" y="746460"/>
            <a:ext cx="4336160" cy="715962"/>
          </a:xfrm>
          <a:ln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altLang="en-US" dirty="0"/>
              <a:t>What are objects?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>
          <a:xfrm>
            <a:off x="929661" y="1664049"/>
            <a:ext cx="10384034" cy="4989414"/>
          </a:xfrm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en-US" dirty="0"/>
              <a:t>Objects reveal their “</a:t>
            </a:r>
            <a:r>
              <a:rPr lang="en-US" altLang="en-US" b="1" dirty="0">
                <a:solidFill>
                  <a:srgbClr val="0000FF"/>
                </a:solidFill>
              </a:rPr>
              <a:t>public</a:t>
            </a:r>
            <a:r>
              <a:rPr lang="en-US" altLang="en-US" dirty="0">
                <a:solidFill>
                  <a:srgbClr val="0000FF"/>
                </a:solidFill>
              </a:rPr>
              <a:t> </a:t>
            </a:r>
            <a:r>
              <a:rPr lang="en-US" altLang="en-US" dirty="0">
                <a:solidFill>
                  <a:schemeClr val="tx1"/>
                </a:solidFill>
              </a:rPr>
              <a:t>behavior</a:t>
            </a:r>
            <a:r>
              <a:rPr lang="en-US" altLang="en-US" dirty="0"/>
              <a:t>” but keep their </a:t>
            </a:r>
            <a:br>
              <a:rPr lang="en-US" altLang="en-US" dirty="0"/>
            </a:br>
            <a:r>
              <a:rPr lang="en-US" altLang="en-US" dirty="0"/>
              <a:t>"</a:t>
            </a:r>
            <a:r>
              <a:rPr lang="en-US" altLang="en-US" b="1" dirty="0">
                <a:solidFill>
                  <a:srgbClr val="FF0000"/>
                </a:solidFill>
              </a:rPr>
              <a:t>inside</a:t>
            </a:r>
            <a:r>
              <a:rPr lang="en-US" altLang="en-US" dirty="0">
                <a:solidFill>
                  <a:schemeClr val="tx1"/>
                </a:solidFill>
              </a:rPr>
              <a:t>" (or implementation) </a:t>
            </a:r>
            <a:r>
              <a:rPr lang="en-US" altLang="en-US" dirty="0"/>
              <a:t>hidden. </a:t>
            </a:r>
          </a:p>
          <a:p>
            <a:pPr eaLnBrk="1" hangingPunct="1">
              <a:lnSpc>
                <a:spcPct val="90000"/>
              </a:lnSpc>
            </a:pPr>
            <a:endParaRPr lang="en-US" altLang="en-US" dirty="0"/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The “</a:t>
            </a:r>
            <a:r>
              <a:rPr lang="en-US" altLang="en-US" b="1" dirty="0">
                <a:solidFill>
                  <a:srgbClr val="0000FF"/>
                </a:solidFill>
              </a:rPr>
              <a:t>public</a:t>
            </a:r>
            <a:r>
              <a:rPr lang="en-US" altLang="en-US" dirty="0"/>
              <a:t> behavior” of objects is through a set of </a:t>
            </a:r>
            <a:r>
              <a:rPr lang="en-US" altLang="en-US" dirty="0">
                <a:solidFill>
                  <a:srgbClr val="0000FF"/>
                </a:solidFill>
              </a:rPr>
              <a:t>methods (functions)</a:t>
            </a:r>
            <a:r>
              <a:rPr lang="en-US" altLang="en-US" dirty="0"/>
              <a:t> that are offered to </a:t>
            </a:r>
            <a:r>
              <a:rPr lang="en-US" altLang="en-US" b="1" dirty="0">
                <a:solidFill>
                  <a:srgbClr val="FFC000"/>
                </a:solidFill>
              </a:rPr>
              <a:t>clients</a:t>
            </a:r>
            <a:r>
              <a:rPr lang="en-US" altLang="en-US" dirty="0"/>
              <a:t> of objects.</a:t>
            </a:r>
          </a:p>
          <a:p>
            <a:pPr eaLnBrk="1" hangingPunct="1">
              <a:lnSpc>
                <a:spcPct val="90000"/>
              </a:lnSpc>
            </a:pPr>
            <a:endParaRPr lang="en-US" altLang="en-US" dirty="0"/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The </a:t>
            </a:r>
            <a:r>
              <a:rPr lang="en-US" altLang="en-US" dirty="0">
                <a:solidFill>
                  <a:srgbClr val="0000FF"/>
                </a:solidFill>
              </a:rPr>
              <a:t>methods</a:t>
            </a:r>
            <a:r>
              <a:rPr lang="en-US" altLang="en-US" dirty="0"/>
              <a:t> (functions) can be invoked by </a:t>
            </a:r>
            <a:r>
              <a:rPr lang="en-US" altLang="en-US" b="1" dirty="0">
                <a:solidFill>
                  <a:srgbClr val="FFC000"/>
                </a:solidFill>
              </a:rPr>
              <a:t>clients</a:t>
            </a:r>
            <a:r>
              <a:rPr lang="en-US" altLang="en-US" dirty="0"/>
              <a:t>.</a:t>
            </a:r>
          </a:p>
          <a:p>
            <a:pPr eaLnBrk="1" hangingPunct="1">
              <a:lnSpc>
                <a:spcPct val="90000"/>
              </a:lnSpc>
            </a:pPr>
            <a:endParaRPr lang="en-US" altLang="en-US" dirty="0"/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A </a:t>
            </a:r>
            <a:r>
              <a:rPr lang="en-US" altLang="en-US" b="1" dirty="0">
                <a:solidFill>
                  <a:srgbClr val="FFC000"/>
                </a:solidFill>
              </a:rPr>
              <a:t>client</a:t>
            </a:r>
            <a:r>
              <a:rPr lang="en-US" altLang="en-US" dirty="0"/>
              <a:t> is an object that invokes the methods of an object.</a:t>
            </a:r>
          </a:p>
        </p:txBody>
      </p:sp>
      <p:sp>
        <p:nvSpPr>
          <p:cNvPr id="16388" name="Slide Number Placeholder 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>
                <a:solidFill>
                  <a:srgbClr val="898989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8560366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953512" y="721479"/>
            <a:ext cx="5147883" cy="798510"/>
          </a:xfrm>
        </p:spPr>
        <p:txBody>
          <a:bodyPr rtlCol="0">
            <a:normAutofit fontScale="90000"/>
          </a:bodyPr>
          <a:lstStyle/>
          <a:p>
            <a:pPr>
              <a:defRPr/>
            </a:pPr>
            <a:r>
              <a:rPr lang="en-US" dirty="0"/>
              <a:t>Objects = data + methods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>
          <a:xfrm>
            <a:off x="1061405" y="1667594"/>
            <a:ext cx="4120195" cy="427529"/>
          </a:xfrm>
          <a:ln>
            <a:miter lim="800000"/>
            <a:headEnd/>
            <a:tailEnd/>
          </a:ln>
        </p:spPr>
        <p:txBody>
          <a:bodyPr>
            <a:normAutofit lnSpcReduction="10000"/>
          </a:bodyPr>
          <a:lstStyle/>
          <a:p>
            <a:pPr eaLnBrk="1" hangingPunct="1">
              <a:buFontTx/>
              <a:buNone/>
            </a:pPr>
            <a:r>
              <a:rPr lang="en-US" altLang="en-US" dirty="0"/>
              <a:t>An object of type </a:t>
            </a:r>
            <a:r>
              <a:rPr lang="en-US" altLang="en-US" b="1" dirty="0" err="1"/>
              <a:t>BankAccount</a:t>
            </a:r>
            <a:endParaRPr lang="en-US" altLang="en-US" b="1" dirty="0"/>
          </a:p>
        </p:txBody>
      </p:sp>
      <p:sp>
        <p:nvSpPr>
          <p:cNvPr id="17412" name="Rectangle 4"/>
          <p:cNvSpPr>
            <a:spLocks noChangeArrowheads="1"/>
          </p:cNvSpPr>
          <p:nvPr/>
        </p:nvSpPr>
        <p:spPr bwMode="auto">
          <a:xfrm>
            <a:off x="3877574" y="2217382"/>
            <a:ext cx="3124200" cy="36576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Arial" panose="020B0604020202020204" pitchFamily="34" charset="0"/>
            </a:endParaRPr>
          </a:p>
        </p:txBody>
      </p:sp>
      <p:sp>
        <p:nvSpPr>
          <p:cNvPr id="17413" name="Line 5"/>
          <p:cNvSpPr>
            <a:spLocks noChangeShapeType="1"/>
          </p:cNvSpPr>
          <p:nvPr/>
        </p:nvSpPr>
        <p:spPr bwMode="auto">
          <a:xfrm>
            <a:off x="5477774" y="2217382"/>
            <a:ext cx="0" cy="3657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14" name="Oval 6"/>
          <p:cNvSpPr>
            <a:spLocks noChangeArrowheads="1"/>
          </p:cNvSpPr>
          <p:nvPr/>
        </p:nvSpPr>
        <p:spPr bwMode="auto">
          <a:xfrm>
            <a:off x="4182374" y="3055582"/>
            <a:ext cx="990600" cy="5334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 b="1">
                <a:latin typeface="Arial" panose="020B0604020202020204" pitchFamily="34" charset="0"/>
              </a:rPr>
              <a:t>acctId</a:t>
            </a:r>
          </a:p>
        </p:txBody>
      </p:sp>
      <p:sp>
        <p:nvSpPr>
          <p:cNvPr id="17415" name="Rectangle 8"/>
          <p:cNvSpPr>
            <a:spLocks noChangeArrowheads="1"/>
          </p:cNvSpPr>
          <p:nvPr/>
        </p:nvSpPr>
        <p:spPr bwMode="auto">
          <a:xfrm>
            <a:off x="6315974" y="2750782"/>
            <a:ext cx="1371600" cy="533400"/>
          </a:xfrm>
          <a:prstGeom prst="rect">
            <a:avLst/>
          </a:prstGeom>
          <a:solidFill>
            <a:srgbClr val="09E35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 b="1">
                <a:latin typeface="Arial" panose="020B0604020202020204" pitchFamily="34" charset="0"/>
              </a:rPr>
              <a:t>deposit()</a:t>
            </a:r>
          </a:p>
        </p:txBody>
      </p:sp>
      <p:sp>
        <p:nvSpPr>
          <p:cNvPr id="17416" name="Rectangle 9"/>
          <p:cNvSpPr>
            <a:spLocks noChangeArrowheads="1"/>
          </p:cNvSpPr>
          <p:nvPr/>
        </p:nvSpPr>
        <p:spPr bwMode="auto">
          <a:xfrm>
            <a:off x="6315974" y="3665182"/>
            <a:ext cx="1371600" cy="457200"/>
          </a:xfrm>
          <a:prstGeom prst="rect">
            <a:avLst/>
          </a:prstGeom>
          <a:solidFill>
            <a:srgbClr val="09E35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 b="1">
                <a:latin typeface="Arial" panose="020B0604020202020204" pitchFamily="34" charset="0"/>
              </a:rPr>
              <a:t>withdraw()</a:t>
            </a:r>
          </a:p>
        </p:txBody>
      </p:sp>
      <p:sp>
        <p:nvSpPr>
          <p:cNvPr id="17417" name="Text Box 11"/>
          <p:cNvSpPr txBox="1">
            <a:spLocks noChangeArrowheads="1"/>
          </p:cNvSpPr>
          <p:nvPr/>
        </p:nvSpPr>
        <p:spPr bwMode="auto">
          <a:xfrm>
            <a:off x="4258574" y="2217382"/>
            <a:ext cx="8509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 b="1">
                <a:latin typeface="Arial" panose="020B0604020202020204" pitchFamily="34" charset="0"/>
              </a:rPr>
              <a:t>private</a:t>
            </a:r>
          </a:p>
        </p:txBody>
      </p:sp>
      <p:sp>
        <p:nvSpPr>
          <p:cNvPr id="17418" name="Text Box 12"/>
          <p:cNvSpPr txBox="1">
            <a:spLocks noChangeArrowheads="1"/>
          </p:cNvSpPr>
          <p:nvPr/>
        </p:nvSpPr>
        <p:spPr bwMode="auto">
          <a:xfrm>
            <a:off x="5782574" y="2217382"/>
            <a:ext cx="7826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 b="1">
                <a:latin typeface="Arial" panose="020B0604020202020204" pitchFamily="34" charset="0"/>
              </a:rPr>
              <a:t>public</a:t>
            </a:r>
          </a:p>
        </p:txBody>
      </p:sp>
      <p:sp>
        <p:nvSpPr>
          <p:cNvPr id="17419" name="Rectangle 13"/>
          <p:cNvSpPr>
            <a:spLocks noChangeArrowheads="1"/>
          </p:cNvSpPr>
          <p:nvPr/>
        </p:nvSpPr>
        <p:spPr bwMode="auto">
          <a:xfrm>
            <a:off x="4029974" y="4960582"/>
            <a:ext cx="1371600" cy="45720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 b="1">
                <a:latin typeface="Arial" panose="020B0604020202020204" pitchFamily="34" charset="0"/>
              </a:rPr>
              <a:t>calcInterest()</a:t>
            </a:r>
          </a:p>
        </p:txBody>
      </p:sp>
      <p:sp>
        <p:nvSpPr>
          <p:cNvPr id="17420" name="Oval 20"/>
          <p:cNvSpPr>
            <a:spLocks noChangeArrowheads="1"/>
          </p:cNvSpPr>
          <p:nvPr/>
        </p:nvSpPr>
        <p:spPr bwMode="auto">
          <a:xfrm>
            <a:off x="4182374" y="3893782"/>
            <a:ext cx="990600" cy="5334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 b="1">
                <a:latin typeface="Arial" panose="020B0604020202020204" pitchFamily="34" charset="0"/>
              </a:rPr>
              <a:t>balance</a:t>
            </a:r>
          </a:p>
        </p:txBody>
      </p:sp>
      <p:sp>
        <p:nvSpPr>
          <p:cNvPr id="17421" name="Rectangle 27"/>
          <p:cNvSpPr>
            <a:spLocks noChangeArrowheads="1"/>
          </p:cNvSpPr>
          <p:nvPr/>
        </p:nvSpPr>
        <p:spPr bwMode="auto">
          <a:xfrm>
            <a:off x="6315974" y="4579582"/>
            <a:ext cx="1371600" cy="533400"/>
          </a:xfrm>
          <a:prstGeom prst="rect">
            <a:avLst/>
          </a:prstGeom>
          <a:solidFill>
            <a:srgbClr val="09E35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 b="1">
                <a:latin typeface="Arial" panose="020B0604020202020204" pitchFamily="34" charset="0"/>
              </a:rPr>
              <a:t>getBalance()</a:t>
            </a:r>
          </a:p>
        </p:txBody>
      </p:sp>
      <p:sp>
        <p:nvSpPr>
          <p:cNvPr id="17422" name="Rectangle 28"/>
          <p:cNvSpPr>
            <a:spLocks noChangeArrowheads="1"/>
          </p:cNvSpPr>
          <p:nvPr/>
        </p:nvSpPr>
        <p:spPr bwMode="auto">
          <a:xfrm>
            <a:off x="9211574" y="2141182"/>
            <a:ext cx="1066800" cy="5334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 b="1">
                <a:latin typeface="Arial" panose="020B0604020202020204" pitchFamily="34" charset="0"/>
              </a:rPr>
              <a:t>Client</a:t>
            </a:r>
          </a:p>
        </p:txBody>
      </p:sp>
      <p:sp>
        <p:nvSpPr>
          <p:cNvPr id="17423" name="Line 31"/>
          <p:cNvSpPr>
            <a:spLocks noChangeShapeType="1"/>
          </p:cNvSpPr>
          <p:nvPr/>
        </p:nvSpPr>
        <p:spPr bwMode="auto">
          <a:xfrm flipH="1">
            <a:off x="7687574" y="2674582"/>
            <a:ext cx="1752600" cy="3810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24" name="Line 32"/>
          <p:cNvSpPr>
            <a:spLocks noChangeShapeType="1"/>
          </p:cNvSpPr>
          <p:nvPr/>
        </p:nvSpPr>
        <p:spPr bwMode="auto">
          <a:xfrm flipH="1">
            <a:off x="7687574" y="2674582"/>
            <a:ext cx="1981200" cy="1219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25" name="Line 33"/>
          <p:cNvSpPr>
            <a:spLocks noChangeShapeType="1"/>
          </p:cNvSpPr>
          <p:nvPr/>
        </p:nvSpPr>
        <p:spPr bwMode="auto">
          <a:xfrm flipH="1">
            <a:off x="7687574" y="2674582"/>
            <a:ext cx="2438400" cy="22098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26" name="Text Box 34"/>
          <p:cNvSpPr txBox="1">
            <a:spLocks noChangeArrowheads="1"/>
          </p:cNvSpPr>
          <p:nvPr/>
        </p:nvSpPr>
        <p:spPr bwMode="auto">
          <a:xfrm>
            <a:off x="7916174" y="3284182"/>
            <a:ext cx="23622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400" b="1">
                <a:solidFill>
                  <a:srgbClr val="0000FF"/>
                </a:solidFill>
                <a:latin typeface="Arial" panose="020B0604020202020204" pitchFamily="34" charset="0"/>
              </a:rPr>
              <a:t>A client can call any public methods</a:t>
            </a:r>
          </a:p>
        </p:txBody>
      </p:sp>
      <p:sp>
        <p:nvSpPr>
          <p:cNvPr id="17427" name="Line 35"/>
          <p:cNvSpPr>
            <a:spLocks noChangeShapeType="1"/>
          </p:cNvSpPr>
          <p:nvPr/>
        </p:nvSpPr>
        <p:spPr bwMode="auto">
          <a:xfrm flipH="1">
            <a:off x="3420374" y="3360382"/>
            <a:ext cx="7620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28" name="Line 36"/>
          <p:cNvSpPr>
            <a:spLocks noChangeShapeType="1"/>
          </p:cNvSpPr>
          <p:nvPr/>
        </p:nvSpPr>
        <p:spPr bwMode="auto">
          <a:xfrm flipH="1" flipV="1">
            <a:off x="3420374" y="3893782"/>
            <a:ext cx="762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29" name="Text Box 37"/>
          <p:cNvSpPr txBox="1">
            <a:spLocks noChangeArrowheads="1"/>
          </p:cNvSpPr>
          <p:nvPr/>
        </p:nvSpPr>
        <p:spPr bwMode="auto">
          <a:xfrm>
            <a:off x="2886975" y="3665182"/>
            <a:ext cx="6016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 b="1">
                <a:latin typeface="Arial" panose="020B0604020202020204" pitchFamily="34" charset="0"/>
              </a:rPr>
              <a:t>data</a:t>
            </a:r>
          </a:p>
        </p:txBody>
      </p:sp>
      <p:sp>
        <p:nvSpPr>
          <p:cNvPr id="17430" name="Line 38"/>
          <p:cNvSpPr>
            <a:spLocks noChangeShapeType="1"/>
          </p:cNvSpPr>
          <p:nvPr/>
        </p:nvSpPr>
        <p:spPr bwMode="auto">
          <a:xfrm>
            <a:off x="6925574" y="5112982"/>
            <a:ext cx="1295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31" name="Line 39"/>
          <p:cNvSpPr>
            <a:spLocks noChangeShapeType="1"/>
          </p:cNvSpPr>
          <p:nvPr/>
        </p:nvSpPr>
        <p:spPr bwMode="auto">
          <a:xfrm>
            <a:off x="5325374" y="5493982"/>
            <a:ext cx="28956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32" name="Text Box 40"/>
          <p:cNvSpPr txBox="1">
            <a:spLocks noChangeArrowheads="1"/>
          </p:cNvSpPr>
          <p:nvPr/>
        </p:nvSpPr>
        <p:spPr bwMode="auto">
          <a:xfrm>
            <a:off x="8220974" y="5570182"/>
            <a:ext cx="92233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b="1">
                <a:latin typeface="Arial" panose="020B0604020202020204" pitchFamily="34" charset="0"/>
              </a:rPr>
              <a:t>methods</a:t>
            </a:r>
          </a:p>
        </p:txBody>
      </p:sp>
      <p:sp>
        <p:nvSpPr>
          <p:cNvPr id="17433" name="Slide Number Placeholder 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>
                <a:solidFill>
                  <a:srgbClr val="898989"/>
                </a:solidFill>
              </a:rPr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FA684C-4169-0629-189D-6E06FB37A574}"/>
              </a:ext>
            </a:extLst>
          </p:cNvPr>
          <p:cNvSpPr txBox="1"/>
          <p:nvPr/>
        </p:nvSpPr>
        <p:spPr>
          <a:xfrm>
            <a:off x="3626971" y="5934720"/>
            <a:ext cx="39549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(pre-standard OO modeling notation)</a:t>
            </a:r>
          </a:p>
          <a:p>
            <a:pPr algn="ctr"/>
            <a:r>
              <a:rPr lang="en-US" dirty="0"/>
              <a:t>Class Diagram</a:t>
            </a:r>
          </a:p>
        </p:txBody>
      </p:sp>
    </p:spTree>
    <p:extLst>
      <p:ext uri="{BB962C8B-B14F-4D97-AF65-F5344CB8AC3E}">
        <p14:creationId xmlns:p14="http://schemas.microsoft.com/office/powerpoint/2010/main" val="41476800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dirty="0"/>
              <a:t>Class and inheritance</a:t>
            </a:r>
          </a:p>
        </p:txBody>
      </p:sp>
      <p:sp>
        <p:nvSpPr>
          <p:cNvPr id="5123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>
                <a:solidFill>
                  <a:srgbClr val="898989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2744859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946981" y="745640"/>
            <a:ext cx="3657103" cy="639763"/>
          </a:xfrm>
        </p:spPr>
        <p:txBody>
          <a:bodyPr rtlCol="0">
            <a:normAutofit/>
          </a:bodyPr>
          <a:lstStyle/>
          <a:p>
            <a:pPr>
              <a:defRPr/>
            </a:pPr>
            <a:r>
              <a:rPr lang="en-US" b="1" dirty="0"/>
              <a:t>What is a class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>
          <a:xfrm>
            <a:off x="946980" y="1634130"/>
            <a:ext cx="10394787" cy="5031365"/>
          </a:xfrm>
          <a:ln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en-US" altLang="en-US" dirty="0"/>
          </a:p>
          <a:p>
            <a:pPr eaLnBrk="1" hangingPunct="1"/>
            <a:r>
              <a:rPr lang="en-US" altLang="en-US" dirty="0"/>
              <a:t>A </a:t>
            </a:r>
            <a:r>
              <a:rPr lang="en-US" altLang="en-US" b="1" dirty="0"/>
              <a:t>class</a:t>
            </a:r>
            <a:r>
              <a:rPr lang="en-US" altLang="en-US" dirty="0"/>
              <a:t> is a </a:t>
            </a:r>
            <a:r>
              <a:rPr lang="en-US" altLang="en-US" b="1" dirty="0">
                <a:solidFill>
                  <a:srgbClr val="0000FF"/>
                </a:solidFill>
              </a:rPr>
              <a:t>blueprint</a:t>
            </a:r>
            <a:r>
              <a:rPr lang="en-US" altLang="en-US" dirty="0"/>
              <a:t> that defines variables and methods </a:t>
            </a:r>
          </a:p>
          <a:p>
            <a:pPr eaLnBrk="1" hangingPunct="1"/>
            <a:endParaRPr lang="en-US" altLang="en-US" dirty="0"/>
          </a:p>
          <a:p>
            <a:pPr eaLnBrk="1" hangingPunct="1"/>
            <a:r>
              <a:rPr lang="en-US" altLang="en-US" dirty="0"/>
              <a:t>A </a:t>
            </a:r>
            <a:r>
              <a:rPr lang="en-US" altLang="en-US" sz="2800" b="1" dirty="0"/>
              <a:t>class</a:t>
            </a:r>
            <a:r>
              <a:rPr lang="en-US" altLang="en-US" dirty="0"/>
              <a:t> can be </a:t>
            </a:r>
            <a:r>
              <a:rPr lang="en-US" altLang="en-US" b="1" dirty="0">
                <a:solidFill>
                  <a:srgbClr val="0000FF"/>
                </a:solidFill>
              </a:rPr>
              <a:t>used</a:t>
            </a:r>
            <a:r>
              <a:rPr lang="en-US" altLang="en-US" dirty="0"/>
              <a:t> many times to create many objects.</a:t>
            </a:r>
          </a:p>
          <a:p>
            <a:pPr eaLnBrk="1" hangingPunct="1"/>
            <a:endParaRPr lang="en-US" altLang="en-US" dirty="0"/>
          </a:p>
          <a:p>
            <a:pPr eaLnBrk="1" hangingPunct="1"/>
            <a:r>
              <a:rPr lang="en-US" altLang="en-US" dirty="0"/>
              <a:t>Objects are created as </a:t>
            </a:r>
            <a:r>
              <a:rPr lang="en-US" altLang="en-US" b="1" dirty="0">
                <a:solidFill>
                  <a:srgbClr val="0000FF"/>
                </a:solidFill>
              </a:rPr>
              <a:t>instances</a:t>
            </a:r>
            <a:r>
              <a:rPr lang="en-US" altLang="en-US" dirty="0"/>
              <a:t> of a class.</a:t>
            </a:r>
          </a:p>
          <a:p>
            <a:pPr eaLnBrk="1" hangingPunct="1"/>
            <a:endParaRPr lang="en-US" altLang="en-US" dirty="0"/>
          </a:p>
        </p:txBody>
      </p:sp>
      <p:sp>
        <p:nvSpPr>
          <p:cNvPr id="18436" name="Slide Number Placeholder 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>
                <a:solidFill>
                  <a:srgbClr val="898989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2184415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930761" y="743448"/>
            <a:ext cx="3250301" cy="557799"/>
          </a:xfrm>
        </p:spPr>
        <p:txBody>
          <a:bodyPr rtlCol="0">
            <a:normAutofit fontScale="90000"/>
          </a:bodyPr>
          <a:lstStyle/>
          <a:p>
            <a:pPr>
              <a:defRPr/>
            </a:pPr>
            <a:r>
              <a:rPr lang="en-US" dirty="0"/>
              <a:t>Class vs Object</a:t>
            </a:r>
          </a:p>
        </p:txBody>
      </p:sp>
      <p:sp>
        <p:nvSpPr>
          <p:cNvPr id="21508" name="Rectangle 4"/>
          <p:cNvSpPr>
            <a:spLocks noChangeArrowheads="1"/>
          </p:cNvSpPr>
          <p:nvPr/>
        </p:nvSpPr>
        <p:spPr bwMode="auto">
          <a:xfrm>
            <a:off x="2057400" y="1981198"/>
            <a:ext cx="3124200" cy="3657600"/>
          </a:xfrm>
          <a:prstGeom prst="rect">
            <a:avLst/>
          </a:prstGeom>
          <a:noFill/>
          <a:ln w="9525">
            <a:solidFill>
              <a:srgbClr val="0000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400">
              <a:solidFill>
                <a:schemeClr val="accent2"/>
              </a:solidFill>
              <a:latin typeface="Arial" panose="020B0604020202020204" pitchFamily="34" charset="0"/>
            </a:endParaRPr>
          </a:p>
        </p:txBody>
      </p:sp>
      <p:sp>
        <p:nvSpPr>
          <p:cNvPr id="21509" name="Line 5"/>
          <p:cNvSpPr>
            <a:spLocks noChangeShapeType="1"/>
          </p:cNvSpPr>
          <p:nvPr/>
        </p:nvSpPr>
        <p:spPr bwMode="auto">
          <a:xfrm>
            <a:off x="3962400" y="1981198"/>
            <a:ext cx="0" cy="3657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10" name="Oval 6"/>
          <p:cNvSpPr>
            <a:spLocks noChangeArrowheads="1"/>
          </p:cNvSpPr>
          <p:nvPr/>
        </p:nvSpPr>
        <p:spPr bwMode="auto">
          <a:xfrm>
            <a:off x="2667000" y="3047998"/>
            <a:ext cx="9906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 b="1">
                <a:latin typeface="Arial" panose="020B0604020202020204" pitchFamily="34" charset="0"/>
              </a:rPr>
              <a:t>acctId</a:t>
            </a:r>
          </a:p>
        </p:txBody>
      </p:sp>
      <p:sp>
        <p:nvSpPr>
          <p:cNvPr id="21511" name="Rectangle 7"/>
          <p:cNvSpPr>
            <a:spLocks noChangeArrowheads="1"/>
          </p:cNvSpPr>
          <p:nvPr/>
        </p:nvSpPr>
        <p:spPr bwMode="auto">
          <a:xfrm>
            <a:off x="4800600" y="2743198"/>
            <a:ext cx="13716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 b="1">
                <a:latin typeface="Arial" panose="020B0604020202020204" pitchFamily="34" charset="0"/>
              </a:rPr>
              <a:t>deposit()</a:t>
            </a:r>
          </a:p>
        </p:txBody>
      </p:sp>
      <p:sp>
        <p:nvSpPr>
          <p:cNvPr id="21512" name="Rectangle 8"/>
          <p:cNvSpPr>
            <a:spLocks noChangeArrowheads="1"/>
          </p:cNvSpPr>
          <p:nvPr/>
        </p:nvSpPr>
        <p:spPr bwMode="auto">
          <a:xfrm>
            <a:off x="4800600" y="3657598"/>
            <a:ext cx="13716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 b="1">
                <a:latin typeface="Arial" panose="020B0604020202020204" pitchFamily="34" charset="0"/>
              </a:rPr>
              <a:t>withdraw()</a:t>
            </a:r>
          </a:p>
        </p:txBody>
      </p:sp>
      <p:sp>
        <p:nvSpPr>
          <p:cNvPr id="21513" name="Text Box 9"/>
          <p:cNvSpPr txBox="1">
            <a:spLocks noChangeArrowheads="1"/>
          </p:cNvSpPr>
          <p:nvPr/>
        </p:nvSpPr>
        <p:spPr bwMode="auto">
          <a:xfrm>
            <a:off x="2362200" y="2057398"/>
            <a:ext cx="8509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 b="1">
                <a:latin typeface="Arial" panose="020B0604020202020204" pitchFamily="34" charset="0"/>
              </a:rPr>
              <a:t>private</a:t>
            </a:r>
          </a:p>
        </p:txBody>
      </p:sp>
      <p:sp>
        <p:nvSpPr>
          <p:cNvPr id="21514" name="Text Box 10"/>
          <p:cNvSpPr txBox="1">
            <a:spLocks noChangeArrowheads="1"/>
          </p:cNvSpPr>
          <p:nvPr/>
        </p:nvSpPr>
        <p:spPr bwMode="auto">
          <a:xfrm>
            <a:off x="4114800" y="2057398"/>
            <a:ext cx="7826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 b="1">
                <a:latin typeface="Arial" panose="020B0604020202020204" pitchFamily="34" charset="0"/>
              </a:rPr>
              <a:t>public</a:t>
            </a:r>
          </a:p>
        </p:txBody>
      </p:sp>
      <p:sp>
        <p:nvSpPr>
          <p:cNvPr id="21515" name="Rectangle 11"/>
          <p:cNvSpPr>
            <a:spLocks noChangeArrowheads="1"/>
          </p:cNvSpPr>
          <p:nvPr/>
        </p:nvSpPr>
        <p:spPr bwMode="auto">
          <a:xfrm>
            <a:off x="2514600" y="4952998"/>
            <a:ext cx="13716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 b="1">
                <a:latin typeface="Arial" panose="020B0604020202020204" pitchFamily="34" charset="0"/>
              </a:rPr>
              <a:t>calcInterest()</a:t>
            </a:r>
          </a:p>
        </p:txBody>
      </p:sp>
      <p:sp>
        <p:nvSpPr>
          <p:cNvPr id="21516" name="Oval 12"/>
          <p:cNvSpPr>
            <a:spLocks noChangeArrowheads="1"/>
          </p:cNvSpPr>
          <p:nvPr/>
        </p:nvSpPr>
        <p:spPr bwMode="auto">
          <a:xfrm>
            <a:off x="2667000" y="3886198"/>
            <a:ext cx="9906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 b="1">
                <a:latin typeface="Arial" panose="020B0604020202020204" pitchFamily="34" charset="0"/>
              </a:rPr>
              <a:t>balance</a:t>
            </a:r>
          </a:p>
        </p:txBody>
      </p:sp>
      <p:sp>
        <p:nvSpPr>
          <p:cNvPr id="21517" name="Rectangle 13"/>
          <p:cNvSpPr>
            <a:spLocks noChangeArrowheads="1"/>
          </p:cNvSpPr>
          <p:nvPr/>
        </p:nvSpPr>
        <p:spPr bwMode="auto">
          <a:xfrm>
            <a:off x="4800600" y="4571998"/>
            <a:ext cx="13716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 b="1">
                <a:latin typeface="Arial" panose="020B0604020202020204" pitchFamily="34" charset="0"/>
              </a:rPr>
              <a:t>getBalance()</a:t>
            </a:r>
          </a:p>
        </p:txBody>
      </p:sp>
      <p:sp>
        <p:nvSpPr>
          <p:cNvPr id="21518" name="Rectangle 16"/>
          <p:cNvSpPr>
            <a:spLocks noChangeArrowheads="1"/>
          </p:cNvSpPr>
          <p:nvPr/>
        </p:nvSpPr>
        <p:spPr bwMode="auto">
          <a:xfrm>
            <a:off x="7010400" y="1981198"/>
            <a:ext cx="3124200" cy="3657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Arial" panose="020B0604020202020204" pitchFamily="34" charset="0"/>
            </a:endParaRPr>
          </a:p>
        </p:txBody>
      </p:sp>
      <p:sp>
        <p:nvSpPr>
          <p:cNvPr id="21519" name="Line 17"/>
          <p:cNvSpPr>
            <a:spLocks noChangeShapeType="1"/>
          </p:cNvSpPr>
          <p:nvPr/>
        </p:nvSpPr>
        <p:spPr bwMode="auto">
          <a:xfrm>
            <a:off x="8839200" y="1981198"/>
            <a:ext cx="0" cy="3657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20" name="Oval 18"/>
          <p:cNvSpPr>
            <a:spLocks noChangeArrowheads="1"/>
          </p:cNvSpPr>
          <p:nvPr/>
        </p:nvSpPr>
        <p:spPr bwMode="auto">
          <a:xfrm>
            <a:off x="7359317" y="3052007"/>
            <a:ext cx="1175084" cy="5334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 b="1">
                <a:latin typeface="Arial" panose="020B0604020202020204" pitchFamily="34" charset="0"/>
              </a:rPr>
              <a:t>acctId=</a:t>
            </a:r>
            <a:r>
              <a:rPr lang="en-US" altLang="en-US" sz="1400" b="1">
                <a:solidFill>
                  <a:srgbClr val="0000FF"/>
                </a:solidFill>
                <a:latin typeface="Arial" panose="020B0604020202020204" pitchFamily="34" charset="0"/>
              </a:rPr>
              <a:t>A12</a:t>
            </a:r>
          </a:p>
        </p:txBody>
      </p:sp>
      <p:sp>
        <p:nvSpPr>
          <p:cNvPr id="21521" name="Rectangle 19"/>
          <p:cNvSpPr>
            <a:spLocks noChangeArrowheads="1"/>
          </p:cNvSpPr>
          <p:nvPr/>
        </p:nvSpPr>
        <p:spPr bwMode="auto">
          <a:xfrm>
            <a:off x="9677400" y="2895598"/>
            <a:ext cx="1371600" cy="533400"/>
          </a:xfrm>
          <a:prstGeom prst="rect">
            <a:avLst/>
          </a:prstGeom>
          <a:solidFill>
            <a:srgbClr val="09E35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 b="1">
                <a:latin typeface="Arial" panose="020B0604020202020204" pitchFamily="34" charset="0"/>
              </a:rPr>
              <a:t>deposit()</a:t>
            </a:r>
          </a:p>
        </p:txBody>
      </p:sp>
      <p:sp>
        <p:nvSpPr>
          <p:cNvPr id="21522" name="Rectangle 20"/>
          <p:cNvSpPr>
            <a:spLocks noChangeArrowheads="1"/>
          </p:cNvSpPr>
          <p:nvPr/>
        </p:nvSpPr>
        <p:spPr bwMode="auto">
          <a:xfrm>
            <a:off x="9677400" y="3809998"/>
            <a:ext cx="1371600" cy="457200"/>
          </a:xfrm>
          <a:prstGeom prst="rect">
            <a:avLst/>
          </a:prstGeom>
          <a:solidFill>
            <a:srgbClr val="09E35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 b="1">
                <a:latin typeface="Arial" panose="020B0604020202020204" pitchFamily="34" charset="0"/>
              </a:rPr>
              <a:t>withdraw()</a:t>
            </a:r>
          </a:p>
        </p:txBody>
      </p:sp>
      <p:sp>
        <p:nvSpPr>
          <p:cNvPr id="21523" name="Text Box 21"/>
          <p:cNvSpPr txBox="1">
            <a:spLocks noChangeArrowheads="1"/>
          </p:cNvSpPr>
          <p:nvPr/>
        </p:nvSpPr>
        <p:spPr bwMode="auto">
          <a:xfrm>
            <a:off x="7467600" y="2133598"/>
            <a:ext cx="8509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 b="1">
                <a:latin typeface="Arial" panose="020B0604020202020204" pitchFamily="34" charset="0"/>
              </a:rPr>
              <a:t>private</a:t>
            </a:r>
          </a:p>
        </p:txBody>
      </p:sp>
      <p:sp>
        <p:nvSpPr>
          <p:cNvPr id="21524" name="Text Box 22"/>
          <p:cNvSpPr txBox="1">
            <a:spLocks noChangeArrowheads="1"/>
          </p:cNvSpPr>
          <p:nvPr/>
        </p:nvSpPr>
        <p:spPr bwMode="auto">
          <a:xfrm>
            <a:off x="9144000" y="2133598"/>
            <a:ext cx="7826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 b="1">
                <a:latin typeface="Arial" panose="020B0604020202020204" pitchFamily="34" charset="0"/>
              </a:rPr>
              <a:t>public</a:t>
            </a:r>
          </a:p>
        </p:txBody>
      </p:sp>
      <p:sp>
        <p:nvSpPr>
          <p:cNvPr id="21525" name="Rectangle 23"/>
          <p:cNvSpPr>
            <a:spLocks noChangeArrowheads="1"/>
          </p:cNvSpPr>
          <p:nvPr/>
        </p:nvSpPr>
        <p:spPr bwMode="auto">
          <a:xfrm>
            <a:off x="7391400" y="5105398"/>
            <a:ext cx="1371600" cy="45720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 b="1" dirty="0" err="1">
                <a:latin typeface="Arial" panose="020B0604020202020204" pitchFamily="34" charset="0"/>
              </a:rPr>
              <a:t>calcInterest</a:t>
            </a:r>
            <a:r>
              <a:rPr lang="en-US" altLang="en-US" sz="1600" b="1" dirty="0">
                <a:latin typeface="Arial" panose="020B0604020202020204" pitchFamily="34" charset="0"/>
              </a:rPr>
              <a:t>()</a:t>
            </a:r>
          </a:p>
        </p:txBody>
      </p:sp>
      <p:sp>
        <p:nvSpPr>
          <p:cNvPr id="21526" name="Oval 24"/>
          <p:cNvSpPr>
            <a:spLocks noChangeArrowheads="1"/>
          </p:cNvSpPr>
          <p:nvPr/>
        </p:nvSpPr>
        <p:spPr bwMode="auto">
          <a:xfrm>
            <a:off x="7086601" y="3930313"/>
            <a:ext cx="1720516" cy="5334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 b="1" dirty="0">
                <a:latin typeface="Arial" panose="020B0604020202020204" pitchFamily="34" charset="0"/>
              </a:rPr>
              <a:t>Balance=</a:t>
            </a:r>
            <a:r>
              <a:rPr lang="en-US" altLang="en-US" sz="1400" b="1" dirty="0">
                <a:solidFill>
                  <a:srgbClr val="0000FF"/>
                </a:solidFill>
                <a:latin typeface="Arial" panose="020B0604020202020204" pitchFamily="34" charset="0"/>
              </a:rPr>
              <a:t>100.00</a:t>
            </a:r>
          </a:p>
        </p:txBody>
      </p:sp>
      <p:sp>
        <p:nvSpPr>
          <p:cNvPr id="21527" name="Rectangle 25"/>
          <p:cNvSpPr>
            <a:spLocks noChangeArrowheads="1"/>
          </p:cNvSpPr>
          <p:nvPr/>
        </p:nvSpPr>
        <p:spPr bwMode="auto">
          <a:xfrm>
            <a:off x="9677400" y="4724398"/>
            <a:ext cx="1371600" cy="533400"/>
          </a:xfrm>
          <a:prstGeom prst="rect">
            <a:avLst/>
          </a:prstGeom>
          <a:solidFill>
            <a:srgbClr val="09E35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 b="1">
                <a:latin typeface="Arial" panose="020B0604020202020204" pitchFamily="34" charset="0"/>
              </a:rPr>
              <a:t>getBalance()</a:t>
            </a:r>
          </a:p>
        </p:txBody>
      </p:sp>
      <p:sp>
        <p:nvSpPr>
          <p:cNvPr id="21528" name="Text Box 28"/>
          <p:cNvSpPr txBox="1">
            <a:spLocks noChangeArrowheads="1"/>
          </p:cNvSpPr>
          <p:nvPr/>
        </p:nvSpPr>
        <p:spPr bwMode="auto">
          <a:xfrm>
            <a:off x="2171700" y="5676898"/>
            <a:ext cx="3429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dirty="0" err="1">
                <a:latin typeface="Arial" panose="020B0604020202020204" pitchFamily="34" charset="0"/>
              </a:rPr>
              <a:t>BankAccount</a:t>
            </a:r>
            <a:r>
              <a:rPr lang="en-US" altLang="en-US" sz="2400" dirty="0">
                <a:latin typeface="Arial" panose="020B0604020202020204" pitchFamily="34" charset="0"/>
              </a:rPr>
              <a:t> – a </a:t>
            </a:r>
            <a:r>
              <a:rPr lang="en-US" altLang="en-US" sz="2400" b="1" dirty="0">
                <a:solidFill>
                  <a:srgbClr val="0000FF"/>
                </a:solidFill>
                <a:latin typeface="Arial" panose="020B0604020202020204" pitchFamily="34" charset="0"/>
              </a:rPr>
              <a:t>class</a:t>
            </a:r>
          </a:p>
        </p:txBody>
      </p:sp>
      <p:sp>
        <p:nvSpPr>
          <p:cNvPr id="21529" name="Text Box 29"/>
          <p:cNvSpPr txBox="1">
            <a:spLocks noChangeArrowheads="1"/>
          </p:cNvSpPr>
          <p:nvPr/>
        </p:nvSpPr>
        <p:spPr bwMode="auto">
          <a:xfrm>
            <a:off x="6978941" y="5714998"/>
            <a:ext cx="3429000" cy="86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dirty="0" err="1">
                <a:solidFill>
                  <a:srgbClr val="800000"/>
                </a:solidFill>
                <a:latin typeface="Arial" panose="020B0604020202020204" pitchFamily="34" charset="0"/>
              </a:rPr>
              <a:t>myAccount</a:t>
            </a:r>
            <a:r>
              <a:rPr lang="en-US" altLang="en-US" sz="2400" dirty="0">
                <a:latin typeface="Arial" panose="020B0604020202020204" pitchFamily="34" charset="0"/>
              </a:rPr>
              <a:t> – an </a:t>
            </a:r>
            <a:r>
              <a:rPr lang="en-US" altLang="en-US" sz="2400" b="1" dirty="0">
                <a:solidFill>
                  <a:srgbClr val="92D050"/>
                </a:solidFill>
                <a:latin typeface="Arial" panose="020B0604020202020204" pitchFamily="34" charset="0"/>
              </a:rPr>
              <a:t>object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 dirty="0">
                <a:latin typeface="Arial" panose="020B0604020202020204" pitchFamily="34" charset="0"/>
              </a:rPr>
              <a:t>of </a:t>
            </a:r>
            <a:r>
              <a:rPr lang="en-US" altLang="en-US" sz="1800" dirty="0">
                <a:solidFill>
                  <a:srgbClr val="0000FF"/>
                </a:solidFill>
                <a:latin typeface="Arial" panose="020B0604020202020204" pitchFamily="34" charset="0"/>
              </a:rPr>
              <a:t>type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BankAccount</a:t>
            </a:r>
            <a:endParaRPr lang="en-US" altLang="en-US" sz="1800" dirty="0">
              <a:latin typeface="Arial" panose="020B0604020202020204" pitchFamily="34" charset="0"/>
            </a:endParaRPr>
          </a:p>
        </p:txBody>
      </p:sp>
      <p:sp>
        <p:nvSpPr>
          <p:cNvPr id="21530" name="Slide Number Placeholder 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>
                <a:solidFill>
                  <a:srgbClr val="898989"/>
                </a:solidFill>
              </a:rPr>
              <a:t>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671EAB2-C891-FB7E-C218-539D2BC28381}"/>
              </a:ext>
            </a:extLst>
          </p:cNvPr>
          <p:cNvSpPr txBox="1"/>
          <p:nvPr/>
        </p:nvSpPr>
        <p:spPr>
          <a:xfrm>
            <a:off x="4897438" y="806113"/>
            <a:ext cx="39549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(pre-standard OO modeling notation)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292094DB-48A9-8ECE-452E-C1BA0B957C0B}"/>
              </a:ext>
            </a:extLst>
          </p:cNvPr>
          <p:cNvCxnSpPr>
            <a:stCxn id="2" idx="2"/>
          </p:cNvCxnSpPr>
          <p:nvPr/>
        </p:nvCxnSpPr>
        <p:spPr>
          <a:xfrm flipH="1">
            <a:off x="4114800" y="1175445"/>
            <a:ext cx="2760103" cy="7137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8351986-C62A-2264-9AAB-EAD77459FED3}"/>
              </a:ext>
            </a:extLst>
          </p:cNvPr>
          <p:cNvCxnSpPr>
            <a:stCxn id="2" idx="2"/>
          </p:cNvCxnSpPr>
          <p:nvPr/>
        </p:nvCxnSpPr>
        <p:spPr>
          <a:xfrm>
            <a:off x="6874903" y="1175445"/>
            <a:ext cx="1964297" cy="7137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A1F64CB-8126-BB02-454A-972650553E01}"/>
              </a:ext>
            </a:extLst>
          </p:cNvPr>
          <p:cNvSpPr txBox="1"/>
          <p:nvPr/>
        </p:nvSpPr>
        <p:spPr>
          <a:xfrm>
            <a:off x="10134600" y="1519853"/>
            <a:ext cx="17876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Object Diagram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F20703-C33F-E074-5124-1E903224F09E}"/>
              </a:ext>
            </a:extLst>
          </p:cNvPr>
          <p:cNvSpPr txBox="1"/>
          <p:nvPr/>
        </p:nvSpPr>
        <p:spPr>
          <a:xfrm>
            <a:off x="370250" y="1611866"/>
            <a:ext cx="16979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Class Diagram</a:t>
            </a:r>
          </a:p>
        </p:txBody>
      </p:sp>
    </p:spTree>
    <p:extLst>
      <p:ext uri="{BB962C8B-B14F-4D97-AF65-F5344CB8AC3E}">
        <p14:creationId xmlns:p14="http://schemas.microsoft.com/office/powerpoint/2010/main" val="377694643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dirty="0"/>
              <a:t>Encapsulation</a:t>
            </a:r>
            <a:br>
              <a:rPr lang="en-US" dirty="0"/>
            </a:br>
            <a:r>
              <a:rPr lang="en-US" dirty="0"/>
              <a:t>Information Hiding</a:t>
            </a:r>
          </a:p>
        </p:txBody>
      </p:sp>
      <p:sp>
        <p:nvSpPr>
          <p:cNvPr id="5123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>
                <a:solidFill>
                  <a:srgbClr val="898989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5112160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941906" y="749654"/>
            <a:ext cx="3824835" cy="563562"/>
          </a:xfrm>
        </p:spPr>
        <p:txBody>
          <a:bodyPr rtlCol="0">
            <a:normAutofit fontScale="90000"/>
          </a:bodyPr>
          <a:lstStyle/>
          <a:p>
            <a:pPr>
              <a:defRPr/>
            </a:pPr>
            <a:r>
              <a:rPr lang="en-US" dirty="0"/>
              <a:t>Information hiding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>
          <a:xfrm>
            <a:off x="941906" y="1603713"/>
            <a:ext cx="10391841" cy="5030680"/>
          </a:xfrm>
          <a:ln>
            <a:miter lim="800000"/>
            <a:headEnd/>
            <a:tailEnd/>
          </a:ln>
        </p:spPr>
        <p:txBody>
          <a:bodyPr/>
          <a:lstStyle/>
          <a:p>
            <a:pPr marL="0" indent="0">
              <a:buNone/>
              <a:defRPr/>
            </a:pPr>
            <a:r>
              <a:rPr lang="en-US" altLang="en-US" sz="4000" dirty="0"/>
              <a:t>In a class</a:t>
            </a:r>
            <a:r>
              <a:rPr lang="en-US" altLang="en-US" sz="4000" b="1" dirty="0">
                <a:solidFill>
                  <a:srgbClr val="800000"/>
                </a:solidFill>
              </a:rPr>
              <a:t>:</a:t>
            </a:r>
          </a:p>
          <a:p>
            <a:pPr eaLnBrk="1" hangingPunct="1">
              <a:defRPr/>
            </a:pPr>
            <a:r>
              <a:rPr lang="en-US" altLang="en-US" b="1" dirty="0">
                <a:solidFill>
                  <a:srgbClr val="800000"/>
                </a:solidFill>
              </a:rPr>
              <a:t>public</a:t>
            </a:r>
            <a:r>
              <a:rPr lang="en-US" altLang="en-US" dirty="0"/>
              <a:t> features can be seen and manipulated by anybody – </a:t>
            </a:r>
            <a:br>
              <a:rPr lang="en-US" altLang="en-US" dirty="0"/>
            </a:br>
            <a:r>
              <a:rPr lang="en-US" altLang="en-US" dirty="0"/>
              <a:t>they are the external </a:t>
            </a:r>
            <a:r>
              <a:rPr lang="en-US" altLang="en-US" dirty="0">
                <a:solidFill>
                  <a:srgbClr val="0000FF"/>
                </a:solidFill>
              </a:rPr>
              <a:t>(</a:t>
            </a:r>
            <a:r>
              <a:rPr lang="en-US" altLang="en-US" b="1" dirty="0">
                <a:solidFill>
                  <a:srgbClr val="0000FF"/>
                </a:solidFill>
              </a:rPr>
              <a:t>interface</a:t>
            </a:r>
            <a:r>
              <a:rPr lang="en-US" altLang="en-US" dirty="0">
                <a:solidFill>
                  <a:srgbClr val="0000FF"/>
                </a:solidFill>
              </a:rPr>
              <a:t>)</a:t>
            </a:r>
            <a:r>
              <a:rPr lang="en-US" altLang="en-US" dirty="0"/>
              <a:t> view. </a:t>
            </a:r>
          </a:p>
          <a:p>
            <a:pPr eaLnBrk="1" hangingPunct="1">
              <a:defRPr/>
            </a:pPr>
            <a:endParaRPr lang="en-US" altLang="en-US" b="1" dirty="0">
              <a:solidFill>
                <a:srgbClr val="800000"/>
              </a:solidFill>
            </a:endParaRPr>
          </a:p>
          <a:p>
            <a:pPr eaLnBrk="1" hangingPunct="1">
              <a:defRPr/>
            </a:pPr>
            <a:r>
              <a:rPr lang="en-US" altLang="en-US" b="1" dirty="0">
                <a:solidFill>
                  <a:srgbClr val="800000"/>
                </a:solidFill>
              </a:rPr>
              <a:t>private</a:t>
            </a:r>
            <a:r>
              <a:rPr lang="en-US" altLang="en-US" dirty="0"/>
              <a:t> features can be manipulated by only the other members of that class. </a:t>
            </a:r>
            <a:br>
              <a:rPr lang="en-US" altLang="en-US" dirty="0"/>
            </a:br>
            <a:r>
              <a:rPr lang="en-US" altLang="en-US" dirty="0"/>
              <a:t>They are the internal</a:t>
            </a:r>
            <a:r>
              <a:rPr lang="en-US" altLang="en-US" dirty="0">
                <a:solidFill>
                  <a:srgbClr val="0000FF"/>
                </a:solidFill>
              </a:rPr>
              <a:t> (implementation)</a:t>
            </a:r>
            <a:r>
              <a:rPr lang="en-US" altLang="en-US" dirty="0"/>
              <a:t> view. </a:t>
            </a:r>
          </a:p>
          <a:p>
            <a:pPr eaLnBrk="1" hangingPunct="1">
              <a:defRPr/>
            </a:pPr>
            <a:endParaRPr lang="en-US" altLang="en-US" dirty="0"/>
          </a:p>
          <a:p>
            <a:pPr eaLnBrk="1" hangingPunct="1">
              <a:defRPr/>
            </a:pPr>
            <a:r>
              <a:rPr lang="en-US" altLang="en-US" dirty="0"/>
              <a:t>Good OO design recommends that </a:t>
            </a:r>
          </a:p>
          <a:p>
            <a:pPr lvl="1" eaLnBrk="1" hangingPunct="1">
              <a:defRPr/>
            </a:pPr>
            <a:r>
              <a:rPr lang="en-US" altLang="en-US" b="1" dirty="0"/>
              <a:t>methods are </a:t>
            </a:r>
            <a:r>
              <a:rPr lang="en-US" altLang="en-US" b="1" dirty="0">
                <a:solidFill>
                  <a:srgbClr val="0000FF"/>
                </a:solidFill>
              </a:rPr>
              <a:t>public</a:t>
            </a:r>
            <a:r>
              <a:rPr lang="en-US" altLang="en-US" b="1" dirty="0"/>
              <a:t> and </a:t>
            </a:r>
          </a:p>
          <a:p>
            <a:pPr lvl="1" eaLnBrk="1" hangingPunct="1">
              <a:defRPr/>
            </a:pPr>
            <a:r>
              <a:rPr lang="en-US" altLang="en-US" b="1" dirty="0">
                <a:solidFill>
                  <a:srgbClr val="0000FF"/>
                </a:solidFill>
              </a:rPr>
              <a:t>data</a:t>
            </a:r>
            <a:r>
              <a:rPr lang="en-US" altLang="en-US" b="1" dirty="0"/>
              <a:t> fields are </a:t>
            </a:r>
            <a:r>
              <a:rPr lang="en-US" altLang="en-US" b="1" dirty="0">
                <a:solidFill>
                  <a:srgbClr val="FF0000"/>
                </a:solidFill>
              </a:rPr>
              <a:t>private</a:t>
            </a:r>
            <a:r>
              <a:rPr lang="en-US" altLang="en-US" b="1" dirty="0"/>
              <a:t>. </a:t>
            </a:r>
          </a:p>
          <a:p>
            <a:pPr eaLnBrk="1" hangingPunct="1">
              <a:defRPr/>
            </a:pPr>
            <a:endParaRPr lang="en-US" altLang="en-US" b="1" dirty="0"/>
          </a:p>
        </p:txBody>
      </p:sp>
      <p:sp>
        <p:nvSpPr>
          <p:cNvPr id="19460" name="Slide Number Placeholder 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>
                <a:solidFill>
                  <a:srgbClr val="898989"/>
                </a:solidFill>
              </a:rPr>
              <a:t>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6994" y="4168265"/>
            <a:ext cx="4024827" cy="2466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351572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33352" y="744326"/>
            <a:ext cx="3662711" cy="683421"/>
          </a:xfrm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 dirty="0"/>
              <a:t>Encapsulation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>
          <a:xfrm>
            <a:off x="933351" y="1857193"/>
            <a:ext cx="10428469" cy="4792259"/>
          </a:xfrm>
        </p:spPr>
        <p:txBody>
          <a:bodyPr/>
          <a:lstStyle/>
          <a:p>
            <a:pPr eaLnBrk="1" hangingPunct="1"/>
            <a:r>
              <a:rPr lang="en-US" altLang="en-US" sz="2400" b="1" dirty="0">
                <a:solidFill>
                  <a:srgbClr val="800000"/>
                </a:solidFill>
              </a:rPr>
              <a:t>Encapsulation:</a:t>
            </a:r>
            <a:r>
              <a:rPr lang="en-US" altLang="en-US" sz="2400" b="1" dirty="0"/>
              <a:t> </a:t>
            </a:r>
            <a:r>
              <a:rPr lang="en-US" altLang="en-US" sz="2400" dirty="0"/>
              <a:t>packaging </a:t>
            </a:r>
            <a:r>
              <a:rPr lang="en-US" altLang="en-US" sz="2400" b="1" dirty="0">
                <a:solidFill>
                  <a:srgbClr val="92D050"/>
                </a:solidFill>
              </a:rPr>
              <a:t>related code</a:t>
            </a:r>
            <a:r>
              <a:rPr lang="en-US" altLang="en-US" sz="2400" dirty="0"/>
              <a:t> and data as a single unit.</a:t>
            </a:r>
          </a:p>
          <a:p>
            <a:pPr eaLnBrk="1" hangingPunct="1"/>
            <a:endParaRPr lang="en-US" altLang="en-US" sz="2400" dirty="0"/>
          </a:p>
          <a:p>
            <a:pPr eaLnBrk="1" hangingPunct="1"/>
            <a:r>
              <a:rPr lang="en-US" altLang="en-US" sz="2400" dirty="0"/>
              <a:t>Encapsulation supports </a:t>
            </a:r>
            <a:r>
              <a:rPr lang="en-US" altLang="en-US" sz="2400" b="1" dirty="0">
                <a:solidFill>
                  <a:srgbClr val="800000"/>
                </a:solidFill>
              </a:rPr>
              <a:t>information hiding</a:t>
            </a:r>
            <a:r>
              <a:rPr lang="en-US" altLang="en-US" sz="2400" dirty="0"/>
              <a:t>.</a:t>
            </a:r>
          </a:p>
          <a:p>
            <a:pPr eaLnBrk="1" hangingPunct="1"/>
            <a:endParaRPr lang="en-US" altLang="en-US" sz="2400" dirty="0"/>
          </a:p>
          <a:p>
            <a:pPr eaLnBrk="1" hangingPunct="1"/>
            <a:r>
              <a:rPr lang="en-US" altLang="en-US" sz="2400" b="1" dirty="0">
                <a:solidFill>
                  <a:srgbClr val="FF0000"/>
                </a:solidFill>
              </a:rPr>
              <a:t>Hides</a:t>
            </a:r>
            <a:r>
              <a:rPr lang="en-US" altLang="en-US" sz="2400" dirty="0"/>
              <a:t> the complexity of implementation details.</a:t>
            </a:r>
          </a:p>
          <a:p>
            <a:pPr eaLnBrk="1" hangingPunct="1"/>
            <a:endParaRPr lang="en-US" altLang="en-US" sz="2400" dirty="0"/>
          </a:p>
          <a:p>
            <a:pPr eaLnBrk="1" hangingPunct="1"/>
            <a:r>
              <a:rPr lang="en-US" altLang="en-US" sz="2400" dirty="0"/>
              <a:t>Focuses on the </a:t>
            </a:r>
            <a:r>
              <a:rPr lang="en-US" altLang="en-US" sz="2400" b="1" dirty="0">
                <a:solidFill>
                  <a:srgbClr val="92D050"/>
                </a:solidFill>
              </a:rPr>
              <a:t>observable</a:t>
            </a:r>
            <a:r>
              <a:rPr lang="en-US" altLang="en-US" sz="2400" dirty="0"/>
              <a:t> behavior (interface) of an object.</a:t>
            </a:r>
            <a:endParaRPr lang="en-US" altLang="en-US" b="1" dirty="0"/>
          </a:p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73762405"/>
      </p:ext>
    </p:extLst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44217" y="2290046"/>
            <a:ext cx="10555357" cy="1378942"/>
          </a:xfrm>
        </p:spPr>
        <p:txBody>
          <a:bodyPr rtlCol="0">
            <a:normAutofit fontScale="90000"/>
          </a:bodyPr>
          <a:lstStyle/>
          <a:p>
            <a:pPr>
              <a:defRPr/>
            </a:pPr>
            <a:r>
              <a:rPr lang="en-US" dirty="0"/>
              <a:t>Class Diagram</a:t>
            </a:r>
            <a:br>
              <a:rPr lang="en-US" dirty="0"/>
            </a:br>
            <a:r>
              <a:rPr lang="en-US" dirty="0"/>
              <a:t>(continue)</a:t>
            </a:r>
          </a:p>
        </p:txBody>
      </p:sp>
      <p:sp>
        <p:nvSpPr>
          <p:cNvPr id="5123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  <a:endParaRPr kumimoji="0" lang="en-US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8457495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60143" y="739960"/>
            <a:ext cx="2143714" cy="609600"/>
          </a:xfrm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 sz="3200" dirty="0"/>
              <a:t>Hierarchy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>
          <a:xfrm>
            <a:off x="960143" y="1727934"/>
            <a:ext cx="10309436" cy="4913498"/>
          </a:xfrm>
        </p:spPr>
        <p:txBody>
          <a:bodyPr/>
          <a:lstStyle/>
          <a:p>
            <a:pPr lvl="1" eaLnBrk="1" hangingPunct="1">
              <a:buFontTx/>
              <a:buNone/>
            </a:pPr>
            <a:r>
              <a:rPr lang="en-US" altLang="en-US" b="1" u="sng" dirty="0" err="1">
                <a:solidFill>
                  <a:srgbClr val="0000FF"/>
                </a:solidFill>
              </a:rPr>
              <a:t>has_A</a:t>
            </a:r>
            <a:r>
              <a:rPr lang="en-US" altLang="en-US" b="1" u="sng" dirty="0">
                <a:solidFill>
                  <a:srgbClr val="800000"/>
                </a:solidFill>
              </a:rPr>
              <a:t> </a:t>
            </a:r>
            <a:r>
              <a:rPr lang="en-US" altLang="en-US" b="1" u="sng" dirty="0">
                <a:solidFill>
                  <a:schemeClr val="tx1"/>
                </a:solidFill>
              </a:rPr>
              <a:t>or containment</a:t>
            </a:r>
            <a:r>
              <a:rPr lang="en-US" altLang="en-US" dirty="0">
                <a:solidFill>
                  <a:schemeClr val="tx1"/>
                </a:solidFill>
              </a:rPr>
              <a:t>:</a:t>
            </a:r>
          </a:p>
          <a:p>
            <a:pPr lvl="1"/>
            <a:endParaRPr lang="en-US" altLang="en-US" dirty="0"/>
          </a:p>
          <a:p>
            <a:pPr lvl="1"/>
            <a:r>
              <a:rPr lang="en-US" altLang="en-US" dirty="0">
                <a:solidFill>
                  <a:schemeClr val="tx1"/>
                </a:solidFill>
              </a:rPr>
              <a:t>Division into component parts</a:t>
            </a:r>
          </a:p>
          <a:p>
            <a:pPr lvl="1"/>
            <a:endParaRPr lang="en-US" altLang="en-US" dirty="0">
              <a:solidFill>
                <a:schemeClr val="tx1"/>
              </a:solidFill>
            </a:endParaRPr>
          </a:p>
          <a:p>
            <a:pPr lvl="1"/>
            <a:r>
              <a:rPr lang="en-US" altLang="en-US" dirty="0">
                <a:solidFill>
                  <a:schemeClr val="tx1"/>
                </a:solidFill>
              </a:rPr>
              <a:t>Characterized by sentences that have the words “</a:t>
            </a:r>
            <a:r>
              <a:rPr lang="en-US" altLang="en-US" b="1" dirty="0">
                <a:solidFill>
                  <a:srgbClr val="0000FF"/>
                </a:solidFill>
              </a:rPr>
              <a:t>has-a</a:t>
            </a:r>
            <a:r>
              <a:rPr lang="en-US" altLang="en-US" dirty="0">
                <a:solidFill>
                  <a:schemeClr val="tx1"/>
                </a:solidFill>
              </a:rPr>
              <a:t>”:</a:t>
            </a:r>
          </a:p>
          <a:p>
            <a:pPr lvl="2"/>
            <a:r>
              <a:rPr lang="en-US" altLang="en-US" i="1" dirty="0">
                <a:solidFill>
                  <a:srgbClr val="006600"/>
                </a:solidFill>
              </a:rPr>
              <a:t>A car </a:t>
            </a:r>
            <a:r>
              <a:rPr lang="en-US" altLang="en-US" b="1" i="1" dirty="0">
                <a:solidFill>
                  <a:srgbClr val="0000FF"/>
                </a:solidFill>
              </a:rPr>
              <a:t>has-an</a:t>
            </a:r>
            <a:r>
              <a:rPr lang="en-US" altLang="en-US" i="1" dirty="0">
                <a:solidFill>
                  <a:srgbClr val="006600"/>
                </a:solidFill>
              </a:rPr>
              <a:t> engine </a:t>
            </a:r>
          </a:p>
          <a:p>
            <a:pPr lvl="2"/>
            <a:r>
              <a:rPr lang="en-US" altLang="en-US" i="1" dirty="0">
                <a:solidFill>
                  <a:srgbClr val="006600"/>
                </a:solidFill>
              </a:rPr>
              <a:t>A bicycle </a:t>
            </a:r>
            <a:r>
              <a:rPr lang="en-US" altLang="en-US" b="1" i="1" dirty="0">
                <a:solidFill>
                  <a:srgbClr val="0000FF"/>
                </a:solidFill>
              </a:rPr>
              <a:t>has-a</a:t>
            </a:r>
            <a:r>
              <a:rPr lang="en-US" altLang="en-US" i="1" dirty="0">
                <a:solidFill>
                  <a:srgbClr val="006600"/>
                </a:solidFill>
              </a:rPr>
              <a:t> wheel(s )</a:t>
            </a:r>
          </a:p>
          <a:p>
            <a:pPr lvl="2"/>
            <a:r>
              <a:rPr lang="en-US" altLang="en-US" i="1" dirty="0">
                <a:solidFill>
                  <a:srgbClr val="006600"/>
                </a:solidFill>
              </a:rPr>
              <a:t>A window </a:t>
            </a:r>
            <a:r>
              <a:rPr lang="en-US" altLang="en-US" b="1" i="1" dirty="0">
                <a:solidFill>
                  <a:srgbClr val="0000FF"/>
                </a:solidFill>
              </a:rPr>
              <a:t>has-a</a:t>
            </a:r>
            <a:r>
              <a:rPr lang="en-US" altLang="en-US" i="1" dirty="0">
                <a:solidFill>
                  <a:srgbClr val="006600"/>
                </a:solidFill>
              </a:rPr>
              <a:t> menu bar </a:t>
            </a:r>
          </a:p>
          <a:p>
            <a:pPr lvl="1" eaLnBrk="1" hangingPunct="1"/>
            <a:endParaRPr lang="en-US" altLang="en-US" dirty="0"/>
          </a:p>
          <a:p>
            <a:pPr lvl="1" eaLnBrk="1" hangingPunct="1"/>
            <a:r>
              <a:rPr lang="en-US" altLang="en-US" dirty="0">
                <a:solidFill>
                  <a:schemeClr val="tx1"/>
                </a:solidFill>
              </a:rPr>
              <a:t>Drop down level of complexity.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5E35C1C-C5E3-5DF1-0ACD-CEC0BFDEA039}"/>
              </a:ext>
            </a:extLst>
          </p:cNvPr>
          <p:cNvSpPr txBox="1"/>
          <p:nvPr/>
        </p:nvSpPr>
        <p:spPr>
          <a:xfrm>
            <a:off x="8664951" y="826340"/>
            <a:ext cx="34638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Has-A component(s)</a:t>
            </a:r>
          </a:p>
        </p:txBody>
      </p:sp>
    </p:spTree>
    <p:extLst>
      <p:ext uri="{BB962C8B-B14F-4D97-AF65-F5344CB8AC3E}">
        <p14:creationId xmlns:p14="http://schemas.microsoft.com/office/powerpoint/2010/main" val="1707010480"/>
      </p:ext>
    </p:extLst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38713" y="738398"/>
            <a:ext cx="7848600" cy="609600"/>
          </a:xfrm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 sz="3200" dirty="0"/>
              <a:t>Inheritance (</a:t>
            </a:r>
            <a:r>
              <a:rPr lang="en-US" altLang="en-US" sz="3200" i="1" dirty="0">
                <a:solidFill>
                  <a:srgbClr val="FF0000"/>
                </a:solidFill>
              </a:rPr>
              <a:t>is-a</a:t>
            </a:r>
            <a:r>
              <a:rPr lang="en-US" altLang="en-US" sz="3200" dirty="0"/>
              <a:t> hierarchy)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>
          <a:xfrm>
            <a:off x="938713" y="1661067"/>
            <a:ext cx="10423108" cy="4992396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US" b="1" u="sng" dirty="0">
                <a:solidFill>
                  <a:srgbClr val="800000"/>
                </a:solidFill>
              </a:rPr>
              <a:t>Inheritance: </a:t>
            </a:r>
            <a:r>
              <a:rPr lang="en-US" altLang="en-US" dirty="0"/>
              <a:t>complex system viewed as an instance of a more </a:t>
            </a:r>
            <a:r>
              <a:rPr lang="en-US" altLang="en-US" b="1" dirty="0">
                <a:solidFill>
                  <a:srgbClr val="92D050"/>
                </a:solidFill>
              </a:rPr>
              <a:t>general abstraction</a:t>
            </a:r>
            <a:r>
              <a:rPr lang="en-US" altLang="en-US" dirty="0"/>
              <a:t>. </a:t>
            </a:r>
          </a:p>
          <a:p>
            <a:pPr eaLnBrk="1" hangingPunct="1">
              <a:buFontTx/>
              <a:buNone/>
            </a:pPr>
            <a:endParaRPr lang="en-US" altLang="en-US" dirty="0"/>
          </a:p>
          <a:p>
            <a:pPr eaLnBrk="1" hangingPunct="1">
              <a:buFontTx/>
              <a:buNone/>
            </a:pPr>
            <a:r>
              <a:rPr lang="en-US" altLang="en-US" dirty="0"/>
              <a:t>Characterized by “</a:t>
            </a:r>
            <a:r>
              <a:rPr lang="en-US" altLang="en-US" b="1" dirty="0">
                <a:solidFill>
                  <a:srgbClr val="FF0000"/>
                </a:solidFill>
              </a:rPr>
              <a:t>is-a</a:t>
            </a:r>
            <a:r>
              <a:rPr lang="en-US" altLang="en-US" dirty="0"/>
              <a:t>” (extends): </a:t>
            </a:r>
          </a:p>
          <a:p>
            <a:pPr lvl="1"/>
            <a:endParaRPr lang="en-US" altLang="en-US" i="1" dirty="0">
              <a:solidFill>
                <a:srgbClr val="006600"/>
              </a:solidFill>
            </a:endParaRPr>
          </a:p>
          <a:p>
            <a:pPr lvl="1"/>
            <a:r>
              <a:rPr lang="en-US" altLang="en-US" dirty="0">
                <a:solidFill>
                  <a:schemeClr val="tx1"/>
                </a:solidFill>
              </a:rPr>
              <a:t>A car </a:t>
            </a:r>
            <a:r>
              <a:rPr lang="en-US" altLang="en-US" b="1" dirty="0">
                <a:solidFill>
                  <a:srgbClr val="FF0000"/>
                </a:solidFill>
              </a:rPr>
              <a:t>is-a</a:t>
            </a:r>
            <a:r>
              <a:rPr lang="en-US" altLang="en-US" dirty="0">
                <a:solidFill>
                  <a:schemeClr val="tx1"/>
                </a:solidFill>
              </a:rPr>
              <a:t> wheeled vehicle, which </a:t>
            </a:r>
            <a:r>
              <a:rPr lang="en-US" altLang="en-US" b="1" dirty="0">
                <a:solidFill>
                  <a:srgbClr val="FF0000"/>
                </a:solidFill>
              </a:rPr>
              <a:t>is-a</a:t>
            </a:r>
            <a:r>
              <a:rPr lang="en-US" altLang="en-US" dirty="0">
                <a:solidFill>
                  <a:schemeClr val="tx1"/>
                </a:solidFill>
              </a:rPr>
              <a:t> means of transportation </a:t>
            </a:r>
          </a:p>
          <a:p>
            <a:pPr lvl="1"/>
            <a:endParaRPr lang="en-US" altLang="en-US" dirty="0">
              <a:solidFill>
                <a:schemeClr val="tx1"/>
              </a:solidFill>
            </a:endParaRPr>
          </a:p>
          <a:p>
            <a:pPr lvl="1"/>
            <a:r>
              <a:rPr lang="en-US" altLang="en-US" dirty="0">
                <a:solidFill>
                  <a:schemeClr val="tx1"/>
                </a:solidFill>
              </a:rPr>
              <a:t>A bicycle </a:t>
            </a:r>
            <a:r>
              <a:rPr lang="en-US" altLang="en-US" b="1" dirty="0">
                <a:solidFill>
                  <a:srgbClr val="FF0000"/>
                </a:solidFill>
              </a:rPr>
              <a:t>is-a</a:t>
            </a:r>
            <a:r>
              <a:rPr lang="en-US" altLang="en-US" dirty="0">
                <a:solidFill>
                  <a:schemeClr val="tx1"/>
                </a:solidFill>
              </a:rPr>
              <a:t> wheeled vehicle </a:t>
            </a:r>
          </a:p>
          <a:p>
            <a:pPr lvl="1"/>
            <a:endParaRPr lang="en-US" altLang="en-US" dirty="0">
              <a:solidFill>
                <a:schemeClr val="tx1"/>
              </a:solidFill>
            </a:endParaRPr>
          </a:p>
          <a:p>
            <a:pPr lvl="1"/>
            <a:r>
              <a:rPr lang="en-US" altLang="en-US" dirty="0">
                <a:solidFill>
                  <a:schemeClr val="tx1"/>
                </a:solidFill>
              </a:rPr>
              <a:t>A pack horse </a:t>
            </a:r>
            <a:r>
              <a:rPr lang="en-US" altLang="en-US" b="1" dirty="0">
                <a:solidFill>
                  <a:srgbClr val="FF0000"/>
                </a:solidFill>
              </a:rPr>
              <a:t>is-a</a:t>
            </a:r>
            <a:r>
              <a:rPr lang="en-US" altLang="en-US" dirty="0">
                <a:solidFill>
                  <a:schemeClr val="tx1"/>
                </a:solidFill>
              </a:rPr>
              <a:t> means of transportation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F6B31EA-63DC-2769-A6F5-6BFA9545859A}"/>
              </a:ext>
            </a:extLst>
          </p:cNvPr>
          <p:cNvSpPr txBox="1"/>
          <p:nvPr/>
        </p:nvSpPr>
        <p:spPr>
          <a:xfrm>
            <a:off x="8462361" y="887319"/>
            <a:ext cx="35039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Is-A inherited feature</a:t>
            </a:r>
          </a:p>
        </p:txBody>
      </p:sp>
    </p:spTree>
    <p:extLst>
      <p:ext uri="{BB962C8B-B14F-4D97-AF65-F5344CB8AC3E}">
        <p14:creationId xmlns:p14="http://schemas.microsoft.com/office/powerpoint/2010/main" val="38740994"/>
      </p:ext>
    </p:extLst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942976" y="747126"/>
            <a:ext cx="8763000" cy="685800"/>
          </a:xfrm>
          <a:ln>
            <a:miter lim="800000"/>
            <a:headEnd/>
            <a:tailEnd/>
          </a:ln>
        </p:spPr>
        <p:txBody>
          <a:bodyPr vert="horz" lIns="103584" tIns="51793" rIns="103584" bIns="51793" rtlCol="0" anchor="ctr">
            <a:normAutofit/>
          </a:bodyPr>
          <a:lstStyle/>
          <a:p>
            <a:r>
              <a:rPr lang="en-US" altLang="en-US" dirty="0"/>
              <a:t>Class diagram (Visio)</a:t>
            </a:r>
            <a:endParaRPr lang="en-US" altLang="en-US" b="1" dirty="0"/>
          </a:p>
        </p:txBody>
      </p:sp>
      <p:sp>
        <p:nvSpPr>
          <p:cNvPr id="6156" name="Slide Number Placeholder 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  <a:endParaRPr kumimoji="0" lang="en-US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590D5E-F97C-AF83-7740-9AB40997FD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1250" y="1773551"/>
            <a:ext cx="7172325" cy="2667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A81A779-22A7-2761-92CB-ACC0D6CECD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3125" y="4508500"/>
            <a:ext cx="2708574" cy="1383349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7C9AF35-0B62-87FE-F400-AE0642EBEB99}"/>
              </a:ext>
            </a:extLst>
          </p:cNvPr>
          <p:cNvCxnSpPr>
            <a:cxnSpLocks/>
            <a:stCxn id="14" idx="0"/>
          </p:cNvCxnSpPr>
          <p:nvPr/>
        </p:nvCxnSpPr>
        <p:spPr>
          <a:xfrm flipV="1">
            <a:off x="5108390" y="4192250"/>
            <a:ext cx="735136" cy="1803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4E2FE668-C0B0-BEDB-2C8C-BEE89F5D5B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4117" y="4731256"/>
            <a:ext cx="2225110" cy="1257671"/>
          </a:xfrm>
          <a:prstGeom prst="rect">
            <a:avLst/>
          </a:prstGeom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41EF577-008C-F6E6-B8DA-165CD936CEDE}"/>
              </a:ext>
            </a:extLst>
          </p:cNvPr>
          <p:cNvCxnSpPr>
            <a:cxnSpLocks/>
            <a:stCxn id="15" idx="0"/>
          </p:cNvCxnSpPr>
          <p:nvPr/>
        </p:nvCxnSpPr>
        <p:spPr>
          <a:xfrm flipV="1">
            <a:off x="2356672" y="4192250"/>
            <a:ext cx="0" cy="5390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6F00D8E-90EE-8DFF-ABBC-9938FB864B5B}"/>
              </a:ext>
            </a:extLst>
          </p:cNvPr>
          <p:cNvCxnSpPr>
            <a:cxnSpLocks/>
          </p:cNvCxnSpPr>
          <p:nvPr/>
        </p:nvCxnSpPr>
        <p:spPr>
          <a:xfrm flipH="1" flipV="1">
            <a:off x="5843526" y="3583653"/>
            <a:ext cx="2225171" cy="9300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Picture 23">
            <a:extLst>
              <a:ext uri="{FF2B5EF4-FFF2-40B4-BE49-F238E27FC236}">
                <a16:creationId xmlns:a16="http://schemas.microsoft.com/office/drawing/2014/main" id="{ECCC9E59-D5EB-090F-14F2-AC0F22FD45B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63603" y="4513680"/>
            <a:ext cx="5084659" cy="1872005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8773363" y="3092121"/>
            <a:ext cx="2981907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 server knows a customer,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but a customer does not know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the server</a:t>
            </a:r>
          </a:p>
        </p:txBody>
      </p:sp>
      <p:cxnSp>
        <p:nvCxnSpPr>
          <p:cNvPr id="5" name="Straight Arrow Connector 4"/>
          <p:cNvCxnSpPr/>
          <p:nvPr/>
        </p:nvCxnSpPr>
        <p:spPr>
          <a:xfrm flipH="1">
            <a:off x="7979473" y="3415777"/>
            <a:ext cx="72115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245493" y="815086"/>
            <a:ext cx="4112023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one element depends on another element.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to indicate that a change of one might require </a:t>
            </a:r>
            <a:b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 change to the other.</a:t>
            </a:r>
          </a:p>
        </p:txBody>
      </p:sp>
      <p:cxnSp>
        <p:nvCxnSpPr>
          <p:cNvPr id="11" name="Elbow Connector 10"/>
          <p:cNvCxnSpPr/>
          <p:nvPr/>
        </p:nvCxnSpPr>
        <p:spPr>
          <a:xfrm rot="5400000">
            <a:off x="4518510" y="1235204"/>
            <a:ext cx="2940058" cy="2620441"/>
          </a:xfrm>
          <a:prstGeom prst="bentConnector3">
            <a:avLst>
              <a:gd name="adj1" fmla="val 1987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834EEED9-4190-C308-176C-D02999DA94E9}"/>
              </a:ext>
            </a:extLst>
          </p:cNvPr>
          <p:cNvSpPr txBox="1"/>
          <p:nvPr/>
        </p:nvSpPr>
        <p:spPr>
          <a:xfrm>
            <a:off x="3606800" y="5891849"/>
            <a:ext cx="34628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737C85"/>
                </a:solidFill>
                <a:effectLst/>
                <a:uLnTx/>
                <a:uFillTx/>
                <a:latin typeface="Open Sans" panose="020B0606030504020204" pitchFamily="34" charset="0"/>
                <a:ea typeface="+mn-ea"/>
                <a:cs typeface="+mn-cs"/>
              </a:rPr>
              <a:t>strong lifecycle dependency between the </a:t>
            </a:r>
            <a:b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737C85"/>
                </a:solidFill>
                <a:effectLst/>
                <a:uLnTx/>
                <a:uFillTx/>
                <a:latin typeface="Open Sans" panose="020B0606030504020204" pitchFamily="34" charset="0"/>
                <a:ea typeface="+mn-ea"/>
                <a:cs typeface="+mn-cs"/>
              </a:rPr>
            </a:b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737C85"/>
                </a:solidFill>
                <a:effectLst/>
                <a:uLnTx/>
                <a:uFillTx/>
                <a:latin typeface="Open Sans" panose="020B0606030504020204" pitchFamily="34" charset="0"/>
                <a:ea typeface="+mn-ea"/>
                <a:cs typeface="+mn-cs"/>
              </a:rPr>
              <a:t>two: meaning that when Person is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Open Sans" panose="020B0606030504020204" pitchFamily="34" charset="0"/>
                <a:ea typeface="+mn-ea"/>
                <a:cs typeface="+mn-cs"/>
              </a:rPr>
              <a:t>deleted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737C85"/>
                </a:solidFill>
                <a:effectLst/>
                <a:uLnTx/>
                <a:uFillTx/>
                <a:latin typeface="Open Sans" panose="020B0606030504020204" pitchFamily="34" charset="0"/>
                <a:ea typeface="+mn-ea"/>
                <a:cs typeface="+mn-cs"/>
              </a:rPr>
              <a:t> </a:t>
            </a:r>
            <a:b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737C85"/>
                </a:solidFill>
                <a:effectLst/>
                <a:uLnTx/>
                <a:uFillTx/>
                <a:latin typeface="Open Sans" panose="020B0606030504020204" pitchFamily="34" charset="0"/>
                <a:ea typeface="+mn-ea"/>
                <a:cs typeface="+mn-cs"/>
              </a:rPr>
            </a:b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737C85"/>
                </a:solidFill>
                <a:effectLst/>
                <a:uLnTx/>
                <a:uFillTx/>
                <a:latin typeface="Open Sans" panose="020B0606030504020204" pitchFamily="34" charset="0"/>
                <a:ea typeface="+mn-ea"/>
                <a:cs typeface="+mn-cs"/>
              </a:rPr>
              <a:t>then Head, Hand, Leg will also be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Open Sans" panose="020B0606030504020204" pitchFamily="34" charset="0"/>
                <a:ea typeface="+mn-ea"/>
                <a:cs typeface="+mn-cs"/>
              </a:rPr>
              <a:t>deleted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737C85"/>
                </a:solidFill>
                <a:effectLst/>
                <a:uLnTx/>
                <a:uFillTx/>
                <a:latin typeface="Open Sans" panose="020B0606030504020204" pitchFamily="34" charset="0"/>
                <a:ea typeface="+mn-ea"/>
                <a:cs typeface="+mn-cs"/>
              </a:rPr>
              <a:t>!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2F59E5C-EE49-8E05-6118-48C8A870D13D}"/>
              </a:ext>
            </a:extLst>
          </p:cNvPr>
          <p:cNvSpPr txBox="1"/>
          <p:nvPr/>
        </p:nvSpPr>
        <p:spPr>
          <a:xfrm>
            <a:off x="868550" y="5932667"/>
            <a:ext cx="2797561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Open Sans" panose="020B0606030504020204" pitchFamily="34" charset="0"/>
                <a:ea typeface="+mn-ea"/>
                <a:cs typeface="+mn-cs"/>
              </a:rPr>
              <a:t>doesn't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737C85"/>
                </a:solidFill>
                <a:effectLst/>
                <a:uLnTx/>
                <a:uFillTx/>
                <a:latin typeface="Open Sans" panose="020B0606030504020204" pitchFamily="34" charset="0"/>
                <a:ea typeface="+mn-ea"/>
                <a:cs typeface="+mn-cs"/>
              </a:rPr>
              <a:t> state in any way that Class A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737C85"/>
                </a:solidFill>
                <a:effectLst/>
                <a:uLnTx/>
                <a:uFillTx/>
                <a:latin typeface="Open Sans" panose="020B0606030504020204" pitchFamily="34" charset="0"/>
                <a:ea typeface="+mn-ea"/>
                <a:cs typeface="+mn-cs"/>
              </a:rPr>
              <a:t>owns Class B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Open Sans" panose="020B0606030504020204" pitchFamily="34" charset="0"/>
                <a:ea typeface="+mn-ea"/>
                <a:cs typeface="+mn-cs"/>
              </a:rPr>
              <a:t>nor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737C85"/>
                </a:solidFill>
                <a:effectLst/>
                <a:uLnTx/>
                <a:uFillTx/>
                <a:latin typeface="Open Sans" panose="020B0606030504020204" pitchFamily="34" charset="0"/>
                <a:ea typeface="+mn-ea"/>
                <a:cs typeface="+mn-cs"/>
              </a:rPr>
              <a:t> that there's a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737C85"/>
                </a:solidFill>
                <a:effectLst/>
                <a:uLnTx/>
                <a:uFillTx/>
                <a:latin typeface="Open Sans" panose="020B0606030504020204" pitchFamily="34" charset="0"/>
                <a:ea typeface="+mn-ea"/>
                <a:cs typeface="+mn-cs"/>
              </a:rPr>
              <a:t>parent-child relationship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46953AA-AA68-DF83-C567-31EC063F46D4}"/>
              </a:ext>
            </a:extLst>
          </p:cNvPr>
          <p:cNvSpPr txBox="1"/>
          <p:nvPr/>
        </p:nvSpPr>
        <p:spPr>
          <a:xfrm>
            <a:off x="4120779" y="4372591"/>
            <a:ext cx="197522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Needs at least one person</a:t>
            </a:r>
          </a:p>
        </p:txBody>
      </p:sp>
    </p:spTree>
    <p:extLst>
      <p:ext uri="{BB962C8B-B14F-4D97-AF65-F5344CB8AC3E}">
        <p14:creationId xmlns:p14="http://schemas.microsoft.com/office/powerpoint/2010/main" val="3814223417"/>
      </p:ext>
    </p:extLst>
  </p:cSld>
  <p:clrMapOvr>
    <a:masterClrMapping/>
  </p:clrMapOvr>
  <p:transition spd="slow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61B62659-F15D-8894-8C73-2289019231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7646" y="1839603"/>
            <a:ext cx="3422208" cy="4651375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6639236" y="2370968"/>
            <a:ext cx="145424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Super class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Base class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Parent class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1528" y="5287983"/>
            <a:ext cx="156966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Subclass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Derived class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Child class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19671" y="1932854"/>
            <a:ext cx="2578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Wording is Important!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45019" y="737829"/>
            <a:ext cx="44587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Inheritance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86695" y="3797849"/>
            <a:ext cx="523098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 super class is a generalization of a subclass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 derived class is an extension of a base class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 parent class is extended by a child 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5590" y="2961687"/>
            <a:ext cx="233859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Visibility: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+ Public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-  Private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# Protected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~ Package/Internal</a:t>
            </a:r>
          </a:p>
        </p:txBody>
      </p:sp>
    </p:spTree>
    <p:extLst>
      <p:ext uri="{BB962C8B-B14F-4D97-AF65-F5344CB8AC3E}">
        <p14:creationId xmlns:p14="http://schemas.microsoft.com/office/powerpoint/2010/main" val="3654702681"/>
      </p:ext>
    </p:extLst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45019" y="737829"/>
            <a:ext cx="44587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Inheritance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98695" y="1445715"/>
            <a:ext cx="1023610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Visibility: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+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Public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:</a:t>
            </a:r>
          </a:p>
          <a:p>
            <a:pPr lvl="0">
              <a:defRPr/>
            </a:pPr>
            <a:r>
              <a:rPr lang="en-US" dirty="0"/>
              <a:t>	Access </a:t>
            </a:r>
            <a:r>
              <a:rPr lang="en-US" b="1" dirty="0">
                <a:solidFill>
                  <a:srgbClr val="92D050"/>
                </a:solidFill>
              </a:rPr>
              <a:t>everywhere</a:t>
            </a:r>
            <a:r>
              <a:rPr lang="en-US" dirty="0"/>
              <a:t>. </a:t>
            </a:r>
            <a:br>
              <a:rPr lang="en-US" dirty="0"/>
            </a:br>
            <a:r>
              <a:rPr lang="en-US" dirty="0"/>
              <a:t>	Accessed from </a:t>
            </a:r>
            <a:r>
              <a:rPr lang="en-US" b="1" dirty="0">
                <a:solidFill>
                  <a:srgbClr val="92D050"/>
                </a:solidFill>
              </a:rPr>
              <a:t>within</a:t>
            </a:r>
            <a:r>
              <a:rPr lang="en-US" dirty="0"/>
              <a:t> the class, </a:t>
            </a:r>
            <a:r>
              <a:rPr lang="en-US" b="1" dirty="0">
                <a:solidFill>
                  <a:srgbClr val="92D050"/>
                </a:solidFill>
              </a:rPr>
              <a:t>outside</a:t>
            </a:r>
            <a:r>
              <a:rPr lang="en-US" dirty="0"/>
              <a:t> the class, </a:t>
            </a:r>
            <a:r>
              <a:rPr lang="en-US" b="1" dirty="0">
                <a:solidFill>
                  <a:srgbClr val="92D050"/>
                </a:solidFill>
              </a:rPr>
              <a:t>within the package </a:t>
            </a:r>
            <a:br>
              <a:rPr lang="en-US" dirty="0"/>
            </a:br>
            <a:r>
              <a:rPr lang="en-US" dirty="0"/>
              <a:t>	and </a:t>
            </a:r>
            <a:r>
              <a:rPr lang="en-US" b="1" dirty="0">
                <a:solidFill>
                  <a:srgbClr val="92D050"/>
                </a:solidFill>
              </a:rPr>
              <a:t>outside the package</a:t>
            </a:r>
            <a:r>
              <a:rPr lang="en-US" dirty="0"/>
              <a:t>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lvl="0"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lvl="0"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- 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Private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:</a:t>
            </a:r>
            <a:r>
              <a:rPr lang="en-US" dirty="0">
                <a:solidFill>
                  <a:srgbClr val="000000"/>
                </a:solidFill>
              </a:rPr>
              <a:t> </a:t>
            </a:r>
          </a:p>
          <a:p>
            <a:pPr lvl="0">
              <a:defRPr/>
            </a:pPr>
            <a:r>
              <a:rPr lang="en-US" dirty="0">
                <a:solidFill>
                  <a:srgbClr val="000000"/>
                </a:solidFill>
              </a:rPr>
              <a:t>	Access is only </a:t>
            </a:r>
            <a:r>
              <a:rPr lang="en-US" b="1" dirty="0">
                <a:solidFill>
                  <a:srgbClr val="FF0000"/>
                </a:solidFill>
              </a:rPr>
              <a:t>within the class</a:t>
            </a:r>
            <a:r>
              <a:rPr lang="en-US" dirty="0">
                <a:solidFill>
                  <a:srgbClr val="000000"/>
                </a:solidFill>
              </a:rPr>
              <a:t>. </a:t>
            </a:r>
            <a:br>
              <a:rPr lang="en-US" dirty="0">
                <a:solidFill>
                  <a:srgbClr val="000000"/>
                </a:solidFill>
              </a:rPr>
            </a:br>
            <a:r>
              <a:rPr lang="en-US" dirty="0">
                <a:solidFill>
                  <a:srgbClr val="000000"/>
                </a:solidFill>
              </a:rPr>
              <a:t>	It cannot be accessed from </a:t>
            </a:r>
            <a:r>
              <a:rPr lang="en-US" b="1" dirty="0">
                <a:solidFill>
                  <a:srgbClr val="FF0000"/>
                </a:solidFill>
              </a:rPr>
              <a:t>outside</a:t>
            </a:r>
            <a:r>
              <a:rPr lang="en-US" dirty="0">
                <a:solidFill>
                  <a:srgbClr val="000000"/>
                </a:solidFill>
              </a:rPr>
              <a:t> the class.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#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Protected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:</a:t>
            </a:r>
          </a:p>
          <a:p>
            <a:pPr lvl="0">
              <a:defRPr/>
            </a:pPr>
            <a:r>
              <a:rPr lang="en-US" dirty="0"/>
              <a:t>	Access is </a:t>
            </a:r>
            <a:r>
              <a:rPr lang="en-US" b="1" dirty="0">
                <a:solidFill>
                  <a:srgbClr val="0000FF"/>
                </a:solidFill>
              </a:rPr>
              <a:t>within the package </a:t>
            </a:r>
            <a:r>
              <a:rPr lang="en-US" dirty="0"/>
              <a:t>and </a:t>
            </a:r>
            <a:r>
              <a:rPr lang="en-US" b="1" dirty="0">
                <a:solidFill>
                  <a:srgbClr val="0000FF"/>
                </a:solidFill>
              </a:rPr>
              <a:t>outside the package </a:t>
            </a:r>
            <a:r>
              <a:rPr lang="en-US" dirty="0"/>
              <a:t>through child class.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~ Package/Internal/default:</a:t>
            </a:r>
          </a:p>
          <a:p>
            <a:pPr lvl="0">
              <a:defRPr/>
            </a:pPr>
            <a:r>
              <a:rPr lang="en-US" dirty="0"/>
              <a:t>	Access is only within the package. </a:t>
            </a:r>
            <a:br>
              <a:rPr lang="en-US" dirty="0"/>
            </a:br>
            <a:r>
              <a:rPr lang="en-US" dirty="0"/>
              <a:t>	It cannot be accessed from outside the package. 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75265845"/>
      </p:ext>
    </p:extLst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45019" y="737829"/>
            <a:ext cx="44587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Inheritance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442" y="2533026"/>
            <a:ext cx="10898065" cy="215929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96C6A3B-803F-80AF-F6D8-A5D3BA20569F}"/>
              </a:ext>
            </a:extLst>
          </p:cNvPr>
          <p:cNvSpPr txBox="1"/>
          <p:nvPr/>
        </p:nvSpPr>
        <p:spPr>
          <a:xfrm>
            <a:off x="5018323" y="3191387"/>
            <a:ext cx="264037" cy="345301"/>
          </a:xfrm>
          <a:prstGeom prst="rect">
            <a:avLst/>
          </a:prstGeom>
          <a:noFill/>
          <a:ln w="19050">
            <a:solidFill>
              <a:schemeClr val="accent3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ED36D2-AEDD-1627-5A30-44F2C6729367}"/>
              </a:ext>
            </a:extLst>
          </p:cNvPr>
          <p:cNvSpPr txBox="1"/>
          <p:nvPr/>
        </p:nvSpPr>
        <p:spPr>
          <a:xfrm>
            <a:off x="7196007" y="3221079"/>
            <a:ext cx="264037" cy="646331"/>
          </a:xfrm>
          <a:prstGeom prst="rect">
            <a:avLst/>
          </a:prstGeom>
          <a:noFill/>
          <a:ln w="19050">
            <a:solidFill>
              <a:schemeClr val="accent3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BF29C8-2C13-3E97-CE6D-25908381C91C}"/>
              </a:ext>
            </a:extLst>
          </p:cNvPr>
          <p:cNvSpPr txBox="1"/>
          <p:nvPr/>
        </p:nvSpPr>
        <p:spPr>
          <a:xfrm>
            <a:off x="9378592" y="3191387"/>
            <a:ext cx="264037" cy="1091208"/>
          </a:xfrm>
          <a:prstGeom prst="rect">
            <a:avLst/>
          </a:prstGeom>
          <a:noFill/>
          <a:ln w="19050">
            <a:solidFill>
              <a:schemeClr val="accent3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57CF7C-F1BF-5851-2A8A-EBAA82D334A2}"/>
              </a:ext>
            </a:extLst>
          </p:cNvPr>
          <p:cNvSpPr txBox="1"/>
          <p:nvPr/>
        </p:nvSpPr>
        <p:spPr>
          <a:xfrm>
            <a:off x="3272192" y="5297473"/>
            <a:ext cx="59811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Personal: I use in general public/private and if need to …</a:t>
            </a:r>
          </a:p>
        </p:txBody>
      </p:sp>
    </p:spTree>
    <p:extLst>
      <p:ext uri="{BB962C8B-B14F-4D97-AF65-F5344CB8AC3E}">
        <p14:creationId xmlns:p14="http://schemas.microsoft.com/office/powerpoint/2010/main" val="1225745399"/>
      </p:ext>
    </p:extLst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78639" y="745385"/>
            <a:ext cx="32484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Inheritance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9B5759D-10B5-4A8B-962E-C654F0E62B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0113" y="2041106"/>
            <a:ext cx="3549829" cy="4269471"/>
          </a:xfrm>
          <a:prstGeom prst="rect">
            <a:avLst/>
          </a:prstGeom>
          <a:ln>
            <a:solidFill>
              <a:schemeClr val="accent4">
                <a:lumMod val="60000"/>
                <a:lumOff val="40000"/>
              </a:schemeClr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4B5965C-90FA-5D50-0C1E-53BC859EF040}"/>
              </a:ext>
            </a:extLst>
          </p:cNvPr>
          <p:cNvSpPr txBox="1"/>
          <p:nvPr/>
        </p:nvSpPr>
        <p:spPr>
          <a:xfrm>
            <a:off x="2032000" y="2102864"/>
            <a:ext cx="298350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this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and 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super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EF23590-8AF9-74BA-AE49-074714D0EEB9}"/>
              </a:ext>
            </a:extLst>
          </p:cNvPr>
          <p:cNvSpPr txBox="1"/>
          <p:nvPr/>
        </p:nvSpPr>
        <p:spPr>
          <a:xfrm>
            <a:off x="676426" y="3553913"/>
            <a:ext cx="4846198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“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this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”: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Access everything from this current class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Recommend to use</a:t>
            </a:r>
            <a:r>
              <a:rPr kumimoji="0" lang="en-US" sz="1800" b="0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it often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“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super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”: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Access everything in superclass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Careful when using it</a:t>
            </a:r>
          </a:p>
        </p:txBody>
      </p:sp>
    </p:spTree>
    <p:extLst>
      <p:ext uri="{BB962C8B-B14F-4D97-AF65-F5344CB8AC3E}">
        <p14:creationId xmlns:p14="http://schemas.microsoft.com/office/powerpoint/2010/main" val="832260470"/>
      </p:ext>
    </p:extLst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90671" y="774590"/>
            <a:ext cx="44587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Inheritance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756" y="2775765"/>
            <a:ext cx="3788328" cy="354883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2361" y="2775765"/>
            <a:ext cx="7026912" cy="333111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4B5965C-90FA-5D50-0C1E-53BC859EF040}"/>
              </a:ext>
            </a:extLst>
          </p:cNvPr>
          <p:cNvSpPr txBox="1"/>
          <p:nvPr/>
        </p:nvSpPr>
        <p:spPr>
          <a:xfrm>
            <a:off x="6112888" y="897701"/>
            <a:ext cx="298350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this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and 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super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12BE8A-9589-DD93-8FFB-D3A0D4C24034}"/>
              </a:ext>
            </a:extLst>
          </p:cNvPr>
          <p:cNvSpPr txBox="1"/>
          <p:nvPr/>
        </p:nvSpPr>
        <p:spPr>
          <a:xfrm>
            <a:off x="2962970" y="1891918"/>
            <a:ext cx="36615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What is the outcome?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024C6B9-AD52-57E4-2DCB-9A7AAD80F948}"/>
              </a:ext>
            </a:extLst>
          </p:cNvPr>
          <p:cNvCxnSpPr/>
          <p:nvPr/>
        </p:nvCxnSpPr>
        <p:spPr>
          <a:xfrm flipH="1">
            <a:off x="2962970" y="3068930"/>
            <a:ext cx="2213397" cy="21584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9262322"/>
      </p:ext>
    </p:extLst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02703" y="769619"/>
            <a:ext cx="44587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Inheritance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756" y="2775765"/>
            <a:ext cx="3788328" cy="354883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4B5965C-90FA-5D50-0C1E-53BC859EF040}"/>
              </a:ext>
            </a:extLst>
          </p:cNvPr>
          <p:cNvSpPr txBox="1"/>
          <p:nvPr/>
        </p:nvSpPr>
        <p:spPr>
          <a:xfrm>
            <a:off x="7197937" y="1066183"/>
            <a:ext cx="298350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this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and 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super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12BE8A-9589-DD93-8FFB-D3A0D4C24034}"/>
              </a:ext>
            </a:extLst>
          </p:cNvPr>
          <p:cNvSpPr txBox="1"/>
          <p:nvPr/>
        </p:nvSpPr>
        <p:spPr>
          <a:xfrm>
            <a:off x="2962970" y="1891918"/>
            <a:ext cx="36615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What is the outcome?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2134" y="2478426"/>
            <a:ext cx="6165796" cy="4028737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049430" y="6166131"/>
            <a:ext cx="1452520" cy="26703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cxnSp>
        <p:nvCxnSpPr>
          <p:cNvPr id="11" name="Elbow Connector 10"/>
          <p:cNvCxnSpPr>
            <a:stCxn id="4" idx="0"/>
          </p:cNvCxnSpPr>
          <p:nvPr/>
        </p:nvCxnSpPr>
        <p:spPr>
          <a:xfrm rot="5400000" flipH="1" flipV="1">
            <a:off x="5235064" y="4283193"/>
            <a:ext cx="2423565" cy="1342312"/>
          </a:xfrm>
          <a:prstGeom prst="bentConnector3">
            <a:avLst>
              <a:gd name="adj1" fmla="val 84057"/>
            </a:avLst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Elbow Connector 16"/>
          <p:cNvCxnSpPr>
            <a:stCxn id="4" idx="1"/>
          </p:cNvCxnSpPr>
          <p:nvPr/>
        </p:nvCxnSpPr>
        <p:spPr>
          <a:xfrm rot="10800000">
            <a:off x="2536854" y="5124868"/>
            <a:ext cx="2512577" cy="1174783"/>
          </a:xfrm>
          <a:prstGeom prst="bentConnector3">
            <a:avLst>
              <a:gd name="adj1" fmla="val 41143"/>
            </a:avLst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955748" y="2886248"/>
            <a:ext cx="2993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id again, creates confusion!</a:t>
            </a:r>
          </a:p>
        </p:txBody>
      </p:sp>
      <p:cxnSp>
        <p:nvCxnSpPr>
          <p:cNvPr id="22" name="Elbow Connector 21"/>
          <p:cNvCxnSpPr/>
          <p:nvPr/>
        </p:nvCxnSpPr>
        <p:spPr>
          <a:xfrm rot="10800000">
            <a:off x="6501951" y="3079020"/>
            <a:ext cx="2322415" cy="1213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lbow Connector 10">
            <a:extLst>
              <a:ext uri="{FF2B5EF4-FFF2-40B4-BE49-F238E27FC236}">
                <a16:creationId xmlns:a16="http://schemas.microsoft.com/office/drawing/2014/main" id="{3E4E154E-0C83-3762-ADCA-E617E3177E4A}"/>
              </a:ext>
            </a:extLst>
          </p:cNvPr>
          <p:cNvCxnSpPr>
            <a:cxnSpLocks/>
          </p:cNvCxnSpPr>
          <p:nvPr/>
        </p:nvCxnSpPr>
        <p:spPr>
          <a:xfrm rot="10800000">
            <a:off x="2536854" y="5124867"/>
            <a:ext cx="8094523" cy="90747"/>
          </a:xfrm>
          <a:prstGeom prst="bentConnector3">
            <a:avLst>
              <a:gd name="adj1" fmla="val 81805"/>
            </a:avLst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7822843"/>
      </p:ext>
    </p:extLst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30427" y="751445"/>
            <a:ext cx="29517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Inheritance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F57DC13-EC0A-1289-6AD4-19980F6F4BF9}"/>
              </a:ext>
            </a:extLst>
          </p:cNvPr>
          <p:cNvSpPr txBox="1"/>
          <p:nvPr/>
        </p:nvSpPr>
        <p:spPr>
          <a:xfrm>
            <a:off x="930427" y="1936242"/>
            <a:ext cx="1038326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Be carful with member variables and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inheritance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: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Easy to make a mistake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Redefinition of members (child) =&gt;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no error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Mixing up “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this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” and “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super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”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Methods in different inheritance levels access member vars, but:</a:t>
            </a:r>
          </a:p>
          <a:p>
            <a:pPr marR="0" lvl="1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Maybe “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this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” member vars in one method but “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super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” in other methods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Be consistent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F3A671-BC19-AF5B-1A2F-3104D7A3F5C9}"/>
              </a:ext>
            </a:extLst>
          </p:cNvPr>
          <p:cNvSpPr txBox="1"/>
          <p:nvPr/>
        </p:nvSpPr>
        <p:spPr>
          <a:xfrm>
            <a:off x="5799806" y="1166943"/>
            <a:ext cx="298350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this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and 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super</a:t>
            </a:r>
          </a:p>
        </p:txBody>
      </p:sp>
    </p:spTree>
    <p:extLst>
      <p:ext uri="{BB962C8B-B14F-4D97-AF65-F5344CB8AC3E}">
        <p14:creationId xmlns:p14="http://schemas.microsoft.com/office/powerpoint/2010/main" val="1097293736"/>
      </p:ext>
    </p:extLst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40621" y="749396"/>
            <a:ext cx="44587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Dependency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9171" y="4490043"/>
            <a:ext cx="10948831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Object of one class use an object of another class, but not obvious!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If the object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is not stored in any field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, then this is modeled as a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dependency relationship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2000" dirty="0">
              <a:solidFill>
                <a:srgbClr val="000000"/>
              </a:solidFill>
              <a:latin typeface="Arial" panose="020B0604020202020204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000" dirty="0">
                <a:solidFill>
                  <a:srgbClr val="000000"/>
                </a:solidFill>
                <a:latin typeface="Arial" panose="020B0604020202020204"/>
              </a:rPr>
              <a:t>But only if it is </a:t>
            </a:r>
            <a:r>
              <a:rPr lang="en-US" sz="2000" b="1" dirty="0">
                <a:solidFill>
                  <a:srgbClr val="FF0000"/>
                </a:solidFill>
                <a:latin typeface="Arial" panose="020B0604020202020204"/>
              </a:rPr>
              <a:t>important</a:t>
            </a:r>
            <a:r>
              <a:rPr lang="en-US" sz="2000" dirty="0">
                <a:solidFill>
                  <a:srgbClr val="000000"/>
                </a:solidFill>
                <a:latin typeface="Arial" panose="020B0604020202020204"/>
              </a:rPr>
              <a:t> because it is redesigned a lot and created errors in the past.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Person has no member “Book”!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2088" y="3089400"/>
            <a:ext cx="4626550" cy="96885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309351" y="1753282"/>
            <a:ext cx="465063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one element depends on another element.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to indicate that a change of one might require </a:t>
            </a:r>
            <a:b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 change to the other.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4041026" y="3754732"/>
            <a:ext cx="368604" cy="18488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91183045"/>
      </p:ext>
    </p:extLst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73316" y="734873"/>
            <a:ext cx="646149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Unidirectional Association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11735" y="1706155"/>
            <a:ext cx="5284951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One way association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An object store another object in a field. </a:t>
            </a:r>
            <a:b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For example: people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own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books, </a:t>
            </a:r>
            <a:b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modeled by an owns field in Person objects. </a:t>
            </a:r>
            <a:b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 book be owned by many people, </a:t>
            </a:r>
            <a:b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so reverse direction is not modeled. 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4871" y="4202630"/>
            <a:ext cx="4218325" cy="10450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68277" y="3749419"/>
            <a:ext cx="14282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Cardinality: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1623" y="4173464"/>
            <a:ext cx="1654672" cy="2198972"/>
          </a:xfrm>
          <a:prstGeom prst="rect">
            <a:avLst/>
          </a:prstGeom>
        </p:spPr>
      </p:pic>
      <p:cxnSp>
        <p:nvCxnSpPr>
          <p:cNvPr id="8" name="Straight Arrow Connector 7"/>
          <p:cNvCxnSpPr>
            <a:cxnSpLocks/>
          </p:cNvCxnSpPr>
          <p:nvPr/>
        </p:nvCxnSpPr>
        <p:spPr>
          <a:xfrm flipH="1" flipV="1">
            <a:off x="5840083" y="4725158"/>
            <a:ext cx="3328194" cy="5225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cxnSpLocks/>
          </p:cNvCxnSpPr>
          <p:nvPr/>
        </p:nvCxnSpPr>
        <p:spPr>
          <a:xfrm flipH="1" flipV="1">
            <a:off x="4390845" y="4725158"/>
            <a:ext cx="4777432" cy="5225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4440741"/>
      </p:ext>
    </p:extLst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21180" y="767987"/>
            <a:ext cx="646149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Bidirectional Association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70219" y="2200600"/>
            <a:ext cx="460094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Both classes/objects knows each other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737" y="3130255"/>
            <a:ext cx="4691866" cy="1017841"/>
          </a:xfrm>
          <a:prstGeom prst="rect">
            <a:avLst/>
          </a:prstGeom>
        </p:spPr>
      </p:pic>
      <p:cxnSp>
        <p:nvCxnSpPr>
          <p:cNvPr id="6" name="Straight Arrow Connector 5"/>
          <p:cNvCxnSpPr/>
          <p:nvPr/>
        </p:nvCxnSpPr>
        <p:spPr>
          <a:xfrm flipV="1">
            <a:off x="5363670" y="3871823"/>
            <a:ext cx="588022" cy="8094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H="1" flipV="1">
            <a:off x="4592230" y="3912283"/>
            <a:ext cx="513844" cy="7689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628644" y="4674722"/>
            <a:ext cx="14029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How many?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454461A-3B59-3223-9A37-967C19CA42CE}"/>
              </a:ext>
            </a:extLst>
          </p:cNvPr>
          <p:cNvSpPr txBox="1"/>
          <p:nvPr/>
        </p:nvSpPr>
        <p:spPr>
          <a:xfrm>
            <a:off x="7871159" y="3316009"/>
            <a:ext cx="41857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Old library example where the previous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renters been listed in a table</a:t>
            </a:r>
          </a:p>
        </p:txBody>
      </p:sp>
    </p:spTree>
    <p:extLst>
      <p:ext uri="{BB962C8B-B14F-4D97-AF65-F5344CB8AC3E}">
        <p14:creationId xmlns:p14="http://schemas.microsoft.com/office/powerpoint/2010/main" val="2378335203"/>
      </p:ext>
    </p:extLst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43330" y="745682"/>
            <a:ext cx="391301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Interface (Java)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69" y="2091789"/>
            <a:ext cx="4446931" cy="379921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908A7B8-C595-9FE5-D0FF-1FB6244B8D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0225" y="978274"/>
            <a:ext cx="4596099" cy="239821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9B19772-9933-422C-3258-F4D553333B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0225" y="3826978"/>
            <a:ext cx="4655171" cy="2064025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AF9F59D6-982F-19C7-06B9-1FE28C20E567}"/>
              </a:ext>
            </a:extLst>
          </p:cNvPr>
          <p:cNvCxnSpPr>
            <a:cxnSpLocks/>
          </p:cNvCxnSpPr>
          <p:nvPr/>
        </p:nvCxnSpPr>
        <p:spPr>
          <a:xfrm rot="16200000" flipV="1">
            <a:off x="8872007" y="2231814"/>
            <a:ext cx="2329614" cy="773123"/>
          </a:xfrm>
          <a:prstGeom prst="bentConnector3">
            <a:avLst>
              <a:gd name="adj1" fmla="val 100201"/>
            </a:avLst>
          </a:prstGeom>
          <a:ln w="1905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3A9E311B-2CF2-F7B0-D1BE-F6011315294E}"/>
              </a:ext>
            </a:extLst>
          </p:cNvPr>
          <p:cNvSpPr txBox="1"/>
          <p:nvPr/>
        </p:nvSpPr>
        <p:spPr>
          <a:xfrm>
            <a:off x="4409144" y="1740795"/>
            <a:ext cx="275889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Interface: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Contract to implement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certain functions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Multiple interfaces can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be used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Cannot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create an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object with it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Methods -&gt;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no body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No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constructor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Attributes are by default: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public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static 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rgbClr val="000000"/>
                </a:solidFill>
                <a:latin typeface="Arial" panose="020B0604020202020204"/>
              </a:rPr>
              <a:t>f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inal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Can simulate multi-inheritance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A99807-48CF-7E02-E156-A760D6F98E22}"/>
              </a:ext>
            </a:extLst>
          </p:cNvPr>
          <p:cNvSpPr txBox="1"/>
          <p:nvPr/>
        </p:nvSpPr>
        <p:spPr>
          <a:xfrm>
            <a:off x="7295578" y="6137831"/>
            <a:ext cx="32880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Little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Exceptions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introduction:</a:t>
            </a:r>
          </a:p>
        </p:txBody>
      </p: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46F1378D-151E-4048-2B23-E2845DCB965D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8310052" y="5704210"/>
            <a:ext cx="608292" cy="32180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93570831-F60D-C0CF-C17A-28B05D1D3D2E}"/>
              </a:ext>
            </a:extLst>
          </p:cNvPr>
          <p:cNvCxnSpPr/>
          <p:nvPr/>
        </p:nvCxnSpPr>
        <p:spPr>
          <a:xfrm rot="5400000" flipH="1" flipV="1">
            <a:off x="9429340" y="4490732"/>
            <a:ext cx="3082994" cy="584745"/>
          </a:xfrm>
          <a:prstGeom prst="bentConnector3">
            <a:avLst>
              <a:gd name="adj1" fmla="val -2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2155810"/>
      </p:ext>
    </p:extLst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33936" y="743420"/>
            <a:ext cx="49909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Interface Example: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60BB9FF-0614-6E7B-5E7A-14BFCFB4EC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0914" y="2061836"/>
            <a:ext cx="6548029" cy="233381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A07057A-910C-C0AB-5126-5FF59CB0E3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4088" y="4775376"/>
            <a:ext cx="4848875" cy="1503765"/>
          </a:xfrm>
          <a:prstGeom prst="rect">
            <a:avLst/>
          </a:prstGeom>
        </p:spPr>
      </p:pic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6485FC4D-1A4A-C160-6B5E-BA9DA2A2D13D}"/>
              </a:ext>
            </a:extLst>
          </p:cNvPr>
          <p:cNvCxnSpPr>
            <a:cxnSpLocks/>
          </p:cNvCxnSpPr>
          <p:nvPr/>
        </p:nvCxnSpPr>
        <p:spPr>
          <a:xfrm rot="16200000" flipH="1">
            <a:off x="6296805" y="4526871"/>
            <a:ext cx="1675742" cy="400292"/>
          </a:xfrm>
          <a:prstGeom prst="bentConnector3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E05A88AC-AD99-8C80-B0BA-6AE2C56A32BA}"/>
              </a:ext>
            </a:extLst>
          </p:cNvPr>
          <p:cNvCxnSpPr>
            <a:cxnSpLocks/>
          </p:cNvCxnSpPr>
          <p:nvPr/>
        </p:nvCxnSpPr>
        <p:spPr>
          <a:xfrm rot="5400000">
            <a:off x="4095179" y="3463340"/>
            <a:ext cx="3068931" cy="1510916"/>
          </a:xfrm>
          <a:prstGeom prst="bentConnector3">
            <a:avLst>
              <a:gd name="adj1" fmla="val 50000"/>
            </a:avLst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2325013"/>
      </p:ext>
    </p:extLst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87182" y="746699"/>
            <a:ext cx="54148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Abstract Class (Java)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A9E311B-2CF2-F7B0-D1BE-F6011315294E}"/>
              </a:ext>
            </a:extLst>
          </p:cNvPr>
          <p:cNvSpPr txBox="1"/>
          <p:nvPr/>
        </p:nvSpPr>
        <p:spPr>
          <a:xfrm>
            <a:off x="4485674" y="2080589"/>
            <a:ext cx="275889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Abstract class: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Contract to implement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certain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functions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Cannot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create an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object with it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Some methods -&gt; 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no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body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UML </a:t>
            </a: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Italic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Can have </a:t>
            </a: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constructor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Can contain (members):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instance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static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constant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41B6321-124D-F7D2-4C1D-20A150A6D3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401" y="1787451"/>
            <a:ext cx="3440999" cy="410355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B5C8E25-21BF-F2CC-4E01-662B3A3404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0723" y="874396"/>
            <a:ext cx="4449646" cy="182610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75E83A4-99EE-E24F-DF6B-377DD27DCD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2858" y="3565539"/>
            <a:ext cx="4791075" cy="2819400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96E39D34-F019-4660-C7EE-E66D63C65720}"/>
              </a:ext>
            </a:extLst>
          </p:cNvPr>
          <p:cNvCxnSpPr>
            <a:cxnSpLocks/>
          </p:cNvCxnSpPr>
          <p:nvPr/>
        </p:nvCxnSpPr>
        <p:spPr>
          <a:xfrm>
            <a:off x="6514609" y="3292461"/>
            <a:ext cx="4093216" cy="820377"/>
          </a:xfrm>
          <a:prstGeom prst="bentConnector3">
            <a:avLst>
              <a:gd name="adj1" fmla="val 112512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0E528EEE-E0C5-04CA-4AB5-8DD198F9AC07}"/>
              </a:ext>
            </a:extLst>
          </p:cNvPr>
          <p:cNvCxnSpPr>
            <a:cxnSpLocks/>
          </p:cNvCxnSpPr>
          <p:nvPr/>
        </p:nvCxnSpPr>
        <p:spPr>
          <a:xfrm rot="16200000" flipV="1">
            <a:off x="8548382" y="1835751"/>
            <a:ext cx="2545180" cy="914397"/>
          </a:xfrm>
          <a:prstGeom prst="bentConnector3">
            <a:avLst>
              <a:gd name="adj1" fmla="val 93328"/>
            </a:avLst>
          </a:prstGeom>
          <a:ln w="1905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6189952"/>
      </p:ext>
    </p:extLst>
  </p:cSld>
  <p:clrMapOvr>
    <a:masterClrMapping/>
  </p:clrMapOvr>
  <p:transition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5578" y="1789166"/>
            <a:ext cx="8215632" cy="475700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TextBox 2"/>
          <p:cNvSpPr txBox="1"/>
          <p:nvPr/>
        </p:nvSpPr>
        <p:spPr>
          <a:xfrm>
            <a:off x="1009410" y="772319"/>
            <a:ext cx="71209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Constructors (by the way …)</a:t>
            </a:r>
          </a:p>
        </p:txBody>
      </p:sp>
      <p:cxnSp>
        <p:nvCxnSpPr>
          <p:cNvPr id="7" name="Straight Arrow Connector 6"/>
          <p:cNvCxnSpPr>
            <a:cxnSpLocks/>
            <a:stCxn id="8" idx="3"/>
          </p:cNvCxnSpPr>
          <p:nvPr/>
        </p:nvCxnSpPr>
        <p:spPr>
          <a:xfrm flipV="1">
            <a:off x="1750790" y="2950234"/>
            <a:ext cx="854387" cy="29062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76082" y="3056194"/>
            <a:ext cx="12747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Not public!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6116" y="4032901"/>
            <a:ext cx="132600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Call parent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constructor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first</a:t>
            </a:r>
          </a:p>
        </p:txBody>
      </p:sp>
      <p:cxnSp>
        <p:nvCxnSpPr>
          <p:cNvPr id="16" name="Straight Arrow Connector 15"/>
          <p:cNvCxnSpPr>
            <a:cxnSpLocks/>
            <a:stCxn id="15" idx="3"/>
          </p:cNvCxnSpPr>
          <p:nvPr/>
        </p:nvCxnSpPr>
        <p:spPr>
          <a:xfrm flipV="1">
            <a:off x="1822120" y="4032901"/>
            <a:ext cx="1179872" cy="46166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0896030"/>
      </p:ext>
    </p:extLst>
  </p:cSld>
  <p:clrMapOvr>
    <a:masterClrMapping/>
  </p:clrMapOvr>
  <p:transition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71404" y="774772"/>
            <a:ext cx="54148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Group exercise: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5F1C538-D8A9-81DD-2371-187BA56F742D}"/>
              </a:ext>
            </a:extLst>
          </p:cNvPr>
          <p:cNvSpPr txBox="1"/>
          <p:nvPr/>
        </p:nvSpPr>
        <p:spPr>
          <a:xfrm>
            <a:off x="1131982" y="2008240"/>
            <a:ext cx="1023785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15 to 20 minutes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Create classes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Use the banking example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75063443"/>
      </p:ext>
    </p:extLst>
  </p:cSld>
  <p:clrMapOvr>
    <a:masterClrMapping/>
  </p:clrMapOvr>
  <p:transition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DA25F2-3AE0-BDCF-0880-EDD5EEF55E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E57A2-3A61-C5F8-EEFD-EA296178433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… to here …</a:t>
            </a:r>
          </a:p>
        </p:txBody>
      </p:sp>
    </p:spTree>
    <p:extLst>
      <p:ext uri="{BB962C8B-B14F-4D97-AF65-F5344CB8AC3E}">
        <p14:creationId xmlns:p14="http://schemas.microsoft.com/office/powerpoint/2010/main" val="281562403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44217" y="2290046"/>
            <a:ext cx="10555357" cy="1378942"/>
          </a:xfrm>
        </p:spPr>
        <p:txBody>
          <a:bodyPr rtlCol="0">
            <a:normAutofit/>
          </a:bodyPr>
          <a:lstStyle/>
          <a:p>
            <a:pPr>
              <a:defRPr/>
            </a:pPr>
            <a:r>
              <a:rPr lang="en-US" dirty="0"/>
              <a:t>Polymorphism</a:t>
            </a:r>
          </a:p>
        </p:txBody>
      </p:sp>
      <p:sp>
        <p:nvSpPr>
          <p:cNvPr id="5123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  <a:endParaRPr kumimoji="0" lang="en-US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4985822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49501" y="756285"/>
            <a:ext cx="3578383" cy="838200"/>
          </a:xfrm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 altLang="en-US" dirty="0"/>
              <a:t>Polymorphism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>
          <a:xfrm>
            <a:off x="949501" y="1983435"/>
            <a:ext cx="10428362" cy="4670028"/>
          </a:xfrm>
        </p:spPr>
        <p:txBody>
          <a:bodyPr>
            <a:normAutofit lnSpcReduction="10000"/>
          </a:bodyPr>
          <a:lstStyle/>
          <a:p>
            <a:pPr eaLnBrk="1" hangingPunct="1">
              <a:buFont typeface="Arial" charset="0"/>
              <a:buChar char="•"/>
              <a:defRPr/>
            </a:pPr>
            <a:r>
              <a:rPr lang="en-US" altLang="en-US" dirty="0"/>
              <a:t>Polymorphism is the ability of an object to take on </a:t>
            </a:r>
            <a:r>
              <a:rPr lang="en-US" altLang="en-US" b="1" dirty="0">
                <a:solidFill>
                  <a:srgbClr val="92D050"/>
                </a:solidFill>
              </a:rPr>
              <a:t>many</a:t>
            </a:r>
            <a:r>
              <a:rPr lang="en-US" altLang="en-US" dirty="0"/>
              <a:t> forms. </a:t>
            </a:r>
          </a:p>
          <a:p>
            <a:pPr eaLnBrk="1" hangingPunct="1">
              <a:buFont typeface="Arial" charset="0"/>
              <a:buChar char="•"/>
              <a:defRPr/>
            </a:pPr>
            <a:endParaRPr lang="en-US" altLang="en-US" dirty="0"/>
          </a:p>
          <a:p>
            <a:pPr eaLnBrk="1" hangingPunct="1">
              <a:buFont typeface="Arial" charset="0"/>
              <a:buChar char="•"/>
              <a:defRPr/>
            </a:pPr>
            <a:r>
              <a:rPr lang="en-US" altLang="en-US" dirty="0"/>
              <a:t>Most common in OOP when a </a:t>
            </a:r>
            <a:r>
              <a:rPr lang="en-US" altLang="en-US" b="1" dirty="0">
                <a:solidFill>
                  <a:srgbClr val="0000FF"/>
                </a:solidFill>
              </a:rPr>
              <a:t>parent</a:t>
            </a:r>
            <a:r>
              <a:rPr lang="en-US" altLang="en-US" dirty="0"/>
              <a:t> class reference to a </a:t>
            </a:r>
            <a:r>
              <a:rPr lang="en-US" altLang="en-US" b="1" dirty="0">
                <a:solidFill>
                  <a:srgbClr val="92D050"/>
                </a:solidFill>
              </a:rPr>
              <a:t>child</a:t>
            </a:r>
            <a:r>
              <a:rPr lang="en-US" altLang="en-US" dirty="0"/>
              <a:t>.</a:t>
            </a:r>
          </a:p>
          <a:p>
            <a:pPr eaLnBrk="1" hangingPunct="1">
              <a:buFont typeface="Arial" charset="0"/>
              <a:buChar char="•"/>
              <a:defRPr/>
            </a:pPr>
            <a:endParaRPr lang="en-US" altLang="en-US" dirty="0"/>
          </a:p>
          <a:p>
            <a:pPr eaLnBrk="1" hangingPunct="1">
              <a:buFont typeface="Arial" charset="0"/>
              <a:buChar char="•"/>
              <a:defRPr/>
            </a:pPr>
            <a:r>
              <a:rPr lang="en-US" altLang="en-US" dirty="0"/>
              <a:t>It allows treating objects of a derived (</a:t>
            </a:r>
            <a:r>
              <a:rPr lang="en-US" altLang="en-US" b="1" dirty="0">
                <a:solidFill>
                  <a:srgbClr val="92D050"/>
                </a:solidFill>
              </a:rPr>
              <a:t>child</a:t>
            </a:r>
            <a:r>
              <a:rPr lang="en-US" altLang="en-US" dirty="0"/>
              <a:t>) class as objects </a:t>
            </a:r>
            <a:br>
              <a:rPr lang="en-US" altLang="en-US" dirty="0"/>
            </a:br>
            <a:r>
              <a:rPr lang="en-US" altLang="en-US" dirty="0"/>
              <a:t>of its base (</a:t>
            </a:r>
            <a:r>
              <a:rPr lang="en-US" altLang="en-US" b="1" dirty="0">
                <a:solidFill>
                  <a:srgbClr val="0000FF"/>
                </a:solidFill>
              </a:rPr>
              <a:t>parent</a:t>
            </a:r>
            <a:r>
              <a:rPr lang="en-US" altLang="en-US" dirty="0"/>
              <a:t>) class.</a:t>
            </a:r>
          </a:p>
          <a:p>
            <a:pPr eaLnBrk="1" hangingPunct="1">
              <a:buFont typeface="Arial" charset="0"/>
              <a:buChar char="•"/>
              <a:defRPr/>
            </a:pPr>
            <a:endParaRPr lang="en-US" altLang="en-US" dirty="0"/>
          </a:p>
          <a:p>
            <a:pPr eaLnBrk="1" hangingPunct="1">
              <a:buFont typeface="Arial" charset="0"/>
              <a:buChar char="•"/>
              <a:defRPr/>
            </a:pPr>
            <a:r>
              <a:rPr lang="en-US" altLang="en-US" dirty="0"/>
              <a:t>Late binding, runtime binding, … </a:t>
            </a:r>
          </a:p>
          <a:p>
            <a:pPr eaLnBrk="1" hangingPunct="1">
              <a:buFont typeface="Arial" charset="0"/>
              <a:buChar char="•"/>
              <a:defRPr/>
            </a:pPr>
            <a:endParaRPr lang="en-US" altLang="en-US" dirty="0"/>
          </a:p>
          <a:p>
            <a:pPr eaLnBrk="1" hangingPunct="1">
              <a:buFont typeface="Arial" charset="0"/>
              <a:buChar char="•"/>
              <a:defRPr/>
            </a:pPr>
            <a:r>
              <a:rPr lang="en-US" altLang="en-US" dirty="0"/>
              <a:t>(In C++ virtual functions)</a:t>
            </a:r>
          </a:p>
          <a:p>
            <a:pPr marL="0" indent="0">
              <a:buNone/>
              <a:defRPr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134653447"/>
      </p:ext>
    </p:extLst>
  </p:cSld>
  <p:clrMapOvr>
    <a:masterClrMapping/>
  </p:clrMapOvr>
  <p:transition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>
          <a:xfrm>
            <a:off x="940527" y="753203"/>
            <a:ext cx="8143315" cy="694598"/>
          </a:xfrm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en-US" dirty="0"/>
              <a:t>Polymorphism – Standard example! </a:t>
            </a:r>
          </a:p>
        </p:txBody>
      </p:sp>
      <p:sp>
        <p:nvSpPr>
          <p:cNvPr id="23556" name="Slide Number Placeholder 3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B99AF045-CF3F-F3D8-8C00-23C58A9245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2926" y="2006981"/>
            <a:ext cx="9983771" cy="4097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451784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>
          <a:xfrm>
            <a:off x="936515" y="749018"/>
            <a:ext cx="7076517" cy="614388"/>
          </a:xfrm>
          <a:ln>
            <a:miter lim="800000"/>
            <a:headEnd/>
            <a:tailEnd/>
          </a:ln>
        </p:spPr>
        <p:txBody>
          <a:bodyPr>
            <a:normAutofit/>
          </a:bodyPr>
          <a:lstStyle/>
          <a:p>
            <a:r>
              <a:rPr lang="en-US" altLang="en-US" dirty="0"/>
              <a:t>Polymorphism – Bank Example </a:t>
            </a:r>
          </a:p>
        </p:txBody>
      </p:sp>
      <p:sp>
        <p:nvSpPr>
          <p:cNvPr id="23556" name="Slide Number Placeholder 3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BC23C66-D1CC-34B1-91B7-795F9B76D4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167" y="1680652"/>
            <a:ext cx="9702335" cy="478383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4A40DD9-1B21-CD31-7FD6-6EBEB6DE3CA4}"/>
              </a:ext>
            </a:extLst>
          </p:cNvPr>
          <p:cNvSpPr/>
          <p:nvPr/>
        </p:nvSpPr>
        <p:spPr>
          <a:xfrm>
            <a:off x="1503774" y="6024160"/>
            <a:ext cx="8166438" cy="145204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noFill/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893F610-D42B-B294-605C-A61688D2E8F6}"/>
              </a:ext>
            </a:extLst>
          </p:cNvPr>
          <p:cNvSpPr/>
          <p:nvPr/>
        </p:nvSpPr>
        <p:spPr>
          <a:xfrm>
            <a:off x="5136913" y="3927367"/>
            <a:ext cx="1519421" cy="145204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noFill/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9489816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>
          <a:xfrm>
            <a:off x="944537" y="749193"/>
            <a:ext cx="2889526" cy="822934"/>
          </a:xfrm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en-US" dirty="0"/>
              <a:t>Exercise: </a:t>
            </a:r>
          </a:p>
        </p:txBody>
      </p:sp>
      <p:sp>
        <p:nvSpPr>
          <p:cNvPr id="23556" name="Slide Number Placeholder 3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34D4EB-DED8-05B3-B75A-A5F9A6819056}"/>
              </a:ext>
            </a:extLst>
          </p:cNvPr>
          <p:cNvSpPr txBox="1"/>
          <p:nvPr/>
        </p:nvSpPr>
        <p:spPr>
          <a:xfrm>
            <a:off x="1251904" y="2696106"/>
            <a:ext cx="44550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Give an useful polymorphism example …</a:t>
            </a:r>
          </a:p>
        </p:txBody>
      </p:sp>
    </p:spTree>
    <p:extLst>
      <p:ext uri="{BB962C8B-B14F-4D97-AF65-F5344CB8AC3E}">
        <p14:creationId xmlns:p14="http://schemas.microsoft.com/office/powerpoint/2010/main" val="422289940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44217" y="2290046"/>
            <a:ext cx="10555357" cy="1378942"/>
          </a:xfrm>
        </p:spPr>
        <p:txBody>
          <a:bodyPr rtlCol="0">
            <a:normAutofit/>
          </a:bodyPr>
          <a:lstStyle/>
          <a:p>
            <a:pPr>
              <a:defRPr/>
            </a:pPr>
            <a:r>
              <a:rPr lang="en-US" dirty="0"/>
              <a:t>Done</a:t>
            </a:r>
          </a:p>
        </p:txBody>
      </p:sp>
      <p:sp>
        <p:nvSpPr>
          <p:cNvPr id="5123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1AA101E-127A-4DAF-B4E5-EFA483F29B1E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60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230638"/>
      </p:ext>
    </p:extLst>
  </p:cSld>
  <p:clrMapOvr>
    <a:masterClrMapping/>
  </p:clrMapOvr>
</p:sld>
</file>

<file path=ppt/theme/theme1.xml><?xml version="1.0" encoding="utf-8"?>
<a:theme xmlns:a="http://schemas.openxmlformats.org/drawingml/2006/main" name="SCUTemplate">
  <a:themeElements>
    <a:clrScheme name="Santa Clara Powerpoint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96641"/>
      </a:accent1>
      <a:accent2>
        <a:srgbClr val="495764"/>
      </a:accent2>
      <a:accent3>
        <a:srgbClr val="71001B"/>
      </a:accent3>
      <a:accent4>
        <a:srgbClr val="FFC000"/>
      </a:accent4>
      <a:accent5>
        <a:srgbClr val="9D9B7B"/>
      </a:accent5>
      <a:accent6>
        <a:srgbClr val="759C9A"/>
      </a:accent6>
      <a:hlink>
        <a:srgbClr val="9E1B32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N912.pptx" id="{30FD953E-F8CF-43B1-AE2C-113081E30BF0}" vid="{F0B77AA3-1BFC-4F21-AA5C-47F762EA0811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N912.pptx" id="{30FD953E-F8CF-43B1-AE2C-113081E30BF0}" vid="{C2E27841-7055-4EC2-8474-90BDE5ACE175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SCUTemplate</Template>
  <TotalTime>881</TotalTime>
  <Words>1944</Words>
  <Application>Microsoft Office PowerPoint</Application>
  <PresentationFormat>Widescreen</PresentationFormat>
  <Paragraphs>484</Paragraphs>
  <Slides>60</Slides>
  <Notes>6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9" baseType="lpstr">
      <vt:lpstr>Arial</vt:lpstr>
      <vt:lpstr>Arial Narrow</vt:lpstr>
      <vt:lpstr>Calibri</vt:lpstr>
      <vt:lpstr>Garamond</vt:lpstr>
      <vt:lpstr>Open Sans</vt:lpstr>
      <vt:lpstr>Times New Roman</vt:lpstr>
      <vt:lpstr>SCUTemplate</vt:lpstr>
      <vt:lpstr>Custom Design</vt:lpstr>
      <vt:lpstr>Chart</vt:lpstr>
      <vt:lpstr>CSEN160</vt:lpstr>
      <vt:lpstr>PowerPoint Presentation</vt:lpstr>
      <vt:lpstr>Why Object Oriented?</vt:lpstr>
      <vt:lpstr>OOA, OOD &amp; OOP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Basics of Object-Oriented Programming</vt:lpstr>
      <vt:lpstr>Key phases in OO application development</vt:lpstr>
      <vt:lpstr>Object-Oriented Principles</vt:lpstr>
      <vt:lpstr>Major components of an Object Model</vt:lpstr>
      <vt:lpstr>Evolution Of Object Model</vt:lpstr>
      <vt:lpstr>Benefits of the Object Model</vt:lpstr>
      <vt:lpstr>More Vocabulary of OO systems </vt:lpstr>
      <vt:lpstr>Basic IntelliJ examples:</vt:lpstr>
      <vt:lpstr>Object-Oriented  Bank Account Example</vt:lpstr>
      <vt:lpstr>An Object-Oriented (OO) System</vt:lpstr>
      <vt:lpstr>An Object-Oriented System</vt:lpstr>
      <vt:lpstr>An Object-Oriented System</vt:lpstr>
      <vt:lpstr>Objects </vt:lpstr>
      <vt:lpstr>What are Objects?</vt:lpstr>
      <vt:lpstr>What are objects?</vt:lpstr>
      <vt:lpstr>What are objects?</vt:lpstr>
      <vt:lpstr>What are objects?</vt:lpstr>
      <vt:lpstr>Objects = data + methods</vt:lpstr>
      <vt:lpstr>Class and inheritance</vt:lpstr>
      <vt:lpstr>What is a class</vt:lpstr>
      <vt:lpstr>Class vs Object</vt:lpstr>
      <vt:lpstr>Encapsulation Information Hiding</vt:lpstr>
      <vt:lpstr>Information hiding</vt:lpstr>
      <vt:lpstr>Encapsulation</vt:lpstr>
      <vt:lpstr>Class Diagram (continue)</vt:lpstr>
      <vt:lpstr>Hierarchy</vt:lpstr>
      <vt:lpstr>Inheritance (is-a hierarchy)</vt:lpstr>
      <vt:lpstr>Class diagram (Visio)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… to here …</vt:lpstr>
      <vt:lpstr>Polymorphism</vt:lpstr>
      <vt:lpstr>Polymorphism</vt:lpstr>
      <vt:lpstr>Polymorphism – Standard example! </vt:lpstr>
      <vt:lpstr>Polymorphism – Bank Example </vt:lpstr>
      <vt:lpstr>Exercise: </vt:lpstr>
      <vt:lpstr>Done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Outline</dc:title>
  <dc:creator>Michael Schimpf</dc:creator>
  <cp:lastModifiedBy>Michael Schimpf</cp:lastModifiedBy>
  <cp:revision>115</cp:revision>
  <cp:lastPrinted>2023-09-11T21:46:56Z</cp:lastPrinted>
  <dcterms:created xsi:type="dcterms:W3CDTF">2023-09-09T19:51:41Z</dcterms:created>
  <dcterms:modified xsi:type="dcterms:W3CDTF">2026-10-05T20:24:22Z</dcterms:modified>
</cp:coreProperties>
</file>