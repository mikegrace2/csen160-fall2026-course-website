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62"/>
  </p:notesMasterIdLst>
  <p:handoutMasterIdLst>
    <p:handoutMasterId r:id="rId63"/>
  </p:handoutMasterIdLst>
  <p:sldIdLst>
    <p:sldId id="333" r:id="rId3"/>
    <p:sldId id="431" r:id="rId4"/>
    <p:sldId id="432" r:id="rId5"/>
    <p:sldId id="420" r:id="rId6"/>
    <p:sldId id="421" r:id="rId7"/>
    <p:sldId id="422" r:id="rId8"/>
    <p:sldId id="423" r:id="rId9"/>
    <p:sldId id="424" r:id="rId10"/>
    <p:sldId id="425" r:id="rId11"/>
    <p:sldId id="430" r:id="rId12"/>
    <p:sldId id="360" r:id="rId13"/>
    <p:sldId id="375" r:id="rId14"/>
    <p:sldId id="286" r:id="rId15"/>
    <p:sldId id="374" r:id="rId16"/>
    <p:sldId id="377" r:id="rId17"/>
    <p:sldId id="378" r:id="rId18"/>
    <p:sldId id="298" r:id="rId19"/>
    <p:sldId id="433" r:id="rId20"/>
    <p:sldId id="388" r:id="rId21"/>
    <p:sldId id="362" r:id="rId22"/>
    <p:sldId id="363" r:id="rId23"/>
    <p:sldId id="361" r:id="rId24"/>
    <p:sldId id="290" r:id="rId25"/>
    <p:sldId id="364" r:id="rId26"/>
    <p:sldId id="365" r:id="rId27"/>
    <p:sldId id="366" r:id="rId28"/>
    <p:sldId id="367" r:id="rId29"/>
    <p:sldId id="368" r:id="rId30"/>
    <p:sldId id="380" r:id="rId31"/>
    <p:sldId id="369" r:id="rId32"/>
    <p:sldId id="371" r:id="rId33"/>
    <p:sldId id="381" r:id="rId34"/>
    <p:sldId id="370" r:id="rId35"/>
    <p:sldId id="287" r:id="rId36"/>
    <p:sldId id="393" r:id="rId37"/>
    <p:sldId id="394" r:id="rId38"/>
    <p:sldId id="395" r:id="rId39"/>
    <p:sldId id="396" r:id="rId40"/>
    <p:sldId id="397" r:id="rId41"/>
    <p:sldId id="435" r:id="rId42"/>
    <p:sldId id="436" r:id="rId43"/>
    <p:sldId id="398" r:id="rId44"/>
    <p:sldId id="399" r:id="rId45"/>
    <p:sldId id="400" r:id="rId46"/>
    <p:sldId id="401" r:id="rId47"/>
    <p:sldId id="402" r:id="rId48"/>
    <p:sldId id="403" r:id="rId49"/>
    <p:sldId id="404" r:id="rId50"/>
    <p:sldId id="405" r:id="rId51"/>
    <p:sldId id="406" r:id="rId52"/>
    <p:sldId id="407" r:id="rId53"/>
    <p:sldId id="408" r:id="rId54"/>
    <p:sldId id="409" r:id="rId55"/>
    <p:sldId id="410" r:id="rId56"/>
    <p:sldId id="414" r:id="rId57"/>
    <p:sldId id="415" r:id="rId58"/>
    <p:sldId id="416" r:id="rId59"/>
    <p:sldId id="418" r:id="rId60"/>
    <p:sldId id="419" r:id="rId6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8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79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3532ECB-D9D2-4A06-A4A9-4FCCF7B35F41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428742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807C462-5D86-40EE-8B15-1E0F1198A2D2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101201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18C831-FF89-4CEE-831F-73EE9D5B989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3482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921E668-922D-4170-A485-784946DE013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062342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0A215FB-F7D6-4B56-A018-3334257D8F5B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4764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18C831-FF89-4CEE-831F-73EE9D5B989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765175" y="788988"/>
            <a:ext cx="5494338" cy="3090862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539237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solidFill>
                  <a:srgbClr val="002060"/>
                </a:solidFill>
              </a:defRPr>
            </a:lvl1pPr>
            <a:lvl2pPr>
              <a:defRPr sz="24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56F1-AD33-45CA-85C7-DC330226D9FE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324601"/>
            <a:ext cx="2844800" cy="365125"/>
          </a:xfrm>
        </p:spPr>
        <p:txBody>
          <a:bodyPr/>
          <a:lstStyle/>
          <a:p>
            <a:pPr algn="l"/>
            <a:fld id="{4FBCB832-F407-431A-BE08-B640AFF97906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120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94DD4-5043-4A3A-99E2-3B90AB8E4ADF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482688-28AB-45F1-92FC-1F2EF8C090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3645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8F5A0C9-BF71-4B49-BF30-72A41E0910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5018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9" r:id="rId13"/>
    <p:sldLayoutId id="2147483680" r:id="rId14"/>
    <p:sldLayoutId id="2147483682" r:id="rId15"/>
    <p:sldLayoutId id="2147483683" r:id="rId16"/>
    <p:sldLayoutId id="2147483684" r:id="rId17"/>
    <p:sldLayoutId id="2147483685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854319" y="2874270"/>
            <a:ext cx="8661281" cy="907655"/>
          </a:xfrm>
        </p:spPr>
        <p:txBody>
          <a:bodyPr>
            <a:normAutofit fontScale="92500"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4000" b="1" dirty="0">
                <a:solidFill>
                  <a:srgbClr val="800000"/>
                </a:solidFill>
                <a:cs typeface="Times New Roman" panose="02020603050405020304" pitchFamily="18" charset="0"/>
              </a:rPr>
              <a:t>Why Object Oriented Software Development?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994927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930690" y="1555269"/>
            <a:ext cx="10423110" cy="5086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b="1" dirty="0"/>
              <a:t>OO is actual amazing because:</a:t>
            </a:r>
          </a:p>
          <a:p>
            <a:pPr marL="0" indent="0">
              <a:buNone/>
            </a:pPr>
            <a:endParaRPr lang="en-US" altLang="en-US" sz="2400" dirty="0"/>
          </a:p>
          <a:p>
            <a:r>
              <a:rPr lang="en-US" altLang="en-US" sz="2400" dirty="0"/>
              <a:t>Classes/object dot notation:</a:t>
            </a:r>
          </a:p>
          <a:p>
            <a:endParaRPr lang="en-US" altLang="en-US" sz="2400" dirty="0"/>
          </a:p>
          <a:p>
            <a:r>
              <a:rPr lang="en-US" altLang="en-US" sz="2400" dirty="0"/>
              <a:t>Information Hiding</a:t>
            </a:r>
          </a:p>
          <a:p>
            <a:endParaRPr lang="en-US" altLang="en-US" sz="2400" dirty="0"/>
          </a:p>
          <a:p>
            <a:r>
              <a:rPr lang="en-US" altLang="en-US" sz="2400" dirty="0"/>
              <a:t>Write code only once (no duplicates)</a:t>
            </a:r>
          </a:p>
          <a:p>
            <a:endParaRPr lang="en-US" altLang="en-US" sz="2400" dirty="0"/>
          </a:p>
          <a:p>
            <a:r>
              <a:rPr lang="en-US" altLang="en-US" sz="2400" dirty="0"/>
              <a:t>In general, it is easier to understand/design/analyze</a:t>
            </a:r>
          </a:p>
          <a:p>
            <a:endParaRPr lang="en-US" altLang="en-US" sz="2400" dirty="0"/>
          </a:p>
          <a:p>
            <a:r>
              <a:rPr lang="en-US" altLang="en-US" sz="2400" dirty="0"/>
              <a:t>Without OO, it would be only </a:t>
            </a:r>
            <a:r>
              <a:rPr lang="en-US" altLang="en-US" sz="2400" b="1" dirty="0">
                <a:solidFill>
                  <a:srgbClr val="FF0000"/>
                </a:solidFill>
              </a:rPr>
              <a:t>C</a:t>
            </a:r>
            <a:endParaRPr lang="en-US" altLang="en-US" sz="2400" dirty="0"/>
          </a:p>
          <a:p>
            <a:endParaRPr lang="en-US" altLang="en-US" sz="2400" dirty="0"/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endParaRPr lang="en-US" altLang="en-US" sz="2400" dirty="0"/>
          </a:p>
          <a:p>
            <a:pPr marL="457200" lvl="1" indent="0" algn="just" eaLnBrk="1" hangingPunct="1">
              <a:lnSpc>
                <a:spcPct val="90000"/>
              </a:lnSpc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30690" y="750963"/>
            <a:ext cx="3777668" cy="521936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en-US" altLang="en-US" sz="2800" dirty="0"/>
              <a:t>Why Object Oriented?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358" y="2253173"/>
            <a:ext cx="3570608" cy="184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311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217" y="2290046"/>
            <a:ext cx="10555357" cy="137894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OOA, OOD &amp; OOP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4737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918487" y="1354742"/>
            <a:ext cx="9812302" cy="52826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b="1" dirty="0">
                <a:solidFill>
                  <a:srgbClr val="800000"/>
                </a:solidFill>
              </a:rPr>
              <a:t>OO Analysis:</a:t>
            </a:r>
            <a:r>
              <a:rPr lang="en-US" altLang="en-US" sz="2400" dirty="0"/>
              <a:t>  </a:t>
            </a:r>
          </a:p>
          <a:p>
            <a:endParaRPr lang="en-US" altLang="en-US" sz="2400" dirty="0"/>
          </a:p>
          <a:p>
            <a:r>
              <a:rPr lang="en-US" altLang="en-US" sz="2400" dirty="0"/>
              <a:t>To create a model of the system </a:t>
            </a:r>
          </a:p>
          <a:p>
            <a:r>
              <a:rPr lang="en-US" altLang="en-US" sz="2400" b="1" dirty="0">
                <a:solidFill>
                  <a:srgbClr val="FF0000"/>
                </a:solidFill>
              </a:rPr>
              <a:t>Independent</a:t>
            </a:r>
            <a:r>
              <a:rPr lang="en-US" altLang="en-US" sz="2400" dirty="0"/>
              <a:t> of implementation details </a:t>
            </a:r>
          </a:p>
          <a:p>
            <a:r>
              <a:rPr lang="en-US" altLang="en-US" sz="2400" b="1" dirty="0"/>
              <a:t>Use cases</a:t>
            </a:r>
            <a:endParaRPr lang="en-US" altLang="en-US" sz="2400" dirty="0"/>
          </a:p>
          <a:p>
            <a:r>
              <a:rPr lang="en-US" altLang="en-US" sz="2400" dirty="0"/>
              <a:t>Entity Relationship (ER) diagram</a:t>
            </a:r>
          </a:p>
          <a:p>
            <a:r>
              <a:rPr lang="en-US" altLang="en-US" sz="2400" dirty="0"/>
              <a:t>Structure charts</a:t>
            </a:r>
          </a:p>
          <a:p>
            <a:pPr marL="0" indent="0"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1" dirty="0">
                <a:cs typeface="Times New Roman" panose="02020603050405020304" pitchFamily="18" charset="0"/>
              </a:rPr>
              <a:t>Memorize</a:t>
            </a:r>
            <a:r>
              <a:rPr lang="en-US" altLang="en-US" sz="2400" dirty="0">
                <a:cs typeface="Times New Roman" panose="02020603050405020304" pitchFamily="18" charset="0"/>
              </a:rPr>
              <a:t>: OOA =&gt; use cases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5350" y="2788258"/>
            <a:ext cx="2205698" cy="2012341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V="1">
            <a:off x="6067926" y="3838074"/>
            <a:ext cx="3217424" cy="8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124" y="4224780"/>
            <a:ext cx="3169898" cy="1998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/>
          <p:cNvCxnSpPr>
            <a:endCxn id="2050" idx="1"/>
          </p:cNvCxnSpPr>
          <p:nvPr/>
        </p:nvCxnSpPr>
        <p:spPr>
          <a:xfrm>
            <a:off x="4114800" y="4315326"/>
            <a:ext cx="1867324" cy="908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07769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687864" y="1326420"/>
            <a:ext cx="8229600" cy="5343085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800000"/>
                </a:solidFill>
                <a:cs typeface="Times New Roman" panose="02020603050405020304" pitchFamily="18" charset="0"/>
              </a:rPr>
              <a:t>OO Design</a:t>
            </a:r>
            <a:r>
              <a:rPr lang="en-US" altLang="en-US" sz="2400" dirty="0">
                <a:solidFill>
                  <a:srgbClr val="800000"/>
                </a:solidFill>
                <a:cs typeface="Times New Roman" panose="02020603050405020304" pitchFamily="18" charset="0"/>
              </a:rPr>
              <a:t>: </a:t>
            </a:r>
          </a:p>
          <a:p>
            <a:pPr algn="just"/>
            <a:endParaRPr lang="en-US" altLang="en-US" dirty="0"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Decompose complex systems</a:t>
            </a: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Add implementation constrains</a:t>
            </a:r>
          </a:p>
          <a:p>
            <a:pPr algn="just"/>
            <a:r>
              <a:rPr lang="en-US" altLang="en-US" sz="2800" b="1" dirty="0">
                <a:cs typeface="Times New Roman" panose="02020603050405020304" pitchFamily="18" charset="0"/>
              </a:rPr>
              <a:t>Class diagram</a:t>
            </a:r>
          </a:p>
          <a:p>
            <a:pPr algn="just"/>
            <a:r>
              <a:rPr lang="en-US" altLang="en-US" sz="2800" b="1" dirty="0">
                <a:cs typeface="Times New Roman" panose="02020603050405020304" pitchFamily="18" charset="0"/>
              </a:rPr>
              <a:t>Sequence diagram</a:t>
            </a:r>
          </a:p>
          <a:p>
            <a:pPr algn="just"/>
            <a:r>
              <a:rPr lang="en-US" altLang="en-US" sz="2800" b="1" dirty="0">
                <a:cs typeface="Times New Roman" panose="02020603050405020304" pitchFamily="18" charset="0"/>
              </a:rPr>
              <a:t>State diagram</a:t>
            </a:r>
          </a:p>
          <a:p>
            <a:pPr algn="just"/>
            <a:r>
              <a:rPr lang="en-US" altLang="en-US" sz="2800" b="1" dirty="0">
                <a:cs typeface="Times New Roman" panose="02020603050405020304" pitchFamily="18" charset="0"/>
              </a:rPr>
              <a:t>…</a:t>
            </a:r>
          </a:p>
          <a:p>
            <a:pPr algn="just"/>
            <a:endParaRPr lang="en-US" altLang="en-US" sz="3000" b="1" dirty="0"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b="1" dirty="0">
                <a:cs typeface="Times New Roman" panose="02020603050405020304" pitchFamily="18" charset="0"/>
              </a:rPr>
              <a:t>Memorize</a:t>
            </a:r>
            <a:r>
              <a:rPr lang="en-US" altLang="en-US" dirty="0">
                <a:cs typeface="Times New Roman" panose="02020603050405020304" pitchFamily="18" charset="0"/>
              </a:rPr>
              <a:t>: OOD =&gt; use cases to rest of UML</a:t>
            </a:r>
            <a:endParaRPr lang="en-US" altLang="en-US" sz="2200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627270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181477" y="1488260"/>
            <a:ext cx="8229600" cy="4742607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rgbClr val="800000"/>
                </a:solidFill>
                <a:cs typeface="Times New Roman" panose="02020603050405020304" pitchFamily="18" charset="0"/>
              </a:rPr>
              <a:t>OO Programming (Java):</a:t>
            </a: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Implement everything</a:t>
            </a: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Classes</a:t>
            </a: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Objects</a:t>
            </a: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Interfaces</a:t>
            </a: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Abstract classes</a:t>
            </a: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Inheritance</a:t>
            </a: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etc.</a:t>
            </a: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b="1" dirty="0">
                <a:cs typeface="Times New Roman" panose="02020603050405020304" pitchFamily="18" charset="0"/>
              </a:rPr>
              <a:t>Memorize</a:t>
            </a:r>
            <a:r>
              <a:rPr lang="en-US" altLang="en-US" dirty="0">
                <a:cs typeface="Times New Roman" panose="02020603050405020304" pitchFamily="18" charset="0"/>
              </a:rPr>
              <a:t>: Implement object oriented…</a:t>
            </a:r>
          </a:p>
          <a:p>
            <a:pPr lvl="2" algn="just" eaLnBrk="1" hangingPunct="1">
              <a:lnSpc>
                <a:spcPct val="90000"/>
              </a:lnSpc>
              <a:buFontTx/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4138807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800803" y="2878281"/>
            <a:ext cx="6463513" cy="907655"/>
          </a:xfrm>
        </p:spPr>
        <p:txBody>
          <a:bodyPr>
            <a:normAutofit fontScale="92500"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4000" b="1" dirty="0">
                <a:solidFill>
                  <a:srgbClr val="800000"/>
                </a:solidFill>
                <a:cs typeface="Times New Roman" panose="02020603050405020304" pitchFamily="18" charset="0"/>
              </a:rPr>
              <a:t>Why are we doing OOA and OOD?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7277298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301469" y="1092424"/>
            <a:ext cx="7967958" cy="5348835"/>
          </a:xfrm>
        </p:spPr>
        <p:txBody>
          <a:bodyPr>
            <a:normAutofit/>
          </a:bodyPr>
          <a:lstStyle/>
          <a:p>
            <a:pPr marL="457200" lvl="1" indent="0" algn="just" eaLnBrk="1" hangingPunct="1">
              <a:lnSpc>
                <a:spcPct val="90000"/>
              </a:lnSpc>
              <a:buNone/>
            </a:pPr>
            <a:r>
              <a:rPr lang="en-US" altLang="en-US" b="1" dirty="0">
                <a:cs typeface="Times New Roman" panose="02020603050405020304" pitchFamily="18" charset="0"/>
              </a:rPr>
              <a:t>Waterfall Software Development </a:t>
            </a:r>
          </a:p>
          <a:p>
            <a:pPr lvl="1" algn="just"/>
            <a:endParaRPr lang="en-US" altLang="en-US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dirty="0">
                <a:cs typeface="Times New Roman" panose="02020603050405020304" pitchFamily="18" charset="0"/>
              </a:rPr>
              <a:t>Do everything in steps</a:t>
            </a:r>
          </a:p>
          <a:p>
            <a:pPr lvl="1" algn="just"/>
            <a:endParaRPr lang="en-US" altLang="en-US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dirty="0">
                <a:cs typeface="Times New Roman" panose="02020603050405020304" pitchFamily="18" charset="0"/>
              </a:rPr>
              <a:t>Requirement analysis</a:t>
            </a:r>
          </a:p>
          <a:p>
            <a:pPr lvl="1" algn="just"/>
            <a:endParaRPr lang="en-US" altLang="en-US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dirty="0">
                <a:cs typeface="Times New Roman" panose="02020603050405020304" pitchFamily="18" charset="0"/>
              </a:rPr>
              <a:t>Design</a:t>
            </a:r>
          </a:p>
          <a:p>
            <a:pPr lvl="1" algn="just"/>
            <a:endParaRPr lang="en-US" altLang="en-US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dirty="0">
                <a:cs typeface="Times New Roman" panose="02020603050405020304" pitchFamily="18" charset="0"/>
              </a:rPr>
              <a:t>Implementation</a:t>
            </a:r>
          </a:p>
          <a:p>
            <a:pPr lvl="1" algn="just"/>
            <a:endParaRPr lang="en-US" altLang="en-US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dirty="0">
                <a:cs typeface="Times New Roman" panose="02020603050405020304" pitchFamily="18" charset="0"/>
              </a:rPr>
              <a:t>Done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4018895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301469" y="1092424"/>
            <a:ext cx="7967958" cy="5348835"/>
          </a:xfrm>
        </p:spPr>
        <p:txBody>
          <a:bodyPr>
            <a:normAutofit/>
          </a:bodyPr>
          <a:lstStyle/>
          <a:p>
            <a:pPr marL="457200" lvl="1" indent="0" algn="just" eaLnBrk="1" hangingPunct="1">
              <a:lnSpc>
                <a:spcPct val="90000"/>
              </a:lnSpc>
              <a:buNone/>
            </a:pPr>
            <a:r>
              <a:rPr lang="en-US" altLang="en-US" b="1" dirty="0">
                <a:cs typeface="Times New Roman" panose="02020603050405020304" pitchFamily="18" charset="0"/>
              </a:rPr>
              <a:t>Agile Software Development</a:t>
            </a:r>
          </a:p>
          <a:p>
            <a:pPr lvl="1" algn="just"/>
            <a:endParaRPr lang="en-US" altLang="en-US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dirty="0">
                <a:cs typeface="Times New Roman" panose="02020603050405020304" pitchFamily="18" charset="0"/>
              </a:rPr>
              <a:t>Do everything in small iterations/cycles</a:t>
            </a:r>
          </a:p>
          <a:p>
            <a:pPr lvl="1" algn="just"/>
            <a:endParaRPr lang="en-US" altLang="en-US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dirty="0">
                <a:cs typeface="Times New Roman" panose="02020603050405020304" pitchFamily="18" charset="0"/>
              </a:rPr>
              <a:t>Every cycle includes:</a:t>
            </a:r>
          </a:p>
          <a:p>
            <a:pPr lvl="2" algn="just"/>
            <a:endParaRPr lang="en-US" altLang="en-US" dirty="0">
              <a:cs typeface="Times New Roman" panose="02020603050405020304" pitchFamily="18" charset="0"/>
            </a:endParaRPr>
          </a:p>
          <a:p>
            <a:pPr lvl="2" algn="just"/>
            <a:r>
              <a:rPr lang="en-US" altLang="en-US" dirty="0">
                <a:cs typeface="Times New Roman" panose="02020603050405020304" pitchFamily="18" charset="0"/>
              </a:rPr>
              <a:t>Requirements analysis (change request)</a:t>
            </a:r>
          </a:p>
          <a:p>
            <a:pPr lvl="2" algn="just"/>
            <a:endParaRPr lang="en-US" altLang="en-US" dirty="0">
              <a:cs typeface="Times New Roman" panose="02020603050405020304" pitchFamily="18" charset="0"/>
            </a:endParaRPr>
          </a:p>
          <a:p>
            <a:pPr lvl="2" algn="just"/>
            <a:r>
              <a:rPr lang="en-US" altLang="en-US" dirty="0">
                <a:cs typeface="Times New Roman" panose="02020603050405020304" pitchFamily="18" charset="0"/>
              </a:rPr>
              <a:t>Update design</a:t>
            </a:r>
          </a:p>
          <a:p>
            <a:pPr lvl="2" algn="just"/>
            <a:endParaRPr lang="en-US" altLang="en-US" dirty="0">
              <a:cs typeface="Times New Roman" panose="02020603050405020304" pitchFamily="18" charset="0"/>
            </a:endParaRPr>
          </a:p>
          <a:p>
            <a:pPr lvl="2" algn="just"/>
            <a:r>
              <a:rPr lang="en-US" altLang="en-US" dirty="0">
                <a:cs typeface="Times New Roman" panose="02020603050405020304" pitchFamily="18" charset="0"/>
              </a:rPr>
              <a:t>Continue implementation</a:t>
            </a:r>
          </a:p>
          <a:p>
            <a:pPr lvl="1" algn="just"/>
            <a:endParaRPr lang="en-US" altLang="en-US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dirty="0">
                <a:cs typeface="Times New Roman" panose="02020603050405020304" pitchFamily="18" charset="0"/>
              </a:rPr>
              <a:t>Done</a:t>
            </a:r>
          </a:p>
          <a:p>
            <a:pPr lvl="1" algn="just"/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6765446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Basics of Object-Oriented Programming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9957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30690" y="750963"/>
            <a:ext cx="7772400" cy="521936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800" dirty="0"/>
              <a:t>Key phases in OO application development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930690" y="1479494"/>
            <a:ext cx="10395036" cy="5169959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endParaRPr lang="en-US" altLang="en-US" sz="2400" b="1" dirty="0">
              <a:solidFill>
                <a:srgbClr val="80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b="1" dirty="0">
                <a:solidFill>
                  <a:srgbClr val="800000"/>
                </a:solidFill>
              </a:rPr>
              <a:t>OO Analysis:</a:t>
            </a:r>
            <a:r>
              <a:rPr lang="en-US" altLang="en-US" sz="2400" dirty="0"/>
              <a:t>  Gather requirements, discovers classes, objects, etc.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 sz="2400" b="1" dirty="0">
              <a:solidFill>
                <a:srgbClr val="800000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b="1" dirty="0">
                <a:solidFill>
                  <a:srgbClr val="800000"/>
                </a:solidFill>
                <a:cs typeface="Times New Roman" panose="02020603050405020304" pitchFamily="18" charset="0"/>
              </a:rPr>
              <a:t>OO Design</a:t>
            </a:r>
            <a:r>
              <a:rPr lang="en-US" altLang="en-US" sz="2400" dirty="0">
                <a:solidFill>
                  <a:srgbClr val="800000"/>
                </a:solidFill>
                <a:cs typeface="Times New Roman" panose="02020603050405020304" pitchFamily="18" charset="0"/>
              </a:rPr>
              <a:t>: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Structuring a complex system using OO decomposition.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Express in different models (state, class, sequence, …)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 sz="2400" b="1" dirty="0">
              <a:solidFill>
                <a:srgbClr val="800000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b="1" dirty="0">
                <a:solidFill>
                  <a:srgbClr val="800000"/>
                </a:solidFill>
                <a:cs typeface="Times New Roman" panose="02020603050405020304" pitchFamily="18" charset="0"/>
              </a:rPr>
              <a:t>OO Programming: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Implementation using classes and objects.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Objects with interface + hidden local state.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Objects have types.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Types are arranged in hierarchies</a:t>
            </a: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5199931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13453"/>
            <a:ext cx="6073884" cy="6461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Object-Oriented Principles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936516" y="1711448"/>
            <a:ext cx="10417284" cy="493399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Encapsulation and Information Hiding</a:t>
            </a:r>
          </a:p>
          <a:p>
            <a:pPr eaLnBrk="1" hangingPunct="1"/>
            <a:endParaRPr lang="en-US" altLang="en-US" sz="4000" dirty="0">
              <a:solidFill>
                <a:srgbClr val="C00000"/>
              </a:solidFill>
            </a:endParaRPr>
          </a:p>
          <a:p>
            <a:pPr eaLnBrk="1" hangingPunct="1"/>
            <a:r>
              <a:rPr lang="en-US" altLang="en-US" sz="4000" dirty="0">
                <a:solidFill>
                  <a:srgbClr val="C00000"/>
                </a:solidFill>
              </a:rPr>
              <a:t>Abstraction</a:t>
            </a:r>
          </a:p>
          <a:p>
            <a:pPr eaLnBrk="1" hangingPunct="1"/>
            <a:endParaRPr lang="en-US" altLang="en-US" sz="4000" dirty="0"/>
          </a:p>
          <a:p>
            <a:pPr eaLnBrk="1" hangingPunct="1"/>
            <a:r>
              <a:rPr lang="en-US" altLang="en-US" sz="4000" dirty="0"/>
              <a:t>Inheritance (an </a:t>
            </a:r>
            <a:r>
              <a:rPr lang="en-US" altLang="en-US" sz="4000" i="1" dirty="0"/>
              <a:t>is-a</a:t>
            </a:r>
            <a:r>
              <a:rPr lang="en-US" altLang="en-US" sz="4000" dirty="0"/>
              <a:t> hierarchy)</a:t>
            </a:r>
          </a:p>
          <a:p>
            <a:pPr eaLnBrk="1" hangingPunct="1"/>
            <a:endParaRPr lang="en-US" altLang="en-US" sz="4000" dirty="0">
              <a:solidFill>
                <a:srgbClr val="C00000"/>
              </a:solidFill>
            </a:endParaRPr>
          </a:p>
          <a:p>
            <a:pPr eaLnBrk="1" hangingPunct="1"/>
            <a:r>
              <a:rPr lang="en-US" altLang="en-US" sz="4000" dirty="0">
                <a:solidFill>
                  <a:srgbClr val="C00000"/>
                </a:solidFill>
              </a:rPr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4128974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46840" y="746667"/>
            <a:ext cx="7772400" cy="546212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200" dirty="0"/>
              <a:t>Major components of an Object Model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946840" y="1596758"/>
            <a:ext cx="10358834" cy="5056705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solidFill>
                  <a:srgbClr val="800000"/>
                </a:solidFill>
              </a:rPr>
              <a:t>Object Model Concepts</a:t>
            </a:r>
          </a:p>
          <a:p>
            <a:pPr lvl="1" eaLnBrk="1" hangingPunct="1"/>
            <a:r>
              <a:rPr lang="en-US" altLang="en-US" dirty="0"/>
              <a:t>Structural and behavioral aspects. </a:t>
            </a:r>
          </a:p>
          <a:p>
            <a:pPr eaLnBrk="1" hangingPunct="1"/>
            <a:r>
              <a:rPr lang="en-US" altLang="en-US" sz="2400" b="1" dirty="0">
                <a:solidFill>
                  <a:srgbClr val="800000"/>
                </a:solidFill>
              </a:rPr>
              <a:t>Notation</a:t>
            </a:r>
          </a:p>
          <a:p>
            <a:pPr lvl="1" eaLnBrk="1" hangingPunct="1"/>
            <a:r>
              <a:rPr lang="en-US" altLang="en-US" dirty="0"/>
              <a:t>The language for expressing the model.</a:t>
            </a:r>
          </a:p>
          <a:p>
            <a:pPr eaLnBrk="1" hangingPunct="1"/>
            <a:r>
              <a:rPr lang="en-US" altLang="en-US" sz="2400" b="1" dirty="0">
                <a:solidFill>
                  <a:srgbClr val="800000"/>
                </a:solidFill>
              </a:rPr>
              <a:t>Process</a:t>
            </a:r>
          </a:p>
          <a:p>
            <a:pPr lvl="1" eaLnBrk="1" hangingPunct="1"/>
            <a:r>
              <a:rPr lang="en-US" altLang="en-US" dirty="0"/>
              <a:t>Activities to construct the system’s models.</a:t>
            </a:r>
          </a:p>
          <a:p>
            <a:pPr eaLnBrk="1" hangingPunct="1"/>
            <a:r>
              <a:rPr lang="en-US" altLang="en-US" sz="2400" b="1" dirty="0">
                <a:solidFill>
                  <a:srgbClr val="800000"/>
                </a:solidFill>
              </a:rPr>
              <a:t>Tools</a:t>
            </a:r>
          </a:p>
          <a:p>
            <a:pPr lvl="1" eaLnBrk="1" hangingPunct="1"/>
            <a:r>
              <a:rPr lang="en-US" altLang="en-US" dirty="0"/>
              <a:t>Support for specific notations, syntax and semantic checking and code generation.</a:t>
            </a:r>
          </a:p>
          <a:p>
            <a:pPr eaLnBrk="1" hangingPunct="1"/>
            <a:r>
              <a:rPr lang="en-US" altLang="en-US" sz="2400" b="1" dirty="0">
                <a:solidFill>
                  <a:srgbClr val="800000"/>
                </a:solidFill>
              </a:rPr>
              <a:t>Quality Criteria</a:t>
            </a:r>
          </a:p>
          <a:p>
            <a:pPr lvl="1" eaLnBrk="1" hangingPunct="1"/>
            <a:r>
              <a:rPr lang="en-US" altLang="en-US" dirty="0"/>
              <a:t>A set of criteria to determine the quality of the system.</a:t>
            </a:r>
          </a:p>
        </p:txBody>
      </p:sp>
    </p:spTree>
    <p:extLst>
      <p:ext uri="{BB962C8B-B14F-4D97-AF65-F5344CB8AC3E}">
        <p14:creationId xmlns:p14="http://schemas.microsoft.com/office/powerpoint/2010/main" val="410174652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46484" y="753091"/>
            <a:ext cx="6039853" cy="612972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Evolution Of Object Model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946484" y="1748198"/>
            <a:ext cx="10407316" cy="486917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b="1" dirty="0">
                <a:cs typeface="Times New Roman" panose="02020603050405020304" pitchFamily="18" charset="0"/>
              </a:rPr>
              <a:t>Object-based and Object-Oriented Programming languages:</a:t>
            </a:r>
          </a:p>
          <a:p>
            <a:pPr algn="just" eaLnBrk="1" hangingPunct="1"/>
            <a:endParaRPr lang="en-US" altLang="en-US" dirty="0"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en-US" dirty="0">
                <a:cs typeface="Times New Roman" panose="02020603050405020304" pitchFamily="18" charset="0"/>
              </a:rPr>
              <a:t>Logical building blocks – Classes and Objects.</a:t>
            </a:r>
          </a:p>
          <a:p>
            <a:pPr algn="just" eaLnBrk="1" hangingPunct="1"/>
            <a:endParaRPr lang="en-US" altLang="en-US" dirty="0"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en-US" dirty="0">
                <a:cs typeface="Times New Roman" panose="02020603050405020304" pitchFamily="18" charset="0"/>
              </a:rPr>
              <a:t>Physical Building Block - Module</a:t>
            </a:r>
          </a:p>
          <a:p>
            <a:pPr marL="0" indent="0" algn="just" eaLnBrk="1" hangingPunct="1"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en-US" dirty="0">
                <a:cs typeface="Times New Roman" panose="02020603050405020304" pitchFamily="18" charset="0"/>
              </a:rPr>
              <a:t>Objects can be arranged in layers of clusters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5155259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46485" y="753234"/>
            <a:ext cx="5703536" cy="503729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en-US" altLang="en-US" dirty="0"/>
              <a:t>Benefits of the Object Model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946485" y="1633769"/>
            <a:ext cx="10407315" cy="5003651"/>
          </a:xfrm>
        </p:spPr>
        <p:txBody>
          <a:bodyPr>
            <a:normAutofit/>
          </a:bodyPr>
          <a:lstStyle/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 better management of complexity… (big code base)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… provides a “</a:t>
            </a:r>
            <a:r>
              <a:rPr lang="en-US" altLang="en-US" b="1" dirty="0">
                <a:solidFill>
                  <a:srgbClr val="800000"/>
                </a:solidFill>
              </a:rPr>
              <a:t>better model of reality</a:t>
            </a:r>
            <a:r>
              <a:rPr lang="en-US" altLang="en-US" dirty="0"/>
              <a:t>” (think in objects).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Encourages reuse.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Systems are more </a:t>
            </a:r>
            <a:r>
              <a:rPr lang="en-US" altLang="en-US" b="1" dirty="0">
                <a:solidFill>
                  <a:srgbClr val="92D050"/>
                </a:solidFill>
              </a:rPr>
              <a:t>resilient</a:t>
            </a:r>
            <a:r>
              <a:rPr lang="en-US" altLang="en-US" dirty="0"/>
              <a:t> to change and evolve </a:t>
            </a:r>
            <a:r>
              <a:rPr lang="en-US" altLang="en-US" b="1" dirty="0">
                <a:solidFill>
                  <a:srgbClr val="92D050"/>
                </a:solidFill>
              </a:rPr>
              <a:t>easier</a:t>
            </a:r>
            <a:r>
              <a:rPr lang="en-US" altLang="en-US" dirty="0"/>
              <a:t>.</a:t>
            </a:r>
          </a:p>
          <a:p>
            <a:pPr marL="0" indent="0" eaLnBrk="1" hangingPunct="1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8467968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39687" y="748300"/>
            <a:ext cx="5976980" cy="457200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>
              <a:defRPr/>
            </a:pPr>
            <a:r>
              <a:rPr lang="en-US" altLang="en-US" sz="3200" dirty="0"/>
              <a:t>More Vocabulary of OO systems 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939686" y="1639524"/>
            <a:ext cx="10398071" cy="5001907"/>
          </a:xfrm>
        </p:spPr>
        <p:txBody>
          <a:bodyPr>
            <a:normAutofit/>
          </a:bodyPr>
          <a:lstStyle/>
          <a:p>
            <a:pPr eaLnBrk="1" hangingPunct="1"/>
            <a:endParaRPr lang="en-US" altLang="en-US" b="1" dirty="0"/>
          </a:p>
          <a:p>
            <a:pPr eaLnBrk="1" hangingPunct="1"/>
            <a:r>
              <a:rPr lang="en-US" altLang="en-US" b="1" dirty="0"/>
              <a:t>Instantiation</a:t>
            </a:r>
            <a:r>
              <a:rPr lang="en-US" altLang="en-US" dirty="0"/>
              <a:t>: Creating objects from classes</a:t>
            </a:r>
          </a:p>
          <a:p>
            <a:pPr eaLnBrk="1" hangingPunct="1"/>
            <a:endParaRPr lang="en-US" altLang="en-US" b="1" dirty="0"/>
          </a:p>
          <a:p>
            <a:pPr eaLnBrk="1" hangingPunct="1"/>
            <a:r>
              <a:rPr lang="en-US" altLang="en-US" b="1" dirty="0"/>
              <a:t>Methods</a:t>
            </a:r>
            <a:r>
              <a:rPr lang="en-US" altLang="en-US" dirty="0"/>
              <a:t>: A procedure associated with an object class.</a:t>
            </a:r>
          </a:p>
          <a:p>
            <a:pPr eaLnBrk="1" hangingPunct="1"/>
            <a:endParaRPr lang="en-US" altLang="en-US" b="1" dirty="0"/>
          </a:p>
          <a:p>
            <a:pPr eaLnBrk="1" hangingPunct="1"/>
            <a:r>
              <a:rPr lang="en-US" altLang="en-US" b="1" dirty="0"/>
              <a:t>Messages: </a:t>
            </a:r>
            <a:r>
              <a:rPr lang="en-US" altLang="en-US" dirty="0"/>
              <a:t>Binding of procedure names to behavior. </a:t>
            </a:r>
          </a:p>
        </p:txBody>
      </p:sp>
    </p:spTree>
    <p:extLst>
      <p:ext uri="{BB962C8B-B14F-4D97-AF65-F5344CB8AC3E}">
        <p14:creationId xmlns:p14="http://schemas.microsoft.com/office/powerpoint/2010/main" val="42367519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31666" y="788405"/>
            <a:ext cx="5976980" cy="928102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altLang="en-US" sz="3200" dirty="0"/>
              <a:t>Basic IntelliJ examples: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939686" y="1639524"/>
            <a:ext cx="10398071" cy="5001907"/>
          </a:xfrm>
        </p:spPr>
        <p:txBody>
          <a:bodyPr>
            <a:normAutofit/>
          </a:bodyPr>
          <a:lstStyle/>
          <a:p>
            <a:pPr eaLnBrk="1" hangingPunct="1"/>
            <a:endParaRPr lang="en-US" altLang="en-US" b="1" dirty="0"/>
          </a:p>
          <a:p>
            <a:pPr eaLnBrk="1" hangingPunct="1"/>
            <a:r>
              <a:rPr lang="en-US" altLang="en-US" b="1" dirty="0"/>
              <a:t>Class </a:t>
            </a:r>
          </a:p>
          <a:p>
            <a:pPr eaLnBrk="1" hangingPunct="1"/>
            <a:endParaRPr lang="en-US" altLang="en-US" b="1" dirty="0"/>
          </a:p>
          <a:p>
            <a:pPr eaLnBrk="1" hangingPunct="1"/>
            <a:r>
              <a:rPr lang="en-US" altLang="en-US" b="1" dirty="0"/>
              <a:t>Extends</a:t>
            </a:r>
          </a:p>
          <a:p>
            <a:pPr marL="0" indent="0" eaLnBrk="1" hangingPunct="1">
              <a:buNone/>
            </a:pPr>
            <a:endParaRPr lang="en-US" altLang="en-US" b="1" dirty="0"/>
          </a:p>
          <a:p>
            <a:r>
              <a:rPr lang="en-US" altLang="en-US" b="1" dirty="0"/>
              <a:t>Constructor</a:t>
            </a:r>
          </a:p>
        </p:txBody>
      </p:sp>
    </p:spTree>
    <p:extLst>
      <p:ext uri="{BB962C8B-B14F-4D97-AF65-F5344CB8AC3E}">
        <p14:creationId xmlns:p14="http://schemas.microsoft.com/office/powerpoint/2010/main" val="381867763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Object-Oriented </a:t>
            </a:r>
            <a:br>
              <a:rPr lang="en-US" dirty="0"/>
            </a:br>
            <a:r>
              <a:rPr lang="en-US" dirty="0"/>
              <a:t>Bank Account Example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35191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41018" y="755185"/>
            <a:ext cx="8686800" cy="609600"/>
          </a:xfrm>
        </p:spPr>
        <p:txBody>
          <a:bodyPr vert="horz" lIns="103584" tIns="51793" rIns="103584" bIns="51793" rtlCol="0" anchor="ctr">
            <a:normAutofit/>
          </a:bodyPr>
          <a:lstStyle/>
          <a:p>
            <a:pPr>
              <a:defRPr/>
            </a:pPr>
            <a:r>
              <a:rPr lang="en-US" b="1" dirty="0"/>
              <a:t>An Object-Oriented (OO) System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941018" y="1698436"/>
            <a:ext cx="4741898" cy="4942995"/>
          </a:xfrm>
          <a:ln>
            <a:miter lim="800000"/>
            <a:headEnd/>
            <a:tailEnd/>
          </a:ln>
        </p:spPr>
        <p:txBody>
          <a:bodyPr vert="horz" lIns="103584" tIns="51793" rIns="103584" bIns="51793" rtlCol="0">
            <a:normAutofit/>
          </a:bodyPr>
          <a:lstStyle/>
          <a:p>
            <a:pPr marL="114300" indent="-114300">
              <a:buNone/>
            </a:pPr>
            <a:r>
              <a:rPr lang="en-US" altLang="en-US" dirty="0"/>
              <a:t>To understand object-oriented </a:t>
            </a:r>
            <a:r>
              <a:rPr lang="en-US" altLang="en-US" dirty="0">
                <a:solidFill>
                  <a:srgbClr val="0000FF"/>
                </a:solidFill>
              </a:rPr>
              <a:t>concepts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rgbClr val="0000FF"/>
                </a:solidFill>
              </a:rPr>
              <a:t>OO design</a:t>
            </a:r>
          </a:p>
          <a:p>
            <a:pPr marL="114300" indent="-114300">
              <a:buNone/>
            </a:pPr>
            <a:r>
              <a:rPr lang="en-US" altLang="en-US" dirty="0">
                <a:solidFill>
                  <a:schemeClr val="tx1"/>
                </a:solidFill>
              </a:rPr>
              <a:t>example: banking</a:t>
            </a:r>
          </a:p>
          <a:p>
            <a:pPr marL="114300" indent="-114300">
              <a:buNone/>
            </a:pPr>
            <a:endParaRPr lang="en-US" altLang="en-US" u="sng" dirty="0">
              <a:solidFill>
                <a:srgbClr val="990000"/>
              </a:solidFill>
            </a:endParaRPr>
          </a:p>
          <a:p>
            <a:pPr marL="114300" indent="-114300">
              <a:buNone/>
            </a:pPr>
            <a:r>
              <a:rPr lang="en-US" altLang="en-US" dirty="0">
                <a:solidFill>
                  <a:schemeClr val="tx1"/>
                </a:solidFill>
              </a:rPr>
              <a:t>A simple bank: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A bank has </a:t>
            </a:r>
            <a:r>
              <a:rPr lang="en-US" altLang="en-US" b="1" dirty="0">
                <a:solidFill>
                  <a:srgbClr val="92D050"/>
                </a:solidFill>
              </a:rPr>
              <a:t>customers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A bank has bank </a:t>
            </a:r>
            <a:r>
              <a:rPr lang="en-US" altLang="en-US" b="1" dirty="0">
                <a:solidFill>
                  <a:srgbClr val="0000FF"/>
                </a:solidFill>
              </a:rPr>
              <a:t>accounts</a:t>
            </a:r>
            <a:r>
              <a:rPr lang="en-US" altLang="en-US" dirty="0">
                <a:solidFill>
                  <a:schemeClr val="tx1"/>
                </a:solidFill>
              </a:rPr>
              <a:t>. 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A bank </a:t>
            </a:r>
            <a:r>
              <a:rPr lang="en-US" altLang="en-US" b="1" dirty="0">
                <a:solidFill>
                  <a:srgbClr val="92D050"/>
                </a:solidFill>
              </a:rPr>
              <a:t>customer </a:t>
            </a:r>
            <a:r>
              <a:rPr lang="en-US" altLang="en-US" dirty="0">
                <a:solidFill>
                  <a:schemeClr val="tx1"/>
                </a:solidFill>
              </a:rPr>
              <a:t>has bank </a:t>
            </a:r>
            <a:r>
              <a:rPr lang="en-US" altLang="en-US" b="1" dirty="0">
                <a:solidFill>
                  <a:srgbClr val="0000FF"/>
                </a:solidFill>
              </a:rPr>
              <a:t>accounts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19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226891" y="2412310"/>
            <a:ext cx="4741898" cy="4036616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lIns="103584" tIns="51793" rIns="103584" bIns="51793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solidFill>
                  <a:schemeClr val="tx1"/>
                </a:solidFill>
              </a:rPr>
              <a:t>A bank </a:t>
            </a:r>
            <a:r>
              <a:rPr lang="en-US" altLang="en-US" b="1" dirty="0">
                <a:solidFill>
                  <a:srgbClr val="0000FF"/>
                </a:solidFill>
              </a:rPr>
              <a:t>account</a:t>
            </a:r>
            <a:r>
              <a:rPr lang="en-US" altLang="en-US" dirty="0">
                <a:solidFill>
                  <a:schemeClr val="tx1"/>
                </a:solidFill>
              </a:rPr>
              <a:t> can be a:</a:t>
            </a:r>
          </a:p>
          <a:p>
            <a:pPr lvl="1"/>
            <a:r>
              <a:rPr lang="en-US" altLang="en-US" dirty="0" err="1">
                <a:solidFill>
                  <a:schemeClr val="tx1"/>
                </a:solidFill>
              </a:rPr>
              <a:t>CheckingAccount</a:t>
            </a:r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 err="1">
                <a:solidFill>
                  <a:schemeClr val="tx1"/>
                </a:solidFill>
              </a:rPr>
              <a:t>SavingsAccount</a:t>
            </a:r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 err="1">
                <a:solidFill>
                  <a:schemeClr val="tx1"/>
                </a:solidFill>
              </a:rPr>
              <a:t>PerformanceSavingsAccount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A </a:t>
            </a:r>
            <a:r>
              <a:rPr lang="en-US" altLang="en-US" b="1" dirty="0">
                <a:solidFill>
                  <a:srgbClr val="92D050"/>
                </a:solidFill>
              </a:rPr>
              <a:t>customer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Get balance (of an </a:t>
            </a:r>
            <a:r>
              <a:rPr lang="en-US" altLang="en-US" b="1" dirty="0">
                <a:solidFill>
                  <a:srgbClr val="0000FF"/>
                </a:solidFill>
              </a:rPr>
              <a:t>account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Get interest rate (of an </a:t>
            </a:r>
            <a:r>
              <a:rPr lang="en-US" altLang="en-US" b="1" dirty="0">
                <a:solidFill>
                  <a:srgbClr val="0000FF"/>
                </a:solidFill>
              </a:rPr>
              <a:t>account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Deposits money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Withdraws money.</a:t>
            </a:r>
          </a:p>
        </p:txBody>
      </p:sp>
    </p:spTree>
    <p:extLst>
      <p:ext uri="{BB962C8B-B14F-4D97-AF65-F5344CB8AC3E}">
        <p14:creationId xmlns:p14="http://schemas.microsoft.com/office/powerpoint/2010/main" val="1026376252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50424" y="763154"/>
            <a:ext cx="8686800" cy="685800"/>
          </a:xfrm>
          <a:ln>
            <a:miter lim="800000"/>
            <a:headEnd/>
            <a:tailEnd/>
          </a:ln>
        </p:spPr>
        <p:txBody>
          <a:bodyPr vert="horz" lIns="103584" tIns="51793" rIns="103584" bIns="51793" rtlCol="0" anchor="ctr">
            <a:normAutofit/>
          </a:bodyPr>
          <a:lstStyle/>
          <a:p>
            <a:pPr eaLnBrk="1" hangingPunct="1"/>
            <a:r>
              <a:rPr lang="en-US" altLang="en-US" b="1" dirty="0"/>
              <a:t>An Object-Oriented System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950424" y="1966479"/>
            <a:ext cx="8534400" cy="1833520"/>
          </a:xfrm>
          <a:ln>
            <a:miter lim="800000"/>
            <a:headEnd/>
            <a:tailEnd/>
          </a:ln>
        </p:spPr>
        <p:txBody>
          <a:bodyPr vert="horz" lIns="103584" tIns="51793" rIns="103584" bIns="51793" rtlCol="0">
            <a:normAutofit/>
          </a:bodyPr>
          <a:lstStyle/>
          <a:p>
            <a:pPr marL="114300" indent="-114300">
              <a:buNone/>
            </a:pPr>
            <a:r>
              <a:rPr lang="en-US" altLang="en-US" sz="2800" dirty="0"/>
              <a:t>A </a:t>
            </a:r>
            <a:r>
              <a:rPr lang="en-US" altLang="en-US" sz="2800" dirty="0">
                <a:solidFill>
                  <a:srgbClr val="0000FF"/>
                </a:solidFill>
              </a:rPr>
              <a:t>customer</a:t>
            </a:r>
            <a:r>
              <a:rPr lang="en-US" altLang="en-US" sz="2800" dirty="0"/>
              <a:t> calls a </a:t>
            </a:r>
            <a:r>
              <a:rPr lang="en-US" altLang="en-US" sz="2800" dirty="0" err="1">
                <a:solidFill>
                  <a:srgbClr val="800000"/>
                </a:solidFill>
              </a:rPr>
              <a:t>showBalance</a:t>
            </a:r>
            <a:r>
              <a:rPr lang="en-US" altLang="en-US" sz="2800" dirty="0">
                <a:solidFill>
                  <a:srgbClr val="800000"/>
                </a:solidFill>
              </a:rPr>
              <a:t>()</a:t>
            </a:r>
            <a:r>
              <a:rPr lang="en-US" altLang="en-US" sz="2800" dirty="0"/>
              <a:t> function on a </a:t>
            </a:r>
            <a:r>
              <a:rPr lang="en-US" altLang="en-US" sz="2800" dirty="0">
                <a:solidFill>
                  <a:srgbClr val="0000FF"/>
                </a:solidFill>
              </a:rPr>
              <a:t>bank</a:t>
            </a:r>
            <a:r>
              <a:rPr lang="en-US" altLang="en-US" sz="2800" dirty="0"/>
              <a:t> object; </a:t>
            </a:r>
            <a:br>
              <a:rPr lang="en-US" altLang="en-US" sz="2800" dirty="0"/>
            </a:br>
            <a:r>
              <a:rPr lang="en-US" altLang="en-US" sz="2800" dirty="0"/>
              <a:t>a bank object calls </a:t>
            </a:r>
            <a:r>
              <a:rPr lang="en-US" altLang="en-US" sz="2800" dirty="0" err="1">
                <a:solidFill>
                  <a:srgbClr val="800000"/>
                </a:solidFill>
              </a:rPr>
              <a:t>getBalance</a:t>
            </a:r>
            <a:r>
              <a:rPr lang="en-US" altLang="en-US" sz="2800" dirty="0">
                <a:solidFill>
                  <a:srgbClr val="800000"/>
                </a:solidFill>
              </a:rPr>
              <a:t>()</a:t>
            </a:r>
            <a:r>
              <a:rPr lang="en-US" altLang="en-US" sz="2800" dirty="0"/>
              <a:t> function on a </a:t>
            </a:r>
            <a:r>
              <a:rPr lang="en-US" altLang="en-US" sz="2800" dirty="0">
                <a:solidFill>
                  <a:srgbClr val="0000FF"/>
                </a:solidFill>
              </a:rPr>
              <a:t>bank account</a:t>
            </a:r>
            <a:r>
              <a:rPr lang="en-US" altLang="en-US" sz="2800" dirty="0"/>
              <a:t> object. </a:t>
            </a:r>
            <a:endParaRPr lang="en-US" altLang="en-US" dirty="0"/>
          </a:p>
        </p:txBody>
      </p:sp>
      <p:sp>
        <p:nvSpPr>
          <p:cNvPr id="10252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3" name="Picture 2" descr="A diagram of a line&#10;&#10;Description automatically generated">
            <a:extLst>
              <a:ext uri="{FF2B5EF4-FFF2-40B4-BE49-F238E27FC236}">
                <a16:creationId xmlns:a16="http://schemas.microsoft.com/office/drawing/2014/main" id="{D85A9FD4-2E71-308C-5176-B3F6F27C46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740" y="3019581"/>
            <a:ext cx="5043754" cy="346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754854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42976" y="752903"/>
            <a:ext cx="8763000" cy="685800"/>
          </a:xfrm>
          <a:ln>
            <a:miter lim="800000"/>
            <a:headEnd/>
            <a:tailEnd/>
          </a:ln>
        </p:spPr>
        <p:txBody>
          <a:bodyPr vert="horz" lIns="103584" tIns="51793" rIns="103584" bIns="51793" rtlCol="0" anchor="ctr">
            <a:normAutofit/>
          </a:bodyPr>
          <a:lstStyle/>
          <a:p>
            <a:pPr eaLnBrk="1" hangingPunct="1"/>
            <a:r>
              <a:rPr lang="en-US" altLang="en-US" b="1" dirty="0"/>
              <a:t>An Object-Oriented System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942976" y="1859891"/>
            <a:ext cx="10410824" cy="4841698"/>
          </a:xfrm>
          <a:ln>
            <a:miter lim="800000"/>
            <a:headEnd/>
            <a:tailEnd/>
          </a:ln>
        </p:spPr>
        <p:txBody>
          <a:bodyPr vert="horz" lIns="103584" tIns="51793" rIns="103584" bIns="51793" rtlCol="0">
            <a:normAutofit/>
          </a:bodyPr>
          <a:lstStyle/>
          <a:p>
            <a:pPr marL="114300" indent="-114300">
              <a:buNone/>
            </a:pPr>
            <a:r>
              <a:rPr lang="en-US" altLang="en-US" dirty="0"/>
              <a:t>An object-oriented system consists of a network of </a:t>
            </a:r>
            <a:r>
              <a:rPr lang="en-US" altLang="en-US" dirty="0">
                <a:solidFill>
                  <a:srgbClr val="000099"/>
                </a:solidFill>
              </a:rPr>
              <a:t>objects</a:t>
            </a:r>
            <a:r>
              <a:rPr lang="en-US" altLang="en-US" dirty="0"/>
              <a:t> </a:t>
            </a:r>
          </a:p>
          <a:p>
            <a:pPr marL="114300" indent="-114300">
              <a:buNone/>
            </a:pPr>
            <a:endParaRPr lang="en-US" altLang="en-US" dirty="0"/>
          </a:p>
          <a:p>
            <a:pPr marL="114300" indent="-114300">
              <a:buNone/>
            </a:pPr>
            <a:r>
              <a:rPr lang="en-US" altLang="en-US" dirty="0"/>
              <a:t>Objects </a:t>
            </a:r>
            <a:r>
              <a:rPr lang="en-US" altLang="en-US" dirty="0">
                <a:solidFill>
                  <a:srgbClr val="2121C5"/>
                </a:solidFill>
              </a:rPr>
              <a:t>store </a:t>
            </a:r>
            <a:r>
              <a:rPr lang="en-US" altLang="en-US" b="1" dirty="0">
                <a:solidFill>
                  <a:srgbClr val="2121C5"/>
                </a:solidFill>
              </a:rPr>
              <a:t>data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rgbClr val="2121C5"/>
                </a:solidFill>
              </a:rPr>
              <a:t>perform </a:t>
            </a:r>
            <a:r>
              <a:rPr lang="en-US" altLang="en-US" b="1" dirty="0">
                <a:solidFill>
                  <a:srgbClr val="2121C5"/>
                </a:solidFill>
              </a:rPr>
              <a:t>actions</a:t>
            </a:r>
            <a:r>
              <a:rPr lang="en-US" altLang="en-US" dirty="0"/>
              <a:t>.</a:t>
            </a:r>
          </a:p>
        </p:txBody>
      </p:sp>
      <p:sp>
        <p:nvSpPr>
          <p:cNvPr id="615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3" name="Picture 2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008C706F-B7ED-6CEC-BEB0-4299866FA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025" y="3244516"/>
            <a:ext cx="6941116" cy="329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063807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44497" y="738273"/>
            <a:ext cx="1678423" cy="609263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altLang="en-US" sz="3200" dirty="0"/>
              <a:t>Objects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944497" y="1671645"/>
            <a:ext cx="10413314" cy="4977807"/>
          </a:xfrm>
        </p:spPr>
        <p:txBody>
          <a:bodyPr/>
          <a:lstStyle/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Objects are instances of classes.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 class is a template that describes the structural and behavioral </a:t>
            </a:r>
            <a:br>
              <a:rPr lang="en-US" altLang="en-US" dirty="0"/>
            </a:br>
            <a:r>
              <a:rPr lang="en-US" altLang="en-US" dirty="0"/>
              <a:t>properties of a set of objects.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An object contains </a:t>
            </a:r>
            <a:r>
              <a:rPr lang="en-US" altLang="en-US" dirty="0">
                <a:solidFill>
                  <a:srgbClr val="0000FF"/>
                </a:solidFill>
              </a:rPr>
              <a:t>values</a:t>
            </a:r>
            <a:r>
              <a:rPr lang="en-US" altLang="en-US" dirty="0"/>
              <a:t>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An object has a </a:t>
            </a:r>
            <a:r>
              <a:rPr lang="en-US" altLang="en-US" b="1" dirty="0">
                <a:solidFill>
                  <a:srgbClr val="C00000"/>
                </a:solidFill>
              </a:rPr>
              <a:t>state</a:t>
            </a:r>
            <a:r>
              <a:rPr lang="en-US" altLang="en-US" dirty="0"/>
              <a:t>.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1172298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944319" y="751478"/>
            <a:ext cx="4425776" cy="639171"/>
          </a:xfrm>
        </p:spPr>
        <p:txBody>
          <a:bodyPr vert="horz" lIns="103584" tIns="51793" rIns="103584" bIns="51793" rtlCol="0" anchor="ctr">
            <a:normAutofit fontScale="90000"/>
          </a:bodyPr>
          <a:lstStyle/>
          <a:p>
            <a:pPr>
              <a:defRPr/>
            </a:pPr>
            <a:r>
              <a:rPr lang="en-US" sz="4000" dirty="0"/>
              <a:t>What are Objects?</a:t>
            </a:r>
          </a:p>
        </p:txBody>
      </p:sp>
      <p:graphicFrame>
        <p:nvGraphicFramePr>
          <p:cNvPr id="12291" name="Object 19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603500" y="5494339"/>
          <a:ext cx="255588" cy="23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1817280" imgH="1600600" progId="MSGraph.Chart.8">
                  <p:embed followColorScheme="full"/>
                </p:oleObj>
              </mc:Choice>
              <mc:Fallback>
                <p:oleObj name="Chart" r:id="rId3" imgW="1817280" imgH="1600600" progId="MSGraph.Chart.8">
                  <p:embed followColorScheme="full"/>
                  <p:pic>
                    <p:nvPicPr>
                      <p:cNvPr id="1229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0" y="5494339"/>
                        <a:ext cx="255588" cy="23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293" name="Picture 16" descr="teacherchalkboards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40864" y="2680771"/>
            <a:ext cx="1644650" cy="1682750"/>
          </a:xfrm>
          <a:noFill/>
        </p:spPr>
      </p:pic>
      <p:sp>
        <p:nvSpPr>
          <p:cNvPr id="12294" name="Rectangle 7"/>
          <p:cNvSpPr>
            <a:spLocks noChangeArrowheads="1"/>
          </p:cNvSpPr>
          <p:nvPr/>
        </p:nvSpPr>
        <p:spPr bwMode="auto">
          <a:xfrm>
            <a:off x="944319" y="1710579"/>
            <a:ext cx="10409816" cy="4413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3584" tIns="51793" rIns="103584" bIns="51793">
            <a:spAutoFit/>
          </a:bodyPr>
          <a:lstStyle>
            <a:lvl1pPr marL="385763" indent="-385763" defTabSz="10287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85763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0287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85763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0287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85763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0287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8576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0287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38576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287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8576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287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8576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287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8576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287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8576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Objects are “</a:t>
            </a:r>
            <a:r>
              <a:rPr lang="en-US" altLang="en-US" sz="2800" b="1" dirty="0">
                <a:solidFill>
                  <a:srgbClr val="000099"/>
                </a:solidFill>
                <a:latin typeface="Arial" panose="020B0604020202020204" pitchFamily="34" charset="0"/>
              </a:rPr>
              <a:t>things</a:t>
            </a: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” that encapsulate </a:t>
            </a:r>
            <a:r>
              <a:rPr lang="en-US" altLang="en-US" sz="2800" b="1" dirty="0">
                <a:solidFill>
                  <a:srgbClr val="000099"/>
                </a:solidFill>
                <a:latin typeface="Arial" panose="020B0604020202020204" pitchFamily="34" charset="0"/>
              </a:rPr>
              <a:t>data and behavior (</a:t>
            </a:r>
            <a:r>
              <a:rPr lang="en-US" altLang="en-US" sz="2800" dirty="0">
                <a:latin typeface="Arial" panose="020B0604020202020204" pitchFamily="34" charset="0"/>
              </a:rPr>
              <a:t>actions called</a:t>
            </a:r>
            <a:r>
              <a:rPr lang="en-US" altLang="en-US" sz="2800" b="1" dirty="0">
                <a:solidFill>
                  <a:srgbClr val="000099"/>
                </a:solidFill>
                <a:latin typeface="Arial" panose="020B0604020202020204" pitchFamily="34" charset="0"/>
              </a:rPr>
              <a:t> methods).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Objects can be “</a:t>
            </a:r>
            <a:r>
              <a:rPr lang="en-US" altLang="en-US" sz="2800" b="1" dirty="0">
                <a:solidFill>
                  <a:srgbClr val="000099"/>
                </a:solidFill>
                <a:latin typeface="Arial" panose="020B0604020202020204" pitchFamily="34" charset="0"/>
              </a:rPr>
              <a:t>physical</a:t>
            </a: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” things </a:t>
            </a:r>
            <a:b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</a:b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(</a:t>
            </a:r>
            <a:r>
              <a:rPr lang="en-US" altLang="en-US" sz="2800" dirty="0" err="1">
                <a:solidFill>
                  <a:srgbClr val="333333"/>
                </a:solidFill>
                <a:latin typeface="Arial" panose="020B0604020202020204" pitchFamily="34" charset="0"/>
              </a:rPr>
              <a:t>eg</a:t>
            </a: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: 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</a:rPr>
              <a:t>teacher, book, fish</a:t>
            </a: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).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Objects can be “</a:t>
            </a:r>
            <a:r>
              <a:rPr lang="en-US" altLang="en-US" sz="2800" b="1" dirty="0">
                <a:solidFill>
                  <a:srgbClr val="000099"/>
                </a:solidFill>
                <a:latin typeface="Arial" panose="020B0604020202020204" pitchFamily="34" charset="0"/>
              </a:rPr>
              <a:t>conceptual</a:t>
            </a: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” things </a:t>
            </a:r>
            <a:b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</a:b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(</a:t>
            </a:r>
            <a:r>
              <a:rPr lang="en-US" altLang="en-US" sz="2800" dirty="0" err="1">
                <a:solidFill>
                  <a:srgbClr val="333333"/>
                </a:solidFill>
                <a:latin typeface="Arial" panose="020B0604020202020204" pitchFamily="34" charset="0"/>
              </a:rPr>
              <a:t>eg</a:t>
            </a: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: 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</a:rPr>
              <a:t>registration, payment, bank account</a:t>
            </a: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).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Objects correspond to “</a:t>
            </a:r>
            <a:r>
              <a:rPr lang="en-US" altLang="en-US" sz="2800" b="1" dirty="0">
                <a:solidFill>
                  <a:srgbClr val="000099"/>
                </a:solidFill>
                <a:latin typeface="Arial" panose="020B0604020202020204" pitchFamily="34" charset="0"/>
              </a:rPr>
              <a:t>nouns</a:t>
            </a:r>
            <a:r>
              <a:rPr lang="en-US" altLang="en-US" sz="2800" dirty="0">
                <a:solidFill>
                  <a:srgbClr val="333333"/>
                </a:solidFill>
                <a:latin typeface="Arial" panose="020B0604020202020204" pitchFamily="34" charset="0"/>
              </a:rPr>
              <a:t>” in problem description.</a:t>
            </a:r>
          </a:p>
        </p:txBody>
      </p:sp>
      <p:sp>
        <p:nvSpPr>
          <p:cNvPr id="12295" name="Rectangle 8"/>
          <p:cNvSpPr>
            <a:spLocks noChangeArrowheads="1"/>
          </p:cNvSpPr>
          <p:nvPr/>
        </p:nvSpPr>
        <p:spPr bwMode="auto">
          <a:xfrm>
            <a:off x="2743201" y="3048000"/>
            <a:ext cx="6697663" cy="78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229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9063572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39173" y="740170"/>
            <a:ext cx="4416903" cy="595335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b="1" dirty="0"/>
              <a:t>What are objects</a:t>
            </a:r>
            <a:r>
              <a:rPr lang="en-US" altLang="en-US" dirty="0"/>
              <a:t>?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939173" y="1695162"/>
            <a:ext cx="10410616" cy="4910175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dirty="0"/>
              <a:t>Objects </a:t>
            </a:r>
            <a:r>
              <a:rPr lang="en-US" altLang="en-US" dirty="0">
                <a:solidFill>
                  <a:srgbClr val="990000"/>
                </a:solidFill>
              </a:rPr>
              <a:t>encapsulate</a:t>
            </a:r>
            <a:r>
              <a:rPr lang="en-US" altLang="en-US" dirty="0">
                <a:solidFill>
                  <a:srgbClr val="000099"/>
                </a:solidFill>
              </a:rPr>
              <a:t> </a:t>
            </a:r>
            <a:r>
              <a:rPr lang="en-US" altLang="en-US" u="sng" dirty="0">
                <a:solidFill>
                  <a:srgbClr val="990000"/>
                </a:solidFill>
              </a:rPr>
              <a:t>data</a:t>
            </a:r>
            <a:r>
              <a:rPr lang="en-US" altLang="en-US" dirty="0">
                <a:solidFill>
                  <a:srgbClr val="000099"/>
                </a:solidFill>
              </a:rPr>
              <a:t> and </a:t>
            </a:r>
            <a:r>
              <a:rPr lang="en-US" altLang="en-US" u="sng" dirty="0">
                <a:solidFill>
                  <a:srgbClr val="990000"/>
                </a:solidFill>
              </a:rPr>
              <a:t>behavior</a:t>
            </a:r>
            <a:r>
              <a:rPr lang="en-US" altLang="en-US" dirty="0">
                <a:solidFill>
                  <a:srgbClr val="000099"/>
                </a:solidFill>
              </a:rPr>
              <a:t>.</a:t>
            </a:r>
            <a:r>
              <a:rPr lang="en-US" altLang="en-US" dirty="0"/>
              <a:t>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00FF"/>
                </a:solidFill>
              </a:rPr>
              <a:t>Bank Account</a:t>
            </a:r>
            <a:r>
              <a:rPr lang="en-US" altLang="en-US" dirty="0"/>
              <a:t> object has: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b="1" dirty="0" err="1">
                <a:solidFill>
                  <a:srgbClr val="006600"/>
                </a:solidFill>
              </a:rPr>
              <a:t>accountNumber</a:t>
            </a:r>
            <a:endParaRPr lang="en-US" altLang="en-US" sz="3200" b="1" dirty="0">
              <a:solidFill>
                <a:srgbClr val="0066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b="1" dirty="0" err="1">
                <a:solidFill>
                  <a:srgbClr val="006600"/>
                </a:solidFill>
              </a:rPr>
              <a:t>ballance</a:t>
            </a:r>
            <a:endParaRPr lang="en-US" altLang="en-US" sz="3200" b="1" dirty="0">
              <a:solidFill>
                <a:srgbClr val="0066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b="1" dirty="0">
                <a:solidFill>
                  <a:srgbClr val="000099"/>
                </a:solidFill>
              </a:rPr>
              <a:t>deposit 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b="1" dirty="0">
                <a:solidFill>
                  <a:srgbClr val="000099"/>
                </a:solidFill>
              </a:rPr>
              <a:t>withdraw 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b="1" dirty="0" err="1">
                <a:solidFill>
                  <a:srgbClr val="000099"/>
                </a:solidFill>
              </a:rPr>
              <a:t>getBalance</a:t>
            </a:r>
            <a:r>
              <a:rPr lang="en-US" altLang="en-US" sz="3200" b="1" dirty="0">
                <a:solidFill>
                  <a:srgbClr val="000099"/>
                </a:solidFill>
              </a:rPr>
              <a:t>()</a:t>
            </a:r>
          </a:p>
        </p:txBody>
      </p:sp>
      <p:sp>
        <p:nvSpPr>
          <p:cNvPr id="14340" name="Line 4"/>
          <p:cNvSpPr>
            <a:spLocks noChangeShapeType="1"/>
          </p:cNvSpPr>
          <p:nvPr/>
        </p:nvSpPr>
        <p:spPr bwMode="auto">
          <a:xfrm>
            <a:off x="4497681" y="3088449"/>
            <a:ext cx="1967493" cy="2563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1" name="Text Box 6"/>
          <p:cNvSpPr txBox="1">
            <a:spLocks noChangeArrowheads="1"/>
          </p:cNvSpPr>
          <p:nvPr/>
        </p:nvSpPr>
        <p:spPr bwMode="auto">
          <a:xfrm>
            <a:off x="6453186" y="3157973"/>
            <a:ext cx="862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data</a:t>
            </a:r>
          </a:p>
        </p:txBody>
      </p:sp>
      <p:sp>
        <p:nvSpPr>
          <p:cNvPr id="14342" name="Line 7"/>
          <p:cNvSpPr>
            <a:spLocks noChangeShapeType="1"/>
          </p:cNvSpPr>
          <p:nvPr/>
        </p:nvSpPr>
        <p:spPr bwMode="auto">
          <a:xfrm>
            <a:off x="3409772" y="4092071"/>
            <a:ext cx="2962955" cy="8650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3" name="Line 9"/>
          <p:cNvSpPr>
            <a:spLocks noChangeShapeType="1"/>
          </p:cNvSpPr>
          <p:nvPr/>
        </p:nvSpPr>
        <p:spPr bwMode="auto">
          <a:xfrm flipV="1">
            <a:off x="3857146" y="5091150"/>
            <a:ext cx="2515581" cy="3821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4" name="Text Box 10"/>
          <p:cNvSpPr txBox="1">
            <a:spLocks noChangeArrowheads="1"/>
          </p:cNvSpPr>
          <p:nvPr/>
        </p:nvSpPr>
        <p:spPr bwMode="auto">
          <a:xfrm>
            <a:off x="7467600" y="5365014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4345" name="Text Box 11"/>
          <p:cNvSpPr txBox="1">
            <a:spLocks noChangeArrowheads="1"/>
          </p:cNvSpPr>
          <p:nvPr/>
        </p:nvSpPr>
        <p:spPr bwMode="auto">
          <a:xfrm>
            <a:off x="6372726" y="4541644"/>
            <a:ext cx="316029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methods (functions)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(</a:t>
            </a:r>
            <a:r>
              <a:rPr lang="en-US" altLang="en-US" sz="2400" dirty="0">
                <a:solidFill>
                  <a:srgbClr val="2121C5"/>
                </a:solidFill>
                <a:latin typeface="Arial" panose="020B0604020202020204" pitchFamily="34" charset="0"/>
              </a:rPr>
              <a:t>behavior</a:t>
            </a:r>
            <a:r>
              <a:rPr lang="en-US" altLang="en-US" sz="2400" dirty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4346" name="Line 13"/>
          <p:cNvSpPr>
            <a:spLocks noChangeShapeType="1"/>
          </p:cNvSpPr>
          <p:nvPr/>
        </p:nvSpPr>
        <p:spPr bwMode="auto">
          <a:xfrm flipV="1">
            <a:off x="3409772" y="3564155"/>
            <a:ext cx="3119717" cy="5101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7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0055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46485" y="752524"/>
            <a:ext cx="4283241" cy="685800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b="1" dirty="0"/>
              <a:t>What are objects?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946485" y="1711217"/>
            <a:ext cx="10399294" cy="4926204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Objects may have an internal structure (</a:t>
            </a:r>
            <a:r>
              <a:rPr lang="en-US" altLang="en-US" b="1" dirty="0">
                <a:solidFill>
                  <a:srgbClr val="FF0000"/>
                </a:solidFill>
              </a:rPr>
              <a:t>private</a:t>
            </a:r>
            <a:r>
              <a:rPr lang="en-US" altLang="en-US" dirty="0"/>
              <a:t>). </a:t>
            </a:r>
          </a:p>
          <a:p>
            <a:pPr lvl="1" eaLnBrk="1" hangingPunct="1"/>
            <a:r>
              <a:rPr lang="en-US" altLang="en-US" sz="3200" dirty="0" err="1"/>
              <a:t>Eg</a:t>
            </a:r>
            <a:r>
              <a:rPr lang="en-US" altLang="en-US" sz="3200" dirty="0"/>
              <a:t>: A </a:t>
            </a:r>
            <a:r>
              <a:rPr lang="en-US" altLang="en-US" sz="3200" dirty="0">
                <a:solidFill>
                  <a:srgbClr val="0000FF"/>
                </a:solidFill>
              </a:rPr>
              <a:t>bank account </a:t>
            </a:r>
            <a:r>
              <a:rPr lang="en-US" altLang="en-US" sz="3200" dirty="0"/>
              <a:t>store data:</a:t>
            </a:r>
          </a:p>
          <a:p>
            <a:pPr lvl="2"/>
            <a:r>
              <a:rPr lang="en-US" altLang="en-US" sz="2800" dirty="0" err="1"/>
              <a:t>accountNumber</a:t>
            </a:r>
            <a:endParaRPr lang="en-US" altLang="en-US" sz="2800" dirty="0"/>
          </a:p>
          <a:p>
            <a:pPr lvl="2"/>
            <a:r>
              <a:rPr lang="en-US" altLang="en-US" sz="2800" dirty="0" err="1"/>
              <a:t>ballance</a:t>
            </a:r>
            <a:endParaRPr lang="en-US" altLang="en-US" sz="2800" dirty="0"/>
          </a:p>
          <a:p>
            <a:pPr lvl="2"/>
            <a:r>
              <a:rPr lang="en-US" altLang="en-US" sz="2800" dirty="0"/>
              <a:t>etc.</a:t>
            </a:r>
          </a:p>
          <a:p>
            <a:pPr eaLnBrk="1" hangingPunct="1"/>
            <a:r>
              <a:rPr lang="en-US" altLang="en-US" dirty="0"/>
              <a:t>Objects reveal themselves by their external behavior (</a:t>
            </a:r>
            <a:r>
              <a:rPr lang="en-US" altLang="en-US" b="1" dirty="0">
                <a:solidFill>
                  <a:srgbClr val="00B050"/>
                </a:solidFill>
              </a:rPr>
              <a:t>public methods</a:t>
            </a:r>
            <a:r>
              <a:rPr lang="en-US" altLang="en-US" dirty="0"/>
              <a:t>). </a:t>
            </a:r>
          </a:p>
          <a:p>
            <a:pPr lvl="1" eaLnBrk="1" hangingPunct="1"/>
            <a:r>
              <a:rPr lang="en-US" altLang="en-US" sz="3200" dirty="0" err="1"/>
              <a:t>Eg</a:t>
            </a:r>
            <a:r>
              <a:rPr lang="en-US" altLang="en-US" sz="3200" dirty="0"/>
              <a:t>: A </a:t>
            </a:r>
            <a:r>
              <a:rPr lang="en-US" altLang="en-US" sz="3200" dirty="0">
                <a:solidFill>
                  <a:srgbClr val="0000FF"/>
                </a:solidFill>
              </a:rPr>
              <a:t>back account</a:t>
            </a:r>
            <a:r>
              <a:rPr lang="en-US" altLang="en-US" sz="3200" dirty="0"/>
              <a:t> public methods, like: </a:t>
            </a:r>
          </a:p>
          <a:p>
            <a:pPr lvl="2"/>
            <a:r>
              <a:rPr lang="en-US" altLang="en-US" sz="2800" dirty="0">
                <a:solidFill>
                  <a:srgbClr val="0000FF"/>
                </a:solidFill>
              </a:rPr>
              <a:t>deposit</a:t>
            </a:r>
          </a:p>
          <a:p>
            <a:pPr lvl="2"/>
            <a:r>
              <a:rPr lang="en-US" altLang="en-US" sz="2800" dirty="0">
                <a:solidFill>
                  <a:srgbClr val="0000FF"/>
                </a:solidFill>
              </a:rPr>
              <a:t>withdraw</a:t>
            </a:r>
          </a:p>
          <a:p>
            <a:pPr lvl="2"/>
            <a:r>
              <a:rPr lang="en-US" altLang="en-US" sz="2800" dirty="0">
                <a:solidFill>
                  <a:srgbClr val="0000FF"/>
                </a:solidFill>
              </a:rPr>
              <a:t>etc.</a:t>
            </a:r>
            <a:endParaRPr lang="en-US" altLang="en-US" sz="2800" dirty="0"/>
          </a:p>
          <a:p>
            <a:pPr eaLnBrk="1" hangingPunct="1"/>
            <a:endParaRPr lang="en-US" altLang="en-US" dirty="0"/>
          </a:p>
        </p:txBody>
      </p:sp>
      <p:sp>
        <p:nvSpPr>
          <p:cNvPr id="15364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6971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29661" y="746460"/>
            <a:ext cx="4336160" cy="715962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What are objects?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929661" y="1664049"/>
            <a:ext cx="10384034" cy="4989414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Objects reveal their “</a:t>
            </a:r>
            <a:r>
              <a:rPr lang="en-US" altLang="en-US" b="1" dirty="0">
                <a:solidFill>
                  <a:srgbClr val="0000FF"/>
                </a:solidFill>
              </a:rPr>
              <a:t>public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behavior</a:t>
            </a:r>
            <a:r>
              <a:rPr lang="en-US" altLang="en-US" dirty="0"/>
              <a:t>” but keep their </a:t>
            </a:r>
            <a:br>
              <a:rPr lang="en-US" altLang="en-US" dirty="0"/>
            </a:br>
            <a:r>
              <a:rPr lang="en-US" altLang="en-US" dirty="0"/>
              <a:t>"</a:t>
            </a:r>
            <a:r>
              <a:rPr lang="en-US" altLang="en-US" b="1" dirty="0">
                <a:solidFill>
                  <a:srgbClr val="FF0000"/>
                </a:solidFill>
              </a:rPr>
              <a:t>inside</a:t>
            </a:r>
            <a:r>
              <a:rPr lang="en-US" altLang="en-US" dirty="0">
                <a:solidFill>
                  <a:schemeClr val="tx1"/>
                </a:solidFill>
              </a:rPr>
              <a:t>" (or implementation) </a:t>
            </a:r>
            <a:r>
              <a:rPr lang="en-US" altLang="en-US" dirty="0"/>
              <a:t>hidden. 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“</a:t>
            </a:r>
            <a:r>
              <a:rPr lang="en-US" altLang="en-US" b="1" dirty="0">
                <a:solidFill>
                  <a:srgbClr val="0000FF"/>
                </a:solidFill>
              </a:rPr>
              <a:t>public</a:t>
            </a:r>
            <a:r>
              <a:rPr lang="en-US" altLang="en-US" dirty="0"/>
              <a:t> behavior” of objects is through a set of </a:t>
            </a:r>
            <a:r>
              <a:rPr lang="en-US" altLang="en-US" dirty="0">
                <a:solidFill>
                  <a:srgbClr val="0000FF"/>
                </a:solidFill>
              </a:rPr>
              <a:t>methods (functions)</a:t>
            </a:r>
            <a:r>
              <a:rPr lang="en-US" altLang="en-US" dirty="0"/>
              <a:t> that are offered to </a:t>
            </a:r>
            <a:r>
              <a:rPr lang="en-US" altLang="en-US" b="1" dirty="0">
                <a:solidFill>
                  <a:srgbClr val="FFC000"/>
                </a:solidFill>
              </a:rPr>
              <a:t>clients</a:t>
            </a:r>
            <a:r>
              <a:rPr lang="en-US" altLang="en-US" dirty="0"/>
              <a:t> of objects.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</a:t>
            </a:r>
            <a:r>
              <a:rPr lang="en-US" altLang="en-US" dirty="0">
                <a:solidFill>
                  <a:srgbClr val="0000FF"/>
                </a:solidFill>
              </a:rPr>
              <a:t>methods</a:t>
            </a:r>
            <a:r>
              <a:rPr lang="en-US" altLang="en-US" dirty="0"/>
              <a:t> (functions) can be invoked by </a:t>
            </a:r>
            <a:r>
              <a:rPr lang="en-US" altLang="en-US" b="1" dirty="0">
                <a:solidFill>
                  <a:srgbClr val="FFC000"/>
                </a:solidFill>
              </a:rPr>
              <a:t>clients</a:t>
            </a:r>
            <a:r>
              <a:rPr lang="en-US" altLang="en-US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A </a:t>
            </a:r>
            <a:r>
              <a:rPr lang="en-US" altLang="en-US" b="1" dirty="0">
                <a:solidFill>
                  <a:srgbClr val="FFC000"/>
                </a:solidFill>
              </a:rPr>
              <a:t>client</a:t>
            </a:r>
            <a:r>
              <a:rPr lang="en-US" altLang="en-US" dirty="0"/>
              <a:t> is an object that invokes the methods of an object.</a:t>
            </a:r>
          </a:p>
        </p:txBody>
      </p:sp>
      <p:sp>
        <p:nvSpPr>
          <p:cNvPr id="16388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56036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53512" y="721479"/>
            <a:ext cx="5147883" cy="79851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/>
              <a:t>Objects = data + methods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1978502" y="2144424"/>
            <a:ext cx="4120195" cy="427529"/>
          </a:xfrm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en-US" altLang="en-US" dirty="0"/>
              <a:t>An object of type </a:t>
            </a:r>
            <a:r>
              <a:rPr lang="en-US" altLang="en-US" b="1" dirty="0" err="1"/>
              <a:t>BankAccount</a:t>
            </a:r>
            <a:endParaRPr lang="en-US" altLang="en-US" b="1" dirty="0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3886200" y="2933358"/>
            <a:ext cx="3124200" cy="3657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>
            <a:off x="5486400" y="2933358"/>
            <a:ext cx="0" cy="3657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4" name="Oval 6"/>
          <p:cNvSpPr>
            <a:spLocks noChangeArrowheads="1"/>
          </p:cNvSpPr>
          <p:nvPr/>
        </p:nvSpPr>
        <p:spPr bwMode="auto">
          <a:xfrm>
            <a:off x="4191000" y="3771558"/>
            <a:ext cx="990600" cy="533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acctId</a:t>
            </a:r>
          </a:p>
        </p:txBody>
      </p:sp>
      <p:sp>
        <p:nvSpPr>
          <p:cNvPr id="17415" name="Rectangle 8"/>
          <p:cNvSpPr>
            <a:spLocks noChangeArrowheads="1"/>
          </p:cNvSpPr>
          <p:nvPr/>
        </p:nvSpPr>
        <p:spPr bwMode="auto">
          <a:xfrm>
            <a:off x="6324600" y="3466758"/>
            <a:ext cx="1371600" cy="533400"/>
          </a:xfrm>
          <a:prstGeom prst="rect">
            <a:avLst/>
          </a:prstGeom>
          <a:solidFill>
            <a:srgbClr val="09E35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deposit()</a:t>
            </a:r>
          </a:p>
        </p:txBody>
      </p:sp>
      <p:sp>
        <p:nvSpPr>
          <p:cNvPr id="17416" name="Rectangle 9"/>
          <p:cNvSpPr>
            <a:spLocks noChangeArrowheads="1"/>
          </p:cNvSpPr>
          <p:nvPr/>
        </p:nvSpPr>
        <p:spPr bwMode="auto">
          <a:xfrm>
            <a:off x="6324600" y="4381158"/>
            <a:ext cx="1371600" cy="457200"/>
          </a:xfrm>
          <a:prstGeom prst="rect">
            <a:avLst/>
          </a:prstGeom>
          <a:solidFill>
            <a:srgbClr val="09E35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withdraw()</a:t>
            </a:r>
          </a:p>
        </p:txBody>
      </p:sp>
      <p:sp>
        <p:nvSpPr>
          <p:cNvPr id="17417" name="Text Box 11"/>
          <p:cNvSpPr txBox="1">
            <a:spLocks noChangeArrowheads="1"/>
          </p:cNvSpPr>
          <p:nvPr/>
        </p:nvSpPr>
        <p:spPr bwMode="auto">
          <a:xfrm>
            <a:off x="4267200" y="2933358"/>
            <a:ext cx="850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private</a:t>
            </a:r>
          </a:p>
        </p:txBody>
      </p:sp>
      <p:sp>
        <p:nvSpPr>
          <p:cNvPr id="17418" name="Text Box 12"/>
          <p:cNvSpPr txBox="1">
            <a:spLocks noChangeArrowheads="1"/>
          </p:cNvSpPr>
          <p:nvPr/>
        </p:nvSpPr>
        <p:spPr bwMode="auto">
          <a:xfrm>
            <a:off x="5791200" y="2933358"/>
            <a:ext cx="782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public</a:t>
            </a:r>
          </a:p>
        </p:txBody>
      </p:sp>
      <p:sp>
        <p:nvSpPr>
          <p:cNvPr id="17419" name="Rectangle 13"/>
          <p:cNvSpPr>
            <a:spLocks noChangeArrowheads="1"/>
          </p:cNvSpPr>
          <p:nvPr/>
        </p:nvSpPr>
        <p:spPr bwMode="auto">
          <a:xfrm>
            <a:off x="4038600" y="5676558"/>
            <a:ext cx="1371600" cy="4572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calcInterest()</a:t>
            </a:r>
          </a:p>
        </p:txBody>
      </p:sp>
      <p:sp>
        <p:nvSpPr>
          <p:cNvPr id="17420" name="Oval 20"/>
          <p:cNvSpPr>
            <a:spLocks noChangeArrowheads="1"/>
          </p:cNvSpPr>
          <p:nvPr/>
        </p:nvSpPr>
        <p:spPr bwMode="auto">
          <a:xfrm>
            <a:off x="4191000" y="4609758"/>
            <a:ext cx="990600" cy="533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balance</a:t>
            </a:r>
          </a:p>
        </p:txBody>
      </p:sp>
      <p:sp>
        <p:nvSpPr>
          <p:cNvPr id="17421" name="Rectangle 27"/>
          <p:cNvSpPr>
            <a:spLocks noChangeArrowheads="1"/>
          </p:cNvSpPr>
          <p:nvPr/>
        </p:nvSpPr>
        <p:spPr bwMode="auto">
          <a:xfrm>
            <a:off x="6324600" y="5295558"/>
            <a:ext cx="1371600" cy="533400"/>
          </a:xfrm>
          <a:prstGeom prst="rect">
            <a:avLst/>
          </a:prstGeom>
          <a:solidFill>
            <a:srgbClr val="09E35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getBalance()</a:t>
            </a:r>
          </a:p>
        </p:txBody>
      </p:sp>
      <p:sp>
        <p:nvSpPr>
          <p:cNvPr id="17422" name="Rectangle 28"/>
          <p:cNvSpPr>
            <a:spLocks noChangeArrowheads="1"/>
          </p:cNvSpPr>
          <p:nvPr/>
        </p:nvSpPr>
        <p:spPr bwMode="auto">
          <a:xfrm>
            <a:off x="9220200" y="2857158"/>
            <a:ext cx="1066800" cy="533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Client</a:t>
            </a:r>
          </a:p>
        </p:txBody>
      </p:sp>
      <p:sp>
        <p:nvSpPr>
          <p:cNvPr id="17423" name="Line 31"/>
          <p:cNvSpPr>
            <a:spLocks noChangeShapeType="1"/>
          </p:cNvSpPr>
          <p:nvPr/>
        </p:nvSpPr>
        <p:spPr bwMode="auto">
          <a:xfrm flipH="1">
            <a:off x="7696200" y="3390558"/>
            <a:ext cx="175260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4" name="Line 32"/>
          <p:cNvSpPr>
            <a:spLocks noChangeShapeType="1"/>
          </p:cNvSpPr>
          <p:nvPr/>
        </p:nvSpPr>
        <p:spPr bwMode="auto">
          <a:xfrm flipH="1">
            <a:off x="7696200" y="3390558"/>
            <a:ext cx="198120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5" name="Line 33"/>
          <p:cNvSpPr>
            <a:spLocks noChangeShapeType="1"/>
          </p:cNvSpPr>
          <p:nvPr/>
        </p:nvSpPr>
        <p:spPr bwMode="auto">
          <a:xfrm flipH="1">
            <a:off x="7696200" y="3390558"/>
            <a:ext cx="2438400" cy="22098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6" name="Text Box 34"/>
          <p:cNvSpPr txBox="1">
            <a:spLocks noChangeArrowheads="1"/>
          </p:cNvSpPr>
          <p:nvPr/>
        </p:nvSpPr>
        <p:spPr bwMode="auto">
          <a:xfrm>
            <a:off x="7924800" y="4000158"/>
            <a:ext cx="2362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Arial" panose="020B0604020202020204" pitchFamily="34" charset="0"/>
              </a:rPr>
              <a:t>A client can call any public methods</a:t>
            </a:r>
          </a:p>
        </p:txBody>
      </p:sp>
      <p:sp>
        <p:nvSpPr>
          <p:cNvPr id="17427" name="Line 35"/>
          <p:cNvSpPr>
            <a:spLocks noChangeShapeType="1"/>
          </p:cNvSpPr>
          <p:nvPr/>
        </p:nvSpPr>
        <p:spPr bwMode="auto">
          <a:xfrm flipH="1">
            <a:off x="3429000" y="4076358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8" name="Line 36"/>
          <p:cNvSpPr>
            <a:spLocks noChangeShapeType="1"/>
          </p:cNvSpPr>
          <p:nvPr/>
        </p:nvSpPr>
        <p:spPr bwMode="auto">
          <a:xfrm flipH="1" flipV="1">
            <a:off x="3429000" y="4609758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9" name="Text Box 37"/>
          <p:cNvSpPr txBox="1">
            <a:spLocks noChangeArrowheads="1"/>
          </p:cNvSpPr>
          <p:nvPr/>
        </p:nvSpPr>
        <p:spPr bwMode="auto">
          <a:xfrm>
            <a:off x="2895601" y="4381158"/>
            <a:ext cx="6016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data</a:t>
            </a:r>
          </a:p>
        </p:txBody>
      </p:sp>
      <p:sp>
        <p:nvSpPr>
          <p:cNvPr id="17430" name="Line 38"/>
          <p:cNvSpPr>
            <a:spLocks noChangeShapeType="1"/>
          </p:cNvSpPr>
          <p:nvPr/>
        </p:nvSpPr>
        <p:spPr bwMode="auto">
          <a:xfrm>
            <a:off x="6934200" y="5828958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1" name="Line 39"/>
          <p:cNvSpPr>
            <a:spLocks noChangeShapeType="1"/>
          </p:cNvSpPr>
          <p:nvPr/>
        </p:nvSpPr>
        <p:spPr bwMode="auto">
          <a:xfrm>
            <a:off x="5334000" y="6209958"/>
            <a:ext cx="2895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2" name="Text Box 40"/>
          <p:cNvSpPr txBox="1">
            <a:spLocks noChangeArrowheads="1"/>
          </p:cNvSpPr>
          <p:nvPr/>
        </p:nvSpPr>
        <p:spPr bwMode="auto">
          <a:xfrm>
            <a:off x="8229600" y="6286158"/>
            <a:ext cx="9223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methods</a:t>
            </a:r>
          </a:p>
        </p:txBody>
      </p:sp>
      <p:sp>
        <p:nvSpPr>
          <p:cNvPr id="17433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76800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Class and inheritance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74485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46981" y="745640"/>
            <a:ext cx="3657103" cy="639763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b="1" dirty="0"/>
              <a:t>What is a class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946980" y="1634130"/>
            <a:ext cx="10394787" cy="5031365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 </a:t>
            </a:r>
            <a:r>
              <a:rPr lang="en-US" altLang="en-US" b="1" dirty="0"/>
              <a:t>class</a:t>
            </a:r>
            <a:r>
              <a:rPr lang="en-US" altLang="en-US" dirty="0"/>
              <a:t> is a </a:t>
            </a:r>
            <a:r>
              <a:rPr lang="en-US" altLang="en-US" b="1" dirty="0">
                <a:solidFill>
                  <a:srgbClr val="0000FF"/>
                </a:solidFill>
              </a:rPr>
              <a:t>blueprint</a:t>
            </a:r>
            <a:r>
              <a:rPr lang="en-US" altLang="en-US" dirty="0"/>
              <a:t> that defines variables and methods 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 </a:t>
            </a:r>
            <a:r>
              <a:rPr lang="en-US" altLang="en-US" sz="2800" b="1" dirty="0"/>
              <a:t>class</a:t>
            </a:r>
            <a:r>
              <a:rPr lang="en-US" altLang="en-US" dirty="0"/>
              <a:t> can be </a:t>
            </a:r>
            <a:r>
              <a:rPr lang="en-US" altLang="en-US" b="1" dirty="0">
                <a:solidFill>
                  <a:srgbClr val="0000FF"/>
                </a:solidFill>
              </a:rPr>
              <a:t>used</a:t>
            </a:r>
            <a:r>
              <a:rPr lang="en-US" altLang="en-US" dirty="0"/>
              <a:t> many times to create many objects.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Objects are created as </a:t>
            </a:r>
            <a:r>
              <a:rPr lang="en-US" altLang="en-US" b="1" dirty="0">
                <a:solidFill>
                  <a:srgbClr val="0000FF"/>
                </a:solidFill>
              </a:rPr>
              <a:t>instances</a:t>
            </a:r>
            <a:r>
              <a:rPr lang="en-US" altLang="en-US" dirty="0"/>
              <a:t> of a class.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1843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1844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30761" y="743448"/>
            <a:ext cx="3250301" cy="557799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/>
              <a:t>Class vs Object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2057400" y="1981198"/>
            <a:ext cx="3124200" cy="3657600"/>
          </a:xfrm>
          <a:prstGeom prst="rect">
            <a:avLst/>
          </a:prstGeom>
          <a:noFill/>
          <a:ln w="9525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>
            <a:off x="3962400" y="1981198"/>
            <a:ext cx="0" cy="3657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0" name="Oval 6"/>
          <p:cNvSpPr>
            <a:spLocks noChangeArrowheads="1"/>
          </p:cNvSpPr>
          <p:nvPr/>
        </p:nvSpPr>
        <p:spPr bwMode="auto">
          <a:xfrm>
            <a:off x="2667000" y="3047998"/>
            <a:ext cx="990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acctId</a:t>
            </a: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4800600" y="2743198"/>
            <a:ext cx="13716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deposit()</a:t>
            </a:r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4800600" y="3657598"/>
            <a:ext cx="13716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withdraw()</a:t>
            </a:r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2362200" y="2057398"/>
            <a:ext cx="850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private</a:t>
            </a:r>
          </a:p>
        </p:txBody>
      </p:sp>
      <p:sp>
        <p:nvSpPr>
          <p:cNvPr id="21514" name="Text Box 10"/>
          <p:cNvSpPr txBox="1">
            <a:spLocks noChangeArrowheads="1"/>
          </p:cNvSpPr>
          <p:nvPr/>
        </p:nvSpPr>
        <p:spPr bwMode="auto">
          <a:xfrm>
            <a:off x="4114800" y="2057398"/>
            <a:ext cx="782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public</a:t>
            </a:r>
          </a:p>
        </p:txBody>
      </p:sp>
      <p:sp>
        <p:nvSpPr>
          <p:cNvPr id="21515" name="Rectangle 11"/>
          <p:cNvSpPr>
            <a:spLocks noChangeArrowheads="1"/>
          </p:cNvSpPr>
          <p:nvPr/>
        </p:nvSpPr>
        <p:spPr bwMode="auto">
          <a:xfrm>
            <a:off x="2514600" y="4952998"/>
            <a:ext cx="13716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calcInterest()</a:t>
            </a:r>
          </a:p>
        </p:txBody>
      </p:sp>
      <p:sp>
        <p:nvSpPr>
          <p:cNvPr id="21516" name="Oval 12"/>
          <p:cNvSpPr>
            <a:spLocks noChangeArrowheads="1"/>
          </p:cNvSpPr>
          <p:nvPr/>
        </p:nvSpPr>
        <p:spPr bwMode="auto">
          <a:xfrm>
            <a:off x="2667000" y="3886198"/>
            <a:ext cx="990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balance</a:t>
            </a:r>
          </a:p>
        </p:txBody>
      </p:sp>
      <p:sp>
        <p:nvSpPr>
          <p:cNvPr id="21517" name="Rectangle 13"/>
          <p:cNvSpPr>
            <a:spLocks noChangeArrowheads="1"/>
          </p:cNvSpPr>
          <p:nvPr/>
        </p:nvSpPr>
        <p:spPr bwMode="auto">
          <a:xfrm>
            <a:off x="4800600" y="4571998"/>
            <a:ext cx="13716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getBalance()</a:t>
            </a:r>
          </a:p>
        </p:txBody>
      </p:sp>
      <p:sp>
        <p:nvSpPr>
          <p:cNvPr id="21518" name="Rectangle 16"/>
          <p:cNvSpPr>
            <a:spLocks noChangeArrowheads="1"/>
          </p:cNvSpPr>
          <p:nvPr/>
        </p:nvSpPr>
        <p:spPr bwMode="auto">
          <a:xfrm>
            <a:off x="7010400" y="1981198"/>
            <a:ext cx="3124200" cy="3657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21519" name="Line 17"/>
          <p:cNvSpPr>
            <a:spLocks noChangeShapeType="1"/>
          </p:cNvSpPr>
          <p:nvPr/>
        </p:nvSpPr>
        <p:spPr bwMode="auto">
          <a:xfrm>
            <a:off x="8839200" y="1981198"/>
            <a:ext cx="0" cy="3657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0" name="Oval 18"/>
          <p:cNvSpPr>
            <a:spLocks noChangeArrowheads="1"/>
          </p:cNvSpPr>
          <p:nvPr/>
        </p:nvSpPr>
        <p:spPr bwMode="auto">
          <a:xfrm>
            <a:off x="7359317" y="3052007"/>
            <a:ext cx="1175084" cy="533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acctId=</a:t>
            </a:r>
            <a:r>
              <a:rPr lang="en-US" altLang="en-US" sz="1400" b="1">
                <a:solidFill>
                  <a:srgbClr val="0000FF"/>
                </a:solidFill>
                <a:latin typeface="Arial" panose="020B0604020202020204" pitchFamily="34" charset="0"/>
              </a:rPr>
              <a:t>A12</a:t>
            </a:r>
          </a:p>
        </p:txBody>
      </p:sp>
      <p:sp>
        <p:nvSpPr>
          <p:cNvPr id="21521" name="Rectangle 19"/>
          <p:cNvSpPr>
            <a:spLocks noChangeArrowheads="1"/>
          </p:cNvSpPr>
          <p:nvPr/>
        </p:nvSpPr>
        <p:spPr bwMode="auto">
          <a:xfrm>
            <a:off x="9677400" y="2895598"/>
            <a:ext cx="1371600" cy="533400"/>
          </a:xfrm>
          <a:prstGeom prst="rect">
            <a:avLst/>
          </a:prstGeom>
          <a:solidFill>
            <a:srgbClr val="09E35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deposit()</a:t>
            </a:r>
          </a:p>
        </p:txBody>
      </p:sp>
      <p:sp>
        <p:nvSpPr>
          <p:cNvPr id="21522" name="Rectangle 20"/>
          <p:cNvSpPr>
            <a:spLocks noChangeArrowheads="1"/>
          </p:cNvSpPr>
          <p:nvPr/>
        </p:nvSpPr>
        <p:spPr bwMode="auto">
          <a:xfrm>
            <a:off x="9677400" y="3809998"/>
            <a:ext cx="1371600" cy="457200"/>
          </a:xfrm>
          <a:prstGeom prst="rect">
            <a:avLst/>
          </a:prstGeom>
          <a:solidFill>
            <a:srgbClr val="09E35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withdraw()</a:t>
            </a:r>
          </a:p>
        </p:txBody>
      </p:sp>
      <p:sp>
        <p:nvSpPr>
          <p:cNvPr id="21523" name="Text Box 21"/>
          <p:cNvSpPr txBox="1">
            <a:spLocks noChangeArrowheads="1"/>
          </p:cNvSpPr>
          <p:nvPr/>
        </p:nvSpPr>
        <p:spPr bwMode="auto">
          <a:xfrm>
            <a:off x="7467600" y="2133598"/>
            <a:ext cx="850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private</a:t>
            </a:r>
          </a:p>
        </p:txBody>
      </p:sp>
      <p:sp>
        <p:nvSpPr>
          <p:cNvPr id="21524" name="Text Box 22"/>
          <p:cNvSpPr txBox="1">
            <a:spLocks noChangeArrowheads="1"/>
          </p:cNvSpPr>
          <p:nvPr/>
        </p:nvSpPr>
        <p:spPr bwMode="auto">
          <a:xfrm>
            <a:off x="9144000" y="2133598"/>
            <a:ext cx="782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public</a:t>
            </a:r>
          </a:p>
        </p:txBody>
      </p:sp>
      <p:sp>
        <p:nvSpPr>
          <p:cNvPr id="21525" name="Rectangle 23"/>
          <p:cNvSpPr>
            <a:spLocks noChangeArrowheads="1"/>
          </p:cNvSpPr>
          <p:nvPr/>
        </p:nvSpPr>
        <p:spPr bwMode="auto">
          <a:xfrm>
            <a:off x="7391400" y="5105398"/>
            <a:ext cx="1371600" cy="4572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 err="1">
                <a:latin typeface="Arial" panose="020B0604020202020204" pitchFamily="34" charset="0"/>
              </a:rPr>
              <a:t>calcInterest</a:t>
            </a:r>
            <a:r>
              <a:rPr lang="en-US" altLang="en-US" sz="1600" b="1" dirty="0">
                <a:latin typeface="Arial" panose="020B0604020202020204" pitchFamily="34" charset="0"/>
              </a:rPr>
              <a:t>()</a:t>
            </a:r>
          </a:p>
        </p:txBody>
      </p:sp>
      <p:sp>
        <p:nvSpPr>
          <p:cNvPr id="21526" name="Oval 24"/>
          <p:cNvSpPr>
            <a:spLocks noChangeArrowheads="1"/>
          </p:cNvSpPr>
          <p:nvPr/>
        </p:nvSpPr>
        <p:spPr bwMode="auto">
          <a:xfrm>
            <a:off x="7086601" y="3930313"/>
            <a:ext cx="1720516" cy="5334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Balance=</a:t>
            </a:r>
            <a:r>
              <a:rPr lang="en-US" altLang="en-US" sz="1400" b="1" dirty="0">
                <a:solidFill>
                  <a:srgbClr val="0000FF"/>
                </a:solidFill>
                <a:latin typeface="Arial" panose="020B0604020202020204" pitchFamily="34" charset="0"/>
              </a:rPr>
              <a:t>100.00</a:t>
            </a:r>
          </a:p>
        </p:txBody>
      </p:sp>
      <p:sp>
        <p:nvSpPr>
          <p:cNvPr id="21527" name="Rectangle 25"/>
          <p:cNvSpPr>
            <a:spLocks noChangeArrowheads="1"/>
          </p:cNvSpPr>
          <p:nvPr/>
        </p:nvSpPr>
        <p:spPr bwMode="auto">
          <a:xfrm>
            <a:off x="9677400" y="4724398"/>
            <a:ext cx="1371600" cy="533400"/>
          </a:xfrm>
          <a:prstGeom prst="rect">
            <a:avLst/>
          </a:prstGeom>
          <a:solidFill>
            <a:srgbClr val="09E35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getBalance()</a:t>
            </a:r>
          </a:p>
        </p:txBody>
      </p:sp>
      <p:sp>
        <p:nvSpPr>
          <p:cNvPr id="21528" name="Text Box 28"/>
          <p:cNvSpPr txBox="1">
            <a:spLocks noChangeArrowheads="1"/>
          </p:cNvSpPr>
          <p:nvPr/>
        </p:nvSpPr>
        <p:spPr bwMode="auto">
          <a:xfrm>
            <a:off x="2209800" y="5943598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 err="1">
                <a:latin typeface="Arial" panose="020B0604020202020204" pitchFamily="34" charset="0"/>
              </a:rPr>
              <a:t>BankAccount</a:t>
            </a:r>
            <a:r>
              <a:rPr lang="en-US" altLang="en-US" sz="2400" dirty="0">
                <a:latin typeface="Arial" panose="020B0604020202020204" pitchFamily="34" charset="0"/>
              </a:rPr>
              <a:t> – a </a:t>
            </a: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class</a:t>
            </a:r>
          </a:p>
        </p:txBody>
      </p:sp>
      <p:sp>
        <p:nvSpPr>
          <p:cNvPr id="21529" name="Text Box 29"/>
          <p:cNvSpPr txBox="1">
            <a:spLocks noChangeArrowheads="1"/>
          </p:cNvSpPr>
          <p:nvPr/>
        </p:nvSpPr>
        <p:spPr bwMode="auto">
          <a:xfrm>
            <a:off x="6781800" y="5714998"/>
            <a:ext cx="342900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 err="1">
                <a:solidFill>
                  <a:srgbClr val="800000"/>
                </a:solidFill>
                <a:latin typeface="Arial" panose="020B0604020202020204" pitchFamily="34" charset="0"/>
              </a:rPr>
              <a:t>myAccount</a:t>
            </a:r>
            <a:r>
              <a:rPr lang="en-US" altLang="en-US" sz="2400" dirty="0">
                <a:latin typeface="Arial" panose="020B0604020202020204" pitchFamily="34" charset="0"/>
              </a:rPr>
              <a:t> – an </a:t>
            </a:r>
            <a:r>
              <a:rPr lang="en-US" altLang="en-US" sz="2400" b="1" dirty="0">
                <a:solidFill>
                  <a:srgbClr val="92D050"/>
                </a:solidFill>
                <a:latin typeface="Arial" panose="020B0604020202020204" pitchFamily="34" charset="0"/>
              </a:rPr>
              <a:t>object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of </a:t>
            </a:r>
            <a:r>
              <a:rPr lang="en-US" altLang="en-US" sz="1800" dirty="0">
                <a:solidFill>
                  <a:srgbClr val="0000FF"/>
                </a:solidFill>
                <a:latin typeface="Arial" panose="020B0604020202020204" pitchFamily="34" charset="0"/>
              </a:rPr>
              <a:t>type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BankAccount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153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69464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Encapsulation</a:t>
            </a:r>
            <a:br>
              <a:rPr lang="en-US" dirty="0"/>
            </a:br>
            <a:r>
              <a:rPr lang="en-US" dirty="0"/>
              <a:t>Information Hiding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11216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41906" y="749654"/>
            <a:ext cx="3824835" cy="563562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/>
              <a:t>Information hiding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941906" y="1603713"/>
            <a:ext cx="10391841" cy="5030680"/>
          </a:xfrm>
          <a:ln>
            <a:miter lim="800000"/>
            <a:headEnd/>
            <a:tailEnd/>
          </a:ln>
        </p:spPr>
        <p:txBody>
          <a:bodyPr/>
          <a:lstStyle/>
          <a:p>
            <a:pPr marL="0" indent="0">
              <a:buNone/>
              <a:defRPr/>
            </a:pPr>
            <a:r>
              <a:rPr lang="en-US" altLang="en-US" sz="4000" dirty="0"/>
              <a:t>In a class</a:t>
            </a:r>
            <a:r>
              <a:rPr lang="en-US" altLang="en-US" sz="4000" b="1" dirty="0">
                <a:solidFill>
                  <a:srgbClr val="800000"/>
                </a:solidFill>
              </a:rPr>
              <a:t>:</a:t>
            </a:r>
          </a:p>
          <a:p>
            <a:pPr eaLnBrk="1" hangingPunct="1">
              <a:defRPr/>
            </a:pPr>
            <a:r>
              <a:rPr lang="en-US" altLang="en-US" b="1" dirty="0">
                <a:solidFill>
                  <a:srgbClr val="800000"/>
                </a:solidFill>
              </a:rPr>
              <a:t>public</a:t>
            </a:r>
            <a:r>
              <a:rPr lang="en-US" altLang="en-US" dirty="0"/>
              <a:t> features can be seen and manipulated by anybody – </a:t>
            </a:r>
            <a:br>
              <a:rPr lang="en-US" altLang="en-US" dirty="0"/>
            </a:br>
            <a:r>
              <a:rPr lang="en-US" altLang="en-US" dirty="0"/>
              <a:t>they are the external </a:t>
            </a:r>
            <a:r>
              <a:rPr lang="en-US" altLang="en-US" dirty="0">
                <a:solidFill>
                  <a:srgbClr val="0000FF"/>
                </a:solidFill>
              </a:rPr>
              <a:t>(</a:t>
            </a:r>
            <a:r>
              <a:rPr lang="en-US" altLang="en-US" b="1" dirty="0">
                <a:solidFill>
                  <a:srgbClr val="0000FF"/>
                </a:solidFill>
              </a:rPr>
              <a:t>interface</a:t>
            </a:r>
            <a:r>
              <a:rPr lang="en-US" altLang="en-US" dirty="0">
                <a:solidFill>
                  <a:srgbClr val="0000FF"/>
                </a:solidFill>
              </a:rPr>
              <a:t>)</a:t>
            </a:r>
            <a:r>
              <a:rPr lang="en-US" altLang="en-US" dirty="0"/>
              <a:t> view. </a:t>
            </a:r>
          </a:p>
          <a:p>
            <a:pPr eaLnBrk="1" hangingPunct="1">
              <a:defRPr/>
            </a:pPr>
            <a:endParaRPr lang="en-US" altLang="en-US" b="1" dirty="0">
              <a:solidFill>
                <a:srgbClr val="800000"/>
              </a:solidFill>
            </a:endParaRPr>
          </a:p>
          <a:p>
            <a:pPr eaLnBrk="1" hangingPunct="1">
              <a:defRPr/>
            </a:pPr>
            <a:r>
              <a:rPr lang="en-US" altLang="en-US" b="1" dirty="0">
                <a:solidFill>
                  <a:srgbClr val="800000"/>
                </a:solidFill>
              </a:rPr>
              <a:t>private</a:t>
            </a:r>
            <a:r>
              <a:rPr lang="en-US" altLang="en-US" dirty="0"/>
              <a:t> features can be manipulated by only the other members of that class. </a:t>
            </a:r>
            <a:br>
              <a:rPr lang="en-US" altLang="en-US" dirty="0"/>
            </a:br>
            <a:r>
              <a:rPr lang="en-US" altLang="en-US" dirty="0"/>
              <a:t>They are the internal</a:t>
            </a:r>
            <a:r>
              <a:rPr lang="en-US" altLang="en-US" dirty="0">
                <a:solidFill>
                  <a:srgbClr val="0000FF"/>
                </a:solidFill>
              </a:rPr>
              <a:t> (implementation)</a:t>
            </a:r>
            <a:r>
              <a:rPr lang="en-US" altLang="en-US" dirty="0"/>
              <a:t> view. 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Good OO design recommends that </a:t>
            </a:r>
          </a:p>
          <a:p>
            <a:pPr lvl="1" eaLnBrk="1" hangingPunct="1">
              <a:defRPr/>
            </a:pPr>
            <a:r>
              <a:rPr lang="en-US" altLang="en-US" b="1" dirty="0"/>
              <a:t>methods are </a:t>
            </a:r>
            <a:r>
              <a:rPr lang="en-US" altLang="en-US" b="1" dirty="0">
                <a:solidFill>
                  <a:srgbClr val="0000FF"/>
                </a:solidFill>
              </a:rPr>
              <a:t>public</a:t>
            </a:r>
            <a:r>
              <a:rPr lang="en-US" altLang="en-US" b="1" dirty="0"/>
              <a:t> and </a:t>
            </a:r>
          </a:p>
          <a:p>
            <a:pPr lvl="1" eaLnBrk="1" hangingPunct="1">
              <a:defRPr/>
            </a:pPr>
            <a:r>
              <a:rPr lang="en-US" altLang="en-US" b="1" dirty="0">
                <a:solidFill>
                  <a:srgbClr val="0000FF"/>
                </a:solidFill>
              </a:rPr>
              <a:t>data</a:t>
            </a:r>
            <a:r>
              <a:rPr lang="en-US" altLang="en-US" b="1" dirty="0"/>
              <a:t> fields are </a:t>
            </a:r>
            <a:r>
              <a:rPr lang="en-US" altLang="en-US" b="1" dirty="0">
                <a:solidFill>
                  <a:srgbClr val="FF0000"/>
                </a:solidFill>
              </a:rPr>
              <a:t>private</a:t>
            </a:r>
            <a:r>
              <a:rPr lang="en-US" altLang="en-US" b="1" dirty="0"/>
              <a:t>. </a:t>
            </a:r>
          </a:p>
          <a:p>
            <a:pPr eaLnBrk="1" hangingPunct="1">
              <a:defRPr/>
            </a:pPr>
            <a:endParaRPr lang="en-US" altLang="en-US" b="1" dirty="0"/>
          </a:p>
        </p:txBody>
      </p:sp>
      <p:sp>
        <p:nvSpPr>
          <p:cNvPr id="19460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994" y="4168265"/>
            <a:ext cx="4024827" cy="246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5157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33352" y="744326"/>
            <a:ext cx="3662711" cy="683421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Encapsulation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933351" y="1857193"/>
            <a:ext cx="10428469" cy="4792259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solidFill>
                  <a:srgbClr val="800000"/>
                </a:solidFill>
              </a:rPr>
              <a:t>Encapsulation:</a:t>
            </a:r>
            <a:r>
              <a:rPr lang="en-US" altLang="en-US" sz="2400" b="1" dirty="0"/>
              <a:t> </a:t>
            </a:r>
            <a:r>
              <a:rPr lang="en-US" altLang="en-US" sz="2400" dirty="0"/>
              <a:t>process of packaging </a:t>
            </a:r>
            <a:r>
              <a:rPr lang="en-US" altLang="en-US" sz="2400" b="1" dirty="0">
                <a:solidFill>
                  <a:srgbClr val="92D050"/>
                </a:solidFill>
              </a:rPr>
              <a:t>related code</a:t>
            </a:r>
            <a:r>
              <a:rPr lang="en-US" altLang="en-US" sz="2400" dirty="0"/>
              <a:t> and data as a single unit.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Encapsulation supports </a:t>
            </a:r>
            <a:r>
              <a:rPr lang="en-US" altLang="en-US" sz="2400" b="1" dirty="0">
                <a:solidFill>
                  <a:srgbClr val="800000"/>
                </a:solidFill>
              </a:rPr>
              <a:t>information hiding</a:t>
            </a:r>
            <a:r>
              <a:rPr lang="en-US" altLang="en-US" sz="2400" dirty="0"/>
              <a:t>.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Hides</a:t>
            </a:r>
            <a:r>
              <a:rPr lang="en-US" altLang="en-US" sz="2400" dirty="0"/>
              <a:t> the complexity of implementation details.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It focuses on the </a:t>
            </a:r>
            <a:r>
              <a:rPr lang="en-US" altLang="en-US" sz="2400" b="1" dirty="0">
                <a:solidFill>
                  <a:srgbClr val="92D050"/>
                </a:solidFill>
              </a:rPr>
              <a:t>observable</a:t>
            </a:r>
            <a:r>
              <a:rPr lang="en-US" altLang="en-US" sz="2400" dirty="0"/>
              <a:t> behavior (interface) of an object.</a:t>
            </a:r>
            <a:endParaRPr lang="en-US" altLang="en-US" b="1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762405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217" y="2290046"/>
            <a:ext cx="10555357" cy="1378942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/>
              <a:t>Class Diagram</a:t>
            </a:r>
            <a:br>
              <a:rPr lang="en-US" dirty="0"/>
            </a:br>
            <a:r>
              <a:rPr lang="en-US" dirty="0"/>
              <a:t>(continue)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45749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60143" y="739960"/>
            <a:ext cx="2143714" cy="609600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200" dirty="0"/>
              <a:t>Hierarchy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960143" y="1727934"/>
            <a:ext cx="10309436" cy="4913498"/>
          </a:xfrm>
        </p:spPr>
        <p:txBody>
          <a:bodyPr/>
          <a:lstStyle/>
          <a:p>
            <a:pPr lvl="1" eaLnBrk="1" hangingPunct="1">
              <a:buFontTx/>
              <a:buNone/>
            </a:pPr>
            <a:r>
              <a:rPr lang="en-US" altLang="en-US" b="1" u="sng" dirty="0" err="1">
                <a:solidFill>
                  <a:srgbClr val="0000FF"/>
                </a:solidFill>
              </a:rPr>
              <a:t>has_A</a:t>
            </a:r>
            <a:r>
              <a:rPr lang="en-US" altLang="en-US" b="1" u="sng" dirty="0">
                <a:solidFill>
                  <a:srgbClr val="800000"/>
                </a:solidFill>
              </a:rPr>
              <a:t> </a:t>
            </a:r>
            <a:r>
              <a:rPr lang="en-US" altLang="en-US" b="1" u="sng" dirty="0">
                <a:solidFill>
                  <a:schemeClr val="tx1"/>
                </a:solidFill>
              </a:rPr>
              <a:t>or containment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Division into component parts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Characterized by sentences that have the words “</a:t>
            </a:r>
            <a:r>
              <a:rPr lang="en-US" altLang="en-US" b="1" dirty="0">
                <a:solidFill>
                  <a:srgbClr val="0000FF"/>
                </a:solidFill>
              </a:rPr>
              <a:t>has-a</a:t>
            </a:r>
            <a:r>
              <a:rPr lang="en-US" altLang="en-US" dirty="0"/>
              <a:t>”:</a:t>
            </a:r>
          </a:p>
          <a:p>
            <a:pPr lvl="2"/>
            <a:r>
              <a:rPr lang="en-US" altLang="en-US" i="1" dirty="0">
                <a:solidFill>
                  <a:srgbClr val="006600"/>
                </a:solidFill>
              </a:rPr>
              <a:t>A car </a:t>
            </a:r>
            <a:r>
              <a:rPr lang="en-US" altLang="en-US" b="1" i="1" dirty="0">
                <a:solidFill>
                  <a:srgbClr val="0000FF"/>
                </a:solidFill>
              </a:rPr>
              <a:t>has-a</a:t>
            </a:r>
            <a:r>
              <a:rPr lang="en-US" altLang="en-US" i="1" dirty="0">
                <a:solidFill>
                  <a:srgbClr val="006600"/>
                </a:solidFill>
              </a:rPr>
              <a:t> engine </a:t>
            </a:r>
          </a:p>
          <a:p>
            <a:pPr lvl="2"/>
            <a:r>
              <a:rPr lang="en-US" altLang="en-US" i="1" dirty="0">
                <a:solidFill>
                  <a:srgbClr val="006600"/>
                </a:solidFill>
              </a:rPr>
              <a:t>A bicycle </a:t>
            </a:r>
            <a:r>
              <a:rPr lang="en-US" altLang="en-US" b="1" i="1" dirty="0">
                <a:solidFill>
                  <a:srgbClr val="0000FF"/>
                </a:solidFill>
              </a:rPr>
              <a:t>has-a</a:t>
            </a:r>
            <a:r>
              <a:rPr lang="en-US" altLang="en-US" i="1" dirty="0">
                <a:solidFill>
                  <a:srgbClr val="006600"/>
                </a:solidFill>
              </a:rPr>
              <a:t> wheel(s )</a:t>
            </a:r>
          </a:p>
          <a:p>
            <a:pPr lvl="2"/>
            <a:r>
              <a:rPr lang="en-US" altLang="en-US" i="1" dirty="0">
                <a:solidFill>
                  <a:srgbClr val="006600"/>
                </a:solidFill>
              </a:rPr>
              <a:t>A window </a:t>
            </a:r>
            <a:r>
              <a:rPr lang="en-US" altLang="en-US" b="1" i="1" dirty="0">
                <a:solidFill>
                  <a:srgbClr val="0000FF"/>
                </a:solidFill>
              </a:rPr>
              <a:t>has-a</a:t>
            </a:r>
            <a:r>
              <a:rPr lang="en-US" altLang="en-US" i="1" dirty="0">
                <a:solidFill>
                  <a:srgbClr val="006600"/>
                </a:solidFill>
              </a:rPr>
              <a:t> menu bar 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/>
              <a:t>Drop down level of complexity.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E35C1C-C5E3-5DF1-0ACD-CEC0BFDEA039}"/>
              </a:ext>
            </a:extLst>
          </p:cNvPr>
          <p:cNvSpPr txBox="1"/>
          <p:nvPr/>
        </p:nvSpPr>
        <p:spPr>
          <a:xfrm>
            <a:off x="8664951" y="826340"/>
            <a:ext cx="34638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Has-A component(s)</a:t>
            </a:r>
          </a:p>
        </p:txBody>
      </p:sp>
    </p:spTree>
    <p:extLst>
      <p:ext uri="{BB962C8B-B14F-4D97-AF65-F5344CB8AC3E}">
        <p14:creationId xmlns:p14="http://schemas.microsoft.com/office/powerpoint/2010/main" val="1707010480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38713" y="738398"/>
            <a:ext cx="7848600" cy="609600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200" dirty="0"/>
              <a:t>Inheritance (</a:t>
            </a:r>
            <a:r>
              <a:rPr lang="en-US" altLang="en-US" sz="3200" i="1" dirty="0">
                <a:solidFill>
                  <a:srgbClr val="FF0000"/>
                </a:solidFill>
              </a:rPr>
              <a:t>is-a</a:t>
            </a:r>
            <a:r>
              <a:rPr lang="en-US" altLang="en-US" sz="3200" dirty="0"/>
              <a:t> hierarchy)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938713" y="1661067"/>
            <a:ext cx="10423108" cy="4992396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 u="sng" dirty="0">
                <a:solidFill>
                  <a:srgbClr val="800000"/>
                </a:solidFill>
              </a:rPr>
              <a:t>Inheritance: </a:t>
            </a:r>
            <a:r>
              <a:rPr lang="en-US" altLang="en-US" dirty="0"/>
              <a:t>complex system viewed as an instance of a more </a:t>
            </a:r>
            <a:r>
              <a:rPr lang="en-US" altLang="en-US" b="1" dirty="0">
                <a:solidFill>
                  <a:srgbClr val="92D050"/>
                </a:solidFill>
              </a:rPr>
              <a:t>general abstraction</a:t>
            </a:r>
            <a:r>
              <a:rPr lang="en-US" altLang="en-US" dirty="0"/>
              <a:t>. </a:t>
            </a:r>
          </a:p>
          <a:p>
            <a:pPr eaLnBrk="1" hangingPunct="1">
              <a:buFontTx/>
              <a:buNone/>
            </a:pPr>
            <a:endParaRPr lang="en-US" altLang="en-US" dirty="0"/>
          </a:p>
          <a:p>
            <a:pPr eaLnBrk="1" hangingPunct="1">
              <a:buFontTx/>
              <a:buNone/>
            </a:pPr>
            <a:r>
              <a:rPr lang="en-US" altLang="en-US" dirty="0"/>
              <a:t>Characterized by “</a:t>
            </a:r>
            <a:r>
              <a:rPr lang="en-US" altLang="en-US" b="1" dirty="0">
                <a:solidFill>
                  <a:srgbClr val="FF0000"/>
                </a:solidFill>
              </a:rPr>
              <a:t>is-a</a:t>
            </a:r>
            <a:r>
              <a:rPr lang="en-US" altLang="en-US" dirty="0"/>
              <a:t>” (extends): </a:t>
            </a:r>
          </a:p>
          <a:p>
            <a:pPr lvl="1"/>
            <a:endParaRPr lang="en-US" altLang="en-US" i="1" dirty="0">
              <a:solidFill>
                <a:srgbClr val="006600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 car </a:t>
            </a:r>
            <a:r>
              <a:rPr lang="en-US" altLang="en-US" b="1" dirty="0">
                <a:solidFill>
                  <a:srgbClr val="FF0000"/>
                </a:solidFill>
              </a:rPr>
              <a:t>is-a</a:t>
            </a:r>
            <a:r>
              <a:rPr lang="en-US" altLang="en-US" dirty="0">
                <a:solidFill>
                  <a:schemeClr val="tx1"/>
                </a:solidFill>
              </a:rPr>
              <a:t> wheeled vehicle, which </a:t>
            </a:r>
            <a:r>
              <a:rPr lang="en-US" altLang="en-US" b="1" dirty="0">
                <a:solidFill>
                  <a:srgbClr val="FF0000"/>
                </a:solidFill>
              </a:rPr>
              <a:t>is-a</a:t>
            </a:r>
            <a:r>
              <a:rPr lang="en-US" altLang="en-US" dirty="0">
                <a:solidFill>
                  <a:schemeClr val="tx1"/>
                </a:solidFill>
              </a:rPr>
              <a:t> means of transportation 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 bicycle </a:t>
            </a:r>
            <a:r>
              <a:rPr lang="en-US" altLang="en-US" b="1" dirty="0">
                <a:solidFill>
                  <a:srgbClr val="FF0000"/>
                </a:solidFill>
              </a:rPr>
              <a:t>is-a</a:t>
            </a:r>
            <a:r>
              <a:rPr lang="en-US" altLang="en-US" dirty="0">
                <a:solidFill>
                  <a:schemeClr val="tx1"/>
                </a:solidFill>
              </a:rPr>
              <a:t> wheeled vehicle 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 pack horse </a:t>
            </a:r>
            <a:r>
              <a:rPr lang="en-US" altLang="en-US" b="1" dirty="0">
                <a:solidFill>
                  <a:srgbClr val="FF0000"/>
                </a:solidFill>
              </a:rPr>
              <a:t>is-a</a:t>
            </a:r>
            <a:r>
              <a:rPr lang="en-US" altLang="en-US" dirty="0">
                <a:solidFill>
                  <a:schemeClr val="tx1"/>
                </a:solidFill>
              </a:rPr>
              <a:t> means of transportation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6B31EA-63DC-2769-A6F5-6BFA9545859A}"/>
              </a:ext>
            </a:extLst>
          </p:cNvPr>
          <p:cNvSpPr txBox="1"/>
          <p:nvPr/>
        </p:nvSpPr>
        <p:spPr>
          <a:xfrm>
            <a:off x="8462361" y="887319"/>
            <a:ext cx="3503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Is-A inherited feature</a:t>
            </a:r>
          </a:p>
        </p:txBody>
      </p:sp>
    </p:spTree>
    <p:extLst>
      <p:ext uri="{BB962C8B-B14F-4D97-AF65-F5344CB8AC3E}">
        <p14:creationId xmlns:p14="http://schemas.microsoft.com/office/powerpoint/2010/main" val="38740994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42976" y="747126"/>
            <a:ext cx="8763000" cy="685800"/>
          </a:xfrm>
          <a:ln>
            <a:miter lim="800000"/>
            <a:headEnd/>
            <a:tailEnd/>
          </a:ln>
        </p:spPr>
        <p:txBody>
          <a:bodyPr vert="horz" lIns="103584" tIns="51793" rIns="103584" bIns="51793" rtlCol="0" anchor="ctr">
            <a:normAutofit/>
          </a:bodyPr>
          <a:lstStyle/>
          <a:p>
            <a:r>
              <a:rPr lang="en-US" altLang="en-US" dirty="0"/>
              <a:t>Class diagram (Visio)</a:t>
            </a:r>
            <a:endParaRPr lang="en-US" altLang="en-US" b="1" dirty="0"/>
          </a:p>
        </p:txBody>
      </p:sp>
      <p:sp>
        <p:nvSpPr>
          <p:cNvPr id="6156" name="Slide Number Placeholder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590D5E-F97C-AF83-7740-9AB40997F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250" y="1773551"/>
            <a:ext cx="7172325" cy="2667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81A779-22A7-2761-92CB-ACC0D6CEC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125" y="4508500"/>
            <a:ext cx="2708574" cy="1383349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7C9AF35-0B62-87FE-F400-AE0642EBEB99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5108390" y="4192250"/>
            <a:ext cx="735136" cy="180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4E2FE668-C0B0-BEDB-2C8C-BEE89F5D5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4117" y="4731256"/>
            <a:ext cx="2225110" cy="1257671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41EF577-008C-F6E6-B8DA-165CD936CEDE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2356672" y="4192250"/>
            <a:ext cx="0" cy="539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F00D8E-90EE-8DFF-ABBC-9938FB864B5B}"/>
              </a:ext>
            </a:extLst>
          </p:cNvPr>
          <p:cNvCxnSpPr>
            <a:cxnSpLocks/>
          </p:cNvCxnSpPr>
          <p:nvPr/>
        </p:nvCxnSpPr>
        <p:spPr>
          <a:xfrm flipH="1" flipV="1">
            <a:off x="5843526" y="3583653"/>
            <a:ext cx="2225171" cy="930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ECCC9E59-D5EB-090F-14F2-AC0F22FD45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3603" y="4513680"/>
            <a:ext cx="5084659" cy="187200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773363" y="3092121"/>
            <a:ext cx="298190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server knows a customer,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but a customer does not know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server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7979473" y="3415777"/>
            <a:ext cx="7211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245493" y="815086"/>
            <a:ext cx="411202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one element depends on another element.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 indicate that a change of one might require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change to the other.</a:t>
            </a:r>
          </a:p>
        </p:txBody>
      </p:sp>
      <p:cxnSp>
        <p:nvCxnSpPr>
          <p:cNvPr id="11" name="Elbow Connector 10"/>
          <p:cNvCxnSpPr/>
          <p:nvPr/>
        </p:nvCxnSpPr>
        <p:spPr>
          <a:xfrm rot="5400000">
            <a:off x="4518510" y="1235204"/>
            <a:ext cx="2940058" cy="2620441"/>
          </a:xfrm>
          <a:prstGeom prst="bentConnector3">
            <a:avLst>
              <a:gd name="adj1" fmla="val 198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34EEED9-4190-C308-176C-D02999DA94E9}"/>
              </a:ext>
            </a:extLst>
          </p:cNvPr>
          <p:cNvSpPr txBox="1"/>
          <p:nvPr/>
        </p:nvSpPr>
        <p:spPr>
          <a:xfrm>
            <a:off x="3606800" y="5891849"/>
            <a:ext cx="3462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strong lifecycle dependency between the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two: meaning that when Person is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deleted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then Head, Hand, Leg will also be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deleted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!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F59E5C-EE49-8E05-6118-48C8A870D13D}"/>
              </a:ext>
            </a:extLst>
          </p:cNvPr>
          <p:cNvSpPr txBox="1"/>
          <p:nvPr/>
        </p:nvSpPr>
        <p:spPr>
          <a:xfrm>
            <a:off x="868550" y="5932667"/>
            <a:ext cx="279756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doesn't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 state in any way that Class 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owns Class B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nor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 that there's 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37C85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parent-child relationship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6953AA-AA68-DF83-C567-31EC063F46D4}"/>
              </a:ext>
            </a:extLst>
          </p:cNvPr>
          <p:cNvSpPr txBox="1"/>
          <p:nvPr/>
        </p:nvSpPr>
        <p:spPr>
          <a:xfrm>
            <a:off x="4120779" y="4372591"/>
            <a:ext cx="1975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Needs at least one person</a:t>
            </a:r>
          </a:p>
        </p:txBody>
      </p:sp>
    </p:spTree>
    <p:extLst>
      <p:ext uri="{BB962C8B-B14F-4D97-AF65-F5344CB8AC3E}">
        <p14:creationId xmlns:p14="http://schemas.microsoft.com/office/powerpoint/2010/main" val="3814223417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1B62659-F15D-8894-8C73-228901923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646" y="1839603"/>
            <a:ext cx="3422208" cy="465137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639236" y="2370968"/>
            <a:ext cx="14542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Super class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Base class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Parent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528" y="5287983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Subclass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Derived class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Child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19671" y="1932854"/>
            <a:ext cx="2578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Wording is Important!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5019" y="737829"/>
            <a:ext cx="445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Inheritance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86695" y="3797849"/>
            <a:ext cx="52309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super class is a generalization of a subclass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derived class is an extension of a base class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parent class is extended by a child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590" y="2961687"/>
            <a:ext cx="23385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Visibility: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 Public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  Private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# Protected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~ Package/Internal</a:t>
            </a:r>
          </a:p>
        </p:txBody>
      </p:sp>
    </p:spTree>
    <p:extLst>
      <p:ext uri="{BB962C8B-B14F-4D97-AF65-F5344CB8AC3E}">
        <p14:creationId xmlns:p14="http://schemas.microsoft.com/office/powerpoint/2010/main" val="3654702681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5019" y="737829"/>
            <a:ext cx="445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Inheritance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8695" y="1445715"/>
            <a:ext cx="1023610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Visibility: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Public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</a:t>
            </a:r>
          </a:p>
          <a:p>
            <a:pPr lvl="0">
              <a:defRPr/>
            </a:pPr>
            <a:r>
              <a:rPr lang="en-US" dirty="0"/>
              <a:t>	Access </a:t>
            </a:r>
            <a:r>
              <a:rPr lang="en-US" b="1" dirty="0">
                <a:solidFill>
                  <a:srgbClr val="92D050"/>
                </a:solidFill>
              </a:rPr>
              <a:t>everywhere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	Accessed from </a:t>
            </a:r>
            <a:r>
              <a:rPr lang="en-US" b="1" dirty="0">
                <a:solidFill>
                  <a:srgbClr val="92D050"/>
                </a:solidFill>
              </a:rPr>
              <a:t>within</a:t>
            </a:r>
            <a:r>
              <a:rPr lang="en-US" dirty="0"/>
              <a:t> the class, </a:t>
            </a:r>
            <a:r>
              <a:rPr lang="en-US" b="1" dirty="0">
                <a:solidFill>
                  <a:srgbClr val="92D050"/>
                </a:solidFill>
              </a:rPr>
              <a:t>outside</a:t>
            </a:r>
            <a:r>
              <a:rPr lang="en-US" dirty="0"/>
              <a:t> the class, </a:t>
            </a:r>
            <a:r>
              <a:rPr lang="en-US" b="1" dirty="0">
                <a:solidFill>
                  <a:srgbClr val="92D050"/>
                </a:solidFill>
              </a:rPr>
              <a:t>within the package </a:t>
            </a:r>
            <a:br>
              <a:rPr lang="en-US" dirty="0"/>
            </a:br>
            <a:r>
              <a:rPr lang="en-US" dirty="0"/>
              <a:t>	and </a:t>
            </a:r>
            <a:r>
              <a:rPr lang="en-US" b="1" dirty="0">
                <a:solidFill>
                  <a:srgbClr val="92D050"/>
                </a:solidFill>
              </a:rPr>
              <a:t>outside the package</a:t>
            </a:r>
            <a:r>
              <a:rPr lang="en-US" dirty="0"/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lvl="0"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lvl="0"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Private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</a:t>
            </a:r>
            <a:r>
              <a:rPr lang="en-US" dirty="0">
                <a:solidFill>
                  <a:srgbClr val="000000"/>
                </a:solidFill>
              </a:rPr>
              <a:t> </a:t>
            </a:r>
          </a:p>
          <a:p>
            <a:pPr lvl="0">
              <a:defRPr/>
            </a:pPr>
            <a:r>
              <a:rPr lang="en-US" dirty="0">
                <a:solidFill>
                  <a:srgbClr val="000000"/>
                </a:solidFill>
              </a:rPr>
              <a:t>	Access is only </a:t>
            </a:r>
            <a:r>
              <a:rPr lang="en-US" b="1" dirty="0">
                <a:solidFill>
                  <a:srgbClr val="FF0000"/>
                </a:solidFill>
              </a:rPr>
              <a:t>within the class</a:t>
            </a:r>
            <a:r>
              <a:rPr lang="en-US" dirty="0">
                <a:solidFill>
                  <a:srgbClr val="000000"/>
                </a:solidFill>
              </a:rPr>
              <a:t>. 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	It cannot be accessed from </a:t>
            </a:r>
            <a:r>
              <a:rPr lang="en-US" b="1" dirty="0">
                <a:solidFill>
                  <a:srgbClr val="FF0000"/>
                </a:solidFill>
              </a:rPr>
              <a:t>outside</a:t>
            </a:r>
            <a:r>
              <a:rPr lang="en-US" dirty="0">
                <a:solidFill>
                  <a:srgbClr val="000000"/>
                </a:solidFill>
              </a:rPr>
              <a:t> the class.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#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Protected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</a:t>
            </a:r>
          </a:p>
          <a:p>
            <a:pPr lvl="0">
              <a:defRPr/>
            </a:pPr>
            <a:r>
              <a:rPr lang="en-US" dirty="0"/>
              <a:t>	Access is </a:t>
            </a:r>
            <a:r>
              <a:rPr lang="en-US" b="1" dirty="0">
                <a:solidFill>
                  <a:srgbClr val="0000FF"/>
                </a:solidFill>
              </a:rPr>
              <a:t>within the package </a:t>
            </a:r>
            <a:r>
              <a:rPr lang="en-US" dirty="0"/>
              <a:t>and </a:t>
            </a:r>
            <a:r>
              <a:rPr lang="en-US" b="1" dirty="0">
                <a:solidFill>
                  <a:srgbClr val="0000FF"/>
                </a:solidFill>
              </a:rPr>
              <a:t>outside the package </a:t>
            </a:r>
            <a:r>
              <a:rPr lang="en-US" dirty="0"/>
              <a:t>through child class. </a:t>
            </a:r>
          </a:p>
          <a:p>
            <a:pPr lvl="0">
              <a:defRPr/>
            </a:pPr>
            <a:r>
              <a:rPr lang="en-US" dirty="0"/>
              <a:t>	If you do not make the child class, it cannot be accessed from outside the package.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~ Package/Internal/default:</a:t>
            </a:r>
          </a:p>
          <a:p>
            <a:pPr lvl="0">
              <a:defRPr/>
            </a:pPr>
            <a:r>
              <a:rPr lang="en-US" dirty="0"/>
              <a:t>	Access is only within the package. </a:t>
            </a:r>
            <a:br>
              <a:rPr lang="en-US" dirty="0"/>
            </a:br>
            <a:r>
              <a:rPr lang="en-US" dirty="0"/>
              <a:t>	It cannot be accessed from outside the package.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5265845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5019" y="737829"/>
            <a:ext cx="445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Inheritance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42" y="2533026"/>
            <a:ext cx="10898065" cy="21592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6C6A3B-803F-80AF-F6D8-A5D3BA20569F}"/>
              </a:ext>
            </a:extLst>
          </p:cNvPr>
          <p:cNvSpPr txBox="1"/>
          <p:nvPr/>
        </p:nvSpPr>
        <p:spPr>
          <a:xfrm>
            <a:off x="5018323" y="3191387"/>
            <a:ext cx="264037" cy="345301"/>
          </a:xfrm>
          <a:prstGeom prst="rect">
            <a:avLst/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ED36D2-AEDD-1627-5A30-44F2C6729367}"/>
              </a:ext>
            </a:extLst>
          </p:cNvPr>
          <p:cNvSpPr txBox="1"/>
          <p:nvPr/>
        </p:nvSpPr>
        <p:spPr>
          <a:xfrm>
            <a:off x="7196007" y="3221079"/>
            <a:ext cx="264037" cy="646331"/>
          </a:xfrm>
          <a:prstGeom prst="rect">
            <a:avLst/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F29C8-2C13-3E97-CE6D-25908381C91C}"/>
              </a:ext>
            </a:extLst>
          </p:cNvPr>
          <p:cNvSpPr txBox="1"/>
          <p:nvPr/>
        </p:nvSpPr>
        <p:spPr>
          <a:xfrm>
            <a:off x="9378592" y="3191387"/>
            <a:ext cx="264037" cy="1091208"/>
          </a:xfrm>
          <a:prstGeom prst="rect">
            <a:avLst/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57CF7C-F1BF-5851-2A8A-EBAA82D334A2}"/>
              </a:ext>
            </a:extLst>
          </p:cNvPr>
          <p:cNvSpPr txBox="1"/>
          <p:nvPr/>
        </p:nvSpPr>
        <p:spPr>
          <a:xfrm>
            <a:off x="3272192" y="5297473"/>
            <a:ext cx="5981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Personal: I use in general public/private and if need to …</a:t>
            </a:r>
          </a:p>
        </p:txBody>
      </p:sp>
    </p:spTree>
    <p:extLst>
      <p:ext uri="{BB962C8B-B14F-4D97-AF65-F5344CB8AC3E}">
        <p14:creationId xmlns:p14="http://schemas.microsoft.com/office/powerpoint/2010/main" val="1225745399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78639" y="745385"/>
            <a:ext cx="3248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Inheritance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B5759D-10B5-4A8B-962E-C654F0E62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113" y="2041106"/>
            <a:ext cx="3549829" cy="4269471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B5965C-90FA-5D50-0C1E-53BC859EF040}"/>
              </a:ext>
            </a:extLst>
          </p:cNvPr>
          <p:cNvSpPr txBox="1"/>
          <p:nvPr/>
        </p:nvSpPr>
        <p:spPr>
          <a:xfrm>
            <a:off x="2032000" y="2102864"/>
            <a:ext cx="29835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and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super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F23590-8AF9-74BA-AE49-074714D0EEB9}"/>
              </a:ext>
            </a:extLst>
          </p:cNvPr>
          <p:cNvSpPr txBox="1"/>
          <p:nvPr/>
        </p:nvSpPr>
        <p:spPr>
          <a:xfrm>
            <a:off x="676426" y="3553913"/>
            <a:ext cx="48461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Access everything from this current class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Recommend to use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it often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super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Access everything in superclass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Careful when using it</a:t>
            </a:r>
          </a:p>
        </p:txBody>
      </p:sp>
    </p:spTree>
    <p:extLst>
      <p:ext uri="{BB962C8B-B14F-4D97-AF65-F5344CB8AC3E}">
        <p14:creationId xmlns:p14="http://schemas.microsoft.com/office/powerpoint/2010/main" val="832260470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90671" y="774590"/>
            <a:ext cx="445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Inheritance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6" y="2775765"/>
            <a:ext cx="3788328" cy="35488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361" y="2775765"/>
            <a:ext cx="7026912" cy="33311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B5965C-90FA-5D50-0C1E-53BC859EF040}"/>
              </a:ext>
            </a:extLst>
          </p:cNvPr>
          <p:cNvSpPr txBox="1"/>
          <p:nvPr/>
        </p:nvSpPr>
        <p:spPr>
          <a:xfrm>
            <a:off x="6112888" y="897701"/>
            <a:ext cx="29835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and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super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12BE8A-9589-DD93-8FFB-D3A0D4C24034}"/>
              </a:ext>
            </a:extLst>
          </p:cNvPr>
          <p:cNvSpPr txBox="1"/>
          <p:nvPr/>
        </p:nvSpPr>
        <p:spPr>
          <a:xfrm>
            <a:off x="2962970" y="1891918"/>
            <a:ext cx="3661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 is the outcome?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024C6B9-AD52-57E4-2DCB-9A7AAD80F948}"/>
              </a:ext>
            </a:extLst>
          </p:cNvPr>
          <p:cNvCxnSpPr/>
          <p:nvPr/>
        </p:nvCxnSpPr>
        <p:spPr>
          <a:xfrm flipH="1">
            <a:off x="2962970" y="3068930"/>
            <a:ext cx="2213397" cy="21584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262322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2703" y="769619"/>
            <a:ext cx="445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Inheritance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6" y="2775765"/>
            <a:ext cx="3788328" cy="35488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B5965C-90FA-5D50-0C1E-53BC859EF040}"/>
              </a:ext>
            </a:extLst>
          </p:cNvPr>
          <p:cNvSpPr txBox="1"/>
          <p:nvPr/>
        </p:nvSpPr>
        <p:spPr>
          <a:xfrm>
            <a:off x="7197937" y="1066183"/>
            <a:ext cx="29835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and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super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12BE8A-9589-DD93-8FFB-D3A0D4C24034}"/>
              </a:ext>
            </a:extLst>
          </p:cNvPr>
          <p:cNvSpPr txBox="1"/>
          <p:nvPr/>
        </p:nvSpPr>
        <p:spPr>
          <a:xfrm>
            <a:off x="2962970" y="1891918"/>
            <a:ext cx="3661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 is the outcome?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2134" y="2478426"/>
            <a:ext cx="6165796" cy="402873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49430" y="6166131"/>
            <a:ext cx="1452520" cy="2670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1" name="Elbow Connector 10"/>
          <p:cNvCxnSpPr>
            <a:stCxn id="4" idx="0"/>
          </p:cNvCxnSpPr>
          <p:nvPr/>
        </p:nvCxnSpPr>
        <p:spPr>
          <a:xfrm rot="5400000" flipH="1" flipV="1">
            <a:off x="5235064" y="4283193"/>
            <a:ext cx="2423565" cy="1342312"/>
          </a:xfrm>
          <a:prstGeom prst="bentConnector3">
            <a:avLst>
              <a:gd name="adj1" fmla="val 84057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4" idx="1"/>
          </p:cNvCxnSpPr>
          <p:nvPr/>
        </p:nvCxnSpPr>
        <p:spPr>
          <a:xfrm rot="10800000">
            <a:off x="2536854" y="5124868"/>
            <a:ext cx="2512577" cy="1174783"/>
          </a:xfrm>
          <a:prstGeom prst="bentConnector3">
            <a:avLst>
              <a:gd name="adj1" fmla="val 41143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955748" y="2886248"/>
            <a:ext cx="2993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id again, creates confusion!</a:t>
            </a:r>
          </a:p>
        </p:txBody>
      </p:sp>
      <p:cxnSp>
        <p:nvCxnSpPr>
          <p:cNvPr id="22" name="Elbow Connector 21"/>
          <p:cNvCxnSpPr/>
          <p:nvPr/>
        </p:nvCxnSpPr>
        <p:spPr>
          <a:xfrm rot="10800000">
            <a:off x="6501951" y="3079020"/>
            <a:ext cx="2322415" cy="1213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10">
            <a:extLst>
              <a:ext uri="{FF2B5EF4-FFF2-40B4-BE49-F238E27FC236}">
                <a16:creationId xmlns:a16="http://schemas.microsoft.com/office/drawing/2014/main" id="{3E4E154E-0C83-3762-ADCA-E617E3177E4A}"/>
              </a:ext>
            </a:extLst>
          </p:cNvPr>
          <p:cNvCxnSpPr>
            <a:cxnSpLocks/>
          </p:cNvCxnSpPr>
          <p:nvPr/>
        </p:nvCxnSpPr>
        <p:spPr>
          <a:xfrm rot="10800000">
            <a:off x="2536854" y="5124867"/>
            <a:ext cx="8094523" cy="90747"/>
          </a:xfrm>
          <a:prstGeom prst="bentConnector3">
            <a:avLst>
              <a:gd name="adj1" fmla="val 81805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822843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30427" y="751445"/>
            <a:ext cx="29517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Inheritance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57DC13-EC0A-1289-6AD4-19980F6F4BF9}"/>
              </a:ext>
            </a:extLst>
          </p:cNvPr>
          <p:cNvSpPr txBox="1"/>
          <p:nvPr/>
        </p:nvSpPr>
        <p:spPr>
          <a:xfrm>
            <a:off x="930427" y="1936242"/>
            <a:ext cx="103832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 carful with member variables 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inheritance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Easy to make a mistake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Redefinition of members (child) =&gt;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 error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Mixing up “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 and “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super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Methods in different inheritance levels access member vars, but:</a:t>
            </a: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Maybe “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 member vars in one method but “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super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 in other methods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 consistent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F3A671-BC19-AF5B-1A2F-3104D7A3F5C9}"/>
              </a:ext>
            </a:extLst>
          </p:cNvPr>
          <p:cNvSpPr txBox="1"/>
          <p:nvPr/>
        </p:nvSpPr>
        <p:spPr>
          <a:xfrm>
            <a:off x="5799806" y="1166943"/>
            <a:ext cx="29835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and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super</a:t>
            </a:r>
          </a:p>
        </p:txBody>
      </p:sp>
    </p:spTree>
    <p:extLst>
      <p:ext uri="{BB962C8B-B14F-4D97-AF65-F5344CB8AC3E}">
        <p14:creationId xmlns:p14="http://schemas.microsoft.com/office/powerpoint/2010/main" val="1097293736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0621" y="749396"/>
            <a:ext cx="445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Dependency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171" y="4490043"/>
            <a:ext cx="1094883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 of one class use an object of another class, but not obvious!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the object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is not stored in any field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then this is modeled as 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dependency relationship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 dirty="0">
              <a:solidFill>
                <a:srgbClr val="000000"/>
              </a:solidFill>
              <a:latin typeface="Arial" panose="020B060402020202020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Arial" panose="020B0604020202020204"/>
              </a:rPr>
              <a:t>But only if it is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/>
              </a:rPr>
              <a:t>important</a:t>
            </a:r>
            <a:r>
              <a:rPr lang="en-US" sz="2000" dirty="0">
                <a:solidFill>
                  <a:srgbClr val="000000"/>
                </a:solidFill>
                <a:latin typeface="Arial" panose="020B0604020202020204"/>
              </a:rPr>
              <a:t> because it is redesigned a lot and created errors in the past.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Person has no member “Book”!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088" y="3089400"/>
            <a:ext cx="4626550" cy="9688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09351" y="1753282"/>
            <a:ext cx="46506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one element depends on another element.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 indicate that a change of one might require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change to the other.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041026" y="3754732"/>
            <a:ext cx="368604" cy="1848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1183045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73316" y="734873"/>
            <a:ext cx="64614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Unidirectional Association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1735" y="1706155"/>
            <a:ext cx="528495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One way association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 object store another object in a field.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example: people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own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books,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modeled by an owns field in Person objects.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book be owned by many people,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 reverse direction is not modeled.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871" y="4202630"/>
            <a:ext cx="4218325" cy="1045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68277" y="3749419"/>
            <a:ext cx="1428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Cardinality: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1623" y="4173464"/>
            <a:ext cx="1654672" cy="2198972"/>
          </a:xfrm>
          <a:prstGeom prst="rect">
            <a:avLst/>
          </a:prstGeom>
        </p:spPr>
      </p:pic>
      <p:cxnSp>
        <p:nvCxnSpPr>
          <p:cNvPr id="8" name="Straight Arrow Connector 7"/>
          <p:cNvCxnSpPr>
            <a:cxnSpLocks/>
          </p:cNvCxnSpPr>
          <p:nvPr/>
        </p:nvCxnSpPr>
        <p:spPr>
          <a:xfrm flipH="1" flipV="1">
            <a:off x="5840083" y="4725158"/>
            <a:ext cx="3328194" cy="522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</p:cNvCxnSpPr>
          <p:nvPr/>
        </p:nvCxnSpPr>
        <p:spPr>
          <a:xfrm flipH="1" flipV="1">
            <a:off x="4390845" y="4725158"/>
            <a:ext cx="4777432" cy="522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440741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21180" y="767987"/>
            <a:ext cx="64614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Bidirectional Association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0219" y="2200600"/>
            <a:ext cx="4600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Both classes/objects knows each other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737" y="3130255"/>
            <a:ext cx="4691866" cy="1017841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5363670" y="3871823"/>
            <a:ext cx="588022" cy="809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4592230" y="3912283"/>
            <a:ext cx="513844" cy="768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28644" y="4674722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How many?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54461A-3B59-3223-9A37-967C19CA42CE}"/>
              </a:ext>
            </a:extLst>
          </p:cNvPr>
          <p:cNvSpPr txBox="1"/>
          <p:nvPr/>
        </p:nvSpPr>
        <p:spPr>
          <a:xfrm>
            <a:off x="7871159" y="3316009"/>
            <a:ext cx="4185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Old library example where the previous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renters been listed in a table</a:t>
            </a:r>
          </a:p>
        </p:txBody>
      </p:sp>
    </p:spTree>
    <p:extLst>
      <p:ext uri="{BB962C8B-B14F-4D97-AF65-F5344CB8AC3E}">
        <p14:creationId xmlns:p14="http://schemas.microsoft.com/office/powerpoint/2010/main" val="2378335203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3330" y="745682"/>
            <a:ext cx="39130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Interface (Java)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9" y="2091789"/>
            <a:ext cx="4446931" cy="37992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08A7B8-C595-9FE5-D0FF-1FB6244B8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225" y="978274"/>
            <a:ext cx="4596099" cy="23982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B19772-9933-422C-3258-F4D553333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225" y="3826978"/>
            <a:ext cx="4655171" cy="206402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F9F59D6-982F-19C7-06B9-1FE28C20E56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872007" y="2231814"/>
            <a:ext cx="2329614" cy="773123"/>
          </a:xfrm>
          <a:prstGeom prst="bentConnector3">
            <a:avLst>
              <a:gd name="adj1" fmla="val 100201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A9E311B-2CF2-F7B0-D1BE-F6011315294E}"/>
              </a:ext>
            </a:extLst>
          </p:cNvPr>
          <p:cNvSpPr txBox="1"/>
          <p:nvPr/>
        </p:nvSpPr>
        <p:spPr>
          <a:xfrm>
            <a:off x="4409144" y="1740795"/>
            <a:ext cx="275889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Interface: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Contract to implement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certain functions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Multiple interfaces can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 used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Cannot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create an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 with it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Methods -&gt;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 body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constructor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Attributes are by default: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public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static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000000"/>
                </a:solidFill>
                <a:latin typeface="Arial" panose="020B0604020202020204"/>
              </a:rPr>
              <a:t>f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inal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 simulate multi-inheritance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A99807-48CF-7E02-E156-A760D6F98E22}"/>
              </a:ext>
            </a:extLst>
          </p:cNvPr>
          <p:cNvSpPr txBox="1"/>
          <p:nvPr/>
        </p:nvSpPr>
        <p:spPr>
          <a:xfrm>
            <a:off x="7295578" y="6137831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Little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Exceptions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introduction: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46F1378D-151E-4048-2B23-E2845DCB965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310052" y="5704210"/>
            <a:ext cx="608292" cy="3218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3570831-F60D-C0CF-C17A-28B05D1D3D2E}"/>
              </a:ext>
            </a:extLst>
          </p:cNvPr>
          <p:cNvCxnSpPr/>
          <p:nvPr/>
        </p:nvCxnSpPr>
        <p:spPr>
          <a:xfrm rot="5400000" flipH="1" flipV="1">
            <a:off x="9429340" y="4490732"/>
            <a:ext cx="3082994" cy="584745"/>
          </a:xfrm>
          <a:prstGeom prst="bentConnector3">
            <a:avLst>
              <a:gd name="adj1" fmla="val -2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155810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33936" y="743420"/>
            <a:ext cx="4990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Interface Example: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0BB9FF-0614-6E7B-5E7A-14BFCFB4E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914" y="2061836"/>
            <a:ext cx="6548029" cy="23338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07057A-910C-C0AB-5126-5FF59CB0E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088" y="4775376"/>
            <a:ext cx="4848875" cy="1503765"/>
          </a:xfrm>
          <a:prstGeom prst="rect">
            <a:avLst/>
          </a:prstGeom>
        </p:spPr>
      </p:pic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6485FC4D-1A4A-C160-6B5E-BA9DA2A2D13D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96805" y="4526871"/>
            <a:ext cx="1675742" cy="400292"/>
          </a:xfrm>
          <a:prstGeom prst="bentConnector3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E05A88AC-AD99-8C80-B0BA-6AE2C56A32BA}"/>
              </a:ext>
            </a:extLst>
          </p:cNvPr>
          <p:cNvCxnSpPr>
            <a:cxnSpLocks/>
          </p:cNvCxnSpPr>
          <p:nvPr/>
        </p:nvCxnSpPr>
        <p:spPr>
          <a:xfrm rot="5400000">
            <a:off x="4095179" y="3463340"/>
            <a:ext cx="3068931" cy="1510916"/>
          </a:xfrm>
          <a:prstGeom prst="bentConnector3">
            <a:avLst>
              <a:gd name="adj1" fmla="val 50000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325013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87182" y="746699"/>
            <a:ext cx="5414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Abstract Class (Java)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9E311B-2CF2-F7B0-D1BE-F6011315294E}"/>
              </a:ext>
            </a:extLst>
          </p:cNvPr>
          <p:cNvSpPr txBox="1"/>
          <p:nvPr/>
        </p:nvSpPr>
        <p:spPr>
          <a:xfrm>
            <a:off x="4485674" y="2080589"/>
            <a:ext cx="27588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Abstract class: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Contract to implement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certain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functions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Cannot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create an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 with it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Some methods -&gt;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body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UML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Italic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 have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constructor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 contain (members):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instance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static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constant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1B6321-124D-F7D2-4C1D-20A150A6D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401" y="1787451"/>
            <a:ext cx="3440999" cy="41035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5C8E25-21BF-F2CC-4E01-662B3A340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723" y="874396"/>
            <a:ext cx="4449646" cy="18261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5E83A4-99EE-E24F-DF6B-377DD27DC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858" y="3565539"/>
            <a:ext cx="4791075" cy="28194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96E39D34-F019-4660-C7EE-E66D63C65720}"/>
              </a:ext>
            </a:extLst>
          </p:cNvPr>
          <p:cNvCxnSpPr>
            <a:cxnSpLocks/>
          </p:cNvCxnSpPr>
          <p:nvPr/>
        </p:nvCxnSpPr>
        <p:spPr>
          <a:xfrm>
            <a:off x="6514609" y="3292461"/>
            <a:ext cx="4093216" cy="820377"/>
          </a:xfrm>
          <a:prstGeom prst="bentConnector3">
            <a:avLst>
              <a:gd name="adj1" fmla="val 112512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0E528EEE-E0C5-04CA-4AB5-8DD198F9AC0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48382" y="1835751"/>
            <a:ext cx="2545180" cy="914397"/>
          </a:xfrm>
          <a:prstGeom prst="bentConnector3">
            <a:avLst>
              <a:gd name="adj1" fmla="val 93328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189952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578" y="1789166"/>
            <a:ext cx="8215632" cy="47570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1009410" y="772319"/>
            <a:ext cx="7120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Constructors (by the way …)</a:t>
            </a:r>
          </a:p>
        </p:txBody>
      </p:sp>
      <p:cxnSp>
        <p:nvCxnSpPr>
          <p:cNvPr id="7" name="Straight Arrow Connector 6"/>
          <p:cNvCxnSpPr>
            <a:cxnSpLocks/>
            <a:stCxn id="8" idx="3"/>
          </p:cNvCxnSpPr>
          <p:nvPr/>
        </p:nvCxnSpPr>
        <p:spPr>
          <a:xfrm flipV="1">
            <a:off x="1750790" y="2950234"/>
            <a:ext cx="854387" cy="2906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6082" y="3056194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 public!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116" y="4032901"/>
            <a:ext cx="13260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Call parent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constructor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first</a:t>
            </a:r>
          </a:p>
        </p:txBody>
      </p:sp>
      <p:cxnSp>
        <p:nvCxnSpPr>
          <p:cNvPr id="16" name="Straight Arrow Connector 15"/>
          <p:cNvCxnSpPr>
            <a:cxnSpLocks/>
            <a:stCxn id="15" idx="3"/>
          </p:cNvCxnSpPr>
          <p:nvPr/>
        </p:nvCxnSpPr>
        <p:spPr>
          <a:xfrm flipV="1">
            <a:off x="1822120" y="4032901"/>
            <a:ext cx="1179872" cy="4616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896030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71404" y="774772"/>
            <a:ext cx="5414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Group exercise: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F1C538-D8A9-81DD-2371-187BA56F742D}"/>
              </a:ext>
            </a:extLst>
          </p:cNvPr>
          <p:cNvSpPr txBox="1"/>
          <p:nvPr/>
        </p:nvSpPr>
        <p:spPr>
          <a:xfrm>
            <a:off x="1131982" y="2008240"/>
            <a:ext cx="102378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15 to 20 minutes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Create classes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Use the banking example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5063443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217" y="2290046"/>
            <a:ext cx="10555357" cy="137894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Polymorphism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582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49501" y="756285"/>
            <a:ext cx="3578383" cy="838200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dirty="0"/>
              <a:t>Polymorphism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949501" y="1983435"/>
            <a:ext cx="10428362" cy="4670028"/>
          </a:xfrm>
        </p:spPr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r>
              <a:rPr lang="en-US" altLang="en-US" dirty="0"/>
              <a:t>Polymorphism is the ability of an object to take on </a:t>
            </a:r>
            <a:r>
              <a:rPr lang="en-US" altLang="en-US" b="1" dirty="0">
                <a:solidFill>
                  <a:srgbClr val="92D050"/>
                </a:solidFill>
              </a:rPr>
              <a:t>many</a:t>
            </a:r>
            <a:r>
              <a:rPr lang="en-US" altLang="en-US" dirty="0"/>
              <a:t> forms. </a:t>
            </a:r>
          </a:p>
          <a:p>
            <a:pPr eaLnBrk="1" hangingPunct="1">
              <a:buFont typeface="Arial" charset="0"/>
              <a:buChar char="•"/>
              <a:defRPr/>
            </a:pPr>
            <a:endParaRPr lang="en-US" altLang="en-US" dirty="0"/>
          </a:p>
          <a:p>
            <a:pPr eaLnBrk="1" hangingPunct="1">
              <a:buFont typeface="Arial" charset="0"/>
              <a:buChar char="•"/>
              <a:defRPr/>
            </a:pPr>
            <a:r>
              <a:rPr lang="en-US" altLang="en-US" dirty="0"/>
              <a:t>Most common use in OOP when a </a:t>
            </a:r>
            <a:r>
              <a:rPr lang="en-US" altLang="en-US" b="1" dirty="0">
                <a:solidFill>
                  <a:srgbClr val="0000FF"/>
                </a:solidFill>
              </a:rPr>
              <a:t>parent</a:t>
            </a:r>
            <a:r>
              <a:rPr lang="en-US" altLang="en-US" dirty="0"/>
              <a:t> class reference to a </a:t>
            </a:r>
            <a:r>
              <a:rPr lang="en-US" altLang="en-US" b="1" dirty="0">
                <a:solidFill>
                  <a:srgbClr val="92D050"/>
                </a:solidFill>
              </a:rPr>
              <a:t>child</a:t>
            </a:r>
            <a:r>
              <a:rPr lang="en-US" altLang="en-US" dirty="0"/>
              <a:t>.</a:t>
            </a:r>
          </a:p>
          <a:p>
            <a:pPr eaLnBrk="1" hangingPunct="1">
              <a:buFont typeface="Arial" charset="0"/>
              <a:buChar char="•"/>
              <a:defRPr/>
            </a:pPr>
            <a:endParaRPr lang="en-US" altLang="en-US" dirty="0"/>
          </a:p>
          <a:p>
            <a:pPr eaLnBrk="1" hangingPunct="1">
              <a:buFont typeface="Arial" charset="0"/>
              <a:buChar char="•"/>
              <a:defRPr/>
            </a:pPr>
            <a:r>
              <a:rPr lang="en-US" altLang="en-US" dirty="0"/>
              <a:t>It allows treating objects of a derived (</a:t>
            </a:r>
            <a:r>
              <a:rPr lang="en-US" altLang="en-US" b="1" dirty="0">
                <a:solidFill>
                  <a:srgbClr val="92D050"/>
                </a:solidFill>
              </a:rPr>
              <a:t>child</a:t>
            </a:r>
            <a:r>
              <a:rPr lang="en-US" altLang="en-US" dirty="0"/>
              <a:t>) class as objects </a:t>
            </a:r>
            <a:br>
              <a:rPr lang="en-US" altLang="en-US" dirty="0"/>
            </a:br>
            <a:r>
              <a:rPr lang="en-US" altLang="en-US" dirty="0"/>
              <a:t>of its base (</a:t>
            </a:r>
            <a:r>
              <a:rPr lang="en-US" altLang="en-US" b="1" dirty="0">
                <a:solidFill>
                  <a:srgbClr val="0000FF"/>
                </a:solidFill>
              </a:rPr>
              <a:t>parent</a:t>
            </a:r>
            <a:r>
              <a:rPr lang="en-US" altLang="en-US" dirty="0"/>
              <a:t>) class.</a:t>
            </a:r>
          </a:p>
          <a:p>
            <a:pPr eaLnBrk="1" hangingPunct="1">
              <a:buFont typeface="Arial" charset="0"/>
              <a:buChar char="•"/>
              <a:defRPr/>
            </a:pPr>
            <a:endParaRPr lang="en-US" altLang="en-US" dirty="0"/>
          </a:p>
          <a:p>
            <a:pPr eaLnBrk="1" hangingPunct="1">
              <a:buFont typeface="Arial" charset="0"/>
              <a:buChar char="•"/>
              <a:defRPr/>
            </a:pPr>
            <a:r>
              <a:rPr lang="en-US" altLang="en-US" dirty="0"/>
              <a:t>Late binding, runtime binding, …</a:t>
            </a:r>
          </a:p>
          <a:p>
            <a:pPr marL="0" indent="0">
              <a:buNone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34653447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40527" y="753203"/>
            <a:ext cx="8143315" cy="694598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Polymorphism – Standard example! 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99AF045-CF3F-F3D8-8C00-23C58A924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926" y="2006981"/>
            <a:ext cx="9983771" cy="409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5178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36515" y="749018"/>
            <a:ext cx="7076517" cy="614388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r>
              <a:rPr lang="en-US" altLang="en-US" dirty="0"/>
              <a:t>Polymorphism – Bank Example 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C23C66-D1CC-34B1-91B7-795F9B76D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167" y="1680652"/>
            <a:ext cx="9702335" cy="47838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4A40DD9-1B21-CD31-7FD6-6EBEB6DE3CA4}"/>
              </a:ext>
            </a:extLst>
          </p:cNvPr>
          <p:cNvSpPr/>
          <p:nvPr/>
        </p:nvSpPr>
        <p:spPr>
          <a:xfrm>
            <a:off x="1503774" y="6024160"/>
            <a:ext cx="8166438" cy="14520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93F610-D42B-B294-605C-A61688D2E8F6}"/>
              </a:ext>
            </a:extLst>
          </p:cNvPr>
          <p:cNvSpPr/>
          <p:nvPr/>
        </p:nvSpPr>
        <p:spPr>
          <a:xfrm>
            <a:off x="5136913" y="3927367"/>
            <a:ext cx="1519421" cy="14520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48981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44537" y="749193"/>
            <a:ext cx="2889526" cy="822934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Exercise: 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4D4EB-DED8-05B3-B75A-A5F9A6819056}"/>
              </a:ext>
            </a:extLst>
          </p:cNvPr>
          <p:cNvSpPr txBox="1"/>
          <p:nvPr/>
        </p:nvSpPr>
        <p:spPr>
          <a:xfrm>
            <a:off x="1251904" y="2696106"/>
            <a:ext cx="4455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Give an useful polymorphism example …</a:t>
            </a:r>
          </a:p>
        </p:txBody>
      </p:sp>
    </p:spTree>
    <p:extLst>
      <p:ext uri="{BB962C8B-B14F-4D97-AF65-F5344CB8AC3E}">
        <p14:creationId xmlns:p14="http://schemas.microsoft.com/office/powerpoint/2010/main" val="42228994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217" y="2290046"/>
            <a:ext cx="10555357" cy="137894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AA101E-127A-4DAF-B4E5-EFA483F29B1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30638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737</TotalTime>
  <Words>1934</Words>
  <Application>Microsoft Office PowerPoint</Application>
  <PresentationFormat>Widescreen</PresentationFormat>
  <Paragraphs>478</Paragraphs>
  <Slides>59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8" baseType="lpstr">
      <vt:lpstr>Arial</vt:lpstr>
      <vt:lpstr>Arial Narrow</vt:lpstr>
      <vt:lpstr>Calibri</vt:lpstr>
      <vt:lpstr>Garamond</vt:lpstr>
      <vt:lpstr>Open Sans</vt:lpstr>
      <vt:lpstr>Times New Roman</vt:lpstr>
      <vt:lpstr>SCUTemplate</vt:lpstr>
      <vt:lpstr>Custom Design</vt:lpstr>
      <vt:lpstr>Chart</vt:lpstr>
      <vt:lpstr>COEN160</vt:lpstr>
      <vt:lpstr>PowerPoint Presentation</vt:lpstr>
      <vt:lpstr>Why Object Oriented?</vt:lpstr>
      <vt:lpstr>OOA, OOD &amp; OOP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Basics of Object-Oriented Programming</vt:lpstr>
      <vt:lpstr>Key phases in OO application development</vt:lpstr>
      <vt:lpstr>Object-Oriented Principles</vt:lpstr>
      <vt:lpstr>Major components of an Object Model</vt:lpstr>
      <vt:lpstr>Evolution Of Object Model</vt:lpstr>
      <vt:lpstr>Benefits of the Object Model</vt:lpstr>
      <vt:lpstr>More Vocabulary of OO systems </vt:lpstr>
      <vt:lpstr>Basic IntelliJ examples:</vt:lpstr>
      <vt:lpstr>Object-Oriented  Bank Account Example</vt:lpstr>
      <vt:lpstr>An Object-Oriented (OO) System</vt:lpstr>
      <vt:lpstr>An Object-Oriented System</vt:lpstr>
      <vt:lpstr>An Object-Oriented System</vt:lpstr>
      <vt:lpstr>Objects </vt:lpstr>
      <vt:lpstr>What are Objects?</vt:lpstr>
      <vt:lpstr>What are objects?</vt:lpstr>
      <vt:lpstr>What are objects?</vt:lpstr>
      <vt:lpstr>What are objects?</vt:lpstr>
      <vt:lpstr>Objects = data + methods</vt:lpstr>
      <vt:lpstr>Class and inheritance</vt:lpstr>
      <vt:lpstr>What is a class</vt:lpstr>
      <vt:lpstr>Class vs Object</vt:lpstr>
      <vt:lpstr>Encapsulation Information Hiding</vt:lpstr>
      <vt:lpstr>Information hiding</vt:lpstr>
      <vt:lpstr>Encapsulation</vt:lpstr>
      <vt:lpstr>Class Diagram (continue)</vt:lpstr>
      <vt:lpstr>Hierarchy</vt:lpstr>
      <vt:lpstr>Inheritance (is-a hierarchy)</vt:lpstr>
      <vt:lpstr>Class diagram (Visio)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Polymorphism</vt:lpstr>
      <vt:lpstr>Polymorphism</vt:lpstr>
      <vt:lpstr>Polymorphism – Standard example! </vt:lpstr>
      <vt:lpstr>Polymorphism – Bank Example </vt:lpstr>
      <vt:lpstr>Exercise: 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108</cp:revision>
  <cp:lastPrinted>2023-09-11T21:46:56Z</cp:lastPrinted>
  <dcterms:created xsi:type="dcterms:W3CDTF">2023-09-09T19:51:41Z</dcterms:created>
  <dcterms:modified xsi:type="dcterms:W3CDTF">2026-08-21T22:11:41Z</dcterms:modified>
</cp:coreProperties>
</file>