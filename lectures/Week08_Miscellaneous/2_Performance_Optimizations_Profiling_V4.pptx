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59"/>
  </p:notesMasterIdLst>
  <p:handoutMasterIdLst>
    <p:handoutMasterId r:id="rId60"/>
  </p:handoutMasterIdLst>
  <p:sldIdLst>
    <p:sldId id="333" r:id="rId4"/>
    <p:sldId id="386" r:id="rId5"/>
    <p:sldId id="355" r:id="rId6"/>
    <p:sldId id="412" r:id="rId7"/>
    <p:sldId id="356" r:id="rId8"/>
    <p:sldId id="357" r:id="rId9"/>
    <p:sldId id="358" r:id="rId10"/>
    <p:sldId id="359" r:id="rId11"/>
    <p:sldId id="360" r:id="rId12"/>
    <p:sldId id="398" r:id="rId13"/>
    <p:sldId id="418" r:id="rId14"/>
    <p:sldId id="402" r:id="rId15"/>
    <p:sldId id="361" r:id="rId16"/>
    <p:sldId id="420" r:id="rId17"/>
    <p:sldId id="413" r:id="rId18"/>
    <p:sldId id="414" r:id="rId19"/>
    <p:sldId id="362" r:id="rId20"/>
    <p:sldId id="399" r:id="rId21"/>
    <p:sldId id="415" r:id="rId22"/>
    <p:sldId id="363" r:id="rId23"/>
    <p:sldId id="403" r:id="rId24"/>
    <p:sldId id="364" r:id="rId25"/>
    <p:sldId id="365" r:id="rId26"/>
    <p:sldId id="410" r:id="rId27"/>
    <p:sldId id="417" r:id="rId28"/>
    <p:sldId id="368" r:id="rId29"/>
    <p:sldId id="416" r:id="rId30"/>
    <p:sldId id="366" r:id="rId31"/>
    <p:sldId id="367" r:id="rId32"/>
    <p:sldId id="371" r:id="rId33"/>
    <p:sldId id="369" r:id="rId34"/>
    <p:sldId id="370" r:id="rId35"/>
    <p:sldId id="422" r:id="rId36"/>
    <p:sldId id="405" r:id="rId37"/>
    <p:sldId id="411" r:id="rId38"/>
    <p:sldId id="401" r:id="rId39"/>
    <p:sldId id="372" r:id="rId40"/>
    <p:sldId id="373" r:id="rId41"/>
    <p:sldId id="374" r:id="rId42"/>
    <p:sldId id="400" r:id="rId43"/>
    <p:sldId id="377" r:id="rId44"/>
    <p:sldId id="406" r:id="rId45"/>
    <p:sldId id="378" r:id="rId46"/>
    <p:sldId id="379" r:id="rId47"/>
    <p:sldId id="380" r:id="rId48"/>
    <p:sldId id="382" r:id="rId49"/>
    <p:sldId id="341" r:id="rId50"/>
    <p:sldId id="338" r:id="rId51"/>
    <p:sldId id="350" r:id="rId52"/>
    <p:sldId id="351" r:id="rId53"/>
    <p:sldId id="352" r:id="rId54"/>
    <p:sldId id="354" r:id="rId55"/>
    <p:sldId id="353" r:id="rId56"/>
    <p:sldId id="336" r:id="rId57"/>
    <p:sldId id="509" r:id="rId5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92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6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presProps" Target="pres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67A8B5-9F97-47C3-AA63-B31B3C7A136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Examples:</a:t>
            </a:r>
          </a:p>
          <a:p>
            <a:pPr lvl="1"/>
            <a:r>
              <a:rPr lang="en-US" altLang="en-US"/>
              <a:t>Grade-It</a:t>
            </a:r>
          </a:p>
          <a:p>
            <a:pPr lvl="1"/>
            <a:r>
              <a:rPr lang="en-US" altLang="en-US"/>
              <a:t>Catalyst</a:t>
            </a:r>
          </a:p>
        </p:txBody>
      </p:sp>
    </p:spTree>
    <p:extLst>
      <p:ext uri="{BB962C8B-B14F-4D97-AF65-F5344CB8AC3E}">
        <p14:creationId xmlns:p14="http://schemas.microsoft.com/office/powerpoint/2010/main" val="710417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PhD, mschimpf@scu.edu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3963012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33327"/>
            <a:ext cx="5998358" cy="662549"/>
          </a:xfrm>
        </p:spPr>
        <p:txBody>
          <a:bodyPr/>
          <a:lstStyle/>
          <a:p>
            <a:r>
              <a:rPr lang="en-US" altLang="en-US" dirty="0"/>
              <a:t>Acceptance, performance</a:t>
            </a:r>
          </a:p>
        </p:txBody>
      </p:sp>
      <p:sp>
        <p:nvSpPr>
          <p:cNvPr id="887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33241"/>
            <a:ext cx="10396380" cy="4877952"/>
          </a:xfrm>
        </p:spPr>
        <p:txBody>
          <a:bodyPr/>
          <a:lstStyle/>
          <a:p>
            <a:pPr marL="0" indent="0">
              <a:buNone/>
            </a:pPr>
            <a:endParaRPr lang="en-US" altLang="en-US" b="1" dirty="0"/>
          </a:p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User Acceptance Testing (UAT)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System is </a:t>
            </a:r>
            <a:r>
              <a:rPr lang="en-US" altLang="en-US" b="1" dirty="0">
                <a:solidFill>
                  <a:schemeClr val="tx1"/>
                </a:solidFill>
              </a:rPr>
              <a:t>shown</a:t>
            </a:r>
            <a:r>
              <a:rPr lang="en-US" altLang="en-US" dirty="0">
                <a:solidFill>
                  <a:schemeClr val="tx1"/>
                </a:solidFill>
              </a:rPr>
              <a:t> to the: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User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Client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Customer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Make sure it meets </a:t>
            </a:r>
            <a:r>
              <a:rPr lang="en-US" altLang="en-US" b="1" dirty="0">
                <a:solidFill>
                  <a:srgbClr val="00B050"/>
                </a:solidFill>
              </a:rPr>
              <a:t>their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needs (</a:t>
            </a:r>
            <a:r>
              <a:rPr lang="en-US" altLang="en-US" b="1" dirty="0">
                <a:solidFill>
                  <a:srgbClr val="FF0000"/>
                </a:solidFill>
              </a:rPr>
              <a:t>not yours</a:t>
            </a:r>
            <a:r>
              <a:rPr lang="en-US" altLang="en-US" dirty="0">
                <a:solidFill>
                  <a:schemeClr val="tx1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127118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33327"/>
            <a:ext cx="5998358" cy="662549"/>
          </a:xfrm>
        </p:spPr>
        <p:txBody>
          <a:bodyPr/>
          <a:lstStyle/>
          <a:p>
            <a:r>
              <a:rPr lang="en-US" altLang="en-US" dirty="0"/>
              <a:t>Acceptance, performance</a:t>
            </a:r>
          </a:p>
        </p:txBody>
      </p:sp>
      <p:sp>
        <p:nvSpPr>
          <p:cNvPr id="887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33241"/>
            <a:ext cx="10396380" cy="4877952"/>
          </a:xfrm>
        </p:spPr>
        <p:txBody>
          <a:bodyPr/>
          <a:lstStyle/>
          <a:p>
            <a:pPr marL="0" indent="0">
              <a:buNone/>
            </a:pPr>
            <a:endParaRPr lang="en-US" altLang="en-US" b="1" dirty="0"/>
          </a:p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Performance is important: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Performance is a major aspect of program </a:t>
            </a:r>
            <a:r>
              <a:rPr lang="en-US" altLang="en-US" b="1" dirty="0">
                <a:solidFill>
                  <a:srgbClr val="00B050"/>
                </a:solidFill>
              </a:rPr>
              <a:t>acceptance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The idea of a </a:t>
            </a:r>
            <a:r>
              <a:rPr lang="en-US" altLang="en-US" dirty="0">
                <a:solidFill>
                  <a:srgbClr val="0070C0"/>
                </a:solidFill>
              </a:rPr>
              <a:t>developer</a:t>
            </a:r>
            <a:r>
              <a:rPr lang="en-US" altLang="en-US" dirty="0">
                <a:solidFill>
                  <a:schemeClr val="tx1"/>
                </a:solidFill>
              </a:rPr>
              <a:t> what is slow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can be wrong!</a:t>
            </a:r>
          </a:p>
        </p:txBody>
      </p:sp>
    </p:spTree>
    <p:extLst>
      <p:ext uri="{BB962C8B-B14F-4D97-AF65-F5344CB8AC3E}">
        <p14:creationId xmlns:p14="http://schemas.microsoft.com/office/powerpoint/2010/main" val="3418877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8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8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45465"/>
            <a:ext cx="6212797" cy="670641"/>
          </a:xfrm>
        </p:spPr>
        <p:txBody>
          <a:bodyPr>
            <a:normAutofit/>
          </a:bodyPr>
          <a:lstStyle/>
          <a:p>
            <a:r>
              <a:rPr lang="en-US" altLang="en-US" dirty="0"/>
              <a:t>What’s slow here? (1)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485" y="2067346"/>
            <a:ext cx="6429079" cy="33755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384811" y="0"/>
            <a:ext cx="675056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CSEN160_08_Miscellaneous.G_Optimizations.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A_BuildBigString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191108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41419"/>
            <a:ext cx="6289672" cy="690871"/>
          </a:xfrm>
        </p:spPr>
        <p:txBody>
          <a:bodyPr/>
          <a:lstStyle/>
          <a:p>
            <a:r>
              <a:rPr lang="en-US" altLang="en-US" dirty="0"/>
              <a:t>What’s slow here? (2)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973" y="2468436"/>
            <a:ext cx="5985045" cy="25890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309049" y="0"/>
            <a:ext cx="6481261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CSEN160_08_Miscellaneous</a:t>
            </a:r>
            <a:r>
              <a:rPr lang="en-US" dirty="0">
                <a:solidFill>
                  <a:srgbClr val="000000"/>
                </a:solidFill>
                <a:latin typeface="Arial" panose="020B0604020202020204"/>
              </a:rPr>
              <a:t>.</a:t>
            </a:r>
            <a:r>
              <a:rPr lang="en-US" dirty="0">
                <a:solidFill>
                  <a:srgbClr val="FF0000"/>
                </a:solidFill>
              </a:rPr>
              <a:t>G_Optimizations.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B_Fibonacci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981384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61649"/>
            <a:ext cx="6220889" cy="690871"/>
          </a:xfrm>
        </p:spPr>
        <p:txBody>
          <a:bodyPr/>
          <a:lstStyle/>
          <a:p>
            <a:r>
              <a:rPr lang="en-US" altLang="en-US" dirty="0"/>
              <a:t>What’s slow here? (3)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105" y="1779749"/>
            <a:ext cx="7568777" cy="47990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4564650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49511"/>
            <a:ext cx="6269442" cy="711101"/>
          </a:xfrm>
        </p:spPr>
        <p:txBody>
          <a:bodyPr/>
          <a:lstStyle/>
          <a:p>
            <a:r>
              <a:rPr lang="en-US" altLang="en-US" dirty="0"/>
              <a:t>What’s slow here? (4)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049" y="1589121"/>
            <a:ext cx="6011959" cy="50001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8106615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090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45466"/>
            <a:ext cx="5003038" cy="796068"/>
          </a:xfrm>
        </p:spPr>
        <p:txBody>
          <a:bodyPr/>
          <a:lstStyle/>
          <a:p>
            <a:r>
              <a:rPr lang="en-US" altLang="en-US" dirty="0"/>
              <a:t>The correct answers</a:t>
            </a:r>
          </a:p>
        </p:txBody>
      </p:sp>
      <p:sp>
        <p:nvSpPr>
          <p:cNvPr id="857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97977"/>
            <a:ext cx="10404472" cy="4801078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AutoNum type="arabicPeriod"/>
            </a:pPr>
            <a:endParaRPr lang="en-US" altLang="en-US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Who cares?</a:t>
            </a:r>
          </a:p>
          <a:p>
            <a:pPr marL="457200" indent="-457200">
              <a:buFont typeface="Wingdings" panose="05000000000000000000" pitchFamily="2" charset="2"/>
              <a:buAutoNum type="arabicPeriod"/>
            </a:pPr>
            <a:endParaRPr lang="en-US" altLang="en-US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Who cares?</a:t>
            </a:r>
          </a:p>
          <a:p>
            <a:pPr marL="457200" indent="-457200">
              <a:buFont typeface="Wingdings" panose="05000000000000000000" pitchFamily="2" charset="2"/>
              <a:buAutoNum type="arabicPeriod"/>
            </a:pPr>
            <a:endParaRPr lang="en-US" altLang="en-US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Who cares?</a:t>
            </a:r>
          </a:p>
          <a:p>
            <a:pPr marL="457200" indent="-457200">
              <a:buFont typeface="Wingdings" panose="05000000000000000000" pitchFamily="2" charset="2"/>
              <a:buAutoNum type="arabicPeriod"/>
            </a:pPr>
            <a:endParaRPr lang="en-US" altLang="en-US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</a:rPr>
              <a:t>Who cares?</a:t>
            </a:r>
            <a:endParaRPr lang="en-US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0454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5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5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7091" grpId="0" uiExpand="1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090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45466"/>
            <a:ext cx="5003038" cy="796068"/>
          </a:xfrm>
        </p:spPr>
        <p:txBody>
          <a:bodyPr/>
          <a:lstStyle/>
          <a:p>
            <a:r>
              <a:rPr lang="en-US" altLang="en-US" dirty="0"/>
              <a:t>The correct answers</a:t>
            </a:r>
          </a:p>
        </p:txBody>
      </p:sp>
      <p:sp>
        <p:nvSpPr>
          <p:cNvPr id="857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33241"/>
            <a:ext cx="10388288" cy="489818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en-US" i="1" dirty="0"/>
          </a:p>
          <a:p>
            <a:pPr marL="0" indent="0">
              <a:buNone/>
            </a:pPr>
            <a:r>
              <a:rPr lang="en-US" altLang="en-US" i="1" dirty="0">
                <a:solidFill>
                  <a:schemeClr val="tx1"/>
                </a:solidFill>
              </a:rPr>
              <a:t>"We should forget about small efficiencies, say about 97% of the time: </a:t>
            </a:r>
            <a:br>
              <a:rPr lang="en-US" altLang="en-US" i="1" dirty="0">
                <a:solidFill>
                  <a:schemeClr val="tx1"/>
                </a:solidFill>
              </a:rPr>
            </a:br>
            <a:r>
              <a:rPr lang="en-US" altLang="en-US" b="1" i="1" dirty="0">
                <a:solidFill>
                  <a:srgbClr val="FF0000"/>
                </a:solidFill>
              </a:rPr>
              <a:t>premature optimization is the root of all evil</a:t>
            </a:r>
            <a:r>
              <a:rPr lang="en-US" altLang="en-US" b="1" i="1" dirty="0">
                <a:solidFill>
                  <a:schemeClr val="tx1"/>
                </a:solidFill>
              </a:rPr>
              <a:t>.</a:t>
            </a:r>
            <a:r>
              <a:rPr lang="en-US" altLang="en-US" i="1" dirty="0">
                <a:solidFill>
                  <a:schemeClr val="tx1"/>
                </a:solidFill>
              </a:rPr>
              <a:t>"  </a:t>
            </a:r>
            <a:r>
              <a:rPr lang="en-US" altLang="en-US" sz="1800" dirty="0">
                <a:solidFill>
                  <a:schemeClr val="tx1"/>
                </a:solidFill>
              </a:rPr>
              <a:t>(Donald Knuth)</a:t>
            </a:r>
          </a:p>
          <a:p>
            <a:pPr marL="838200" lvl="1" indent="-381000"/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"We follow </a:t>
            </a:r>
            <a:r>
              <a:rPr lang="en-US" altLang="en-US" b="1" dirty="0">
                <a:solidFill>
                  <a:srgbClr val="00B050"/>
                </a:solidFill>
              </a:rPr>
              <a:t>two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rules in the matter of </a:t>
            </a:r>
            <a:r>
              <a:rPr lang="en-US" altLang="en-US" b="1" dirty="0">
                <a:solidFill>
                  <a:srgbClr val="00B050"/>
                </a:solidFill>
              </a:rPr>
              <a:t>optimization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</a:p>
          <a:p>
            <a:pPr marL="838200" lvl="1" indent="-381000">
              <a:buNone/>
            </a:pPr>
            <a:r>
              <a:rPr lang="en-US" altLang="en-US" dirty="0">
                <a:solidFill>
                  <a:schemeClr val="tx1"/>
                </a:solidFill>
              </a:rPr>
              <a:t>	1. “Don't do it.”</a:t>
            </a:r>
          </a:p>
          <a:p>
            <a:pPr marL="838200" lvl="1" indent="-381000">
              <a:buNone/>
            </a:pPr>
            <a:r>
              <a:rPr lang="en-US" altLang="en-US" dirty="0">
                <a:solidFill>
                  <a:schemeClr val="tx1"/>
                </a:solidFill>
              </a:rPr>
              <a:t>	2. (for experts only)  “Don't do it </a:t>
            </a:r>
            <a:r>
              <a:rPr lang="en-US" altLang="en-US" b="1" dirty="0">
                <a:solidFill>
                  <a:srgbClr val="FF0000"/>
                </a:solidFill>
              </a:rPr>
              <a:t>yet</a:t>
            </a:r>
            <a:r>
              <a:rPr lang="en-US" altLang="en-US" dirty="0">
                <a:solidFill>
                  <a:schemeClr val="tx1"/>
                </a:solidFill>
              </a:rPr>
              <a:t>.”</a:t>
            </a:r>
          </a:p>
          <a:p>
            <a:pPr marL="838200" lvl="1" indent="-381000">
              <a:buNone/>
            </a:pPr>
            <a:r>
              <a:rPr lang="en-US" altLang="en-US" sz="800" dirty="0">
                <a:solidFill>
                  <a:schemeClr val="tx1"/>
                </a:solidFill>
              </a:rPr>
              <a:t>	</a:t>
            </a:r>
          </a:p>
          <a:p>
            <a:pPr marL="457200" indent="-457200">
              <a:buNone/>
            </a:pPr>
            <a:r>
              <a:rPr lang="en-US" altLang="en-US" dirty="0">
                <a:solidFill>
                  <a:schemeClr val="tx1"/>
                </a:solidFill>
              </a:rPr>
              <a:t>		(M. A. Jackson)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7957" y="1000209"/>
            <a:ext cx="2304494" cy="32558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854" y="3493049"/>
            <a:ext cx="2006320" cy="30409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52052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5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5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57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57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7091" grpId="0" uiExpand="1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090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45466"/>
            <a:ext cx="5003038" cy="796068"/>
          </a:xfrm>
        </p:spPr>
        <p:txBody>
          <a:bodyPr/>
          <a:lstStyle/>
          <a:p>
            <a:r>
              <a:rPr lang="en-US" altLang="en-US" dirty="0"/>
              <a:t>The correct answers</a:t>
            </a:r>
          </a:p>
        </p:txBody>
      </p:sp>
      <p:sp>
        <p:nvSpPr>
          <p:cNvPr id="857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33241"/>
            <a:ext cx="10388288" cy="489818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Why</a:t>
            </a:r>
            <a:r>
              <a:rPr lang="en-US" altLang="en-US" sz="2800" dirty="0"/>
              <a:t> </a:t>
            </a:r>
            <a:r>
              <a:rPr lang="en-US" altLang="en-US" sz="2800" b="1" dirty="0">
                <a:solidFill>
                  <a:srgbClr val="FF0000"/>
                </a:solidFill>
              </a:rPr>
              <a:t>some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people focus on performant coding anytime anywhere?</a:t>
            </a:r>
          </a:p>
          <a:p>
            <a:pPr marL="0" indent="0" algn="ctr">
              <a:buNone/>
            </a:pPr>
            <a:endParaRPr lang="en-US" altLang="en-US" sz="28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Is it because of </a:t>
            </a:r>
            <a:r>
              <a:rPr lang="en-US" altLang="en-US" sz="2800" dirty="0" err="1">
                <a:solidFill>
                  <a:schemeClr val="tx1"/>
                </a:solidFill>
              </a:rPr>
              <a:t>Leetcode</a:t>
            </a:r>
            <a:r>
              <a:rPr lang="en-US" altLang="en-US" sz="2800" dirty="0">
                <a:solidFill>
                  <a:schemeClr val="tx1"/>
                </a:solidFill>
              </a:rPr>
              <a:t>?</a:t>
            </a:r>
          </a:p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Boringness?</a:t>
            </a:r>
          </a:p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Cleverness?</a:t>
            </a:r>
          </a:p>
        </p:txBody>
      </p:sp>
    </p:spTree>
    <p:extLst>
      <p:ext uri="{BB962C8B-B14F-4D97-AF65-F5344CB8AC3E}">
        <p14:creationId xmlns:p14="http://schemas.microsoft.com/office/powerpoint/2010/main" val="39924405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5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5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7091" grpId="0" uiExpand="1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Thinking about Performance and some Myths</a:t>
            </a:r>
          </a:p>
        </p:txBody>
      </p:sp>
    </p:spTree>
    <p:extLst>
      <p:ext uri="{BB962C8B-B14F-4D97-AF65-F5344CB8AC3E}">
        <p14:creationId xmlns:p14="http://schemas.microsoft.com/office/powerpoint/2010/main" val="1416447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14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41419"/>
            <a:ext cx="6487926" cy="711101"/>
          </a:xfrm>
        </p:spPr>
        <p:txBody>
          <a:bodyPr/>
          <a:lstStyle/>
          <a:p>
            <a:r>
              <a:rPr lang="en-US" altLang="en-US" dirty="0"/>
              <a:t>Thinking about performance</a:t>
            </a:r>
          </a:p>
        </p:txBody>
      </p:sp>
      <p:sp>
        <p:nvSpPr>
          <p:cNvPr id="85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84687"/>
            <a:ext cx="10376149" cy="4922459"/>
          </a:xfrm>
        </p:spPr>
        <p:txBody>
          <a:bodyPr/>
          <a:lstStyle/>
          <a:p>
            <a:pPr marL="0" indent="0">
              <a:buNone/>
            </a:pPr>
            <a:endParaRPr lang="en-US" altLang="en-US" b="1" dirty="0"/>
          </a:p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Is the app </a:t>
            </a:r>
            <a:r>
              <a:rPr lang="en-US" altLang="en-US" b="1" dirty="0">
                <a:solidFill>
                  <a:srgbClr val="FF0000"/>
                </a:solidFill>
              </a:rPr>
              <a:t>too slow?</a:t>
            </a:r>
            <a:endParaRPr lang="en-US" altLang="en-US" b="1" dirty="0"/>
          </a:p>
          <a:p>
            <a:endParaRPr lang="en-US" altLang="en-US" dirty="0"/>
          </a:p>
          <a:p>
            <a:r>
              <a:rPr lang="en-US" altLang="en-US" b="1" dirty="0">
                <a:solidFill>
                  <a:srgbClr val="FF0000"/>
                </a:solidFill>
              </a:rPr>
              <a:t>Yes</a:t>
            </a:r>
            <a:r>
              <a:rPr lang="en-US" altLang="en-US" dirty="0">
                <a:solidFill>
                  <a:schemeClr val="tx1"/>
                </a:solidFill>
              </a:rPr>
              <a:t>, if it does </a:t>
            </a:r>
            <a:r>
              <a:rPr lang="en-US" altLang="en-US" b="1" dirty="0">
                <a:solidFill>
                  <a:srgbClr val="FF0000"/>
                </a:solidFill>
              </a:rPr>
              <a:t>NOT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meet the </a:t>
            </a:r>
            <a:r>
              <a:rPr lang="en-US" altLang="en-US" b="1" dirty="0">
                <a:solidFill>
                  <a:srgbClr val="00B050"/>
                </a:solidFill>
              </a:rPr>
              <a:t>project performance requirements</a:t>
            </a:r>
          </a:p>
          <a:p>
            <a:endParaRPr lang="en-US" altLang="en-US" dirty="0"/>
          </a:p>
          <a:p>
            <a:r>
              <a:rPr lang="en-US" altLang="en-US" b="1" dirty="0">
                <a:solidFill>
                  <a:srgbClr val="00B050"/>
                </a:solidFill>
              </a:rPr>
              <a:t>No, if it meets them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FF0000"/>
                </a:solidFill>
              </a:rPr>
              <a:t>DON'T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optimize it!</a:t>
            </a:r>
          </a:p>
        </p:txBody>
      </p:sp>
    </p:spTree>
    <p:extLst>
      <p:ext uri="{BB962C8B-B14F-4D97-AF65-F5344CB8AC3E}">
        <p14:creationId xmlns:p14="http://schemas.microsoft.com/office/powerpoint/2010/main" val="357031140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14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41419"/>
            <a:ext cx="6487926" cy="711101"/>
          </a:xfrm>
        </p:spPr>
        <p:txBody>
          <a:bodyPr/>
          <a:lstStyle/>
          <a:p>
            <a:r>
              <a:rPr lang="en-US" altLang="en-US" dirty="0"/>
              <a:t>Thinking about performance</a:t>
            </a:r>
          </a:p>
        </p:txBody>
      </p:sp>
      <p:sp>
        <p:nvSpPr>
          <p:cNvPr id="85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84687"/>
            <a:ext cx="10376149" cy="4922459"/>
          </a:xfrm>
        </p:spPr>
        <p:txBody>
          <a:bodyPr/>
          <a:lstStyle/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What are reasonable performance requirements?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What are the </a:t>
            </a:r>
            <a:r>
              <a:rPr lang="en-US" altLang="en-US" b="1" dirty="0">
                <a:solidFill>
                  <a:srgbClr val="00B050"/>
                </a:solidFill>
              </a:rPr>
              <a:t>user's expectations</a:t>
            </a:r>
            <a:r>
              <a:rPr lang="en-US" altLang="en-US" dirty="0">
                <a:solidFill>
                  <a:schemeClr val="tx1"/>
                </a:solidFill>
              </a:rPr>
              <a:t>?  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How </a:t>
            </a:r>
            <a:r>
              <a:rPr lang="en-US" altLang="en-US" b="1" dirty="0">
                <a:solidFill>
                  <a:srgbClr val="FF0000"/>
                </a:solidFill>
              </a:rPr>
              <a:t>slow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is "</a:t>
            </a:r>
            <a:r>
              <a:rPr lang="en-US" altLang="en-US" b="1" dirty="0">
                <a:solidFill>
                  <a:srgbClr val="00B050"/>
                </a:solidFill>
              </a:rPr>
              <a:t>acceptable</a:t>
            </a:r>
            <a:r>
              <a:rPr lang="en-US" altLang="en-US" dirty="0">
                <a:solidFill>
                  <a:schemeClr val="tx1"/>
                </a:solidFill>
              </a:rPr>
              <a:t>"?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How </a:t>
            </a:r>
            <a:r>
              <a:rPr lang="en-US" altLang="en-US" b="1" dirty="0">
                <a:solidFill>
                  <a:srgbClr val="FF0000"/>
                </a:solidFill>
              </a:rPr>
              <a:t>long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do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B050"/>
                </a:solidFill>
              </a:rPr>
              <a:t>users wait </a:t>
            </a:r>
            <a:r>
              <a:rPr lang="en-US" altLang="en-US" dirty="0">
                <a:solidFill>
                  <a:schemeClr val="tx1"/>
                </a:solidFill>
              </a:rPr>
              <a:t>for a web page to load? Google?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B0F0"/>
                </a:solidFill>
              </a:rPr>
              <a:t>Some tasks</a:t>
            </a:r>
            <a:r>
              <a:rPr lang="en-US" altLang="en-US" dirty="0">
                <a:solidFill>
                  <a:schemeClr val="tx1"/>
                </a:solidFill>
              </a:rPr>
              <a:t>: (admin updates database) can take longer …</a:t>
            </a:r>
          </a:p>
        </p:txBody>
      </p:sp>
    </p:spTree>
    <p:extLst>
      <p:ext uri="{BB962C8B-B14F-4D97-AF65-F5344CB8AC3E}">
        <p14:creationId xmlns:p14="http://schemas.microsoft.com/office/powerpoint/2010/main" val="209164191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14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41419"/>
            <a:ext cx="6487926" cy="711101"/>
          </a:xfrm>
        </p:spPr>
        <p:txBody>
          <a:bodyPr/>
          <a:lstStyle/>
          <a:p>
            <a:r>
              <a:rPr lang="en-US" altLang="en-US" dirty="0"/>
              <a:t>Thinking about performance</a:t>
            </a:r>
          </a:p>
        </p:txBody>
      </p:sp>
      <p:sp>
        <p:nvSpPr>
          <p:cNvPr id="85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84687"/>
            <a:ext cx="10376149" cy="4922459"/>
          </a:xfrm>
        </p:spPr>
        <p:txBody>
          <a:bodyPr/>
          <a:lstStyle/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 algn="ctr">
              <a:buNone/>
            </a:pPr>
            <a:r>
              <a:rPr lang="en-US" altLang="en-US" sz="3200" dirty="0">
                <a:solidFill>
                  <a:schemeClr val="tx1"/>
                </a:solidFill>
              </a:rPr>
              <a:t>What is more important, </a:t>
            </a:r>
            <a:r>
              <a:rPr lang="en-US" altLang="en-US" sz="3200" b="1" dirty="0">
                <a:solidFill>
                  <a:srgbClr val="FF0000"/>
                </a:solidFill>
              </a:rPr>
              <a:t>fast</a:t>
            </a:r>
            <a:r>
              <a:rPr lang="en-US" altLang="en-US" sz="3200" dirty="0"/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code or </a:t>
            </a:r>
            <a:r>
              <a:rPr lang="en-US" altLang="en-US" sz="3200" b="1" dirty="0">
                <a:solidFill>
                  <a:srgbClr val="00B050"/>
                </a:solidFill>
              </a:rPr>
              <a:t>correct</a:t>
            </a:r>
            <a:r>
              <a:rPr lang="en-US" altLang="en-US" sz="3200" dirty="0"/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code?</a:t>
            </a:r>
          </a:p>
          <a:p>
            <a:pPr marL="457200" lvl="1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2231945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25235"/>
            <a:ext cx="4683403" cy="642319"/>
          </a:xfrm>
        </p:spPr>
        <p:txBody>
          <a:bodyPr/>
          <a:lstStyle/>
          <a:p>
            <a:r>
              <a:rPr lang="en-US" altLang="en-US" dirty="0"/>
              <a:t>Optimization myths</a:t>
            </a:r>
          </a:p>
        </p:txBody>
      </p:sp>
      <p:sp>
        <p:nvSpPr>
          <p:cNvPr id="890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49425"/>
            <a:ext cx="10408518" cy="48617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en-US" b="1" dirty="0"/>
          </a:p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Myth: </a:t>
            </a:r>
            <a:r>
              <a:rPr lang="en-US" altLang="en-US" dirty="0">
                <a:solidFill>
                  <a:schemeClr val="tx1"/>
                </a:solidFill>
              </a:rPr>
              <a:t>Having a </a:t>
            </a:r>
            <a:r>
              <a:rPr lang="en-US" altLang="en-US" b="1" dirty="0">
                <a:solidFill>
                  <a:srgbClr val="FF0000"/>
                </a:solidFill>
              </a:rPr>
              <a:t>fast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program is as important as a </a:t>
            </a:r>
            <a:r>
              <a:rPr lang="en-US" altLang="en-US" b="1" dirty="0">
                <a:solidFill>
                  <a:srgbClr val="00B050"/>
                </a:solidFill>
              </a:rPr>
              <a:t>correct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one.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If it </a:t>
            </a:r>
            <a:r>
              <a:rPr lang="en-US" altLang="en-US" b="1" dirty="0">
                <a:solidFill>
                  <a:srgbClr val="FF0000"/>
                </a:solidFill>
              </a:rPr>
              <a:t>doesn't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work 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It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doesn't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matter how </a:t>
            </a:r>
            <a:r>
              <a:rPr lang="en-US" altLang="en-US" b="1" dirty="0">
                <a:solidFill>
                  <a:srgbClr val="00B050"/>
                </a:solidFill>
              </a:rPr>
              <a:t>fast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it's running!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An assembler program of NOP’s is the fastest ever …</a:t>
            </a:r>
          </a:p>
        </p:txBody>
      </p:sp>
    </p:spTree>
    <p:extLst>
      <p:ext uri="{BB962C8B-B14F-4D97-AF65-F5344CB8AC3E}">
        <p14:creationId xmlns:p14="http://schemas.microsoft.com/office/powerpoint/2010/main" val="292427864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25235"/>
            <a:ext cx="4683403" cy="642319"/>
          </a:xfrm>
        </p:spPr>
        <p:txBody>
          <a:bodyPr/>
          <a:lstStyle/>
          <a:p>
            <a:r>
              <a:rPr lang="en-US" altLang="en-US" dirty="0"/>
              <a:t>Optimization myths</a:t>
            </a:r>
          </a:p>
        </p:txBody>
      </p:sp>
      <p:sp>
        <p:nvSpPr>
          <p:cNvPr id="890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49425"/>
            <a:ext cx="10408518" cy="48617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Myth: </a:t>
            </a:r>
            <a:r>
              <a:rPr lang="en-US" altLang="en-US" dirty="0">
                <a:solidFill>
                  <a:schemeClr val="tx1"/>
                </a:solidFill>
              </a:rPr>
              <a:t>You should optimize your code </a:t>
            </a:r>
            <a:r>
              <a:rPr lang="en-US" altLang="en-US" b="1" dirty="0">
                <a:solidFill>
                  <a:srgbClr val="00B050"/>
                </a:solidFill>
              </a:rPr>
              <a:t>as you write it</a:t>
            </a:r>
            <a:r>
              <a:rPr lang="en-US" altLang="en-US" dirty="0"/>
              <a:t>.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FF0000"/>
                </a:solidFill>
              </a:rPr>
              <a:t>No …</a:t>
            </a:r>
            <a:endParaRPr lang="en-US" altLang="en-US" dirty="0"/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Makes code </a:t>
            </a:r>
            <a:r>
              <a:rPr lang="en-US" altLang="en-US" b="1" dirty="0">
                <a:solidFill>
                  <a:srgbClr val="FF0000"/>
                </a:solidFill>
              </a:rPr>
              <a:t>ugly</a:t>
            </a: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Possibly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incorrect</a:t>
            </a: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Not always </a:t>
            </a:r>
            <a:r>
              <a:rPr lang="en-US" altLang="en-US" b="1" dirty="0">
                <a:solidFill>
                  <a:srgbClr val="FF0000"/>
                </a:solidFill>
              </a:rPr>
              <a:t>faster</a:t>
            </a: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Compiler already, did it?!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Optimize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B050"/>
                </a:solidFill>
              </a:rPr>
              <a:t>later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Only if </a:t>
            </a:r>
            <a:r>
              <a:rPr lang="en-US" altLang="en-US" b="1" dirty="0">
                <a:solidFill>
                  <a:srgbClr val="00B050"/>
                </a:solidFill>
              </a:rPr>
              <a:t>needed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529822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25235"/>
            <a:ext cx="4683403" cy="642319"/>
          </a:xfrm>
        </p:spPr>
        <p:txBody>
          <a:bodyPr/>
          <a:lstStyle/>
          <a:p>
            <a:r>
              <a:rPr lang="en-US" altLang="en-US" dirty="0"/>
              <a:t>Optimization myths</a:t>
            </a:r>
          </a:p>
        </p:txBody>
      </p:sp>
      <p:sp>
        <p:nvSpPr>
          <p:cNvPr id="890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49425"/>
            <a:ext cx="10408518" cy="486176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altLang="en-US" sz="1200" dirty="0"/>
          </a:p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Myth: </a:t>
            </a:r>
            <a:r>
              <a:rPr lang="en-US" altLang="en-US" dirty="0">
                <a:solidFill>
                  <a:schemeClr val="tx1"/>
                </a:solidFill>
              </a:rPr>
              <a:t>Certain operations are inherently faster than others.</a:t>
            </a:r>
          </a:p>
          <a:p>
            <a:pPr lvl="1"/>
            <a:endParaRPr lang="en-US" altLang="en-US" dirty="0">
              <a:latin typeface="Courier New" panose="02070309020205020404" pitchFamily="49" charset="0"/>
            </a:endParaRPr>
          </a:p>
          <a:p>
            <a:pPr lvl="1"/>
            <a:r>
              <a:rPr lang="en-US" altLang="en-US" b="1" dirty="0">
                <a:solidFill>
                  <a:srgbClr val="00B050"/>
                </a:solidFill>
                <a:latin typeface="Courier New" panose="02070309020205020404" pitchFamily="49" charset="0"/>
              </a:rPr>
              <a:t>x &lt;&lt; 1</a:t>
            </a:r>
            <a:r>
              <a:rPr lang="en-US" altLang="en-US" b="1" dirty="0">
                <a:solidFill>
                  <a:srgbClr val="00B050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is faster to compute than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x * 2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?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This depends on </a:t>
            </a:r>
            <a:r>
              <a:rPr lang="en-US" altLang="en-US" b="1" dirty="0">
                <a:solidFill>
                  <a:srgbClr val="FF0000"/>
                </a:solidFill>
              </a:rPr>
              <a:t>many factors</a:t>
            </a:r>
            <a:r>
              <a:rPr lang="en-US" altLang="en-US" dirty="0">
                <a:solidFill>
                  <a:schemeClr val="tx1"/>
                </a:solidFill>
              </a:rPr>
              <a:t>, such as language, …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Don't write </a:t>
            </a:r>
            <a:r>
              <a:rPr lang="en-US" altLang="en-US" b="1" dirty="0">
                <a:solidFill>
                  <a:srgbClr val="FF0000"/>
                </a:solidFill>
              </a:rPr>
              <a:t>ugly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code on the assumption that it will be </a:t>
            </a:r>
            <a:r>
              <a:rPr lang="en-US" altLang="en-US" b="1" dirty="0">
                <a:solidFill>
                  <a:srgbClr val="00B050"/>
                </a:solidFill>
              </a:rPr>
              <a:t>faster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B050"/>
                </a:solidFill>
              </a:rPr>
              <a:t>Compiler maybe already optimized it</a:t>
            </a:r>
            <a:r>
              <a:rPr lang="en-US" altLang="en-US" dirty="0">
                <a:solidFill>
                  <a:srgbClr val="00B050"/>
                </a:solidFill>
              </a:rPr>
              <a:t>.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Always check your </a:t>
            </a:r>
            <a:r>
              <a:rPr lang="en-US" altLang="en-US" b="1" dirty="0">
                <a:solidFill>
                  <a:srgbClr val="FF0000"/>
                </a:solidFill>
              </a:rPr>
              <a:t>“optimized”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code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B0F0"/>
                </a:solidFill>
              </a:rPr>
              <a:t>long start1=</a:t>
            </a:r>
            <a:r>
              <a:rPr lang="en-US" altLang="en-US" b="1" dirty="0" err="1">
                <a:solidFill>
                  <a:srgbClr val="00B0F0"/>
                </a:solidFill>
              </a:rPr>
              <a:t>System.currentTimeMillis</a:t>
            </a:r>
            <a:r>
              <a:rPr lang="en-US" altLang="en-US" b="1" dirty="0">
                <a:solidFill>
                  <a:srgbClr val="00B0F0"/>
                </a:solidFill>
              </a:rPr>
              <a:t>()</a:t>
            </a:r>
            <a:r>
              <a:rPr lang="en-US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7589745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25235"/>
            <a:ext cx="4683403" cy="642319"/>
          </a:xfrm>
        </p:spPr>
        <p:txBody>
          <a:bodyPr/>
          <a:lstStyle/>
          <a:p>
            <a:r>
              <a:rPr lang="en-US" altLang="en-US" dirty="0"/>
              <a:t>Optimization myths</a:t>
            </a:r>
          </a:p>
        </p:txBody>
      </p:sp>
      <p:sp>
        <p:nvSpPr>
          <p:cNvPr id="890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49425"/>
            <a:ext cx="10408518" cy="48617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Myth: </a:t>
            </a:r>
            <a:r>
              <a:rPr lang="en-US" altLang="en-US" dirty="0">
                <a:solidFill>
                  <a:schemeClr val="tx1"/>
                </a:solidFill>
              </a:rPr>
              <a:t>A program with </a:t>
            </a:r>
            <a:r>
              <a:rPr lang="en-US" altLang="en-US" b="1" dirty="0">
                <a:solidFill>
                  <a:srgbClr val="00B050"/>
                </a:solidFill>
              </a:rPr>
              <a:t>fewer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lines of code is </a:t>
            </a:r>
            <a:r>
              <a:rPr lang="en-US" altLang="en-US" b="1" dirty="0">
                <a:solidFill>
                  <a:srgbClr val="00B050"/>
                </a:solidFill>
              </a:rPr>
              <a:t>faster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sz="3600" b="1" dirty="0">
                <a:solidFill>
                  <a:srgbClr val="FF0000"/>
                </a:solidFill>
              </a:rPr>
              <a:t>Nope!</a:t>
            </a:r>
          </a:p>
          <a:p>
            <a:endParaRPr lang="en-US" altLang="en-US" dirty="0"/>
          </a:p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For example, </a:t>
            </a:r>
            <a:r>
              <a:rPr lang="en-US" altLang="en-US" b="1" dirty="0">
                <a:solidFill>
                  <a:srgbClr val="FF0000"/>
                </a:solidFill>
              </a:rPr>
              <a:t>recursion</a:t>
            </a:r>
            <a:r>
              <a:rPr lang="en-US" altLang="en-US" b="1" dirty="0">
                <a:solidFill>
                  <a:schemeClr val="tx1"/>
                </a:solidFill>
              </a:rPr>
              <a:t>: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It looks:</a:t>
            </a:r>
          </a:p>
          <a:p>
            <a:pPr lvl="2"/>
            <a:r>
              <a:rPr lang="en-US" altLang="en-US" sz="2000" dirty="0">
                <a:solidFill>
                  <a:schemeClr val="tx1"/>
                </a:solidFill>
              </a:rPr>
              <a:t>Nice</a:t>
            </a:r>
          </a:p>
          <a:p>
            <a:pPr lvl="2"/>
            <a:r>
              <a:rPr lang="en-US" altLang="en-US" sz="2000" dirty="0">
                <a:solidFill>
                  <a:schemeClr val="tx1"/>
                </a:solidFill>
              </a:rPr>
              <a:t>Clean</a:t>
            </a:r>
          </a:p>
          <a:p>
            <a:pPr lvl="2"/>
            <a:r>
              <a:rPr lang="en-US" altLang="en-US" sz="2000" dirty="0">
                <a:solidFill>
                  <a:schemeClr val="tx1"/>
                </a:solidFill>
              </a:rPr>
              <a:t>Short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But it is </a:t>
            </a:r>
            <a:r>
              <a:rPr lang="en-US" altLang="en-US" b="1" dirty="0">
                <a:solidFill>
                  <a:srgbClr val="FF0000"/>
                </a:solidFill>
              </a:rPr>
              <a:t>very slow </a:t>
            </a:r>
            <a:r>
              <a:rPr lang="en-US" altLang="en-US" dirty="0">
                <a:solidFill>
                  <a:schemeClr val="tx1"/>
                </a:solidFill>
              </a:rPr>
              <a:t>when </a:t>
            </a:r>
            <a:r>
              <a:rPr lang="en-US" altLang="en-US" b="1" dirty="0">
                <a:solidFill>
                  <a:srgbClr val="FF0000"/>
                </a:solidFill>
              </a:rPr>
              <a:t>n &gt; 45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466" y="3036762"/>
            <a:ext cx="6381514" cy="26158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144FA1-138C-6A59-2B28-0D3C9CA37F3D}"/>
              </a:ext>
            </a:extLst>
          </p:cNvPr>
          <p:cNvSpPr txBox="1"/>
          <p:nvPr/>
        </p:nvSpPr>
        <p:spPr>
          <a:xfrm>
            <a:off x="1309049" y="0"/>
            <a:ext cx="6481261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CSEN160_08_Miscellaneous</a:t>
            </a:r>
            <a:r>
              <a:rPr lang="en-US" dirty="0">
                <a:solidFill>
                  <a:srgbClr val="000000"/>
                </a:solidFill>
                <a:latin typeface="Arial" panose="020B0604020202020204"/>
              </a:rPr>
              <a:t>.</a:t>
            </a:r>
            <a:r>
              <a:rPr lang="en-US" dirty="0">
                <a:solidFill>
                  <a:srgbClr val="FF0000"/>
                </a:solidFill>
              </a:rPr>
              <a:t>G_Optimizations.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B_Fibonacci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109115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138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3558"/>
            <a:ext cx="5472376" cy="755608"/>
          </a:xfrm>
        </p:spPr>
        <p:txBody>
          <a:bodyPr/>
          <a:lstStyle/>
          <a:p>
            <a:r>
              <a:rPr lang="en-US" altLang="en-US" dirty="0"/>
              <a:t>Perceived performance</a:t>
            </a:r>
          </a:p>
        </p:txBody>
      </p:sp>
      <p:sp>
        <p:nvSpPr>
          <p:cNvPr id="859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64457"/>
            <a:ext cx="10396380" cy="4975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"My app feels </a:t>
            </a:r>
            <a:r>
              <a:rPr lang="en-US" altLang="en-US" b="1" dirty="0">
                <a:solidFill>
                  <a:srgbClr val="FF0000"/>
                </a:solidFill>
              </a:rPr>
              <a:t>too slow</a:t>
            </a:r>
            <a:r>
              <a:rPr lang="en-US" altLang="en-US" b="1" dirty="0">
                <a:solidFill>
                  <a:schemeClr val="tx1"/>
                </a:solidFill>
              </a:rPr>
              <a:t>,  what to</a:t>
            </a:r>
            <a:r>
              <a:rPr lang="en-US" altLang="en-US" b="1" dirty="0">
                <a:solidFill>
                  <a:srgbClr val="00B050"/>
                </a:solidFill>
              </a:rPr>
              <a:t> do</a:t>
            </a:r>
            <a:r>
              <a:rPr lang="en-US" altLang="en-US" b="1" dirty="0">
                <a:solidFill>
                  <a:schemeClr val="tx1"/>
                </a:solidFill>
              </a:rPr>
              <a:t>?“:</a:t>
            </a:r>
          </a:p>
          <a:p>
            <a:r>
              <a:rPr lang="en-US" altLang="en-US" i="1" dirty="0">
                <a:solidFill>
                  <a:schemeClr val="tx1"/>
                </a:solidFill>
              </a:rPr>
              <a:t>Optimize it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Improve</a:t>
            </a:r>
            <a:r>
              <a:rPr lang="en-US" altLang="en-US" dirty="0"/>
              <a:t> </a:t>
            </a:r>
            <a:r>
              <a:rPr lang="en-US" altLang="en-US" b="1" i="1" dirty="0">
                <a:solidFill>
                  <a:srgbClr val="FF0000"/>
                </a:solidFill>
              </a:rPr>
              <a:t>perceived</a:t>
            </a:r>
            <a:r>
              <a:rPr lang="en-US" altLang="en-US" i="1" dirty="0"/>
              <a:t> </a:t>
            </a:r>
            <a:r>
              <a:rPr lang="en-US" altLang="en-US" i="1" dirty="0">
                <a:solidFill>
                  <a:schemeClr val="tx1"/>
                </a:solidFill>
              </a:rPr>
              <a:t>performance</a:t>
            </a:r>
            <a:endParaRPr lang="en-US" altLang="en-US" dirty="0">
              <a:solidFill>
                <a:schemeClr val="tx1"/>
              </a:solidFill>
            </a:endParaRPr>
          </a:p>
          <a:p>
            <a:pPr lvl="1"/>
            <a:endParaRPr lang="en-US" altLang="en-US" dirty="0"/>
          </a:p>
          <a:p>
            <a:pPr marL="0" indent="0">
              <a:buNone/>
            </a:pPr>
            <a:r>
              <a:rPr lang="en-US" altLang="en-US" b="1" dirty="0">
                <a:solidFill>
                  <a:srgbClr val="FF0000"/>
                </a:solidFill>
              </a:rPr>
              <a:t>Perceived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chemeClr val="tx1"/>
                </a:solidFill>
              </a:rPr>
              <a:t>performance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User's perception of your app's responsiveness. 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Factors affecting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perceived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performance:</a:t>
            </a:r>
          </a:p>
          <a:p>
            <a:pPr lvl="1"/>
            <a:r>
              <a:rPr lang="en-US" altLang="en-US" b="1" dirty="0">
                <a:solidFill>
                  <a:srgbClr val="00B050"/>
                </a:solidFill>
              </a:rPr>
              <a:t>Loading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screens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Multi-threaded UIs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(GUI does </a:t>
            </a:r>
            <a:r>
              <a:rPr lang="en-US" altLang="en-US" b="1" dirty="0">
                <a:solidFill>
                  <a:srgbClr val="FF0000"/>
                </a:solidFill>
              </a:rPr>
              <a:t>not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stall while something is </a:t>
            </a:r>
            <a:r>
              <a:rPr lang="en-US" altLang="en-US" b="1" dirty="0">
                <a:solidFill>
                  <a:srgbClr val="00B050"/>
                </a:solidFill>
              </a:rPr>
              <a:t>ongoing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in the background)</a:t>
            </a:r>
          </a:p>
          <a:p>
            <a:pPr lvl="1"/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535" y="2567721"/>
            <a:ext cx="4065921" cy="23132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4354131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Optimizations</a:t>
            </a:r>
          </a:p>
        </p:txBody>
      </p:sp>
    </p:spTree>
    <p:extLst>
      <p:ext uri="{BB962C8B-B14F-4D97-AF65-F5344CB8AC3E}">
        <p14:creationId xmlns:p14="http://schemas.microsoft.com/office/powerpoint/2010/main" val="230074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17143"/>
            <a:ext cx="4905934" cy="703009"/>
          </a:xfrm>
        </p:spPr>
        <p:txBody>
          <a:bodyPr/>
          <a:lstStyle/>
          <a:p>
            <a:r>
              <a:rPr lang="en-US" altLang="en-US" dirty="0"/>
              <a:t>Optimization metrics</a:t>
            </a:r>
          </a:p>
        </p:txBody>
      </p:sp>
      <p:sp>
        <p:nvSpPr>
          <p:cNvPr id="860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56365"/>
            <a:ext cx="10396380" cy="49791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Runtime / CPU usage</a:t>
            </a:r>
          </a:p>
          <a:p>
            <a:pPr lvl="1"/>
            <a:r>
              <a:rPr lang="en-US" altLang="en-US" b="1" dirty="0">
                <a:solidFill>
                  <a:srgbClr val="00B050"/>
                </a:solidFill>
              </a:rPr>
              <a:t>In which functions </a:t>
            </a:r>
            <a:r>
              <a:rPr lang="en-US" altLang="en-US" dirty="0">
                <a:solidFill>
                  <a:schemeClr val="tx1"/>
                </a:solidFill>
              </a:rPr>
              <a:t>the program is spending most time?</a:t>
            </a:r>
          </a:p>
          <a:p>
            <a:pPr lvl="1"/>
            <a:r>
              <a:rPr lang="en-US" altLang="en-US" b="1" dirty="0">
                <a:solidFill>
                  <a:srgbClr val="00B050"/>
                </a:solidFill>
              </a:rPr>
              <a:t>What call hierarchy </a:t>
            </a:r>
            <a:r>
              <a:rPr lang="en-US" altLang="en-US" dirty="0">
                <a:solidFill>
                  <a:schemeClr val="tx1"/>
                </a:solidFill>
              </a:rPr>
              <a:t>was used to get to these functions?</a:t>
            </a:r>
          </a:p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Web page load times, requests/minute, etc.</a:t>
            </a:r>
          </a:p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Memory usage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(Not important anymore):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What kinds of objects are on the </a:t>
            </a:r>
            <a:r>
              <a:rPr lang="en-US" altLang="en-US" b="1" dirty="0">
                <a:solidFill>
                  <a:srgbClr val="00B050"/>
                </a:solidFill>
              </a:rPr>
              <a:t>heap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Where were they allocated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Who is </a:t>
            </a:r>
            <a:r>
              <a:rPr lang="en-US" altLang="en-US" b="1" dirty="0">
                <a:solidFill>
                  <a:srgbClr val="FF0000"/>
                </a:solidFill>
              </a:rPr>
              <a:t>pointing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to them now</a:t>
            </a:r>
          </a:p>
          <a:p>
            <a:pPr lvl="1"/>
            <a:r>
              <a:rPr lang="en-US" altLang="en-US" dirty="0"/>
              <a:t>"</a:t>
            </a:r>
            <a:r>
              <a:rPr lang="en-US" altLang="en-US" b="1" dirty="0">
                <a:solidFill>
                  <a:srgbClr val="FF0000"/>
                </a:solidFill>
              </a:rPr>
              <a:t>memory leaks</a:t>
            </a:r>
            <a:r>
              <a:rPr lang="en-US" altLang="en-US" dirty="0">
                <a:solidFill>
                  <a:schemeClr val="tx1"/>
                </a:solidFill>
              </a:rPr>
              <a:t>" (does Java have those?) </a:t>
            </a:r>
          </a:p>
          <a:p>
            <a:pPr lvl="1"/>
            <a:endParaRPr lang="en-US" altLang="en-US" dirty="0"/>
          </a:p>
        </p:txBody>
      </p:sp>
      <p:pic>
        <p:nvPicPr>
          <p:cNvPr id="8601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3200400"/>
            <a:ext cx="2630488" cy="317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378782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3557"/>
            <a:ext cx="6423190" cy="682779"/>
          </a:xfrm>
        </p:spPr>
        <p:txBody>
          <a:bodyPr/>
          <a:lstStyle/>
          <a:p>
            <a:r>
              <a:rPr lang="en-US" altLang="en-US" dirty="0"/>
              <a:t>Benchmarking, optimization</a:t>
            </a:r>
          </a:p>
        </p:txBody>
      </p:sp>
      <p:sp>
        <p:nvSpPr>
          <p:cNvPr id="863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80641"/>
            <a:ext cx="10400426" cy="495482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en-US" b="1" dirty="0"/>
          </a:p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Benchmarking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Measuring </a:t>
            </a:r>
            <a:r>
              <a:rPr lang="en-US" altLang="en-US" b="1" dirty="0">
                <a:solidFill>
                  <a:srgbClr val="FF0000"/>
                </a:solidFill>
              </a:rPr>
              <a:t>absolute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performance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On a particular </a:t>
            </a:r>
            <a:r>
              <a:rPr lang="en-US" altLang="en-US" b="1" dirty="0">
                <a:solidFill>
                  <a:srgbClr val="00B050"/>
                </a:solidFill>
              </a:rPr>
              <a:t>platform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b="1" dirty="0">
                <a:solidFill>
                  <a:srgbClr val="FF0000"/>
                </a:solidFill>
              </a:rPr>
              <a:t>Coarse-grained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measurement</a:t>
            </a:r>
          </a:p>
          <a:p>
            <a:endParaRPr lang="en-US" altLang="en-US" dirty="0"/>
          </a:p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Profiling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Measuring for a specific </a:t>
            </a:r>
            <a:r>
              <a:rPr lang="en-US" altLang="en-US" b="1" dirty="0">
                <a:solidFill>
                  <a:srgbClr val="00B050"/>
                </a:solidFill>
              </a:rPr>
              <a:t>time period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Only the </a:t>
            </a:r>
            <a:r>
              <a:rPr lang="en-US" altLang="en-US" b="1" dirty="0">
                <a:solidFill>
                  <a:srgbClr val="00B050"/>
                </a:solidFill>
              </a:rPr>
              <a:t>code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you want to </a:t>
            </a:r>
            <a:r>
              <a:rPr lang="en-US" altLang="en-US" b="1" dirty="0">
                <a:solidFill>
                  <a:srgbClr val="00B050"/>
                </a:solidFill>
              </a:rPr>
              <a:t>analyze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Which functions/call-hierarchy in </a:t>
            </a:r>
            <a:r>
              <a:rPr lang="en-US" altLang="en-US" b="1" dirty="0">
                <a:solidFill>
                  <a:srgbClr val="00B050"/>
                </a:solidFill>
              </a:rPr>
              <a:t>%</a:t>
            </a:r>
            <a:r>
              <a:rPr lang="en-US" altLang="en-US" dirty="0">
                <a:solidFill>
                  <a:schemeClr val="tx1"/>
                </a:solidFill>
              </a:rPr>
              <a:t>, etc.</a:t>
            </a:r>
          </a:p>
          <a:p>
            <a:pPr lvl="1"/>
            <a:r>
              <a:rPr lang="en-US" altLang="en-US" b="1" dirty="0">
                <a:solidFill>
                  <a:srgbClr val="00B050"/>
                </a:solidFill>
              </a:rPr>
              <a:t>Fine and detailed </a:t>
            </a:r>
            <a:r>
              <a:rPr lang="en-US" altLang="en-US" dirty="0">
                <a:solidFill>
                  <a:schemeClr val="tx1"/>
                </a:solidFill>
              </a:rPr>
              <a:t>measurements</a:t>
            </a:r>
          </a:p>
        </p:txBody>
      </p:sp>
    </p:spTree>
    <p:extLst>
      <p:ext uri="{BB962C8B-B14F-4D97-AF65-F5344CB8AC3E}">
        <p14:creationId xmlns:p14="http://schemas.microsoft.com/office/powerpoint/2010/main" val="644111497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3557"/>
            <a:ext cx="6423190" cy="682779"/>
          </a:xfrm>
        </p:spPr>
        <p:txBody>
          <a:bodyPr/>
          <a:lstStyle/>
          <a:p>
            <a:r>
              <a:rPr lang="en-US" altLang="en-US" dirty="0"/>
              <a:t>Benchmarking, optimization</a:t>
            </a:r>
          </a:p>
        </p:txBody>
      </p:sp>
      <p:sp>
        <p:nvSpPr>
          <p:cNvPr id="863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80641"/>
            <a:ext cx="10400426" cy="49548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Optimization</a:t>
            </a:r>
            <a:r>
              <a:rPr lang="en-US" altLang="en-US" dirty="0">
                <a:solidFill>
                  <a:schemeClr val="tx1"/>
                </a:solidFill>
              </a:rPr>
              <a:t>: Refactoring to speed up code.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en-US" b="1" dirty="0">
                <a:solidFill>
                  <a:srgbClr val="FF0000"/>
                </a:solidFill>
              </a:rPr>
              <a:t>I/O routines</a:t>
            </a:r>
            <a:r>
              <a:rPr lang="en-US" altLang="en-US" b="1" dirty="0"/>
              <a:t>:</a:t>
            </a:r>
          </a:p>
          <a:p>
            <a:pPr lvl="2"/>
            <a:endParaRPr lang="en-US" altLang="en-US" dirty="0"/>
          </a:p>
          <a:p>
            <a:pPr lvl="2"/>
            <a:r>
              <a:rPr lang="en-US" altLang="en-US" dirty="0" err="1">
                <a:solidFill>
                  <a:schemeClr val="tx1"/>
                </a:solidFill>
              </a:rPr>
              <a:t>println</a:t>
            </a:r>
            <a:r>
              <a:rPr lang="en-US" altLang="en-US" dirty="0">
                <a:solidFill>
                  <a:schemeClr val="tx1"/>
                </a:solidFill>
              </a:rPr>
              <a:t> to the console (</a:t>
            </a:r>
            <a:r>
              <a:rPr lang="en-US" altLang="en-US" b="1" dirty="0">
                <a:solidFill>
                  <a:srgbClr val="FF0000"/>
                </a:solidFill>
              </a:rPr>
              <a:t>slower</a:t>
            </a:r>
            <a:r>
              <a:rPr lang="en-US" altLang="en-US" dirty="0"/>
              <a:t>)</a:t>
            </a:r>
          </a:p>
          <a:p>
            <a:pPr lvl="2"/>
            <a:endParaRPr lang="en-US" altLang="en-US" dirty="0"/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Logging (faster than </a:t>
            </a:r>
            <a:r>
              <a:rPr lang="en-US" altLang="en-US" dirty="0" err="1">
                <a:solidFill>
                  <a:schemeClr val="tx1"/>
                </a:solidFill>
              </a:rPr>
              <a:t>println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</a:p>
          <a:p>
            <a:pPr lvl="2"/>
            <a:endParaRPr lang="en-US" altLang="en-US" dirty="0">
              <a:solidFill>
                <a:schemeClr val="tx1"/>
              </a:solidFill>
            </a:endParaRP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File access</a:t>
            </a:r>
          </a:p>
          <a:p>
            <a:pPr lvl="2"/>
            <a:endParaRPr lang="en-US" altLang="en-US" dirty="0">
              <a:solidFill>
                <a:schemeClr val="tx1"/>
              </a:solidFill>
            </a:endParaRP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Network access</a:t>
            </a:r>
          </a:p>
          <a:p>
            <a:pPr lvl="2"/>
            <a:endParaRPr lang="en-US" altLang="en-US" dirty="0">
              <a:solidFill>
                <a:schemeClr val="tx1"/>
              </a:solidFill>
            </a:endParaRP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Database queries</a:t>
            </a:r>
          </a:p>
          <a:p>
            <a:pPr lvl="2"/>
            <a:endParaRPr lang="en-US" altLang="en-US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exec()</a:t>
            </a:r>
            <a:r>
              <a:rPr lang="en-US" altLang="en-US" dirty="0">
                <a:solidFill>
                  <a:schemeClr val="tx1"/>
                </a:solidFill>
              </a:rPr>
              <a:t> / system calls</a:t>
            </a:r>
          </a:p>
        </p:txBody>
      </p:sp>
    </p:spTree>
    <p:extLst>
      <p:ext uri="{BB962C8B-B14F-4D97-AF65-F5344CB8AC3E}">
        <p14:creationId xmlns:p14="http://schemas.microsoft.com/office/powerpoint/2010/main" val="28945889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3557"/>
            <a:ext cx="6423190" cy="682779"/>
          </a:xfrm>
        </p:spPr>
        <p:txBody>
          <a:bodyPr/>
          <a:lstStyle/>
          <a:p>
            <a:r>
              <a:rPr lang="en-US" altLang="en-US" dirty="0"/>
              <a:t>Benchmarking, optimization</a:t>
            </a:r>
          </a:p>
        </p:txBody>
      </p:sp>
      <p:sp>
        <p:nvSpPr>
          <p:cNvPr id="863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80641"/>
            <a:ext cx="10400426" cy="49548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Optimization</a:t>
            </a:r>
            <a:r>
              <a:rPr lang="en-US" altLang="en-US" dirty="0">
                <a:solidFill>
                  <a:schemeClr val="tx1"/>
                </a:solidFill>
              </a:rPr>
              <a:t>: Refactoring to speed up code.</a:t>
            </a:r>
          </a:p>
          <a:p>
            <a:pPr marL="457200" lvl="1" indent="0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en-US" b="1" dirty="0">
                <a:solidFill>
                  <a:srgbClr val="00B050"/>
                </a:solidFill>
              </a:rPr>
              <a:t>Hashing, caching:  </a:t>
            </a:r>
            <a:r>
              <a:rPr lang="en-US" altLang="en-US" b="1" dirty="0">
                <a:solidFill>
                  <a:schemeClr val="tx1"/>
                </a:solidFill>
              </a:rPr>
              <a:t>prevent reloading resources:</a:t>
            </a:r>
          </a:p>
          <a:p>
            <a:pPr lvl="2"/>
            <a:endParaRPr lang="en-US" altLang="en-US" dirty="0">
              <a:solidFill>
                <a:schemeClr val="tx1"/>
              </a:solidFill>
            </a:endParaRP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Combine multiple database queries into one query</a:t>
            </a:r>
          </a:p>
          <a:p>
            <a:pPr lvl="2"/>
            <a:endParaRPr lang="en-US" altLang="en-US" dirty="0"/>
          </a:p>
          <a:p>
            <a:pPr lvl="2"/>
            <a:r>
              <a:rPr lang="en-US" altLang="en-US" b="1" dirty="0">
                <a:solidFill>
                  <a:schemeClr val="tx1"/>
                </a:solidFill>
              </a:rPr>
              <a:t>Reduce</a:t>
            </a:r>
            <a:r>
              <a:rPr lang="en-US" altLang="en-US" dirty="0">
                <a:solidFill>
                  <a:schemeClr val="tx1"/>
                </a:solidFill>
              </a:rPr>
              <a:t> I/O accesses (at all)</a:t>
            </a:r>
          </a:p>
          <a:p>
            <a:pPr lvl="2"/>
            <a:endParaRPr lang="en-US" altLang="en-US" dirty="0">
              <a:solidFill>
                <a:schemeClr val="tx1"/>
              </a:solidFill>
            </a:endParaRP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Save </a:t>
            </a:r>
            <a:r>
              <a:rPr lang="en-US" altLang="en-US" dirty="0" err="1">
                <a:solidFill>
                  <a:schemeClr val="tx1"/>
                </a:solidFill>
              </a:rPr>
              <a:t>db</a:t>
            </a:r>
            <a:r>
              <a:rPr lang="en-US" altLang="en-US" dirty="0">
                <a:solidFill>
                  <a:schemeClr val="tx1"/>
                </a:solidFill>
              </a:rPr>
              <a:t> results in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B050"/>
                </a:solidFill>
              </a:rPr>
              <a:t>memory</a:t>
            </a:r>
          </a:p>
          <a:p>
            <a:pPr lvl="2"/>
            <a:endParaRPr lang="en-US" altLang="en-US" dirty="0"/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Use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B050"/>
                </a:solidFill>
              </a:rPr>
              <a:t>caches</a:t>
            </a:r>
          </a:p>
          <a:p>
            <a:pPr lvl="2"/>
            <a:endParaRPr lang="en-US" altLang="en-US" dirty="0"/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Use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B050"/>
                </a:solidFill>
              </a:rPr>
              <a:t>Hash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data structures</a:t>
            </a:r>
            <a:endParaRPr lang="en-US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64051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00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45466"/>
            <a:ext cx="5468330" cy="751562"/>
          </a:xfrm>
        </p:spPr>
        <p:txBody>
          <a:bodyPr/>
          <a:lstStyle/>
          <a:p>
            <a:r>
              <a:rPr lang="en-US" altLang="en-US" dirty="0"/>
              <a:t>Avoiding computations</a:t>
            </a:r>
          </a:p>
        </p:txBody>
      </p:sp>
      <p:sp>
        <p:nvSpPr>
          <p:cNvPr id="896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36135"/>
            <a:ext cx="10392334" cy="49952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en-US" b="1" dirty="0"/>
          </a:p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Stop computing when you know the answer: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sz="900" dirty="0"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dirty="0"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found = false;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for (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= 0; 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&lt; 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reallyBigNumber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++) {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   if (inputs[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].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isTheOneIWant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()) {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       found = true;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break;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   }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Rectangle 1"/>
          <p:cNvSpPr/>
          <p:nvPr/>
        </p:nvSpPr>
        <p:spPr>
          <a:xfrm>
            <a:off x="2570164" y="4474896"/>
            <a:ext cx="1100517" cy="3317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795859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00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45466"/>
            <a:ext cx="5468330" cy="751562"/>
          </a:xfrm>
        </p:spPr>
        <p:txBody>
          <a:bodyPr/>
          <a:lstStyle/>
          <a:p>
            <a:r>
              <a:rPr lang="en-US" altLang="en-US" dirty="0"/>
              <a:t>Avoiding computations</a:t>
            </a:r>
          </a:p>
        </p:txBody>
      </p:sp>
      <p:sp>
        <p:nvSpPr>
          <p:cNvPr id="896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36135"/>
            <a:ext cx="10392334" cy="49952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en-US" b="1" dirty="0"/>
          </a:p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Put computationally intensive loop-invariant code outside the loop: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sz="9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dirty="0"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double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taxThreshold</a:t>
            </a:r>
            <a:r>
              <a:rPr lang="en-US" altLang="en-US" dirty="0">
                <a:latin typeface="Courier New" panose="02070309020205020404" pitchFamily="49" charset="0"/>
              </a:rPr>
              <a:t> = </a:t>
            </a:r>
            <a:r>
              <a:rPr lang="en-US" altLang="en-US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reallySlowTaxFunction</a:t>
            </a:r>
            <a:r>
              <a:rPr lang="en-US" altLang="en-US" b="1" dirty="0">
                <a:latin typeface="Courier New" panose="02070309020205020404" pitchFamily="49" charset="0"/>
              </a:rPr>
              <a:t>();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dirty="0"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for (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= 0; 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&lt; 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reallyBigNumber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++) {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   accounts[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].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applyTax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taxThreshold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None/>
            </a:pPr>
            <a:endParaRPr lang="en-US" altLang="en-US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You need to check if it improves the execution!</a:t>
            </a:r>
            <a:endParaRPr lang="en-US" altLang="en-US" sz="18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61165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5" y="725235"/>
            <a:ext cx="10244831" cy="75965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Optimizing memory access (L1, L2, L3 cache …)</a:t>
            </a:r>
          </a:p>
        </p:txBody>
      </p:sp>
      <p:sp>
        <p:nvSpPr>
          <p:cNvPr id="892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50575"/>
            <a:ext cx="10392334" cy="47646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Non-contiguous memory access (</a:t>
            </a:r>
            <a:r>
              <a:rPr lang="en-US" altLang="en-US" b="1" dirty="0">
                <a:solidFill>
                  <a:srgbClr val="FF0000"/>
                </a:solidFill>
              </a:rPr>
              <a:t>bad</a:t>
            </a:r>
            <a:r>
              <a:rPr lang="en-US" altLang="en-US" dirty="0">
                <a:solidFill>
                  <a:schemeClr val="tx1"/>
                </a:solidFill>
              </a:rPr>
              <a:t>):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sz="8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for (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</a:rPr>
              <a:t>col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= 0; </a:t>
            </a: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</a:rPr>
              <a:t>col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&lt; NUM_COLS; </a:t>
            </a: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</a:rPr>
              <a:t>col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++) {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   for (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</a:rPr>
              <a:t>row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= 0; </a:t>
            </a: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</a:rPr>
              <a:t>row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&lt; NUM_ROWS; </a:t>
            </a: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</a:rPr>
              <a:t>row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++) {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       table[row][column] = 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bulkyMethodCall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();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   }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Contiguous memory access (</a:t>
            </a:r>
            <a:r>
              <a:rPr lang="en-US" altLang="en-US" b="1" dirty="0">
                <a:solidFill>
                  <a:srgbClr val="00B050"/>
                </a:solidFill>
              </a:rPr>
              <a:t>good</a:t>
            </a:r>
            <a:r>
              <a:rPr lang="en-US" altLang="en-US" dirty="0">
                <a:solidFill>
                  <a:schemeClr val="tx1"/>
                </a:solidFill>
              </a:rPr>
              <a:t>):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sz="8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for (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B050"/>
                </a:solidFill>
                <a:latin typeface="Courier New" panose="02070309020205020404" pitchFamily="49" charset="0"/>
              </a:rPr>
              <a:t>row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= 0;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B050"/>
                </a:solidFill>
                <a:latin typeface="Courier New" panose="02070309020205020404" pitchFamily="49" charset="0"/>
              </a:rPr>
              <a:t>row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&lt; NUM_ROWS; </a:t>
            </a:r>
            <a:r>
              <a:rPr lang="en-US" altLang="en-US" b="1" dirty="0">
                <a:solidFill>
                  <a:srgbClr val="00B050"/>
                </a:solidFill>
                <a:latin typeface="Courier New" panose="02070309020205020404" pitchFamily="49" charset="0"/>
              </a:rPr>
              <a:t>row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++) {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   for (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col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= 0;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col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&lt; NUM_COLS;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col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++) {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       table[row][column] = 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bulkyMethodCall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();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   }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Switches rows and columns</a:t>
            </a:r>
            <a:endParaRPr lang="en-US" altLang="en-US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37749" y="20533"/>
            <a:ext cx="682751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CSEN160_08_Miscellaneous.G_Optimizations.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C_LoopDeLoop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614D46-CA63-89B8-DD2C-B770835F13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359" y="3995339"/>
            <a:ext cx="1839987" cy="21958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B54D24-2E03-B210-5A80-C1D9636299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359" y="1543281"/>
            <a:ext cx="1670352" cy="23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0822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92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929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929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929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929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929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93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9293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954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85925"/>
            <a:ext cx="6285626" cy="682779"/>
          </a:xfrm>
        </p:spPr>
        <p:txBody>
          <a:bodyPr/>
          <a:lstStyle/>
          <a:p>
            <a:r>
              <a:rPr lang="en-US" altLang="en-US" dirty="0"/>
              <a:t>Optimizing data structures</a:t>
            </a:r>
          </a:p>
        </p:txBody>
      </p:sp>
      <p:sp>
        <p:nvSpPr>
          <p:cNvPr id="89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69655"/>
            <a:ext cx="10396380" cy="4845584"/>
          </a:xfrm>
        </p:spPr>
        <p:txBody>
          <a:bodyPr/>
          <a:lstStyle/>
          <a:p>
            <a:pPr marL="0" indent="0">
              <a:buNone/>
              <a:tabLst>
                <a:tab pos="6003925" algn="l"/>
              </a:tabLst>
            </a:pPr>
            <a:r>
              <a:rPr lang="en-US" altLang="en-US" b="1" dirty="0">
                <a:solidFill>
                  <a:schemeClr val="tx1"/>
                </a:solidFill>
              </a:rPr>
              <a:t>Take advantage of </a:t>
            </a:r>
            <a:r>
              <a:rPr lang="en-US" altLang="en-US" b="1" dirty="0">
                <a:solidFill>
                  <a:srgbClr val="00B050"/>
                </a:solidFill>
              </a:rPr>
              <a:t>hash-based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chemeClr val="tx1"/>
                </a:solidFill>
              </a:rPr>
              <a:t>data structures:</a:t>
            </a:r>
          </a:p>
          <a:p>
            <a:pPr lvl="1">
              <a:tabLst>
                <a:tab pos="6003925" algn="l"/>
              </a:tabLst>
            </a:pPr>
            <a:endParaRPr lang="en-US" altLang="en-US" dirty="0">
              <a:solidFill>
                <a:schemeClr val="tx1"/>
              </a:solidFill>
            </a:endParaRPr>
          </a:p>
          <a:p>
            <a:pPr lvl="1">
              <a:tabLst>
                <a:tab pos="6003925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Searching an</a:t>
            </a:r>
            <a:r>
              <a:rPr lang="en-US" altLang="en-US" dirty="0"/>
              <a:t> </a:t>
            </a:r>
            <a:r>
              <a:rPr lang="en-US" altLang="en-US" b="1" dirty="0" err="1">
                <a:solidFill>
                  <a:srgbClr val="FF0000"/>
                </a:solidFill>
              </a:rPr>
              <a:t>ArrayList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(contains, </a:t>
            </a:r>
            <a:r>
              <a:rPr lang="en-US" altLang="en-US" dirty="0" err="1">
                <a:solidFill>
                  <a:schemeClr val="tx1"/>
                </a:solidFill>
              </a:rPr>
              <a:t>indexOf</a:t>
            </a:r>
            <a:r>
              <a:rPr lang="en-US" altLang="en-US" dirty="0">
                <a:solidFill>
                  <a:schemeClr val="tx1"/>
                </a:solidFill>
              </a:rPr>
              <a:t>) is </a:t>
            </a:r>
            <a:r>
              <a:rPr lang="en-US" altLang="en-US" b="1" dirty="0">
                <a:solidFill>
                  <a:srgbClr val="FF0000"/>
                </a:solidFill>
              </a:rPr>
              <a:t>O(N)</a:t>
            </a:r>
          </a:p>
          <a:p>
            <a:pPr lvl="1">
              <a:tabLst>
                <a:tab pos="6003925" algn="l"/>
              </a:tabLst>
            </a:pPr>
            <a:endParaRPr lang="en-US" altLang="en-US" dirty="0"/>
          </a:p>
          <a:p>
            <a:pPr lvl="1">
              <a:tabLst>
                <a:tab pos="6003925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Searching</a:t>
            </a:r>
            <a:r>
              <a:rPr lang="en-US" altLang="en-US" dirty="0"/>
              <a:t> a </a:t>
            </a:r>
            <a:r>
              <a:rPr lang="en-US" altLang="en-US" b="1" dirty="0" err="1">
                <a:solidFill>
                  <a:srgbClr val="00B050"/>
                </a:solidFill>
              </a:rPr>
              <a:t>HashMap</a:t>
            </a:r>
            <a:r>
              <a:rPr lang="en-US" altLang="en-US" b="1" dirty="0">
                <a:solidFill>
                  <a:srgbClr val="00B050"/>
                </a:solidFill>
              </a:rPr>
              <a:t>/</a:t>
            </a:r>
            <a:r>
              <a:rPr lang="en-US" altLang="en-US" b="1" dirty="0" err="1">
                <a:solidFill>
                  <a:srgbClr val="00B050"/>
                </a:solidFill>
              </a:rPr>
              <a:t>HashSet</a:t>
            </a:r>
            <a:r>
              <a:rPr lang="en-US" altLang="en-US" b="1" dirty="0">
                <a:solidFill>
                  <a:srgbClr val="00B050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is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B050"/>
                </a:solidFill>
              </a:rPr>
              <a:t>O(1)</a:t>
            </a:r>
          </a:p>
          <a:p>
            <a:pPr lvl="1">
              <a:tabLst>
                <a:tab pos="6003925" algn="l"/>
              </a:tabLst>
            </a:pPr>
            <a:endParaRPr lang="en-US" altLang="en-US" dirty="0"/>
          </a:p>
          <a:p>
            <a:pPr lvl="1">
              <a:tabLst>
                <a:tab pos="6003925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Need to keep elements in sorted order? (</a:t>
            </a:r>
            <a:r>
              <a:rPr lang="en-US" altLang="en-US" dirty="0" err="1">
                <a:solidFill>
                  <a:schemeClr val="tx1"/>
                </a:solidFill>
              </a:rPr>
              <a:t>TreeMap</a:t>
            </a:r>
            <a:r>
              <a:rPr lang="en-US" altLang="en-US" dirty="0">
                <a:solidFill>
                  <a:schemeClr val="tx1"/>
                </a:solidFill>
              </a:rPr>
              <a:t>/</a:t>
            </a:r>
            <a:r>
              <a:rPr lang="en-US" altLang="en-US" dirty="0" err="1">
                <a:solidFill>
                  <a:schemeClr val="tx1"/>
                </a:solidFill>
              </a:rPr>
              <a:t>TreeSet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</a:p>
          <a:p>
            <a:pPr lvl="1">
              <a:tabLst>
                <a:tab pos="6003925" algn="l"/>
              </a:tabLst>
            </a:pPr>
            <a:endParaRPr lang="en-US" altLang="en-US" dirty="0">
              <a:solidFill>
                <a:schemeClr val="tx1"/>
              </a:solidFill>
            </a:endParaRPr>
          </a:p>
          <a:p>
            <a:pPr lvl="1">
              <a:tabLst>
                <a:tab pos="6003925" algn="l"/>
              </a:tabLst>
            </a:pPr>
            <a:r>
              <a:rPr lang="en-US" altLang="en-US" dirty="0">
                <a:solidFill>
                  <a:schemeClr val="tx1"/>
                </a:solidFill>
              </a:rPr>
              <a:t>Need to keep elements in insertion order? (</a:t>
            </a:r>
            <a:r>
              <a:rPr lang="en-US" altLang="en-US" dirty="0" err="1">
                <a:solidFill>
                  <a:schemeClr val="tx1"/>
                </a:solidFill>
              </a:rPr>
              <a:t>LinkedHashSet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8939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158" y="5003009"/>
            <a:ext cx="4953000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9395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59"/>
          <a:stretch>
            <a:fillRect/>
          </a:stretch>
        </p:blipFill>
        <p:spPr bwMode="auto">
          <a:xfrm>
            <a:off x="7656414" y="4722012"/>
            <a:ext cx="3124200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171879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050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41420"/>
            <a:ext cx="5257937" cy="771792"/>
          </a:xfrm>
        </p:spPr>
        <p:txBody>
          <a:bodyPr/>
          <a:lstStyle/>
          <a:p>
            <a:r>
              <a:rPr lang="en-US" altLang="en-US" dirty="0"/>
              <a:t>Dynamic programming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908" y="1736462"/>
            <a:ext cx="7298634" cy="484640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905041" y="1998733"/>
            <a:ext cx="6764941" cy="25489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44708" y="5444591"/>
            <a:ext cx="3294807" cy="503055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30149" y="0"/>
            <a:ext cx="7109639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CSEN160_08_Miscellaneous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r>
              <a:rPr lang="en-US" dirty="0" err="1">
                <a:solidFill>
                  <a:srgbClr val="FF0000"/>
                </a:solidFill>
              </a:rPr>
              <a:t>G_Optimizations</a:t>
            </a:r>
            <a:r>
              <a:rPr lang="en-US" dirty="0">
                <a:solidFill>
                  <a:srgbClr val="FF0000"/>
                </a:solidFill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D_IsPrimeNumber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C68952-58B0-443F-D334-4D88E9707B17}"/>
              </a:ext>
            </a:extLst>
          </p:cNvPr>
          <p:cNvSpPr txBox="1"/>
          <p:nvPr/>
        </p:nvSpPr>
        <p:spPr>
          <a:xfrm>
            <a:off x="8680514" y="3005505"/>
            <a:ext cx="3082328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Dynamic programming is </a:t>
            </a:r>
            <a:r>
              <a:rPr lang="en-US" dirty="0">
                <a:effectLst/>
              </a:rPr>
              <a:t>an algorithmic technique for  </a:t>
            </a:r>
            <a:r>
              <a:rPr lang="en-US" b="1" dirty="0">
                <a:solidFill>
                  <a:srgbClr val="FF0000"/>
                </a:solidFill>
                <a:effectLst/>
              </a:rPr>
              <a:t>solving complex problems </a:t>
            </a:r>
            <a:r>
              <a:rPr lang="en-US" dirty="0">
                <a:effectLst/>
              </a:rPr>
              <a:t>by </a:t>
            </a:r>
            <a:r>
              <a:rPr lang="en-US" b="1" dirty="0">
                <a:solidFill>
                  <a:srgbClr val="00B050"/>
                </a:solidFill>
                <a:effectLst/>
              </a:rPr>
              <a:t>breaking them down into simpler, overlapping subproblems </a:t>
            </a:r>
            <a:r>
              <a:rPr lang="en-US" dirty="0">
                <a:effectLst/>
              </a:rPr>
              <a:t>and storing their solutions to avoid redundant calculations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165880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026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41419"/>
            <a:ext cx="3437229" cy="670641"/>
          </a:xfrm>
        </p:spPr>
        <p:txBody>
          <a:bodyPr/>
          <a:lstStyle/>
          <a:p>
            <a:r>
              <a:rPr lang="en-US" altLang="en-US" dirty="0"/>
              <a:t>Lookup tables</a:t>
            </a:r>
          </a:p>
        </p:txBody>
      </p:sp>
      <p:sp>
        <p:nvSpPr>
          <p:cNvPr id="897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547123"/>
            <a:ext cx="10424702" cy="50883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Figuring out the number of days in a month: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if (m == 9 || m == 4 || m == 6 || m == 11) {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   return 30;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} else if (month == 2) {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   return 28;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} else {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   return 31;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Days in a month, using a lookup table: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sz="8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DAYS_PER_MONTH = {-1, 31, 28, 31, 30, 31, 30, ..., 31};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...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return DAYS_PER_MONTH[month];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dirty="0">
              <a:latin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Usually, lookup is faster, BUT NOT with Java!!!! 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0268" y="0"/>
            <a:ext cx="6801927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CSEN160_08_Miscellaneous.G_Optimizations.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E_LookupTable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6123129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978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5" y="753558"/>
            <a:ext cx="7948539" cy="767746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Optimization is deceptive (C-example)</a:t>
            </a:r>
          </a:p>
        </p:txBody>
      </p:sp>
      <p:sp>
        <p:nvSpPr>
          <p:cNvPr id="894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839" y="1773701"/>
            <a:ext cx="10380195" cy="4853676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sum = 0;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for (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row = 0; row &lt; NUM_ROWS; row++) {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   for (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col = 0; col &lt; NUM_COLS; col++) {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       sum += matrix[row][column];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   }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  <a:endParaRPr lang="en-US" altLang="en-US" dirty="0">
              <a:solidFill>
                <a:schemeClr val="tx1"/>
              </a:solidFill>
            </a:endParaRPr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sz="900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Optimized code: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sum = 0;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Cell* p = matrix;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Cell* end = &amp;matrix[NUM_ROWS - 1][NUM_COLS - 1];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while (p != end) {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    sum += *p++;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  <a:endParaRPr lang="en-US" altLang="en-US" dirty="0">
              <a:solidFill>
                <a:schemeClr val="tx1"/>
              </a:solidFill>
            </a:endParaRPr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sz="9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Speed-up observed: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NONE</a:t>
            </a:r>
            <a:r>
              <a:rPr lang="en-US" altLang="en-US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Compiler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B050"/>
                </a:solidFill>
              </a:rPr>
              <a:t>has already optimized</a:t>
            </a:r>
            <a:r>
              <a:rPr lang="en-US" altLang="en-US" b="1" dirty="0">
                <a:solidFill>
                  <a:srgbClr val="92D050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the original into the second!</a:t>
            </a:r>
          </a:p>
        </p:txBody>
      </p:sp>
    </p:spTree>
    <p:extLst>
      <p:ext uri="{BB962C8B-B14F-4D97-AF65-F5344CB8AC3E}">
        <p14:creationId xmlns:p14="http://schemas.microsoft.com/office/powerpoint/2010/main" val="1871342269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D1F67-6B08-4B01-7BCB-6B76A0E88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D12B854B-1453-EF01-0273-3EFAE2479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Lazy Load Design Pattern</a:t>
            </a:r>
          </a:p>
        </p:txBody>
      </p:sp>
    </p:spTree>
    <p:extLst>
      <p:ext uri="{BB962C8B-B14F-4D97-AF65-F5344CB8AC3E}">
        <p14:creationId xmlns:p14="http://schemas.microsoft.com/office/powerpoint/2010/main" val="5884464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3557"/>
            <a:ext cx="6423190" cy="682779"/>
          </a:xfrm>
        </p:spPr>
        <p:txBody>
          <a:bodyPr/>
          <a:lstStyle/>
          <a:p>
            <a:r>
              <a:rPr lang="en-US" altLang="en-US" dirty="0"/>
              <a:t>Lazy Load Design Pattern</a:t>
            </a:r>
          </a:p>
        </p:txBody>
      </p:sp>
      <p:sp>
        <p:nvSpPr>
          <p:cNvPr id="863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80641"/>
            <a:ext cx="10400426" cy="49548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Be Lazy:</a:t>
            </a: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Do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not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read anything from </a:t>
            </a:r>
            <a:r>
              <a:rPr lang="en-US" altLang="en-US" dirty="0" err="1">
                <a:solidFill>
                  <a:schemeClr val="tx1"/>
                </a:solidFill>
              </a:rPr>
              <a:t>db</a:t>
            </a:r>
            <a:r>
              <a:rPr lang="en-US" altLang="en-US" dirty="0">
                <a:solidFill>
                  <a:schemeClr val="tx1"/>
                </a:solidFill>
              </a:rPr>
              <a:t> until needed</a:t>
            </a: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Do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not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read anything from anywhere until needed</a:t>
            </a: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Do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not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compute things until needed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384" y="3074352"/>
            <a:ext cx="9922588" cy="33311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48111" y="6623510"/>
            <a:ext cx="31935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https://www.youtube.com/watch?v=Wy-wwa19xK4</a:t>
            </a:r>
          </a:p>
        </p:txBody>
      </p:sp>
    </p:spTree>
    <p:extLst>
      <p:ext uri="{BB962C8B-B14F-4D97-AF65-F5344CB8AC3E}">
        <p14:creationId xmlns:p14="http://schemas.microsoft.com/office/powerpoint/2010/main" val="3565888485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3557"/>
            <a:ext cx="6423190" cy="682779"/>
          </a:xfrm>
        </p:spPr>
        <p:txBody>
          <a:bodyPr/>
          <a:lstStyle/>
          <a:p>
            <a:r>
              <a:rPr lang="en-US" altLang="en-US" dirty="0"/>
              <a:t>Lazy Load Design Pattern</a:t>
            </a:r>
          </a:p>
        </p:txBody>
      </p:sp>
      <p:sp>
        <p:nvSpPr>
          <p:cNvPr id="863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680641"/>
            <a:ext cx="10400426" cy="49548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Lazy Load: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Do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not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join them all together and get the whole data set per user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Do </a:t>
            </a:r>
            <a:r>
              <a:rPr lang="en-US" altLang="en-US" b="1" dirty="0">
                <a:solidFill>
                  <a:srgbClr val="FF0000"/>
                </a:solidFill>
              </a:rPr>
              <a:t>not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get all users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01" y="3038465"/>
            <a:ext cx="5318161" cy="3547860"/>
          </a:xfrm>
          <a:prstGeom prst="rect">
            <a:avLst/>
          </a:prstGeom>
        </p:spPr>
      </p:pic>
      <p:pic>
        <p:nvPicPr>
          <p:cNvPr id="1026" name="Picture 2" descr="admintabusersscreen1v17a_WL1v11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921" y="3679391"/>
            <a:ext cx="6126198" cy="192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4798577" y="419572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740032" y="3188262"/>
            <a:ext cx="2937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Data Web Application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520035" y="2795798"/>
            <a:ext cx="3839671" cy="883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 rot="774170">
            <a:off x="4661013" y="3002145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Only 6 are displayed</a:t>
            </a:r>
          </a:p>
        </p:txBody>
      </p:sp>
    </p:spTree>
    <p:extLst>
      <p:ext uri="{BB962C8B-B14F-4D97-AF65-F5344CB8AC3E}">
        <p14:creationId xmlns:p14="http://schemas.microsoft.com/office/powerpoint/2010/main" val="1787563835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Profiling</a:t>
            </a:r>
            <a:endParaRPr lang="en-US" alt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5898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5" y="741419"/>
            <a:ext cx="5334811" cy="703009"/>
          </a:xfrm>
        </p:spPr>
        <p:txBody>
          <a:bodyPr>
            <a:normAutofit/>
          </a:bodyPr>
          <a:lstStyle/>
          <a:p>
            <a:r>
              <a:rPr lang="en-US" altLang="en-US" dirty="0"/>
              <a:t>Profiling</a:t>
            </a:r>
          </a:p>
        </p:txBody>
      </p:sp>
      <p:sp>
        <p:nvSpPr>
          <p:cNvPr id="89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53471"/>
            <a:ext cx="10400426" cy="4890090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Pareto Principle</a:t>
            </a:r>
            <a:r>
              <a:rPr lang="en-US" altLang="en-US" dirty="0">
                <a:solidFill>
                  <a:schemeClr val="tx1"/>
                </a:solidFill>
              </a:rPr>
              <a:t> (80-20 Rule):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FF0000"/>
                </a:solidFill>
              </a:rPr>
              <a:t>80%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of a program's execution, occurs within </a:t>
            </a:r>
            <a:r>
              <a:rPr lang="en-US" altLang="en-US" b="1" dirty="0">
                <a:solidFill>
                  <a:srgbClr val="00B050"/>
                </a:solidFill>
              </a:rPr>
              <a:t>20%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of its code.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You can get </a:t>
            </a:r>
            <a:r>
              <a:rPr lang="en-US" altLang="en-US" b="1" dirty="0">
                <a:solidFill>
                  <a:srgbClr val="00B050"/>
                </a:solidFill>
              </a:rPr>
              <a:t>80</a:t>
            </a:r>
            <a:r>
              <a:rPr lang="en-US" altLang="en-US" b="1" dirty="0">
                <a:solidFill>
                  <a:schemeClr val="tx1"/>
                </a:solidFill>
              </a:rPr>
              <a:t>%</a:t>
            </a:r>
            <a:r>
              <a:rPr lang="en-US" altLang="en-US" dirty="0">
                <a:solidFill>
                  <a:schemeClr val="tx1"/>
                </a:solidFill>
              </a:rPr>
              <a:t> results with </a:t>
            </a:r>
            <a:r>
              <a:rPr lang="en-US" altLang="en-US" b="1" dirty="0">
                <a:solidFill>
                  <a:srgbClr val="FF0000"/>
                </a:solidFill>
              </a:rPr>
              <a:t>20%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of the work.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You do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not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need to optimize </a:t>
            </a:r>
            <a:r>
              <a:rPr lang="en-US" altLang="en-US" b="1" dirty="0">
                <a:solidFill>
                  <a:srgbClr val="FF0000"/>
                </a:solidFill>
              </a:rPr>
              <a:t>all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your app's code.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Find the </a:t>
            </a:r>
            <a:r>
              <a:rPr lang="en-US" altLang="en-US" b="1" dirty="0">
                <a:solidFill>
                  <a:srgbClr val="FF0000"/>
                </a:solidFill>
              </a:rPr>
              <a:t>worst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bottlenecks and </a:t>
            </a:r>
            <a:r>
              <a:rPr lang="en-US" altLang="en-US" b="1" dirty="0">
                <a:solidFill>
                  <a:srgbClr val="00B050"/>
                </a:solidFill>
              </a:rPr>
              <a:t>fix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them.  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Leave the rest …</a:t>
            </a:r>
          </a:p>
        </p:txBody>
      </p:sp>
    </p:spTree>
    <p:extLst>
      <p:ext uri="{BB962C8B-B14F-4D97-AF65-F5344CB8AC3E}">
        <p14:creationId xmlns:p14="http://schemas.microsoft.com/office/powerpoint/2010/main" val="110308739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49511"/>
            <a:ext cx="2251746" cy="723239"/>
          </a:xfrm>
        </p:spPr>
        <p:txBody>
          <a:bodyPr/>
          <a:lstStyle/>
          <a:p>
            <a:r>
              <a:rPr lang="en-US" altLang="en-US" dirty="0"/>
              <a:t>Profiling</a:t>
            </a:r>
          </a:p>
        </p:txBody>
      </p:sp>
      <p:sp>
        <p:nvSpPr>
          <p:cNvPr id="901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04917"/>
            <a:ext cx="10396380" cy="4930551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Profiling</a:t>
            </a:r>
            <a:r>
              <a:rPr lang="en-US" altLang="en-US" dirty="0">
                <a:solidFill>
                  <a:schemeClr val="tx1"/>
                </a:solidFill>
              </a:rPr>
              <a:t>: Measuring relative system statistics (</a:t>
            </a:r>
            <a:r>
              <a:rPr lang="en-US" altLang="en-US" b="1" dirty="0">
                <a:solidFill>
                  <a:schemeClr val="tx1"/>
                </a:solidFill>
              </a:rPr>
              <a:t>fine-grained</a:t>
            </a:r>
            <a:r>
              <a:rPr lang="en-US" altLang="en-US" dirty="0">
                <a:solidFill>
                  <a:schemeClr val="tx1"/>
                </a:solidFill>
              </a:rPr>
              <a:t>).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Where is the most time spent?</a:t>
            </a: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Which </a:t>
            </a:r>
            <a:r>
              <a:rPr lang="en-US" altLang="en-US" b="1" dirty="0">
                <a:solidFill>
                  <a:schemeClr val="tx1"/>
                </a:solidFill>
              </a:rPr>
              <a:t>method</a:t>
            </a:r>
            <a:r>
              <a:rPr lang="en-US" altLang="en-US" dirty="0">
                <a:solidFill>
                  <a:schemeClr val="tx1"/>
                </a:solidFill>
              </a:rPr>
              <a:t> takes </a:t>
            </a:r>
            <a:r>
              <a:rPr lang="en-US" altLang="en-US" b="1" dirty="0">
                <a:solidFill>
                  <a:srgbClr val="00B050"/>
                </a:solidFill>
              </a:rPr>
              <a:t>the most time</a:t>
            </a:r>
            <a:r>
              <a:rPr lang="en-US" altLang="en-US" dirty="0"/>
              <a:t>?</a:t>
            </a: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Which </a:t>
            </a:r>
            <a:r>
              <a:rPr lang="en-US" altLang="en-US" b="1" dirty="0">
                <a:solidFill>
                  <a:schemeClr val="tx1"/>
                </a:solidFill>
              </a:rPr>
              <a:t>method</a:t>
            </a:r>
            <a:r>
              <a:rPr lang="en-US" altLang="en-US" dirty="0">
                <a:solidFill>
                  <a:schemeClr val="tx1"/>
                </a:solidFill>
              </a:rPr>
              <a:t> is </a:t>
            </a:r>
            <a:r>
              <a:rPr lang="en-US" altLang="en-US" b="1" dirty="0">
                <a:solidFill>
                  <a:srgbClr val="00B050"/>
                </a:solidFill>
              </a:rPr>
              <a:t>called the most</a:t>
            </a:r>
            <a:r>
              <a:rPr lang="en-US" altLang="en-US" dirty="0"/>
              <a:t>?</a:t>
            </a:r>
          </a:p>
          <a:p>
            <a:pPr marL="914400" lvl="2" indent="0">
              <a:buNone/>
            </a:pPr>
            <a:endParaRPr lang="en-US" altLang="en-US" dirty="0"/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Profiling vs Benchmarking:</a:t>
            </a: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Profiling: </a:t>
            </a:r>
            <a:r>
              <a:rPr lang="en-US" altLang="en-US" b="1" dirty="0">
                <a:solidFill>
                  <a:srgbClr val="00B0F0"/>
                </a:solidFill>
              </a:rPr>
              <a:t>application performance </a:t>
            </a:r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Benchmarking: </a:t>
            </a:r>
            <a:r>
              <a:rPr lang="en-US" altLang="en-US" b="1" dirty="0">
                <a:solidFill>
                  <a:srgbClr val="FF0000"/>
                </a:solidFill>
              </a:rPr>
              <a:t>system performance </a:t>
            </a:r>
            <a:r>
              <a:rPr lang="en-US" altLang="en-US" dirty="0"/>
              <a:t>plus </a:t>
            </a:r>
            <a:r>
              <a:rPr lang="en-US" altLang="en-US" b="1" dirty="0">
                <a:solidFill>
                  <a:srgbClr val="00B0F0"/>
                </a:solidFill>
              </a:rPr>
              <a:t>application performance</a:t>
            </a:r>
          </a:p>
          <a:p>
            <a:pPr marL="914400" lvl="2" indent="0">
              <a:buNone/>
            </a:pPr>
            <a:endParaRPr lang="en-US" altLang="en-US" dirty="0"/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How is memory being used </a:t>
            </a:r>
            <a:r>
              <a:rPr lang="en-US" altLang="en-US" b="1" dirty="0">
                <a:solidFill>
                  <a:srgbClr val="FF0000"/>
                </a:solidFill>
              </a:rPr>
              <a:t>(NOT important anymore)</a:t>
            </a:r>
            <a:r>
              <a:rPr lang="en-US" altLang="en-US" dirty="0"/>
              <a:t>?</a:t>
            </a:r>
          </a:p>
          <a:p>
            <a:pPr lvl="2"/>
            <a:endParaRPr lang="en-US" altLang="en-US" dirty="0"/>
          </a:p>
          <a:p>
            <a:pPr lvl="2"/>
            <a:r>
              <a:rPr lang="en-US" altLang="en-US" dirty="0">
                <a:solidFill>
                  <a:schemeClr val="tx1"/>
                </a:solidFill>
              </a:rPr>
              <a:t>Java: Garbage Collection.</a:t>
            </a:r>
          </a:p>
          <a:p>
            <a:pPr marL="457200" lvl="1" indent="0">
              <a:buNone/>
            </a:pPr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55E098-73F6-8643-9F7B-2E42C757B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3225" y="3635971"/>
            <a:ext cx="3443670" cy="1068442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415D656C-6309-6EA2-45F2-AD6BD723F515}"/>
              </a:ext>
            </a:extLst>
          </p:cNvPr>
          <p:cNvSpPr/>
          <p:nvPr/>
        </p:nvSpPr>
        <p:spPr>
          <a:xfrm>
            <a:off x="8063678" y="4021802"/>
            <a:ext cx="589547" cy="296779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98444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306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7603"/>
            <a:ext cx="4218111" cy="715147"/>
          </a:xfrm>
        </p:spPr>
        <p:txBody>
          <a:bodyPr/>
          <a:lstStyle/>
          <a:p>
            <a:r>
              <a:rPr lang="en-US" altLang="en-US" dirty="0"/>
              <a:t>Types of profiling</a:t>
            </a:r>
          </a:p>
        </p:txBody>
      </p:sp>
      <p:sp>
        <p:nvSpPr>
          <p:cNvPr id="866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38437"/>
            <a:ext cx="10396380" cy="478489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Insertion</a:t>
            </a:r>
            <a:r>
              <a:rPr lang="en-US" altLang="en-US" dirty="0">
                <a:solidFill>
                  <a:schemeClr val="tx1"/>
                </a:solidFill>
              </a:rPr>
              <a:t>: placing profiling code into your program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dirty="0"/>
              <a:t>“</a:t>
            </a:r>
            <a:r>
              <a:rPr lang="en-US" altLang="en-US" b="1" dirty="0">
                <a:solidFill>
                  <a:srgbClr val="00B0F0"/>
                </a:solidFill>
              </a:rPr>
              <a:t>long start1=</a:t>
            </a:r>
            <a:r>
              <a:rPr lang="en-US" altLang="en-US" b="1" dirty="0" err="1">
                <a:solidFill>
                  <a:srgbClr val="00B0F0"/>
                </a:solidFill>
              </a:rPr>
              <a:t>System.currentTimeMillis</a:t>
            </a:r>
            <a:r>
              <a:rPr lang="en-US" altLang="en-US" b="1" dirty="0">
                <a:solidFill>
                  <a:srgbClr val="00B0F0"/>
                </a:solidFill>
              </a:rPr>
              <a:t>();</a:t>
            </a:r>
            <a:r>
              <a:rPr lang="en-US" altLang="en-US" dirty="0"/>
              <a:t>”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n-US" altLang="en-US" i="1" dirty="0"/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en-US" b="1" dirty="0">
                <a:solidFill>
                  <a:srgbClr val="00B050"/>
                </a:solidFill>
              </a:rPr>
              <a:t>Pros</a:t>
            </a:r>
            <a:r>
              <a:rPr lang="en-US" altLang="en-US" dirty="0"/>
              <a:t>: </a:t>
            </a:r>
          </a:p>
          <a:p>
            <a:pPr lvl="1">
              <a:lnSpc>
                <a:spcPct val="110000"/>
              </a:lnSpc>
            </a:pPr>
            <a:r>
              <a:rPr lang="en-US" altLang="en-US" dirty="0">
                <a:solidFill>
                  <a:schemeClr val="tx1"/>
                </a:solidFill>
              </a:rPr>
              <a:t>Can be used across platforms</a:t>
            </a:r>
          </a:p>
          <a:p>
            <a:pPr lvl="1">
              <a:lnSpc>
                <a:spcPct val="110000"/>
              </a:lnSpc>
            </a:pPr>
            <a:r>
              <a:rPr lang="en-US" altLang="en-US" dirty="0">
                <a:solidFill>
                  <a:schemeClr val="tx1"/>
                </a:solidFill>
              </a:rPr>
              <a:t>Accurate (but watch for </a:t>
            </a:r>
            <a:r>
              <a:rPr lang="en-US" altLang="en-US" b="1" dirty="0">
                <a:solidFill>
                  <a:srgbClr val="FF0000"/>
                </a:solidFill>
              </a:rPr>
              <a:t>GC</a:t>
            </a:r>
            <a:r>
              <a:rPr lang="en-US" altLang="en-US" dirty="0"/>
              <a:t>)</a:t>
            </a:r>
          </a:p>
          <a:p>
            <a:pPr lvl="1">
              <a:lnSpc>
                <a:spcPct val="110000"/>
              </a:lnSpc>
            </a:pPr>
            <a:endParaRPr lang="en-US" altLang="en-US" dirty="0"/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en-US" b="1" dirty="0">
                <a:solidFill>
                  <a:srgbClr val="FF0000"/>
                </a:solidFill>
              </a:rPr>
              <a:t>Cons</a:t>
            </a:r>
            <a:r>
              <a:rPr lang="en-US" altLang="en-US" b="1" dirty="0"/>
              <a:t>: </a:t>
            </a:r>
          </a:p>
          <a:p>
            <a:pPr lvl="1">
              <a:lnSpc>
                <a:spcPct val="110000"/>
              </a:lnSpc>
            </a:pPr>
            <a:r>
              <a:rPr lang="en-US" altLang="en-US" dirty="0">
                <a:solidFill>
                  <a:schemeClr val="tx1"/>
                </a:solidFill>
              </a:rPr>
              <a:t>Requires recompiling</a:t>
            </a:r>
          </a:p>
          <a:p>
            <a:pPr lvl="1">
              <a:lnSpc>
                <a:spcPct val="11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Profiling code </a:t>
            </a:r>
            <a:r>
              <a:rPr lang="en-US" altLang="en-US" dirty="0">
                <a:solidFill>
                  <a:schemeClr val="tx1"/>
                </a:solidFill>
              </a:rPr>
              <a:t>affect overall performance</a:t>
            </a:r>
          </a:p>
        </p:txBody>
      </p:sp>
    </p:spTree>
    <p:extLst>
      <p:ext uri="{BB962C8B-B14F-4D97-AF65-F5344CB8AC3E}">
        <p14:creationId xmlns:p14="http://schemas.microsoft.com/office/powerpoint/2010/main" val="4153419602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306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7603"/>
            <a:ext cx="4218111" cy="715147"/>
          </a:xfrm>
        </p:spPr>
        <p:txBody>
          <a:bodyPr/>
          <a:lstStyle/>
          <a:p>
            <a:r>
              <a:rPr lang="en-US" altLang="en-US" dirty="0"/>
              <a:t>Types of profiling</a:t>
            </a:r>
          </a:p>
        </p:txBody>
      </p:sp>
      <p:sp>
        <p:nvSpPr>
          <p:cNvPr id="866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38437"/>
            <a:ext cx="10396380" cy="478489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Sampling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</a:p>
          <a:p>
            <a:pPr>
              <a:lnSpc>
                <a:spcPct val="110000"/>
              </a:lnSpc>
            </a:pPr>
            <a:r>
              <a:rPr lang="en-US" altLang="en-US" dirty="0">
                <a:solidFill>
                  <a:schemeClr val="tx1"/>
                </a:solidFill>
              </a:rPr>
              <a:t>Monitoring CPU or VM at regular intervals</a:t>
            </a:r>
          </a:p>
          <a:p>
            <a:pPr>
              <a:lnSpc>
                <a:spcPct val="110000"/>
              </a:lnSpc>
            </a:pPr>
            <a:r>
              <a:rPr lang="en-US" altLang="en-US" dirty="0">
                <a:solidFill>
                  <a:schemeClr val="tx1"/>
                </a:solidFill>
              </a:rPr>
              <a:t>Saving a snapshot of CPU and/or memory state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n-US" altLang="en-US" b="1" dirty="0"/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en-US" b="1" dirty="0">
                <a:solidFill>
                  <a:srgbClr val="00B050"/>
                </a:solidFill>
              </a:rPr>
              <a:t>Pros</a:t>
            </a:r>
            <a:r>
              <a:rPr lang="en-US" altLang="en-US" b="1" dirty="0"/>
              <a:t>:</a:t>
            </a:r>
            <a:r>
              <a:rPr lang="en-US" altLang="en-US" dirty="0"/>
              <a:t> </a:t>
            </a:r>
          </a:p>
          <a:p>
            <a:pPr lvl="1">
              <a:lnSpc>
                <a:spcPct val="110000"/>
              </a:lnSpc>
            </a:pPr>
            <a:r>
              <a:rPr lang="en-US" altLang="en-US" dirty="0">
                <a:solidFill>
                  <a:schemeClr val="tx1"/>
                </a:solidFill>
              </a:rPr>
              <a:t>No modification of app is necessary</a:t>
            </a:r>
            <a:endParaRPr lang="en-US" altLang="en-US" i="1" dirty="0">
              <a:solidFill>
                <a:schemeClr val="tx1"/>
              </a:solidFill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n-US" altLang="en-US" b="1" dirty="0"/>
          </a:p>
          <a:p>
            <a:pPr marL="457200" lvl="1" indent="0">
              <a:lnSpc>
                <a:spcPct val="110000"/>
              </a:lnSpc>
              <a:buNone/>
            </a:pPr>
            <a:r>
              <a:rPr lang="en-US" altLang="en-US" b="1" dirty="0">
                <a:solidFill>
                  <a:srgbClr val="FF0000"/>
                </a:solidFill>
              </a:rPr>
              <a:t>Cons</a:t>
            </a:r>
            <a:r>
              <a:rPr lang="en-US" altLang="en-US" b="1" dirty="0"/>
              <a:t>:</a:t>
            </a:r>
            <a:r>
              <a:rPr lang="en-US" altLang="en-US" dirty="0"/>
              <a:t> </a:t>
            </a:r>
          </a:p>
          <a:p>
            <a:pPr lvl="1">
              <a:lnSpc>
                <a:spcPct val="11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Less accurate</a:t>
            </a:r>
            <a:r>
              <a:rPr lang="en-US" altLang="en-US" dirty="0">
                <a:solidFill>
                  <a:schemeClr val="tx1"/>
                </a:solidFill>
              </a:rPr>
              <a:t>; varying sample interval leads to a time/accuracy trade-off</a:t>
            </a:r>
          </a:p>
          <a:p>
            <a:pPr lvl="1">
              <a:lnSpc>
                <a:spcPct val="110000"/>
              </a:lnSpc>
            </a:pPr>
            <a:r>
              <a:rPr lang="en-US" altLang="en-US" dirty="0">
                <a:solidFill>
                  <a:schemeClr val="tx1"/>
                </a:solidFill>
              </a:rPr>
              <a:t>Small methods may be missed</a:t>
            </a:r>
          </a:p>
        </p:txBody>
      </p:sp>
    </p:spTree>
    <p:extLst>
      <p:ext uri="{BB962C8B-B14F-4D97-AF65-F5344CB8AC3E}">
        <p14:creationId xmlns:p14="http://schemas.microsoft.com/office/powerpoint/2010/main" val="1950585556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0751"/>
            <a:ext cx="4610574" cy="701770"/>
          </a:xfrm>
        </p:spPr>
        <p:txBody>
          <a:bodyPr/>
          <a:lstStyle/>
          <a:p>
            <a:r>
              <a:rPr lang="en-US" altLang="en-US" dirty="0"/>
              <a:t>Java profiling tools</a:t>
            </a:r>
          </a:p>
        </p:txBody>
      </p:sp>
      <p:sp>
        <p:nvSpPr>
          <p:cNvPr id="867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838" y="1708963"/>
            <a:ext cx="10359966" cy="49103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There are free Java profiling/optimization tools available: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Java Flight Recorder (state of the art, </a:t>
            </a:r>
            <a:r>
              <a:rPr lang="en-US" altLang="en-US" b="1" dirty="0">
                <a:solidFill>
                  <a:srgbClr val="FF0000"/>
                </a:solidFill>
              </a:rPr>
              <a:t>complicated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TPTP profiler extension for Eclipse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Extensible Java Profiler (EJP) - open source, CPU tracing only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Eclipse Profiler plugin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Java Memory Profiler (JMP)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Mike's Java Profiler (MJP)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 err="1">
                <a:solidFill>
                  <a:schemeClr val="tx1"/>
                </a:solidFill>
              </a:rPr>
              <a:t>JProbe</a:t>
            </a:r>
            <a:r>
              <a:rPr lang="en-US" altLang="en-US" dirty="0">
                <a:solidFill>
                  <a:schemeClr val="tx1"/>
                </a:solidFill>
              </a:rPr>
              <a:t> Profiler - uses an instrumented VM</a:t>
            </a:r>
          </a:p>
        </p:txBody>
      </p:sp>
      <p:pic>
        <p:nvPicPr>
          <p:cNvPr id="867332" name="Picture 4" descr="runtimesumma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9533" y="2710580"/>
            <a:ext cx="2209800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7333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016" y="5187332"/>
            <a:ext cx="1981200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755368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0751"/>
            <a:ext cx="4610574" cy="701770"/>
          </a:xfrm>
        </p:spPr>
        <p:txBody>
          <a:bodyPr/>
          <a:lstStyle/>
          <a:p>
            <a:r>
              <a:rPr lang="en-US" altLang="en-US" dirty="0"/>
              <a:t>Java profiling tools</a:t>
            </a:r>
          </a:p>
        </p:txBody>
      </p:sp>
      <p:sp>
        <p:nvSpPr>
          <p:cNvPr id="867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4838" y="1708963"/>
            <a:ext cx="10359966" cy="49103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 err="1">
                <a:solidFill>
                  <a:schemeClr val="tx1"/>
                </a:solidFill>
              </a:rPr>
              <a:t>hprof</a:t>
            </a:r>
            <a:r>
              <a:rPr lang="en-US" altLang="en-US" b="1" dirty="0">
                <a:solidFill>
                  <a:schemeClr val="tx1"/>
                </a:solidFill>
              </a:rPr>
              <a:t> (</a:t>
            </a: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</a:rPr>
              <a:t>java -</a:t>
            </a:r>
            <a:r>
              <a:rPr lang="en-US" altLang="en-US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Xrunhprof</a:t>
            </a:r>
            <a:r>
              <a:rPr lang="en-US" altLang="en-US" b="1" dirty="0">
                <a:solidFill>
                  <a:schemeClr val="tx1"/>
                </a:solidFill>
              </a:rPr>
              <a:t>):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Comes with JDK from Sun (to Java 8, then flight recorder)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Free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Good enough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Easy to use</a:t>
            </a:r>
          </a:p>
          <a:p>
            <a:pPr lvl="1"/>
            <a:r>
              <a:rPr lang="en-US" altLang="en-US" b="1" dirty="0">
                <a:solidFill>
                  <a:srgbClr val="FF0000"/>
                </a:solidFill>
              </a:rPr>
              <a:t>BUT outdated!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479" y="3933718"/>
            <a:ext cx="8288404" cy="251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155703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45466"/>
            <a:ext cx="3069042" cy="779884"/>
          </a:xfrm>
        </p:spPr>
        <p:txBody>
          <a:bodyPr/>
          <a:lstStyle/>
          <a:p>
            <a:r>
              <a:rPr lang="en-US" altLang="en-US" dirty="0"/>
              <a:t>Using </a:t>
            </a:r>
            <a:r>
              <a:rPr lang="en-US" altLang="en-US" dirty="0" err="1"/>
              <a:t>hprof</a:t>
            </a:r>
            <a:endParaRPr lang="en-US" altLang="en-US" dirty="0"/>
          </a:p>
        </p:txBody>
      </p:sp>
      <p:sp>
        <p:nvSpPr>
          <p:cNvPr id="868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21101"/>
            <a:ext cx="10408518" cy="4894137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80000"/>
              </a:lnSpc>
              <a:buFontTx/>
              <a:buNone/>
            </a:pPr>
            <a:endParaRPr lang="en-US" altLang="en-US" sz="1800" b="1" dirty="0">
              <a:solidFill>
                <a:srgbClr val="666666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usage: java -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Xrunhprof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:[help]|[&lt;option&gt;=&lt;value&gt;, ...]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sz="1800" b="1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Option Name and Value  Description                    Default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---------------------  -----------                    -------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heap=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dump|sites|all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heap profiling                 all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cpu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=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samples|times|old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  CPU usage                      off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monitor=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y|n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    monitor contention             n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format=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a|b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     text(txt) or binary output     a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file=&lt;file&gt;            write data to file             off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depth=&lt;size&gt;           stack trace depth              4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interval=&lt;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ms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&gt;          sample interval in 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ms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  10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cutoff=&lt;value&gt;         output cutoff point            0.0001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lineno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=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y|n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     line number in traces?         Y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thread=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y|n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     thread in traces?              N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doe=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y|n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        dump on exit?                  Y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msa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=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y|n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        Solaris micro state accounting n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force=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y|n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      force output to &lt;file&gt;         y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verbose=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y|n</a:t>
            </a: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    print messages about dumps     y</a:t>
            </a:r>
            <a:endParaRPr lang="en-US" altLang="en-US" sz="3100" b="1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314468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57604"/>
            <a:ext cx="4812875" cy="816298"/>
          </a:xfrm>
        </p:spPr>
        <p:txBody>
          <a:bodyPr/>
          <a:lstStyle/>
          <a:p>
            <a:r>
              <a:rPr lang="en-US" altLang="en-US" dirty="0"/>
              <a:t>Sample </a:t>
            </a:r>
            <a:r>
              <a:rPr lang="en-US" altLang="en-US" dirty="0" err="1"/>
              <a:t>hprof</a:t>
            </a:r>
            <a:r>
              <a:rPr lang="en-US" altLang="en-US" dirty="0"/>
              <a:t> usage</a:t>
            </a:r>
          </a:p>
        </p:txBody>
      </p:sp>
      <p:sp>
        <p:nvSpPr>
          <p:cNvPr id="86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769655"/>
            <a:ext cx="10404472" cy="484963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</a:rPr>
              <a:t>java -</a:t>
            </a:r>
            <a:r>
              <a:rPr lang="en-US" altLang="en-US" sz="19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Xrunhprof:cpu</a:t>
            </a: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</a:rPr>
              <a:t>=</a:t>
            </a:r>
            <a:r>
              <a:rPr lang="en-US" altLang="en-US" sz="19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samples,depth</a:t>
            </a: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</a:rPr>
              <a:t>=6,heap=sites</a:t>
            </a:r>
            <a:endParaRPr lang="en-US" altLang="en-US" sz="19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</a:rPr>
              <a:t>java -</a:t>
            </a:r>
            <a:r>
              <a:rPr lang="en-US" altLang="en-US" sz="19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Xrunhprof:cpu</a:t>
            </a: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</a:rPr>
              <a:t>=</a:t>
            </a:r>
            <a:r>
              <a:rPr lang="en-US" altLang="en-US" sz="19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old,thread</a:t>
            </a: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</a:rPr>
              <a:t>=</a:t>
            </a:r>
            <a:r>
              <a:rPr lang="en-US" altLang="en-US" sz="19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y,depth</a:t>
            </a:r>
            <a:r>
              <a:rPr lang="en-US" altLang="en-US" sz="1900" b="1" dirty="0">
                <a:solidFill>
                  <a:schemeClr val="tx1"/>
                </a:solidFill>
                <a:latin typeface="Courier New" panose="02070309020205020404" pitchFamily="49" charset="0"/>
              </a:rPr>
              <a:t>=10,cutoff=0,format=a </a:t>
            </a:r>
            <a:r>
              <a:rPr lang="en-US" altLang="en-US" sz="1900" b="1" i="1" dirty="0" err="1">
                <a:solidFill>
                  <a:schemeClr val="tx1"/>
                </a:solidFill>
                <a:latin typeface="Courier New" panose="02070309020205020404" pitchFamily="49" charset="0"/>
              </a:rPr>
              <a:t>ClassName</a:t>
            </a:r>
            <a:endParaRPr lang="en-US" altLang="en-US" sz="1900" b="1" i="1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Takes samples of CPU execution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Record call traces that include the last 6/10 levels on the stack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Only record "sites" used on heap (to keep output file small)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900" b="1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900" b="1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200" b="1" dirty="0">
                <a:solidFill>
                  <a:schemeClr val="tx1"/>
                </a:solidFill>
                <a:latin typeface="Courier New" panose="02070309020205020404" pitchFamily="49" charset="0"/>
              </a:rPr>
              <a:t>java -</a:t>
            </a:r>
            <a:r>
              <a:rPr lang="en-US" altLang="en-US" sz="22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Xrunhprof</a:t>
            </a:r>
            <a:r>
              <a:rPr lang="en-US" altLang="en-US" sz="2200" b="1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200" b="1" i="1" dirty="0" err="1">
                <a:solidFill>
                  <a:schemeClr val="tx1"/>
                </a:solidFill>
                <a:latin typeface="Courier New" panose="02070309020205020404" pitchFamily="49" charset="0"/>
              </a:rPr>
              <a:t>ClassName</a:t>
            </a:r>
            <a:endParaRPr lang="en-US" altLang="en-US" sz="2200" b="1" i="1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200" b="1" i="1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Takes samples of memory/object usage</a:t>
            </a:r>
          </a:p>
          <a:p>
            <a:pPr lvl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After execution, open the text file 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java.hprof.txt</a:t>
            </a:r>
            <a:r>
              <a:rPr lang="en-US" altLang="en-US" dirty="0">
                <a:solidFill>
                  <a:schemeClr val="tx1"/>
                </a:solidFill>
              </a:rPr>
              <a:t> in the current directory with a text editor</a:t>
            </a:r>
          </a:p>
        </p:txBody>
      </p:sp>
    </p:spTree>
    <p:extLst>
      <p:ext uri="{BB962C8B-B14F-4D97-AF65-F5344CB8AC3E}">
        <p14:creationId xmlns:p14="http://schemas.microsoft.com/office/powerpoint/2010/main" val="3550367400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65696"/>
            <a:ext cx="5796057" cy="732506"/>
          </a:xfrm>
        </p:spPr>
        <p:txBody>
          <a:bodyPr/>
          <a:lstStyle/>
          <a:p>
            <a:r>
              <a:rPr lang="en-US" altLang="en-US" dirty="0" err="1"/>
              <a:t>hprof</a:t>
            </a:r>
            <a:r>
              <a:rPr lang="en-US" altLang="en-US" dirty="0"/>
              <a:t> visualization tools</a:t>
            </a:r>
          </a:p>
        </p:txBody>
      </p:sp>
      <p:sp>
        <p:nvSpPr>
          <p:cNvPr id="87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818207"/>
            <a:ext cx="10392334" cy="47970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CPU samples: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critical to see traces to modify code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hard to read - far from the traces in the file</a:t>
            </a:r>
          </a:p>
          <a:p>
            <a:pPr lvl="1"/>
            <a:r>
              <a:rPr lang="en-US" altLang="en-US" b="1" dirty="0" err="1">
                <a:solidFill>
                  <a:schemeClr val="tx1"/>
                </a:solidFill>
              </a:rPr>
              <a:t>HPjmeter</a:t>
            </a:r>
            <a:r>
              <a:rPr lang="en-US" altLang="en-US" dirty="0">
                <a:solidFill>
                  <a:schemeClr val="tx1"/>
                </a:solidFill>
              </a:rPr>
              <a:t> analyzes java.hprof.txt visually</a:t>
            </a:r>
          </a:p>
          <a:p>
            <a:pPr lvl="2"/>
            <a:r>
              <a:rPr lang="en-US" altLang="en-US" sz="1200" u="sng" dirty="0">
                <a:solidFill>
                  <a:schemeClr val="tx1"/>
                </a:solidFill>
              </a:rPr>
              <a:t>http://software.hp.com/portal/swdepot/displayProductInfo.do?productNumber=HPJMETER</a:t>
            </a:r>
          </a:p>
          <a:p>
            <a:pPr lvl="1"/>
            <a:endParaRPr lang="en-US" altLang="en-US" sz="1200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another good tool called </a:t>
            </a:r>
            <a:r>
              <a:rPr lang="en-US" altLang="en-US" b="1" dirty="0" err="1">
                <a:solidFill>
                  <a:schemeClr val="tx1"/>
                </a:solidFill>
              </a:rPr>
              <a:t>PerfAnal</a:t>
            </a:r>
            <a:r>
              <a:rPr lang="en-US" altLang="en-US" dirty="0">
                <a:solidFill>
                  <a:schemeClr val="tx1"/>
                </a:solidFill>
              </a:rPr>
              <a:t> builds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and navigates the invocation tree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download 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</a:rPr>
              <a:t>PerfAnal.jar</a:t>
            </a:r>
            <a:r>
              <a:rPr lang="en-US" altLang="en-US" dirty="0">
                <a:solidFill>
                  <a:schemeClr val="tx1"/>
                </a:solidFill>
              </a:rPr>
              <a:t>, and:</a:t>
            </a:r>
            <a:endParaRPr lang="en-US" altLang="en-US" dirty="0">
              <a:solidFill>
                <a:schemeClr val="tx1"/>
              </a:solidFill>
              <a:latin typeface="Monaco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anose="02070309020205020404" pitchFamily="49" charset="0"/>
              </a:rPr>
              <a:t>	java -jar PerfAnal.jar ./java.hprof.txt</a:t>
            </a:r>
            <a:endParaRPr lang="en-US" altLang="en-US" b="1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Heap dump: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critical to see what objects are there, and who points to them</a:t>
            </a:r>
          </a:p>
          <a:p>
            <a:pPr lvl="1"/>
            <a:r>
              <a:rPr lang="en-US" altLang="en-US" dirty="0" err="1">
                <a:solidFill>
                  <a:schemeClr val="tx1"/>
                </a:solidFill>
              </a:rPr>
              <a:t>HPjmeter</a:t>
            </a:r>
            <a:r>
              <a:rPr lang="en-US" altLang="en-US" dirty="0">
                <a:solidFill>
                  <a:schemeClr val="tx1"/>
                </a:solidFill>
              </a:rPr>
              <a:t> or </a:t>
            </a:r>
            <a:r>
              <a:rPr lang="en-US" altLang="en-US" b="1" dirty="0">
                <a:solidFill>
                  <a:schemeClr val="tx1"/>
                </a:solidFill>
              </a:rPr>
              <a:t>HAT</a:t>
            </a:r>
            <a:r>
              <a:rPr lang="en-US" altLang="en-US" dirty="0">
                <a:solidFill>
                  <a:schemeClr val="tx1"/>
                </a:solidFill>
              </a:rPr>
              <a:t>:  https://hat.dev.java.net/</a:t>
            </a:r>
          </a:p>
        </p:txBody>
      </p:sp>
      <p:pic>
        <p:nvPicPr>
          <p:cNvPr id="87040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2929" y="1971143"/>
            <a:ext cx="2514600" cy="176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040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2929" y="4318591"/>
            <a:ext cx="2559050" cy="171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9063182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729281"/>
            <a:ext cx="3619300" cy="662549"/>
          </a:xfrm>
        </p:spPr>
        <p:txBody>
          <a:bodyPr/>
          <a:lstStyle/>
          <a:p>
            <a:r>
              <a:rPr lang="en-US" altLang="en-US" dirty="0"/>
              <a:t>Profiler results</a:t>
            </a:r>
          </a:p>
        </p:txBody>
      </p:sp>
      <p:sp>
        <p:nvSpPr>
          <p:cNvPr id="872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516" y="1539031"/>
            <a:ext cx="10388288" cy="5080253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What to do with profiler results:</a:t>
            </a:r>
          </a:p>
          <a:p>
            <a:pPr lvl="1">
              <a:lnSpc>
                <a:spcPct val="110000"/>
              </a:lnSpc>
            </a:pPr>
            <a:r>
              <a:rPr lang="en-US" altLang="en-US" dirty="0">
                <a:solidFill>
                  <a:schemeClr val="tx1"/>
                </a:solidFill>
              </a:rPr>
              <a:t>Which methods are being </a:t>
            </a:r>
            <a:r>
              <a:rPr lang="en-US" altLang="en-US" b="1" dirty="0">
                <a:solidFill>
                  <a:srgbClr val="00B050"/>
                </a:solidFill>
              </a:rPr>
              <a:t>called the most</a:t>
            </a:r>
          </a:p>
          <a:p>
            <a:pPr lvl="1">
              <a:lnSpc>
                <a:spcPct val="110000"/>
              </a:lnSpc>
            </a:pPr>
            <a:r>
              <a:rPr lang="en-US" altLang="en-US" dirty="0">
                <a:solidFill>
                  <a:schemeClr val="tx1"/>
                </a:solidFill>
              </a:rPr>
              <a:t>These may not be the "</a:t>
            </a:r>
            <a:r>
              <a:rPr lang="en-US" altLang="en-US" b="1" dirty="0">
                <a:solidFill>
                  <a:srgbClr val="FF0000"/>
                </a:solidFill>
              </a:rPr>
              <a:t>slowest</a:t>
            </a:r>
            <a:r>
              <a:rPr lang="en-US" altLang="en-US" dirty="0">
                <a:solidFill>
                  <a:schemeClr val="tx1"/>
                </a:solidFill>
              </a:rPr>
              <a:t>" methods!</a:t>
            </a:r>
            <a:endParaRPr lang="en-US" altLang="en-US" sz="1000" dirty="0">
              <a:solidFill>
                <a:schemeClr val="tx1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altLang="en-US" dirty="0">
                <a:solidFill>
                  <a:schemeClr val="tx1"/>
                </a:solidFill>
              </a:rPr>
              <a:t>Which methods are </a:t>
            </a:r>
            <a:r>
              <a:rPr lang="en-US" altLang="en-US" b="1" dirty="0">
                <a:solidFill>
                  <a:srgbClr val="FF0000"/>
                </a:solidFill>
              </a:rPr>
              <a:t>taking most time </a:t>
            </a:r>
            <a:r>
              <a:rPr lang="en-US" altLang="en-US" dirty="0">
                <a:solidFill>
                  <a:schemeClr val="tx1"/>
                </a:solidFill>
              </a:rPr>
              <a:t>relative to others</a:t>
            </a:r>
          </a:p>
          <a:p>
            <a:pPr lvl="1">
              <a:lnSpc>
                <a:spcPct val="11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Warnings:</a:t>
            </a:r>
          </a:p>
          <a:p>
            <a:pPr lvl="1">
              <a:lnSpc>
                <a:spcPct val="110000"/>
              </a:lnSpc>
            </a:pPr>
            <a:r>
              <a:rPr lang="en-US" altLang="en-US" dirty="0">
                <a:solidFill>
                  <a:schemeClr val="tx1"/>
                </a:solidFill>
              </a:rPr>
              <a:t>CPU profiling </a:t>
            </a:r>
            <a:r>
              <a:rPr lang="en-US" altLang="en-US" b="1" dirty="0">
                <a:solidFill>
                  <a:srgbClr val="FF0000"/>
                </a:solidFill>
              </a:rPr>
              <a:t>slows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down your code</a:t>
            </a:r>
          </a:p>
          <a:p>
            <a:pPr lvl="1">
              <a:lnSpc>
                <a:spcPct val="110000"/>
              </a:lnSpc>
            </a:pPr>
            <a:r>
              <a:rPr lang="en-US" altLang="en-US" dirty="0">
                <a:solidFill>
                  <a:schemeClr val="tx1"/>
                </a:solidFill>
              </a:rPr>
              <a:t>Design your profiling tests to be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very short</a:t>
            </a:r>
            <a:endParaRPr lang="en-US" altLang="en-US" sz="900" b="1" dirty="0">
              <a:solidFill>
                <a:srgbClr val="FF0000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altLang="en-US" dirty="0">
                <a:solidFill>
                  <a:schemeClr val="tx1"/>
                </a:solidFill>
              </a:rPr>
              <a:t>CPU samples </a:t>
            </a:r>
            <a:r>
              <a:rPr lang="en-US" altLang="en-US" b="1" dirty="0">
                <a:solidFill>
                  <a:srgbClr val="FF0000"/>
                </a:solidFill>
              </a:rPr>
              <a:t>don't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measure everything</a:t>
            </a:r>
          </a:p>
          <a:p>
            <a:pPr lvl="1">
              <a:lnSpc>
                <a:spcPct val="110000"/>
              </a:lnSpc>
            </a:pPr>
            <a:r>
              <a:rPr lang="en-US" altLang="en-US" dirty="0">
                <a:solidFill>
                  <a:schemeClr val="tx1"/>
                </a:solidFill>
              </a:rPr>
              <a:t>Doesn't record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object creation </a:t>
            </a:r>
            <a:r>
              <a:rPr lang="en-US" altLang="en-US" dirty="0">
                <a:solidFill>
                  <a:schemeClr val="tx1"/>
                </a:solidFill>
              </a:rPr>
              <a:t>and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garbage collection </a:t>
            </a:r>
            <a:r>
              <a:rPr lang="en-US" altLang="en-US" dirty="0">
                <a:solidFill>
                  <a:schemeClr val="tx1"/>
                </a:solidFill>
              </a:rPr>
              <a:t>time</a:t>
            </a:r>
            <a:endParaRPr lang="en-US" altLang="en-US" sz="900" dirty="0">
              <a:solidFill>
                <a:schemeClr val="tx1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altLang="en-US" dirty="0">
                <a:solidFill>
                  <a:schemeClr val="tx1"/>
                </a:solidFill>
              </a:rPr>
              <a:t>Output files are very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FF0000"/>
                </a:solidFill>
              </a:rPr>
              <a:t>large</a:t>
            </a:r>
          </a:p>
        </p:txBody>
      </p:sp>
    </p:spTree>
    <p:extLst>
      <p:ext uri="{BB962C8B-B14F-4D97-AF65-F5344CB8AC3E}">
        <p14:creationId xmlns:p14="http://schemas.microsoft.com/office/powerpoint/2010/main" val="2251856190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</a:t>
            </a:r>
            <a:r>
              <a:rPr lang="en-US" altLang="en-US" dirty="0">
                <a:solidFill>
                  <a:srgbClr val="FFC000"/>
                </a:solidFill>
              </a:rPr>
              <a:t>Perf</a:t>
            </a:r>
            <a:r>
              <a:rPr lang="en-US" altLang="en-US" dirty="0"/>
              <a:t>ormance </a:t>
            </a:r>
            <a:r>
              <a:rPr lang="en-US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Anal</a:t>
            </a:r>
            <a:r>
              <a:rPr lang="en-US" altLang="en-US" dirty="0"/>
              <a:t>ysis</a:t>
            </a:r>
            <a:br>
              <a:rPr lang="en-US" altLang="en-US" dirty="0"/>
            </a:br>
            <a:r>
              <a:rPr lang="en-US" altLang="en-US" dirty="0" err="1">
                <a:solidFill>
                  <a:srgbClr val="FFC000"/>
                </a:solidFill>
              </a:rPr>
              <a:t>Perf</a:t>
            </a:r>
            <a:r>
              <a:rPr lang="en-US" altLang="en-US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Anal</a:t>
            </a:r>
            <a:endParaRPr lang="en-US" alt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7638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722596" cy="642319"/>
          </a:xfrm>
        </p:spPr>
        <p:txBody>
          <a:bodyPr>
            <a:normAutofit/>
          </a:bodyPr>
          <a:lstStyle/>
          <a:p>
            <a:r>
              <a:rPr lang="en-US" dirty="0"/>
              <a:t>Java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71" y="1899725"/>
            <a:ext cx="12167529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Run program: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"D:\Program Files\Java\jdk1.8.0_202\bin\java.exe" -</a:t>
            </a:r>
            <a:r>
              <a:rPr lang="en-US" sz="1800" dirty="0" err="1">
                <a:solidFill>
                  <a:schemeClr val="tx1"/>
                </a:solidFill>
              </a:rPr>
              <a:t>Djava.compiler</a:t>
            </a:r>
            <a:r>
              <a:rPr lang="en-US" sz="1800" dirty="0">
                <a:solidFill>
                  <a:schemeClr val="tx1"/>
                </a:solidFill>
              </a:rPr>
              <a:t>= -</a:t>
            </a:r>
            <a:r>
              <a:rPr lang="en-US" sz="1800" dirty="0" err="1">
                <a:solidFill>
                  <a:schemeClr val="tx1"/>
                </a:solidFill>
              </a:rPr>
              <a:t>Xrunhprof:cpu</a:t>
            </a:r>
            <a:r>
              <a:rPr lang="en-US" sz="1800" dirty="0">
                <a:solidFill>
                  <a:schemeClr val="tx1"/>
                </a:solidFill>
              </a:rPr>
              <a:t>=</a:t>
            </a:r>
            <a:r>
              <a:rPr lang="en-US" sz="1800" dirty="0" err="1">
                <a:solidFill>
                  <a:schemeClr val="tx1"/>
                </a:solidFill>
              </a:rPr>
              <a:t>samples,depth</a:t>
            </a:r>
            <a:r>
              <a:rPr lang="en-US" sz="1800" dirty="0">
                <a:solidFill>
                  <a:schemeClr val="tx1"/>
                </a:solidFill>
              </a:rPr>
              <a:t>=6,thread=y -jar PerfAnalExecutableJar.jar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63" y="3011906"/>
            <a:ext cx="9656241" cy="36085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A27344-E5F0-7973-2E32-9891222F70D5}"/>
              </a:ext>
            </a:extLst>
          </p:cNvPr>
          <p:cNvSpPr txBox="1"/>
          <p:nvPr/>
        </p:nvSpPr>
        <p:spPr>
          <a:xfrm>
            <a:off x="1734495" y="6635469"/>
            <a:ext cx="88408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http://www.mastercorp.free.fr/Ing1/Cours/Java/java_lesson1/doc/Articles/Tuning/PerfAnal%20A%20Performance%20Analysis%20Tool.htm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737273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722596" cy="642319"/>
          </a:xfrm>
        </p:spPr>
        <p:txBody>
          <a:bodyPr>
            <a:normAutofit/>
          </a:bodyPr>
          <a:lstStyle/>
          <a:p>
            <a:r>
              <a:rPr lang="en-US" dirty="0"/>
              <a:t>Java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Run Profiler: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java -jar PerfAnal.jar java.hprof.txt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34" y="2914121"/>
            <a:ext cx="11581405" cy="35109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FBFE08-5566-053E-2F80-B7C70DCD9D00}"/>
              </a:ext>
            </a:extLst>
          </p:cNvPr>
          <p:cNvSpPr txBox="1"/>
          <p:nvPr/>
        </p:nvSpPr>
        <p:spPr>
          <a:xfrm>
            <a:off x="1734495" y="6635469"/>
            <a:ext cx="88408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http://www.mastercorp.free.fr/Ing1/Cours/Java/java_lesson1/doc/Articles/Tuning/PerfAnal%20A%20Performance%20Analysis%20Tool.htm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238490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722596" cy="642319"/>
          </a:xfrm>
        </p:spPr>
        <p:txBody>
          <a:bodyPr>
            <a:normAutofit/>
          </a:bodyPr>
          <a:lstStyle/>
          <a:p>
            <a:r>
              <a:rPr lang="en-US" dirty="0"/>
              <a:t>Java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Analyzing CPU Usage by Caller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20" y="2917884"/>
            <a:ext cx="10572661" cy="24923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C52004-44FF-BF21-BA24-FBAA7CBC945C}"/>
              </a:ext>
            </a:extLst>
          </p:cNvPr>
          <p:cNvSpPr txBox="1"/>
          <p:nvPr/>
        </p:nvSpPr>
        <p:spPr>
          <a:xfrm>
            <a:off x="1734495" y="6635469"/>
            <a:ext cx="88408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http://www.mastercorp.free.fr/Ing1/Cours/Java/java_lesson1/doc/Articles/Tuning/PerfAnal%20A%20Performance%20Analysis%20Tool.htm</a:t>
            </a:r>
            <a:endParaRPr lang="en-US" sz="1100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6EEEC7F3-00CC-E53C-5E7C-B0AE7664DB9C}"/>
              </a:ext>
            </a:extLst>
          </p:cNvPr>
          <p:cNvSpPr/>
          <p:nvPr/>
        </p:nvSpPr>
        <p:spPr>
          <a:xfrm>
            <a:off x="1013320" y="4052621"/>
            <a:ext cx="10508120" cy="329184"/>
          </a:xfrm>
          <a:prstGeom prst="fram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7124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722596" cy="642319"/>
          </a:xfrm>
        </p:spPr>
        <p:txBody>
          <a:bodyPr>
            <a:normAutofit/>
          </a:bodyPr>
          <a:lstStyle/>
          <a:p>
            <a:r>
              <a:rPr lang="en-US" dirty="0"/>
              <a:t>Java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Analyzing CPU Usage by Callee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933" y="2848147"/>
            <a:ext cx="9920856" cy="26653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347279-2EC1-6C8C-D7C7-372B16C361F2}"/>
              </a:ext>
            </a:extLst>
          </p:cNvPr>
          <p:cNvSpPr txBox="1"/>
          <p:nvPr/>
        </p:nvSpPr>
        <p:spPr>
          <a:xfrm>
            <a:off x="1734495" y="6635469"/>
            <a:ext cx="88408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http://www.mastercorp.free.fr/Ing1/Cours/Java/java_lesson1/doc/Articles/Tuning/PerfAnal%20A%20Performance%20Analysis%20Tool.htm</a:t>
            </a:r>
            <a:endParaRPr lang="en-US" sz="1100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6B30D259-DD1E-B5D2-C925-1F1645693C76}"/>
              </a:ext>
            </a:extLst>
          </p:cNvPr>
          <p:cNvSpPr/>
          <p:nvPr/>
        </p:nvSpPr>
        <p:spPr>
          <a:xfrm>
            <a:off x="1013933" y="4060097"/>
            <a:ext cx="10508120" cy="329184"/>
          </a:xfrm>
          <a:prstGeom prst="fram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1135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722596" cy="642319"/>
          </a:xfrm>
        </p:spPr>
        <p:txBody>
          <a:bodyPr>
            <a:normAutofit/>
          </a:bodyPr>
          <a:lstStyle/>
          <a:p>
            <a:r>
              <a:rPr lang="en-US" dirty="0"/>
              <a:t>Java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Analyzing CPU Usage by Line Number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852" y="2948658"/>
            <a:ext cx="9950562" cy="26510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CBB243-A0DD-AB22-F9D1-113BE06D7AFE}"/>
              </a:ext>
            </a:extLst>
          </p:cNvPr>
          <p:cNvSpPr txBox="1"/>
          <p:nvPr/>
        </p:nvSpPr>
        <p:spPr>
          <a:xfrm>
            <a:off x="1734495" y="6635469"/>
            <a:ext cx="88408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http://www.mastercorp.free.fr/Ing1/Cours/Java/java_lesson1/doc/Articles/Tuning/PerfAnal%20A%20Performance%20Analysis%20Tool.htm</a:t>
            </a:r>
            <a:endParaRPr lang="en-US" sz="1100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73B6F229-7CD9-AF5A-7AD1-3DABF8FE52B0}"/>
              </a:ext>
            </a:extLst>
          </p:cNvPr>
          <p:cNvSpPr/>
          <p:nvPr/>
        </p:nvSpPr>
        <p:spPr>
          <a:xfrm>
            <a:off x="1013320" y="4081881"/>
            <a:ext cx="10508120" cy="329184"/>
          </a:xfrm>
          <a:prstGeom prst="fram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9556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5925"/>
            <a:ext cx="6722596" cy="642319"/>
          </a:xfrm>
        </p:spPr>
        <p:txBody>
          <a:bodyPr>
            <a:normAutofit/>
          </a:bodyPr>
          <a:lstStyle/>
          <a:p>
            <a:r>
              <a:rPr lang="en-US" dirty="0"/>
              <a:t>Java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07219"/>
            <a:ext cx="10436840" cy="472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Analyzing CPU Usage, Exclusive of Subroutines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890" y="2961026"/>
            <a:ext cx="9798423" cy="25362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4E58E8-8406-D323-28DD-4A1AD3D0A2C7}"/>
              </a:ext>
            </a:extLst>
          </p:cNvPr>
          <p:cNvSpPr txBox="1"/>
          <p:nvPr/>
        </p:nvSpPr>
        <p:spPr>
          <a:xfrm>
            <a:off x="1734495" y="6635469"/>
            <a:ext cx="88408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http://www.mastercorp.free.fr/Ing1/Cours/Java/java_lesson1/doc/Articles/Tuning/PerfAnal%20A%20Performance%20Analysis%20Tool.htm</a:t>
            </a:r>
            <a:endParaRPr lang="en-US" sz="1100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B1416A25-223E-9D45-DFE6-876CAB364216}"/>
              </a:ext>
            </a:extLst>
          </p:cNvPr>
          <p:cNvSpPr/>
          <p:nvPr/>
        </p:nvSpPr>
        <p:spPr>
          <a:xfrm>
            <a:off x="1013320" y="3226005"/>
            <a:ext cx="10508120" cy="329184"/>
          </a:xfrm>
          <a:prstGeom prst="fram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0963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/>
              <a:t>Done</a:t>
            </a:r>
            <a:endParaRPr lang="en-US" dirty="0"/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2060</TotalTime>
  <Words>2527</Words>
  <Application>Microsoft Office PowerPoint</Application>
  <PresentationFormat>Widescreen</PresentationFormat>
  <Paragraphs>464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55</vt:i4>
      </vt:variant>
    </vt:vector>
  </HeadingPairs>
  <TitlesOfParts>
    <vt:vector size="66" baseType="lpstr">
      <vt:lpstr>Arial</vt:lpstr>
      <vt:lpstr>Arial Narrow</vt:lpstr>
      <vt:lpstr>Calibri</vt:lpstr>
      <vt:lpstr>Courier New</vt:lpstr>
      <vt:lpstr>Garamond</vt:lpstr>
      <vt:lpstr>Google Sans</vt:lpstr>
      <vt:lpstr>Monaco</vt:lpstr>
      <vt:lpstr>Wingdings</vt:lpstr>
      <vt:lpstr>SCUTemplate</vt:lpstr>
      <vt:lpstr>Custom Design</vt:lpstr>
      <vt:lpstr>1_SCUTemplate</vt:lpstr>
      <vt:lpstr>CSEN160</vt:lpstr>
      <vt:lpstr>Java Performance Analysis</vt:lpstr>
      <vt:lpstr>Acceptance, performance</vt:lpstr>
      <vt:lpstr>Acceptance, performance</vt:lpstr>
      <vt:lpstr>What’s slow here? (1)</vt:lpstr>
      <vt:lpstr>What’s slow here? (2)</vt:lpstr>
      <vt:lpstr>What’s slow here? (3)</vt:lpstr>
      <vt:lpstr>What’s slow here? (4)</vt:lpstr>
      <vt:lpstr>The correct answers</vt:lpstr>
      <vt:lpstr>The correct answers</vt:lpstr>
      <vt:lpstr>The correct answers</vt:lpstr>
      <vt:lpstr>Thinking about Performance and some Myths</vt:lpstr>
      <vt:lpstr>Thinking about performance</vt:lpstr>
      <vt:lpstr>Thinking about performance</vt:lpstr>
      <vt:lpstr>Thinking about performance</vt:lpstr>
      <vt:lpstr>Optimization myths</vt:lpstr>
      <vt:lpstr>Optimization myths</vt:lpstr>
      <vt:lpstr>Optimization myths</vt:lpstr>
      <vt:lpstr>Optimization myths</vt:lpstr>
      <vt:lpstr>Perceived performance</vt:lpstr>
      <vt:lpstr>Optimizations</vt:lpstr>
      <vt:lpstr>Optimization metrics</vt:lpstr>
      <vt:lpstr>Benchmarking, optimization</vt:lpstr>
      <vt:lpstr>Benchmarking, optimization</vt:lpstr>
      <vt:lpstr>Benchmarking, optimization</vt:lpstr>
      <vt:lpstr>Avoiding computations</vt:lpstr>
      <vt:lpstr>Avoiding computations</vt:lpstr>
      <vt:lpstr>Optimizing memory access (L1, L2, L3 cache …)</vt:lpstr>
      <vt:lpstr>Optimizing data structures</vt:lpstr>
      <vt:lpstr>Dynamic programming</vt:lpstr>
      <vt:lpstr>Lookup tables</vt:lpstr>
      <vt:lpstr>Optimization is deceptive (C-example)</vt:lpstr>
      <vt:lpstr>Lazy Load Design Pattern</vt:lpstr>
      <vt:lpstr>Lazy Load Design Pattern</vt:lpstr>
      <vt:lpstr>Lazy Load Design Pattern</vt:lpstr>
      <vt:lpstr>Profiling</vt:lpstr>
      <vt:lpstr>Profiling</vt:lpstr>
      <vt:lpstr>Profiling</vt:lpstr>
      <vt:lpstr>Types of profiling</vt:lpstr>
      <vt:lpstr>Types of profiling</vt:lpstr>
      <vt:lpstr>Java profiling tools</vt:lpstr>
      <vt:lpstr>Java profiling tools</vt:lpstr>
      <vt:lpstr>Using hprof</vt:lpstr>
      <vt:lpstr>Sample hprof usage</vt:lpstr>
      <vt:lpstr>hprof visualization tools</vt:lpstr>
      <vt:lpstr>Profiler results</vt:lpstr>
      <vt:lpstr>Java Performance Analysis PerfAnal</vt:lpstr>
      <vt:lpstr>Java Performance Analysis</vt:lpstr>
      <vt:lpstr>Java Performance Analysis</vt:lpstr>
      <vt:lpstr>Java Performance Analysis</vt:lpstr>
      <vt:lpstr>Java Performance Analysis</vt:lpstr>
      <vt:lpstr>Java Performance Analysis</vt:lpstr>
      <vt:lpstr>Java Performance Analysis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237</cp:revision>
  <cp:lastPrinted>2023-09-11T21:46:56Z</cp:lastPrinted>
  <dcterms:created xsi:type="dcterms:W3CDTF">2023-09-09T19:51:41Z</dcterms:created>
  <dcterms:modified xsi:type="dcterms:W3CDTF">2026-09-22T20:29:24Z</dcterms:modified>
</cp:coreProperties>
</file>