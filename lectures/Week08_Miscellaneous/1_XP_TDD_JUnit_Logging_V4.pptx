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59"/>
  </p:notesMasterIdLst>
  <p:handoutMasterIdLst>
    <p:handoutMasterId r:id="rId60"/>
  </p:handoutMasterIdLst>
  <p:sldIdLst>
    <p:sldId id="333" r:id="rId4"/>
    <p:sldId id="363" r:id="rId5"/>
    <p:sldId id="335" r:id="rId6"/>
    <p:sldId id="373" r:id="rId7"/>
    <p:sldId id="372" r:id="rId8"/>
    <p:sldId id="365" r:id="rId9"/>
    <p:sldId id="368" r:id="rId10"/>
    <p:sldId id="369" r:id="rId11"/>
    <p:sldId id="370" r:id="rId12"/>
    <p:sldId id="371" r:id="rId13"/>
    <p:sldId id="366" r:id="rId14"/>
    <p:sldId id="367" r:id="rId15"/>
    <p:sldId id="374" r:id="rId16"/>
    <p:sldId id="375" r:id="rId17"/>
    <p:sldId id="387" r:id="rId18"/>
    <p:sldId id="388" r:id="rId19"/>
    <p:sldId id="390" r:id="rId20"/>
    <p:sldId id="433" r:id="rId21"/>
    <p:sldId id="432" r:id="rId22"/>
    <p:sldId id="389" r:id="rId23"/>
    <p:sldId id="337" r:id="rId24"/>
    <p:sldId id="342" r:id="rId25"/>
    <p:sldId id="350" r:id="rId26"/>
    <p:sldId id="351" r:id="rId27"/>
    <p:sldId id="352" r:id="rId28"/>
    <p:sldId id="396" r:id="rId29"/>
    <p:sldId id="353" r:id="rId30"/>
    <p:sldId id="354" r:id="rId31"/>
    <p:sldId id="341" r:id="rId32"/>
    <p:sldId id="338" r:id="rId33"/>
    <p:sldId id="397" r:id="rId34"/>
    <p:sldId id="398" r:id="rId35"/>
    <p:sldId id="344" r:id="rId36"/>
    <p:sldId id="345" r:id="rId37"/>
    <p:sldId id="346" r:id="rId38"/>
    <p:sldId id="347" r:id="rId39"/>
    <p:sldId id="348" r:id="rId40"/>
    <p:sldId id="349" r:id="rId41"/>
    <p:sldId id="392" r:id="rId42"/>
    <p:sldId id="386" r:id="rId43"/>
    <p:sldId id="339" r:id="rId44"/>
    <p:sldId id="355" r:id="rId45"/>
    <p:sldId id="356" r:id="rId46"/>
    <p:sldId id="357" r:id="rId47"/>
    <p:sldId id="358" r:id="rId48"/>
    <p:sldId id="359" r:id="rId49"/>
    <p:sldId id="360" r:id="rId50"/>
    <p:sldId id="393" r:id="rId51"/>
    <p:sldId id="361" r:id="rId52"/>
    <p:sldId id="362" r:id="rId53"/>
    <p:sldId id="394" r:id="rId54"/>
    <p:sldId id="395" r:id="rId55"/>
    <p:sldId id="385" r:id="rId56"/>
    <p:sldId id="336" r:id="rId57"/>
    <p:sldId id="509" r:id="rId5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4D533-7F64-4678-892D-1BE11DF20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48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Extreme Programming (XP)</a:t>
            </a:r>
            <a:br>
              <a:rPr lang="en-US" altLang="en-US" dirty="0"/>
            </a:br>
            <a:r>
              <a:rPr lang="en-US" altLang="en-US" dirty="0"/>
              <a:t>Test Driven Development (TDD)</a:t>
            </a:r>
          </a:p>
        </p:txBody>
      </p:sp>
    </p:spTree>
    <p:extLst>
      <p:ext uri="{BB962C8B-B14F-4D97-AF65-F5344CB8AC3E}">
        <p14:creationId xmlns:p14="http://schemas.microsoft.com/office/powerpoint/2010/main" val="206061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Extreme Programming (XP)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XP 12 practices, grouped into four areas:</a:t>
            </a:r>
          </a:p>
          <a:p>
            <a:r>
              <a:rPr lang="en-US" dirty="0">
                <a:solidFill>
                  <a:schemeClr val="tx1"/>
                </a:solidFill>
              </a:rPr>
              <a:t>Fine-scale feedback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Pair programming</a:t>
            </a:r>
            <a:r>
              <a:rPr lang="en-US" dirty="0"/>
              <a:t>*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Planning game</a:t>
            </a:r>
          </a:p>
          <a:p>
            <a:pPr lvl="1"/>
            <a:r>
              <a:rPr lang="en-US" b="1" dirty="0">
                <a:solidFill>
                  <a:srgbClr val="00B0F0"/>
                </a:solidFill>
              </a:rPr>
              <a:t>Test-driven development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Whole team</a:t>
            </a:r>
          </a:p>
          <a:p>
            <a:r>
              <a:rPr lang="en-US" dirty="0">
                <a:solidFill>
                  <a:schemeClr val="tx1"/>
                </a:solidFill>
              </a:rPr>
              <a:t>Continuous process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Continuous integration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Refactoring or design improvement*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Small releases</a:t>
            </a:r>
          </a:p>
          <a:p>
            <a:r>
              <a:rPr lang="en-US" dirty="0">
                <a:solidFill>
                  <a:schemeClr val="tx1"/>
                </a:solidFill>
              </a:rPr>
              <a:t>Shared understanding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Coding standards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Collective code ownership*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Simple design*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System metaphor</a:t>
            </a:r>
          </a:p>
          <a:p>
            <a:r>
              <a:rPr lang="en-US" dirty="0">
                <a:solidFill>
                  <a:schemeClr val="tx1"/>
                </a:solidFill>
              </a:rPr>
              <a:t>Programmer welfare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Sustainable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6881" y="6581001"/>
            <a:ext cx="6643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*Computerworld-appdev-92 "Extreme Programming", Computerworld (online), December 2001.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3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TTD: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You develop test cases </a:t>
            </a:r>
            <a:r>
              <a:rPr lang="en-US" b="1" dirty="0">
                <a:solidFill>
                  <a:srgbClr val="00B050"/>
                </a:solidFill>
              </a:rPr>
              <a:t>(FIRST)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You develop the software </a:t>
            </a:r>
            <a:r>
              <a:rPr lang="en-US" b="1" dirty="0">
                <a:solidFill>
                  <a:srgbClr val="FF0000"/>
                </a:solidFill>
              </a:rPr>
              <a:t>itself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test-first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programming concepts of extreme programming</a:t>
            </a:r>
          </a:p>
        </p:txBody>
      </p:sp>
    </p:spTree>
    <p:extLst>
      <p:ext uri="{BB962C8B-B14F-4D97-AF65-F5344CB8AC3E}">
        <p14:creationId xmlns:p14="http://schemas.microsoft.com/office/powerpoint/2010/main" val="408152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following sequence is based on the book Test-Driven Development by Example: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1600" dirty="0">
                <a:solidFill>
                  <a:schemeClr val="tx1"/>
                </a:solidFill>
              </a:rPr>
              <a:t>Beck, Kent (2002-11-08). Test-Driven Development by Example. </a:t>
            </a:r>
            <a:r>
              <a:rPr lang="en-US" sz="1600" dirty="0" err="1">
                <a:solidFill>
                  <a:schemeClr val="tx1"/>
                </a:solidFill>
              </a:rPr>
              <a:t>Vaseem</a:t>
            </a:r>
            <a:r>
              <a:rPr lang="en-US" sz="1600" dirty="0">
                <a:solidFill>
                  <a:schemeClr val="tx1"/>
                </a:solidFill>
              </a:rPr>
              <a:t>: Addison Wesley. ISBN 978-0-321-14653-3)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1. Add a test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2. Run all tests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3. Write the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simplest code </a:t>
            </a:r>
            <a:r>
              <a:rPr lang="en-US" dirty="0">
                <a:solidFill>
                  <a:schemeClr val="tx1"/>
                </a:solidFill>
              </a:rPr>
              <a:t>that passes the new test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4. All tests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should pass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5. Refactor as needed</a:t>
            </a:r>
          </a:p>
        </p:txBody>
      </p:sp>
    </p:spTree>
    <p:extLst>
      <p:ext uri="{BB962C8B-B14F-4D97-AF65-F5344CB8AC3E}">
        <p14:creationId xmlns:p14="http://schemas.microsoft.com/office/powerpoint/2010/main" val="372990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1. Add a test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Adding a new feature by writing a test </a:t>
            </a:r>
            <a:r>
              <a:rPr lang="en-US" b="1" dirty="0">
                <a:solidFill>
                  <a:srgbClr val="00B050"/>
                </a:solidFill>
              </a:rPr>
              <a:t>that passes the specifications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The developer can check specifications </a:t>
            </a:r>
            <a:r>
              <a:rPr lang="en-US" b="1" dirty="0">
                <a:solidFill>
                  <a:srgbClr val="00B050"/>
                </a:solidFill>
              </a:rPr>
              <a:t>by checking use cases/stories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A key benefit of TDD is, it makes the developer </a:t>
            </a:r>
            <a:r>
              <a:rPr lang="en-US" b="1" dirty="0">
                <a:solidFill>
                  <a:srgbClr val="00B050"/>
                </a:solidFill>
              </a:rPr>
              <a:t>focus on requirements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In contrast with the usual practice 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test are written at the end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6748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2. Run all tests (The new test should fail)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code needs to be </a:t>
            </a:r>
            <a:r>
              <a:rPr lang="en-US" b="1" dirty="0">
                <a:solidFill>
                  <a:srgbClr val="00B050"/>
                </a:solidFill>
              </a:rPr>
              <a:t>implemented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Validate that the test setup is </a:t>
            </a:r>
            <a:r>
              <a:rPr lang="en-US" b="1" dirty="0">
                <a:solidFill>
                  <a:srgbClr val="00B050"/>
                </a:solidFill>
              </a:rPr>
              <a:t>working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Rules out that the test itself is </a:t>
            </a:r>
            <a:r>
              <a:rPr lang="en-US" b="1" dirty="0">
                <a:solidFill>
                  <a:srgbClr val="FF0000"/>
                </a:solidFill>
              </a:rPr>
              <a:t>flawed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(i.e. always passes).</a:t>
            </a:r>
          </a:p>
        </p:txBody>
      </p:sp>
    </p:spTree>
    <p:extLst>
      <p:ext uri="{BB962C8B-B14F-4D97-AF65-F5344CB8AC3E}">
        <p14:creationId xmlns:p14="http://schemas.microsoft.com/office/powerpoint/2010/main" val="406905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dirty="0">
                <a:solidFill>
                  <a:schemeClr val="tx1"/>
                </a:solidFill>
              </a:rPr>
              <a:t>Write the simplest code that passes the new test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Inelegant or hard code is acceptable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As long as </a:t>
            </a:r>
            <a:r>
              <a:rPr lang="en-US" b="1" dirty="0">
                <a:solidFill>
                  <a:srgbClr val="FF0000"/>
                </a:solidFill>
              </a:rPr>
              <a:t>it passes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 test.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Code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improvement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follows in step 5.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 additional code should be added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(no fancy, nice to have stuff).</a:t>
            </a:r>
          </a:p>
        </p:txBody>
      </p:sp>
    </p:spTree>
    <p:extLst>
      <p:ext uri="{BB962C8B-B14F-4D97-AF65-F5344CB8AC3E}">
        <p14:creationId xmlns:p14="http://schemas.microsoft.com/office/powerpoint/2010/main" val="412728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4. All tests should now </a:t>
            </a:r>
            <a:r>
              <a:rPr lang="en-US" b="1" dirty="0">
                <a:solidFill>
                  <a:srgbClr val="00B050"/>
                </a:solidFill>
              </a:rPr>
              <a:t>pass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If any fail, the new code must be </a:t>
            </a:r>
            <a:r>
              <a:rPr lang="en-US" b="1" dirty="0">
                <a:solidFill>
                  <a:srgbClr val="00B050"/>
                </a:solidFill>
              </a:rPr>
              <a:t>revised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until they </a:t>
            </a:r>
            <a:r>
              <a:rPr lang="en-US" b="1" dirty="0">
                <a:solidFill>
                  <a:srgbClr val="00B050"/>
                </a:solidFill>
              </a:rPr>
              <a:t>pass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Ensure the new code </a:t>
            </a:r>
            <a:r>
              <a:rPr lang="en-US" b="1" dirty="0">
                <a:solidFill>
                  <a:srgbClr val="00B050"/>
                </a:solidFill>
              </a:rPr>
              <a:t>meets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test requirements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And does </a:t>
            </a:r>
            <a:r>
              <a:rPr lang="en-US" b="1" dirty="0">
                <a:solidFill>
                  <a:srgbClr val="FF0000"/>
                </a:solidFill>
              </a:rPr>
              <a:t>not break existing </a:t>
            </a:r>
            <a:r>
              <a:rPr lang="en-US" dirty="0">
                <a:solidFill>
                  <a:schemeClr val="tx1"/>
                </a:solidFill>
              </a:rPr>
              <a:t>features.</a:t>
            </a:r>
          </a:p>
        </p:txBody>
      </p:sp>
    </p:spTree>
    <p:extLst>
      <p:ext uri="{BB962C8B-B14F-4D97-AF65-F5344CB8AC3E}">
        <p14:creationId xmlns:p14="http://schemas.microsoft.com/office/powerpoint/2010/main" val="1540598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5. Refactor as needed (executing tests after each tiny refactor step)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Code is refactored for </a:t>
            </a:r>
            <a:r>
              <a:rPr lang="en-US" b="1" dirty="0">
                <a:solidFill>
                  <a:srgbClr val="00B050"/>
                </a:solidFill>
              </a:rPr>
              <a:t>readability and maintainability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Hard-coded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test data should be removed.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Running the test suite after each refactor (nothing is broken?!).</a:t>
            </a:r>
          </a:p>
        </p:txBody>
      </p:sp>
    </p:spTree>
    <p:extLst>
      <p:ext uri="{BB962C8B-B14F-4D97-AF65-F5344CB8AC3E}">
        <p14:creationId xmlns:p14="http://schemas.microsoft.com/office/powerpoint/2010/main" val="1239267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Examples of refactoring: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Moving code to where it logically belongs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Removing </a:t>
            </a:r>
            <a:r>
              <a:rPr lang="en-US" b="1" dirty="0">
                <a:solidFill>
                  <a:srgbClr val="FF0000"/>
                </a:solidFill>
              </a:rPr>
              <a:t>duplicate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code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Making names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self-documenting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Splitting methods into </a:t>
            </a:r>
            <a:r>
              <a:rPr lang="en-US" b="1" dirty="0">
                <a:solidFill>
                  <a:srgbClr val="00B050"/>
                </a:solidFill>
              </a:rPr>
              <a:t>smaller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pieces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Re-arranging inheritance hierarchies</a:t>
            </a:r>
          </a:p>
        </p:txBody>
      </p:sp>
    </p:spTree>
    <p:extLst>
      <p:ext uri="{BB962C8B-B14F-4D97-AF65-F5344CB8AC3E}">
        <p14:creationId xmlns:p14="http://schemas.microsoft.com/office/powerpoint/2010/main" val="303012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281580" cy="642319"/>
          </a:xfrm>
        </p:spPr>
        <p:txBody>
          <a:bodyPr>
            <a:normAutofit/>
          </a:bodyPr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Repeat</a:t>
            </a:r>
          </a:p>
          <a:p>
            <a:r>
              <a:rPr lang="en-US" dirty="0">
                <a:solidFill>
                  <a:schemeClr val="tx1"/>
                </a:solidFill>
              </a:rPr>
              <a:t>Refactoring cycle </a:t>
            </a:r>
            <a:r>
              <a:rPr lang="en-US" b="1" dirty="0">
                <a:solidFill>
                  <a:schemeClr val="tx1"/>
                </a:solidFill>
              </a:rPr>
              <a:t>repeats</a:t>
            </a:r>
            <a:r>
              <a:rPr lang="en-US" dirty="0">
                <a:solidFill>
                  <a:schemeClr val="tx1"/>
                </a:solidFill>
              </a:rPr>
              <a:t> after each new piece of code. </a:t>
            </a:r>
          </a:p>
          <a:p>
            <a:r>
              <a:rPr lang="en-US" dirty="0">
                <a:solidFill>
                  <a:schemeClr val="tx1"/>
                </a:solidFill>
              </a:rPr>
              <a:t>Tests should be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small and incremental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b="1" dirty="0">
                <a:solidFill>
                  <a:srgbClr val="00B050"/>
                </a:solidFill>
              </a:rPr>
              <a:t>commits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made often. </a:t>
            </a:r>
          </a:p>
          <a:p>
            <a:r>
              <a:rPr lang="en-US" dirty="0">
                <a:solidFill>
                  <a:schemeClr val="tx1"/>
                </a:solidFill>
              </a:rPr>
              <a:t>If new code </a:t>
            </a:r>
            <a:r>
              <a:rPr lang="en-US" b="1" dirty="0">
                <a:solidFill>
                  <a:srgbClr val="FF0000"/>
                </a:solidFill>
              </a:rPr>
              <a:t>fails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some tests:</a:t>
            </a:r>
          </a:p>
          <a:p>
            <a:pPr lvl="1"/>
            <a:endParaRPr lang="en-US" b="1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Undo or revert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Rather than </a:t>
            </a:r>
            <a:r>
              <a:rPr lang="en-US" b="1" dirty="0">
                <a:solidFill>
                  <a:srgbClr val="FF0000"/>
                </a:solidFill>
              </a:rPr>
              <a:t>debug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When using external libraries: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 need to test (external libraries)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Basic functionality only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Unless there is a believe the library is buggy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Or not feature-rich enough.</a:t>
            </a:r>
          </a:p>
        </p:txBody>
      </p:sp>
    </p:spTree>
    <p:extLst>
      <p:ext uri="{BB962C8B-B14F-4D97-AF65-F5344CB8AC3E}">
        <p14:creationId xmlns:p14="http://schemas.microsoft.com/office/powerpoint/2010/main" val="644026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JUnit</a:t>
            </a:r>
          </a:p>
        </p:txBody>
      </p:sp>
    </p:spTree>
    <p:extLst>
      <p:ext uri="{BB962C8B-B14F-4D97-AF65-F5344CB8AC3E}">
        <p14:creationId xmlns:p14="http://schemas.microsoft.com/office/powerpoint/2010/main" val="14907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Hated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by “some” software developer: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It cost </a:t>
            </a:r>
            <a:r>
              <a:rPr lang="en-US" b="1" dirty="0">
                <a:solidFill>
                  <a:srgbClr val="FF0000"/>
                </a:solidFill>
              </a:rPr>
              <a:t>time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to test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 am an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awesome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programmer; tests are for </a:t>
            </a:r>
            <a:r>
              <a:rPr lang="en-US" b="1" dirty="0">
                <a:solidFill>
                  <a:srgbClr val="FF0000"/>
                </a:solidFill>
              </a:rPr>
              <a:t>looser</a:t>
            </a:r>
            <a:r>
              <a:rPr lang="en-US" dirty="0"/>
              <a:t> …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Boss did not ask for it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Who cares?!</a:t>
            </a:r>
          </a:p>
        </p:txBody>
      </p:sp>
    </p:spTree>
    <p:extLst>
      <p:ext uri="{BB962C8B-B14F-4D97-AF65-F5344CB8AC3E}">
        <p14:creationId xmlns:p14="http://schemas.microsoft.com/office/powerpoint/2010/main" val="225119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Loved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by “some other” software developer: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Loved, when they are </a:t>
            </a:r>
            <a:r>
              <a:rPr lang="en-US" b="1" dirty="0">
                <a:solidFill>
                  <a:srgbClr val="00B050"/>
                </a:solidFill>
              </a:rPr>
              <a:t>already there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And you need to </a:t>
            </a:r>
            <a:r>
              <a:rPr lang="en-US" b="1" dirty="0">
                <a:solidFill>
                  <a:srgbClr val="00B0F0"/>
                </a:solidFill>
              </a:rPr>
              <a:t>refactor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 lot of code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You are an </a:t>
            </a:r>
            <a:r>
              <a:rPr lang="en-US" b="1" dirty="0">
                <a:solidFill>
                  <a:srgbClr val="FF0000"/>
                </a:solidFill>
              </a:rPr>
              <a:t>extreme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b="1" dirty="0">
                <a:solidFill>
                  <a:srgbClr val="FF0000"/>
                </a:solidFill>
              </a:rPr>
              <a:t>agile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software developer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Or you have faith in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TDD</a:t>
            </a:r>
          </a:p>
        </p:txBody>
      </p:sp>
    </p:spTree>
    <p:extLst>
      <p:ext uri="{BB962C8B-B14F-4D97-AF65-F5344CB8AC3E}">
        <p14:creationId xmlns:p14="http://schemas.microsoft.com/office/powerpoint/2010/main" val="3692477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Easy to use: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Maven projects supports it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Eclipse supports it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IntelliJ supports it even </a:t>
            </a:r>
            <a:r>
              <a:rPr lang="en-US" b="1" dirty="0">
                <a:solidFill>
                  <a:srgbClr val="00B050"/>
                </a:solidFill>
              </a:rPr>
              <a:t>better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Overall: Easy to run tests in IntelliJ/Eclipse</a:t>
            </a:r>
          </a:p>
        </p:txBody>
      </p:sp>
    </p:spTree>
    <p:extLst>
      <p:ext uri="{BB962C8B-B14F-4D97-AF65-F5344CB8AC3E}">
        <p14:creationId xmlns:p14="http://schemas.microsoft.com/office/powerpoint/2010/main" val="1511339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Important asserts: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assertEquals</a:t>
            </a:r>
            <a:r>
              <a:rPr lang="en-US" dirty="0">
                <a:solidFill>
                  <a:schemeClr val="tx1"/>
                </a:solidFill>
              </a:rPr>
              <a:t>(“Hello”, “Hello”);</a:t>
            </a:r>
          </a:p>
          <a:p>
            <a:r>
              <a:rPr lang="en-US" dirty="0" err="1">
                <a:solidFill>
                  <a:schemeClr val="tx1"/>
                </a:solidFill>
              </a:rPr>
              <a:t>assertTrue</a:t>
            </a:r>
            <a:r>
              <a:rPr lang="en-US" dirty="0">
                <a:solidFill>
                  <a:schemeClr val="tx1"/>
                </a:solidFill>
              </a:rPr>
              <a:t>(Boolean);</a:t>
            </a:r>
          </a:p>
          <a:p>
            <a:r>
              <a:rPr lang="en-US" dirty="0" err="1">
                <a:solidFill>
                  <a:schemeClr val="tx1"/>
                </a:solidFill>
              </a:rPr>
              <a:t>assertFalse</a:t>
            </a:r>
            <a:r>
              <a:rPr lang="en-US" dirty="0">
                <a:solidFill>
                  <a:schemeClr val="tx1"/>
                </a:solidFill>
              </a:rPr>
              <a:t>(Boolean);</a:t>
            </a:r>
          </a:p>
          <a:p>
            <a:r>
              <a:rPr lang="en-US" dirty="0" err="1">
                <a:solidFill>
                  <a:schemeClr val="tx1"/>
                </a:solidFill>
              </a:rPr>
              <a:t>assertNotNull</a:t>
            </a:r>
            <a:r>
              <a:rPr lang="en-US" dirty="0">
                <a:solidFill>
                  <a:schemeClr val="tx1"/>
                </a:solidFill>
              </a:rPr>
              <a:t>(…);</a:t>
            </a:r>
          </a:p>
          <a:p>
            <a:r>
              <a:rPr lang="en-US" dirty="0" err="1">
                <a:solidFill>
                  <a:schemeClr val="tx1"/>
                </a:solidFill>
              </a:rPr>
              <a:t>assertNull</a:t>
            </a:r>
            <a:r>
              <a:rPr lang="en-US" dirty="0">
                <a:solidFill>
                  <a:schemeClr val="tx1"/>
                </a:solidFill>
              </a:rPr>
              <a:t>(…);</a:t>
            </a:r>
          </a:p>
          <a:p>
            <a:r>
              <a:rPr lang="en-US" dirty="0" err="1">
                <a:solidFill>
                  <a:schemeClr val="tx1"/>
                </a:solidFill>
              </a:rPr>
              <a:t>assertArrayEquals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r>
              <a:rPr lang="en-US" dirty="0">
                <a:solidFill>
                  <a:schemeClr val="tx1"/>
                </a:solidFill>
              </a:rPr>
              <a:t>Test for exceptions 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37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B6EDF-3447-CDE4-0875-2EF7F8300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4529-3569-9F84-EE48-14C841D0B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1839A-8F1B-3FF7-9BF6-E37F451CC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Important: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You </a:t>
            </a:r>
            <a:r>
              <a:rPr lang="en-US" b="1" dirty="0">
                <a:solidFill>
                  <a:schemeClr val="tx1"/>
                </a:solidFill>
              </a:rPr>
              <a:t>will</a:t>
            </a:r>
            <a:r>
              <a:rPr lang="en-US" dirty="0">
                <a:solidFill>
                  <a:schemeClr val="tx1"/>
                </a:solidFill>
              </a:rPr>
              <a:t> see as software developer, in some source code </a:t>
            </a:r>
            <a:r>
              <a:rPr lang="en-US" b="1" dirty="0">
                <a:solidFill>
                  <a:srgbClr val="00B050"/>
                </a:solidFill>
              </a:rPr>
              <a:t>asserts</a:t>
            </a:r>
            <a:r>
              <a:rPr lang="en-US" dirty="0"/>
              <a:t> 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HEVC Video Codec source code 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34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Check exceptions: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400" y="2639628"/>
            <a:ext cx="4436045" cy="28249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27" y="2840491"/>
            <a:ext cx="4588449" cy="22370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23009" y="4491080"/>
            <a:ext cx="3738520" cy="218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18140" y="4279436"/>
            <a:ext cx="4303212" cy="218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947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435A181-213A-21F8-FF53-FDC434CB4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484" y="1010585"/>
            <a:ext cx="3223516" cy="293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JUnit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A386C37-7CC6-269D-C36C-29CA35A7140F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CSEN160_08_Miscellaneous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Arial" panose="020B0604020202020204"/>
              </a:rPr>
              <a:t>test.SalaryCalculatorTest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357EDD-E915-152B-36B3-E5F66FA2B4DD}"/>
              </a:ext>
            </a:extLst>
          </p:cNvPr>
          <p:cNvSpPr/>
          <p:nvPr/>
        </p:nvSpPr>
        <p:spPr>
          <a:xfrm>
            <a:off x="6781919" y="3322073"/>
            <a:ext cx="1926652" cy="1267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7B8E5DC2-EDC6-C14C-3A8A-7D2AF0823000}"/>
              </a:ext>
            </a:extLst>
          </p:cNvPr>
          <p:cNvSpPr/>
          <p:nvPr/>
        </p:nvSpPr>
        <p:spPr>
          <a:xfrm>
            <a:off x="7351768" y="3958085"/>
            <a:ext cx="360948" cy="6535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A8C8163-F2C7-AF72-CE96-04A76EB6A7FE}"/>
              </a:ext>
            </a:extLst>
          </p:cNvPr>
          <p:cNvSpPr/>
          <p:nvPr/>
        </p:nvSpPr>
        <p:spPr>
          <a:xfrm>
            <a:off x="459751" y="5192155"/>
            <a:ext cx="1573779" cy="207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25D5A4-4B51-C9A9-572C-26F0310B2D63}"/>
              </a:ext>
            </a:extLst>
          </p:cNvPr>
          <p:cNvSpPr txBox="1"/>
          <p:nvPr/>
        </p:nvSpPr>
        <p:spPr>
          <a:xfrm>
            <a:off x="352661" y="4268825"/>
            <a:ext cx="1620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Automatically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Created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est folder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527DC0-CABD-A19C-2794-953C21F07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30" y="1564495"/>
            <a:ext cx="2467039" cy="43384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DF59776-3A77-C066-DD15-77D1C675F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884" y="4625134"/>
            <a:ext cx="2983014" cy="1633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097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Logging in General</a:t>
            </a:r>
          </a:p>
        </p:txBody>
      </p:sp>
    </p:spTree>
    <p:extLst>
      <p:ext uri="{BB962C8B-B14F-4D97-AF65-F5344CB8AC3E}">
        <p14:creationId xmlns:p14="http://schemas.microsoft.com/office/powerpoint/2010/main" val="2117908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For professional software development: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 is </a:t>
            </a:r>
            <a:r>
              <a:rPr lang="en-US" b="1" dirty="0">
                <a:solidFill>
                  <a:srgbClr val="FF0000"/>
                </a:solidFill>
              </a:rPr>
              <a:t>not enough!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Logging messages needs to go into </a:t>
            </a:r>
            <a:r>
              <a:rPr lang="en-US" b="1" dirty="0">
                <a:solidFill>
                  <a:srgbClr val="92D050"/>
                </a:solidFill>
              </a:rPr>
              <a:t>files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Into many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different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files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Log-level is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very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388397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30230"/>
            <a:ext cx="10436840" cy="5131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Major scenarios: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b="1" dirty="0">
                <a:solidFill>
                  <a:srgbClr val="FF0000"/>
                </a:solidFill>
              </a:rPr>
              <a:t>issue</a:t>
            </a:r>
            <a:r>
              <a:rPr lang="en-US" dirty="0"/>
              <a:t> </a:t>
            </a:r>
            <a:r>
              <a:rPr lang="en-US" sz="1800" dirty="0">
                <a:solidFill>
                  <a:schemeClr val="tx1"/>
                </a:solidFill>
              </a:rPr>
              <a:t>(transaction did </a:t>
            </a:r>
            <a:r>
              <a:rPr lang="en-US" sz="1800" b="1" dirty="0">
                <a:solidFill>
                  <a:srgbClr val="FF0000"/>
                </a:solidFill>
              </a:rPr>
              <a:t>not work</a:t>
            </a:r>
            <a:r>
              <a:rPr lang="en-US" sz="1800" dirty="0">
                <a:solidFill>
                  <a:schemeClr val="tx1"/>
                </a:solidFill>
              </a:rPr>
              <a:t>, payment </a:t>
            </a:r>
            <a:r>
              <a:rPr lang="en-US" sz="1800" b="1" dirty="0">
                <a:solidFill>
                  <a:srgbClr val="FF0000"/>
                </a:solidFill>
              </a:rPr>
              <a:t>lost</a:t>
            </a:r>
            <a:r>
              <a:rPr lang="en-US" sz="1800" dirty="0">
                <a:solidFill>
                  <a:schemeClr val="tx1"/>
                </a:solidFill>
              </a:rPr>
              <a:t>, why?)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Scammer/hacker infiltrated </a:t>
            </a:r>
            <a:r>
              <a:rPr lang="en-US" dirty="0">
                <a:solidFill>
                  <a:schemeClr val="tx1"/>
                </a:solidFill>
              </a:rPr>
              <a:t>the system </a:t>
            </a:r>
            <a:r>
              <a:rPr lang="en-US" sz="1800" dirty="0">
                <a:solidFill>
                  <a:schemeClr val="tx1"/>
                </a:solidFill>
              </a:rPr>
              <a:t>(Forensics)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System behaves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weird </a:t>
            </a:r>
            <a:r>
              <a:rPr lang="en-US" sz="1800" dirty="0">
                <a:solidFill>
                  <a:schemeClr val="tx1"/>
                </a:solidFill>
              </a:rPr>
              <a:t>(one of the server crashes every hour, or every two days, etc.)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General errors </a:t>
            </a:r>
            <a:r>
              <a:rPr lang="en-US" sz="1800" dirty="0">
                <a:solidFill>
                  <a:schemeClr val="tx1"/>
                </a:solidFill>
              </a:rPr>
              <a:t>(Out of Memory, etc.)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b="1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solidFill>
                  <a:srgbClr val="FF0000"/>
                </a:solidFill>
              </a:rPr>
              <a:t>DDos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attacks </a:t>
            </a:r>
            <a:r>
              <a:rPr lang="en-US" sz="1800" dirty="0">
                <a:solidFill>
                  <a:schemeClr val="tx1"/>
                </a:solidFill>
              </a:rPr>
              <a:t>(what type, which system, etc.)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53283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Different</a:t>
            </a:r>
            <a:r>
              <a:rPr lang="en-US" b="1" dirty="0"/>
              <a:t> </a:t>
            </a:r>
            <a:r>
              <a:rPr lang="en-US" sz="3200" b="1" dirty="0">
                <a:solidFill>
                  <a:srgbClr val="00B050"/>
                </a:solidFill>
              </a:rPr>
              <a:t>stakeholders</a:t>
            </a:r>
            <a:r>
              <a:rPr lang="en-US" b="1" dirty="0"/>
              <a:t>:</a:t>
            </a:r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Business department (Product Owner) </a:t>
            </a:r>
            <a:r>
              <a:rPr lang="en-US" sz="2000" dirty="0">
                <a:solidFill>
                  <a:schemeClr val="tx1"/>
                </a:solidFill>
              </a:rPr>
              <a:t>who </a:t>
            </a:r>
            <a:r>
              <a:rPr lang="en-US" sz="2000" b="1" dirty="0">
                <a:solidFill>
                  <a:srgbClr val="00B0F0"/>
                </a:solidFill>
              </a:rPr>
              <a:t>owns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the application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b="1" dirty="0">
                <a:solidFill>
                  <a:srgbClr val="FF0000"/>
                </a:solidFill>
              </a:rPr>
              <a:t>not really interested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Technical department </a:t>
            </a:r>
            <a:r>
              <a:rPr lang="en-US" sz="2000" dirty="0">
                <a:solidFill>
                  <a:schemeClr val="tx1"/>
                </a:solidFill>
              </a:rPr>
              <a:t>Application Owner (</a:t>
            </a:r>
            <a:r>
              <a:rPr lang="en-US" sz="2000" b="1" dirty="0">
                <a:solidFill>
                  <a:srgbClr val="00B050"/>
                </a:solidFill>
              </a:rPr>
              <a:t>very interested</a:t>
            </a:r>
            <a:r>
              <a:rPr lang="en-US" sz="2000" dirty="0">
                <a:solidFill>
                  <a:schemeClr val="tx1"/>
                </a:solidFill>
              </a:rPr>
              <a:t>) (ITIL - IT Infrastructure Library)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datacenter team </a:t>
            </a:r>
            <a:r>
              <a:rPr lang="en-US" sz="2000" dirty="0">
                <a:solidFill>
                  <a:schemeClr val="tx1"/>
                </a:solidFill>
              </a:rPr>
              <a:t>(they are sometimes </a:t>
            </a:r>
            <a:r>
              <a:rPr lang="en-US" sz="2000" b="1" dirty="0">
                <a:solidFill>
                  <a:srgbClr val="00B050"/>
                </a:solidFill>
              </a:rPr>
              <a:t>very interested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Application developer 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b="1" dirty="0">
                <a:solidFill>
                  <a:srgbClr val="FF0000"/>
                </a:solidFill>
              </a:rPr>
              <a:t>after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work is done, </a:t>
            </a:r>
            <a:r>
              <a:rPr lang="en-US" sz="2000" b="1" dirty="0">
                <a:solidFill>
                  <a:srgbClr val="FF0000"/>
                </a:solidFill>
              </a:rPr>
              <a:t>not really interested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582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Web application logging design:</a:t>
            </a:r>
          </a:p>
          <a:p>
            <a:pPr marL="457200" indent="-457200">
              <a:buFont typeface="+mj-lt"/>
              <a:buAutoNum type="arabicPeriod"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Big web applications are </a:t>
            </a:r>
            <a:r>
              <a:rPr lang="en-US" b="1" dirty="0">
                <a:solidFill>
                  <a:srgbClr val="00B0F0"/>
                </a:solidFill>
              </a:rPr>
              <a:t>distributed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multi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server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applications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Backend to frontend, can have up to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10</a:t>
            </a:r>
            <a:r>
              <a:rPr lang="en-US" b="1" dirty="0">
                <a:solidFill>
                  <a:srgbClr val="92D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layers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(sometimes more)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Every layer have a bunch of </a:t>
            </a:r>
            <a:r>
              <a:rPr lang="en-US" b="1" dirty="0">
                <a:solidFill>
                  <a:srgbClr val="00B050"/>
                </a:solidFill>
              </a:rPr>
              <a:t>parallel servers </a:t>
            </a:r>
            <a:r>
              <a:rPr lang="en-US" dirty="0">
                <a:solidFill>
                  <a:schemeClr val="tx1"/>
                </a:solidFill>
              </a:rPr>
              <a:t>(number depends on demand)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Tracing an user from the frontend to the backend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is not easy!</a:t>
            </a:r>
          </a:p>
        </p:txBody>
      </p:sp>
    </p:spTree>
    <p:extLst>
      <p:ext uri="{BB962C8B-B14F-4D97-AF65-F5344CB8AC3E}">
        <p14:creationId xmlns:p14="http://schemas.microsoft.com/office/powerpoint/2010/main" val="299302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35344-DD32-27A2-690A-651EFB06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E1BB-8A86-05D1-2935-019AE48AB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EE1B7-AB36-1516-0437-073963CD6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Web application logging design: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While developing </a:t>
            </a:r>
            <a:r>
              <a:rPr lang="en-US" dirty="0">
                <a:solidFill>
                  <a:schemeClr val="tx1"/>
                </a:solidFill>
              </a:rPr>
              <a:t>web applications, you need to think about </a:t>
            </a:r>
            <a:r>
              <a:rPr lang="en-US" b="1" dirty="0">
                <a:solidFill>
                  <a:srgbClr val="FF0000"/>
                </a:solidFill>
              </a:rPr>
              <a:t>how to log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Tools like Splunk </a:t>
            </a:r>
            <a:r>
              <a:rPr lang="en-US" b="1" dirty="0">
                <a:solidFill>
                  <a:srgbClr val="00B050"/>
                </a:solidFill>
              </a:rPr>
              <a:t>can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help you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But you need to design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traceability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804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You need to follow an user </a:t>
            </a:r>
            <a:r>
              <a:rPr lang="en-US" b="1" dirty="0">
                <a:solidFill>
                  <a:srgbClr val="00B050"/>
                </a:solidFill>
              </a:rPr>
              <a:t>from frontend to backend</a:t>
            </a:r>
            <a:r>
              <a:rPr lang="en-US" b="1" dirty="0"/>
              <a:t>!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User has a specific </a:t>
            </a:r>
            <a:r>
              <a:rPr lang="en-US" b="1" dirty="0">
                <a:solidFill>
                  <a:srgbClr val="00B050"/>
                </a:solidFill>
              </a:rPr>
              <a:t>http address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User has a </a:t>
            </a:r>
            <a:r>
              <a:rPr lang="en-US" b="1" dirty="0">
                <a:solidFill>
                  <a:srgbClr val="00B050"/>
                </a:solidFill>
              </a:rPr>
              <a:t>login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User has a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session id </a:t>
            </a:r>
            <a:r>
              <a:rPr lang="en-US" dirty="0">
                <a:solidFill>
                  <a:schemeClr val="tx1"/>
                </a:solidFill>
              </a:rPr>
              <a:t>(web)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jsessionid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(Java)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 the moment user enter his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credentials</a:t>
            </a:r>
            <a:r>
              <a:rPr lang="en-US" dirty="0"/>
              <a:t> </a:t>
            </a:r>
            <a:r>
              <a:rPr lang="en-US" sz="2100" dirty="0">
                <a:solidFill>
                  <a:schemeClr val="tx1"/>
                </a:solidFill>
              </a:rPr>
              <a:t>(frontend) (log these in the </a:t>
            </a:r>
            <a:r>
              <a:rPr lang="en-US" sz="2100" b="1" dirty="0">
                <a:solidFill>
                  <a:srgbClr val="00B050"/>
                </a:solidFill>
              </a:rPr>
              <a:t>web layer logfile</a:t>
            </a:r>
            <a:r>
              <a:rPr lang="en-US" sz="2100" dirty="0">
                <a:solidFill>
                  <a:schemeClr val="tx1"/>
                </a:solidFill>
              </a:rPr>
              <a:t>).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Then you use the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web session id </a:t>
            </a:r>
            <a:r>
              <a:rPr lang="en-US" dirty="0">
                <a:solidFill>
                  <a:schemeClr val="tx1"/>
                </a:solidFill>
              </a:rPr>
              <a:t>and log this </a:t>
            </a:r>
            <a:r>
              <a:rPr lang="en-US" b="1" dirty="0">
                <a:solidFill>
                  <a:srgbClr val="00B050"/>
                </a:solidFill>
              </a:rPr>
              <a:t>in every layer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With tools like </a:t>
            </a:r>
            <a:r>
              <a:rPr lang="en-US" b="1" dirty="0">
                <a:solidFill>
                  <a:srgbClr val="00B0F0"/>
                </a:solidFill>
              </a:rPr>
              <a:t>Splunk</a:t>
            </a:r>
            <a:r>
              <a:rPr lang="en-US" dirty="0">
                <a:solidFill>
                  <a:schemeClr val="tx1"/>
                </a:solidFill>
              </a:rPr>
              <a:t>, you can follow the user interaction through the </a:t>
            </a:r>
            <a:r>
              <a:rPr lang="en-US" b="1" dirty="0">
                <a:solidFill>
                  <a:srgbClr val="00B0F0"/>
                </a:solidFill>
              </a:rPr>
              <a:t>whole system</a:t>
            </a:r>
          </a:p>
        </p:txBody>
      </p:sp>
    </p:spTree>
    <p:extLst>
      <p:ext uri="{BB962C8B-B14F-4D97-AF65-F5344CB8AC3E}">
        <p14:creationId xmlns:p14="http://schemas.microsoft.com/office/powerpoint/2010/main" val="4229914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2955753" cy="589721"/>
          </a:xfrm>
        </p:spPr>
        <p:txBody>
          <a:bodyPr/>
          <a:lstStyle/>
          <a:p>
            <a:r>
              <a:rPr lang="en-US" dirty="0" err="1"/>
              <a:t>Splunk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435" y="1760018"/>
            <a:ext cx="8402610" cy="4579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Logfile analysis: https://www.youtube.com/watch?v=oxZHUg7H3kw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Splunk Web Server Not Starting – UnBrick.I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559" y="2217989"/>
            <a:ext cx="8191360" cy="42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3C7B7F-3339-9A30-5DEA-49B6ED21B2C3}"/>
              </a:ext>
            </a:extLst>
          </p:cNvPr>
          <p:cNvSpPr/>
          <p:nvPr/>
        </p:nvSpPr>
        <p:spPr>
          <a:xfrm>
            <a:off x="8602578" y="4756484"/>
            <a:ext cx="1515979" cy="1163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7F030-2FE1-06A5-EFFA-4B6A974C4844}"/>
              </a:ext>
            </a:extLst>
          </p:cNvPr>
          <p:cNvSpPr/>
          <p:nvPr/>
        </p:nvSpPr>
        <p:spPr>
          <a:xfrm>
            <a:off x="9268326" y="5446294"/>
            <a:ext cx="850232" cy="1163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CB959-268E-51F2-E5E6-19963FC8B880}"/>
              </a:ext>
            </a:extLst>
          </p:cNvPr>
          <p:cNvSpPr/>
          <p:nvPr/>
        </p:nvSpPr>
        <p:spPr>
          <a:xfrm>
            <a:off x="5173579" y="5586660"/>
            <a:ext cx="681789" cy="1203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45399-CE5C-98CD-D18D-3D474D6E5D32}"/>
              </a:ext>
            </a:extLst>
          </p:cNvPr>
          <p:cNvSpPr/>
          <p:nvPr/>
        </p:nvSpPr>
        <p:spPr>
          <a:xfrm>
            <a:off x="5626768" y="6268450"/>
            <a:ext cx="1532021" cy="1203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FF3BB7-524B-C811-685A-8D33C403E23B}"/>
              </a:ext>
            </a:extLst>
          </p:cNvPr>
          <p:cNvSpPr/>
          <p:nvPr/>
        </p:nvSpPr>
        <p:spPr>
          <a:xfrm>
            <a:off x="2088688" y="3497179"/>
            <a:ext cx="8029869" cy="5399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11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Logging with Log4j</a:t>
            </a:r>
          </a:p>
        </p:txBody>
      </p:sp>
    </p:spTree>
    <p:extLst>
      <p:ext uri="{BB962C8B-B14F-4D97-AF65-F5344CB8AC3E}">
        <p14:creationId xmlns:p14="http://schemas.microsoft.com/office/powerpoint/2010/main" val="494098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1648889" cy="642319"/>
          </a:xfrm>
        </p:spPr>
        <p:txBody>
          <a:bodyPr/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Log4j: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Log4j version 1.0 release 1999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Apache license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Was the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original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logging tool which </a:t>
            </a:r>
            <a:r>
              <a:rPr lang="en-US" b="1" dirty="0">
                <a:solidFill>
                  <a:srgbClr val="00B050"/>
                </a:solidFill>
              </a:rPr>
              <a:t>everyone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used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 many libs/jars integrated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981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EC2EB-CA91-9F7E-FA90-5F468154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D01C-3878-A29F-2CA4-1CF385B9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3855617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Log4j </a:t>
            </a:r>
            <a:r>
              <a:rPr lang="en-US" dirty="0">
                <a:solidFill>
                  <a:srgbClr val="FF0000"/>
                </a:solidFill>
              </a:rPr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C7E07-2377-9EC1-39FE-36464A8DF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2021 Vulnerability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Version 2.16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Version 2.17 fixed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Version 2.24 Nov 2024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Log4j: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was everywhere!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717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F1E10-87F4-AABE-8368-68523CDB1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8E9D-4249-CF4E-DD7D-870289358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3957217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Log4j </a:t>
            </a:r>
            <a:r>
              <a:rPr lang="en-US" dirty="0">
                <a:solidFill>
                  <a:srgbClr val="FF0000"/>
                </a:solidFill>
              </a:rPr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4ADA-BB74-B1E8-1603-51E5379F2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Attackers can:</a:t>
            </a:r>
          </a:p>
          <a:p>
            <a:r>
              <a:rPr lang="en-US" dirty="0">
                <a:solidFill>
                  <a:schemeClr val="tx1"/>
                </a:solidFill>
              </a:rPr>
              <a:t>Log4shell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Break into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Steal passwords and logins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Extract data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Infect networks with malicious software.</a:t>
            </a:r>
          </a:p>
        </p:txBody>
      </p:sp>
    </p:spTree>
    <p:extLst>
      <p:ext uri="{BB962C8B-B14F-4D97-AF65-F5344CB8AC3E}">
        <p14:creationId xmlns:p14="http://schemas.microsoft.com/office/powerpoint/2010/main" val="280254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1567969" cy="642319"/>
          </a:xfrm>
        </p:spPr>
        <p:txBody>
          <a:bodyPr>
            <a:normAutofit/>
          </a:bodyPr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For professional software development: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FATAL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ERROR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WARN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INFO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3062259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FATAL: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FATAL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like ERROR, a serious problem.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 will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see it on a </a:t>
            </a:r>
            <a:r>
              <a:rPr lang="en-US" b="1" dirty="0">
                <a:solidFill>
                  <a:srgbClr val="FF0000"/>
                </a:solidFill>
              </a:rPr>
              <a:t>normal day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it appear, it signals very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bad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news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Application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death</a:t>
            </a:r>
            <a:r>
              <a:rPr lang="en-US" dirty="0"/>
              <a:t>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36516" y="785925"/>
            <a:ext cx="1648889" cy="6423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Log4j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266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/>
          </a:bodyPr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ERROR: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serious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problem needs to be </a:t>
            </a:r>
            <a:r>
              <a:rPr lang="en-US" b="1" dirty="0">
                <a:solidFill>
                  <a:schemeClr val="tx1"/>
                </a:solidFill>
              </a:rPr>
              <a:t>investigated</a:t>
            </a:r>
            <a:r>
              <a:rPr lang="en-US" dirty="0">
                <a:solidFill>
                  <a:schemeClr val="tx1"/>
                </a:solidFill>
              </a:rPr>
              <a:t> immediately.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Not as serious as FATAL, but still a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problem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Your application has met an </a:t>
            </a:r>
            <a:r>
              <a:rPr lang="en-US" b="1" dirty="0">
                <a:solidFill>
                  <a:srgbClr val="FF0000"/>
                </a:solidFill>
              </a:rPr>
              <a:t>undesired state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032189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/>
          </a:bodyPr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WARN: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might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have a problem and there is an </a:t>
            </a:r>
            <a:r>
              <a:rPr lang="en-US" b="1" dirty="0">
                <a:solidFill>
                  <a:srgbClr val="00B0F0"/>
                </a:solidFill>
              </a:rPr>
              <a:t>unusual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situation.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 were invoking a service, and it failed (a couple of times).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Unexpected and </a:t>
            </a:r>
            <a:r>
              <a:rPr lang="en-US" b="1" dirty="0">
                <a:solidFill>
                  <a:srgbClr val="00B0F0"/>
                </a:solidFill>
              </a:rPr>
              <a:t>unusual</a:t>
            </a:r>
            <a:r>
              <a:rPr lang="en-US" dirty="0">
                <a:solidFill>
                  <a:schemeClr val="tx1"/>
                </a:solidFill>
              </a:rPr>
              <a:t>, but </a:t>
            </a:r>
            <a:r>
              <a:rPr lang="en-US" b="1" dirty="0">
                <a:solidFill>
                  <a:srgbClr val="00B0F0"/>
                </a:solidFill>
              </a:rPr>
              <a:t>no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real harm.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Unknown if this issue will </a:t>
            </a:r>
            <a:r>
              <a:rPr lang="en-US" b="1" dirty="0">
                <a:solidFill>
                  <a:srgbClr val="00B0F0"/>
                </a:solidFill>
              </a:rPr>
              <a:t>persist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or recur. </a:t>
            </a:r>
          </a:p>
        </p:txBody>
      </p:sp>
    </p:spTree>
    <p:extLst>
      <p:ext uri="{BB962C8B-B14F-4D97-AF65-F5344CB8AC3E}">
        <p14:creationId xmlns:p14="http://schemas.microsoft.com/office/powerpoint/2010/main" val="2375588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/>
          </a:bodyPr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INFO: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Record messages about </a:t>
            </a:r>
            <a:r>
              <a:rPr lang="en-US" b="1" dirty="0">
                <a:solidFill>
                  <a:srgbClr val="00B050"/>
                </a:solidFill>
              </a:rPr>
              <a:t>routine stuff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System administrators </a:t>
            </a:r>
            <a:r>
              <a:rPr lang="en-US" b="1" dirty="0">
                <a:solidFill>
                  <a:srgbClr val="00B050"/>
                </a:solidFill>
              </a:rPr>
              <a:t>watch in real-time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info logs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And if there is </a:t>
            </a:r>
            <a:r>
              <a:rPr lang="en-US" b="1" dirty="0">
                <a:solidFill>
                  <a:srgbClr val="FF0000"/>
                </a:solidFill>
              </a:rPr>
              <a:t>any problem </a:t>
            </a:r>
            <a:r>
              <a:rPr lang="en-US" dirty="0">
                <a:solidFill>
                  <a:schemeClr val="tx1"/>
                </a:solidFill>
              </a:rPr>
              <a:t>in the normal flow.</a:t>
            </a:r>
          </a:p>
        </p:txBody>
      </p:sp>
    </p:spTree>
    <p:extLst>
      <p:ext uri="{BB962C8B-B14F-4D97-AF65-F5344CB8AC3E}">
        <p14:creationId xmlns:p14="http://schemas.microsoft.com/office/powerpoint/2010/main" val="1100428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335445" cy="642319"/>
          </a:xfrm>
        </p:spPr>
        <p:txBody>
          <a:bodyPr>
            <a:normAutofit/>
          </a:bodyPr>
          <a:lstStyle/>
          <a:p>
            <a:r>
              <a:rPr lang="en-US" dirty="0"/>
              <a:t>Log4j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DEBUG: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Debugging the application </a:t>
            </a:r>
            <a:r>
              <a:rPr lang="en-US" b="1" dirty="0">
                <a:solidFill>
                  <a:srgbClr val="00B050"/>
                </a:solidFill>
              </a:rPr>
              <a:t>at development </a:t>
            </a:r>
            <a:r>
              <a:rPr lang="en-US" dirty="0">
                <a:solidFill>
                  <a:schemeClr val="tx1"/>
                </a:solidFill>
              </a:rPr>
              <a:t>time.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lot of log message will appear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 basically belongs to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developers</a:t>
            </a:r>
          </a:p>
        </p:txBody>
      </p:sp>
    </p:spTree>
    <p:extLst>
      <p:ext uri="{BB962C8B-B14F-4D97-AF65-F5344CB8AC3E}">
        <p14:creationId xmlns:p14="http://schemas.microsoft.com/office/powerpoint/2010/main" val="1562862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cs typeface="Courier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Log4j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61" y="2174405"/>
            <a:ext cx="8598680" cy="44610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528" y="3259642"/>
            <a:ext cx="2389477" cy="1997581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8587733" y="3963749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98138" y="3867993"/>
            <a:ext cx="1416106" cy="153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76390" y="3498661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Loggings string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746612" y="3673784"/>
            <a:ext cx="1529778" cy="230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524082" y="4156611"/>
            <a:ext cx="299405" cy="1645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336406" y="3904407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big is a log file</a:t>
            </a:r>
          </a:p>
        </p:txBody>
      </p:sp>
      <p:cxnSp>
        <p:nvCxnSpPr>
          <p:cNvPr id="13" name="Straight Arrow Connector 12"/>
          <p:cNvCxnSpPr>
            <a:stCxn id="12" idx="1"/>
            <a:endCxn id="11" idx="3"/>
          </p:cNvCxnSpPr>
          <p:nvPr/>
        </p:nvCxnSpPr>
        <p:spPr>
          <a:xfrm flipH="1">
            <a:off x="3823487" y="4089073"/>
            <a:ext cx="1512919" cy="149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763616" y="3601059"/>
            <a:ext cx="1829183" cy="132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218397" y="2651867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Naming convention for old logfiles</a:t>
            </a:r>
          </a:p>
        </p:txBody>
      </p:sp>
      <p:cxnSp>
        <p:nvCxnSpPr>
          <p:cNvPr id="18" name="Straight Arrow Connector 17"/>
          <p:cNvCxnSpPr>
            <a:stCxn id="17" idx="1"/>
          </p:cNvCxnSpPr>
          <p:nvPr/>
        </p:nvCxnSpPr>
        <p:spPr>
          <a:xfrm flipH="1">
            <a:off x="4030300" y="2836533"/>
            <a:ext cx="1188097" cy="732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32715" y="1867075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Folder where to put all </a:t>
            </a:r>
            <a:r>
              <a:rPr lang="en-US" dirty="0" err="1"/>
              <a:t>logfiles</a:t>
            </a:r>
            <a:endParaRPr lang="en-US" dirty="0"/>
          </a:p>
        </p:txBody>
      </p:sp>
      <p:cxnSp>
        <p:nvCxnSpPr>
          <p:cNvPr id="22" name="Straight Arrow Connector 21"/>
          <p:cNvCxnSpPr>
            <a:stCxn id="21" idx="1"/>
          </p:cNvCxnSpPr>
          <p:nvPr/>
        </p:nvCxnSpPr>
        <p:spPr>
          <a:xfrm flipH="1">
            <a:off x="3163986" y="2051741"/>
            <a:ext cx="968729" cy="835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1" idx="3"/>
          </p:cNvCxnSpPr>
          <p:nvPr/>
        </p:nvCxnSpPr>
        <p:spPr>
          <a:xfrm>
            <a:off x="7382323" y="2051741"/>
            <a:ext cx="2522328" cy="1615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483620" y="5428062"/>
            <a:ext cx="2322415" cy="339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54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Log4j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4FC96D-82A3-FD11-8C84-757CF570AB3A}"/>
              </a:ext>
            </a:extLst>
          </p:cNvPr>
          <p:cNvSpPr txBox="1">
            <a:spLocks/>
          </p:cNvSpPr>
          <p:nvPr/>
        </p:nvSpPr>
        <p:spPr>
          <a:xfrm>
            <a:off x="936516" y="22672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CSEN160_08_Miscellaneous.I_Log4J.MainExecutorOld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0EB80-372B-681B-D3C1-ABBCE941A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576" y="1533281"/>
            <a:ext cx="6098444" cy="455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69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Logging with JUL</a:t>
            </a:r>
            <a:br>
              <a:rPr lang="en-US" altLang="en-US" dirty="0"/>
            </a:br>
            <a:r>
              <a:rPr lang="en-US" altLang="en-US" sz="4000" dirty="0"/>
              <a:t>(</a:t>
            </a:r>
            <a:r>
              <a:rPr lang="en-US" altLang="en-US" sz="4000" dirty="0" err="1"/>
              <a:t>java.util.logging</a:t>
            </a:r>
            <a:r>
              <a:rPr lang="en-US" altLang="en-US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8315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Java.util.logging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SEVERE (highest value)</a:t>
            </a:r>
          </a:p>
          <a:p>
            <a:r>
              <a:rPr lang="en-US" dirty="0">
                <a:solidFill>
                  <a:schemeClr val="tx1"/>
                </a:solidFill>
              </a:rPr>
              <a:t>WARNING</a:t>
            </a:r>
          </a:p>
          <a:p>
            <a:r>
              <a:rPr lang="en-US" dirty="0">
                <a:solidFill>
                  <a:schemeClr val="tx1"/>
                </a:solidFill>
              </a:rPr>
              <a:t>INFO</a:t>
            </a:r>
          </a:p>
          <a:p>
            <a:r>
              <a:rPr lang="en-US" dirty="0">
                <a:solidFill>
                  <a:schemeClr val="tx1"/>
                </a:solidFill>
              </a:rPr>
              <a:t>CONFIG</a:t>
            </a:r>
          </a:p>
          <a:p>
            <a:r>
              <a:rPr lang="en-US" dirty="0">
                <a:solidFill>
                  <a:schemeClr val="tx1"/>
                </a:solidFill>
              </a:rPr>
              <a:t>FINE</a:t>
            </a:r>
          </a:p>
          <a:p>
            <a:r>
              <a:rPr lang="en-US" dirty="0">
                <a:solidFill>
                  <a:schemeClr val="tx1"/>
                </a:solidFill>
              </a:rPr>
              <a:t>FINER</a:t>
            </a:r>
          </a:p>
          <a:p>
            <a:r>
              <a:rPr lang="en-US" dirty="0">
                <a:solidFill>
                  <a:schemeClr val="tx1"/>
                </a:solidFill>
              </a:rPr>
              <a:t>FINEST (lowest value)</a:t>
            </a:r>
          </a:p>
        </p:txBody>
      </p:sp>
    </p:spTree>
    <p:extLst>
      <p:ext uri="{BB962C8B-B14F-4D97-AF65-F5344CB8AC3E}">
        <p14:creationId xmlns:p14="http://schemas.microsoft.com/office/powerpoint/2010/main" val="38881865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SEVERE (highest value):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SEVERE a </a:t>
            </a:r>
            <a:r>
              <a:rPr lang="en-US" b="1" dirty="0">
                <a:solidFill>
                  <a:srgbClr val="FF0000"/>
                </a:solidFill>
              </a:rPr>
              <a:t>serious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failure.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 general, SEVERE messages are </a:t>
            </a:r>
            <a:r>
              <a:rPr lang="en-US" b="1" dirty="0">
                <a:solidFill>
                  <a:srgbClr val="FF0000"/>
                </a:solidFill>
              </a:rPr>
              <a:t>important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They should be simple to understand (to everyone)</a:t>
            </a:r>
          </a:p>
        </p:txBody>
      </p:sp>
    </p:spTree>
    <p:extLst>
      <p:ext uri="{BB962C8B-B14F-4D97-AF65-F5344CB8AC3E}">
        <p14:creationId xmlns:p14="http://schemas.microsoft.com/office/powerpoint/2010/main" val="40361464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WARNING: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WARNING a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potential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problem.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WARNING is of interest to the end users or system managers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Or which indicate potential problems.</a:t>
            </a:r>
          </a:p>
        </p:txBody>
      </p:sp>
    </p:spTree>
    <p:extLst>
      <p:ext uri="{BB962C8B-B14F-4D97-AF65-F5344CB8AC3E}">
        <p14:creationId xmlns:p14="http://schemas.microsoft.com/office/powerpoint/2010/main" val="3284348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INFO: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For informational messages.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Typically, INFO messages will be written to the console or its equivalent.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So, the INFO level should only be used for reasonably significant messages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(end users and system administrators). </a:t>
            </a:r>
          </a:p>
        </p:txBody>
      </p:sp>
    </p:spTree>
    <p:extLst>
      <p:ext uri="{BB962C8B-B14F-4D97-AF65-F5344CB8AC3E}">
        <p14:creationId xmlns:p14="http://schemas.microsoft.com/office/powerpoint/2010/main" val="35542101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CONFIG:</a:t>
            </a:r>
          </a:p>
          <a:p>
            <a:r>
              <a:rPr lang="en-US" dirty="0">
                <a:solidFill>
                  <a:schemeClr val="tx1"/>
                </a:solidFill>
              </a:rPr>
              <a:t>CONFIG for static configuration messages.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CONFIG intended to provide a variety of static </a:t>
            </a:r>
            <a:r>
              <a:rPr lang="en-US" dirty="0" err="1">
                <a:solidFill>
                  <a:schemeClr val="tx1"/>
                </a:solidFill>
              </a:rPr>
              <a:t>config</a:t>
            </a:r>
            <a:r>
              <a:rPr lang="en-US" dirty="0">
                <a:solidFill>
                  <a:schemeClr val="tx1"/>
                </a:solidFill>
              </a:rPr>
              <a:t> information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b="1" dirty="0">
                <a:solidFill>
                  <a:srgbClr val="00B050"/>
                </a:solidFill>
              </a:rPr>
              <a:t>assist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 debugging problems with particular configurations.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Examples: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CPU type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GPU + graphics mode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GUI look-and-feel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2982931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FINE:</a:t>
            </a:r>
          </a:p>
          <a:p>
            <a:r>
              <a:rPr lang="en-US" dirty="0">
                <a:solidFill>
                  <a:schemeClr val="tx1"/>
                </a:solidFill>
              </a:rPr>
              <a:t>FINE providing tracing information.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All of FINE, FINER, and FINEST are intended for relatively </a:t>
            </a:r>
            <a:r>
              <a:rPr lang="en-US" b="1" dirty="0">
                <a:solidFill>
                  <a:srgbClr val="00B050"/>
                </a:solidFill>
              </a:rPr>
              <a:t>detailed tracing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The exact meaning of the three levels will vary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FINEST be used for the most voluminous detailed output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FINER for somewhat less detailed output</a:t>
            </a:r>
          </a:p>
        </p:txBody>
      </p:sp>
    </p:spTree>
    <p:extLst>
      <p:ext uri="{BB962C8B-B14F-4D97-AF65-F5344CB8AC3E}">
        <p14:creationId xmlns:p14="http://schemas.microsoft.com/office/powerpoint/2010/main" val="4949630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FINE cont.: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 for the lowest most important messages.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 that will be interesting to developers.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 messages might include </a:t>
            </a:r>
            <a:r>
              <a:rPr lang="en-US" b="1" dirty="0">
                <a:solidFill>
                  <a:srgbClr val="FF0000"/>
                </a:solidFill>
              </a:rPr>
              <a:t>minor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failures.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Potential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performance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problems. </a:t>
            </a:r>
          </a:p>
        </p:txBody>
      </p:sp>
    </p:spTree>
    <p:extLst>
      <p:ext uri="{BB962C8B-B14F-4D97-AF65-F5344CB8AC3E}">
        <p14:creationId xmlns:p14="http://schemas.microsoft.com/office/powerpoint/2010/main" val="3460919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FINER: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FINER a fairly </a:t>
            </a:r>
            <a:r>
              <a:rPr lang="en-US" b="1" dirty="0">
                <a:solidFill>
                  <a:srgbClr val="00B050"/>
                </a:solidFill>
              </a:rPr>
              <a:t>detailed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tracing message.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By default, logging calls for: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Entering a function …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Returning from a function …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throwing an exception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Are traced at this level. </a:t>
            </a:r>
          </a:p>
        </p:txBody>
      </p:sp>
    </p:spTree>
    <p:extLst>
      <p:ext uri="{BB962C8B-B14F-4D97-AF65-F5344CB8AC3E}">
        <p14:creationId xmlns:p14="http://schemas.microsoft.com/office/powerpoint/2010/main" val="11257118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FINEST (lowest value):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FINEST indicates a highly detailed tracing message. </a:t>
            </a:r>
          </a:p>
        </p:txBody>
      </p:sp>
    </p:spTree>
    <p:extLst>
      <p:ext uri="{BB962C8B-B14F-4D97-AF65-F5344CB8AC3E}">
        <p14:creationId xmlns:p14="http://schemas.microsoft.com/office/powerpoint/2010/main" val="32473948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Configuration: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23" y="2456554"/>
            <a:ext cx="6390081" cy="2139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182" y="2456554"/>
            <a:ext cx="2008467" cy="213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048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86" y="1428244"/>
            <a:ext cx="8474750" cy="51327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2931477" cy="642319"/>
          </a:xfrm>
        </p:spPr>
        <p:txBody>
          <a:bodyPr/>
          <a:lstStyle/>
          <a:p>
            <a:r>
              <a:rPr lang="en-US" dirty="0"/>
              <a:t>JUL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Setup: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575" y="3795165"/>
            <a:ext cx="4288779" cy="687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18687" y="2713531"/>
            <a:ext cx="6191755" cy="405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52D487-3594-78C6-3E3E-3894F1B41821}"/>
              </a:ext>
            </a:extLst>
          </p:cNvPr>
          <p:cNvSpPr txBox="1">
            <a:spLocks/>
          </p:cNvSpPr>
          <p:nvPr/>
        </p:nvSpPr>
        <p:spPr>
          <a:xfrm>
            <a:off x="1104958" y="42228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CSEN160_08_Miscellaneous.J_JUL.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JULExample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05079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JUL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248E8FC-674F-766E-4CE4-963D0FAFFC5C}"/>
              </a:ext>
            </a:extLst>
          </p:cNvPr>
          <p:cNvSpPr txBox="1">
            <a:spLocks/>
          </p:cNvSpPr>
          <p:nvPr/>
        </p:nvSpPr>
        <p:spPr>
          <a:xfrm>
            <a:off x="936516" y="22672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CSEN160_08_Miscellaneous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.</a:t>
            </a:r>
            <a:r>
              <a:rPr lang="en-US" dirty="0">
                <a:solidFill>
                  <a:srgbClr val="FF0000"/>
                </a:solidFill>
                <a:latin typeface="Arial" panose="020B0604020202020204"/>
              </a:rPr>
              <a:t>J_JUL.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JULExample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7CF6B-34D2-4422-6E08-5B6753AE2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24" y="1383635"/>
            <a:ext cx="7600941" cy="50963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31568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1461</TotalTime>
  <Words>1656</Words>
  <Application>Microsoft Office PowerPoint</Application>
  <PresentationFormat>Widescreen</PresentationFormat>
  <Paragraphs>423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Arial Narrow</vt:lpstr>
      <vt:lpstr>Calibri</vt:lpstr>
      <vt:lpstr>Courier</vt:lpstr>
      <vt:lpstr>Garamond</vt:lpstr>
      <vt:lpstr>SCUTemplate</vt:lpstr>
      <vt:lpstr>Custom Design</vt:lpstr>
      <vt:lpstr>1_SCUTemplate</vt:lpstr>
      <vt:lpstr>CSEN160</vt:lpstr>
      <vt:lpstr>Extreme Programming (XP) Test Driven Development (TDD)</vt:lpstr>
      <vt:lpstr>Extreme Programming (XP)</vt:lpstr>
      <vt:lpstr>Test Driven Development</vt:lpstr>
      <vt:lpstr>Test Driven Development</vt:lpstr>
      <vt:lpstr>Test Driven Development</vt:lpstr>
      <vt:lpstr>Test Driven Development</vt:lpstr>
      <vt:lpstr>Test Driven Development</vt:lpstr>
      <vt:lpstr>Test Driven Development</vt:lpstr>
      <vt:lpstr>Test Driven Development</vt:lpstr>
      <vt:lpstr>Test Driven Development</vt:lpstr>
      <vt:lpstr>Test Driven Development</vt:lpstr>
      <vt:lpstr>JUnit</vt:lpstr>
      <vt:lpstr>JUnit</vt:lpstr>
      <vt:lpstr>JUnit</vt:lpstr>
      <vt:lpstr>JUnit</vt:lpstr>
      <vt:lpstr>JUnit</vt:lpstr>
      <vt:lpstr>JUnit</vt:lpstr>
      <vt:lpstr>JUnit</vt:lpstr>
      <vt:lpstr>PowerPoint Presentation</vt:lpstr>
      <vt:lpstr>Logging in General</vt:lpstr>
      <vt:lpstr>Logging in General</vt:lpstr>
      <vt:lpstr>Logging in General</vt:lpstr>
      <vt:lpstr>Logging in General</vt:lpstr>
      <vt:lpstr>Logging in General</vt:lpstr>
      <vt:lpstr>Logging in General</vt:lpstr>
      <vt:lpstr>Logging in General</vt:lpstr>
      <vt:lpstr>Splunk</vt:lpstr>
      <vt:lpstr>Logging with Log4j</vt:lpstr>
      <vt:lpstr>Log4j</vt:lpstr>
      <vt:lpstr>Log4j Vulnerability</vt:lpstr>
      <vt:lpstr>Log4j Vulnerability</vt:lpstr>
      <vt:lpstr>Log4j</vt:lpstr>
      <vt:lpstr>PowerPoint Presentation</vt:lpstr>
      <vt:lpstr>Log4j</vt:lpstr>
      <vt:lpstr>Log4j</vt:lpstr>
      <vt:lpstr>Log4j</vt:lpstr>
      <vt:lpstr>Log4j</vt:lpstr>
      <vt:lpstr>PowerPoint Presentation</vt:lpstr>
      <vt:lpstr>PowerPoint Presentation</vt:lpstr>
      <vt:lpstr>Logging with JUL (java.util.logging)</vt:lpstr>
      <vt:lpstr>JUL</vt:lpstr>
      <vt:lpstr>JUL</vt:lpstr>
      <vt:lpstr>JUL</vt:lpstr>
      <vt:lpstr>JUL</vt:lpstr>
      <vt:lpstr>JUL</vt:lpstr>
      <vt:lpstr>JUL</vt:lpstr>
      <vt:lpstr>JUL</vt:lpstr>
      <vt:lpstr>JUL</vt:lpstr>
      <vt:lpstr>JUL</vt:lpstr>
      <vt:lpstr>JUL</vt:lpstr>
      <vt:lpstr>JUL</vt:lpstr>
      <vt:lpstr>PowerPoint Presentation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225</cp:revision>
  <cp:lastPrinted>2023-09-11T21:46:56Z</cp:lastPrinted>
  <dcterms:created xsi:type="dcterms:W3CDTF">2023-09-09T19:51:41Z</dcterms:created>
  <dcterms:modified xsi:type="dcterms:W3CDTF">2026-09-22T20:29:28Z</dcterms:modified>
</cp:coreProperties>
</file>