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87" r:id="rId3"/>
  </p:sldMasterIdLst>
  <p:notesMasterIdLst>
    <p:notesMasterId r:id="rId50"/>
  </p:notesMasterIdLst>
  <p:handoutMasterIdLst>
    <p:handoutMasterId r:id="rId51"/>
  </p:handoutMasterIdLst>
  <p:sldIdLst>
    <p:sldId id="333" r:id="rId4"/>
    <p:sldId id="533" r:id="rId5"/>
    <p:sldId id="535" r:id="rId6"/>
    <p:sldId id="534" r:id="rId7"/>
    <p:sldId id="536" r:id="rId8"/>
    <p:sldId id="537" r:id="rId9"/>
    <p:sldId id="539" r:id="rId10"/>
    <p:sldId id="515" r:id="rId11"/>
    <p:sldId id="334" r:id="rId12"/>
    <p:sldId id="494" r:id="rId13"/>
    <p:sldId id="338" r:id="rId14"/>
    <p:sldId id="337" r:id="rId15"/>
    <p:sldId id="339" r:id="rId16"/>
    <p:sldId id="340" r:id="rId17"/>
    <p:sldId id="341" r:id="rId18"/>
    <p:sldId id="342" r:id="rId19"/>
    <p:sldId id="343" r:id="rId20"/>
    <p:sldId id="344" r:id="rId21"/>
    <p:sldId id="513" r:id="rId22"/>
    <p:sldId id="510" r:id="rId23"/>
    <p:sldId id="514" r:id="rId24"/>
    <p:sldId id="349" r:id="rId25"/>
    <p:sldId id="516" r:id="rId26"/>
    <p:sldId id="353" r:id="rId27"/>
    <p:sldId id="517" r:id="rId28"/>
    <p:sldId id="336" r:id="rId29"/>
    <p:sldId id="495" r:id="rId30"/>
    <p:sldId id="356" r:id="rId31"/>
    <p:sldId id="358" r:id="rId32"/>
    <p:sldId id="518" r:id="rId33"/>
    <p:sldId id="359" r:id="rId34"/>
    <p:sldId id="360" r:id="rId35"/>
    <p:sldId id="361" r:id="rId36"/>
    <p:sldId id="362" r:id="rId37"/>
    <p:sldId id="519" r:id="rId38"/>
    <p:sldId id="512" r:id="rId39"/>
    <p:sldId id="380" r:id="rId40"/>
    <p:sldId id="381" r:id="rId41"/>
    <p:sldId id="382" r:id="rId42"/>
    <p:sldId id="383" r:id="rId43"/>
    <p:sldId id="524" r:id="rId44"/>
    <p:sldId id="385" r:id="rId45"/>
    <p:sldId id="387" r:id="rId46"/>
    <p:sldId id="538" r:id="rId47"/>
    <p:sldId id="391" r:id="rId48"/>
    <p:sldId id="509" r:id="rId49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500" y="10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8" Type="http://schemas.openxmlformats.org/officeDocument/2006/relationships/slide" Target="slides/slide5.xml"/><Relationship Id="rId51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E08D3D-29BF-4237-9347-F5FF1693C112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5189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E08D3D-29BF-4237-9347-F5FF1693C112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430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008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4435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9839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7919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4304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8934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7763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3113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3305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2113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6587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5413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943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30395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75687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57994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955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8971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B289B0-9BEC-4093-861C-76154CD68B5D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9/22/2026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136E94-7335-4773-A64D-0D46B1CA62E8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24494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DB6411-0E39-42F4-931D-72C131D52666}" type="datetime1">
              <a:rPr lang="en-US"/>
              <a:pPr>
                <a:defRPr/>
              </a:pPr>
              <a:t>9/22/2026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JDBC, Part I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A360DF-D743-46E5-BB61-FF978B71A24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2365811"/>
      </p:ext>
    </p:extLst>
  </p:cSld>
  <p:clrMapOvr>
    <a:masterClrMapping/>
  </p:clrMapOvr>
  <p:transition>
    <p:wipe/>
    <p:sndAc>
      <p:stSnd>
        <p:snd r:embed="rId1" name="camera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1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37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2" r:id="rId13"/>
    <p:sldLayoutId id="2147483685" r:id="rId14"/>
    <p:sldLayoutId id="2147483686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20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  <p:sldLayoutId id="2147483705" r:id="rId18"/>
    <p:sldLayoutId id="2147483707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317890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r>
              <a:rPr lang="en-US" dirty="0">
                <a:solidFill>
                  <a:schemeClr val="tx1"/>
                </a:solidFill>
              </a:rPr>
              <a:t>Object-Oriented Analysis, Design and Programming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Michael Schimpf, PhD, mschimpf@scu.edu</a:t>
            </a:r>
          </a:p>
          <a:p>
            <a:r>
              <a:rPr lang="en-US" dirty="0">
                <a:solidFill>
                  <a:schemeClr val="tx1"/>
                </a:solidFill>
              </a:rPr>
              <a:t>Department of Computer Science and Engineering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CSEN160</a:t>
            </a:r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B0064-B773-ACA9-3222-5CD1CAA07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AC06E696-8BA4-30EF-6C5B-678557B70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Java Persistence API (JPA)</a:t>
            </a:r>
          </a:p>
        </p:txBody>
      </p:sp>
    </p:spTree>
    <p:extLst>
      <p:ext uri="{BB962C8B-B14F-4D97-AF65-F5344CB8AC3E}">
        <p14:creationId xmlns:p14="http://schemas.microsoft.com/office/powerpoint/2010/main" val="4095741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68417-AE7F-487D-6CAD-DD7BCF55A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7D447-91D4-FE63-F28E-C4DE35D13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37373"/>
            <a:ext cx="3421045" cy="674687"/>
          </a:xfrm>
        </p:spPr>
        <p:txBody>
          <a:bodyPr>
            <a:normAutofit/>
          </a:bodyPr>
          <a:lstStyle/>
          <a:p>
            <a:r>
              <a:rPr lang="en-US" dirty="0"/>
              <a:t>JPA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540F933-E088-B586-7165-01D2870F494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36516" y="1749425"/>
            <a:ext cx="10388288" cy="48860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JPA is a Java standard with different implementations: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Hibernate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 err="1">
                <a:solidFill>
                  <a:schemeClr val="tx1"/>
                </a:solidFill>
              </a:rPr>
              <a:t>EclipseLink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Apache </a:t>
            </a:r>
            <a:r>
              <a:rPr lang="en-US" dirty="0" err="1">
                <a:solidFill>
                  <a:schemeClr val="tx1"/>
                </a:solidFill>
              </a:rPr>
              <a:t>OpenJPA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 err="1">
                <a:solidFill>
                  <a:schemeClr val="tx1"/>
                </a:solidFill>
              </a:rPr>
              <a:t>DataNucleus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266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5F389-9D9E-287A-6A08-AE6A1127A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2519C-1700-77A5-769D-6DA9EF7DE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37373"/>
            <a:ext cx="3421045" cy="674687"/>
          </a:xfrm>
        </p:spPr>
        <p:txBody>
          <a:bodyPr>
            <a:normAutofit/>
          </a:bodyPr>
          <a:lstStyle/>
          <a:p>
            <a:r>
              <a:rPr lang="en-US" dirty="0"/>
              <a:t>JPA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2605F32-969E-EC34-5F00-EB83E031794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36516" y="1749425"/>
            <a:ext cx="10388288" cy="4886044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Object Relational-Mapping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Use classes instead of JDBC/SQL commands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As developer: </a:t>
            </a:r>
            <a:r>
              <a:rPr lang="en-US" dirty="0">
                <a:solidFill>
                  <a:schemeClr val="tx1"/>
                </a:solidFill>
              </a:rPr>
              <a:t>Easy to use and saves time </a:t>
            </a:r>
            <a:r>
              <a:rPr lang="en-US" sz="2000" dirty="0">
                <a:solidFill>
                  <a:schemeClr val="tx1"/>
                </a:solidFill>
              </a:rPr>
              <a:t>(</a:t>
            </a:r>
            <a:r>
              <a:rPr lang="en-US" sz="2000" b="1" dirty="0">
                <a:solidFill>
                  <a:srgbClr val="00B050"/>
                </a:solidFill>
              </a:rPr>
              <a:t>addictive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As </a:t>
            </a:r>
            <a:r>
              <a:rPr lang="en-US" b="1" dirty="0" err="1">
                <a:solidFill>
                  <a:srgbClr val="FF0000"/>
                </a:solidFill>
              </a:rPr>
              <a:t>db</a:t>
            </a:r>
            <a:r>
              <a:rPr lang="en-US" b="1" dirty="0">
                <a:solidFill>
                  <a:srgbClr val="FF0000"/>
                </a:solidFill>
              </a:rPr>
              <a:t> admin:</a:t>
            </a:r>
            <a:r>
              <a:rPr lang="en-US" dirty="0">
                <a:solidFill>
                  <a:schemeClr val="tx1"/>
                </a:solidFill>
              </a:rPr>
              <a:t> it is </a:t>
            </a:r>
            <a:r>
              <a:rPr lang="en-US" b="1" dirty="0">
                <a:solidFill>
                  <a:srgbClr val="FF0000"/>
                </a:solidFill>
              </a:rPr>
              <a:t>hard</a:t>
            </a:r>
            <a:r>
              <a:rPr lang="en-US" dirty="0"/>
              <a:t> </a:t>
            </a:r>
            <a:r>
              <a:rPr lang="en-US" sz="2000" dirty="0">
                <a:solidFill>
                  <a:schemeClr val="tx1"/>
                </a:solidFill>
              </a:rPr>
              <a:t>(but they usually like it)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Because of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first and second level cache </a:t>
            </a:r>
            <a:r>
              <a:rPr lang="en-US" dirty="0">
                <a:solidFill>
                  <a:schemeClr val="tx1"/>
                </a:solidFill>
              </a:rPr>
              <a:t>in Hibernate, it speeds up </a:t>
            </a:r>
            <a:r>
              <a:rPr lang="en-US" dirty="0" err="1">
                <a:solidFill>
                  <a:schemeClr val="tx1"/>
                </a:solidFill>
              </a:rPr>
              <a:t>db</a:t>
            </a:r>
            <a:r>
              <a:rPr lang="en-US" dirty="0">
                <a:solidFill>
                  <a:schemeClr val="tx1"/>
                </a:solidFill>
              </a:rPr>
              <a:t> access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339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1FEF2-174A-67D3-A361-1355E96A4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BFBDB-2776-F039-52E1-C7504EC56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37373"/>
            <a:ext cx="3421045" cy="674687"/>
          </a:xfrm>
        </p:spPr>
        <p:txBody>
          <a:bodyPr>
            <a:normAutofit/>
          </a:bodyPr>
          <a:lstStyle/>
          <a:p>
            <a:r>
              <a:rPr lang="en-US" dirty="0"/>
              <a:t>JPA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68BAC8C-4AC1-6BAB-3163-0A3F3030B43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36516" y="1749425"/>
            <a:ext cx="10388288" cy="488604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Hibernate: https://hibernate.org/orm/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524A79-9F60-22F6-83F5-F83426F33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111" y="2513559"/>
            <a:ext cx="8915795" cy="34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333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3F4FF-B405-A8A6-F906-9417A2EA8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AFB80-8CE4-75EE-85B5-A6FDD8074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37373"/>
            <a:ext cx="3421045" cy="674687"/>
          </a:xfrm>
        </p:spPr>
        <p:txBody>
          <a:bodyPr>
            <a:normAutofit/>
          </a:bodyPr>
          <a:lstStyle/>
          <a:p>
            <a:r>
              <a:rPr lang="en-US" dirty="0"/>
              <a:t>JPA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A570304-BAF6-CC80-1D02-923D876B072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36516" y="1749425"/>
            <a:ext cx="10388288" cy="488604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Hibernate: https://hibernate.org/orm/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A85C95-9B59-251B-3DF1-0F5DE81E6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711" y="2216717"/>
            <a:ext cx="7611334" cy="441875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32440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B1516-B0DF-DA73-5A32-D24A5EDCD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E5DA8965-B0B9-3832-40D7-6694FF2B7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Central Database Singleton</a:t>
            </a:r>
          </a:p>
        </p:txBody>
      </p:sp>
    </p:spTree>
    <p:extLst>
      <p:ext uri="{BB962C8B-B14F-4D97-AF65-F5344CB8AC3E}">
        <p14:creationId xmlns:p14="http://schemas.microsoft.com/office/powerpoint/2010/main" val="2283462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7431656-37A1-BE4E-72BE-40706A6B7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1270" y="835231"/>
            <a:ext cx="6292589" cy="579630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37373"/>
            <a:ext cx="6682135" cy="674687"/>
          </a:xfrm>
        </p:spPr>
        <p:txBody>
          <a:bodyPr/>
          <a:lstStyle/>
          <a:p>
            <a:r>
              <a:rPr lang="en-US" dirty="0" err="1"/>
              <a:t>HibernateUtil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193459" y="960921"/>
            <a:ext cx="2088587" cy="1276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714470" y="2475761"/>
            <a:ext cx="3542840" cy="14430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714471" y="4021513"/>
            <a:ext cx="3784304" cy="106508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7404426" y="865267"/>
            <a:ext cx="2929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Singleton Design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4CB45-8134-B84C-EE44-45C085A2352A}"/>
              </a:ext>
            </a:extLst>
          </p:cNvPr>
          <p:cNvSpPr txBox="1">
            <a:spLocks/>
          </p:cNvSpPr>
          <p:nvPr/>
        </p:nvSpPr>
        <p:spPr>
          <a:xfrm>
            <a:off x="936515" y="14205"/>
            <a:ext cx="10337073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</a:rPr>
              <a:t>CSEN160_09_2_JPA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util.HibernateUtil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83447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Java Persistence API (JPA)</a:t>
            </a:r>
            <a:br>
              <a:rPr lang="en-US" altLang="en-US" dirty="0"/>
            </a:br>
            <a:r>
              <a:rPr lang="en-US" altLang="en-US" dirty="0"/>
              <a:t>Entity Classes</a:t>
            </a:r>
          </a:p>
        </p:txBody>
      </p:sp>
    </p:spTree>
    <p:extLst>
      <p:ext uri="{BB962C8B-B14F-4D97-AF65-F5344CB8AC3E}">
        <p14:creationId xmlns:p14="http://schemas.microsoft.com/office/powerpoint/2010/main" val="3873305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29281"/>
            <a:ext cx="2336712" cy="622089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36516" y="1628043"/>
            <a:ext cx="10396380" cy="5003379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Entity Classes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 err="1">
                <a:solidFill>
                  <a:schemeClr val="tx1"/>
                </a:solidFill>
              </a:rPr>
              <a:t>Persistable</a:t>
            </a:r>
            <a:r>
              <a:rPr lang="en-US" sz="2800" dirty="0">
                <a:solidFill>
                  <a:schemeClr val="tx1"/>
                </a:solidFill>
              </a:rPr>
              <a:t> Fields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Annotations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Using JPA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Creating a connection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Working with JPA entities</a:t>
            </a:r>
          </a:p>
          <a:p>
            <a:pPr marL="320040" lvl="1" indent="0">
              <a:buNone/>
            </a:pPr>
            <a:endParaRPr lang="en-US" dirty="0"/>
          </a:p>
          <a:p>
            <a:pPr marL="32004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922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49511"/>
            <a:ext cx="3372493" cy="678733"/>
          </a:xfrm>
        </p:spPr>
        <p:txBody>
          <a:bodyPr/>
          <a:lstStyle/>
          <a:p>
            <a:r>
              <a:rPr lang="en-US" dirty="0"/>
              <a:t>Entity Classes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936516" y="1785839"/>
            <a:ext cx="10384242" cy="4873906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Requirements: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Be a top-level class</a:t>
            </a:r>
          </a:p>
          <a:p>
            <a:pPr marL="45720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Must have a </a:t>
            </a:r>
            <a:r>
              <a:rPr lang="en-US" b="1" dirty="0">
                <a:solidFill>
                  <a:srgbClr val="00B0F0"/>
                </a:solidFill>
              </a:rPr>
              <a:t>public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or</a:t>
            </a:r>
            <a:r>
              <a:rPr lang="en-US" dirty="0"/>
              <a:t> </a:t>
            </a:r>
            <a:r>
              <a:rPr lang="en-US" b="1" dirty="0">
                <a:solidFill>
                  <a:srgbClr val="00B0F0"/>
                </a:solidFill>
              </a:rPr>
              <a:t>protected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constructor with </a:t>
            </a:r>
            <a:r>
              <a:rPr lang="en-US" b="1" dirty="0">
                <a:solidFill>
                  <a:srgbClr val="FF0000"/>
                </a:solidFill>
              </a:rPr>
              <a:t>no arguments</a:t>
            </a:r>
          </a:p>
          <a:p>
            <a:pPr lvl="1"/>
            <a:endParaRPr lang="en-US" dirty="0"/>
          </a:p>
          <a:p>
            <a:pPr lvl="1"/>
            <a:r>
              <a:rPr lang="en-US" dirty="0">
                <a:solidFill>
                  <a:schemeClr val="tx1"/>
                </a:solidFill>
              </a:rPr>
              <a:t>Class cannot be </a:t>
            </a:r>
            <a:r>
              <a:rPr lang="en-US" b="1" dirty="0">
                <a:solidFill>
                  <a:srgbClr val="FF0000"/>
                </a:solidFill>
              </a:rPr>
              <a:t>final</a:t>
            </a:r>
          </a:p>
          <a:p>
            <a:pPr lvl="1"/>
            <a:endParaRPr lang="en-US" dirty="0"/>
          </a:p>
          <a:p>
            <a:pPr lvl="1"/>
            <a:r>
              <a:rPr lang="en-US" dirty="0">
                <a:solidFill>
                  <a:schemeClr val="tx1"/>
                </a:solidFill>
              </a:rPr>
              <a:t>Cannot have </a:t>
            </a:r>
            <a:r>
              <a:rPr lang="en-US" b="1" dirty="0">
                <a:solidFill>
                  <a:srgbClr val="FF0000"/>
                </a:solidFill>
              </a:rPr>
              <a:t>final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methods and </a:t>
            </a:r>
            <a:r>
              <a:rPr lang="en-US" b="1" dirty="0">
                <a:solidFill>
                  <a:srgbClr val="FF0000"/>
                </a:solidFill>
              </a:rPr>
              <a:t>final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variables</a:t>
            </a:r>
          </a:p>
        </p:txBody>
      </p:sp>
    </p:spTree>
    <p:extLst>
      <p:ext uri="{BB962C8B-B14F-4D97-AF65-F5344CB8AC3E}">
        <p14:creationId xmlns:p14="http://schemas.microsoft.com/office/powerpoint/2010/main" val="3911850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41419"/>
            <a:ext cx="2988121" cy="601859"/>
          </a:xfrm>
        </p:spPr>
        <p:txBody>
          <a:bodyPr/>
          <a:lstStyle/>
          <a:p>
            <a:r>
              <a:rPr lang="en-US" dirty="0"/>
              <a:t>Entity Class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936516" y="1678639"/>
            <a:ext cx="10388288" cy="496896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User defined class which can be stored in the </a:t>
            </a:r>
            <a:r>
              <a:rPr lang="en-US" b="1" dirty="0">
                <a:solidFill>
                  <a:srgbClr val="92D050"/>
                </a:solidFill>
              </a:rPr>
              <a:t>database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Declared using @Entity annotation.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Example:	</a:t>
            </a:r>
          </a:p>
        </p:txBody>
      </p:sp>
      <p:sp>
        <p:nvSpPr>
          <p:cNvPr id="6" name="Rectangle 5"/>
          <p:cNvSpPr/>
          <p:nvPr/>
        </p:nvSpPr>
        <p:spPr>
          <a:xfrm>
            <a:off x="1257637" y="3951810"/>
            <a:ext cx="5334000" cy="1938992"/>
          </a:xfrm>
          <a:prstGeom prst="rect">
            <a:avLst/>
          </a:prstGeom>
          <a:solidFill>
            <a:srgbClr val="F6F6DC"/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latin typeface="Courier"/>
                <a:cs typeface="Courier"/>
              </a:rPr>
              <a:t>import </a:t>
            </a:r>
            <a:r>
              <a:rPr lang="en-US" sz="2000" dirty="0" err="1">
                <a:latin typeface="Courier"/>
                <a:cs typeface="Courier"/>
              </a:rPr>
              <a:t>javax.persistence.Entity</a:t>
            </a:r>
            <a:r>
              <a:rPr lang="en-US" sz="2000" dirty="0">
                <a:latin typeface="Courier"/>
                <a:cs typeface="Courier"/>
              </a:rPr>
              <a:t>;</a:t>
            </a:r>
          </a:p>
          <a:p>
            <a:endParaRPr lang="en-US" sz="2000" dirty="0">
              <a:latin typeface="Courier"/>
              <a:cs typeface="Courier"/>
            </a:endParaRPr>
          </a:p>
          <a:p>
            <a:r>
              <a:rPr lang="en-US" sz="2000" dirty="0">
                <a:latin typeface="Courier"/>
                <a:cs typeface="Courier"/>
              </a:rPr>
              <a:t>@Entity(name=“</a:t>
            </a:r>
            <a:r>
              <a:rPr lang="en-US" sz="2000" dirty="0" err="1">
                <a:latin typeface="Courier"/>
                <a:cs typeface="Courier"/>
              </a:rPr>
              <a:t>course_list</a:t>
            </a:r>
            <a:r>
              <a:rPr lang="en-US" sz="2000" dirty="0">
                <a:latin typeface="Courier"/>
                <a:cs typeface="Courier"/>
              </a:rPr>
              <a:t>”)</a:t>
            </a:r>
          </a:p>
          <a:p>
            <a:r>
              <a:rPr lang="en-US" sz="2000" dirty="0">
                <a:latin typeface="Courier"/>
                <a:cs typeface="Courier"/>
              </a:rPr>
              <a:t>public class </a:t>
            </a:r>
            <a:r>
              <a:rPr lang="en-US" sz="2000" dirty="0" err="1">
                <a:latin typeface="Courier"/>
                <a:cs typeface="Courier"/>
              </a:rPr>
              <a:t>CourseList</a:t>
            </a:r>
            <a:r>
              <a:rPr lang="en-US" sz="2000" dirty="0">
                <a:latin typeface="Courier"/>
                <a:cs typeface="Courier"/>
              </a:rPr>
              <a:t> {</a:t>
            </a:r>
          </a:p>
          <a:p>
            <a:endParaRPr lang="en-US" sz="2000" dirty="0">
              <a:latin typeface="Courier"/>
              <a:cs typeface="Courier"/>
            </a:endParaRPr>
          </a:p>
          <a:p>
            <a:r>
              <a:rPr lang="en-US" sz="2000" dirty="0">
                <a:latin typeface="Courier"/>
                <a:cs typeface="Courier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57022" y="4356959"/>
            <a:ext cx="1676400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 err="1">
                <a:solidFill>
                  <a:schemeClr val="accent4">
                    <a:lumMod val="75000"/>
                  </a:schemeClr>
                </a:solidFill>
              </a:rPr>
              <a:t>course_list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 is the name of the </a:t>
            </a:r>
            <a:r>
              <a:rPr lang="en-US" sz="1600" dirty="0" err="1">
                <a:solidFill>
                  <a:schemeClr val="accent4">
                    <a:lumMod val="75000"/>
                  </a:schemeClr>
                </a:solidFill>
              </a:rPr>
              <a:t>db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 table represented by this entity class.</a:t>
            </a:r>
          </a:p>
        </p:txBody>
      </p:sp>
      <p:cxnSp>
        <p:nvCxnSpPr>
          <p:cNvPr id="9" name="Curved Connector 8"/>
          <p:cNvCxnSpPr>
            <a:cxnSpLocks/>
            <a:endCxn id="7" idx="1"/>
          </p:cNvCxnSpPr>
          <p:nvPr/>
        </p:nvCxnSpPr>
        <p:spPr>
          <a:xfrm>
            <a:off x="5464958" y="4770416"/>
            <a:ext cx="1492064" cy="248263"/>
          </a:xfrm>
          <a:prstGeom prst="curvedConnector3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74AE1-A33D-6765-5DD8-D7948CEC743A}"/>
              </a:ext>
            </a:extLst>
          </p:cNvPr>
          <p:cNvSpPr txBox="1">
            <a:spLocks/>
          </p:cNvSpPr>
          <p:nvPr/>
        </p:nvSpPr>
        <p:spPr>
          <a:xfrm>
            <a:off x="936515" y="14205"/>
            <a:ext cx="10337073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CSEN160_09_2_JPA.model.CourseList</a:t>
            </a:r>
          </a:p>
        </p:txBody>
      </p:sp>
    </p:spTree>
    <p:extLst>
      <p:ext uri="{BB962C8B-B14F-4D97-AF65-F5344CB8AC3E}">
        <p14:creationId xmlns:p14="http://schemas.microsoft.com/office/powerpoint/2010/main" val="2585695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21189"/>
            <a:ext cx="4100776" cy="698963"/>
          </a:xfrm>
        </p:spPr>
        <p:txBody>
          <a:bodyPr/>
          <a:lstStyle/>
          <a:p>
            <a:r>
              <a:rPr lang="en-US" dirty="0" err="1"/>
              <a:t>Persistable</a:t>
            </a:r>
            <a:r>
              <a:rPr lang="en-US" dirty="0"/>
              <a:t> Types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936516" y="1708963"/>
            <a:ext cx="10428748" cy="4918413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Primitives</a:t>
            </a:r>
          </a:p>
          <a:p>
            <a:r>
              <a:rPr lang="en-US" dirty="0">
                <a:solidFill>
                  <a:schemeClr val="tx1"/>
                </a:solidFill>
              </a:rPr>
              <a:t>Wrapper classes (Boolean, Byte, Long, etc.)</a:t>
            </a:r>
          </a:p>
          <a:p>
            <a:r>
              <a:rPr lang="en-US" dirty="0" err="1">
                <a:solidFill>
                  <a:schemeClr val="tx1"/>
                </a:solidFill>
              </a:rPr>
              <a:t>BigInteger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 err="1">
                <a:solidFill>
                  <a:schemeClr val="tx1"/>
                </a:solidFill>
              </a:rPr>
              <a:t>BigDecimal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String</a:t>
            </a:r>
          </a:p>
          <a:p>
            <a:r>
              <a:rPr lang="en-US" dirty="0" err="1">
                <a:solidFill>
                  <a:schemeClr val="tx1"/>
                </a:solidFill>
              </a:rPr>
              <a:t>java.sql.Date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 err="1">
                <a:solidFill>
                  <a:schemeClr val="tx1"/>
                </a:solidFill>
              </a:rPr>
              <a:t>java.sql.Time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 err="1">
                <a:solidFill>
                  <a:schemeClr val="tx1"/>
                </a:solidFill>
              </a:rPr>
              <a:t>java.sql.Timestamp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Collection types from </a:t>
            </a:r>
            <a:r>
              <a:rPr lang="en-US" dirty="0" err="1">
                <a:solidFill>
                  <a:schemeClr val="tx1"/>
                </a:solidFill>
              </a:rPr>
              <a:t>java.util</a:t>
            </a:r>
            <a:r>
              <a:rPr lang="en-US" dirty="0">
                <a:solidFill>
                  <a:schemeClr val="tx1"/>
                </a:solidFill>
              </a:rPr>
              <a:t> (</a:t>
            </a:r>
            <a:r>
              <a:rPr lang="en-US" dirty="0" err="1">
                <a:solidFill>
                  <a:schemeClr val="tx1"/>
                </a:solidFill>
              </a:rPr>
              <a:t>ArrayList</a:t>
            </a:r>
            <a:r>
              <a:rPr lang="en-US" dirty="0">
                <a:solidFill>
                  <a:schemeClr val="tx1"/>
                </a:solidFill>
              </a:rPr>
              <a:t>, Vector, </a:t>
            </a:r>
            <a:r>
              <a:rPr lang="en-US" dirty="0" err="1">
                <a:solidFill>
                  <a:schemeClr val="tx1"/>
                </a:solidFill>
              </a:rPr>
              <a:t>HashSet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TreeSet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LinkedHashSet</a:t>
            </a:r>
            <a:r>
              <a:rPr lang="en-US" dirty="0">
                <a:solidFill>
                  <a:schemeClr val="tx1"/>
                </a:solidFill>
              </a:rPr>
              <a:t> etc.)</a:t>
            </a:r>
          </a:p>
          <a:p>
            <a:r>
              <a:rPr lang="en-US" dirty="0">
                <a:solidFill>
                  <a:schemeClr val="tx1"/>
                </a:solidFill>
              </a:rPr>
              <a:t>Map types from </a:t>
            </a:r>
            <a:r>
              <a:rPr lang="en-US" dirty="0" err="1">
                <a:solidFill>
                  <a:schemeClr val="tx1"/>
                </a:solidFill>
              </a:rPr>
              <a:t>java.util</a:t>
            </a:r>
            <a:r>
              <a:rPr lang="en-US" dirty="0">
                <a:solidFill>
                  <a:schemeClr val="tx1"/>
                </a:solidFill>
              </a:rPr>
              <a:t> (</a:t>
            </a:r>
            <a:r>
              <a:rPr lang="en-US" dirty="0" err="1">
                <a:solidFill>
                  <a:schemeClr val="tx1"/>
                </a:solidFill>
              </a:rPr>
              <a:t>HashMap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LinkedHashMap</a:t>
            </a:r>
            <a:r>
              <a:rPr lang="en-US" dirty="0">
                <a:solidFill>
                  <a:schemeClr val="tx1"/>
                </a:solidFill>
              </a:rPr>
              <a:t>, etc.)</a:t>
            </a:r>
          </a:p>
          <a:p>
            <a:r>
              <a:rPr lang="en-US" dirty="0">
                <a:solidFill>
                  <a:schemeClr val="tx1"/>
                </a:solidFill>
              </a:rPr>
              <a:t>Arrays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5759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3557"/>
            <a:ext cx="3862061" cy="731331"/>
          </a:xfrm>
        </p:spPr>
        <p:txBody>
          <a:bodyPr/>
          <a:lstStyle/>
          <a:p>
            <a:r>
              <a:rPr lang="en-US" dirty="0"/>
              <a:t>Annotation @Id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936516" y="1806069"/>
            <a:ext cx="10380196" cy="4833446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Marks a field as the primary key.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Example: </a:t>
            </a:r>
            <a:r>
              <a:rPr lang="en-US" dirty="0" err="1">
                <a:solidFill>
                  <a:schemeClr val="tx1"/>
                </a:solidFill>
              </a:rPr>
              <a:t>course_number</a:t>
            </a:r>
            <a:r>
              <a:rPr lang="en-US" dirty="0">
                <a:solidFill>
                  <a:schemeClr val="tx1"/>
                </a:solidFill>
              </a:rPr>
              <a:t> is the primary key in </a:t>
            </a:r>
            <a:r>
              <a:rPr lang="en-US" dirty="0" err="1">
                <a:solidFill>
                  <a:schemeClr val="tx1"/>
                </a:solidFill>
              </a:rPr>
              <a:t>courseList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6" name="Rectangle 5"/>
          <p:cNvSpPr/>
          <p:nvPr/>
        </p:nvSpPr>
        <p:spPr>
          <a:xfrm>
            <a:off x="2787032" y="3586795"/>
            <a:ext cx="7186401" cy="1200329"/>
          </a:xfrm>
          <a:prstGeom prst="rect">
            <a:avLst/>
          </a:prstGeom>
          <a:solidFill>
            <a:srgbClr val="F6F6DC"/>
          </a:solidFill>
        </p:spPr>
        <p:txBody>
          <a:bodyPr wrap="square">
            <a:spAutoFit/>
          </a:bodyPr>
          <a:lstStyle/>
          <a:p>
            <a:r>
              <a:rPr lang="en-US" dirty="0"/>
              <a:t>	@Id</a:t>
            </a:r>
          </a:p>
          <a:p>
            <a:r>
              <a:rPr lang="en-US" dirty="0"/>
              <a:t>	@</a:t>
            </a:r>
            <a:r>
              <a:rPr lang="en-US" dirty="0" err="1"/>
              <a:t>GeneratedValue</a:t>
            </a:r>
            <a:r>
              <a:rPr lang="en-US" dirty="0"/>
              <a:t>(strategy=</a:t>
            </a:r>
            <a:r>
              <a:rPr lang="en-US" dirty="0" err="1"/>
              <a:t>GenerationType.IDENTITY</a:t>
            </a:r>
            <a:r>
              <a:rPr lang="en-US" dirty="0"/>
              <a:t>)</a:t>
            </a:r>
          </a:p>
          <a:p>
            <a:r>
              <a:rPr lang="en-US" dirty="0"/>
              <a:t>	@Column(name="</a:t>
            </a:r>
            <a:r>
              <a:rPr lang="en-US" dirty="0" err="1"/>
              <a:t>course_number</a:t>
            </a:r>
            <a:r>
              <a:rPr lang="en-US" dirty="0"/>
              <a:t>")  	</a:t>
            </a:r>
          </a:p>
          <a:p>
            <a:r>
              <a:rPr lang="en-US" b="1" dirty="0"/>
              <a:t>	private String </a:t>
            </a:r>
            <a:r>
              <a:rPr lang="en-US" b="1" dirty="0" err="1"/>
              <a:t>course_number</a:t>
            </a:r>
            <a:r>
              <a:rPr lang="en-US" b="1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517424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29282"/>
            <a:ext cx="5573526" cy="763700"/>
          </a:xfrm>
        </p:spPr>
        <p:txBody>
          <a:bodyPr/>
          <a:lstStyle/>
          <a:p>
            <a:r>
              <a:rPr lang="en-US" dirty="0"/>
              <a:t>Annotation @Generated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637110" y="1822253"/>
            <a:ext cx="11152985" cy="4801078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Generates an unique value for primary keys</a:t>
            </a:r>
          </a:p>
          <a:p>
            <a:endParaRPr lang="en-US" dirty="0">
              <a:solidFill>
                <a:srgbClr val="0000FF"/>
              </a:solidFill>
            </a:endParaRPr>
          </a:p>
          <a:p>
            <a:r>
              <a:rPr lang="en-US" dirty="0">
                <a:solidFill>
                  <a:srgbClr val="0000FF"/>
                </a:solidFill>
              </a:rPr>
              <a:t>@</a:t>
            </a:r>
            <a:r>
              <a:rPr lang="en-US" dirty="0" err="1">
                <a:solidFill>
                  <a:srgbClr val="0000FF"/>
                </a:solidFill>
              </a:rPr>
              <a:t>GeneratedValue</a:t>
            </a:r>
            <a:r>
              <a:rPr lang="en-US" dirty="0">
                <a:solidFill>
                  <a:srgbClr val="0000FF"/>
                </a:solidFill>
              </a:rPr>
              <a:t>(strategy=</a:t>
            </a:r>
            <a:r>
              <a:rPr lang="en-US" dirty="0" err="1">
                <a:solidFill>
                  <a:srgbClr val="0000FF"/>
                </a:solidFill>
              </a:rPr>
              <a:t>GenerationType.AUTO</a:t>
            </a:r>
            <a:r>
              <a:rPr lang="en-US" dirty="0">
                <a:solidFill>
                  <a:srgbClr val="0000FF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>
                <a:solidFill>
                  <a:schemeClr val="tx1"/>
                </a:solidFill>
              </a:rPr>
              <a:t>Generate the </a:t>
            </a:r>
            <a:r>
              <a:rPr lang="en-US" b="1" dirty="0">
                <a:solidFill>
                  <a:srgbClr val="0000FF"/>
                </a:solidFill>
              </a:rPr>
              <a:t>key automatically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@</a:t>
            </a:r>
            <a:r>
              <a:rPr lang="en-US" dirty="0" err="1">
                <a:solidFill>
                  <a:srgbClr val="0000FF"/>
                </a:solidFill>
              </a:rPr>
              <a:t>GeneratedValue</a:t>
            </a:r>
            <a:r>
              <a:rPr lang="en-US" dirty="0">
                <a:solidFill>
                  <a:srgbClr val="0000FF"/>
                </a:solidFill>
              </a:rPr>
              <a:t>(strategy=</a:t>
            </a:r>
            <a:r>
              <a:rPr lang="en-US" dirty="0" err="1">
                <a:solidFill>
                  <a:srgbClr val="0000FF"/>
                </a:solidFill>
              </a:rPr>
              <a:t>GenerationType.TABLE</a:t>
            </a:r>
            <a:r>
              <a:rPr lang="en-US" dirty="0">
                <a:solidFill>
                  <a:srgbClr val="0000FF"/>
                </a:solidFill>
              </a:rPr>
              <a:t>)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Best strategy – works with most databases. 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Other strategies are: </a:t>
            </a:r>
          </a:p>
          <a:p>
            <a:pPr lvl="1"/>
            <a:r>
              <a:rPr lang="en-US" dirty="0" err="1">
                <a:solidFill>
                  <a:srgbClr val="0000FF"/>
                </a:solidFill>
              </a:rPr>
              <a:t>GenerationType.IDENTITY</a:t>
            </a:r>
            <a:endParaRPr lang="en-US" dirty="0">
              <a:solidFill>
                <a:srgbClr val="0000FF"/>
              </a:solidFill>
            </a:endParaRP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GenerationType.SEQUENCE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6935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21189"/>
            <a:ext cx="5152741" cy="678733"/>
          </a:xfrm>
        </p:spPr>
        <p:txBody>
          <a:bodyPr/>
          <a:lstStyle/>
          <a:p>
            <a:r>
              <a:rPr lang="en-US" dirty="0"/>
              <a:t>Annotation @Column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936516" y="1563307"/>
            <a:ext cx="10416610" cy="505597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Column name is </a:t>
            </a:r>
            <a:r>
              <a:rPr lang="en-US" b="1" dirty="0" err="1">
                <a:solidFill>
                  <a:srgbClr val="00B0F0"/>
                </a:solidFill>
              </a:rPr>
              <a:t>courseNumber</a:t>
            </a:r>
            <a:r>
              <a:rPr lang="en-US" dirty="0"/>
              <a:t> </a:t>
            </a:r>
          </a:p>
          <a:p>
            <a:r>
              <a:rPr lang="en-US" dirty="0">
                <a:solidFill>
                  <a:schemeClr val="tx1"/>
                </a:solidFill>
              </a:rPr>
              <a:t>Column name in the database table is </a:t>
            </a:r>
            <a:r>
              <a:rPr lang="en-US" b="1" dirty="0" err="1">
                <a:solidFill>
                  <a:srgbClr val="92D050"/>
                </a:solidFill>
              </a:rPr>
              <a:t>course_number</a:t>
            </a:r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Use @Column annotation to indicate the relationship between these two: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http://docs.oracle.com/javaee/5/api/javax/persistence/Column.html</a:t>
            </a:r>
          </a:p>
        </p:txBody>
      </p:sp>
      <p:sp>
        <p:nvSpPr>
          <p:cNvPr id="6" name="Rectangle 5"/>
          <p:cNvSpPr/>
          <p:nvPr/>
        </p:nvSpPr>
        <p:spPr>
          <a:xfrm>
            <a:off x="2820678" y="3857098"/>
            <a:ext cx="5489098" cy="830997"/>
          </a:xfrm>
          <a:prstGeom prst="rect">
            <a:avLst/>
          </a:prstGeom>
          <a:solidFill>
            <a:srgbClr val="F6F6DC"/>
          </a:solidFill>
        </p:spPr>
        <p:txBody>
          <a:bodyPr wrap="square">
            <a:spAutoFit/>
          </a:bodyPr>
          <a:lstStyle/>
          <a:p>
            <a:r>
              <a:rPr lang="en-US" sz="2400" dirty="0"/>
              <a:t>  @Column(name = “</a:t>
            </a:r>
            <a:r>
              <a:rPr lang="en-US" sz="2400" dirty="0" err="1"/>
              <a:t>course_number</a:t>
            </a:r>
            <a:r>
              <a:rPr lang="en-US" sz="2400" dirty="0"/>
              <a:t>”)</a:t>
            </a:r>
          </a:p>
          <a:p>
            <a:r>
              <a:rPr lang="en-US" sz="2400" dirty="0"/>
              <a:t>   private </a:t>
            </a:r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 err="1"/>
              <a:t>courseNumber</a:t>
            </a:r>
            <a:r>
              <a:rPr lang="en-US" sz="24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1218200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608" y="737373"/>
            <a:ext cx="4250479" cy="634227"/>
          </a:xfrm>
        </p:spPr>
        <p:txBody>
          <a:bodyPr/>
          <a:lstStyle/>
          <a:p>
            <a:r>
              <a:rPr lang="en-US" dirty="0"/>
              <a:t>Creating An Entity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2646096" y="1688538"/>
            <a:ext cx="6705600" cy="4801314"/>
          </a:xfrm>
          <a:prstGeom prst="rect">
            <a:avLst/>
          </a:prstGeom>
          <a:solidFill>
            <a:srgbClr val="F6F6DC"/>
          </a:solidFill>
        </p:spPr>
        <p:txBody>
          <a:bodyPr wrap="square">
            <a:spAutoFit/>
          </a:bodyPr>
          <a:lstStyle/>
          <a:p>
            <a:r>
              <a:rPr lang="en-US" b="1" dirty="0"/>
              <a:t>import </a:t>
            </a:r>
            <a:r>
              <a:rPr lang="en-US" b="1" dirty="0" err="1"/>
              <a:t>javax.persistence</a:t>
            </a:r>
            <a:r>
              <a:rPr lang="en-US" b="1" dirty="0"/>
              <a:t>.*;</a:t>
            </a:r>
          </a:p>
          <a:p>
            <a:r>
              <a:rPr lang="en-US" b="1" dirty="0"/>
              <a:t>import </a:t>
            </a:r>
            <a:r>
              <a:rPr lang="en-US" b="1" dirty="0" err="1"/>
              <a:t>java.io</a:t>
            </a:r>
            <a:r>
              <a:rPr lang="en-US" b="1" dirty="0"/>
              <a:t>.*;</a:t>
            </a:r>
          </a:p>
          <a:p>
            <a:endParaRPr lang="en-US" dirty="0"/>
          </a:p>
          <a:p>
            <a:r>
              <a:rPr lang="en-US" dirty="0"/>
              <a:t>@Entity(name = "</a:t>
            </a:r>
            <a:r>
              <a:rPr lang="en-US" dirty="0" err="1"/>
              <a:t>course_list</a:t>
            </a:r>
            <a:r>
              <a:rPr lang="en-US" dirty="0"/>
              <a:t>")</a:t>
            </a:r>
          </a:p>
          <a:p>
            <a:r>
              <a:rPr lang="en-US" dirty="0"/>
              <a:t>public class </a:t>
            </a:r>
            <a:r>
              <a:rPr lang="en-US" dirty="0" err="1"/>
              <a:t>CourseList</a:t>
            </a:r>
            <a:r>
              <a:rPr lang="en-US" dirty="0"/>
              <a:t> implements </a:t>
            </a:r>
            <a:r>
              <a:rPr lang="en-US" dirty="0" err="1"/>
              <a:t>Serializable</a:t>
            </a:r>
            <a:r>
              <a:rPr lang="en-US" dirty="0"/>
              <a:t> {</a:t>
            </a:r>
          </a:p>
          <a:p>
            <a:endParaRPr lang="en-US" dirty="0"/>
          </a:p>
          <a:p>
            <a:r>
              <a:rPr lang="en-US" dirty="0"/>
              <a:t>  @Column(name = "</a:t>
            </a:r>
            <a:r>
              <a:rPr lang="en-US" dirty="0" err="1"/>
              <a:t>course_name</a:t>
            </a:r>
            <a:r>
              <a:rPr lang="en-US" dirty="0"/>
              <a:t>")</a:t>
            </a:r>
          </a:p>
          <a:p>
            <a:r>
              <a:rPr lang="en-US" dirty="0"/>
              <a:t>  @</a:t>
            </a:r>
            <a:r>
              <a:rPr lang="en-US" dirty="0" err="1"/>
              <a:t>GeneratedValue</a:t>
            </a:r>
            <a:r>
              <a:rPr lang="en-US" dirty="0"/>
              <a:t>(strategy = </a:t>
            </a:r>
            <a:r>
              <a:rPr lang="en-US" dirty="0" err="1"/>
              <a:t>GenerationType.</a:t>
            </a:r>
            <a:r>
              <a:rPr lang="en-US" i="1" dirty="0" err="1"/>
              <a:t>TABLE</a:t>
            </a:r>
            <a:r>
              <a:rPr lang="en-US" i="1" dirty="0"/>
              <a:t>)</a:t>
            </a:r>
          </a:p>
          <a:p>
            <a:r>
              <a:rPr lang="en-US" dirty="0"/>
              <a:t>  </a:t>
            </a:r>
            <a:r>
              <a:rPr lang="en-US" b="1" dirty="0"/>
              <a:t>private String </a:t>
            </a:r>
            <a:r>
              <a:rPr lang="en-US" b="1" dirty="0" err="1"/>
              <a:t>course_name</a:t>
            </a:r>
            <a:r>
              <a:rPr lang="en-US" b="1" dirty="0"/>
              <a:t>;</a:t>
            </a:r>
          </a:p>
          <a:p>
            <a:endParaRPr lang="en-US" b="1" dirty="0"/>
          </a:p>
          <a:p>
            <a:r>
              <a:rPr lang="en-US" dirty="0"/>
              <a:t>  @Id</a:t>
            </a:r>
          </a:p>
          <a:p>
            <a:r>
              <a:rPr lang="en-US" dirty="0"/>
              <a:t>  @Column(name = "</a:t>
            </a:r>
            <a:r>
              <a:rPr lang="en-US" dirty="0" err="1"/>
              <a:t>course_number</a:t>
            </a:r>
            <a:r>
              <a:rPr lang="en-US" dirty="0"/>
              <a:t>")</a:t>
            </a:r>
          </a:p>
          <a:p>
            <a:r>
              <a:rPr lang="en-US" dirty="0"/>
              <a:t>  </a:t>
            </a:r>
            <a:r>
              <a:rPr lang="en-US" b="1" dirty="0"/>
              <a:t>private String </a:t>
            </a:r>
            <a:r>
              <a:rPr lang="en-US" b="1" dirty="0" err="1"/>
              <a:t>course_number</a:t>
            </a:r>
            <a:r>
              <a:rPr lang="en-US" b="1" dirty="0"/>
              <a:t>;</a:t>
            </a:r>
          </a:p>
          <a:p>
            <a:r>
              <a:rPr lang="en-US" dirty="0"/>
              <a:t>  </a:t>
            </a:r>
          </a:p>
          <a:p>
            <a:r>
              <a:rPr lang="en-US" dirty="0"/>
              <a:t>  @Column(name = “enrollment”)</a:t>
            </a:r>
          </a:p>
          <a:p>
            <a:r>
              <a:rPr lang="en-US" dirty="0"/>
              <a:t>  </a:t>
            </a:r>
            <a:r>
              <a:rPr lang="en-US" b="1" dirty="0"/>
              <a:t>private </a:t>
            </a:r>
            <a:r>
              <a:rPr lang="en-US" b="1" dirty="0" err="1"/>
              <a:t>int</a:t>
            </a:r>
            <a:r>
              <a:rPr lang="en-US" b="1" dirty="0"/>
              <a:t> enrollment;</a:t>
            </a:r>
          </a:p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00577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9465" y="746490"/>
            <a:ext cx="6988822" cy="625110"/>
          </a:xfrm>
        </p:spPr>
        <p:txBody>
          <a:bodyPr/>
          <a:lstStyle/>
          <a:p>
            <a:r>
              <a:rPr lang="en-US" dirty="0"/>
              <a:t>Creating An Entity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949465" y="1737766"/>
            <a:ext cx="10667999" cy="4247317"/>
          </a:xfrm>
          <a:prstGeom prst="rect">
            <a:avLst/>
          </a:prstGeom>
          <a:solidFill>
            <a:srgbClr val="F6F6DC"/>
          </a:solidFill>
        </p:spPr>
        <p:txBody>
          <a:bodyPr wrap="square">
            <a:spAutoFit/>
          </a:bodyPr>
          <a:lstStyle/>
          <a:p>
            <a:r>
              <a:rPr lang="en-US" dirty="0"/>
              <a:t> @Column</a:t>
            </a:r>
          </a:p>
          <a:p>
            <a:r>
              <a:rPr lang="en-US" dirty="0"/>
              <a:t>  </a:t>
            </a:r>
            <a:r>
              <a:rPr lang="en-US" b="1" dirty="0"/>
              <a:t>private String </a:t>
            </a:r>
            <a:r>
              <a:rPr lang="en-US" b="1" dirty="0" err="1"/>
              <a:t>start_date</a:t>
            </a:r>
            <a:r>
              <a:rPr lang="en-US" b="1" dirty="0"/>
              <a:t>;</a:t>
            </a:r>
          </a:p>
          <a:p>
            <a:r>
              <a:rPr lang="en-US" dirty="0"/>
              <a:t>  </a:t>
            </a:r>
          </a:p>
          <a:p>
            <a:r>
              <a:rPr lang="en-US" dirty="0"/>
              <a:t>  @Column</a:t>
            </a:r>
          </a:p>
          <a:p>
            <a:r>
              <a:rPr lang="en-US" dirty="0"/>
              <a:t>  </a:t>
            </a:r>
            <a:r>
              <a:rPr lang="en-US" b="1" dirty="0"/>
              <a:t>private String </a:t>
            </a:r>
            <a:r>
              <a:rPr lang="en-US" b="1" dirty="0" err="1"/>
              <a:t>end_date</a:t>
            </a:r>
            <a:r>
              <a:rPr lang="en-US" b="1" dirty="0"/>
              <a:t>;</a:t>
            </a:r>
          </a:p>
          <a:p>
            <a:r>
              <a:rPr lang="en-US" dirty="0"/>
              <a:t>  </a:t>
            </a:r>
          </a:p>
          <a:p>
            <a:r>
              <a:rPr lang="en-US" dirty="0"/>
              <a:t>  // add getters and setters   </a:t>
            </a:r>
          </a:p>
          <a:p>
            <a:r>
              <a:rPr lang="en-US" dirty="0"/>
              <a:t>   </a:t>
            </a:r>
          </a:p>
          <a:p>
            <a:r>
              <a:rPr lang="en-US" dirty="0"/>
              <a:t>  @Override</a:t>
            </a:r>
          </a:p>
          <a:p>
            <a:r>
              <a:rPr lang="en-US" dirty="0"/>
              <a:t>  </a:t>
            </a:r>
            <a:r>
              <a:rPr lang="en-US" b="1" dirty="0"/>
              <a:t>public String </a:t>
            </a:r>
            <a:r>
              <a:rPr lang="en-US" b="1" dirty="0" err="1"/>
              <a:t>toString</a:t>
            </a:r>
            <a:r>
              <a:rPr lang="en-US" b="1" dirty="0"/>
              <a:t>() {</a:t>
            </a:r>
          </a:p>
          <a:p>
            <a:r>
              <a:rPr lang="en-US" dirty="0"/>
              <a:t>    </a:t>
            </a:r>
            <a:r>
              <a:rPr lang="en-US" b="1" dirty="0"/>
              <a:t>return "</a:t>
            </a:r>
            <a:r>
              <a:rPr lang="en-US" b="1" dirty="0" err="1"/>
              <a:t>CourseList</a:t>
            </a:r>
            <a:r>
              <a:rPr lang="en-US" b="1" dirty="0"/>
              <a:t> [Course Name =" + </a:t>
            </a:r>
            <a:r>
              <a:rPr lang="en-US" b="1" dirty="0" err="1"/>
              <a:t>course_name</a:t>
            </a:r>
            <a:r>
              <a:rPr lang="en-US" b="1" dirty="0"/>
              <a:t> + ", ” </a:t>
            </a:r>
            <a:r>
              <a:rPr lang="en-US" dirty="0"/>
              <a:t>+ " Course Number =" + </a:t>
            </a:r>
            <a:r>
              <a:rPr lang="en-US" dirty="0" err="1"/>
              <a:t>course_number</a:t>
            </a:r>
            <a:r>
              <a:rPr lang="en-US" dirty="0"/>
              <a:t> + ",” + " Enrollment =" + enrollment + ",” </a:t>
            </a:r>
            <a:r>
              <a:rPr lang="cs-CZ" dirty="0"/>
              <a:t>+ " Start </a:t>
            </a:r>
            <a:r>
              <a:rPr lang="cs-CZ" dirty="0" err="1"/>
              <a:t>Date</a:t>
            </a:r>
            <a:r>
              <a:rPr lang="cs-CZ" dirty="0"/>
              <a:t> =" + </a:t>
            </a:r>
            <a:r>
              <a:rPr lang="cs-CZ" dirty="0" err="1"/>
              <a:t>start_date</a:t>
            </a:r>
            <a:r>
              <a:rPr lang="cs-CZ" dirty="0"/>
              <a:t> + ",“ </a:t>
            </a:r>
            <a:r>
              <a:rPr lang="de-DE" dirty="0"/>
              <a:t>+ " End Date =" + </a:t>
            </a:r>
            <a:r>
              <a:rPr lang="de-DE" dirty="0" err="1"/>
              <a:t>end_date</a:t>
            </a:r>
            <a:r>
              <a:rPr lang="de-DE" dirty="0"/>
              <a:t> + ",“ + "]";</a:t>
            </a:r>
          </a:p>
          <a:p>
            <a:r>
              <a:rPr lang="de-DE" dirty="0"/>
              <a:t>  }</a:t>
            </a:r>
          </a:p>
          <a:p>
            <a:r>
              <a:rPr lang="de-DE" dirty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1134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949465" y="746490"/>
            <a:ext cx="6988822" cy="62511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Creating An Entity (continued)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CFC2322-8E7D-5CDC-56EF-A3169BB194CD}"/>
              </a:ext>
            </a:extLst>
          </p:cNvPr>
          <p:cNvSpPr txBox="1">
            <a:spLocks/>
          </p:cNvSpPr>
          <p:nvPr/>
        </p:nvSpPr>
        <p:spPr>
          <a:xfrm>
            <a:off x="936515" y="14205"/>
            <a:ext cx="10337073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</a:rPr>
              <a:t>CSEN160_09_2_JPA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model.CourseList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E83AD6-2344-AB4B-1002-83B5F68EE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7337" y="1450026"/>
            <a:ext cx="5426671" cy="507287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94843047"/>
      </p:ext>
    </p:extLst>
  </p:cSld>
  <p:clrMapOvr>
    <a:masterClrMapping/>
  </p:clrMapOvr>
  <p:transition>
    <p:wipe/>
    <p:sndAc>
      <p:stSnd>
        <p:snd r:embed="rId2" name="camera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Data Access Object (DAO)</a:t>
            </a:r>
          </a:p>
        </p:txBody>
      </p:sp>
    </p:spTree>
    <p:extLst>
      <p:ext uri="{BB962C8B-B14F-4D97-AF65-F5344CB8AC3E}">
        <p14:creationId xmlns:p14="http://schemas.microsoft.com/office/powerpoint/2010/main" val="16949748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37373"/>
            <a:ext cx="3421045" cy="674687"/>
          </a:xfrm>
        </p:spPr>
        <p:txBody>
          <a:bodyPr>
            <a:normAutofit fontScale="90000"/>
          </a:bodyPr>
          <a:lstStyle/>
          <a:p>
            <a:r>
              <a:rPr lang="en-US" dirty="0"/>
              <a:t>DAO Interfaces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936516" y="1749425"/>
            <a:ext cx="10388288" cy="4886044"/>
          </a:xfrm>
        </p:spPr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Data Access Objects: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Handles the entity objects and persist them to the database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Includes transaction handling commit/rollback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User creates an entity object with some date and save it via the DAO object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Implementation is a bit tedious because you implement CRUD functions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2380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45465"/>
            <a:ext cx="1713626" cy="682779"/>
          </a:xfrm>
        </p:spPr>
        <p:txBody>
          <a:bodyPr/>
          <a:lstStyle/>
          <a:p>
            <a:r>
              <a:rPr lang="en-US" dirty="0"/>
              <a:t>Query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3430" y="1029857"/>
            <a:ext cx="6085273" cy="543755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188262" y="2269816"/>
            <a:ext cx="3422931" cy="728283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6995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2782" y="989396"/>
            <a:ext cx="6172361" cy="54375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45465"/>
            <a:ext cx="1713626" cy="682779"/>
          </a:xfrm>
        </p:spPr>
        <p:txBody>
          <a:bodyPr/>
          <a:lstStyle/>
          <a:p>
            <a:r>
              <a:rPr lang="en-US" dirty="0"/>
              <a:t>Query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3054742" y="2241494"/>
            <a:ext cx="3613095" cy="728283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5828962" y="2269816"/>
            <a:ext cx="1668310" cy="2144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97271" y="1959304"/>
            <a:ext cx="28007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Important it is </a:t>
            </a:r>
            <a:r>
              <a:rPr lang="en-US" dirty="0" err="1"/>
              <a:t>CourseList</a:t>
            </a:r>
            <a:r>
              <a:rPr lang="en-US" dirty="0"/>
              <a:t>,</a:t>
            </a:r>
          </a:p>
          <a:p>
            <a:r>
              <a:rPr lang="en-US" dirty="0"/>
              <a:t>Not </a:t>
            </a:r>
            <a:r>
              <a:rPr lang="en-US" dirty="0" err="1"/>
              <a:t>course_list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2815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41420"/>
            <a:ext cx="6645721" cy="718472"/>
          </a:xfrm>
        </p:spPr>
        <p:txBody>
          <a:bodyPr/>
          <a:lstStyle/>
          <a:p>
            <a:r>
              <a:rPr lang="en-US" dirty="0"/>
              <a:t>Inserting a Record into Table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936516" y="1688733"/>
            <a:ext cx="10420656" cy="49791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This persists a new object: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125" y="2193901"/>
            <a:ext cx="8765939" cy="434041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771522" y="3406747"/>
            <a:ext cx="8015161" cy="45315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6768989" y="2807936"/>
            <a:ext cx="2820073" cy="598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576924" y="2631842"/>
            <a:ext cx="2112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SQL syntax is odd!</a:t>
            </a:r>
          </a:p>
        </p:txBody>
      </p:sp>
    </p:spTree>
    <p:extLst>
      <p:ext uri="{BB962C8B-B14F-4D97-AF65-F5344CB8AC3E}">
        <p14:creationId xmlns:p14="http://schemas.microsoft.com/office/powerpoint/2010/main" val="2735232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5" y="745465"/>
            <a:ext cx="5181063" cy="682779"/>
          </a:xfrm>
        </p:spPr>
        <p:txBody>
          <a:bodyPr>
            <a:normAutofit fontScale="90000"/>
          </a:bodyPr>
          <a:lstStyle/>
          <a:p>
            <a:r>
              <a:rPr lang="en-US" dirty="0"/>
              <a:t>DAO Data Access Object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6515" y="1665183"/>
            <a:ext cx="581808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Creating a DAO for every 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Will handle all communication to and from the 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lot of boring work to do </a:t>
            </a:r>
            <a:r>
              <a:rPr lang="en-US" dirty="0">
                <a:sym typeface="Wingdings" panose="05000000000000000000" pitchFamily="2" charset="2"/>
              </a:rPr>
              <a:t>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Copilot?! 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017" y="3028626"/>
            <a:ext cx="4801362" cy="36010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EC5E79-6A40-DC6C-3BBC-9A616F0BE159}"/>
              </a:ext>
            </a:extLst>
          </p:cNvPr>
          <p:cNvSpPr txBox="1">
            <a:spLocks/>
          </p:cNvSpPr>
          <p:nvPr/>
        </p:nvSpPr>
        <p:spPr>
          <a:xfrm>
            <a:off x="936515" y="14205"/>
            <a:ext cx="10337073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</a:rPr>
              <a:t>CSEN160_09_2_JPA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dao.CourseListDao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695739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altLang="en-US" dirty="0"/>
              <a:t>JPA DAO</a:t>
            </a:r>
            <a:br>
              <a:rPr lang="en-US" dirty="0"/>
            </a:br>
            <a:r>
              <a:rPr lang="en-US" dirty="0"/>
              <a:t>CRUD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35861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49511"/>
            <a:ext cx="2510691" cy="646365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36516" y="1571399"/>
            <a:ext cx="10400426" cy="50559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CRUD: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CREATE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READ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UPDATE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DELETE</a:t>
            </a:r>
            <a:endParaRPr lang="en-US" sz="2600" dirty="0">
              <a:solidFill>
                <a:schemeClr val="tx1"/>
              </a:solidFill>
            </a:endParaRPr>
          </a:p>
          <a:p>
            <a:pPr marL="320040" lvl="1" indent="0">
              <a:buNone/>
            </a:pPr>
            <a:endParaRPr lang="en-US" dirty="0"/>
          </a:p>
          <a:p>
            <a:pPr marL="32004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6164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424" y="721189"/>
            <a:ext cx="5367180" cy="622089"/>
          </a:xfrm>
        </p:spPr>
        <p:txBody>
          <a:bodyPr/>
          <a:lstStyle/>
          <a:p>
            <a:r>
              <a:rPr lang="en-US" dirty="0" err="1"/>
              <a:t>CourseListDao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791" y="2274431"/>
            <a:ext cx="7280795" cy="360443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37660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3557"/>
            <a:ext cx="4966624" cy="593767"/>
          </a:xfrm>
        </p:spPr>
        <p:txBody>
          <a:bodyPr/>
          <a:lstStyle/>
          <a:p>
            <a:r>
              <a:rPr lang="en-US" dirty="0"/>
              <a:t>Create a New Record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497" y="1584278"/>
            <a:ext cx="7968581" cy="484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1571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3557"/>
            <a:ext cx="4966624" cy="593767"/>
          </a:xfrm>
        </p:spPr>
        <p:txBody>
          <a:bodyPr/>
          <a:lstStyle/>
          <a:p>
            <a:r>
              <a:rPr lang="en-US" dirty="0"/>
              <a:t>Insert a New Record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688" y="1484613"/>
            <a:ext cx="9832374" cy="4916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2120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608" y="749511"/>
            <a:ext cx="3522196" cy="670641"/>
          </a:xfrm>
        </p:spPr>
        <p:txBody>
          <a:bodyPr/>
          <a:lstStyle/>
          <a:p>
            <a:r>
              <a:rPr lang="en-US" dirty="0"/>
              <a:t>Read a Record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197" y="1560291"/>
            <a:ext cx="7995706" cy="4747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254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654" y="745465"/>
            <a:ext cx="3983442" cy="654457"/>
          </a:xfrm>
        </p:spPr>
        <p:txBody>
          <a:bodyPr/>
          <a:lstStyle/>
          <a:p>
            <a:r>
              <a:rPr lang="en-US" dirty="0"/>
              <a:t>Update a Record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203" y="1599564"/>
            <a:ext cx="9960055" cy="482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0672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562" y="753557"/>
            <a:ext cx="3833739" cy="597813"/>
          </a:xfrm>
        </p:spPr>
        <p:txBody>
          <a:bodyPr/>
          <a:lstStyle/>
          <a:p>
            <a:r>
              <a:rPr lang="en-US" dirty="0"/>
              <a:t>Delete a Record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428" y="1351370"/>
            <a:ext cx="7601490" cy="5211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5843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25235"/>
            <a:ext cx="10417284" cy="707055"/>
          </a:xfrm>
        </p:spPr>
        <p:txBody>
          <a:bodyPr/>
          <a:lstStyle/>
          <a:p>
            <a:r>
              <a:rPr lang="en-US" dirty="0"/>
              <a:t>Testing </a:t>
            </a:r>
            <a:r>
              <a:rPr lang="en-US" dirty="0" err="1"/>
              <a:t>CourseList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561" y="1432290"/>
            <a:ext cx="8039726" cy="490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0810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949465" y="746490"/>
            <a:ext cx="6988822" cy="62511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Creating An Entity (continued)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F05E988-6594-381A-0453-1A2D0121F8E8}"/>
              </a:ext>
            </a:extLst>
          </p:cNvPr>
          <p:cNvSpPr txBox="1">
            <a:spLocks/>
          </p:cNvSpPr>
          <p:nvPr/>
        </p:nvSpPr>
        <p:spPr>
          <a:xfrm>
            <a:off x="936515" y="22121"/>
            <a:ext cx="10337073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</a:rPr>
              <a:t>CSEN160_09_2_JPA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application.B_StudentManagement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3C756D-8937-A594-1A82-808BE8B46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8538" y="1570312"/>
            <a:ext cx="7564439" cy="463626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72401899"/>
      </p:ext>
    </p:extLst>
  </p:cSld>
  <p:clrMapOvr>
    <a:masterClrMapping/>
  </p:clrMapOvr>
  <p:transition>
    <p:wipe/>
    <p:sndAc>
      <p:stSnd>
        <p:snd r:embed="rId2" name="camera.wav"/>
      </p:stSnd>
    </p:sndAc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altLang="en-US" dirty="0"/>
              <a:t>JPQL</a:t>
            </a:r>
            <a:br>
              <a:rPr lang="en-US" altLang="en-US" dirty="0"/>
            </a:br>
            <a:r>
              <a:rPr lang="en-US" altLang="en-US" dirty="0"/>
              <a:t>Query Language</a:t>
            </a:r>
            <a:endParaRPr lang="en-US" dirty="0"/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095608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7603"/>
            <a:ext cx="9376783" cy="690871"/>
          </a:xfrm>
        </p:spPr>
        <p:txBody>
          <a:bodyPr>
            <a:normAutofit/>
          </a:bodyPr>
          <a:lstStyle/>
          <a:p>
            <a:r>
              <a:rPr lang="en-US" dirty="0"/>
              <a:t>Java Persistence Query Language (JPQL)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936516" y="1830345"/>
            <a:ext cx="10404472" cy="480512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Query language for JPA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Similar to SQL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Used for: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SELECT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DELETE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UPDATE</a:t>
            </a:r>
          </a:p>
        </p:txBody>
      </p:sp>
    </p:spTree>
    <p:extLst>
      <p:ext uri="{BB962C8B-B14F-4D97-AF65-F5344CB8AC3E}">
        <p14:creationId xmlns:p14="http://schemas.microsoft.com/office/powerpoint/2010/main" val="14295621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5695"/>
            <a:ext cx="3655714" cy="622089"/>
          </a:xfrm>
        </p:spPr>
        <p:txBody>
          <a:bodyPr/>
          <a:lstStyle/>
          <a:p>
            <a:r>
              <a:rPr lang="en-US" dirty="0"/>
              <a:t>Interface </a:t>
            </a:r>
            <a:r>
              <a:rPr lang="en-US" dirty="0">
                <a:solidFill>
                  <a:srgbClr val="FF0000"/>
                </a:solidFill>
              </a:rPr>
              <a:t>Query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936516" y="1692779"/>
            <a:ext cx="10457070" cy="4950781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0000FF"/>
                </a:solidFill>
              </a:rPr>
              <a:t>int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executeUpdate</a:t>
            </a:r>
            <a:r>
              <a:rPr lang="en-US" dirty="0">
                <a:solidFill>
                  <a:srgbClr val="0000FF"/>
                </a:solidFill>
              </a:rPr>
              <a:t>() </a:t>
            </a:r>
          </a:p>
          <a:p>
            <a:pPr marL="0" indent="0">
              <a:buNone/>
            </a:pPr>
            <a:r>
              <a:rPr lang="en-US" dirty="0"/>
              <a:t>          </a:t>
            </a:r>
            <a:r>
              <a:rPr lang="en-US" dirty="0">
                <a:solidFill>
                  <a:schemeClr val="tx1"/>
                </a:solidFill>
              </a:rPr>
              <a:t>Execute an update or delete statement</a:t>
            </a:r>
          </a:p>
          <a:p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java.lang.Object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getParameterValue</a:t>
            </a:r>
            <a:r>
              <a:rPr lang="en-US" dirty="0">
                <a:solidFill>
                  <a:srgbClr val="0000FF"/>
                </a:solidFill>
              </a:rPr>
              <a:t>(</a:t>
            </a:r>
            <a:r>
              <a:rPr lang="en-US" dirty="0" err="1">
                <a:solidFill>
                  <a:srgbClr val="0000FF"/>
                </a:solidFill>
              </a:rPr>
              <a:t>java.lang.String</a:t>
            </a:r>
            <a:r>
              <a:rPr lang="en-US" dirty="0">
                <a:solidFill>
                  <a:srgbClr val="0000FF"/>
                </a:solidFill>
              </a:rPr>
              <a:t> name) </a:t>
            </a:r>
          </a:p>
          <a:p>
            <a:pPr marL="0" indent="0">
              <a:buNone/>
            </a:pPr>
            <a:r>
              <a:rPr lang="en-US" dirty="0"/>
              <a:t>          </a:t>
            </a:r>
            <a:r>
              <a:rPr lang="en-US" dirty="0">
                <a:solidFill>
                  <a:schemeClr val="tx1"/>
                </a:solidFill>
              </a:rPr>
              <a:t>Return the value bound to the named parameter. </a:t>
            </a:r>
          </a:p>
          <a:p>
            <a:r>
              <a:rPr lang="en-US" dirty="0" err="1">
                <a:solidFill>
                  <a:srgbClr val="0000FF"/>
                </a:solidFill>
              </a:rPr>
              <a:t>java.util.List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getResultList</a:t>
            </a:r>
            <a:r>
              <a:rPr lang="en-US" dirty="0">
                <a:solidFill>
                  <a:srgbClr val="0000FF"/>
                </a:solidFill>
              </a:rPr>
              <a:t>() </a:t>
            </a:r>
          </a:p>
          <a:p>
            <a:pPr marL="0" indent="0">
              <a:buNone/>
            </a:pPr>
            <a:r>
              <a:rPr lang="en-US" dirty="0"/>
              <a:t>          </a:t>
            </a:r>
            <a:r>
              <a:rPr lang="en-US" dirty="0">
                <a:solidFill>
                  <a:schemeClr val="tx1"/>
                </a:solidFill>
              </a:rPr>
              <a:t>Execute a SELECT query and return the query results as an </a:t>
            </a:r>
            <a:r>
              <a:rPr lang="en-US" dirty="0" err="1">
                <a:solidFill>
                  <a:schemeClr val="tx1"/>
                </a:solidFill>
              </a:rPr>
              <a:t>untyped</a:t>
            </a:r>
            <a:r>
              <a:rPr lang="en-US" dirty="0">
                <a:solidFill>
                  <a:schemeClr val="tx1"/>
                </a:solidFill>
              </a:rPr>
              <a:t> List.</a:t>
            </a:r>
          </a:p>
          <a:p>
            <a:r>
              <a:rPr lang="en-US" dirty="0">
                <a:solidFill>
                  <a:srgbClr val="0000FF"/>
                </a:solidFill>
              </a:rPr>
              <a:t>Query </a:t>
            </a:r>
            <a:r>
              <a:rPr lang="en-US" dirty="0" err="1">
                <a:solidFill>
                  <a:srgbClr val="0000FF"/>
                </a:solidFill>
              </a:rPr>
              <a:t>setParameter</a:t>
            </a:r>
            <a:r>
              <a:rPr lang="en-US" dirty="0">
                <a:solidFill>
                  <a:srgbClr val="0000FF"/>
                </a:solidFill>
              </a:rPr>
              <a:t>(</a:t>
            </a:r>
            <a:r>
              <a:rPr lang="en-US" dirty="0" err="1">
                <a:solidFill>
                  <a:srgbClr val="0000FF"/>
                </a:solidFill>
              </a:rPr>
              <a:t>int</a:t>
            </a:r>
            <a:r>
              <a:rPr lang="en-US" dirty="0">
                <a:solidFill>
                  <a:srgbClr val="0000FF"/>
                </a:solidFill>
              </a:rPr>
              <a:t> position, </a:t>
            </a:r>
            <a:r>
              <a:rPr lang="en-US" dirty="0" err="1">
                <a:solidFill>
                  <a:srgbClr val="0000FF"/>
                </a:solidFill>
              </a:rPr>
              <a:t>java.lang.Object</a:t>
            </a:r>
            <a:r>
              <a:rPr lang="en-US" dirty="0">
                <a:solidFill>
                  <a:srgbClr val="0000FF"/>
                </a:solidFill>
              </a:rPr>
              <a:t> value) </a:t>
            </a:r>
          </a:p>
          <a:p>
            <a:pPr marL="0" indent="0">
              <a:buNone/>
            </a:pPr>
            <a:r>
              <a:rPr lang="en-US" dirty="0"/>
              <a:t>          </a:t>
            </a:r>
            <a:r>
              <a:rPr lang="en-US" dirty="0">
                <a:solidFill>
                  <a:schemeClr val="tx1"/>
                </a:solidFill>
              </a:rPr>
              <a:t>Bind an argument to a positional parameter.</a:t>
            </a:r>
          </a:p>
        </p:txBody>
      </p:sp>
    </p:spTree>
    <p:extLst>
      <p:ext uri="{BB962C8B-B14F-4D97-AF65-F5344CB8AC3E}">
        <p14:creationId xmlns:p14="http://schemas.microsoft.com/office/powerpoint/2010/main" val="580169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41420"/>
            <a:ext cx="5767735" cy="792022"/>
          </a:xfrm>
        </p:spPr>
        <p:txBody>
          <a:bodyPr/>
          <a:lstStyle/>
          <a:p>
            <a:r>
              <a:rPr lang="en-US" dirty="0"/>
              <a:t>Interface </a:t>
            </a:r>
            <a:r>
              <a:rPr lang="en-US" dirty="0" err="1">
                <a:solidFill>
                  <a:srgbClr val="92D050"/>
                </a:solidFill>
              </a:rPr>
              <a:t>TypedQuery</a:t>
            </a:r>
            <a:r>
              <a:rPr lang="en-US" dirty="0"/>
              <a:t>&lt;</a:t>
            </a:r>
            <a:r>
              <a:rPr lang="en-US" dirty="0">
                <a:solidFill>
                  <a:srgbClr val="92D050"/>
                </a:solidFill>
              </a:rPr>
              <a:t>X</a:t>
            </a:r>
            <a:r>
              <a:rPr lang="en-US" dirty="0"/>
              <a:t>&gt;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936516" y="1802023"/>
            <a:ext cx="10408518" cy="4833446"/>
          </a:xfrm>
        </p:spPr>
        <p:txBody>
          <a:bodyPr>
            <a:normAutofit/>
          </a:bodyPr>
          <a:lstStyle/>
          <a:p>
            <a:r>
              <a:rPr lang="en-US" sz="2600" dirty="0"/>
              <a:t> </a:t>
            </a:r>
            <a:r>
              <a:rPr lang="en-US" sz="2600" dirty="0" err="1">
                <a:solidFill>
                  <a:srgbClr val="0000FF"/>
                </a:solidFill>
              </a:rPr>
              <a:t>java.util.List</a:t>
            </a:r>
            <a:r>
              <a:rPr lang="en-US" sz="2600" dirty="0">
                <a:solidFill>
                  <a:srgbClr val="0000FF"/>
                </a:solidFill>
              </a:rPr>
              <a:t>&lt;</a:t>
            </a:r>
            <a:r>
              <a:rPr lang="en-US" sz="2600" b="1" dirty="0">
                <a:solidFill>
                  <a:srgbClr val="92D050"/>
                </a:solidFill>
              </a:rPr>
              <a:t>X</a:t>
            </a:r>
            <a:r>
              <a:rPr lang="en-US" sz="2600" dirty="0">
                <a:solidFill>
                  <a:srgbClr val="0000FF"/>
                </a:solidFill>
              </a:rPr>
              <a:t>&gt; </a:t>
            </a:r>
            <a:r>
              <a:rPr lang="en-US" sz="2600" dirty="0" err="1">
                <a:solidFill>
                  <a:srgbClr val="0000FF"/>
                </a:solidFill>
              </a:rPr>
              <a:t>getResultList</a:t>
            </a:r>
            <a:r>
              <a:rPr lang="en-US" sz="2600" dirty="0">
                <a:solidFill>
                  <a:srgbClr val="0000FF"/>
                </a:solidFill>
              </a:rPr>
              <a:t>() </a:t>
            </a:r>
          </a:p>
          <a:p>
            <a:pPr marL="0" indent="0">
              <a:buNone/>
            </a:pPr>
            <a:r>
              <a:rPr lang="en-US" sz="2600" dirty="0"/>
              <a:t>          </a:t>
            </a:r>
            <a:r>
              <a:rPr lang="en-US" sz="2600" dirty="0">
                <a:solidFill>
                  <a:schemeClr val="tx1"/>
                </a:solidFill>
              </a:rPr>
              <a:t>Execute a SELECT query and return the query results as a typed List.</a:t>
            </a:r>
          </a:p>
          <a:p>
            <a:r>
              <a:rPr lang="en-US" sz="2600" dirty="0">
                <a:solidFill>
                  <a:srgbClr val="0000FF"/>
                </a:solidFill>
              </a:rPr>
              <a:t> </a:t>
            </a:r>
            <a:r>
              <a:rPr lang="en-US" sz="2600" b="1" dirty="0">
                <a:solidFill>
                  <a:srgbClr val="92D050"/>
                </a:solidFill>
              </a:rPr>
              <a:t>X</a:t>
            </a:r>
            <a:r>
              <a:rPr lang="en-US" sz="2600" dirty="0">
                <a:solidFill>
                  <a:srgbClr val="0000FF"/>
                </a:solidFill>
              </a:rPr>
              <a:t> </a:t>
            </a:r>
            <a:r>
              <a:rPr lang="en-US" sz="2600" dirty="0" err="1">
                <a:solidFill>
                  <a:srgbClr val="0000FF"/>
                </a:solidFill>
              </a:rPr>
              <a:t>getSingleResult</a:t>
            </a:r>
            <a:r>
              <a:rPr lang="en-US" sz="2600" dirty="0">
                <a:solidFill>
                  <a:srgbClr val="0000FF"/>
                </a:solidFill>
              </a:rPr>
              <a:t>() </a:t>
            </a:r>
          </a:p>
          <a:p>
            <a:pPr marL="0" indent="0">
              <a:buNone/>
            </a:pPr>
            <a:r>
              <a:rPr lang="en-US" sz="2600" dirty="0"/>
              <a:t>          </a:t>
            </a:r>
            <a:r>
              <a:rPr lang="en-US" sz="2600" dirty="0">
                <a:solidFill>
                  <a:schemeClr val="tx1"/>
                </a:solidFill>
              </a:rPr>
              <a:t>Execute a SELECT query that returns a single result.</a:t>
            </a:r>
          </a:p>
          <a:p>
            <a:r>
              <a:rPr lang="en-US" sz="2600" dirty="0" err="1">
                <a:solidFill>
                  <a:srgbClr val="0000FF"/>
                </a:solidFill>
              </a:rPr>
              <a:t>TypedQuery</a:t>
            </a:r>
            <a:r>
              <a:rPr lang="en-US" sz="2600" dirty="0">
                <a:solidFill>
                  <a:srgbClr val="0000FF"/>
                </a:solidFill>
              </a:rPr>
              <a:t>&lt;</a:t>
            </a:r>
            <a:r>
              <a:rPr lang="en-US" sz="2600" b="1" dirty="0">
                <a:solidFill>
                  <a:srgbClr val="92D050"/>
                </a:solidFill>
              </a:rPr>
              <a:t>X</a:t>
            </a:r>
            <a:r>
              <a:rPr lang="en-US" sz="2600" dirty="0">
                <a:solidFill>
                  <a:srgbClr val="0000FF"/>
                </a:solidFill>
              </a:rPr>
              <a:t>&gt; </a:t>
            </a:r>
            <a:r>
              <a:rPr lang="en-US" sz="2600" dirty="0" err="1">
                <a:solidFill>
                  <a:srgbClr val="0000FF"/>
                </a:solidFill>
              </a:rPr>
              <a:t>setParameter</a:t>
            </a:r>
            <a:r>
              <a:rPr lang="en-US" sz="2600" dirty="0">
                <a:solidFill>
                  <a:srgbClr val="0000FF"/>
                </a:solidFill>
              </a:rPr>
              <a:t>(</a:t>
            </a:r>
            <a:r>
              <a:rPr lang="en-US" sz="2600" dirty="0" err="1">
                <a:solidFill>
                  <a:srgbClr val="0000FF"/>
                </a:solidFill>
              </a:rPr>
              <a:t>int</a:t>
            </a:r>
            <a:r>
              <a:rPr lang="en-US" sz="2600" dirty="0">
                <a:solidFill>
                  <a:srgbClr val="0000FF"/>
                </a:solidFill>
              </a:rPr>
              <a:t> position, </a:t>
            </a:r>
            <a:r>
              <a:rPr lang="en-US" sz="2600" dirty="0" err="1">
                <a:solidFill>
                  <a:srgbClr val="0000FF"/>
                </a:solidFill>
              </a:rPr>
              <a:t>java.lang.Object</a:t>
            </a:r>
            <a:r>
              <a:rPr lang="en-US" sz="2600" dirty="0">
                <a:solidFill>
                  <a:srgbClr val="0000FF"/>
                </a:solidFill>
              </a:rPr>
              <a:t> value) </a:t>
            </a:r>
          </a:p>
          <a:p>
            <a:pPr marL="0" indent="0">
              <a:buNone/>
            </a:pPr>
            <a:r>
              <a:rPr lang="en-US" sz="2600" dirty="0">
                <a:solidFill>
                  <a:schemeClr val="tx1"/>
                </a:solidFill>
              </a:rPr>
              <a:t>          Bind an argument to a positional parameter.</a:t>
            </a:r>
          </a:p>
          <a:p>
            <a:r>
              <a:rPr lang="en-US" sz="2600" dirty="0" err="1">
                <a:solidFill>
                  <a:srgbClr val="0000FF"/>
                </a:solidFill>
              </a:rPr>
              <a:t>TypedQuery</a:t>
            </a:r>
            <a:r>
              <a:rPr lang="en-US" sz="2600" dirty="0">
                <a:solidFill>
                  <a:srgbClr val="0000FF"/>
                </a:solidFill>
              </a:rPr>
              <a:t>&lt;</a:t>
            </a:r>
            <a:r>
              <a:rPr lang="en-US" sz="2600" b="1" dirty="0">
                <a:solidFill>
                  <a:srgbClr val="92D050"/>
                </a:solidFill>
              </a:rPr>
              <a:t>X</a:t>
            </a:r>
            <a:r>
              <a:rPr lang="en-US" sz="2600" dirty="0">
                <a:solidFill>
                  <a:srgbClr val="0000FF"/>
                </a:solidFill>
              </a:rPr>
              <a:t>&gt; </a:t>
            </a:r>
            <a:r>
              <a:rPr lang="en-US" sz="2600" dirty="0" err="1">
                <a:solidFill>
                  <a:srgbClr val="0000FF"/>
                </a:solidFill>
              </a:rPr>
              <a:t>setParameter</a:t>
            </a:r>
            <a:r>
              <a:rPr lang="en-US" sz="2600" dirty="0">
                <a:solidFill>
                  <a:srgbClr val="0000FF"/>
                </a:solidFill>
              </a:rPr>
              <a:t>(</a:t>
            </a:r>
            <a:r>
              <a:rPr lang="en-US" sz="2600" dirty="0" err="1">
                <a:solidFill>
                  <a:srgbClr val="0000FF"/>
                </a:solidFill>
              </a:rPr>
              <a:t>java.lang.String</a:t>
            </a:r>
            <a:r>
              <a:rPr lang="en-US" sz="2600" dirty="0">
                <a:solidFill>
                  <a:srgbClr val="0000FF"/>
                </a:solidFill>
              </a:rPr>
              <a:t> name, </a:t>
            </a:r>
            <a:r>
              <a:rPr lang="en-US" sz="2600" dirty="0" err="1">
                <a:solidFill>
                  <a:srgbClr val="0000FF"/>
                </a:solidFill>
              </a:rPr>
              <a:t>java.lang.Object</a:t>
            </a:r>
            <a:r>
              <a:rPr lang="en-US" sz="2600" dirty="0">
                <a:solidFill>
                  <a:srgbClr val="0000FF"/>
                </a:solidFill>
              </a:rPr>
              <a:t> value) </a:t>
            </a:r>
          </a:p>
          <a:p>
            <a:pPr marL="0" indent="0">
              <a:buNone/>
            </a:pPr>
            <a:r>
              <a:rPr lang="en-US" dirty="0"/>
              <a:t>          </a:t>
            </a:r>
            <a:r>
              <a:rPr lang="en-US" dirty="0">
                <a:solidFill>
                  <a:schemeClr val="tx1"/>
                </a:solidFill>
              </a:rPr>
              <a:t>Bind an argument to a named parameter.</a:t>
            </a:r>
          </a:p>
        </p:txBody>
      </p:sp>
    </p:spTree>
    <p:extLst>
      <p:ext uri="{BB962C8B-B14F-4D97-AF65-F5344CB8AC3E}">
        <p14:creationId xmlns:p14="http://schemas.microsoft.com/office/powerpoint/2010/main" val="29859512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21189"/>
            <a:ext cx="10417284" cy="690871"/>
          </a:xfrm>
        </p:spPr>
        <p:txBody>
          <a:bodyPr/>
          <a:lstStyle/>
          <a:p>
            <a:r>
              <a:rPr lang="en-US" dirty="0"/>
              <a:t>Query vs. </a:t>
            </a:r>
            <a:r>
              <a:rPr lang="en-US" dirty="0" err="1"/>
              <a:t>TypedQuery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936516" y="1603767"/>
            <a:ext cx="10417284" cy="502360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Advantage of  </a:t>
            </a:r>
            <a:r>
              <a:rPr lang="en-US" dirty="0" err="1">
                <a:solidFill>
                  <a:schemeClr val="tx1"/>
                </a:solidFill>
              </a:rPr>
              <a:t>TypedQuery</a:t>
            </a:r>
            <a:r>
              <a:rPr lang="en-US" dirty="0">
                <a:solidFill>
                  <a:schemeClr val="tx1"/>
                </a:solidFill>
              </a:rPr>
              <a:t> over </a:t>
            </a:r>
            <a:r>
              <a:rPr lang="en-US" b="1" dirty="0">
                <a:solidFill>
                  <a:srgbClr val="FF0000"/>
                </a:solidFill>
              </a:rPr>
              <a:t>Query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is that </a:t>
            </a:r>
            <a:r>
              <a:rPr lang="en-US" dirty="0" err="1">
                <a:solidFill>
                  <a:schemeClr val="tx1"/>
                </a:solidFill>
              </a:rPr>
              <a:t>TypedQuery</a:t>
            </a:r>
            <a:r>
              <a:rPr lang="en-US" dirty="0">
                <a:solidFill>
                  <a:schemeClr val="tx1"/>
                </a:solidFill>
              </a:rPr>
              <a:t> is type safe.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  <a:t>Query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6137" y="2109691"/>
            <a:ext cx="6107205" cy="4412490"/>
          </a:xfrm>
          <a:prstGeom prst="rect">
            <a:avLst/>
          </a:prstGeom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3358195" y="3277274"/>
            <a:ext cx="5583504" cy="191781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9714489" y="3617140"/>
            <a:ext cx="1842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No generics!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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10" name="Straight Arrow Connector 9"/>
          <p:cNvCxnSpPr>
            <a:stCxn id="8" idx="1"/>
          </p:cNvCxnSpPr>
          <p:nvPr/>
        </p:nvCxnSpPr>
        <p:spPr>
          <a:xfrm flipH="1">
            <a:off x="5927416" y="3801806"/>
            <a:ext cx="3787073" cy="53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43976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21189"/>
            <a:ext cx="10417284" cy="690871"/>
          </a:xfrm>
        </p:spPr>
        <p:txBody>
          <a:bodyPr/>
          <a:lstStyle/>
          <a:p>
            <a:r>
              <a:rPr lang="en-US" dirty="0"/>
              <a:t>Query vs. </a:t>
            </a:r>
            <a:r>
              <a:rPr lang="en-US" dirty="0" err="1"/>
              <a:t>TypedQuery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936516" y="1603767"/>
            <a:ext cx="10417284" cy="502360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Advantage of  </a:t>
            </a:r>
            <a:r>
              <a:rPr lang="en-US" b="1" dirty="0" err="1">
                <a:solidFill>
                  <a:srgbClr val="92D050"/>
                </a:solidFill>
              </a:rPr>
              <a:t>TypedQuery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over Query is that </a:t>
            </a:r>
            <a:r>
              <a:rPr lang="en-US" b="1" dirty="0" err="1">
                <a:solidFill>
                  <a:srgbClr val="92D050"/>
                </a:solidFill>
              </a:rPr>
              <a:t>TypedQuery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is type safe.</a:t>
            </a:r>
          </a:p>
          <a:p>
            <a:pPr marL="0" indent="0">
              <a:buNone/>
            </a:pPr>
            <a:r>
              <a:rPr lang="en-US" b="1" dirty="0" err="1">
                <a:solidFill>
                  <a:srgbClr val="92D050"/>
                </a:solidFill>
                <a:latin typeface="Times New Roman"/>
                <a:cs typeface="Times New Roman"/>
              </a:rPr>
              <a:t>TypedQuery</a:t>
            </a:r>
            <a:endParaRPr lang="en-US" b="1" dirty="0">
              <a:solidFill>
                <a:srgbClr val="92D050"/>
              </a:solidFill>
              <a:latin typeface="Times New Roman"/>
              <a:cs typeface="Times New 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6778" y="2144468"/>
            <a:ext cx="7638295" cy="432836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560495" y="3349745"/>
            <a:ext cx="7137175" cy="1748237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823740" y="3787074"/>
            <a:ext cx="1932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Yes generics! </a:t>
            </a:r>
            <a:r>
              <a:rPr lang="en-US" b="1" dirty="0">
                <a:solidFill>
                  <a:srgbClr val="92D050"/>
                </a:solidFill>
                <a:sym typeface="Wingdings" panose="05000000000000000000" pitchFamily="2" charset="2"/>
              </a:rPr>
              <a:t></a:t>
            </a:r>
            <a:endParaRPr lang="en-US" b="1" dirty="0">
              <a:solidFill>
                <a:srgbClr val="92D050"/>
              </a:solidFill>
            </a:endParaRPr>
          </a:p>
        </p:txBody>
      </p:sp>
      <p:cxnSp>
        <p:nvCxnSpPr>
          <p:cNvPr id="11" name="Straight Arrow Connector 10"/>
          <p:cNvCxnSpPr>
            <a:cxnSpLocks/>
          </p:cNvCxnSpPr>
          <p:nvPr/>
        </p:nvCxnSpPr>
        <p:spPr>
          <a:xfrm flipV="1">
            <a:off x="2698694" y="3899065"/>
            <a:ext cx="1651633" cy="82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16076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25235"/>
            <a:ext cx="7758376" cy="751561"/>
          </a:xfrm>
        </p:spPr>
        <p:txBody>
          <a:bodyPr/>
          <a:lstStyle/>
          <a:p>
            <a:r>
              <a:rPr lang="en-US" dirty="0"/>
              <a:t>Select Query for a List of Objects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936516" y="1870805"/>
            <a:ext cx="10400426" cy="47565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This returns all the rows with enrollment greater than 10:</a:t>
            </a:r>
          </a:p>
          <a:p>
            <a:pPr marL="0" indent="0">
              <a:buNone/>
            </a:pPr>
            <a:r>
              <a:rPr lang="en-US" sz="1800" dirty="0">
                <a:latin typeface="Courier"/>
                <a:cs typeface="Courier"/>
              </a:rPr>
              <a:t>  </a:t>
            </a:r>
          </a:p>
          <a:p>
            <a:pPr marL="0" indent="0">
              <a:buNone/>
            </a:pPr>
            <a:endParaRPr lang="en-US" sz="1800" dirty="0"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>
                <a:latin typeface="Courier"/>
                <a:cs typeface="Courier"/>
              </a:rPr>
              <a:t>   </a:t>
            </a:r>
            <a:endParaRPr lang="en-US" dirty="0"/>
          </a:p>
          <a:p>
            <a:endParaRPr lang="en-US" sz="1800" u="sng" dirty="0">
              <a:latin typeface="Courier"/>
              <a:cs typeface="Courier"/>
            </a:endParaRPr>
          </a:p>
          <a:p>
            <a:pPr marL="0" indent="0">
              <a:buNone/>
            </a:pPr>
            <a:endParaRPr lang="en-US" sz="1800" u="sng" dirty="0">
              <a:latin typeface="Courier"/>
              <a:cs typeface="Courier"/>
            </a:endParaRPr>
          </a:p>
          <a:p>
            <a:pPr marL="0" indent="0">
              <a:buNone/>
            </a:pPr>
            <a:endParaRPr lang="en-US" sz="1800" u="sng" dirty="0">
              <a:latin typeface="Courier"/>
              <a:cs typeface="Courier"/>
            </a:endParaRPr>
          </a:p>
          <a:p>
            <a:pPr marL="0" indent="0">
              <a:buNone/>
            </a:pPr>
            <a:endParaRPr lang="en-US" sz="1800" dirty="0">
              <a:latin typeface="Courier"/>
              <a:cs typeface="Courier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270" y="2426293"/>
            <a:ext cx="9068858" cy="420108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823731" y="3637370"/>
            <a:ext cx="323681" cy="16184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7141221" y="2205080"/>
            <a:ext cx="2828167" cy="14322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95075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33327"/>
            <a:ext cx="8919583" cy="719193"/>
          </a:xfrm>
        </p:spPr>
        <p:txBody>
          <a:bodyPr>
            <a:normAutofit/>
          </a:bodyPr>
          <a:lstStyle/>
          <a:p>
            <a:r>
              <a:rPr lang="en-US" dirty="0"/>
              <a:t>Select Query For a Single Data Element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936516" y="1767739"/>
            <a:ext cx="10404472" cy="487582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This returns the number of rows in </a:t>
            </a:r>
            <a:r>
              <a:rPr lang="en-US" dirty="0" err="1">
                <a:solidFill>
                  <a:schemeClr val="tx1"/>
                </a:solidFill>
              </a:rPr>
              <a:t>CourseList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tx1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en-US" sz="1800" dirty="0">
              <a:solidFill>
                <a:schemeClr val="tx1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en-US" sz="1800" dirty="0">
              <a:solidFill>
                <a:schemeClr val="tx1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en-US" sz="1800" dirty="0">
              <a:solidFill>
                <a:schemeClr val="tx1"/>
              </a:solidFill>
              <a:latin typeface="Courier"/>
              <a:cs typeface="Courier"/>
            </a:endParaRPr>
          </a:p>
          <a:p>
            <a:endParaRPr lang="en-US" dirty="0">
              <a:solidFill>
                <a:schemeClr val="tx1"/>
              </a:solidFill>
              <a:cs typeface="Calibri"/>
            </a:endParaRPr>
          </a:p>
          <a:p>
            <a:endParaRPr lang="en-US" dirty="0">
              <a:solidFill>
                <a:schemeClr val="tx1"/>
              </a:solidFill>
              <a:cs typeface="Calibri"/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cs typeface="Calibri"/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cs typeface="Calibri"/>
            </a:endParaRPr>
          </a:p>
          <a:p>
            <a:r>
              <a:rPr lang="en-US" dirty="0">
                <a:solidFill>
                  <a:schemeClr val="tx1"/>
                </a:solidFill>
                <a:cs typeface="Calibri"/>
              </a:rPr>
              <a:t>Other functions are SUM, MIN, MAX, AVG</a:t>
            </a:r>
          </a:p>
          <a:p>
            <a:endParaRPr lang="en-US" dirty="0">
              <a:cs typeface="Calibri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597" y="2253261"/>
            <a:ext cx="5843282" cy="3630871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 flipV="1">
            <a:off x="4648874" y="3714244"/>
            <a:ext cx="4309009" cy="2277908"/>
          </a:xfrm>
          <a:prstGeom prst="straightConnector1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6425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45F40-60D6-1749-00FF-62E591C68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19885-26E4-1CF4-D48A-A37B84E30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57604"/>
            <a:ext cx="3570748" cy="767746"/>
          </a:xfrm>
        </p:spPr>
        <p:txBody>
          <a:bodyPr/>
          <a:lstStyle/>
          <a:p>
            <a:r>
              <a:rPr lang="en-US" dirty="0"/>
              <a:t>JPQL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E0676B8-7F65-C717-2D93-4599FA35503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36516" y="1838437"/>
            <a:ext cx="10388288" cy="479298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JPQL: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Is different to plain SQL/JDBC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Very powerful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What we saw so far is only a tiny snapshot</a:t>
            </a:r>
          </a:p>
        </p:txBody>
      </p:sp>
    </p:spTree>
    <p:extLst>
      <p:ext uri="{BB962C8B-B14F-4D97-AF65-F5344CB8AC3E}">
        <p14:creationId xmlns:p14="http://schemas.microsoft.com/office/powerpoint/2010/main" val="21919110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Done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964360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A25F2-3AE0-BDCF-0880-EDD5EEF55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E57A2-3A61-C5F8-EEFD-EA29617843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… to here …</a:t>
            </a:r>
          </a:p>
        </p:txBody>
      </p:sp>
    </p:spTree>
    <p:extLst>
      <p:ext uri="{BB962C8B-B14F-4D97-AF65-F5344CB8AC3E}">
        <p14:creationId xmlns:p14="http://schemas.microsoft.com/office/powerpoint/2010/main" val="2815624037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1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1661</TotalTime>
  <Words>1190</Words>
  <Application>Microsoft Office PowerPoint</Application>
  <PresentationFormat>Widescreen</PresentationFormat>
  <Paragraphs>278</Paragraphs>
  <Slides>46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46</vt:i4>
      </vt:variant>
    </vt:vector>
  </HeadingPairs>
  <TitlesOfParts>
    <vt:vector size="56" baseType="lpstr">
      <vt:lpstr>Arial</vt:lpstr>
      <vt:lpstr>Arial Narrow</vt:lpstr>
      <vt:lpstr>Calibri</vt:lpstr>
      <vt:lpstr>Courier</vt:lpstr>
      <vt:lpstr>Garamond</vt:lpstr>
      <vt:lpstr>Times New Roman</vt:lpstr>
      <vt:lpstr>Wingdings</vt:lpstr>
      <vt:lpstr>SCUTemplate</vt:lpstr>
      <vt:lpstr>Custom Design</vt:lpstr>
      <vt:lpstr>1_SCUTemplate</vt:lpstr>
      <vt:lpstr>CSEN160</vt:lpstr>
      <vt:lpstr>Java Persistence API (JPA)</vt:lpstr>
      <vt:lpstr>JPA</vt:lpstr>
      <vt:lpstr>JPA</vt:lpstr>
      <vt:lpstr>JPA</vt:lpstr>
      <vt:lpstr>JPA</vt:lpstr>
      <vt:lpstr>Central Database Singleton</vt:lpstr>
      <vt:lpstr>HibernateUtil</vt:lpstr>
      <vt:lpstr>Java Persistence API (JPA) Entity Classes</vt:lpstr>
      <vt:lpstr>Overview</vt:lpstr>
      <vt:lpstr>Entity Classes</vt:lpstr>
      <vt:lpstr>Entity Class</vt:lpstr>
      <vt:lpstr>Persistable Types</vt:lpstr>
      <vt:lpstr>Annotation @Id</vt:lpstr>
      <vt:lpstr>Annotation @Generated</vt:lpstr>
      <vt:lpstr>Annotation @Column</vt:lpstr>
      <vt:lpstr>Creating An Entity</vt:lpstr>
      <vt:lpstr>Creating An Entity (continued)</vt:lpstr>
      <vt:lpstr>PowerPoint Presentation</vt:lpstr>
      <vt:lpstr>Data Access Object (DAO)</vt:lpstr>
      <vt:lpstr>DAO Interfaces</vt:lpstr>
      <vt:lpstr>Query</vt:lpstr>
      <vt:lpstr>Query</vt:lpstr>
      <vt:lpstr>Inserting a Record into Table</vt:lpstr>
      <vt:lpstr>DAO Data Access Object</vt:lpstr>
      <vt:lpstr>JPA DAO CRUD</vt:lpstr>
      <vt:lpstr>Overview</vt:lpstr>
      <vt:lpstr>CourseListDao</vt:lpstr>
      <vt:lpstr>Create a New Record</vt:lpstr>
      <vt:lpstr>Insert a New Record</vt:lpstr>
      <vt:lpstr>Read a Record</vt:lpstr>
      <vt:lpstr>Update a Record</vt:lpstr>
      <vt:lpstr>Delete a Record</vt:lpstr>
      <vt:lpstr>Testing CourseList</vt:lpstr>
      <vt:lpstr>PowerPoint Presentation</vt:lpstr>
      <vt:lpstr>JPQL Query Language</vt:lpstr>
      <vt:lpstr>Java Persistence Query Language (JPQL)</vt:lpstr>
      <vt:lpstr>Interface Query</vt:lpstr>
      <vt:lpstr>Interface TypedQuery&lt;X&gt;</vt:lpstr>
      <vt:lpstr>Query vs. TypedQuery</vt:lpstr>
      <vt:lpstr>Query vs. TypedQuery</vt:lpstr>
      <vt:lpstr>Select Query for a List of Objects</vt:lpstr>
      <vt:lpstr>Select Query For a Single Data Element</vt:lpstr>
      <vt:lpstr>JPQL</vt:lpstr>
      <vt:lpstr>Done</vt:lpstr>
      <vt:lpstr>… to here 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249</cp:revision>
  <cp:lastPrinted>2023-09-11T21:46:56Z</cp:lastPrinted>
  <dcterms:created xsi:type="dcterms:W3CDTF">2023-09-09T19:51:41Z</dcterms:created>
  <dcterms:modified xsi:type="dcterms:W3CDTF">2026-09-22T20:29:16Z</dcterms:modified>
</cp:coreProperties>
</file>