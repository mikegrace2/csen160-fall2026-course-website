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66"/>
  </p:notesMasterIdLst>
  <p:handoutMasterIdLst>
    <p:handoutMasterId r:id="rId67"/>
  </p:handoutMasterIdLst>
  <p:sldIdLst>
    <p:sldId id="333" r:id="rId4"/>
    <p:sldId id="397" r:id="rId5"/>
    <p:sldId id="398" r:id="rId6"/>
    <p:sldId id="427" r:id="rId7"/>
    <p:sldId id="339" r:id="rId8"/>
    <p:sldId id="334" r:id="rId9"/>
    <p:sldId id="340" r:id="rId10"/>
    <p:sldId id="342" r:id="rId11"/>
    <p:sldId id="344" r:id="rId12"/>
    <p:sldId id="390" r:id="rId13"/>
    <p:sldId id="430" r:id="rId14"/>
    <p:sldId id="343" r:id="rId15"/>
    <p:sldId id="389" r:id="rId16"/>
    <p:sldId id="346" r:id="rId17"/>
    <p:sldId id="347" r:id="rId18"/>
    <p:sldId id="410" r:id="rId19"/>
    <p:sldId id="348" r:id="rId20"/>
    <p:sldId id="349" r:id="rId21"/>
    <p:sldId id="350" r:id="rId22"/>
    <p:sldId id="351" r:id="rId23"/>
    <p:sldId id="352" r:id="rId24"/>
    <p:sldId id="354" r:id="rId25"/>
    <p:sldId id="355" r:id="rId26"/>
    <p:sldId id="356" r:id="rId27"/>
    <p:sldId id="392" r:id="rId28"/>
    <p:sldId id="357" r:id="rId29"/>
    <p:sldId id="358" r:id="rId30"/>
    <p:sldId id="359" r:id="rId31"/>
    <p:sldId id="360" r:id="rId32"/>
    <p:sldId id="393" r:id="rId33"/>
    <p:sldId id="361" r:id="rId34"/>
    <p:sldId id="362" r:id="rId35"/>
    <p:sldId id="363" r:id="rId36"/>
    <p:sldId id="364" r:id="rId37"/>
    <p:sldId id="366" r:id="rId38"/>
    <p:sldId id="367" r:id="rId39"/>
    <p:sldId id="394" r:id="rId40"/>
    <p:sldId id="370" r:id="rId41"/>
    <p:sldId id="395" r:id="rId42"/>
    <p:sldId id="373" r:id="rId43"/>
    <p:sldId id="374" r:id="rId44"/>
    <p:sldId id="375" r:id="rId45"/>
    <p:sldId id="411" r:id="rId46"/>
    <p:sldId id="504" r:id="rId47"/>
    <p:sldId id="413" r:id="rId48"/>
    <p:sldId id="414" r:id="rId49"/>
    <p:sldId id="384" r:id="rId50"/>
    <p:sldId id="415" r:id="rId51"/>
    <p:sldId id="428" r:id="rId52"/>
    <p:sldId id="416" r:id="rId53"/>
    <p:sldId id="417" r:id="rId54"/>
    <p:sldId id="418" r:id="rId55"/>
    <p:sldId id="419" r:id="rId56"/>
    <p:sldId id="429" r:id="rId57"/>
    <p:sldId id="420" r:id="rId58"/>
    <p:sldId id="421" r:id="rId59"/>
    <p:sldId id="422" r:id="rId60"/>
    <p:sldId id="423" r:id="rId61"/>
    <p:sldId id="424" r:id="rId62"/>
    <p:sldId id="425" r:id="rId63"/>
    <p:sldId id="426" r:id="rId64"/>
    <p:sldId id="336" r:id="rId6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4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7FF446-31D4-4FF5-B8B0-E393F5B4A965}" type="slidenum">
              <a:rPr lang="en-US" altLang="en-US">
                <a:latin typeface="Arial Narrow" panose="020B0606020202030204" pitchFamily="34" charset="0"/>
              </a:rPr>
              <a:pPr eaLnBrk="1" hangingPunct="1"/>
              <a:t>8</a:t>
            </a:fld>
            <a:endParaRPr lang="en-US" altLang="en-US">
              <a:latin typeface="Arial Narrow" panose="020B060602020203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537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01BC-C8E1-A786-B5AF-B7C8BA87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039DAE85-8DC4-E2B2-D928-BE4E27C071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7FF446-31D4-4FF5-B8B0-E393F5B4A965}" type="slidenum">
              <a:rPr lang="en-US" altLang="en-US">
                <a:latin typeface="Arial Narrow" panose="020B0606020202030204" pitchFamily="34" charset="0"/>
              </a:rPr>
              <a:pPr eaLnBrk="1" hangingPunct="1"/>
              <a:t>11</a:t>
            </a:fld>
            <a:endParaRPr lang="en-US" altLang="en-US">
              <a:latin typeface="Arial Narrow" panose="020B060602020203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81B3909-AEF3-7442-00FF-1052A784E2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6C3520B-13AC-34D1-2298-D92E55681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216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AA1202-12A8-4F27-B56A-5EA89147F869}" type="datetime1">
              <a:rPr lang="en-US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JDBC, Part 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85A869-BEBE-493B-9E69-B63EEBB0FB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758685"/>
      </p:ext>
    </p:extLst>
  </p:cSld>
  <p:clrMapOvr>
    <a:masterClrMapping/>
  </p:clrMapOvr>
  <p:transition>
    <p:wipe/>
    <p:sndAc>
      <p:stSnd>
        <p:snd r:embed="rId1" name="camera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B6411-0E39-42F4-931D-72C131D52666}" type="datetime1">
              <a:rPr lang="en-US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JDBC, Part I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A360DF-D743-46E5-BB61-FF978B71A2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68619"/>
      </p:ext>
    </p:extLst>
  </p:cSld>
  <p:clrMapOvr>
    <a:masterClrMapping/>
  </p:clrMapOvr>
  <p:transition>
    <p:wipe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5" r:id="rId14"/>
    <p:sldLayoutId id="214748368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dbc.postgresql.org/download/" TargetMode="External"/><Relationship Id="rId2" Type="http://schemas.openxmlformats.org/officeDocument/2006/relationships/hyperlink" Target="https://www.postgresql.org/download/" TargetMode="Externa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jenkov.com/tutorials/jdbc/transaction.html" TargetMode="External"/><Relationship Id="rId1" Type="http://schemas.openxmlformats.org/officeDocument/2006/relationships/slideLayout" Target="../slideLayouts/slideLayout3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155957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Download database:</a:t>
            </a:r>
          </a:p>
          <a:p>
            <a:r>
              <a:rPr lang="en-US" dirty="0">
                <a:hlinkClick r:id="rId2"/>
              </a:rPr>
              <a:t>https://www.postgresql.org/download/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Download JDBC driver:</a:t>
            </a:r>
          </a:p>
          <a:p>
            <a:r>
              <a:rPr lang="en-US" dirty="0">
                <a:hlinkClick r:id="rId3"/>
              </a:rPr>
              <a:t>https://jdbc.postgresql.org/download/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Install Process:</a:t>
            </a:r>
          </a:p>
          <a:p>
            <a:r>
              <a:rPr lang="en-US" dirty="0">
                <a:solidFill>
                  <a:schemeClr val="tx1"/>
                </a:solidFill>
              </a:rPr>
              <a:t>2 hours including IntelliJ/Eclipse setup</a:t>
            </a:r>
          </a:p>
        </p:txBody>
      </p:sp>
    </p:spTree>
    <p:extLst>
      <p:ext uri="{BB962C8B-B14F-4D97-AF65-F5344CB8AC3E}">
        <p14:creationId xmlns:p14="http://schemas.microsoft.com/office/powerpoint/2010/main" val="17386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8E8C0-43AD-68F9-1083-4870676D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4FE-6D81-01B9-3F13-0C932F46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DC035-2FDA-9852-3E13-38ADA0223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Why:</a:t>
            </a:r>
          </a:p>
          <a:p>
            <a:r>
              <a:rPr lang="en-US" b="1" dirty="0">
                <a:solidFill>
                  <a:schemeClr val="tx1"/>
                </a:solidFill>
              </a:rPr>
              <a:t>Easy to install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Easy to setup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Free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No known limitations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Powerful, even PLSQL is possible</a:t>
            </a:r>
          </a:p>
        </p:txBody>
      </p:sp>
    </p:spTree>
    <p:extLst>
      <p:ext uri="{BB962C8B-B14F-4D97-AF65-F5344CB8AC3E}">
        <p14:creationId xmlns:p14="http://schemas.microsoft.com/office/powerpoint/2010/main" val="337763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PostgreSQL admin tool: </a:t>
            </a:r>
            <a:r>
              <a:rPr lang="en-US" b="1" dirty="0" err="1">
                <a:solidFill>
                  <a:srgbClr val="00B0F0"/>
                </a:solidFill>
              </a:rPr>
              <a:t>pgAdmin</a:t>
            </a:r>
            <a:endParaRPr lang="en-US" b="1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6EA2B-2A67-4F0F-24B2-EC6D1166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54" y="2625267"/>
            <a:ext cx="3950588" cy="27139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626090-B18E-1009-DD4A-145CED67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419" y="2217073"/>
            <a:ext cx="6845968" cy="3437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229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and JDBC</a:t>
            </a:r>
            <a:br>
              <a:rPr lang="en-US" altLang="en-US" dirty="0"/>
            </a:br>
            <a:r>
              <a:rPr lang="en-US" altLang="en-US" dirty="0"/>
              <a:t>Simple Example</a:t>
            </a:r>
          </a:p>
        </p:txBody>
      </p:sp>
    </p:spTree>
    <p:extLst>
      <p:ext uri="{BB962C8B-B14F-4D97-AF65-F5344CB8AC3E}">
        <p14:creationId xmlns:p14="http://schemas.microsoft.com/office/powerpoint/2010/main" val="387330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IntelliJ PostgreSQL Example0 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8" y="2422630"/>
            <a:ext cx="4990900" cy="36133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108" y="2422630"/>
            <a:ext cx="5152084" cy="34844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675" y="785925"/>
            <a:ext cx="5179900" cy="109592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18988407">
            <a:off x="5792823" y="2141580"/>
            <a:ext cx="800499" cy="30032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1303" y="4818807"/>
            <a:ext cx="4422297" cy="11207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56711" y="2360820"/>
            <a:ext cx="4703356" cy="10014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29047" y="4219289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table + </a:t>
            </a:r>
            <a:br>
              <a:rPr lang="en-US" dirty="0"/>
            </a:br>
            <a:r>
              <a:rPr lang="en-US" dirty="0"/>
              <a:t>insert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7182" y="3264048"/>
            <a:ext cx="3631626" cy="692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Elbow Connector 14"/>
          <p:cNvCxnSpPr/>
          <p:nvPr/>
        </p:nvCxnSpPr>
        <p:spPr>
          <a:xfrm>
            <a:off x="2375012" y="3483621"/>
            <a:ext cx="1128839" cy="1007459"/>
          </a:xfrm>
          <a:prstGeom prst="bentConnector3">
            <a:avLst>
              <a:gd name="adj1" fmla="val 876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054743" y="3827533"/>
            <a:ext cx="905701" cy="687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94271" y="5700840"/>
            <a:ext cx="1167414" cy="113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238862" y="2820074"/>
            <a:ext cx="1140441" cy="1173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098A75-4C97-25ED-7353-2DE2226BFFBB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CSEN160_09_JDBC.A_SimpleExample</a:t>
            </a:r>
          </a:p>
        </p:txBody>
      </p:sp>
    </p:spTree>
    <p:extLst>
      <p:ext uri="{BB962C8B-B14F-4D97-AF65-F5344CB8AC3E}">
        <p14:creationId xmlns:p14="http://schemas.microsoft.com/office/powerpoint/2010/main" val="320741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ODBC</a:t>
            </a:r>
            <a:br>
              <a:rPr lang="en-US" altLang="en-US" dirty="0"/>
            </a:br>
            <a:r>
              <a:rPr lang="en-US" altLang="en-US" sz="4800" dirty="0"/>
              <a:t>universal database access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552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937327" y="776344"/>
            <a:ext cx="1789689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ODBC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327" y="1691908"/>
            <a:ext cx="10371292" cy="4927377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>
                <a:solidFill>
                  <a:schemeClr val="tx1"/>
                </a:solidFill>
              </a:rPr>
              <a:t>The idea of a universal database access API is not </a:t>
            </a:r>
            <a:r>
              <a:rPr lang="en-US" altLang="en-US" sz="2000" b="1" dirty="0">
                <a:solidFill>
                  <a:srgbClr val="FF0000"/>
                </a:solidFill>
              </a:rPr>
              <a:t>new</a:t>
            </a:r>
            <a:r>
              <a:rPr lang="en-US" altLang="en-US" sz="2000" dirty="0">
                <a:solidFill>
                  <a:schemeClr val="tx1"/>
                </a:solidFill>
              </a:rPr>
              <a:t>!</a:t>
            </a:r>
          </a:p>
          <a:p>
            <a:pPr eaLnBrk="1" hangingPunct="1"/>
            <a:endParaRPr lang="en-US" altLang="en-US" sz="2000" b="1" dirty="0">
              <a:solidFill>
                <a:srgbClr val="800000"/>
              </a:solidFill>
            </a:endParaRPr>
          </a:p>
          <a:p>
            <a:pPr eaLnBrk="1" hangingPunct="1"/>
            <a:r>
              <a:rPr lang="en-US" altLang="en-US" sz="2000" b="1" dirty="0">
                <a:solidFill>
                  <a:srgbClr val="800000"/>
                </a:solidFill>
              </a:rPr>
              <a:t>O</a:t>
            </a:r>
            <a:r>
              <a:rPr lang="en-US" altLang="en-US" sz="2000" dirty="0">
                <a:solidFill>
                  <a:schemeClr val="tx1"/>
                </a:solidFill>
              </a:rPr>
              <a:t>pen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800000"/>
                </a:solidFill>
              </a:rPr>
              <a:t>D</a:t>
            </a:r>
            <a:r>
              <a:rPr lang="en-US" altLang="en-US" sz="2000" dirty="0">
                <a:solidFill>
                  <a:schemeClr val="tx1"/>
                </a:solidFill>
              </a:rPr>
              <a:t>ata</a:t>
            </a:r>
            <a:r>
              <a:rPr lang="en-US" altLang="en-US" sz="2000" b="1" dirty="0">
                <a:solidFill>
                  <a:srgbClr val="C00000"/>
                </a:solidFill>
              </a:rPr>
              <a:t>b</a:t>
            </a:r>
            <a:r>
              <a:rPr lang="en-US" altLang="en-US" sz="2000" dirty="0">
                <a:solidFill>
                  <a:schemeClr val="tx1"/>
                </a:solidFill>
              </a:rPr>
              <a:t>ase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chemeClr val="tx1"/>
                </a:solidFill>
              </a:rPr>
              <a:t>C</a:t>
            </a:r>
            <a:r>
              <a:rPr lang="en-US" altLang="en-US" sz="2000" dirty="0">
                <a:solidFill>
                  <a:schemeClr val="tx1"/>
                </a:solidFill>
              </a:rPr>
              <a:t>onnectivity (ODBC) was developed to create a </a:t>
            </a:r>
            <a:r>
              <a:rPr lang="en-US" altLang="en-US" sz="2000" b="1" dirty="0">
                <a:solidFill>
                  <a:srgbClr val="00B050"/>
                </a:solidFill>
              </a:rPr>
              <a:t>single standard </a:t>
            </a:r>
            <a:r>
              <a:rPr lang="en-US" altLang="en-US" sz="2000" dirty="0">
                <a:solidFill>
                  <a:schemeClr val="tx1"/>
                </a:solidFill>
              </a:rPr>
              <a:t>(Windows).</a:t>
            </a:r>
          </a:p>
        </p:txBody>
      </p:sp>
    </p:spTree>
    <p:extLst>
      <p:ext uri="{BB962C8B-B14F-4D97-AF65-F5344CB8AC3E}">
        <p14:creationId xmlns:p14="http://schemas.microsoft.com/office/powerpoint/2010/main" val="413442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937327" y="776344"/>
            <a:ext cx="1789689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ODBC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327" y="1691908"/>
            <a:ext cx="10371292" cy="492737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Advantages of ODBC: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</a:rPr>
              <a:t>Applications are not </a:t>
            </a:r>
            <a:r>
              <a:rPr lang="en-US" altLang="en-US" sz="2400" b="1" dirty="0">
                <a:solidFill>
                  <a:srgbClr val="C00000"/>
                </a:solidFill>
              </a:rPr>
              <a:t>tied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to any specific database.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</a:rPr>
              <a:t>An application can be built </a:t>
            </a:r>
            <a:r>
              <a:rPr lang="en-US" altLang="en-US" sz="2400" b="1" dirty="0">
                <a:solidFill>
                  <a:srgbClr val="92D050"/>
                </a:solidFill>
              </a:rPr>
              <a:t>independent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of the details of a database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b="1" dirty="0">
                <a:solidFill>
                  <a:srgbClr val="92D050"/>
                </a:solidFill>
              </a:rPr>
              <a:t>Many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ODBC drivers are available for </a:t>
            </a:r>
            <a:r>
              <a:rPr lang="en-US" altLang="en-US" sz="2400" b="1" dirty="0">
                <a:solidFill>
                  <a:srgbClr val="92D050"/>
                </a:solidFill>
              </a:rPr>
              <a:t>most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databases.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552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12BD-E5BE-2A13-57DB-FBCB5B87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25C99A-D22D-5AC9-F350-6B66ED0B3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Introduction to JDBC and</a:t>
            </a:r>
            <a:br>
              <a:rPr lang="en-US" altLang="en-US" dirty="0"/>
            </a:br>
            <a:r>
              <a:rPr lang="en-US" altLang="en-US" dirty="0"/>
              <a:t>JDBC Drivers</a:t>
            </a:r>
          </a:p>
        </p:txBody>
      </p:sp>
    </p:spTree>
    <p:extLst>
      <p:ext uri="{BB962C8B-B14F-4D97-AF65-F5344CB8AC3E}">
        <p14:creationId xmlns:p14="http://schemas.microsoft.com/office/powerpoint/2010/main" val="418272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35304" y="796728"/>
            <a:ext cx="2985287" cy="51822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is JDBC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04" y="1447800"/>
            <a:ext cx="10405684" cy="518362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JDBC is the Java's Database </a:t>
            </a:r>
            <a:r>
              <a:rPr lang="en-US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Interface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Provides a standard interface between </a:t>
            </a:r>
            <a:r>
              <a:rPr lang="en-US" altLang="en-US" b="1" dirty="0">
                <a:solidFill>
                  <a:srgbClr val="92D050"/>
                </a:solidFill>
                <a:cs typeface="Times New Roman" panose="02020603050405020304" pitchFamily="18" charset="0"/>
              </a:rPr>
              <a:t>client and database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.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JDBC -&gt; standard API for </a:t>
            </a:r>
            <a:r>
              <a:rPr lang="en-US" altLang="en-US" b="1" dirty="0">
                <a:solidFill>
                  <a:srgbClr val="00B0F0"/>
                </a:solidFill>
                <a:cs typeface="Times New Roman" panose="02020603050405020304" pitchFamily="18" charset="0"/>
              </a:rPr>
              <a:t>various databases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 the applications “</a:t>
            </a:r>
            <a:r>
              <a:rPr lang="en-US" altLang="en-US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independent</a:t>
            </a:r>
            <a:r>
              <a:rPr lang="en-US" alt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10178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35304" y="796728"/>
            <a:ext cx="2985287" cy="51822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is JDBC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04" y="1447800"/>
            <a:ext cx="10405684" cy="518362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JDBC is part of the </a:t>
            </a:r>
            <a:r>
              <a:rPr lang="en-US" altLang="en-US" b="1" dirty="0">
                <a:solidFill>
                  <a:srgbClr val="FF0000"/>
                </a:solidFill>
              </a:rPr>
              <a:t>Java platform standard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All classes used in Java/database communication are in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rgbClr val="92D050"/>
                </a:solidFill>
              </a:rPr>
              <a:t>java.sql</a:t>
            </a:r>
            <a:r>
              <a:rPr lang="en-US" altLang="en-US" dirty="0"/>
              <a:t>. 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JDBC API aims to be </a:t>
            </a:r>
            <a:r>
              <a:rPr lang="en-US" altLang="en-US" sz="2800" b="1" dirty="0">
                <a:solidFill>
                  <a:srgbClr val="92D050"/>
                </a:solidFill>
              </a:rPr>
              <a:t>as simple as possible </a:t>
            </a:r>
            <a:r>
              <a:rPr lang="en-US" altLang="en-US" sz="2800" b="1" dirty="0">
                <a:solidFill>
                  <a:schemeClr val="tx1"/>
                </a:solidFill>
              </a:rPr>
              <a:t>(hm…)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While providing maximum </a:t>
            </a:r>
            <a:r>
              <a:rPr lang="en-US" altLang="en-US" sz="2800" b="1" dirty="0">
                <a:solidFill>
                  <a:srgbClr val="00B0F0"/>
                </a:solidFill>
              </a:rPr>
              <a:t>flexibility</a:t>
            </a:r>
            <a:r>
              <a:rPr lang="en-US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43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1374" y="758032"/>
            <a:ext cx="3359543" cy="788987"/>
          </a:xfrm>
        </p:spPr>
        <p:txBody>
          <a:bodyPr/>
          <a:lstStyle/>
          <a:p>
            <a:pPr eaLnBrk="1" hangingPunct="1"/>
            <a:r>
              <a:rPr lang="en-US" altLang="en-US" dirty="0"/>
              <a:t>JDBC Drivers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1373" y="1592109"/>
            <a:ext cx="6530238" cy="5033264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Work with a database,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you need a JDBC Driver.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JDBC Driver: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set of classes that interface with a database. 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JDBC-ODBC Bridge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(from the early days)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7736306" y="1524000"/>
            <a:ext cx="2895600" cy="3810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Java Application</a:t>
            </a:r>
          </a:p>
        </p:txBody>
      </p:sp>
      <p:sp>
        <p:nvSpPr>
          <p:cNvPr id="7173" name="Rectangle 6"/>
          <p:cNvSpPr>
            <a:spLocks noChangeArrowheads="1"/>
          </p:cNvSpPr>
          <p:nvPr/>
        </p:nvSpPr>
        <p:spPr bwMode="auto">
          <a:xfrm>
            <a:off x="7736306" y="2438400"/>
            <a:ext cx="2895600" cy="3048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 Driver Manager</a:t>
            </a:r>
          </a:p>
        </p:txBody>
      </p:sp>
      <p:sp>
        <p:nvSpPr>
          <p:cNvPr id="7174" name="Rectangle 7"/>
          <p:cNvSpPr>
            <a:spLocks noChangeArrowheads="1"/>
          </p:cNvSpPr>
          <p:nvPr/>
        </p:nvSpPr>
        <p:spPr bwMode="auto">
          <a:xfrm>
            <a:off x="7736306" y="2895600"/>
            <a:ext cx="1371600" cy="8382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JDBC-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ODBC 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Bridge</a:t>
            </a:r>
          </a:p>
        </p:txBody>
      </p:sp>
      <p:sp>
        <p:nvSpPr>
          <p:cNvPr id="7175" name="Rectangle 8"/>
          <p:cNvSpPr>
            <a:spLocks noChangeArrowheads="1"/>
          </p:cNvSpPr>
          <p:nvPr/>
        </p:nvSpPr>
        <p:spPr bwMode="auto">
          <a:xfrm>
            <a:off x="9336506" y="2895600"/>
            <a:ext cx="1295400" cy="8382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Vendor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Specific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 Driver</a:t>
            </a:r>
          </a:p>
        </p:txBody>
      </p:sp>
      <p:sp>
        <p:nvSpPr>
          <p:cNvPr id="7176" name="Rectangle 11"/>
          <p:cNvSpPr>
            <a:spLocks noChangeArrowheads="1"/>
          </p:cNvSpPr>
          <p:nvPr/>
        </p:nvSpPr>
        <p:spPr bwMode="auto">
          <a:xfrm>
            <a:off x="7736306" y="3886200"/>
            <a:ext cx="1295400" cy="8382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Vendor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Specific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 Driver</a:t>
            </a:r>
          </a:p>
        </p:txBody>
      </p:sp>
      <p:sp>
        <p:nvSpPr>
          <p:cNvPr id="7177" name="AutoShape 12"/>
          <p:cNvSpPr>
            <a:spLocks noChangeArrowheads="1"/>
          </p:cNvSpPr>
          <p:nvPr/>
        </p:nvSpPr>
        <p:spPr bwMode="auto">
          <a:xfrm>
            <a:off x="7888706" y="5257800"/>
            <a:ext cx="1066800" cy="990600"/>
          </a:xfrm>
          <a:prstGeom prst="can">
            <a:avLst>
              <a:gd name="adj" fmla="val 25000"/>
            </a:avLst>
          </a:prstGeom>
          <a:solidFill>
            <a:srgbClr val="F5FA8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Database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sp>
        <p:nvSpPr>
          <p:cNvPr id="7178" name="AutoShape 13"/>
          <p:cNvSpPr>
            <a:spLocks noChangeArrowheads="1"/>
          </p:cNvSpPr>
          <p:nvPr/>
        </p:nvSpPr>
        <p:spPr bwMode="auto">
          <a:xfrm>
            <a:off x="9488906" y="4267200"/>
            <a:ext cx="1066800" cy="990600"/>
          </a:xfrm>
          <a:prstGeom prst="can">
            <a:avLst>
              <a:gd name="adj" fmla="val 25000"/>
            </a:avLst>
          </a:prstGeom>
          <a:solidFill>
            <a:srgbClr val="F5FA8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Database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sp>
        <p:nvSpPr>
          <p:cNvPr id="7179" name="AutoShape 14"/>
          <p:cNvSpPr>
            <a:spLocks noChangeArrowheads="1"/>
          </p:cNvSpPr>
          <p:nvPr/>
        </p:nvSpPr>
        <p:spPr bwMode="auto">
          <a:xfrm>
            <a:off x="9031706" y="1981200"/>
            <a:ext cx="304800" cy="381000"/>
          </a:xfrm>
          <a:prstGeom prst="up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80" name="AutoShape 15"/>
          <p:cNvSpPr>
            <a:spLocks noChangeArrowheads="1"/>
          </p:cNvSpPr>
          <p:nvPr/>
        </p:nvSpPr>
        <p:spPr bwMode="auto">
          <a:xfrm>
            <a:off x="8269706" y="4800600"/>
            <a:ext cx="304800" cy="381000"/>
          </a:xfrm>
          <a:prstGeom prst="up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81" name="AutoShape 16"/>
          <p:cNvSpPr>
            <a:spLocks noChangeArrowheads="1"/>
          </p:cNvSpPr>
          <p:nvPr/>
        </p:nvSpPr>
        <p:spPr bwMode="auto">
          <a:xfrm>
            <a:off x="9869906" y="3810000"/>
            <a:ext cx="304800" cy="381000"/>
          </a:xfrm>
          <a:prstGeom prst="up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82" name="Text Box 17"/>
          <p:cNvSpPr txBox="1">
            <a:spLocks noChangeArrowheads="1"/>
          </p:cNvSpPr>
          <p:nvPr/>
        </p:nvSpPr>
        <p:spPr bwMode="auto">
          <a:xfrm>
            <a:off x="9107907" y="5794376"/>
            <a:ext cx="20313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Diagram Source:  Marty Hall,</a:t>
            </a:r>
          </a:p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Core Web Programming</a:t>
            </a:r>
          </a:p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(Prentice Hall.)</a:t>
            </a:r>
          </a:p>
          <a:p>
            <a:pPr eaLnBrk="1" hangingPunct="1"/>
            <a:endParaRPr lang="en-US" altLang="en-US" sz="1200">
              <a:latin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A207E27-6840-E567-DAAF-B32BFD5DA30B}"/>
              </a:ext>
            </a:extLst>
          </p:cNvPr>
          <p:cNvCxnSpPr>
            <a:cxnSpLocks/>
            <a:endCxn id="7174" idx="1"/>
          </p:cNvCxnSpPr>
          <p:nvPr/>
        </p:nvCxnSpPr>
        <p:spPr>
          <a:xfrm flipV="1">
            <a:off x="4144488" y="3314700"/>
            <a:ext cx="3591818" cy="2056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399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6375"/>
            <a:ext cx="3469597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JDBC Classes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53471"/>
            <a:ext cx="10412564" cy="486986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DriverManager</a:t>
            </a:r>
            <a:r>
              <a:rPr lang="en-US" altLang="en-US" b="1" dirty="0">
                <a:solidFill>
                  <a:schemeClr val="tx1"/>
                </a:solidFill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Manages a list of database drivers.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Matches connection requests from the java application with the </a:t>
            </a:r>
            <a:r>
              <a:rPr lang="en-US" altLang="en-US" sz="1600" b="1" dirty="0">
                <a:solidFill>
                  <a:schemeClr val="tx1"/>
                </a:solidFill>
              </a:rPr>
              <a:t>proper</a:t>
            </a:r>
            <a:r>
              <a:rPr lang="en-US" altLang="en-US" sz="1600" dirty="0">
                <a:solidFill>
                  <a:schemeClr val="tx1"/>
                </a:solidFill>
              </a:rPr>
              <a:t> database. 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The driver that </a:t>
            </a:r>
            <a:r>
              <a:rPr lang="en-US" altLang="en-US" sz="1600" b="1" dirty="0">
                <a:solidFill>
                  <a:srgbClr val="92D050"/>
                </a:solidFill>
              </a:rPr>
              <a:t>recognizes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a certain subprotocol under </a:t>
            </a:r>
            <a:r>
              <a:rPr lang="en-US" altLang="en-US" sz="1600" b="1" dirty="0" err="1">
                <a:solidFill>
                  <a:srgbClr val="92D050"/>
                </a:solidFill>
              </a:rPr>
              <a:t>jdbc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(such as </a:t>
            </a:r>
            <a:r>
              <a:rPr lang="en-US" altLang="en-US" sz="1600" b="1" dirty="0" err="1">
                <a:solidFill>
                  <a:srgbClr val="FF0000"/>
                </a:solidFill>
              </a:rPr>
              <a:t>odbc</a:t>
            </a:r>
            <a:r>
              <a:rPr lang="en-US" altLang="en-US" sz="1600" dirty="0">
                <a:solidFill>
                  <a:schemeClr val="tx1"/>
                </a:solidFill>
              </a:rPr>
              <a:t>) will be used.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Driver: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The database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00B0F0"/>
                </a:solidFill>
              </a:rPr>
              <a:t>communications link</a:t>
            </a:r>
            <a:r>
              <a:rPr lang="en-US" altLang="en-US" sz="1600" dirty="0">
                <a:solidFill>
                  <a:schemeClr val="tx1"/>
                </a:solidFill>
              </a:rPr>
              <a:t>, handling all communication with the database. 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Once the driver is loaded, </a:t>
            </a:r>
            <a:r>
              <a:rPr lang="en-US" altLang="en-US" sz="1600" b="1" dirty="0">
                <a:solidFill>
                  <a:schemeClr val="tx1"/>
                </a:solidFill>
              </a:rPr>
              <a:t>the developer need not call it explicitly</a:t>
            </a:r>
            <a:r>
              <a:rPr lang="en-US" altLang="en-US" sz="16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97965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6375"/>
            <a:ext cx="3469597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JDBC Classes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53471"/>
            <a:ext cx="10412564" cy="486986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Connection: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Interface with all methods for contacting a database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Statement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Encapsulates a </a:t>
            </a:r>
            <a:r>
              <a:rPr lang="en-US" altLang="en-US" sz="1600" b="1" dirty="0">
                <a:solidFill>
                  <a:srgbClr val="92D050"/>
                </a:solidFill>
              </a:rPr>
              <a:t>SQL statement </a:t>
            </a:r>
            <a:r>
              <a:rPr lang="en-US" altLang="en-US" sz="1600" dirty="0">
                <a:solidFill>
                  <a:schemeClr val="tx1"/>
                </a:solidFill>
              </a:rPr>
              <a:t>which is passed to the database: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to be parsed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Compiled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Planned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Executed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 err="1">
                <a:solidFill>
                  <a:srgbClr val="00B0F0"/>
                </a:solidFill>
              </a:rPr>
              <a:t>ResultSet</a:t>
            </a:r>
            <a:r>
              <a:rPr lang="en-US" altLang="en-US" b="1" dirty="0">
                <a:solidFill>
                  <a:schemeClr val="accent2"/>
                </a:solidFill>
              </a:rPr>
              <a:t>:</a:t>
            </a:r>
            <a:r>
              <a:rPr lang="en-US" altLang="en-US" sz="1600" dirty="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The answer/result from a statement. 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A </a:t>
            </a:r>
            <a:r>
              <a:rPr lang="en-US" altLang="en-US" sz="1600" b="1" dirty="0" err="1">
                <a:solidFill>
                  <a:srgbClr val="00B0F0"/>
                </a:solidFill>
              </a:rPr>
              <a:t>ResultSet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is a fancy 2D list which encapsulates all outgoing results (iterator like). </a:t>
            </a:r>
          </a:p>
        </p:txBody>
      </p:sp>
    </p:spTree>
    <p:extLst>
      <p:ext uri="{BB962C8B-B14F-4D97-AF65-F5344CB8AC3E}">
        <p14:creationId xmlns:p14="http://schemas.microsoft.com/office/powerpoint/2010/main" val="1948198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5189" y="756114"/>
            <a:ext cx="6300998" cy="6985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Six Steps to Using JDBC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6338" y="1889489"/>
            <a:ext cx="10306557" cy="4762163"/>
          </a:xfrm>
        </p:spPr>
        <p:txBody>
          <a:bodyPr/>
          <a:lstStyle/>
          <a:p>
            <a:pPr marL="609600" indent="-609600">
              <a:buFont typeface="Times" panose="02020603050405020304" pitchFamily="18" charset="0"/>
              <a:buAutoNum type="arabicPeriod"/>
            </a:pPr>
            <a:endParaRPr lang="en-US" altLang="en-US" sz="2800" dirty="0"/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Import and </a:t>
            </a:r>
            <a:r>
              <a:rPr lang="en-US" altLang="en-US" sz="2800" b="1" dirty="0">
                <a:solidFill>
                  <a:srgbClr val="00B050"/>
                </a:solidFill>
              </a:rPr>
              <a:t>load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the JDBC Driver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Create a </a:t>
            </a:r>
            <a:r>
              <a:rPr lang="en-US" altLang="en-US" sz="2800" b="1" dirty="0">
                <a:solidFill>
                  <a:srgbClr val="FF0000"/>
                </a:solidFill>
              </a:rPr>
              <a:t>Connection,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establish the Database Connection </a:t>
            </a: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Create a </a:t>
            </a:r>
            <a:r>
              <a:rPr lang="en-US" altLang="en-US" sz="2800" b="1" dirty="0">
                <a:solidFill>
                  <a:srgbClr val="FF0000"/>
                </a:solidFill>
              </a:rPr>
              <a:t>Statement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Object</a:t>
            </a: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Execute a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B050"/>
                </a:solidFill>
              </a:rPr>
              <a:t>Query, </a:t>
            </a:r>
            <a:r>
              <a:rPr lang="en-US" altLang="en-US" sz="2800" dirty="0">
                <a:solidFill>
                  <a:schemeClr val="tx1"/>
                </a:solidFill>
              </a:rPr>
              <a:t>get a </a:t>
            </a:r>
            <a:r>
              <a:rPr lang="en-US" altLang="en-US" sz="2800" b="1" dirty="0" err="1">
                <a:solidFill>
                  <a:srgbClr val="FF0000"/>
                </a:solidFill>
              </a:rPr>
              <a:t>ResultSet</a:t>
            </a:r>
            <a:r>
              <a:rPr lang="en-US" altLang="en-US" sz="2800" dirty="0">
                <a:solidFill>
                  <a:srgbClr val="800000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object</a:t>
            </a: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Process the</a:t>
            </a:r>
            <a:r>
              <a:rPr lang="en-US" altLang="en-US" sz="2800" dirty="0"/>
              <a:t> </a:t>
            </a:r>
            <a:r>
              <a:rPr lang="en-US" altLang="en-US" sz="2800" b="1" dirty="0" err="1">
                <a:solidFill>
                  <a:srgbClr val="FF0000"/>
                </a:solidFill>
              </a:rPr>
              <a:t>ResultSet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Close the </a:t>
            </a:r>
            <a:r>
              <a:rPr lang="en-US" altLang="en-US" sz="2800" b="1" dirty="0">
                <a:solidFill>
                  <a:srgbClr val="FF0000"/>
                </a:solidFill>
              </a:rPr>
              <a:t>Connection</a:t>
            </a:r>
          </a:p>
        </p:txBody>
      </p:sp>
    </p:spTree>
    <p:extLst>
      <p:ext uri="{BB962C8B-B14F-4D97-AF65-F5344CB8AC3E}">
        <p14:creationId xmlns:p14="http://schemas.microsoft.com/office/powerpoint/2010/main" val="2676890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8"/>
            <a:ext cx="6415098" cy="739424"/>
          </a:xfrm>
        </p:spPr>
        <p:txBody>
          <a:bodyPr/>
          <a:lstStyle/>
          <a:p>
            <a:pPr eaLnBrk="1" hangingPunct="1"/>
            <a:r>
              <a:rPr lang="en-US" altLang="en-US" dirty="0"/>
              <a:t>1)  Loading the JDBC Driver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4161"/>
            <a:ext cx="10359965" cy="48294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Load the driver: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sz="2800" dirty="0">
                <a:solidFill>
                  <a:schemeClr val="tx1"/>
                </a:solidFill>
                <a:latin typeface="Courier" pitchFamily="49" charset="0"/>
              </a:rPr>
              <a:t>()</a:t>
            </a:r>
            <a:r>
              <a:rPr lang="en-US" altLang="en-US" sz="2800" dirty="0">
                <a:solidFill>
                  <a:schemeClr val="tx1"/>
                </a:solidFill>
              </a:rPr>
              <a:t> method.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Looks like this:</a:t>
            </a:r>
          </a:p>
          <a:p>
            <a:pPr lvl="1" eaLnBrk="1" hangingPunct="1">
              <a:buFontTx/>
              <a:buNone/>
            </a:pPr>
            <a:r>
              <a:rPr lang="en-US" altLang="en-US" sz="2400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sz="2400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sz="2400" dirty="0" err="1">
                <a:solidFill>
                  <a:schemeClr val="tx1"/>
                </a:solidFill>
                <a:latin typeface="Courier" pitchFamily="49" charset="0"/>
              </a:rPr>
              <a:t>jdbc.DriverXYZ</a:t>
            </a:r>
            <a:r>
              <a:rPr lang="en-US" altLang="en-US" sz="2400" dirty="0">
                <a:solidFill>
                  <a:schemeClr val="tx1"/>
                </a:solidFill>
                <a:latin typeface="Courier" pitchFamily="49" charset="0"/>
              </a:rPr>
              <a:t>");</a:t>
            </a:r>
            <a:endParaRPr lang="en-US" altLang="en-US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</a:rPr>
              <a:t>where </a:t>
            </a:r>
            <a:r>
              <a:rPr lang="en-US" altLang="en-US" sz="2400" dirty="0" err="1">
                <a:solidFill>
                  <a:schemeClr val="tx1"/>
                </a:solidFill>
              </a:rPr>
              <a:t>jbdc.DriverXYZ</a:t>
            </a:r>
            <a:r>
              <a:rPr lang="en-US" altLang="en-US" sz="2400" dirty="0">
                <a:solidFill>
                  <a:schemeClr val="tx1"/>
                </a:solidFill>
              </a:rPr>
              <a:t> is the JDBC Driver you want to load.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If using a JDBC-ODBC Driver (</a:t>
            </a:r>
            <a:r>
              <a:rPr lang="en-US" altLang="en-US" sz="2800" b="1" dirty="0">
                <a:solidFill>
                  <a:srgbClr val="FF0000"/>
                </a:solidFill>
              </a:rPr>
              <a:t>obsolete</a:t>
            </a:r>
            <a:r>
              <a:rPr lang="en-US" altLang="en-US" sz="2800" dirty="0">
                <a:solidFill>
                  <a:schemeClr val="tx1"/>
                </a:solidFill>
              </a:rPr>
              <a:t>):</a:t>
            </a:r>
          </a:p>
          <a:p>
            <a:pPr lvl="1" eaLnBrk="1" hangingPunct="1"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sun.jdbc.odbc.JdbcOdbcDriver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");</a:t>
            </a:r>
            <a:endParaRPr lang="en-US" altLang="en-US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689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7603"/>
            <a:ext cx="7386142" cy="70705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Loading the PostgreSQL Driver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81793"/>
            <a:ext cx="10388288" cy="485367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tx1"/>
                </a:solidFill>
              </a:rPr>
              <a:t>Looks like this: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	try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	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sz="1800" b="1" dirty="0" err="1">
                <a:solidFill>
                  <a:srgbClr val="FF0000"/>
                </a:solidFill>
                <a:latin typeface="Courier" pitchFamily="49" charset="0"/>
              </a:rPr>
              <a:t>org.postgresql.Driver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} catch(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java.lang.ClassNotFoundException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   	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System.err.print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ClassNotFoundException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: 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   	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System.err.println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e.getMessage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}</a:t>
            </a:r>
            <a:endParaRPr lang="en-US" altLang="en-US" sz="18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chemeClr val="tx1"/>
              </a:solidFill>
              <a:latin typeface="Courier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will throw </a:t>
            </a:r>
            <a:r>
              <a:rPr lang="en-US" altLang="en-US" dirty="0">
                <a:solidFill>
                  <a:schemeClr val="tx1"/>
                </a:solidFill>
              </a:rPr>
              <a:t>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ClassNotFoundException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if CLASSPATH issues!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Surround the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forName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r>
              <a:rPr lang="en-US" altLang="en-US" dirty="0">
                <a:solidFill>
                  <a:schemeClr val="tx1"/>
                </a:solidFill>
              </a:rPr>
              <a:t> with a try/catch block!</a:t>
            </a:r>
          </a:p>
        </p:txBody>
      </p:sp>
    </p:spTree>
    <p:extLst>
      <p:ext uri="{BB962C8B-B14F-4D97-AF65-F5344CB8AC3E}">
        <p14:creationId xmlns:p14="http://schemas.microsoft.com/office/powerpoint/2010/main" val="2084243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802109"/>
            <a:ext cx="6431282" cy="646365"/>
          </a:xfrm>
        </p:spPr>
        <p:txBody>
          <a:bodyPr/>
          <a:lstStyle/>
          <a:p>
            <a:pPr eaLnBrk="1" hangingPunct="1"/>
            <a:r>
              <a:rPr lang="en-US" altLang="en-US" dirty="0"/>
              <a:t>2)  Establish the Connection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26299"/>
            <a:ext cx="10400426" cy="480512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db</a:t>
            </a:r>
            <a:r>
              <a:rPr lang="en-US" altLang="en-US" dirty="0">
                <a:solidFill>
                  <a:schemeClr val="tx1"/>
                </a:solidFill>
              </a:rPr>
              <a:t> connection: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Connection con = 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DriverManager.getConnection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url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,"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myLogin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", "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myPassword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");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785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9741"/>
            <a:ext cx="6241119" cy="646365"/>
          </a:xfrm>
        </p:spPr>
        <p:txBody>
          <a:bodyPr/>
          <a:lstStyle/>
          <a:p>
            <a:pPr eaLnBrk="1" hangingPunct="1"/>
            <a:r>
              <a:rPr lang="en-US" altLang="en-US" dirty="0"/>
              <a:t>Creating a Connection URL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49425"/>
            <a:ext cx="10380196" cy="488199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Specify the </a:t>
            </a:r>
            <a:r>
              <a:rPr lang="en-US" altLang="en-US" sz="2800" b="1" dirty="0">
                <a:solidFill>
                  <a:srgbClr val="FF0000"/>
                </a:solidFill>
              </a:rPr>
              <a:t>correct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URL! </a:t>
            </a:r>
            <a:r>
              <a:rPr lang="en-US" altLang="en-US" sz="2000" b="1" dirty="0">
                <a:solidFill>
                  <a:srgbClr val="FF0000"/>
                </a:solidFill>
              </a:rPr>
              <a:t>(difficult)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URL has the following format:  </a:t>
            </a:r>
            <a:r>
              <a:rPr lang="en-US" altLang="en-US" sz="2800" b="1" i="1" dirty="0" err="1">
                <a:solidFill>
                  <a:srgbClr val="00B0F0"/>
                </a:solidFill>
              </a:rPr>
              <a:t>jdbc</a:t>
            </a:r>
            <a:r>
              <a:rPr lang="en-US" altLang="en-US" sz="2800" i="1" dirty="0" err="1"/>
              <a:t>:</a:t>
            </a:r>
            <a:r>
              <a:rPr lang="en-US" altLang="en-US" sz="2800" b="1" i="1" dirty="0" err="1">
                <a:solidFill>
                  <a:srgbClr val="92D050"/>
                </a:solidFill>
              </a:rPr>
              <a:t>subprotocol</a:t>
            </a:r>
            <a:r>
              <a:rPr lang="en-US" altLang="en-US" sz="2800" i="1" dirty="0" err="1"/>
              <a:t>:</a:t>
            </a:r>
            <a:r>
              <a:rPr lang="en-US" altLang="en-US" sz="2800" b="1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subname</a:t>
            </a:r>
            <a:r>
              <a:rPr lang="en-US" altLang="en-US" sz="2800" dirty="0"/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 err="1">
                <a:solidFill>
                  <a:srgbClr val="00B0F0"/>
                </a:solidFill>
              </a:rPr>
              <a:t>jdbc</a:t>
            </a:r>
            <a:r>
              <a:rPr lang="en-US" altLang="en-US" sz="2400" dirty="0">
                <a:solidFill>
                  <a:schemeClr val="tx1"/>
                </a:solidFill>
              </a:rPr>
              <a:t>: This is a </a:t>
            </a:r>
            <a:r>
              <a:rPr lang="en-US" altLang="en-US" sz="2400" b="1" dirty="0">
                <a:solidFill>
                  <a:schemeClr val="tx1"/>
                </a:solidFill>
              </a:rPr>
              <a:t>JDBC Connection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92D050"/>
                </a:solidFill>
              </a:rPr>
              <a:t>subprotocol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identifies the driver.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subname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identifies the database name/location.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61720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1649"/>
            <a:ext cx="7843342" cy="66659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Connection URL:  PostgreSQL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36135"/>
            <a:ext cx="10412564" cy="4995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Connect to PostgreSQL: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 dirty="0">
              <a:solidFill>
                <a:schemeClr val="tx1"/>
              </a:solidFill>
              <a:latin typeface="Courier" pitchFamily="49" charset="0"/>
            </a:endParaRPr>
          </a:p>
          <a:p>
            <a:pPr lvl="1"/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String </a:t>
            </a:r>
            <a:r>
              <a:rPr lang="en-US" altLang="en-US" sz="2200" dirty="0" err="1">
                <a:solidFill>
                  <a:schemeClr val="tx1"/>
                </a:solidFill>
                <a:latin typeface="Courier" pitchFamily="49" charset="0"/>
              </a:rPr>
              <a:t>url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 = </a:t>
            </a:r>
            <a:r>
              <a:rPr lang="en-US" altLang="en-US" sz="2200" dirty="0">
                <a:latin typeface="Courier" pitchFamily="49" charset="0"/>
              </a:rPr>
              <a:t>"</a:t>
            </a:r>
            <a:r>
              <a:rPr lang="en-US" altLang="en-US" sz="2200" b="1" dirty="0" err="1">
                <a:solidFill>
                  <a:srgbClr val="FF0000"/>
                </a:solidFill>
                <a:latin typeface="Courier" pitchFamily="49" charset="0"/>
              </a:rPr>
              <a:t>jdbc:postgresql</a:t>
            </a:r>
            <a:r>
              <a:rPr lang="en-US" altLang="en-US" sz="2200" b="1" dirty="0">
                <a:solidFill>
                  <a:srgbClr val="FF0000"/>
                </a:solidFill>
                <a:latin typeface="Courier" pitchFamily="49" charset="0"/>
              </a:rPr>
              <a:t>://</a:t>
            </a:r>
            <a:r>
              <a:rPr lang="en-US" altLang="en-US" sz="2200" b="1" dirty="0">
                <a:solidFill>
                  <a:srgbClr val="92D050"/>
                </a:solidFill>
                <a:latin typeface="Courier" pitchFamily="49" charset="0"/>
              </a:rPr>
              <a:t>localhost</a:t>
            </a:r>
            <a:r>
              <a:rPr lang="en-US" altLang="en-US" sz="2200" b="1" dirty="0">
                <a:solidFill>
                  <a:srgbClr val="FF0000"/>
                </a:solidFill>
                <a:latin typeface="Courier" pitchFamily="49" charset="0"/>
              </a:rPr>
              <a:t>:5432/</a:t>
            </a:r>
            <a:r>
              <a:rPr lang="en-US" altLang="en-US" sz="2200" b="1" dirty="0" err="1">
                <a:solidFill>
                  <a:srgbClr val="FF0000"/>
                </a:solidFill>
                <a:latin typeface="Courier" pitchFamily="49" charset="0"/>
              </a:rPr>
              <a:t>postgres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";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Connection con = </a:t>
            </a:r>
            <a:r>
              <a:rPr lang="en-US" altLang="en-US" sz="2200" dirty="0" err="1">
                <a:solidFill>
                  <a:schemeClr val="tx1"/>
                </a:solidFill>
                <a:latin typeface="Courier" pitchFamily="49" charset="0"/>
              </a:rPr>
              <a:t>DriverManager.getConnection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2200" dirty="0" err="1">
                <a:solidFill>
                  <a:schemeClr val="tx1"/>
                </a:solidFill>
                <a:latin typeface="Courier" pitchFamily="49" charset="0"/>
              </a:rPr>
              <a:t>url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);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JDBC Driver connect to </a:t>
            </a:r>
            <a:r>
              <a:rPr lang="en-US" altLang="en-US" sz="2600" b="1" i="1" dirty="0">
                <a:solidFill>
                  <a:schemeClr val="tx1"/>
                </a:solidFill>
              </a:rPr>
              <a:t>Postgres</a:t>
            </a:r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 err="1">
                <a:solidFill>
                  <a:schemeClr val="tx1"/>
                </a:solidFill>
              </a:rPr>
              <a:t>db</a:t>
            </a: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Located:</a:t>
            </a:r>
            <a:r>
              <a:rPr lang="en-US" altLang="en-US" sz="2600" dirty="0"/>
              <a:t> </a:t>
            </a:r>
            <a:r>
              <a:rPr lang="en-US" altLang="en-US" sz="2600" b="1" i="1" dirty="0">
                <a:solidFill>
                  <a:srgbClr val="92D050"/>
                </a:solidFill>
              </a:rPr>
              <a:t>localhost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machine.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If </a:t>
            </a:r>
            <a:r>
              <a:rPr lang="en-US" altLang="en-US" sz="2600" b="1" dirty="0">
                <a:solidFill>
                  <a:srgbClr val="FFC000"/>
                </a:solidFill>
              </a:rPr>
              <a:t>successfully</a:t>
            </a:r>
            <a:r>
              <a:rPr lang="en-US" altLang="en-US" sz="2600" dirty="0">
                <a:solidFill>
                  <a:schemeClr val="tx1"/>
                </a:solidFill>
              </a:rPr>
              <a:t>, you have a Connection object.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8249830" y="3034513"/>
            <a:ext cx="716145" cy="1072195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9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1649"/>
            <a:ext cx="6734734" cy="658503"/>
          </a:xfrm>
        </p:spPr>
        <p:txBody>
          <a:bodyPr/>
          <a:lstStyle/>
          <a:p>
            <a:pPr eaLnBrk="1" hangingPunct="1"/>
            <a:r>
              <a:rPr lang="en-US" altLang="en-US" dirty="0"/>
              <a:t>3)  Create a Statement Object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8733"/>
            <a:ext cx="10400426" cy="4938643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JDBC 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Statement</a:t>
            </a:r>
            <a:r>
              <a:rPr lang="en-US" altLang="en-US" dirty="0">
                <a:solidFill>
                  <a:schemeClr val="tx1"/>
                </a:solidFill>
              </a:rPr>
              <a:t> object sends SQL statements.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Statement is created from a 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Connection</a:t>
            </a:r>
            <a:r>
              <a:rPr lang="en-US" altLang="en-US" dirty="0">
                <a:solidFill>
                  <a:schemeClr val="tx1"/>
                </a:solidFill>
              </a:rPr>
              <a:t> objects.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Example: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Statement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stmt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 =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con.createStatement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();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With a Statement object, you can issue SQL calls.</a:t>
            </a:r>
          </a:p>
        </p:txBody>
      </p:sp>
    </p:spTree>
    <p:extLst>
      <p:ext uri="{BB962C8B-B14F-4D97-AF65-F5344CB8AC3E}">
        <p14:creationId xmlns:p14="http://schemas.microsoft.com/office/powerpoint/2010/main" val="2331098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4553930" cy="638273"/>
          </a:xfrm>
        </p:spPr>
        <p:txBody>
          <a:bodyPr/>
          <a:lstStyle/>
          <a:p>
            <a:pPr eaLnBrk="1" hangingPunct="1"/>
            <a:r>
              <a:rPr lang="en-US" altLang="en-US" dirty="0"/>
              <a:t>4)  Execute a Query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92334" cy="4829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executeQuery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Executes the SQL query, returns data in a </a:t>
            </a:r>
            <a:r>
              <a:rPr lang="en-US" altLang="en-US" b="1" dirty="0" err="1">
                <a:solidFill>
                  <a:srgbClr val="00B0F0"/>
                </a:solidFill>
              </a:rPr>
              <a:t>ResultSet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The resulting table may be empty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but never null!</a:t>
            </a:r>
            <a:br>
              <a:rPr lang="en-US" altLang="en-US" b="1" dirty="0">
                <a:solidFill>
                  <a:srgbClr val="FF0000"/>
                </a:solidFill>
              </a:rPr>
            </a:br>
            <a:br>
              <a:rPr lang="en-US" altLang="en-US" dirty="0"/>
            </a:br>
            <a:r>
              <a:rPr lang="en-US" altLang="en-US" sz="1700" b="1" dirty="0" err="1">
                <a:solidFill>
                  <a:srgbClr val="00B0F0"/>
                </a:solidFill>
                <a:latin typeface="Courier" pitchFamily="49" charset="0"/>
              </a:rPr>
              <a:t>ResultSet</a:t>
            </a:r>
            <a:r>
              <a:rPr lang="en-US" altLang="en-US" sz="1700" dirty="0">
                <a:latin typeface="Courier" pitchFamily="49" charset="0"/>
              </a:rPr>
              <a:t> </a:t>
            </a:r>
            <a:r>
              <a:rPr lang="en-US" altLang="en-US" sz="1700" dirty="0">
                <a:solidFill>
                  <a:schemeClr val="tx1"/>
                </a:solidFill>
                <a:latin typeface="Courier" pitchFamily="49" charset="0"/>
              </a:rPr>
              <a:t>results = </a:t>
            </a:r>
            <a:r>
              <a:rPr lang="en-US" altLang="en-US" sz="1700" dirty="0" err="1">
                <a:solidFill>
                  <a:schemeClr val="tx1"/>
                </a:solidFill>
                <a:latin typeface="Courier" pitchFamily="49" charset="0"/>
              </a:rPr>
              <a:t>statement.executeQuery</a:t>
            </a:r>
            <a:r>
              <a:rPr lang="en-US" altLang="en-US" sz="1700" dirty="0">
                <a:solidFill>
                  <a:schemeClr val="tx1"/>
                </a:solidFill>
                <a:latin typeface="Courier" pitchFamily="49" charset="0"/>
              </a:rPr>
              <a:t>("SELECT * FROM CUSTOMER");</a:t>
            </a:r>
            <a:endParaRPr lang="en-US" altLang="en-US" sz="17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25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4553930" cy="638273"/>
          </a:xfrm>
        </p:spPr>
        <p:txBody>
          <a:bodyPr/>
          <a:lstStyle/>
          <a:p>
            <a:pPr eaLnBrk="1" hangingPunct="1"/>
            <a:r>
              <a:rPr lang="en-US" altLang="en-US" dirty="0"/>
              <a:t>4)  Execute a Query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92334" cy="4829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executeUpdate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Used for </a:t>
            </a:r>
            <a:r>
              <a:rPr lang="en-US" altLang="en-US" b="1" dirty="0">
                <a:solidFill>
                  <a:srgbClr val="92D050"/>
                </a:solidFill>
              </a:rPr>
              <a:t>INSERT, UPDATE, or DELETE SQL </a:t>
            </a:r>
            <a:r>
              <a:rPr lang="en-US" altLang="en-US" dirty="0">
                <a:solidFill>
                  <a:schemeClr val="tx1"/>
                </a:solidFill>
              </a:rPr>
              <a:t>statements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Return the number of rows that were affected.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Supports Data Definition Language (DDL) statements:</a:t>
            </a:r>
            <a:br>
              <a:rPr lang="en-US" altLang="en-US" dirty="0">
                <a:solidFill>
                  <a:schemeClr val="tx1"/>
                </a:solidFill>
              </a:rPr>
            </a:br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CREATE TABLE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DROP TABLE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ALTER TABLE</a:t>
            </a:r>
            <a:endParaRPr lang="en-US" altLang="en-US" sz="13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113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81879"/>
            <a:ext cx="6050957" cy="670641"/>
          </a:xfrm>
        </p:spPr>
        <p:txBody>
          <a:bodyPr/>
          <a:lstStyle/>
          <a:p>
            <a:pPr eaLnBrk="1" hangingPunct="1"/>
            <a:r>
              <a:rPr lang="en-US" altLang="en-US" dirty="0"/>
              <a:t>Useful Statement Methods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0115"/>
            <a:ext cx="10396380" cy="4829400"/>
          </a:xfrm>
        </p:spPr>
        <p:txBody>
          <a:bodyPr/>
          <a:lstStyle/>
          <a:p>
            <a:pPr eaLnBrk="1" hangingPunct="1">
              <a:lnSpc>
                <a:spcPct val="65000"/>
              </a:lnSpc>
            </a:pPr>
            <a:r>
              <a:rPr lang="en-US" altLang="en-US" dirty="0" err="1">
                <a:solidFill>
                  <a:schemeClr val="tx1"/>
                </a:solidFill>
              </a:rPr>
              <a:t>getMaxRows</a:t>
            </a:r>
            <a:r>
              <a:rPr lang="en-US" altLang="en-US" dirty="0">
                <a:solidFill>
                  <a:schemeClr val="tx1"/>
                </a:solidFill>
              </a:rPr>
              <a:t>()/</a:t>
            </a:r>
            <a:r>
              <a:rPr lang="en-US" altLang="en-US" dirty="0" err="1">
                <a:solidFill>
                  <a:schemeClr val="tx1"/>
                </a:solidFill>
              </a:rPr>
              <a:t>setMaxRows</a:t>
            </a:r>
            <a:r>
              <a:rPr lang="en-US" altLang="en-US" dirty="0">
                <a:solidFill>
                  <a:schemeClr val="tx1"/>
                </a:solidFill>
              </a:rPr>
              <a:t>(…)</a:t>
            </a:r>
          </a:p>
          <a:p>
            <a:pPr lvl="1" eaLnBrk="1" hangingPunct="1">
              <a:lnSpc>
                <a:spcPct val="65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dirty="0">
                <a:solidFill>
                  <a:schemeClr val="tx1"/>
                </a:solidFill>
              </a:rPr>
              <a:t>Number of rows of 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ResultSet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 number of rows are </a:t>
            </a:r>
            <a:r>
              <a:rPr lang="en-US" altLang="en-US" b="1" dirty="0">
                <a:solidFill>
                  <a:srgbClr val="FF0000"/>
                </a:solidFill>
              </a:rPr>
              <a:t>unlimited</a:t>
            </a:r>
            <a:endParaRPr lang="en-US" altLang="en-US" dirty="0"/>
          </a:p>
          <a:p>
            <a:pPr eaLnBrk="1" hangingPunct="1">
              <a:lnSpc>
                <a:spcPct val="65000"/>
              </a:lnSpc>
            </a:pPr>
            <a:endParaRPr lang="en-US" altLang="en-US" dirty="0"/>
          </a:p>
          <a:p>
            <a:pPr eaLnBrk="1" hangingPunct="1">
              <a:lnSpc>
                <a:spcPct val="65000"/>
              </a:lnSpc>
            </a:pPr>
            <a:endParaRPr lang="en-US" altLang="en-US" dirty="0"/>
          </a:p>
          <a:p>
            <a:pPr eaLnBrk="1" hangingPunct="1">
              <a:lnSpc>
                <a:spcPct val="65000"/>
              </a:lnSpc>
            </a:pPr>
            <a:r>
              <a:rPr lang="en-US" altLang="en-US" dirty="0" err="1">
                <a:solidFill>
                  <a:schemeClr val="tx1"/>
                </a:solidFill>
              </a:rPr>
              <a:t>getQueryTimeout</a:t>
            </a:r>
            <a:r>
              <a:rPr lang="en-US" altLang="en-US" dirty="0">
                <a:solidFill>
                  <a:schemeClr val="tx1"/>
                </a:solidFill>
              </a:rPr>
              <a:t>()/</a:t>
            </a:r>
            <a:r>
              <a:rPr lang="en-US" altLang="en-US" dirty="0" err="1">
                <a:solidFill>
                  <a:schemeClr val="tx1"/>
                </a:solidFill>
              </a:rPr>
              <a:t>setQueryTimeout</a:t>
            </a:r>
            <a:r>
              <a:rPr lang="en-US" altLang="en-US" dirty="0">
                <a:solidFill>
                  <a:schemeClr val="tx1"/>
                </a:solidFill>
              </a:rPr>
              <a:t>(…)</a:t>
            </a:r>
          </a:p>
          <a:p>
            <a:pPr lvl="1" eaLnBrk="1" hangingPunct="1">
              <a:lnSpc>
                <a:spcPct val="65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dirty="0">
                <a:solidFill>
                  <a:schemeClr val="tx1"/>
                </a:solidFill>
              </a:rPr>
              <a:t>Amount of a time a driver will </a:t>
            </a:r>
            <a:r>
              <a:rPr lang="en-US" altLang="en-US" b="1" dirty="0">
                <a:solidFill>
                  <a:srgbClr val="FF0000"/>
                </a:solidFill>
              </a:rPr>
              <a:t>wait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for a STATEMENT </a:t>
            </a:r>
            <a:br>
              <a:rPr lang="en-US" altLang="en-US" dirty="0">
                <a:solidFill>
                  <a:schemeClr val="tx1"/>
                </a:solidFill>
              </a:rPr>
            </a:b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to complete before throwing 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SQLException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578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19"/>
            <a:ext cx="5310535" cy="609951"/>
          </a:xfrm>
        </p:spPr>
        <p:txBody>
          <a:bodyPr/>
          <a:lstStyle/>
          <a:p>
            <a:pPr eaLnBrk="1" hangingPunct="1"/>
            <a:r>
              <a:rPr lang="en-US" altLang="en-US" dirty="0"/>
              <a:t>5)  Process the Results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0641"/>
            <a:ext cx="10392334" cy="4942689"/>
          </a:xfrm>
        </p:spPr>
        <p:txBody>
          <a:bodyPr>
            <a:normAutofit/>
          </a:bodyPr>
          <a:lstStyle/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All methods can throw a </a:t>
            </a:r>
            <a:r>
              <a:rPr lang="en-US" altLang="en-US" b="1" dirty="0" err="1">
                <a:solidFill>
                  <a:srgbClr val="FF0000"/>
                </a:solidFill>
                <a:latin typeface="Courier" pitchFamily="49" charset="0"/>
              </a:rPr>
              <a:t>SQLException</a:t>
            </a:r>
            <a:endParaRPr lang="en-US" altLang="en-US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>
              <a:spcBef>
                <a:spcPts val="900"/>
              </a:spcBef>
            </a:pPr>
            <a:endParaRPr lang="en-US" altLang="en-US" dirty="0">
              <a:solidFill>
                <a:schemeClr val="tx1"/>
              </a:solidFill>
            </a:endParaRPr>
          </a:p>
          <a:p>
            <a:pPr lvl="1">
              <a:spcBef>
                <a:spcPts val="900"/>
              </a:spcBef>
            </a:pPr>
            <a:r>
              <a:rPr lang="en-US" altLang="en-US" dirty="0">
                <a:solidFill>
                  <a:schemeClr val="tx1"/>
                </a:solidFill>
              </a:rPr>
              <a:t>close	</a:t>
            </a:r>
            <a:endParaRPr lang="en-US" altLang="en-US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Releases the JDBC database resources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 result set is </a:t>
            </a:r>
            <a:r>
              <a:rPr lang="en-US" altLang="en-US" b="1" dirty="0">
                <a:solidFill>
                  <a:srgbClr val="FF0000"/>
                </a:solidFill>
              </a:rPr>
              <a:t>automatically closed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when the associated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Statement</a:t>
            </a:r>
            <a:r>
              <a:rPr lang="en-US" altLang="en-US" dirty="0">
                <a:solidFill>
                  <a:schemeClr val="tx1"/>
                </a:solidFill>
              </a:rPr>
              <a:t> object 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executes a new query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ts val="900"/>
              </a:spcBef>
            </a:pPr>
            <a:endParaRPr lang="en-US" altLang="en-US" dirty="0"/>
          </a:p>
          <a:p>
            <a:pPr lvl="1">
              <a:spcBef>
                <a:spcPts val="900"/>
              </a:spcBef>
            </a:pPr>
            <a:r>
              <a:rPr lang="en-US" altLang="en-US" dirty="0" err="1">
                <a:solidFill>
                  <a:schemeClr val="tx1"/>
                </a:solidFill>
              </a:rPr>
              <a:t>getMetaDataObject</a:t>
            </a:r>
            <a:r>
              <a:rPr lang="en-US" altLang="en-US" dirty="0">
                <a:solidFill>
                  <a:schemeClr val="tx1"/>
                </a:solidFill>
              </a:rPr>
              <a:t>(…)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Returns 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ResultSetMetaData</a:t>
            </a:r>
            <a:r>
              <a:rPr lang="en-US" altLang="en-US" dirty="0">
                <a:solidFill>
                  <a:schemeClr val="tx1"/>
                </a:solidFill>
              </a:rPr>
              <a:t> object containing information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about the columns in the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ResultSet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019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9741"/>
            <a:ext cx="5278167" cy="605905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ResultSet</a:t>
            </a:r>
            <a:r>
              <a:rPr lang="en-US" altLang="en-US" dirty="0"/>
              <a:t>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29193"/>
            <a:ext cx="10408518" cy="4910321"/>
          </a:xfrm>
        </p:spPr>
        <p:txBody>
          <a:bodyPr/>
          <a:lstStyle/>
          <a:p>
            <a:pPr lvl="1">
              <a:spcBef>
                <a:spcPts val="900"/>
              </a:spcBef>
            </a:pPr>
            <a:r>
              <a:rPr lang="en-US" altLang="en-US" sz="2800" dirty="0">
                <a:solidFill>
                  <a:schemeClr val="tx1"/>
                </a:solidFill>
              </a:rPr>
              <a:t>next() </a:t>
            </a:r>
            <a:r>
              <a:rPr lang="en-US" altLang="en-US" dirty="0">
                <a:solidFill>
                  <a:schemeClr val="tx1"/>
                </a:solidFill>
              </a:rPr>
              <a:t>(like Iterator)</a:t>
            </a:r>
            <a:br>
              <a:rPr lang="en-US" altLang="en-US" dirty="0">
                <a:solidFill>
                  <a:schemeClr val="tx1"/>
                </a:solidFill>
              </a:rPr>
            </a:br>
            <a:endParaRPr lang="en-US" altLang="en-US" sz="28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Attempts to move to the </a:t>
            </a:r>
            <a:r>
              <a:rPr lang="en-US" altLang="en-US" sz="2600" b="1" dirty="0">
                <a:solidFill>
                  <a:srgbClr val="FF0000"/>
                </a:solidFill>
              </a:rPr>
              <a:t>next row</a:t>
            </a:r>
            <a:r>
              <a:rPr lang="en-US" altLang="en-US" sz="2600" b="1" dirty="0"/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 the </a:t>
            </a:r>
            <a:r>
              <a:rPr lang="en-US" altLang="en-US" sz="2600" dirty="0" err="1">
                <a:solidFill>
                  <a:schemeClr val="tx1"/>
                </a:solidFill>
              </a:rPr>
              <a:t>ResultSet</a:t>
            </a:r>
            <a:endParaRPr lang="en-US" altLang="en-US" sz="2600" dirty="0">
              <a:solidFill>
                <a:schemeClr val="tx1"/>
              </a:solidFill>
            </a:endParaRPr>
          </a:p>
          <a:p>
            <a:pPr lvl="3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3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If successful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92D050"/>
                </a:solidFill>
              </a:rPr>
              <a:t>true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is returned; otherwise, </a:t>
            </a:r>
            <a:r>
              <a:rPr lang="en-US" altLang="en-US" sz="2400" b="1" dirty="0">
                <a:solidFill>
                  <a:srgbClr val="FF0000"/>
                </a:solidFill>
              </a:rPr>
              <a:t>false</a:t>
            </a:r>
          </a:p>
          <a:p>
            <a:pPr lvl="3" eaLnBrk="1" hangingPunct="1">
              <a:lnSpc>
                <a:spcPct val="90000"/>
              </a:lnSpc>
            </a:pPr>
            <a:endParaRPr lang="en-US" altLang="en-US" sz="2400" dirty="0"/>
          </a:p>
          <a:p>
            <a:pPr lvl="3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The first call to next positions the cursor to the </a:t>
            </a:r>
            <a:r>
              <a:rPr lang="en-US" altLang="en-US" sz="2400" b="1" dirty="0">
                <a:solidFill>
                  <a:srgbClr val="92D050"/>
                </a:solidFill>
              </a:rPr>
              <a:t>first row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9283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5055636" cy="723239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ResultSet</a:t>
            </a:r>
            <a:r>
              <a:rPr lang="en-US" altLang="en-US" dirty="0"/>
              <a:t> (Continued)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935541"/>
            <a:ext cx="10380196" cy="4712066"/>
          </a:xfrm>
        </p:spPr>
        <p:txBody>
          <a:bodyPr/>
          <a:lstStyle/>
          <a:p>
            <a:pPr marL="457200" lvl="1" indent="0" eaLnBrk="1" hangingPunct="1">
              <a:lnSpc>
                <a:spcPct val="65000"/>
              </a:lnSpc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sz="2400" dirty="0" err="1">
                <a:solidFill>
                  <a:schemeClr val="tx1"/>
                </a:solidFill>
              </a:rPr>
              <a:t>findColumn</a:t>
            </a:r>
            <a:r>
              <a:rPr lang="en-US" altLang="en-US" sz="2400" dirty="0">
                <a:solidFill>
                  <a:schemeClr val="tx1"/>
                </a:solidFill>
              </a:rPr>
              <a:t>(…)</a:t>
            </a: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Returns the corresponding integer value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corresponding to the specified column name</a:t>
            </a: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Column numbers in the result set do not necessarily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map to the same column numbers in the database</a:t>
            </a:r>
            <a:r>
              <a:rPr lang="en-US" alt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18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5055636" cy="723239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ResultSet</a:t>
            </a:r>
            <a:r>
              <a:rPr lang="en-US" altLang="en-US" dirty="0"/>
              <a:t> (Continued)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935541"/>
            <a:ext cx="10380196" cy="4712066"/>
          </a:xfrm>
        </p:spPr>
        <p:txBody>
          <a:bodyPr/>
          <a:lstStyle/>
          <a:p>
            <a:pPr marL="457200" lvl="1" indent="0" eaLnBrk="1" hangingPunct="1">
              <a:lnSpc>
                <a:spcPct val="65000"/>
              </a:lnSpc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sz="2400" dirty="0" err="1">
                <a:solidFill>
                  <a:schemeClr val="tx1"/>
                </a:solidFill>
              </a:rPr>
              <a:t>get</a:t>
            </a:r>
            <a:r>
              <a:rPr lang="en-US" altLang="en-US" sz="2400" i="1" dirty="0" err="1">
                <a:solidFill>
                  <a:schemeClr val="tx1"/>
                </a:solidFill>
              </a:rPr>
              <a:t>Xxx</a:t>
            </a:r>
            <a:r>
              <a:rPr lang="en-US" altLang="en-US" sz="2400" i="1" dirty="0">
                <a:solidFill>
                  <a:schemeClr val="tx1"/>
                </a:solidFill>
              </a:rPr>
              <a:t>(…)  </a:t>
            </a:r>
            <a:r>
              <a:rPr lang="en-US" altLang="en-US" i="1" dirty="0">
                <a:solidFill>
                  <a:schemeClr val="tx1"/>
                </a:solidFill>
              </a:rPr>
              <a:t>i.e. </a:t>
            </a:r>
            <a:r>
              <a:rPr lang="en-US" altLang="en-US" i="1" dirty="0" err="1">
                <a:solidFill>
                  <a:schemeClr val="tx1"/>
                </a:solidFill>
              </a:rPr>
              <a:t>getInteger</a:t>
            </a:r>
            <a:r>
              <a:rPr lang="en-US" altLang="en-US" i="1" dirty="0">
                <a:solidFill>
                  <a:schemeClr val="tx1"/>
                </a:solidFill>
              </a:rPr>
              <a:t>(1) or </a:t>
            </a:r>
            <a:r>
              <a:rPr lang="en-US" altLang="en-US" i="1" dirty="0" err="1">
                <a:solidFill>
                  <a:schemeClr val="tx1"/>
                </a:solidFill>
              </a:rPr>
              <a:t>getString</a:t>
            </a:r>
            <a:r>
              <a:rPr lang="en-US" altLang="en-US" i="1" dirty="0">
                <a:solidFill>
                  <a:schemeClr val="tx1"/>
                </a:solidFill>
              </a:rPr>
              <a:t>(2) or </a:t>
            </a:r>
            <a:r>
              <a:rPr lang="en-US" altLang="en-US" i="1" dirty="0" err="1">
                <a:solidFill>
                  <a:schemeClr val="tx1"/>
                </a:solidFill>
              </a:rPr>
              <a:t>getLong</a:t>
            </a:r>
            <a:r>
              <a:rPr lang="en-US" altLang="en-US" i="1" dirty="0">
                <a:solidFill>
                  <a:schemeClr val="tx1"/>
                </a:solidFill>
              </a:rPr>
              <a:t>(3) …</a:t>
            </a:r>
          </a:p>
          <a:p>
            <a:pPr lvl="2">
              <a:lnSpc>
                <a:spcPct val="65000"/>
              </a:lnSpc>
              <a:spcBef>
                <a:spcPts val="9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Returns the value from the column specified by column name or column index as an </a:t>
            </a: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</a:rPr>
              <a:t>Xxx</a:t>
            </a:r>
            <a:r>
              <a:rPr lang="en-US" altLang="en-US" sz="2000" dirty="0">
                <a:solidFill>
                  <a:schemeClr val="tx1"/>
                </a:solidFill>
              </a:rPr>
              <a:t> Java type</a:t>
            </a:r>
          </a:p>
          <a:p>
            <a:pPr lvl="2">
              <a:lnSpc>
                <a:spcPct val="65000"/>
              </a:lnSpc>
              <a:spcBef>
                <a:spcPts val="9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Returns 0 or </a:t>
            </a:r>
            <a:r>
              <a:rPr lang="en-US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null</a:t>
            </a:r>
            <a:r>
              <a:rPr lang="en-US" altLang="en-US" sz="2000" dirty="0">
                <a:solidFill>
                  <a:schemeClr val="tx1"/>
                </a:solidFill>
              </a:rPr>
              <a:t>, if the value is a SQL NULL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Legal 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z="2000" b="1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Xxx</a:t>
            </a:r>
            <a:r>
              <a:rPr lang="en-US" altLang="en-US" sz="2000" dirty="0">
                <a:solidFill>
                  <a:schemeClr val="tx1"/>
                </a:solidFill>
              </a:rPr>
              <a:t> types:</a:t>
            </a:r>
            <a:br>
              <a:rPr lang="en-US" altLang="en-US" sz="2000" dirty="0">
                <a:solidFill>
                  <a:schemeClr val="tx1"/>
                </a:solidFill>
              </a:rPr>
            </a:br>
            <a:br>
              <a:rPr lang="en-US" altLang="en-US" sz="2000" dirty="0">
                <a:solidFill>
                  <a:schemeClr val="tx1"/>
                </a:solidFill>
              </a:rPr>
            </a:br>
            <a:br>
              <a:rPr lang="en-US" altLang="en-US" sz="1600" dirty="0">
                <a:solidFill>
                  <a:schemeClr val="tx1"/>
                </a:solidFill>
              </a:rPr>
            </a:br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244313" y="4928725"/>
            <a:ext cx="4727576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dirty="0">
                <a:latin typeface="Courier" pitchFamily="49" charset="0"/>
              </a:rPr>
              <a:t>double	byte		</a:t>
            </a:r>
            <a:r>
              <a:rPr lang="en-US" altLang="en-US" sz="2200" dirty="0" err="1">
                <a:latin typeface="Courier" pitchFamily="49" charset="0"/>
              </a:rPr>
              <a:t>int</a:t>
            </a:r>
            <a:endParaRPr lang="en-US" altLang="en-US" sz="2200" dirty="0">
              <a:latin typeface="Courier" pitchFamily="49" charset="0"/>
            </a:endParaRPr>
          </a:p>
          <a:p>
            <a:r>
              <a:rPr lang="en-US" altLang="en-US" sz="2200" dirty="0">
                <a:latin typeface="Courier" pitchFamily="49" charset="0"/>
              </a:rPr>
              <a:t>Date    	String	float</a:t>
            </a:r>
          </a:p>
          <a:p>
            <a:r>
              <a:rPr lang="en-US" altLang="en-US" sz="2200" dirty="0">
                <a:latin typeface="Courier" pitchFamily="49" charset="0"/>
              </a:rPr>
              <a:t>short 	long   	Time</a:t>
            </a:r>
          </a:p>
          <a:p>
            <a:r>
              <a:rPr lang="en-US" altLang="en-US" sz="2200" dirty="0">
                <a:latin typeface="Courier" pitchFamily="49" charset="0"/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306828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7373"/>
            <a:ext cx="5108234" cy="56949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6)  Close the Connection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00871"/>
            <a:ext cx="10380196" cy="4926505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To close the database connection: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dirty="0" err="1">
                <a:solidFill>
                  <a:schemeClr val="tx1"/>
                </a:solidFill>
              </a:rPr>
              <a:t>stmt.close</a:t>
            </a:r>
            <a:r>
              <a:rPr lang="en-US" altLang="en-US" sz="2400" dirty="0">
                <a:solidFill>
                  <a:schemeClr val="tx1"/>
                </a:solidFill>
              </a:rPr>
              <a:t>();</a:t>
            </a:r>
          </a:p>
          <a:p>
            <a:pPr lvl="1" eaLnBrk="1" hangingPunct="1"/>
            <a:r>
              <a:rPr lang="en-US" altLang="en-US" sz="2400" dirty="0" err="1">
                <a:solidFill>
                  <a:schemeClr val="tx1"/>
                </a:solidFill>
              </a:rPr>
              <a:t>conn.close</a:t>
            </a:r>
            <a:r>
              <a:rPr lang="en-US" altLang="en-US" sz="2400" dirty="0">
                <a:solidFill>
                  <a:schemeClr val="tx1"/>
                </a:solidFill>
              </a:rPr>
              <a:t>();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Some application servers, maintain a pool of database connections.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More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92D050"/>
                </a:solidFill>
              </a:rPr>
              <a:t>efficient</a:t>
            </a:r>
            <a:r>
              <a:rPr lang="en-US" altLang="en-US" dirty="0">
                <a:solidFill>
                  <a:schemeClr val="tx1"/>
                </a:solidFill>
              </a:rPr>
              <a:t> because you do not need constantly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opening and closing </a:t>
            </a:r>
            <a:r>
              <a:rPr lang="en-US" altLang="en-US" dirty="0">
                <a:solidFill>
                  <a:schemeClr val="tx1"/>
                </a:solidFill>
              </a:rPr>
              <a:t>connections.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432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1:</a:t>
            </a:r>
            <a:br>
              <a:rPr lang="en-US" altLang="en-US"/>
            </a:br>
            <a:r>
              <a:rPr lang="en-US" altLang="en-US"/>
              <a:t>Setting Up Tables via JDBC</a:t>
            </a:r>
          </a:p>
        </p:txBody>
      </p:sp>
    </p:spTree>
    <p:extLst>
      <p:ext uri="{BB962C8B-B14F-4D97-AF65-F5344CB8AC3E}">
        <p14:creationId xmlns:p14="http://schemas.microsoft.com/office/powerpoint/2010/main" val="2219088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8"/>
            <a:ext cx="4299031" cy="735378"/>
          </a:xfrm>
        </p:spPr>
        <p:txBody>
          <a:bodyPr/>
          <a:lstStyle/>
          <a:p>
            <a:pPr eaLnBrk="1" hangingPunct="1"/>
            <a:r>
              <a:rPr lang="en-US" altLang="en-US" dirty="0"/>
              <a:t>The Coffee Tables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56365"/>
            <a:ext cx="10396380" cy="496696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Create a new table: JDBC code.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This SQL code creates a table for storing coffee data: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CREATE TABLE COFFEES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(COF_NAME VARCHAR(32),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SUP_ID INTEGER,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PRICE FLOAT,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SALES INTEGER,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TOTAL INTEGER);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0258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7373"/>
            <a:ext cx="4003672" cy="723239"/>
          </a:xfrm>
        </p:spPr>
        <p:txBody>
          <a:bodyPr/>
          <a:lstStyle/>
          <a:p>
            <a:pPr eaLnBrk="1" hangingPunct="1"/>
            <a:r>
              <a:rPr lang="en-US" altLang="en-US" dirty="0"/>
              <a:t>The Coffee Table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36135"/>
            <a:ext cx="10388288" cy="50155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You can create this table via </a:t>
            </a:r>
            <a:r>
              <a:rPr lang="en-US" altLang="en-US" sz="2800" b="1" dirty="0" err="1">
                <a:solidFill>
                  <a:srgbClr val="00B0F0"/>
                </a:solidFill>
              </a:rPr>
              <a:t>pgAdmin</a:t>
            </a:r>
            <a:endParaRPr lang="en-US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But you can also create it via JDBC.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 few things about the table: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Column SUP_ID is an integer for a Supplier ID. 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Column SALES contains values of SQL type INTEGER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(number of pounds of coffee sold, during the current week)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Column TOTAL contains values of SQL type INTEGER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(total number of pounds of coffee sold to date)</a:t>
            </a:r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30772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ED5136B-8ED3-5342-2AFF-A2CA417FD32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B_CreateTable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437F8-C24D-862D-A156-C5513EF9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95" y="2519133"/>
            <a:ext cx="10487526" cy="19379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3243998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2:</a:t>
            </a:r>
            <a:br>
              <a:rPr lang="en-US" altLang="en-US"/>
            </a:br>
            <a:r>
              <a:rPr lang="en-US" altLang="en-US"/>
              <a:t>Inserting Data via JDBC</a:t>
            </a:r>
          </a:p>
        </p:txBody>
      </p:sp>
    </p:spTree>
    <p:extLst>
      <p:ext uri="{BB962C8B-B14F-4D97-AF65-F5344CB8AC3E}">
        <p14:creationId xmlns:p14="http://schemas.microsoft.com/office/powerpoint/2010/main" val="1647454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B9A0B0B-F7DE-3B88-E671-8111B33B578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C_InsertRows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0AA6F-58D7-C5C6-4042-EA2894804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65" y="3491562"/>
            <a:ext cx="10553976" cy="2313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5376051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3:</a:t>
            </a:r>
            <a:br>
              <a:rPr lang="en-US" altLang="en-US" dirty="0"/>
            </a:br>
            <a:r>
              <a:rPr lang="en-US" altLang="en-US" dirty="0"/>
              <a:t>Querying Data via JDBC</a:t>
            </a:r>
          </a:p>
        </p:txBody>
      </p:sp>
    </p:spTree>
    <p:extLst>
      <p:ext uri="{BB962C8B-B14F-4D97-AF65-F5344CB8AC3E}">
        <p14:creationId xmlns:p14="http://schemas.microsoft.com/office/powerpoint/2010/main" val="990837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20A5AC-4E95-EB50-5A59-384E12F1F88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D_ShowRows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EF073-2F90-E567-BB27-6DF48A2CE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011" y="1494286"/>
            <a:ext cx="7103114" cy="4904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2428389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JDBC 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2569626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5695"/>
            <a:ext cx="4598436" cy="711101"/>
          </a:xfrm>
        </p:spPr>
        <p:txBody>
          <a:bodyPr/>
          <a:lstStyle/>
          <a:p>
            <a:pPr eaLnBrk="1" hangingPunct="1"/>
            <a:r>
              <a:rPr lang="en-US" altLang="en-US" dirty="0"/>
              <a:t>Exception Handling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559261"/>
            <a:ext cx="10396380" cy="5064069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SQL Exceptions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Every JDBC method can throw a </a:t>
            </a:r>
            <a:r>
              <a:rPr lang="en-US" altLang="en-US" sz="2400" dirty="0" err="1">
                <a:solidFill>
                  <a:schemeClr val="tx1"/>
                </a:solidFill>
                <a:latin typeface="Courier" pitchFamily="49" charset="0"/>
              </a:rPr>
              <a:t>SQLException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br>
              <a:rPr lang="en-US" altLang="en-US" sz="2400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(in response to a data access error)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If more than one error occurs, they are </a:t>
            </a:r>
            <a:r>
              <a:rPr lang="en-US" altLang="en-US" sz="2400" b="1" dirty="0">
                <a:solidFill>
                  <a:srgbClr val="FF0000"/>
                </a:solidFill>
              </a:rPr>
              <a:t>chained together!</a:t>
            </a:r>
            <a:r>
              <a:rPr lang="en-US" altLang="en-US" sz="2400" b="1" dirty="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SQL exceptions contain: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Description of the error,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getMessage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chemeClr val="tx1"/>
                </a:solidFill>
              </a:rPr>
              <a:t>SQLState</a:t>
            </a:r>
            <a:r>
              <a:rPr lang="en-US" altLang="en-US" sz="2000" dirty="0">
                <a:solidFill>
                  <a:schemeClr val="tx1"/>
                </a:solidFill>
              </a:rPr>
              <a:t> (Open Group SQL specification) identifying the exception,</a:t>
            </a:r>
            <a:r>
              <a:rPr lang="en-US" altLang="en-US" sz="2000" dirty="0"/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getSQLState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A vendor-specific integer, error code,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getErrorCode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A chain to the next </a:t>
            </a:r>
            <a:r>
              <a:rPr lang="en-US" altLang="en-US" sz="2000" dirty="0" err="1">
                <a:latin typeface="Courier" pitchFamily="49" charset="0"/>
              </a:rPr>
              <a:t>SQLException</a:t>
            </a:r>
            <a:r>
              <a:rPr lang="en-US" altLang="en-US" sz="2000" dirty="0"/>
              <a:t>,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getNextException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9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596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73787"/>
            <a:ext cx="5646355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SQL Exception Example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21103"/>
            <a:ext cx="10416610" cy="4918412"/>
          </a:xfrm>
        </p:spPr>
        <p:txBody>
          <a:bodyPr>
            <a:normAutofit/>
          </a:bodyPr>
          <a:lstStyle/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try {</a:t>
            </a:r>
            <a:b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 	... // JDBC statement.</a:t>
            </a:r>
          </a:p>
          <a:p>
            <a:pPr>
              <a:lnSpc>
                <a:spcPct val="65000"/>
              </a:lnSpc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		... // JDBC statement.</a:t>
            </a:r>
          </a:p>
          <a:p>
            <a:pPr>
              <a:lnSpc>
                <a:spcPct val="65000"/>
              </a:lnSpc>
              <a:buNone/>
            </a:pPr>
            <a:b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} catch 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SQLException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while 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!= null) {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("Message:  " +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sqle.getMessage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("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SQLState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: " +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sqle.getSQLState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("Vendor Error: " +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sqle.getErrorCode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sqle.printStrackTrace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en-US" altLang="en-US" sz="1800" dirty="0" err="1">
                <a:solidFill>
                  <a:srgbClr val="FF0000"/>
                </a:solidFill>
                <a:latin typeface="Courier New" panose="02070309020205020404" pitchFamily="49" charset="0"/>
              </a:rPr>
              <a:t>sqle.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getNextException</a:t>
            </a:r>
            <a:r>
              <a:rPr lang="en-US" alt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9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482A71F-23B4-A4A6-F94F-719E7EBA95F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E_ExceptionHandling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4FE2A-C7B1-E469-50EE-19EDED58A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643" y="1231232"/>
            <a:ext cx="6748028" cy="53641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51119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4CD6-5C99-DA2E-5C62-54E332CF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26C699C-5754-C0E1-E158-2BDADE646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Drop Table</a:t>
            </a:r>
          </a:p>
        </p:txBody>
      </p:sp>
    </p:spTree>
    <p:extLst>
      <p:ext uri="{BB962C8B-B14F-4D97-AF65-F5344CB8AC3E}">
        <p14:creationId xmlns:p14="http://schemas.microsoft.com/office/powerpoint/2010/main" val="85244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8438EE-5126-B33B-49CE-140DFCA2A7D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F_DropTable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D19249-D9C7-7488-348A-E2ADC503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367" y="2570153"/>
            <a:ext cx="6714552" cy="2306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632258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Prepared Statement</a:t>
            </a:r>
            <a:br>
              <a:rPr lang="en-US" altLang="en-US" dirty="0"/>
            </a:br>
            <a:r>
              <a:rPr lang="en-US" altLang="en-US" sz="3200" dirty="0"/>
              <a:t>(speed-up)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9679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Prepared Statement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 statement can be </a:t>
            </a:r>
            <a:r>
              <a:rPr lang="en-US" altLang="en-US" b="1" dirty="0">
                <a:solidFill>
                  <a:schemeClr val="tx1"/>
                </a:solidFill>
              </a:rPr>
              <a:t>pre-compiled</a:t>
            </a:r>
            <a:r>
              <a:rPr lang="en-US" altLang="en-US" dirty="0">
                <a:solidFill>
                  <a:schemeClr val="tx1"/>
                </a:solidFill>
              </a:rPr>
              <a:t> and stored in a statement object. 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Once pre-compiled, this object will: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Execute </a:t>
            </a:r>
            <a:r>
              <a:rPr lang="en-US" altLang="en-US" b="1" dirty="0">
                <a:solidFill>
                  <a:schemeClr val="tx1"/>
                </a:solidFill>
              </a:rPr>
              <a:t>faster</a:t>
            </a:r>
            <a:r>
              <a:rPr lang="en-US" altLang="en-US" dirty="0">
                <a:solidFill>
                  <a:schemeClr val="tx1"/>
                </a:solidFill>
              </a:rPr>
              <a:t> than a statement that is executed in </a:t>
            </a:r>
            <a:r>
              <a:rPr lang="en-US" altLang="en-US" b="1" dirty="0">
                <a:solidFill>
                  <a:srgbClr val="00B0F0"/>
                </a:solidFill>
              </a:rPr>
              <a:t>plain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SQL.</a:t>
            </a:r>
          </a:p>
        </p:txBody>
      </p:sp>
    </p:spTree>
    <p:extLst>
      <p:ext uri="{BB962C8B-B14F-4D97-AF65-F5344CB8AC3E}">
        <p14:creationId xmlns:p14="http://schemas.microsoft.com/office/powerpoint/2010/main" val="26456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1FB2B8A-75FF-87CD-F5D3-95B3A6E35D34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G_PreparedStatement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ADB1E-F80D-6885-61D2-0EE80FA74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420" y="1880314"/>
            <a:ext cx="7350994" cy="43159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73E368-62E9-C7A9-05A2-F012E4E961D2}"/>
              </a:ext>
            </a:extLst>
          </p:cNvPr>
          <p:cNvSpPr/>
          <p:nvPr/>
        </p:nvSpPr>
        <p:spPr>
          <a:xfrm>
            <a:off x="5325533" y="2334965"/>
            <a:ext cx="1566333" cy="19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FB8FA-31B5-1913-138C-F2E25CFE2B70}"/>
              </a:ext>
            </a:extLst>
          </p:cNvPr>
          <p:cNvSpPr/>
          <p:nvPr/>
        </p:nvSpPr>
        <p:spPr>
          <a:xfrm>
            <a:off x="10998200" y="2334965"/>
            <a:ext cx="118533" cy="19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7D69F2-3D16-A4F5-FF99-FE1E8431AD76}"/>
              </a:ext>
            </a:extLst>
          </p:cNvPr>
          <p:cNvSpPr/>
          <p:nvPr/>
        </p:nvSpPr>
        <p:spPr>
          <a:xfrm>
            <a:off x="5596467" y="3190098"/>
            <a:ext cx="1447800" cy="19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8301166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725F3-A86A-89AF-B882-3E7CE497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FA799A-4FF3-7EB2-8255-ADD13A09FED7}"/>
              </a:ext>
            </a:extLst>
          </p:cNvPr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A194FDB-6815-8791-F003-B0A6BC601AC4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66EB8A-0EE2-E3F3-84EE-21ED244144B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H_PreparedStatement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C9283-3F06-4795-3517-8F430C789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836" y="2942053"/>
            <a:ext cx="8852332" cy="22955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9549519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Batch Operations</a:t>
            </a:r>
          </a:p>
        </p:txBody>
      </p:sp>
    </p:spTree>
    <p:extLst>
      <p:ext uri="{BB962C8B-B14F-4D97-AF65-F5344CB8AC3E}">
        <p14:creationId xmlns:p14="http://schemas.microsoft.com/office/powerpoint/2010/main" val="17387998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Batch Operations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Execute batches of SQL commands</a:t>
            </a:r>
          </a:p>
          <a:p>
            <a:pPr marL="0" indent="0" eaLnBrk="1" hangingPunct="1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Saves time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459" y="3013279"/>
            <a:ext cx="6667674" cy="31133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90A9AB-0813-E805-C920-E1F441A3610A}"/>
              </a:ext>
            </a:extLst>
          </p:cNvPr>
          <p:cNvSpPr/>
          <p:nvPr/>
        </p:nvSpPr>
        <p:spPr>
          <a:xfrm>
            <a:off x="6248400" y="5374498"/>
            <a:ext cx="990600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533722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8854848" cy="65041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Batch Operations &amp; Prepared Statements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Execute batches of SQL commands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sz="2800" b="1" dirty="0">
                <a:solidFill>
                  <a:srgbClr val="00B050"/>
                </a:solidFill>
              </a:rPr>
              <a:t>Even faster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656" y="3041871"/>
            <a:ext cx="5949198" cy="27487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175A35-2FA4-4132-2726-799947227000}"/>
              </a:ext>
            </a:extLst>
          </p:cNvPr>
          <p:cNvSpPr/>
          <p:nvPr/>
        </p:nvSpPr>
        <p:spPr>
          <a:xfrm>
            <a:off x="4182534" y="3240897"/>
            <a:ext cx="1507066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A418F7-FA48-192D-13E6-4D020208DFAF}"/>
              </a:ext>
            </a:extLst>
          </p:cNvPr>
          <p:cNvSpPr/>
          <p:nvPr/>
        </p:nvSpPr>
        <p:spPr>
          <a:xfrm>
            <a:off x="5380871" y="5086631"/>
            <a:ext cx="1002996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F1DEA-B21C-AA7E-7C53-B8B1491F71FE}"/>
              </a:ext>
            </a:extLst>
          </p:cNvPr>
          <p:cNvSpPr/>
          <p:nvPr/>
        </p:nvSpPr>
        <p:spPr>
          <a:xfrm>
            <a:off x="3691468" y="3992594"/>
            <a:ext cx="880532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7C322-6913-D652-45A1-1F2C3E76C219}"/>
              </a:ext>
            </a:extLst>
          </p:cNvPr>
          <p:cNvSpPr/>
          <p:nvPr/>
        </p:nvSpPr>
        <p:spPr>
          <a:xfrm>
            <a:off x="3691468" y="4750921"/>
            <a:ext cx="880532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743363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23FB86-CA9B-7C9D-FBB9-44B5FD493FB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I_BatchInsert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FE30A-A11C-1D0C-4C2E-2809F5C16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27" y="1712816"/>
            <a:ext cx="8687027" cy="45013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1463AB-7AA1-43BA-3FFD-34EBA8AE3A96}"/>
              </a:ext>
            </a:extLst>
          </p:cNvPr>
          <p:cNvSpPr/>
          <p:nvPr/>
        </p:nvSpPr>
        <p:spPr>
          <a:xfrm>
            <a:off x="5367867" y="3560794"/>
            <a:ext cx="1168400" cy="181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09626046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02F4-A768-998D-FE1E-02796892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AE1D48-DE94-C17A-0951-35B8463C8E37}"/>
              </a:ext>
            </a:extLst>
          </p:cNvPr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8490103-2875-3324-091E-CF86747FB1BF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AE0BC5-5D7F-F24B-A80F-98A79B057F30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J_BatchUpdatePlusPreparedStatement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1C6B4-91BF-6712-0088-411CFE78A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166" y="1460612"/>
            <a:ext cx="6867717" cy="4932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31335C-7DCF-4BDA-6292-D99DD4B44365}"/>
              </a:ext>
            </a:extLst>
          </p:cNvPr>
          <p:cNvSpPr/>
          <p:nvPr/>
        </p:nvSpPr>
        <p:spPr>
          <a:xfrm>
            <a:off x="3367426" y="2353761"/>
            <a:ext cx="1422288" cy="147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1C8A1-A072-59A0-A844-13EBC7958842}"/>
              </a:ext>
            </a:extLst>
          </p:cNvPr>
          <p:cNvSpPr/>
          <p:nvPr/>
        </p:nvSpPr>
        <p:spPr>
          <a:xfrm>
            <a:off x="4451270" y="4111639"/>
            <a:ext cx="1015337" cy="147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3742813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4327744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Transactions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Execute one or two SQL operations in one sequence without interrupts</a:t>
            </a:r>
          </a:p>
          <a:p>
            <a:pPr marL="0" indent="0" eaLnBrk="1" hangingPunct="1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“A transaction is a set of actions to be carried out as a </a:t>
            </a:r>
            <a:r>
              <a:rPr lang="en-US" altLang="en-US" b="1" dirty="0">
                <a:solidFill>
                  <a:srgbClr val="FF0000"/>
                </a:solidFill>
              </a:rPr>
              <a:t>single</a:t>
            </a:r>
            <a:r>
              <a:rPr lang="en-US" altLang="en-US" dirty="0">
                <a:solidFill>
                  <a:schemeClr val="tx1"/>
                </a:solidFill>
              </a:rPr>
              <a:t>, atomic action” (</a:t>
            </a:r>
            <a:r>
              <a:rPr lang="en-US" altLang="en-US" dirty="0">
                <a:hlinkClick r:id="rId2"/>
              </a:rPr>
              <a:t>source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b="1" dirty="0">
                <a:solidFill>
                  <a:schemeClr val="tx1"/>
                </a:solidFill>
              </a:rPr>
              <a:t>Before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connection.setAutoCommit</a:t>
            </a:r>
            <a:r>
              <a:rPr lang="en-US" altLang="en-US" dirty="0">
                <a:solidFill>
                  <a:schemeClr val="tx1"/>
                </a:solidFill>
              </a:rPr>
              <a:t>(false);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b="1" dirty="0">
                <a:solidFill>
                  <a:schemeClr val="tx1"/>
                </a:solidFill>
              </a:rPr>
              <a:t>At the end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connection.commit</a:t>
            </a:r>
            <a:r>
              <a:rPr lang="en-US" altLang="en-US" dirty="0">
                <a:solidFill>
                  <a:schemeClr val="tx1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4043542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29" y="2163835"/>
            <a:ext cx="6282881" cy="2677704"/>
          </a:xfrm>
          <a:prstGeom prst="rect">
            <a:avLst/>
          </a:prstGeom>
        </p:spPr>
      </p:pic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Transactions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4" y="1684687"/>
            <a:ext cx="10412565" cy="493459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Starts to look complicated: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30" y="3841638"/>
            <a:ext cx="4375280" cy="27776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57161" y="3283788"/>
            <a:ext cx="4264503" cy="1456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20549" y="4683744"/>
            <a:ext cx="921518" cy="1456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34995" y="4263188"/>
            <a:ext cx="1082984" cy="142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4F8CD8-5CBF-29E0-C326-79AABDAC80A1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K_Transactions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A17FEF-1D2C-1E50-5D57-743D7E0E3F26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142067" y="4334651"/>
            <a:ext cx="6092928" cy="423616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6002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0CAE35-34FE-CA72-9B65-EBF11E1CDE1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K_Transactions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299A8-AFB4-B6CF-C502-B5CE1BBA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022" y="1932308"/>
            <a:ext cx="5846386" cy="42278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503365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Database Metadata</a:t>
            </a:r>
          </a:p>
        </p:txBody>
      </p:sp>
    </p:spTree>
    <p:extLst>
      <p:ext uri="{BB962C8B-B14F-4D97-AF65-F5344CB8AC3E}">
        <p14:creationId xmlns:p14="http://schemas.microsoft.com/office/powerpoint/2010/main" val="2315277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Database Metadata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>
            <a:normAutofit/>
          </a:bodyPr>
          <a:lstStyle/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Get more information about: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Driver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Major and minor version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Product name/product version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 err="1">
                <a:solidFill>
                  <a:schemeClr val="tx1"/>
                </a:solidFill>
              </a:rPr>
              <a:t>TablesColumns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D0553-2715-6245-3439-22F9B8D3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67" y="1899798"/>
            <a:ext cx="7399649" cy="30584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256FB5-0EF5-8D14-ECEF-450A62D92E36}"/>
              </a:ext>
            </a:extLst>
          </p:cNvPr>
          <p:cNvSpPr/>
          <p:nvPr/>
        </p:nvSpPr>
        <p:spPr>
          <a:xfrm>
            <a:off x="7467601" y="2680263"/>
            <a:ext cx="973666" cy="1476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462826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CF51EF-4144-5C1D-8CB9-C4FD0703E58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.L_MetaData2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13F24-0A83-A46E-0F1D-3B9F98B93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958" y="1460612"/>
            <a:ext cx="7598714" cy="5174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37E45C-7186-B5D9-1A62-43A0FE8F67F0}"/>
              </a:ext>
            </a:extLst>
          </p:cNvPr>
          <p:cNvSpPr/>
          <p:nvPr/>
        </p:nvSpPr>
        <p:spPr>
          <a:xfrm>
            <a:off x="5774268" y="4229662"/>
            <a:ext cx="1066799" cy="139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DC357-71B1-92E0-3D20-DBF72DC3C351}"/>
              </a:ext>
            </a:extLst>
          </p:cNvPr>
          <p:cNvSpPr/>
          <p:nvPr/>
        </p:nvSpPr>
        <p:spPr>
          <a:xfrm>
            <a:off x="6002867" y="2710183"/>
            <a:ext cx="4343399" cy="139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41218545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1427</TotalTime>
  <Words>1786</Words>
  <Application>Microsoft Office PowerPoint</Application>
  <PresentationFormat>Widescreen</PresentationFormat>
  <Paragraphs>400</Paragraphs>
  <Slides>62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Arial Narrow</vt:lpstr>
      <vt:lpstr>Calibri</vt:lpstr>
      <vt:lpstr>Courier</vt:lpstr>
      <vt:lpstr>Courier New</vt:lpstr>
      <vt:lpstr>Garamond</vt:lpstr>
      <vt:lpstr>Times</vt:lpstr>
      <vt:lpstr>Times New Roman</vt:lpstr>
      <vt:lpstr>SCUTemplate</vt:lpstr>
      <vt:lpstr>Custom Design</vt:lpstr>
      <vt:lpstr>1_SCUTemplate</vt:lpstr>
      <vt:lpstr>CSEN160</vt:lpstr>
      <vt:lpstr>PostgreSQL</vt:lpstr>
      <vt:lpstr>PostgreSQL Database</vt:lpstr>
      <vt:lpstr>PostgreSQL Database</vt:lpstr>
      <vt:lpstr>PostgreSQL Database</vt:lpstr>
      <vt:lpstr>Java and JDBC Simple Example</vt:lpstr>
      <vt:lpstr>PostgreSQL Database</vt:lpstr>
      <vt:lpstr>ODBC universal database access</vt:lpstr>
      <vt:lpstr>ODBC</vt:lpstr>
      <vt:lpstr>ODBC</vt:lpstr>
      <vt:lpstr>Introduction to JDBC and JDBC Drivers</vt:lpstr>
      <vt:lpstr>What is JDBC</vt:lpstr>
      <vt:lpstr>What is JDBC</vt:lpstr>
      <vt:lpstr>JDBC Drivers</vt:lpstr>
      <vt:lpstr>JDBC Classes</vt:lpstr>
      <vt:lpstr>JDBC Classes</vt:lpstr>
      <vt:lpstr>Six Steps to Using JDBC</vt:lpstr>
      <vt:lpstr>1)  Loading the JDBC Driver</vt:lpstr>
      <vt:lpstr>Loading the PostgreSQL Driver</vt:lpstr>
      <vt:lpstr>2)  Establish the Connection</vt:lpstr>
      <vt:lpstr>Creating a Connection URL</vt:lpstr>
      <vt:lpstr>Connection URL:  PostgreSQL</vt:lpstr>
      <vt:lpstr>3)  Create a Statement Object</vt:lpstr>
      <vt:lpstr>4)  Execute a Query</vt:lpstr>
      <vt:lpstr>4)  Execute a Query</vt:lpstr>
      <vt:lpstr>Useful Statement Methods</vt:lpstr>
      <vt:lpstr>5)  Process the Results </vt:lpstr>
      <vt:lpstr>ResultSet </vt:lpstr>
      <vt:lpstr>ResultSet (Continued) </vt:lpstr>
      <vt:lpstr>ResultSet (Continued) </vt:lpstr>
      <vt:lpstr>6)  Close the Connection</vt:lpstr>
      <vt:lpstr>Example 1: Setting Up Tables via JDBC</vt:lpstr>
      <vt:lpstr>The Coffee Tables</vt:lpstr>
      <vt:lpstr>The Coffee Table</vt:lpstr>
      <vt:lpstr>PowerPoint Presentation</vt:lpstr>
      <vt:lpstr>Example 2: Inserting Data via JDBC</vt:lpstr>
      <vt:lpstr>PowerPoint Presentation</vt:lpstr>
      <vt:lpstr>Example 3: Querying Data via JDBC</vt:lpstr>
      <vt:lpstr>PowerPoint Presentation</vt:lpstr>
      <vt:lpstr>JDBC Exception Handling</vt:lpstr>
      <vt:lpstr>Exception Handling</vt:lpstr>
      <vt:lpstr>SQL Exception Example</vt:lpstr>
      <vt:lpstr>PowerPoint Presentation</vt:lpstr>
      <vt:lpstr>Drop Table</vt:lpstr>
      <vt:lpstr>PowerPoint Presentation</vt:lpstr>
      <vt:lpstr>Prepared Statement (speed-up)</vt:lpstr>
      <vt:lpstr>Prepared Statement</vt:lpstr>
      <vt:lpstr>PowerPoint Presentation</vt:lpstr>
      <vt:lpstr>PowerPoint Presentation</vt:lpstr>
      <vt:lpstr>Batch Operations</vt:lpstr>
      <vt:lpstr>Batch Operations</vt:lpstr>
      <vt:lpstr>Batch Operations &amp; Prepared Statements</vt:lpstr>
      <vt:lpstr>PowerPoint Presentation</vt:lpstr>
      <vt:lpstr>PowerPoint Presentation</vt:lpstr>
      <vt:lpstr>Transactions</vt:lpstr>
      <vt:lpstr>Transactions</vt:lpstr>
      <vt:lpstr>Transactions</vt:lpstr>
      <vt:lpstr>PowerPoint Presentation</vt:lpstr>
      <vt:lpstr>Database Metadata</vt:lpstr>
      <vt:lpstr>Database Metadata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211</cp:revision>
  <cp:lastPrinted>2023-09-11T21:46:56Z</cp:lastPrinted>
  <dcterms:created xsi:type="dcterms:W3CDTF">2023-09-09T19:51:41Z</dcterms:created>
  <dcterms:modified xsi:type="dcterms:W3CDTF">2026-08-22T20:48:36Z</dcterms:modified>
</cp:coreProperties>
</file>