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6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7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05" r:id="rId4"/>
    <p:sldMasterId id="2147483724" r:id="rId5"/>
    <p:sldMasterId id="2147483744" r:id="rId6"/>
    <p:sldMasterId id="2147483762" r:id="rId7"/>
    <p:sldMasterId id="2147483782" r:id="rId8"/>
  </p:sldMasterIdLst>
  <p:notesMasterIdLst>
    <p:notesMasterId r:id="rId84"/>
  </p:notesMasterIdLst>
  <p:handoutMasterIdLst>
    <p:handoutMasterId r:id="rId85"/>
  </p:handoutMasterIdLst>
  <p:sldIdLst>
    <p:sldId id="333" r:id="rId9"/>
    <p:sldId id="565" r:id="rId10"/>
    <p:sldId id="541" r:id="rId11"/>
    <p:sldId id="540" r:id="rId12"/>
    <p:sldId id="542" r:id="rId13"/>
    <p:sldId id="497" r:id="rId14"/>
    <p:sldId id="259" r:id="rId15"/>
    <p:sldId id="543" r:id="rId16"/>
    <p:sldId id="260" r:id="rId17"/>
    <p:sldId id="261" r:id="rId18"/>
    <p:sldId id="262" r:id="rId19"/>
    <p:sldId id="535" r:id="rId20"/>
    <p:sldId id="529" r:id="rId21"/>
    <p:sldId id="534" r:id="rId22"/>
    <p:sldId id="568" r:id="rId23"/>
    <p:sldId id="350" r:id="rId24"/>
    <p:sldId id="313" r:id="rId25"/>
    <p:sldId id="563" r:id="rId26"/>
    <p:sldId id="566" r:id="rId27"/>
    <p:sldId id="545" r:id="rId28"/>
    <p:sldId id="567" r:id="rId29"/>
    <p:sldId id="558" r:id="rId30"/>
    <p:sldId id="556" r:id="rId31"/>
    <p:sldId id="328" r:id="rId32"/>
    <p:sldId id="559" r:id="rId33"/>
    <p:sldId id="557" r:id="rId34"/>
    <p:sldId id="327" r:id="rId35"/>
    <p:sldId id="331" r:id="rId36"/>
    <p:sldId id="555" r:id="rId37"/>
    <p:sldId id="549" r:id="rId38"/>
    <p:sldId id="550" r:id="rId39"/>
    <p:sldId id="551" r:id="rId40"/>
    <p:sldId id="552" r:id="rId41"/>
    <p:sldId id="1108" r:id="rId42"/>
    <p:sldId id="344" r:id="rId43"/>
    <p:sldId id="404" r:id="rId44"/>
    <p:sldId id="406" r:id="rId45"/>
    <p:sldId id="343" r:id="rId46"/>
    <p:sldId id="440" r:id="rId47"/>
    <p:sldId id="456" r:id="rId48"/>
    <p:sldId id="1109" r:id="rId49"/>
    <p:sldId id="561" r:id="rId50"/>
    <p:sldId id="562" r:id="rId51"/>
    <p:sldId id="386" r:id="rId52"/>
    <p:sldId id="844" r:id="rId53"/>
    <p:sldId id="722" r:id="rId54"/>
    <p:sldId id="821" r:id="rId55"/>
    <p:sldId id="1107" r:id="rId56"/>
    <p:sldId id="832" r:id="rId57"/>
    <p:sldId id="725" r:id="rId58"/>
    <p:sldId id="727" r:id="rId59"/>
    <p:sldId id="824" r:id="rId60"/>
    <p:sldId id="827" r:id="rId61"/>
    <p:sldId id="828" r:id="rId62"/>
    <p:sldId id="829" r:id="rId63"/>
    <p:sldId id="830" r:id="rId64"/>
    <p:sldId id="831" r:id="rId65"/>
    <p:sldId id="408" r:id="rId66"/>
    <p:sldId id="409" r:id="rId67"/>
    <p:sldId id="410" r:id="rId68"/>
    <p:sldId id="564" r:id="rId69"/>
    <p:sldId id="365" r:id="rId70"/>
    <p:sldId id="411" r:id="rId71"/>
    <p:sldId id="412" r:id="rId72"/>
    <p:sldId id="413" r:id="rId73"/>
    <p:sldId id="367" r:id="rId74"/>
    <p:sldId id="414" r:id="rId75"/>
    <p:sldId id="415" r:id="rId76"/>
    <p:sldId id="369" r:id="rId77"/>
    <p:sldId id="364" r:id="rId78"/>
    <p:sldId id="372" r:id="rId79"/>
    <p:sldId id="373" r:id="rId80"/>
    <p:sldId id="374" r:id="rId81"/>
    <p:sldId id="391" r:id="rId82"/>
    <p:sldId id="509" r:id="rId8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5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viewProps" Target="viewProps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EB78168D-8AB5-A7A6-0B63-A397466F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84bdfdb6e_0_77:notes">
            <a:extLst>
              <a:ext uri="{FF2B5EF4-FFF2-40B4-BE49-F238E27FC236}">
                <a16:creationId xmlns:a16="http://schemas.microsoft.com/office/drawing/2014/main" id="{29979510-84E3-4DC9-3AE6-E6DBC3B91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984bdfdb6e_0_77:notes">
            <a:extLst>
              <a:ext uri="{FF2B5EF4-FFF2-40B4-BE49-F238E27FC236}">
                <a16:creationId xmlns:a16="http://schemas.microsoft.com/office/drawing/2014/main" id="{F5FE299C-F8DE-BC37-D683-2BBFA0612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1980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10">
            <a:extLst>
              <a:ext uri="{FF2B5EF4-FFF2-40B4-BE49-F238E27FC236}">
                <a16:creationId xmlns:a16="http://schemas.microsoft.com/office/drawing/2014/main" id="{E9C4765F-AA63-D9DD-5DB8-8C47EF3ACAB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06544465-1CE7-4ADC-978F-E6F0DD85ABDA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45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94243" name="Rectangle 2">
            <a:extLst>
              <a:ext uri="{FF2B5EF4-FFF2-40B4-BE49-F238E27FC236}">
                <a16:creationId xmlns:a16="http://schemas.microsoft.com/office/drawing/2014/main" id="{A9C1412A-9189-D0B8-8505-D9336F794D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4244" name="Rectangle 3">
            <a:extLst>
              <a:ext uri="{FF2B5EF4-FFF2-40B4-BE49-F238E27FC236}">
                <a16:creationId xmlns:a16="http://schemas.microsoft.com/office/drawing/2014/main" id="{8E2128DC-8FE4-1D78-5AFA-E5AA6B7A8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10">
            <a:extLst>
              <a:ext uri="{FF2B5EF4-FFF2-40B4-BE49-F238E27FC236}">
                <a16:creationId xmlns:a16="http://schemas.microsoft.com/office/drawing/2014/main" id="{DACE45D8-4AD8-3FCC-C4F6-36E6BA8432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50248E7D-EB7E-4F5B-90CF-6A991850ABAE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46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3523" name="Text Box 2">
            <a:extLst>
              <a:ext uri="{FF2B5EF4-FFF2-40B4-BE49-F238E27FC236}">
                <a16:creationId xmlns:a16="http://schemas.microsoft.com/office/drawing/2014/main" id="{6E844014-A80C-2ECC-5354-BD77CE187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3524" name="Rectangle 3">
            <a:extLst>
              <a:ext uri="{FF2B5EF4-FFF2-40B4-BE49-F238E27FC236}">
                <a16:creationId xmlns:a16="http://schemas.microsoft.com/office/drawing/2014/main" id="{EE13DAD2-176E-F90C-4910-BB9CBF4C748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10">
            <a:extLst>
              <a:ext uri="{FF2B5EF4-FFF2-40B4-BE49-F238E27FC236}">
                <a16:creationId xmlns:a16="http://schemas.microsoft.com/office/drawing/2014/main" id="{FD93F662-E558-200A-3B21-665A3527959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87C00D30-3F60-4FA4-86C7-01EC7FDB706D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47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72739" name="Text Box 2">
            <a:extLst>
              <a:ext uri="{FF2B5EF4-FFF2-40B4-BE49-F238E27FC236}">
                <a16:creationId xmlns:a16="http://schemas.microsoft.com/office/drawing/2014/main" id="{6C7D3840-A547-2275-AD41-76B2AE8D0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72740" name="Rectangle 3">
            <a:extLst>
              <a:ext uri="{FF2B5EF4-FFF2-40B4-BE49-F238E27FC236}">
                <a16:creationId xmlns:a16="http://schemas.microsoft.com/office/drawing/2014/main" id="{D6CFA18D-B710-AB42-F735-EBEEFDA8F2E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8973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10">
            <a:extLst>
              <a:ext uri="{FF2B5EF4-FFF2-40B4-BE49-F238E27FC236}">
                <a16:creationId xmlns:a16="http://schemas.microsoft.com/office/drawing/2014/main" id="{D939AD1C-EAB4-24CF-0840-566772861A3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DCAA35ED-87D4-48B9-AA1F-75849F6DC58C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48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8643" name="Text Box 2">
            <a:extLst>
              <a:ext uri="{FF2B5EF4-FFF2-40B4-BE49-F238E27FC236}">
                <a16:creationId xmlns:a16="http://schemas.microsoft.com/office/drawing/2014/main" id="{77B2AF50-7F4F-EC26-910B-C7EA2488B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8644" name="Rectangle 3">
            <a:extLst>
              <a:ext uri="{FF2B5EF4-FFF2-40B4-BE49-F238E27FC236}">
                <a16:creationId xmlns:a16="http://schemas.microsoft.com/office/drawing/2014/main" id="{B510EC14-E4C4-1F45-D3DB-2FEAC13CF52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7322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10">
            <a:extLst>
              <a:ext uri="{FF2B5EF4-FFF2-40B4-BE49-F238E27FC236}">
                <a16:creationId xmlns:a16="http://schemas.microsoft.com/office/drawing/2014/main" id="{A9ABAB57-7A3B-42F0-6F70-CFB7AB7D03A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B273F1F0-1C0E-4052-8602-B2384A1CCFF9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49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73763" name="Text Box 2">
            <a:extLst>
              <a:ext uri="{FF2B5EF4-FFF2-40B4-BE49-F238E27FC236}">
                <a16:creationId xmlns:a16="http://schemas.microsoft.com/office/drawing/2014/main" id="{5EC96093-4BB2-76D2-8542-CD5831DE7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73764" name="Rectangle 3">
            <a:extLst>
              <a:ext uri="{FF2B5EF4-FFF2-40B4-BE49-F238E27FC236}">
                <a16:creationId xmlns:a16="http://schemas.microsoft.com/office/drawing/2014/main" id="{EEE58210-836C-02DB-CDD1-E378E733CB9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3885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10">
            <a:extLst>
              <a:ext uri="{FF2B5EF4-FFF2-40B4-BE49-F238E27FC236}">
                <a16:creationId xmlns:a16="http://schemas.microsoft.com/office/drawing/2014/main" id="{6CE7E48B-4D54-C854-C385-C73AF0A6F7A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6E91CD1B-F084-49DC-9362-B92DAD893555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50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74787" name="Text Box 2">
            <a:extLst>
              <a:ext uri="{FF2B5EF4-FFF2-40B4-BE49-F238E27FC236}">
                <a16:creationId xmlns:a16="http://schemas.microsoft.com/office/drawing/2014/main" id="{F0B36ACE-DC41-A4FE-BF08-F17D951E1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74788" name="Rectangle 3">
            <a:extLst>
              <a:ext uri="{FF2B5EF4-FFF2-40B4-BE49-F238E27FC236}">
                <a16:creationId xmlns:a16="http://schemas.microsoft.com/office/drawing/2014/main" id="{8564FE89-E04E-4F75-7F1B-BFC0D4CAE2A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1538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10">
            <a:extLst>
              <a:ext uri="{FF2B5EF4-FFF2-40B4-BE49-F238E27FC236}">
                <a16:creationId xmlns:a16="http://schemas.microsoft.com/office/drawing/2014/main" id="{CEF236FC-CF76-8BFC-6471-5F0B66A4F3A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B855FB5D-0FC2-4DD0-8FC7-B35DDF154910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51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80931" name="Text Box 2">
            <a:extLst>
              <a:ext uri="{FF2B5EF4-FFF2-40B4-BE49-F238E27FC236}">
                <a16:creationId xmlns:a16="http://schemas.microsoft.com/office/drawing/2014/main" id="{5A2866AF-EAF9-CCCC-8A7D-94BEFC5D2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80932" name="Rectangle 3">
            <a:extLst>
              <a:ext uri="{FF2B5EF4-FFF2-40B4-BE49-F238E27FC236}">
                <a16:creationId xmlns:a16="http://schemas.microsoft.com/office/drawing/2014/main" id="{29C1A8F8-ABF2-0C8D-B206-2E465E20351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570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10">
            <a:extLst>
              <a:ext uri="{FF2B5EF4-FFF2-40B4-BE49-F238E27FC236}">
                <a16:creationId xmlns:a16="http://schemas.microsoft.com/office/drawing/2014/main" id="{F3F2CB91-9981-484C-C540-88EEE31D101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64B2CED4-3B97-46C3-99F9-34E341D535CD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52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4547" name="Text Box 2">
            <a:extLst>
              <a:ext uri="{FF2B5EF4-FFF2-40B4-BE49-F238E27FC236}">
                <a16:creationId xmlns:a16="http://schemas.microsoft.com/office/drawing/2014/main" id="{5567106B-CD0F-D70B-BA41-7096041D6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4548" name="Rectangle 3">
            <a:extLst>
              <a:ext uri="{FF2B5EF4-FFF2-40B4-BE49-F238E27FC236}">
                <a16:creationId xmlns:a16="http://schemas.microsoft.com/office/drawing/2014/main" id="{BF126568-D839-0CF4-14F0-0832C23D186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10">
            <a:extLst>
              <a:ext uri="{FF2B5EF4-FFF2-40B4-BE49-F238E27FC236}">
                <a16:creationId xmlns:a16="http://schemas.microsoft.com/office/drawing/2014/main" id="{3D851DCE-C4AD-421F-6577-1EC38B9DE39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2454636E-803E-4DA3-A344-114852492DD2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53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5571" name="Text Box 2">
            <a:extLst>
              <a:ext uri="{FF2B5EF4-FFF2-40B4-BE49-F238E27FC236}">
                <a16:creationId xmlns:a16="http://schemas.microsoft.com/office/drawing/2014/main" id="{9DA28BD2-CD9F-7EFF-3A4A-1C07B6530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5572" name="Rectangle 3">
            <a:extLst>
              <a:ext uri="{FF2B5EF4-FFF2-40B4-BE49-F238E27FC236}">
                <a16:creationId xmlns:a16="http://schemas.microsoft.com/office/drawing/2014/main" id="{6B29B649-E3A4-F598-0017-C1AC63BF85C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10">
            <a:extLst>
              <a:ext uri="{FF2B5EF4-FFF2-40B4-BE49-F238E27FC236}">
                <a16:creationId xmlns:a16="http://schemas.microsoft.com/office/drawing/2014/main" id="{10365322-133B-FAE1-0A06-D10429204C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E17A03A9-36CD-4353-8E33-B7C61F691A06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54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6595" name="Text Box 2">
            <a:extLst>
              <a:ext uri="{FF2B5EF4-FFF2-40B4-BE49-F238E27FC236}">
                <a16:creationId xmlns:a16="http://schemas.microsoft.com/office/drawing/2014/main" id="{F873824A-1FED-A4A2-B901-5B498307F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6596" name="Rectangle 3">
            <a:extLst>
              <a:ext uri="{FF2B5EF4-FFF2-40B4-BE49-F238E27FC236}">
                <a16:creationId xmlns:a16="http://schemas.microsoft.com/office/drawing/2014/main" id="{6E378D5B-2348-C809-F4BD-49D995C2850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10">
            <a:extLst>
              <a:ext uri="{FF2B5EF4-FFF2-40B4-BE49-F238E27FC236}">
                <a16:creationId xmlns:a16="http://schemas.microsoft.com/office/drawing/2014/main" id="{2C66828B-1063-BEF9-D811-11D06D81A5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38A320BA-C8E1-4265-A69A-C4CCE60187C0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7619" name="Text Box 2">
            <a:extLst>
              <a:ext uri="{FF2B5EF4-FFF2-40B4-BE49-F238E27FC236}">
                <a16:creationId xmlns:a16="http://schemas.microsoft.com/office/drawing/2014/main" id="{DB00E9F3-1D88-088E-8085-20B22899C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7620" name="Rectangle 3">
            <a:extLst>
              <a:ext uri="{FF2B5EF4-FFF2-40B4-BE49-F238E27FC236}">
                <a16:creationId xmlns:a16="http://schemas.microsoft.com/office/drawing/2014/main" id="{E2189CE4-F86F-AB7F-EF8D-3860C58BBE1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10">
            <a:extLst>
              <a:ext uri="{FF2B5EF4-FFF2-40B4-BE49-F238E27FC236}">
                <a16:creationId xmlns:a16="http://schemas.microsoft.com/office/drawing/2014/main" id="{410692ED-34F7-8B1B-6193-71D8B81F142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5ED1DB3A-1737-4CCB-AECC-45B4DB03F825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9667" name="Text Box 2">
            <a:extLst>
              <a:ext uri="{FF2B5EF4-FFF2-40B4-BE49-F238E27FC236}">
                <a16:creationId xmlns:a16="http://schemas.microsoft.com/office/drawing/2014/main" id="{4A67FF78-87FE-0442-7B6D-52863FAE1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9668" name="Rectangle 3">
            <a:extLst>
              <a:ext uri="{FF2B5EF4-FFF2-40B4-BE49-F238E27FC236}">
                <a16:creationId xmlns:a16="http://schemas.microsoft.com/office/drawing/2014/main" id="{07E891A8-6E6F-2FE4-6CFA-3297E18EDAD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10">
            <a:extLst>
              <a:ext uri="{FF2B5EF4-FFF2-40B4-BE49-F238E27FC236}">
                <a16:creationId xmlns:a16="http://schemas.microsoft.com/office/drawing/2014/main" id="{E54C32A8-E812-170B-B74A-3F2FC29D052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C08F808C-191F-4703-BD2E-3509C62F5300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57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70691" name="Text Box 2">
            <a:extLst>
              <a:ext uri="{FF2B5EF4-FFF2-40B4-BE49-F238E27FC236}">
                <a16:creationId xmlns:a16="http://schemas.microsoft.com/office/drawing/2014/main" id="{53040721-710E-8F12-091F-9706D768C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70692" name="Rectangle 3">
            <a:extLst>
              <a:ext uri="{FF2B5EF4-FFF2-40B4-BE49-F238E27FC236}">
                <a16:creationId xmlns:a16="http://schemas.microsoft.com/office/drawing/2014/main" id="{4346E69C-CE10-9BAD-3C57-73097210350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3825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3766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4838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3427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9679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074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579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60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8315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612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0770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5320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2200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723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6343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4000" baseline="0">
                <a:solidFill>
                  <a:srgbClr val="0066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1"/>
            <a:ext cx="11074400" cy="5211763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8ED1E-1A7D-4E33-BE1B-6749D8B897DB}" type="datetimeFigureOut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8538125-56CF-4436-882B-87E3A97AC3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989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1A94E-7158-2E25-4E17-B42078888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1FBC7-3878-4673-ADB8-8A8C3B24CCB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01501E-D8EC-7CCA-BE6E-5EFED8E3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8F3B6-F508-8E95-B945-BDAA144E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FEA3-E02F-4709-B95E-6A176C3A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466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426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2750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08341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9441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2377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6955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1891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06168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4571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3609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6913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0723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50431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3994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514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7395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873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27739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747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09047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7751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68883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9272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6288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5487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950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41917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31513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79336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043054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698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14080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62966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460559"/>
      </p:ext>
    </p:extLst>
  </p:cSld>
  <p:clrMapOvr>
    <a:masterClrMapping/>
  </p:clrMapOvr>
  <p:transition advClick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61866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3029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59109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05181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34598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17160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3981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02947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04814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8499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03979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8419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822117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4790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63834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306211" y="-1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3871107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11306211" y="-1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426951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U Simple Light " type="blank">
  <p:cSld name="SCU Simple Light 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11306211" y="-1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014685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gure mas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>
            <a:spLocks noGrp="1"/>
          </p:cNvSpPr>
          <p:nvPr>
            <p:ph type="title"/>
          </p:nvPr>
        </p:nvSpPr>
        <p:spPr>
          <a:xfrm>
            <a:off x="892969" y="241102"/>
            <a:ext cx="10406063" cy="477111"/>
          </a:xfrm>
          <a:prstGeom prst="rect">
            <a:avLst/>
          </a:prstGeom>
        </p:spPr>
        <p:txBody>
          <a:bodyPr anchor="ctr"/>
          <a:lstStyle>
            <a:lvl1pPr algn="l">
              <a:defRPr sz="1406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3" name="© Ian Sommerville 2018:"/>
          <p:cNvSpPr txBox="1"/>
          <p:nvPr/>
        </p:nvSpPr>
        <p:spPr>
          <a:xfrm>
            <a:off x="5239343" y="6465574"/>
            <a:ext cx="1894750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 © Ian Sommerville 2018</a:t>
            </a:r>
            <a:r>
              <a:rPr sz="1266">
                <a:solidFill>
                  <a:srgbClr val="0096FF"/>
                </a:solidFill>
              </a:rPr>
              <a:t>:</a:t>
            </a:r>
          </a:p>
        </p:txBody>
      </p:sp>
      <p:sp>
        <p:nvSpPr>
          <p:cNvPr id="44" name="Security and Privacy"/>
          <p:cNvSpPr txBox="1"/>
          <p:nvPr/>
        </p:nvSpPr>
        <p:spPr>
          <a:xfrm>
            <a:off x="346978" y="6465574"/>
            <a:ext cx="1554914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/>
          </a:lstStyle>
          <a:p>
            <a:r>
              <a:rPr sz="1266"/>
              <a:t>Security and Privacy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38970" y="6500813"/>
            <a:ext cx="266078" cy="19645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289346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67943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10322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00345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21649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27586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5118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98733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2523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37817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81498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80003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6458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902943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79601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95404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47254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95790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21669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4D533-7F64-4678-892D-1BE11DF20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767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2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9.xml"/><Relationship Id="rId18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89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1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102.xml"/><Relationship Id="rId20" Type="http://schemas.openxmlformats.org/officeDocument/2006/relationships/theme" Target="../theme/theme7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96.xml"/><Relationship Id="rId19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100.xml"/><Relationship Id="rId22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18.xml"/><Relationship Id="rId18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08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07.xml"/><Relationship Id="rId16" Type="http://schemas.openxmlformats.org/officeDocument/2006/relationships/slideLayout" Target="../slideLayouts/slideLayout121.xml"/><Relationship Id="rId20" Type="http://schemas.openxmlformats.org/officeDocument/2006/relationships/theme" Target="../theme/theme8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15.xml"/><Relationship Id="rId19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9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5" r:id="rId14"/>
    <p:sldLayoutId id="214748368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782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2" r:id="rId16"/>
    <p:sldLayoutId id="214748372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48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32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086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  <p:sldLayoutId id="2147483781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7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800" r:id="rId18"/>
    <p:sldLayoutId id="2147483801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4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4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4.xml"/><Relationship Id="rId4" Type="http://schemas.openxmlformats.org/officeDocument/2006/relationships/image" Target="../media/image5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4.xml"/><Relationship Id="rId4" Type="http://schemas.openxmlformats.org/officeDocument/2006/relationships/image" Target="../media/image53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97A87-56A0-4AAB-690A-9BEBDE136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42D58205-F1A8-70BB-EEA6-1106C49D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 View Controller (MVC)</a:t>
            </a:r>
            <a:br>
              <a:rPr lang="en-US" altLang="en-US" dirty="0"/>
            </a:br>
            <a:r>
              <a:rPr lang="en-US" altLang="en-US" dirty="0"/>
              <a:t>3-Tier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1539371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7F620-1B33-6C57-54BD-5E6A28BE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8EA3138-6E5E-3B8C-ACD7-690C2C70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280" y="768252"/>
            <a:ext cx="7945504" cy="56356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3-Tier Java Web Application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3FC1E9-3C00-6262-61F6-16EB67E51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81" y="2263763"/>
            <a:ext cx="10711079" cy="315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65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EB5B-330C-ABFD-0669-CE680BC0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C1A489A-35B8-7A06-1571-EC35ED3A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281" y="768252"/>
            <a:ext cx="5155976" cy="56356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3-Tier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DC354-74B9-F7BE-4B85-464706096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81" y="1731698"/>
            <a:ext cx="10367246" cy="4924002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chemeClr val="tx1"/>
                </a:solidFill>
              </a:rPr>
              <a:t>In general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Scalability</a:t>
            </a:r>
            <a:r>
              <a:rPr lang="en-US" dirty="0">
                <a:solidFill>
                  <a:schemeClr val="tx1"/>
                </a:solidFill>
              </a:rPr>
              <a:t>: The application can scale up or down (increased demand). 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Improved reliability</a:t>
            </a:r>
            <a:r>
              <a:rPr lang="en-US" dirty="0">
                <a:solidFill>
                  <a:schemeClr val="tx1"/>
                </a:solidFill>
              </a:rPr>
              <a:t>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Each tier can operate </a:t>
            </a:r>
            <a:r>
              <a:rPr lang="en-US" b="1" dirty="0">
                <a:solidFill>
                  <a:srgbClr val="92D050"/>
                </a:solidFill>
              </a:rPr>
              <a:t>independently</a:t>
            </a:r>
            <a:r>
              <a:rPr lang="en-US" dirty="0">
                <a:solidFill>
                  <a:schemeClr val="tx1"/>
                </a:solidFill>
              </a:rPr>
              <a:t>.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No single point of </a:t>
            </a:r>
            <a:r>
              <a:rPr lang="en-US" b="1" dirty="0">
                <a:solidFill>
                  <a:srgbClr val="FF0000"/>
                </a:solidFill>
              </a:rPr>
              <a:t>failure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Ease of maintenance</a:t>
            </a:r>
            <a:r>
              <a:rPr lang="en-US" dirty="0">
                <a:solidFill>
                  <a:schemeClr val="tx1"/>
                </a:solidFill>
              </a:rPr>
              <a:t>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Changes in one layer </a:t>
            </a:r>
            <a:r>
              <a:rPr lang="en-US" b="1" dirty="0">
                <a:solidFill>
                  <a:srgbClr val="FF0000"/>
                </a:solidFill>
              </a:rPr>
              <a:t>does not necessarily </a:t>
            </a:r>
            <a:r>
              <a:rPr lang="en-US" dirty="0">
                <a:solidFill>
                  <a:schemeClr val="tx1"/>
                </a:solidFill>
              </a:rPr>
              <a:t>impact the other layers.</a:t>
            </a:r>
          </a:p>
        </p:txBody>
      </p:sp>
    </p:spTree>
    <p:extLst>
      <p:ext uri="{BB962C8B-B14F-4D97-AF65-F5344CB8AC3E}">
        <p14:creationId xmlns:p14="http://schemas.microsoft.com/office/powerpoint/2010/main" val="19781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CC311-EA4D-85DC-3B7D-1356D8CF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0CFA5470-2E71-A67E-03E3-76F2014D0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281" y="768252"/>
            <a:ext cx="5155976" cy="56356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3-Tier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D5180-F287-57CA-E558-2C78C2CB8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81" y="1731698"/>
            <a:ext cx="10367246" cy="4924002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chemeClr val="tx1"/>
                </a:solidFill>
              </a:rPr>
              <a:t>In general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Security</a:t>
            </a:r>
            <a:r>
              <a:rPr lang="en-US" dirty="0">
                <a:solidFill>
                  <a:schemeClr val="tx1"/>
                </a:solidFill>
              </a:rPr>
              <a:t>: Users can </a:t>
            </a:r>
            <a:r>
              <a:rPr lang="en-US" b="1" dirty="0">
                <a:solidFill>
                  <a:srgbClr val="FF0000"/>
                </a:solidFill>
              </a:rPr>
              <a:t>only access </a:t>
            </a:r>
            <a:r>
              <a:rPr lang="en-US" dirty="0">
                <a:solidFill>
                  <a:schemeClr val="tx1"/>
                </a:solidFill>
              </a:rPr>
              <a:t>the data layer through the logical layer.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Faster development</a:t>
            </a:r>
            <a:r>
              <a:rPr lang="en-US" dirty="0">
                <a:solidFill>
                  <a:schemeClr val="tx1"/>
                </a:solidFill>
              </a:rPr>
              <a:t>: Each tier can be developed </a:t>
            </a:r>
            <a:r>
              <a:rPr lang="en-US" b="1" dirty="0">
                <a:solidFill>
                  <a:srgbClr val="92D050"/>
                </a:solidFill>
              </a:rPr>
              <a:t>independently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Specialized development</a:t>
            </a:r>
            <a:r>
              <a:rPr lang="en-US" dirty="0">
                <a:solidFill>
                  <a:schemeClr val="tx1"/>
                </a:solidFill>
              </a:rPr>
              <a:t>: Development teams can work on their areas of </a:t>
            </a:r>
            <a:r>
              <a:rPr lang="en-US" b="1" dirty="0">
                <a:solidFill>
                  <a:srgbClr val="92D050"/>
                </a:solidFill>
              </a:rPr>
              <a:t>expertise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940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3281" y="768252"/>
            <a:ext cx="5155976" cy="56356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3-Tier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281" y="1731698"/>
            <a:ext cx="10367246" cy="4924002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chemeClr val="tx1"/>
                </a:solidFill>
              </a:rPr>
              <a:t>In general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A graphical frontend</a:t>
            </a:r>
            <a:r>
              <a:rPr lang="en-US" dirty="0">
                <a:solidFill>
                  <a:schemeClr val="tx1"/>
                </a:solidFill>
              </a:rPr>
              <a:t>: 	HTML frontend/JSP pages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A business layer</a:t>
            </a:r>
            <a:r>
              <a:rPr lang="en-US" dirty="0">
                <a:solidFill>
                  <a:schemeClr val="tx1"/>
                </a:solidFill>
              </a:rPr>
              <a:t>: 		Java Beans/Servlets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A database layer</a:t>
            </a:r>
            <a:r>
              <a:rPr lang="en-US" dirty="0">
                <a:solidFill>
                  <a:schemeClr val="tx1"/>
                </a:solidFill>
              </a:rPr>
              <a:t>: 		PostgreSQL</a:t>
            </a:r>
          </a:p>
        </p:txBody>
      </p:sp>
    </p:spTree>
    <p:extLst>
      <p:ext uri="{BB962C8B-B14F-4D97-AF65-F5344CB8AC3E}">
        <p14:creationId xmlns:p14="http://schemas.microsoft.com/office/powerpoint/2010/main" val="869290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442" y="739859"/>
            <a:ext cx="10972800" cy="563562"/>
          </a:xfrm>
          <a:ln>
            <a:noFill/>
          </a:ln>
        </p:spPr>
        <p:txBody>
          <a:bodyPr/>
          <a:lstStyle/>
          <a:p>
            <a:r>
              <a:rPr sz="3200" dirty="0">
                <a:solidFill>
                  <a:schemeClr val="tx1"/>
                </a:solidFill>
              </a:rPr>
              <a:t>Apache Tomcat as Application Server (Middle Tier)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516" y="1435769"/>
            <a:ext cx="11074400" cy="5211763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What is Apache Tomcat?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 open-source web server and </a:t>
            </a:r>
            <a:r>
              <a:rPr b="1" dirty="0">
                <a:solidFill>
                  <a:srgbClr val="92D050"/>
                </a:solidFill>
              </a:rPr>
              <a:t>servlet container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Supports Java Servlets, </a:t>
            </a:r>
            <a:r>
              <a:rPr dirty="0" err="1">
                <a:solidFill>
                  <a:schemeClr val="tx1"/>
                </a:solidFill>
              </a:rPr>
              <a:t>JavaServer</a:t>
            </a:r>
            <a:r>
              <a:rPr dirty="0">
                <a:solidFill>
                  <a:schemeClr val="tx1"/>
                </a:solidFill>
              </a:rPr>
              <a:t> Pages (JSP), and </a:t>
            </a:r>
            <a:r>
              <a:rPr dirty="0" err="1">
                <a:solidFill>
                  <a:schemeClr val="tx1"/>
                </a:solidFill>
              </a:rPr>
              <a:t>WebSockets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AC6FF-D272-3536-912B-86030BF2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4B4FD-0661-318D-D0D6-454872A66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442" y="739859"/>
            <a:ext cx="10972800" cy="563562"/>
          </a:xfrm>
          <a:ln>
            <a:noFill/>
          </a:ln>
        </p:spPr>
        <p:txBody>
          <a:bodyPr/>
          <a:lstStyle/>
          <a:p>
            <a:r>
              <a:rPr sz="3200" dirty="0">
                <a:solidFill>
                  <a:schemeClr val="tx1"/>
                </a:solidFill>
              </a:rPr>
              <a:t>Apache Tomcat as Application Server (Middle Tier)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A06BA-881F-20A7-860E-F4B38B31D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516" y="1435769"/>
            <a:ext cx="11074400" cy="5211763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Role in 3-Tier Architecture: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Hosts the </a:t>
            </a:r>
            <a:r>
              <a:rPr b="1" dirty="0">
                <a:solidFill>
                  <a:srgbClr val="00B0F0"/>
                </a:solidFill>
              </a:rPr>
              <a:t>application layer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Manages </a:t>
            </a:r>
            <a:r>
              <a:rPr b="1" dirty="0">
                <a:solidFill>
                  <a:srgbClr val="00B0F0"/>
                </a:solidFill>
              </a:rPr>
              <a:t>business logic </a:t>
            </a:r>
            <a:r>
              <a:rPr dirty="0">
                <a:solidFill>
                  <a:schemeClr val="tx1"/>
                </a:solidFill>
              </a:rPr>
              <a:t>and processes client requests.</a:t>
            </a:r>
          </a:p>
        </p:txBody>
      </p:sp>
    </p:spTree>
    <p:extLst>
      <p:ext uri="{BB962C8B-B14F-4D97-AF65-F5344CB8AC3E}">
        <p14:creationId xmlns:p14="http://schemas.microsoft.com/office/powerpoint/2010/main" val="3322463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453" y="739859"/>
            <a:ext cx="10972800" cy="563562"/>
          </a:xfrm>
          <a:ln>
            <a:noFill/>
          </a:ln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PostgreSQL as the Database (Data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453" y="1439780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PostgreSQL?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</a:t>
            </a:r>
            <a:r>
              <a:rPr dirty="0">
                <a:solidFill>
                  <a:schemeClr val="tx1"/>
                </a:solidFill>
              </a:rPr>
              <a:t>pen-source relational database management system.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</a:t>
            </a:r>
            <a:r>
              <a:rPr dirty="0">
                <a:solidFill>
                  <a:schemeClr val="tx1"/>
                </a:solidFill>
              </a:rPr>
              <a:t>eliab</a:t>
            </a:r>
            <a:r>
              <a:rPr lang="en-US" dirty="0">
                <a:solidFill>
                  <a:schemeClr val="tx1"/>
                </a:solidFill>
              </a:rPr>
              <a:t>le</a:t>
            </a:r>
            <a:r>
              <a:rPr dirty="0">
                <a:solidFill>
                  <a:schemeClr val="tx1"/>
                </a:solidFill>
              </a:rPr>
              <a:t>, robust, and SQL compliance.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Stores and manages application data.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Handles database queries and transactions.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495" y="723817"/>
            <a:ext cx="10972800" cy="563562"/>
          </a:xfrm>
          <a:ln>
            <a:noFill/>
          </a:ln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Presentation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495" y="1427748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Role of the Presentation Layer: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User-facing interface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b="1" dirty="0">
                <a:solidFill>
                  <a:srgbClr val="FF0000"/>
                </a:solidFill>
              </a:rPr>
              <a:t>clients</a:t>
            </a:r>
            <a:r>
              <a:rPr lang="en-US" dirty="0">
                <a:solidFill>
                  <a:schemeClr val="tx1"/>
                </a:solidFill>
              </a:rPr>
              <a:t>)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Typically implemented as web front-end (HTML/CSS/JavaScript).</a:t>
            </a:r>
          </a:p>
          <a:p>
            <a:endParaRPr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Technologies: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</a:t>
            </a:r>
            <a:r>
              <a:rPr dirty="0">
                <a:solidFill>
                  <a:schemeClr val="tx1"/>
                </a:solidFill>
              </a:rPr>
              <a:t>asic </a:t>
            </a:r>
            <a:r>
              <a:rPr b="1" dirty="0">
                <a:solidFill>
                  <a:srgbClr val="FF0000"/>
                </a:solidFill>
              </a:rPr>
              <a:t>HTML/JSP </a:t>
            </a:r>
            <a:r>
              <a:rPr dirty="0">
                <a:solidFill>
                  <a:schemeClr val="tx1"/>
                </a:solidFill>
              </a:rPr>
              <a:t>on Tomcat.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495" y="739859"/>
            <a:ext cx="10972800" cy="563562"/>
          </a:xfrm>
          <a:ln>
            <a:noFill/>
          </a:ln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How Layers Interact in 3-Tier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495" y="1447801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b="1" dirty="0">
                <a:solidFill>
                  <a:schemeClr val="tx1"/>
                </a:solidFill>
              </a:rPr>
              <a:t>Flow of Data:</a:t>
            </a:r>
          </a:p>
          <a:p>
            <a:endParaRPr lang="en-US" dirty="0"/>
          </a:p>
          <a:p>
            <a:r>
              <a:rPr b="1" dirty="0">
                <a:solidFill>
                  <a:srgbClr val="00B0F0"/>
                </a:solidFill>
              </a:rPr>
              <a:t>User actions </a:t>
            </a:r>
            <a:r>
              <a:rPr dirty="0">
                <a:solidFill>
                  <a:schemeClr val="tx1"/>
                </a:solidFill>
              </a:rPr>
              <a:t>in the </a:t>
            </a:r>
            <a:r>
              <a:rPr b="1" dirty="0">
                <a:solidFill>
                  <a:srgbClr val="00B0F0"/>
                </a:solidFill>
              </a:rPr>
              <a:t>presentation layer </a:t>
            </a:r>
            <a:r>
              <a:rPr dirty="0">
                <a:solidFill>
                  <a:schemeClr val="tx1"/>
                </a:solidFill>
              </a:rPr>
              <a:t>send requests to the </a:t>
            </a:r>
            <a:r>
              <a:rPr b="1" dirty="0">
                <a:solidFill>
                  <a:srgbClr val="92D050"/>
                </a:solidFill>
              </a:rPr>
              <a:t>application layer</a:t>
            </a:r>
            <a:r>
              <a:rPr dirty="0"/>
              <a:t>.</a:t>
            </a:r>
          </a:p>
          <a:p>
            <a:endParaRPr lang="en-US" dirty="0"/>
          </a:p>
          <a:p>
            <a:r>
              <a:rPr b="1" dirty="0">
                <a:solidFill>
                  <a:srgbClr val="92D050"/>
                </a:solidFill>
              </a:rPr>
              <a:t>Application layer </a:t>
            </a:r>
            <a:r>
              <a:rPr dirty="0">
                <a:solidFill>
                  <a:schemeClr val="tx1"/>
                </a:solidFill>
              </a:rPr>
              <a:t>(Tomcat) processes requests and interacts with </a:t>
            </a:r>
            <a:r>
              <a:rPr b="1" dirty="0">
                <a:solidFill>
                  <a:srgbClr val="FF0000"/>
                </a:solidFill>
              </a:rPr>
              <a:t>PostgreSQL</a:t>
            </a:r>
            <a:r>
              <a:rPr dirty="0"/>
              <a:t>.</a:t>
            </a:r>
          </a:p>
          <a:p>
            <a:endParaRPr lang="en-US" dirty="0"/>
          </a:p>
          <a:p>
            <a:r>
              <a:rPr b="1" dirty="0">
                <a:solidFill>
                  <a:srgbClr val="FF0000"/>
                </a:solidFill>
              </a:rPr>
              <a:t>Database responses </a:t>
            </a:r>
            <a:r>
              <a:rPr dirty="0">
                <a:solidFill>
                  <a:schemeClr val="tx1"/>
                </a:solidFill>
              </a:rPr>
              <a:t>back to the </a:t>
            </a:r>
            <a:r>
              <a:rPr b="1" dirty="0">
                <a:solidFill>
                  <a:srgbClr val="92D050"/>
                </a:solidFill>
              </a:rPr>
              <a:t>application layer</a:t>
            </a:r>
            <a:r>
              <a:rPr dirty="0">
                <a:solidFill>
                  <a:schemeClr val="tx1"/>
                </a:solidFill>
              </a:rPr>
              <a:t>, then to the </a:t>
            </a:r>
            <a:r>
              <a:rPr b="1" dirty="0">
                <a:solidFill>
                  <a:srgbClr val="00B0F0"/>
                </a:solidFill>
              </a:rPr>
              <a:t>presentation layer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BDAE9-B6DE-3E9B-8983-A0F0D2F4F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A1A1217-0157-8393-F536-CA8B8D728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Apache Tomcat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3DB2B03-07E5-17AD-3F5F-2DF46361F447}"/>
              </a:ext>
            </a:extLst>
          </p:cNvPr>
          <p:cNvSpPr txBox="1">
            <a:spLocks noChangeArrowheads="1"/>
          </p:cNvSpPr>
          <p:nvPr/>
        </p:nvSpPr>
        <p:spPr>
          <a:xfrm>
            <a:off x="944217" y="5229677"/>
            <a:ext cx="10555357" cy="13774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b="1" dirty="0"/>
              <a:t>Representation and Management of Data on the Web</a:t>
            </a:r>
          </a:p>
        </p:txBody>
      </p:sp>
      <p:grpSp>
        <p:nvGrpSpPr>
          <p:cNvPr id="7174" name="Group 6">
            <a:extLst>
              <a:ext uri="{FF2B5EF4-FFF2-40B4-BE49-F238E27FC236}">
                <a16:creationId xmlns:a16="http://schemas.microsoft.com/office/drawing/2014/main" id="{AC399D90-2D14-F434-F183-FF978EC78B41}"/>
              </a:ext>
            </a:extLst>
          </p:cNvPr>
          <p:cNvGrpSpPr>
            <a:grpSpLocks/>
          </p:cNvGrpSpPr>
          <p:nvPr/>
        </p:nvGrpSpPr>
        <p:grpSpPr bwMode="auto">
          <a:xfrm>
            <a:off x="5255107" y="3691235"/>
            <a:ext cx="1933575" cy="1143000"/>
            <a:chOff x="2208" y="624"/>
            <a:chExt cx="1218" cy="720"/>
          </a:xfrm>
        </p:grpSpPr>
        <p:pic>
          <p:nvPicPr>
            <p:cNvPr id="7172" name="Picture 4">
              <a:extLst>
                <a:ext uri="{FF2B5EF4-FFF2-40B4-BE49-F238E27FC236}">
                  <a16:creationId xmlns:a16="http://schemas.microsoft.com/office/drawing/2014/main" id="{8F711893-1B4A-A42A-E38A-70248FD0B3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6" y="624"/>
              <a:ext cx="780" cy="5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3" name="Picture 5">
              <a:extLst>
                <a:ext uri="{FF2B5EF4-FFF2-40B4-BE49-F238E27FC236}">
                  <a16:creationId xmlns:a16="http://schemas.microsoft.com/office/drawing/2014/main" id="{11B3C3CD-5D8D-988F-21CE-75B532BF3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1194"/>
              <a:ext cx="1218" cy="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226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ABFC93-3841-CD3D-1BB6-722BAD4975F9}"/>
              </a:ext>
            </a:extLst>
          </p:cNvPr>
          <p:cNvSpPr txBox="1"/>
          <p:nvPr/>
        </p:nvSpPr>
        <p:spPr>
          <a:xfrm>
            <a:off x="720969" y="606669"/>
            <a:ext cx="11298116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		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397F6-EEB6-FD9E-B0B4-EC39660B4445}"/>
              </a:ext>
            </a:extLst>
          </p:cNvPr>
          <p:cNvSpPr txBox="1"/>
          <p:nvPr/>
        </p:nvSpPr>
        <p:spPr>
          <a:xfrm>
            <a:off x="1046284" y="729762"/>
            <a:ext cx="10424747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4572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                         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BD2D3-9AE5-AC21-2CD5-292B850DC8F0}"/>
              </a:ext>
            </a:extLst>
          </p:cNvPr>
          <p:cNvSpPr txBox="1"/>
          <p:nvPr/>
        </p:nvSpPr>
        <p:spPr>
          <a:xfrm>
            <a:off x="964717" y="729905"/>
            <a:ext cx="10424747" cy="5946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                                      </a:t>
            </a:r>
            <a:r>
              <a:rPr lang="en-US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APACHE TOMCAT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endParaRPr lang="en-US" b="1" dirty="0">
              <a:solidFill>
                <a:srgbClr val="1F386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Open-Source Web Server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and 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Servlet Container</a:t>
            </a:r>
            <a:r>
              <a:rPr lang="en-US" sz="1800" b="1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1800" dirty="0">
              <a:solidFill>
                <a:srgbClr val="1F386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Server for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hosting </a:t>
            </a:r>
            <a:r>
              <a:rPr lang="en-US" sz="1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Java Web Applications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Apache Software Foundation (ASF).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Includes tools for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configuration and management.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Supports: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Java Servlet</a:t>
            </a:r>
            <a:endParaRPr lang="en-IN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Java Server Pages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(JSP)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Java Expression Language (EL)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Java WebSocket.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1B9C3B-6DA4-3CE0-3305-D930FECC7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946" y="4725224"/>
            <a:ext cx="3623518" cy="18141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9475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50B930-919D-115F-F655-328465324136}"/>
              </a:ext>
            </a:extLst>
          </p:cNvPr>
          <p:cNvSpPr txBox="1"/>
          <p:nvPr/>
        </p:nvSpPr>
        <p:spPr>
          <a:xfrm>
            <a:off x="930670" y="758917"/>
            <a:ext cx="10798192" cy="615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                                  </a:t>
            </a:r>
            <a:r>
              <a:rPr lang="en-US" sz="1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WEB-SERVER   </a:t>
            </a:r>
            <a:r>
              <a:rPr lang="en-US" sz="18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VS</a:t>
            </a:r>
            <a:r>
              <a:rPr lang="en-US" sz="1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APPLICATION-SERVER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 web server is a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common subset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of an application server.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Web server and Application server deliver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sites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and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application operations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</a:t>
            </a:r>
            <a:r>
              <a:rPr lang="en-US" sz="16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WEBSERVER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                                         </a:t>
            </a:r>
            <a:r>
              <a:rPr lang="en-US" sz="16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APPLICATION SERVER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It handles the HTTP protocol. 			It handles any number of protocols (http, tcp-ip, etc.)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Protocol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dependent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				Protocol 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independent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It is mostly designed </a:t>
            </a:r>
            <a:r>
              <a:rPr lang="en-US" sz="20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to serve static content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	It is used to run </a:t>
            </a:r>
            <a:r>
              <a:rPr lang="en-US" sz="2000" b="1" u="sng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dynamic code or business logic</a:t>
            </a:r>
            <a:endParaRPr lang="en-IN" sz="2400" b="1" u="sng" dirty="0">
              <a:solidFill>
                <a:srgbClr val="92D05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Serves web-based applications.		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Web based applications and 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Enterprise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applications.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It provides HTML/JavaScript/</a:t>
            </a:r>
            <a:r>
              <a:rPr lang="en-US" sz="1800" dirty="0" err="1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css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/etc.		Web container + 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EJB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container + JMS container.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Apache HTTP, Nginx, caddy, MS IIS, lighttpd	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Tomcat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, Weblogic, Websphere, Glassfish, 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JBOSS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, </a:t>
            </a:r>
            <a:b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</a:b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						</a:t>
            </a:r>
            <a:r>
              <a:rPr lang="en-US" sz="1800" dirty="0" err="1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Wildfly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, etc.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n-US" dirty="0">
              <a:solidFill>
                <a:srgbClr val="1F3864"/>
              </a:solidFill>
              <a:latin typeface="Times New Roman" panose="02020603050405020304" pitchFamily="18" charset="0"/>
              <a:cs typeface="Gautam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434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88F6-5546-B0D6-FD6C-90768C9C8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093D0A-7D1F-2EC1-F524-40F5E46DA3A9}"/>
              </a:ext>
            </a:extLst>
          </p:cNvPr>
          <p:cNvSpPr txBox="1"/>
          <p:nvPr/>
        </p:nvSpPr>
        <p:spPr>
          <a:xfrm>
            <a:off x="938586" y="748130"/>
            <a:ext cx="10382557" cy="5155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                                  </a:t>
            </a:r>
            <a:r>
              <a:rPr lang="en-US" sz="1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WEB-SERVER   </a:t>
            </a:r>
            <a:r>
              <a:rPr lang="en-US" sz="18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VS</a:t>
            </a:r>
            <a:r>
              <a:rPr lang="en-US" sz="1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APPLICATION-SERVER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Times New Roman" panose="02020603050405020304" pitchFamily="18" charset="0"/>
              <a:cs typeface="Gautami" panose="020B0502040204020203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In general, configured in sequence: 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Gautami" panose="020B0502040204020203" pitchFamily="34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First</a:t>
            </a:r>
            <a:r>
              <a:rPr lang="en-US" b="1" dirty="0">
                <a:latin typeface="Times New Roman" panose="02020603050405020304" pitchFamily="18" charset="0"/>
                <a:cs typeface="Gautami" panose="020B0502040204020203" pitchFamily="34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Gautami" panose="020B0502040204020203" pitchFamily="34" charset="0"/>
              </a:rPr>
              <a:t>WebServer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Gautami" panose="020B0502040204020203" pitchFamily="34" charset="0"/>
              </a:rPr>
              <a:t> 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Second</a:t>
            </a:r>
            <a:r>
              <a:rPr lang="en-US" b="1" dirty="0">
                <a:solidFill>
                  <a:srgbClr val="92D050"/>
                </a:solidFill>
                <a:latin typeface="Times New Roman" panose="02020603050405020304" pitchFamily="18" charset="0"/>
                <a:cs typeface="Gautami" panose="020B0502040204020203" pitchFamily="34" charset="0"/>
              </a:rPr>
              <a:t> </a:t>
            </a:r>
            <a:r>
              <a:rPr lang="en-US" b="1" dirty="0" err="1">
                <a:solidFill>
                  <a:srgbClr val="92D050"/>
                </a:solidFill>
                <a:latin typeface="Times New Roman" panose="02020603050405020304" pitchFamily="18" charset="0"/>
                <a:cs typeface="Gautami" panose="020B0502040204020203" pitchFamily="34" charset="0"/>
              </a:rPr>
              <a:t>ApplicationServer</a:t>
            </a:r>
            <a:endParaRPr lang="en-US" b="1" dirty="0">
              <a:solidFill>
                <a:srgbClr val="92D050"/>
              </a:solidFill>
              <a:latin typeface="Times New Roman" panose="02020603050405020304" pitchFamily="18" charset="0"/>
              <a:cs typeface="Gautami" panose="020B0502040204020203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Times New Roman" panose="02020603050405020304" pitchFamily="18" charset="0"/>
              <a:cs typeface="Gautami" panose="020B0502040204020203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cs typeface="Gautami" panose="020B0502040204020203" pitchFamily="34" charset="0"/>
              </a:rPr>
              <a:t>More complicated: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Gautami" panose="020B0502040204020203" pitchFamily="34" charset="0"/>
              </a:rPr>
              <a:t>WebServer</a:t>
            </a: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 (Apache HTTP)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Gautami" panose="020B0502040204020203" pitchFamily="34" charset="0"/>
              </a:rPr>
              <a:t>ServletContainer</a:t>
            </a: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 (Tomcat)			Plus Datacenter Virtualization and much more …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Application Server (JBOSS, </a:t>
            </a:r>
            <a:r>
              <a:rPr lang="en-US" dirty="0" err="1">
                <a:latin typeface="Times New Roman" panose="02020603050405020304" pitchFamily="18" charset="0"/>
                <a:cs typeface="Gautami" panose="020B0502040204020203" pitchFamily="34" charset="0"/>
              </a:rPr>
              <a:t>Wildfly</a:t>
            </a: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)</a:t>
            </a:r>
            <a:endParaRPr lang="en-I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65B5D3-8AF8-2BDD-455D-46FFF54D267D}"/>
              </a:ext>
            </a:extLst>
          </p:cNvPr>
          <p:cNvCxnSpPr>
            <a:cxnSpLocks/>
          </p:cNvCxnSpPr>
          <p:nvPr/>
        </p:nvCxnSpPr>
        <p:spPr>
          <a:xfrm flipH="1">
            <a:off x="4049485" y="5330725"/>
            <a:ext cx="2284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8D10EC-FA01-6C99-52EB-610B9BEF5399}"/>
              </a:ext>
            </a:extLst>
          </p:cNvPr>
          <p:cNvCxnSpPr>
            <a:cxnSpLocks/>
          </p:cNvCxnSpPr>
          <p:nvPr/>
        </p:nvCxnSpPr>
        <p:spPr>
          <a:xfrm flipH="1" flipV="1">
            <a:off x="4089070" y="4932224"/>
            <a:ext cx="2244638" cy="39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5C33F8-89C4-DA98-0F6A-39C329B9FEDE}"/>
              </a:ext>
            </a:extLst>
          </p:cNvPr>
          <p:cNvCxnSpPr/>
          <p:nvPr/>
        </p:nvCxnSpPr>
        <p:spPr>
          <a:xfrm flipH="1">
            <a:off x="5054350" y="5330725"/>
            <a:ext cx="1311442" cy="348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172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Rectangle 4">
            <a:extLst>
              <a:ext uri="{FF2B5EF4-FFF2-40B4-BE49-F238E27FC236}">
                <a16:creationId xmlns:a16="http://schemas.microsoft.com/office/drawing/2014/main" id="{144EC0D8-92B0-8F97-357A-E6AFF5C27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Web Applications</a:t>
            </a:r>
            <a:br>
              <a:rPr lang="en-US" altLang="en-US" dirty="0"/>
            </a:br>
            <a:r>
              <a:rPr lang="en-US" altLang="en-US" sz="3600" dirty="0"/>
              <a:t>IntelliJ</a:t>
            </a:r>
            <a:endParaRPr lang="en-US" alt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DC30632-40F4-E98E-F6D3-0AF54982FFF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2870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defRPr sz="1400" b="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A04A7F97-7F6D-4126-88CC-374A12A44A01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C0C13FA-A451-F985-6599-2FCBA001F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6B4D1786-BDB6-B4D4-6835-872FD7CE6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42571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Tomcat and IntelliJ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8FF068A-EA3B-6092-E213-4BF676DB3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29556"/>
            <a:ext cx="11074400" cy="5211763"/>
          </a:xfrm>
          <a:ln>
            <a:noFill/>
          </a:ln>
        </p:spPr>
        <p:txBody>
          <a:bodyPr/>
          <a:lstStyle/>
          <a:p>
            <a:endParaRPr lang="en-US" altLang="en-US" dirty="0"/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IntelliJ </a:t>
            </a:r>
            <a:r>
              <a:rPr lang="en-US" altLang="en-US" dirty="0">
                <a:solidFill>
                  <a:schemeClr val="tx1"/>
                </a:solidFill>
              </a:rPr>
              <a:t>Tomcat Web-application development: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New Project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Maven Archetype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Maven-archetype-webapp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F2BE39-B4E1-B716-75CF-0815BED39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742" y="2450276"/>
            <a:ext cx="6441167" cy="39763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A979A3-FAF8-7667-343A-4A9304511E64}"/>
              </a:ext>
            </a:extLst>
          </p:cNvPr>
          <p:cNvSpPr/>
          <p:nvPr/>
        </p:nvSpPr>
        <p:spPr>
          <a:xfrm>
            <a:off x="5320742" y="3811979"/>
            <a:ext cx="1547154" cy="1425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9B5A21-0458-C708-13FE-FB3D482DC87F}"/>
              </a:ext>
            </a:extLst>
          </p:cNvPr>
          <p:cNvSpPr/>
          <p:nvPr/>
        </p:nvSpPr>
        <p:spPr>
          <a:xfrm>
            <a:off x="7574477" y="5733802"/>
            <a:ext cx="2076203" cy="132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0A6D1F-B13E-7EEC-CA02-6689A31EF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23" y="3705406"/>
            <a:ext cx="2867216" cy="28583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CFBD927-AB61-C1E8-C1A6-168AB5A5A48A}"/>
              </a:ext>
            </a:extLst>
          </p:cNvPr>
          <p:cNvSpPr/>
          <p:nvPr/>
        </p:nvSpPr>
        <p:spPr>
          <a:xfrm rot="10800000">
            <a:off x="4576257" y="4829298"/>
            <a:ext cx="641267" cy="340426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39D8-AC82-5927-DD69-E463A143F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DC752D3-861F-0DAE-E51F-A6BCF9D0F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DBB2ADE-4EA1-5C6B-6930-32CF07F2D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865" y="742570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Creating Web Applications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1D59797-9A83-02BB-7155-358B5D2FA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865" y="1629178"/>
            <a:ext cx="8610600" cy="5029200"/>
          </a:xfrm>
          <a:ln>
            <a:noFill/>
          </a:ln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Need some dependencies: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35B04F-27B7-4264-8220-F47B8D9AB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320" y="1516863"/>
            <a:ext cx="4807197" cy="49405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8279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80EBA-4D7C-62E2-8959-09B1CDFF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144D192-3A60-E54C-7E46-7CFFF249E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50FA878-3CDB-2A2F-9C99-91B9AEA06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865" y="742570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Creating Web Applications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F5C1C25-AC9F-41BE-2BB8-D3A493C5B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865" y="1629178"/>
            <a:ext cx="8610600" cy="5029200"/>
          </a:xfrm>
          <a:ln>
            <a:noFill/>
          </a:ln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First install Tomcat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	then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Configure Tomcat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	in IntelliJ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783E48-A3D3-3568-0258-2856BDE60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637" y="1575459"/>
            <a:ext cx="6854193" cy="5037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9816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65B6-B84F-6899-99AF-99A10D3A0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7C8F429-443A-59B7-0938-BE679BE3F9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ACF1290-515F-5CCA-AB3F-8C8F11933C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865" y="742570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Creating Web Applications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1933A94-2210-CCB4-E4CE-C0E12A3F3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865" y="1629178"/>
            <a:ext cx="8610600" cy="5029200"/>
          </a:xfrm>
          <a:ln>
            <a:noFill/>
          </a:ln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Run ‘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index.jsp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’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356C02-C3BF-2E27-AD01-9BE60DEC3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036" y="4143778"/>
            <a:ext cx="4457817" cy="24820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9EB3EA33-2A9F-D398-130B-FF6F80E2B538}"/>
              </a:ext>
            </a:extLst>
          </p:cNvPr>
          <p:cNvSpPr/>
          <p:nvPr/>
        </p:nvSpPr>
        <p:spPr>
          <a:xfrm>
            <a:off x="6501135" y="5307744"/>
            <a:ext cx="669686" cy="483456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5A2CB-2F87-9A0C-A32C-D479ED40F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553" y="1339516"/>
            <a:ext cx="4740689" cy="23589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7BCB1C4-F738-22E8-8008-CFA8A7E09245}"/>
              </a:ext>
            </a:extLst>
          </p:cNvPr>
          <p:cNvSpPr/>
          <p:nvPr/>
        </p:nvSpPr>
        <p:spPr>
          <a:xfrm rot="7761227">
            <a:off x="4223083" y="3053940"/>
            <a:ext cx="978408" cy="4846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A1F9EB-8356-777B-FFE5-7AFCA5CAF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89" y="3884121"/>
            <a:ext cx="5702593" cy="25972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8075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29925-5315-34E6-24AF-602969CC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21E4FB8-EBA6-ED3F-623C-704B244D9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DC239F2-49A5-6EF5-6114-BB87ED3DF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865" y="742570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Creating Web Applications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B24C6BF-A92A-3CD2-6D94-77BB73761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865" y="1629178"/>
            <a:ext cx="8610600" cy="5029200"/>
          </a:xfrm>
          <a:ln>
            <a:noFill/>
          </a:ln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Web development with Eclipse/IntelliJ: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Got pretty simple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Depends on own taste, but IntelliJ is a bit easier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Eclipse is a little bit more tailormade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996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E98D-88E8-7DA8-39EF-44EED345A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C9A641D-3788-D60F-7E80-48B4395E5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Servlet</a:t>
            </a:r>
          </a:p>
        </p:txBody>
      </p:sp>
    </p:spTree>
    <p:extLst>
      <p:ext uri="{BB962C8B-B14F-4D97-AF65-F5344CB8AC3E}">
        <p14:creationId xmlns:p14="http://schemas.microsoft.com/office/powerpoint/2010/main" val="2335491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1B0B-AAB4-9D32-01BC-621C9422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AA8DDCB-92C1-A5A3-B056-17ECCF8AF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74B2D3E4-F460-1BC1-794F-5B453AA8E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7330" y="693315"/>
            <a:ext cx="7239000" cy="639764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 Servlet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6295E-4242-4796-D35F-08409326D9F9}"/>
              </a:ext>
            </a:extLst>
          </p:cNvPr>
          <p:cNvSpPr txBox="1"/>
          <p:nvPr/>
        </p:nvSpPr>
        <p:spPr>
          <a:xfrm>
            <a:off x="936515" y="1592134"/>
            <a:ext cx="959330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Difference GET/POST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GET and POST is used to </a:t>
            </a:r>
            <a:r>
              <a:rPr lang="en-US" b="1" dirty="0">
                <a:solidFill>
                  <a:srgbClr val="92D050"/>
                </a:solidFill>
              </a:rPr>
              <a:t>transfer</a:t>
            </a:r>
            <a:r>
              <a:rPr lang="en-US" dirty="0"/>
              <a:t> data from client to server </a:t>
            </a:r>
            <a:br>
              <a:rPr lang="en-US" dirty="0"/>
            </a:br>
            <a:r>
              <a:rPr lang="en-US" dirty="0"/>
              <a:t>(HTTP protocol)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carries </a:t>
            </a:r>
            <a:r>
              <a:rPr lang="en-US" b="1" dirty="0">
                <a:solidFill>
                  <a:srgbClr val="00B0F0"/>
                </a:solidFill>
              </a:rPr>
              <a:t>request parameter </a:t>
            </a:r>
            <a:r>
              <a:rPr lang="en-US" dirty="0"/>
              <a:t>appended in </a:t>
            </a:r>
            <a:r>
              <a:rPr lang="en-US" b="1" dirty="0">
                <a:solidFill>
                  <a:schemeClr val="accent4"/>
                </a:solidFill>
              </a:rPr>
              <a:t>URL 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 carries </a:t>
            </a:r>
            <a:r>
              <a:rPr lang="en-US" b="1" dirty="0">
                <a:solidFill>
                  <a:srgbClr val="00B0F0"/>
                </a:solidFill>
              </a:rPr>
              <a:t>request parameter </a:t>
            </a:r>
            <a:r>
              <a:rPr lang="en-US" dirty="0"/>
              <a:t>in </a:t>
            </a:r>
            <a:r>
              <a:rPr lang="en-US" b="1" dirty="0"/>
              <a:t>message body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(which makes it more secure of transferring data from client to server)</a:t>
            </a:r>
          </a:p>
        </p:txBody>
      </p:sp>
    </p:spTree>
    <p:extLst>
      <p:ext uri="{BB962C8B-B14F-4D97-AF65-F5344CB8AC3E}">
        <p14:creationId xmlns:p14="http://schemas.microsoft.com/office/powerpoint/2010/main" val="1607576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CE842D6-BE72-A7F4-E0F0-16B4323D8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818F8735-6B46-6EEE-01B5-2FB4BEB19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7330" y="693315"/>
            <a:ext cx="7239000" cy="639764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 Servlet Example</a:t>
            </a:r>
          </a:p>
        </p:txBody>
      </p:sp>
      <p:sp>
        <p:nvSpPr>
          <p:cNvPr id="114693" name="Rectangle 5">
            <a:extLst>
              <a:ext uri="{FF2B5EF4-FFF2-40B4-BE49-F238E27FC236}">
                <a16:creationId xmlns:a16="http://schemas.microsoft.com/office/drawing/2014/main" id="{8D05EEF4-451B-B64D-E078-EE4CDC0F5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4553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4" name="Rectangle 6">
            <a:extLst>
              <a:ext uri="{FF2B5EF4-FFF2-40B4-BE49-F238E27FC236}">
                <a16:creationId xmlns:a16="http://schemas.microsoft.com/office/drawing/2014/main" id="{5C4250CF-B0CE-3ADF-8556-40703746A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912515"/>
            <a:ext cx="8382000" cy="13716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5" name="Rectangle 7">
            <a:extLst>
              <a:ext uri="{FF2B5EF4-FFF2-40B4-BE49-F238E27FC236}">
                <a16:creationId xmlns:a16="http://schemas.microsoft.com/office/drawing/2014/main" id="{A3563889-CA95-CED7-1FE8-E6BA630A2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2841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6" name="Rectangle 8">
            <a:extLst>
              <a:ext uri="{FF2B5EF4-FFF2-40B4-BE49-F238E27FC236}">
                <a16:creationId xmlns:a16="http://schemas.microsoft.com/office/drawing/2014/main" id="{D7F882C6-6B15-E4FD-3E5A-57F4B8DE5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8175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7" name="Rectangle 9">
            <a:extLst>
              <a:ext uri="{FF2B5EF4-FFF2-40B4-BE49-F238E27FC236}">
                <a16:creationId xmlns:a16="http://schemas.microsoft.com/office/drawing/2014/main" id="{CBAB041F-2FD7-4F23-B313-D375A419B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2747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8" name="Rectangle 10">
            <a:extLst>
              <a:ext uri="{FF2B5EF4-FFF2-40B4-BE49-F238E27FC236}">
                <a16:creationId xmlns:a16="http://schemas.microsoft.com/office/drawing/2014/main" id="{D785120E-6249-4326-EC22-2AEC7433C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7319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9" name="Rectangle 11">
            <a:extLst>
              <a:ext uri="{FF2B5EF4-FFF2-40B4-BE49-F238E27FC236}">
                <a16:creationId xmlns:a16="http://schemas.microsoft.com/office/drawing/2014/main" id="{6A17E12E-F9A6-4A07-D888-681A8F1C5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1891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ABD19-D83E-C8E6-0103-96BD30D33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30" y="1475368"/>
            <a:ext cx="10319816" cy="50067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D70CE7-6BC5-EB22-F59F-599D7FF2CD6B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CSEN160_09_3_WebAppTomcat.WebAppSources.DemoServlet”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187C-C27E-D222-19BB-0AE764FB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AD59CA6-BD29-F6A7-6441-2BAC6BBA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JSP (Java Server Pages)</a:t>
            </a:r>
          </a:p>
        </p:txBody>
      </p:sp>
    </p:spTree>
    <p:extLst>
      <p:ext uri="{BB962C8B-B14F-4D97-AF65-F5344CB8AC3E}">
        <p14:creationId xmlns:p14="http://schemas.microsoft.com/office/powerpoint/2010/main" val="463542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F1011-170C-4E88-36DD-623B6324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75A8E77-3BA8-43AE-92F5-4F634E0BB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FE14E7B9-65B3-212E-D38B-8B6811D21B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7330" y="693315"/>
            <a:ext cx="7239000" cy="639764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 JSP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7DD77-4AF3-F605-FFE6-5DABDE101B3D}"/>
              </a:ext>
            </a:extLst>
          </p:cNvPr>
          <p:cNvSpPr txBox="1"/>
          <p:nvPr/>
        </p:nvSpPr>
        <p:spPr>
          <a:xfrm>
            <a:off x="936515" y="1592134"/>
            <a:ext cx="95933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A JSP is basically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Servlet (</a:t>
            </a:r>
            <a:r>
              <a:rPr lang="en-US" dirty="0" err="1"/>
              <a:t>jsp</a:t>
            </a:r>
            <a:r>
              <a:rPr lang="en-US" dirty="0"/>
              <a:t> translated to Servlet)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in a HTML file format extended by Java </a:t>
            </a:r>
            <a:r>
              <a:rPr lang="en-US" dirty="0" err="1"/>
              <a:t>scriptlets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JSP will be compiled by Tomcat into a servlet</a:t>
            </a:r>
          </a:p>
        </p:txBody>
      </p:sp>
    </p:spTree>
    <p:extLst>
      <p:ext uri="{BB962C8B-B14F-4D97-AF65-F5344CB8AC3E}">
        <p14:creationId xmlns:p14="http://schemas.microsoft.com/office/powerpoint/2010/main" val="257101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B4AF445-88CA-16AF-313A-401D022F5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16EFFAA4-1164-FC50-167D-60AB199E7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011" y="744023"/>
            <a:ext cx="4084750" cy="603966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 JSP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BF844-7D52-8BDD-906B-68CE5693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10" y="1628519"/>
            <a:ext cx="9360005" cy="46599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9F353F-2929-B093-34F1-0B6467ECCF65}"/>
              </a:ext>
            </a:extLst>
          </p:cNvPr>
          <p:cNvSpPr txBox="1">
            <a:spLocks/>
          </p:cNvSpPr>
          <p:nvPr/>
        </p:nvSpPr>
        <p:spPr>
          <a:xfrm>
            <a:off x="927463" y="0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CSEN160_09_3_WebAppTomcat.main.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webapp.index.jsp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E0BC188-51FB-8C01-F5AB-CEC7205818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B9A4D9F0-C0F3-CA69-97A3-7EA948F2E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8352" y="751156"/>
            <a:ext cx="5772955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Another JSP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2BB2D7-199C-57CE-7D48-16D9C9E50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60" y="1314718"/>
            <a:ext cx="8771135" cy="52978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B99E66-BC75-1435-5E31-EF2107B59966}"/>
              </a:ext>
            </a:extLst>
          </p:cNvPr>
          <p:cNvSpPr txBox="1">
            <a:spLocks/>
          </p:cNvSpPr>
          <p:nvPr/>
        </p:nvSpPr>
        <p:spPr>
          <a:xfrm>
            <a:off x="927463" y="0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CSEN160_09_3_WebAppTomcat.main.webapp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.index2.jsp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982F8-C5CD-7523-C3EE-5769307EA8D2}"/>
              </a:ext>
            </a:extLst>
          </p:cNvPr>
          <p:cNvSpPr txBox="1"/>
          <p:nvPr/>
        </p:nvSpPr>
        <p:spPr>
          <a:xfrm>
            <a:off x="9892146" y="2549237"/>
            <a:ext cx="174919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a value:</a:t>
            </a:r>
          </a:p>
          <a:p>
            <a:r>
              <a:rPr lang="en-US" dirty="0"/>
              <a:t>&lt;%=  %&gt;</a:t>
            </a:r>
          </a:p>
          <a:p>
            <a:endParaRPr lang="en-US" dirty="0"/>
          </a:p>
          <a:p>
            <a:r>
              <a:rPr lang="en-US" dirty="0"/>
              <a:t>Execute code:</a:t>
            </a:r>
          </a:p>
          <a:p>
            <a:r>
              <a:rPr lang="en-US" dirty="0"/>
              <a:t>&lt;%</a:t>
            </a:r>
          </a:p>
          <a:p>
            <a:r>
              <a:rPr lang="en-US" dirty="0"/>
              <a:t>     // Java code</a:t>
            </a:r>
          </a:p>
          <a:p>
            <a:r>
              <a:rPr lang="en-US" dirty="0"/>
              <a:t>%&gt;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702CE-3119-620F-B408-41E895688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B960621-074B-ADEA-E078-D5B8CB962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A024305B-F161-35FD-D946-35FFF37430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42571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Plain JSP and Tomcat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A8AA9158-CF48-CEC8-DF3A-B3DE6327AA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29556"/>
            <a:ext cx="11074400" cy="5211763"/>
          </a:xfrm>
          <a:ln>
            <a:noFill/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Plain JSP and Tomcat: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Is not recommended because </a:t>
            </a:r>
            <a:r>
              <a:rPr lang="en-US" altLang="en-US" b="1" dirty="0">
                <a:solidFill>
                  <a:srgbClr val="FF0000"/>
                </a:solidFill>
              </a:rPr>
              <a:t>too tedious!</a:t>
            </a:r>
          </a:p>
          <a:p>
            <a:endParaRPr lang="en-US" altLang="en-US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Use frameworks like: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Spring MVC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JSF (</a:t>
            </a:r>
            <a:r>
              <a:rPr lang="en-US" altLang="en-US" dirty="0" err="1">
                <a:solidFill>
                  <a:schemeClr val="tx1"/>
                </a:solidFill>
              </a:rPr>
              <a:t>JavaServer</a:t>
            </a:r>
            <a:r>
              <a:rPr lang="en-US" altLang="en-US" dirty="0">
                <a:solidFill>
                  <a:schemeClr val="tx1"/>
                </a:solidFill>
              </a:rPr>
              <a:t> Faces)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GWT (Google Web Toolkit)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Hibernate (JPA)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Play! Framework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</a:rPr>
              <a:t>Vaadin</a:t>
            </a:r>
            <a:endParaRPr lang="en-US" alt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Apache Struts (Obsolete)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Etc.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1460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9CAC-62CB-70EA-B2F4-DC22E4AFB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Rectangle 4">
            <a:extLst>
              <a:ext uri="{FF2B5EF4-FFF2-40B4-BE49-F238E27FC236}">
                <a16:creationId xmlns:a16="http://schemas.microsoft.com/office/drawing/2014/main" id="{9C27C5C3-F5F8-DE2C-7CEF-F2483A8D0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Database Connection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E705C5A-D92F-D861-D484-6D97E8986AB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2870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defRPr sz="1400" b="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A04A7F97-7F6D-4126-88CC-374A12A44A01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6639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5108E-259E-5D7F-A1F7-C52A731FC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E0941CA-718E-8721-0AF0-9F1A23BC1E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D83F43D0-EFFA-3D53-2AFA-FFA8440AE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42571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Tomcat, IntelliJ and PostgreSQL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DB2BE65C-779E-2F19-6876-734E5110C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29556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Steps to do</a:t>
            </a:r>
            <a:r>
              <a:rPr lang="en-US" altLang="en-US" dirty="0"/>
              <a:t>: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Include dependency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sz="2800" dirty="0">
                <a:solidFill>
                  <a:schemeClr val="tx1"/>
                </a:solidFill>
              </a:rPr>
              <a:t>That’s it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Eclipse was a little bit </a:t>
            </a:r>
            <a:r>
              <a:rPr lang="en-US" altLang="en-US" b="1" dirty="0">
                <a:solidFill>
                  <a:srgbClr val="FF0000"/>
                </a:solidFill>
              </a:rPr>
              <a:t>more complicated </a:t>
            </a:r>
            <a:r>
              <a:rPr lang="en-US" altLang="en-US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E1D1D6-3B38-6E32-3888-49C4E63C6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163" y="3029041"/>
            <a:ext cx="3664138" cy="13145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5027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8CB39-FB86-0BAE-3310-BFDD0AC65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07DB2D7-78F6-BCBA-DCD3-D8E4BBF64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256973A9-4136-9401-E408-F73925FE2B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42571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Tomcat, Eclipse and PostgreSQL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46180172-3CE1-408C-5C38-3C9F4B2FB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29556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Database Servlet Example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Not recommended: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This is a hardcoded example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Everything in a Servlet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Including HTML</a:t>
            </a:r>
          </a:p>
          <a:p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C5794-A0EB-C36B-80B2-312FC3AE2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224" y="1306133"/>
            <a:ext cx="5697772" cy="53351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C3BC-3962-4B8F-1745-012F5C6B1AE4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CSEN160_09_3_WebAppTomcat.WebAppSources.DatabaseServlet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6E66435-2344-A036-3706-97BD897D5DDB}"/>
              </a:ext>
            </a:extLst>
          </p:cNvPr>
          <p:cNvSpPr/>
          <p:nvPr/>
        </p:nvSpPr>
        <p:spPr>
          <a:xfrm>
            <a:off x="4096987" y="1925113"/>
            <a:ext cx="723237" cy="350991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09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5F83-72FB-8265-E137-8CA8DFA1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9BBE636-A77B-CD6E-D1D9-86F90850D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3757C026-9375-E400-A7B1-A2FBB3324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42571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Tomcat, Eclipse and PostgreSQL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036E9D93-D516-BA5D-639A-2C728E20AC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29556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Steps to do</a:t>
            </a:r>
            <a:r>
              <a:rPr lang="en-US" altLang="en-US" dirty="0"/>
              <a:t>: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“Run on Server”</a:t>
            </a:r>
          </a:p>
          <a:p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24950-B882-AE9C-F8DC-A5FD024E1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332" y="1820590"/>
            <a:ext cx="7867397" cy="441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512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4586422F-38F4-CFD9-9973-F9F73F5E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urity and Privacy">
            <a:extLst>
              <a:ext uri="{FF2B5EF4-FFF2-40B4-BE49-F238E27FC236}">
                <a16:creationId xmlns:a16="http://schemas.microsoft.com/office/drawing/2014/main" id="{E813FA61-FBA4-7E3B-A865-AFD4C855AE63}"/>
              </a:ext>
            </a:extLst>
          </p:cNvPr>
          <p:cNvSpPr txBox="1">
            <a:spLocks/>
          </p:cNvSpPr>
          <p:nvPr/>
        </p:nvSpPr>
        <p:spPr>
          <a:xfrm>
            <a:off x="3103470" y="2491511"/>
            <a:ext cx="6369393" cy="13144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SQL Poisoning and Injection Attacks</a:t>
            </a:r>
          </a:p>
        </p:txBody>
      </p:sp>
    </p:spTree>
    <p:extLst>
      <p:ext uri="{BB962C8B-B14F-4D97-AF65-F5344CB8AC3E}">
        <p14:creationId xmlns:p14="http://schemas.microsoft.com/office/powerpoint/2010/main" val="11569139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QL poisoning attacks are attacks on software products that use an SQL database.…"/>
          <p:cNvSpPr txBox="1">
            <a:spLocks noGrp="1"/>
          </p:cNvSpPr>
          <p:nvPr>
            <p:ph type="body" idx="1"/>
          </p:nvPr>
        </p:nvSpPr>
        <p:spPr>
          <a:xfrm>
            <a:off x="962342" y="1600801"/>
            <a:ext cx="10339321" cy="503261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b="1" dirty="0">
                <a:solidFill>
                  <a:srgbClr val="FF0000"/>
                </a:solidFill>
              </a:rPr>
              <a:t>ttacks</a:t>
            </a:r>
            <a:r>
              <a:rPr dirty="0">
                <a:solidFill>
                  <a:schemeClr val="tx1"/>
                </a:solidFill>
              </a:rPr>
              <a:t> SQL database.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</a:t>
            </a:r>
            <a:r>
              <a:rPr dirty="0">
                <a:solidFill>
                  <a:schemeClr val="tx1"/>
                </a:solidFill>
              </a:rPr>
              <a:t> user input is used as part of an SQL command.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A </a:t>
            </a:r>
            <a:r>
              <a:rPr b="1" dirty="0">
                <a:solidFill>
                  <a:srgbClr val="FF0000"/>
                </a:solidFill>
              </a:rPr>
              <a:t>malicious</a:t>
            </a:r>
            <a:r>
              <a:rPr dirty="0">
                <a:solidFill>
                  <a:schemeClr val="tx1"/>
                </a:solidFill>
              </a:rPr>
              <a:t> user uses a form input field to input </a:t>
            </a:r>
            <a:r>
              <a:rPr b="1" dirty="0">
                <a:solidFill>
                  <a:srgbClr val="FF0000"/>
                </a:solidFill>
              </a:rPr>
              <a:t>a fragment of SQL </a:t>
            </a:r>
            <a:r>
              <a:rPr dirty="0">
                <a:solidFill>
                  <a:schemeClr val="tx1"/>
                </a:solidFill>
              </a:rPr>
              <a:t>that allows access to the database.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The form field is </a:t>
            </a:r>
            <a:r>
              <a:rPr b="1" dirty="0">
                <a:solidFill>
                  <a:srgbClr val="FF0000"/>
                </a:solidFill>
              </a:rPr>
              <a:t>added</a:t>
            </a:r>
            <a:r>
              <a:rPr dirty="0">
                <a:solidFill>
                  <a:schemeClr val="tx1"/>
                </a:solidFill>
              </a:rPr>
              <a:t> to the SQL query, which is executed and returns the </a:t>
            </a:r>
            <a:r>
              <a:rPr b="1" dirty="0">
                <a:solidFill>
                  <a:srgbClr val="00B050"/>
                </a:solidFill>
              </a:rPr>
              <a:t>information</a:t>
            </a:r>
            <a:r>
              <a:rPr dirty="0">
                <a:solidFill>
                  <a:schemeClr val="tx1"/>
                </a:solidFill>
              </a:rPr>
              <a:t> to the </a:t>
            </a:r>
            <a:r>
              <a:rPr b="1" dirty="0">
                <a:solidFill>
                  <a:srgbClr val="FF0000"/>
                </a:solidFill>
              </a:rPr>
              <a:t>attacker</a:t>
            </a:r>
            <a:r>
              <a:rPr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90" name="SQL poisoning attacks"/>
          <p:cNvSpPr txBox="1">
            <a:spLocks noGrp="1"/>
          </p:cNvSpPr>
          <p:nvPr>
            <p:ph type="title"/>
          </p:nvPr>
        </p:nvSpPr>
        <p:spPr>
          <a:xfrm>
            <a:off x="962342" y="766167"/>
            <a:ext cx="5386321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SQL </a:t>
            </a:r>
            <a:r>
              <a:rPr lang="en-US" dirty="0"/>
              <a:t>Injection</a:t>
            </a:r>
            <a:r>
              <a:rPr dirty="0"/>
              <a:t> attacks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550C-3898-12E6-B29B-3BFA730C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Injection attacks">
            <a:extLst>
              <a:ext uri="{FF2B5EF4-FFF2-40B4-BE49-F238E27FC236}">
                <a16:creationId xmlns:a16="http://schemas.microsoft.com/office/drawing/2014/main" id="{E5B916F7-977D-10D4-41E9-1E6F21EDD9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958" y="766167"/>
            <a:ext cx="4068168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Injection attacks</a:t>
            </a:r>
          </a:p>
        </p:txBody>
      </p:sp>
      <p:sp>
        <p:nvSpPr>
          <p:cNvPr id="87" name="Slide Number">
            <a:extLst>
              <a:ext uri="{FF2B5EF4-FFF2-40B4-BE49-F238E27FC236}">
                <a16:creationId xmlns:a16="http://schemas.microsoft.com/office/drawing/2014/main" id="{4F4D0164-0865-82DA-7C87-A46ADD3BA00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1593D-DA3E-69E1-7803-0EF3CC078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163" y="1411706"/>
            <a:ext cx="7905069" cy="5135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101D57-0430-ED9E-2A61-8A5B73393113}"/>
              </a:ext>
            </a:extLst>
          </p:cNvPr>
          <p:cNvSpPr txBox="1"/>
          <p:nvPr/>
        </p:nvSpPr>
        <p:spPr>
          <a:xfrm>
            <a:off x="4251158" y="6617005"/>
            <a:ext cx="34767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https://www.w3schools.com/sql/sql_injection.asp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8291BD-3BD8-8A29-C50E-AD4C2CBCBE8B}"/>
              </a:ext>
            </a:extLst>
          </p:cNvPr>
          <p:cNvCxnSpPr/>
          <p:nvPr/>
        </p:nvCxnSpPr>
        <p:spPr>
          <a:xfrm>
            <a:off x="2434389" y="4616116"/>
            <a:ext cx="1752600" cy="1540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8CEB8C-1B78-0B1D-7BF8-5D71A601B96D}"/>
              </a:ext>
            </a:extLst>
          </p:cNvPr>
          <p:cNvCxnSpPr/>
          <p:nvPr/>
        </p:nvCxnSpPr>
        <p:spPr>
          <a:xfrm>
            <a:off x="2446421" y="5129463"/>
            <a:ext cx="2919663" cy="10026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171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6FC4C-E0C2-A249-8F6A-B6850173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Injection attacks">
            <a:extLst>
              <a:ext uri="{FF2B5EF4-FFF2-40B4-BE49-F238E27FC236}">
                <a16:creationId xmlns:a16="http://schemas.microsoft.com/office/drawing/2014/main" id="{DAF4B3D4-056E-EB92-BB9F-F0E2332CF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958" y="766167"/>
            <a:ext cx="5403674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Java Tomcat Example</a:t>
            </a:r>
            <a:endParaRPr dirty="0"/>
          </a:p>
        </p:txBody>
      </p:sp>
      <p:sp>
        <p:nvSpPr>
          <p:cNvPr id="87" name="Slide Number">
            <a:extLst>
              <a:ext uri="{FF2B5EF4-FFF2-40B4-BE49-F238E27FC236}">
                <a16:creationId xmlns:a16="http://schemas.microsoft.com/office/drawing/2014/main" id="{A88B21C1-342C-2622-334A-2761DB69897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8352D3-EFA8-3BA3-BF90-C50AD9E97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32" y="1755355"/>
            <a:ext cx="3137736" cy="108923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FE43A9-BB2E-8E67-2317-03FA307E5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355" y="3694379"/>
            <a:ext cx="3891745" cy="15022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9B79E0-41D5-D0FD-C66D-AF36C6207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487" y="1920039"/>
            <a:ext cx="3137736" cy="9444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693113-E65B-9C0D-F8A6-321B26DA3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07" y="1920039"/>
            <a:ext cx="2906401" cy="944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B3F90E1C-CDDB-CB2E-3A24-FEC4C100D9B4}"/>
              </a:ext>
            </a:extLst>
          </p:cNvPr>
          <p:cNvSpPr/>
          <p:nvPr/>
        </p:nvSpPr>
        <p:spPr>
          <a:xfrm rot="2809178">
            <a:off x="5452698" y="3135224"/>
            <a:ext cx="768534" cy="2594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A179B28-996F-FFA2-A576-423F221972A8}"/>
              </a:ext>
            </a:extLst>
          </p:cNvPr>
          <p:cNvSpPr/>
          <p:nvPr/>
        </p:nvSpPr>
        <p:spPr>
          <a:xfrm rot="5786745">
            <a:off x="8538461" y="3164720"/>
            <a:ext cx="684839" cy="1815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8417C9-D905-00DF-6859-040FF52F48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5111" y="3623620"/>
            <a:ext cx="2351376" cy="164378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CB214BB2-D9F8-8675-6594-841677FD10A5}"/>
              </a:ext>
            </a:extLst>
          </p:cNvPr>
          <p:cNvSpPr/>
          <p:nvPr/>
        </p:nvSpPr>
        <p:spPr>
          <a:xfrm rot="5400000">
            <a:off x="1917976" y="3055790"/>
            <a:ext cx="699797" cy="2921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90B9F-6D73-DA2D-61CC-03E1D6502A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8769" y="5597123"/>
            <a:ext cx="9209555" cy="10668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6987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Injection attacks are a type of attack where a malicious user uses a valid input field to input malicious code or database commands.…"/>
          <p:cNvSpPr txBox="1">
            <a:spLocks noGrp="1"/>
          </p:cNvSpPr>
          <p:nvPr>
            <p:ph type="body" idx="1"/>
          </p:nvPr>
        </p:nvSpPr>
        <p:spPr>
          <a:xfrm>
            <a:off x="932958" y="1538389"/>
            <a:ext cx="10460947" cy="5087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rgbClr val="FF0000"/>
                </a:solidFill>
              </a:rPr>
              <a:t>malicious</a:t>
            </a:r>
            <a:r>
              <a:rPr dirty="0">
                <a:solidFill>
                  <a:schemeClr val="tx1"/>
                </a:solidFill>
              </a:rPr>
              <a:t> user uses a valid input field to input </a:t>
            </a:r>
            <a:r>
              <a:rPr b="1" dirty="0">
                <a:solidFill>
                  <a:srgbClr val="FF0000"/>
                </a:solidFill>
              </a:rPr>
              <a:t>code</a:t>
            </a:r>
            <a:r>
              <a:rPr dirty="0">
                <a:solidFill>
                  <a:schemeClr val="tx1"/>
                </a:solidFill>
              </a:rPr>
              <a:t> or database </a:t>
            </a:r>
            <a:r>
              <a:rPr b="1" dirty="0">
                <a:solidFill>
                  <a:srgbClr val="FF0000"/>
                </a:solidFill>
              </a:rPr>
              <a:t>commands</a:t>
            </a:r>
            <a:r>
              <a:rPr dirty="0">
                <a:solidFill>
                  <a:schemeClr val="tx1"/>
                </a:solidFill>
              </a:rPr>
              <a:t>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t</a:t>
            </a:r>
            <a:r>
              <a:rPr dirty="0">
                <a:solidFill>
                  <a:schemeClr val="tx1"/>
                </a:solidFill>
              </a:rPr>
              <a:t>hese </a:t>
            </a:r>
            <a:r>
              <a:rPr lang="en-US" b="1" dirty="0">
                <a:solidFill>
                  <a:srgbClr val="FF0000"/>
                </a:solidFill>
              </a:rPr>
              <a:t>malicious</a:t>
            </a:r>
            <a:r>
              <a:rPr dirty="0">
                <a:solidFill>
                  <a:schemeClr val="tx1"/>
                </a:solidFill>
              </a:rPr>
              <a:t> instructions are executed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They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revealing</a:t>
            </a:r>
            <a:r>
              <a:rPr lang="en-US" dirty="0">
                <a:solidFill>
                  <a:schemeClr val="tx1"/>
                </a:solidFill>
              </a:rPr>
              <a:t> sensitive information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</a:t>
            </a:r>
            <a:r>
              <a:rPr dirty="0">
                <a:solidFill>
                  <a:schemeClr val="tx1"/>
                </a:solidFill>
              </a:rPr>
              <a:t>ausing </a:t>
            </a:r>
            <a:r>
              <a:rPr b="1" dirty="0">
                <a:solidFill>
                  <a:srgbClr val="FF0000"/>
                </a:solidFill>
              </a:rPr>
              <a:t>damage</a:t>
            </a:r>
            <a:endParaRPr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6" name="Injection attacks"/>
          <p:cNvSpPr txBox="1">
            <a:spLocks noGrp="1"/>
          </p:cNvSpPr>
          <p:nvPr>
            <p:ph type="title"/>
          </p:nvPr>
        </p:nvSpPr>
        <p:spPr>
          <a:xfrm>
            <a:off x="932957" y="766167"/>
            <a:ext cx="6161663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SQL Poisoning</a:t>
            </a:r>
            <a:r>
              <a:rPr dirty="0"/>
              <a:t> attacks</a:t>
            </a:r>
          </a:p>
        </p:txBody>
      </p:sp>
      <p:sp>
        <p:nvSpPr>
          <p:cNvPr id="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9C540-48DD-7A13-91F5-095E8FB9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Injection attacks are a type of attack where a malicious user uses a valid input field to input malicious code or database commands.…">
            <a:extLst>
              <a:ext uri="{FF2B5EF4-FFF2-40B4-BE49-F238E27FC236}">
                <a16:creationId xmlns:a16="http://schemas.microsoft.com/office/drawing/2014/main" id="{5EE6CF91-790E-2E99-FDA7-B1322D060F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2958" y="1538389"/>
            <a:ext cx="10460947" cy="5087000"/>
          </a:xfrm>
          <a:prstGeom prst="rect">
            <a:avLst/>
          </a:prstGeom>
        </p:spPr>
        <p:txBody>
          <a:bodyPr/>
          <a:lstStyle/>
          <a:p>
            <a:pPr marL="152396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 revealing important information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SELECT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FROM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AccountHolders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accountNumber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=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’</a:t>
            </a:r>
            <a:r>
              <a:rPr lang="en-US" dirty="0">
                <a:solidFill>
                  <a:schemeClr val="tx1"/>
                </a:solidFill>
              </a:rPr>
              <a:t>342645</a:t>
            </a:r>
            <a:r>
              <a:rPr lang="en-US" b="1" dirty="0">
                <a:solidFill>
                  <a:srgbClr val="00B0F0"/>
                </a:solidFill>
              </a:rPr>
              <a:t>’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Should </a:t>
            </a:r>
            <a:r>
              <a:rPr lang="en-US" b="1" dirty="0">
                <a:solidFill>
                  <a:srgbClr val="FF0000"/>
                </a:solidFill>
              </a:rPr>
              <a:t>only</a:t>
            </a:r>
            <a:r>
              <a:rPr lang="en-US" dirty="0">
                <a:solidFill>
                  <a:schemeClr val="tx1"/>
                </a:solidFill>
              </a:rPr>
              <a:t> display the records for account holder </a:t>
            </a:r>
            <a:r>
              <a:rPr lang="en-US" b="1" dirty="0">
                <a:solidFill>
                  <a:srgbClr val="00B0F0"/>
                </a:solidFill>
              </a:rPr>
              <a:t>‘</a:t>
            </a:r>
            <a:r>
              <a:rPr lang="en-US" dirty="0">
                <a:solidFill>
                  <a:schemeClr val="tx1"/>
                </a:solidFill>
              </a:rPr>
              <a:t>342645</a:t>
            </a:r>
            <a:r>
              <a:rPr lang="en-US" b="1" dirty="0">
                <a:solidFill>
                  <a:srgbClr val="00B0F0"/>
                </a:solidFill>
              </a:rPr>
              <a:t>’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It is inputted in a form field. If you input </a:t>
            </a:r>
            <a:r>
              <a:rPr lang="en-US" b="1" dirty="0">
                <a:solidFill>
                  <a:srgbClr val="FF0000"/>
                </a:solidFill>
              </a:rPr>
              <a:t>100110’ OR ‘1’ = ‘1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SELECT * FROM </a:t>
            </a:r>
            <a:r>
              <a:rPr lang="en-US" b="1" dirty="0" err="1">
                <a:solidFill>
                  <a:srgbClr val="00B050"/>
                </a:solidFill>
              </a:rPr>
              <a:t>AccountHolders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accountNumber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= ’</a:t>
            </a:r>
            <a:r>
              <a:rPr lang="en-US" b="1" dirty="0">
                <a:solidFill>
                  <a:srgbClr val="FF0000"/>
                </a:solidFill>
              </a:rPr>
              <a:t>100110’ OR ’1’ = ’1</a:t>
            </a:r>
            <a:r>
              <a:rPr lang="en-US" b="1" dirty="0">
                <a:solidFill>
                  <a:srgbClr val="00B0F0"/>
                </a:solidFill>
              </a:rPr>
              <a:t>’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It turns into </a:t>
            </a:r>
            <a:r>
              <a:rPr lang="en-US" b="1" dirty="0">
                <a:solidFill>
                  <a:srgbClr val="00B0F0"/>
                </a:solidFill>
              </a:rPr>
              <a:t>SELECT * FROM </a:t>
            </a:r>
            <a:r>
              <a:rPr lang="en-US" b="1" dirty="0" err="1">
                <a:solidFill>
                  <a:srgbClr val="00B050"/>
                </a:solidFill>
              </a:rPr>
              <a:t>AccountHolders</a:t>
            </a:r>
            <a:endParaRPr lang="en-US" b="1" dirty="0">
              <a:solidFill>
                <a:srgbClr val="00B050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Attacker</a:t>
            </a:r>
            <a:r>
              <a:rPr lang="en-US" dirty="0">
                <a:solidFill>
                  <a:schemeClr val="tx1"/>
                </a:solidFill>
              </a:rPr>
              <a:t> can read </a:t>
            </a:r>
            <a:r>
              <a:rPr lang="en-US" b="1" dirty="0">
                <a:solidFill>
                  <a:srgbClr val="FF0000"/>
                </a:solidFill>
              </a:rPr>
              <a:t>everything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  <a:p>
            <a:pPr marL="152396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152396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6" name="Injection attacks">
            <a:extLst>
              <a:ext uri="{FF2B5EF4-FFF2-40B4-BE49-F238E27FC236}">
                <a16:creationId xmlns:a16="http://schemas.microsoft.com/office/drawing/2014/main" id="{3E8BB3E7-FF1C-C391-E46C-65FFC7102F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957" y="766167"/>
            <a:ext cx="6161663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SQL Poisoning</a:t>
            </a:r>
            <a:r>
              <a:rPr dirty="0"/>
              <a:t> attacks</a:t>
            </a:r>
          </a:p>
        </p:txBody>
      </p:sp>
      <p:sp>
        <p:nvSpPr>
          <p:cNvPr id="87" name="Slide Number">
            <a:extLst>
              <a:ext uri="{FF2B5EF4-FFF2-40B4-BE49-F238E27FC236}">
                <a16:creationId xmlns:a16="http://schemas.microsoft.com/office/drawing/2014/main" id="{2AC3074C-1300-6F77-6D60-45C4CAD32CD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9207733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9847F-DEEA-DC78-3CA9-4D846E20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Injection attacks">
            <a:extLst>
              <a:ext uri="{FF2B5EF4-FFF2-40B4-BE49-F238E27FC236}">
                <a16:creationId xmlns:a16="http://schemas.microsoft.com/office/drawing/2014/main" id="{907733EE-489C-09D6-EDDD-566723912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957" y="766167"/>
            <a:ext cx="5110905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Poisoning</a:t>
            </a:r>
            <a:r>
              <a:rPr dirty="0"/>
              <a:t> attacks</a:t>
            </a:r>
          </a:p>
        </p:txBody>
      </p:sp>
      <p:sp>
        <p:nvSpPr>
          <p:cNvPr id="87" name="Slide Number">
            <a:extLst>
              <a:ext uri="{FF2B5EF4-FFF2-40B4-BE49-F238E27FC236}">
                <a16:creationId xmlns:a16="http://schemas.microsoft.com/office/drawing/2014/main" id="{F78589CC-A008-533A-320D-EA5A51A520B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DA097-AE19-BE23-1915-646BC1839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090" y="1741430"/>
            <a:ext cx="2884790" cy="740248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06DA4A-E597-102C-D168-436D13A7A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73" y="4121145"/>
            <a:ext cx="4855156" cy="1349864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5D6290-CB76-53BD-1ACF-70B884996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08" y="1268651"/>
            <a:ext cx="3086181" cy="71303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D2BCC1-384A-D730-94BF-4D08A75ED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086" y="3176210"/>
            <a:ext cx="4904143" cy="330390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99EC02B0-0327-05CB-4CCE-097119F7EC92}"/>
              </a:ext>
            </a:extLst>
          </p:cNvPr>
          <p:cNvSpPr/>
          <p:nvPr/>
        </p:nvSpPr>
        <p:spPr>
          <a:xfrm>
            <a:off x="3043989" y="273685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2A6B1181-E927-107E-1250-22FE13A6B2D4}"/>
              </a:ext>
            </a:extLst>
          </p:cNvPr>
          <p:cNvSpPr/>
          <p:nvPr/>
        </p:nvSpPr>
        <p:spPr>
          <a:xfrm>
            <a:off x="8526379" y="2119495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712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4A25B-7A80-148D-B471-D3EAC7A9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Rectangle 4">
            <a:extLst>
              <a:ext uri="{FF2B5EF4-FFF2-40B4-BE49-F238E27FC236}">
                <a16:creationId xmlns:a16="http://schemas.microsoft.com/office/drawing/2014/main" id="{116E4867-1C37-9533-6F75-9060A0EB5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Deployment Process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658DE4C-DFE6-4737-14D9-EE4C0609C1C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2870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defRPr sz="1400" b="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A04A7F97-7F6D-4126-88CC-374A12A44A01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7522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F763-8AA8-22C5-4A0E-37E850270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42E13B1-5D9E-1EFB-022C-8CCD048F9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4BB5901B-02C9-CD11-DBDC-016462405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21105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War Deployment Process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69D929-CB8D-6D1D-B3CA-1D37F9DD1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68192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Tomcat standalone deployment: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Is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92D050"/>
                </a:solidFill>
              </a:rPr>
              <a:t>easier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than with other </a:t>
            </a:r>
            <a:r>
              <a:rPr lang="en-US" altLang="en-US" b="1" dirty="0">
                <a:solidFill>
                  <a:srgbClr val="00B0F0"/>
                </a:solidFill>
              </a:rPr>
              <a:t>application server </a:t>
            </a:r>
            <a:r>
              <a:rPr lang="en-US" altLang="en-US" dirty="0">
                <a:solidFill>
                  <a:schemeClr val="tx1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servlet container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chemeClr val="tx1"/>
                </a:solidFill>
              </a:rPr>
              <a:t>Basically, put a war file in the webapps </a:t>
            </a:r>
            <a:r>
              <a:rPr lang="en-US" altLang="en-US" b="1" dirty="0">
                <a:solidFill>
                  <a:srgbClr val="92D050"/>
                </a:solidFill>
              </a:rPr>
              <a:t>folder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92D050"/>
                </a:solidFill>
              </a:rPr>
              <a:t>Start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Tomcat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00B0F0"/>
                </a:solidFill>
              </a:rPr>
              <a:t>Open browser </a:t>
            </a:r>
            <a:r>
              <a:rPr lang="en-US" altLang="en-US" dirty="0">
                <a:solidFill>
                  <a:schemeClr val="tx1"/>
                </a:solidFill>
              </a:rPr>
              <a:t>with the war file name (without .war) plus </a:t>
            </a:r>
            <a:r>
              <a:rPr lang="en-US" altLang="en-US" dirty="0" err="1">
                <a:solidFill>
                  <a:schemeClr val="tx1"/>
                </a:solidFill>
              </a:rPr>
              <a:t>index.jsp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654158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D54B-13FD-845F-107C-EC5188E8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A613838-0B88-EEAB-8F86-8062BA5EA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D9B4CC3A-8567-A8F6-98A2-62C6A9CA2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21105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War Deployment Process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1718B90-21F3-18EC-3A94-3D12E2307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68192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Process: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Take your war file and put it in the webapps folder of Tomcat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Start Tomcat bin folder “startup.bat”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5ADA8-711C-DDD2-5CDA-D450FD4A2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79" y="877267"/>
            <a:ext cx="1268219" cy="27051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CF7D4D-DE16-CB52-EFEA-941093F58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111" y="3054966"/>
            <a:ext cx="3227824" cy="28802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C6CEA5-20A1-9FEC-A54F-CA6E5BB42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46" y="3765963"/>
            <a:ext cx="5475658" cy="26452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251208B6-4657-9D5A-7645-12C6D5BA55BD}"/>
              </a:ext>
            </a:extLst>
          </p:cNvPr>
          <p:cNvSpPr/>
          <p:nvPr/>
        </p:nvSpPr>
        <p:spPr>
          <a:xfrm rot="16200000">
            <a:off x="4979224" y="4248215"/>
            <a:ext cx="484632" cy="97840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89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JMeter</a:t>
            </a:r>
            <a:br>
              <a:rPr lang="en-US" altLang="en-US" dirty="0"/>
            </a:br>
            <a:r>
              <a:rPr lang="en-US" altLang="en-US" sz="4400" dirty="0"/>
              <a:t>Stress Testing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630124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2">
            <a:extLst>
              <a:ext uri="{FF2B5EF4-FFF2-40B4-BE49-F238E27FC236}">
                <a16:creationId xmlns:a16="http://schemas.microsoft.com/office/drawing/2014/main" id="{EEB39CBC-9BCE-7732-E084-E4A7748787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66537" y="715168"/>
            <a:ext cx="1736558" cy="568199"/>
          </a:xfrm>
        </p:spPr>
        <p:txBody>
          <a:bodyPr vert="horz" lIns="90000" tIns="46800" rIns="90000" bIns="46800" rtlCol="0" anchor="ctr">
            <a:normAutofit fontScale="90000"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JMeter</a:t>
            </a:r>
          </a:p>
        </p:txBody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261093DC-76B1-20E9-8EB3-43E8E3E7749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66537" y="1419726"/>
            <a:ext cx="10395284" cy="5181600"/>
          </a:xfrm>
        </p:spPr>
        <p:txBody>
          <a:bodyPr vert="horz" lIns="90000" tIns="46800" rIns="90000" bIns="46800" rtlCol="0">
            <a:normAutofit/>
          </a:bodyPr>
          <a:lstStyle/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100% Java desktop application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For </a:t>
            </a:r>
            <a:r>
              <a:rPr lang="en-GB" altLang="en-US" sz="1800" b="1" dirty="0">
                <a:solidFill>
                  <a:srgbClr val="92D050"/>
                </a:solidFill>
              </a:rPr>
              <a:t>Web</a:t>
            </a:r>
            <a:r>
              <a:rPr lang="en-GB" altLang="en-US" sz="1800" dirty="0"/>
              <a:t> and </a:t>
            </a:r>
            <a:r>
              <a:rPr lang="en-GB" altLang="en-US" sz="1800" b="1" dirty="0">
                <a:solidFill>
                  <a:srgbClr val="92D050"/>
                </a:solidFill>
              </a:rPr>
              <a:t>FTP</a:t>
            </a:r>
            <a:r>
              <a:rPr lang="en-GB" altLang="en-US" sz="1800" dirty="0"/>
              <a:t>, </a:t>
            </a:r>
            <a:r>
              <a:rPr lang="en-GB" altLang="en-US" sz="1800" b="1" dirty="0">
                <a:solidFill>
                  <a:srgbClr val="92D050"/>
                </a:solidFill>
              </a:rPr>
              <a:t>Java</a:t>
            </a:r>
            <a:r>
              <a:rPr lang="en-GB" altLang="en-US" sz="1800" dirty="0"/>
              <a:t>, </a:t>
            </a:r>
            <a:r>
              <a:rPr lang="en-GB" altLang="en-US" sz="1800" b="1" dirty="0">
                <a:solidFill>
                  <a:srgbClr val="92D050"/>
                </a:solidFill>
              </a:rPr>
              <a:t>SOAP/XML-RPC</a:t>
            </a:r>
            <a:r>
              <a:rPr lang="en-GB" altLang="en-US" sz="1800" dirty="0"/>
              <a:t>, </a:t>
            </a:r>
            <a:r>
              <a:rPr lang="en-GB" altLang="en-US" sz="1800" b="1" dirty="0">
                <a:solidFill>
                  <a:srgbClr val="92D050"/>
                </a:solidFill>
              </a:rPr>
              <a:t>JDBC</a:t>
            </a:r>
            <a:r>
              <a:rPr lang="en-GB" altLang="en-US" sz="1800" dirty="0"/>
              <a:t> applications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b="1" dirty="0">
                <a:solidFill>
                  <a:srgbClr val="92D050"/>
                </a:solidFill>
              </a:rPr>
              <a:t>Functional</a:t>
            </a:r>
            <a:r>
              <a:rPr lang="en-US" altLang="en-US" sz="1800" dirty="0"/>
              <a:t> and </a:t>
            </a:r>
            <a:r>
              <a:rPr lang="en-US" altLang="en-US" sz="1800" b="1" dirty="0">
                <a:solidFill>
                  <a:srgbClr val="92D050"/>
                </a:solidFill>
              </a:rPr>
              <a:t>performance</a:t>
            </a:r>
            <a:r>
              <a:rPr lang="en-US" altLang="en-US" sz="1800" dirty="0"/>
              <a:t> evaluation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dirty="0"/>
              <a:t>Unit testing</a:t>
            </a:r>
            <a:endParaRPr lang="en-GB" altLang="en-US" sz="1800" dirty="0"/>
          </a:p>
          <a:p>
            <a:pPr>
              <a:spcBef>
                <a:spcPts val="4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1800" dirty="0"/>
          </a:p>
          <a:p>
            <a:pPr>
              <a:spcBef>
                <a:spcPts val="4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b="1" dirty="0"/>
              <a:t>Advantages:</a:t>
            </a:r>
            <a:endParaRPr lang="en-GB" altLang="en-US" sz="1800" dirty="0"/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b="1" dirty="0">
                <a:solidFill>
                  <a:srgbClr val="92D050"/>
                </a:solidFill>
              </a:rPr>
              <a:t>Open Source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Distributed testing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Various target systems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b="1" dirty="0">
                <a:solidFill>
                  <a:srgbClr val="92D050"/>
                </a:solidFill>
              </a:rPr>
              <a:t>Extensibility</a:t>
            </a:r>
            <a:r>
              <a:rPr lang="en-GB" altLang="en-US" sz="1800" dirty="0"/>
              <a:t>: Pluggable samplers allow </a:t>
            </a:r>
            <a:r>
              <a:rPr lang="en-GB" altLang="en-US" sz="1800" b="1" dirty="0">
                <a:solidFill>
                  <a:srgbClr val="92D050"/>
                </a:solidFill>
              </a:rPr>
              <a:t>unlimited</a:t>
            </a:r>
            <a:r>
              <a:rPr lang="en-GB" altLang="en-US" sz="1800" dirty="0"/>
              <a:t> testing capabilities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1800" dirty="0"/>
          </a:p>
          <a:p>
            <a:pPr>
              <a:spcBef>
                <a:spcPts val="4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b="1" dirty="0"/>
              <a:t>Drawbacks:</a:t>
            </a:r>
            <a:endParaRPr lang="en-GB" altLang="en-US" sz="1800" dirty="0"/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Chart representation quite </a:t>
            </a:r>
            <a:r>
              <a:rPr lang="en-GB" altLang="en-US" sz="1800" b="1" dirty="0">
                <a:solidFill>
                  <a:srgbClr val="FF0000"/>
                </a:solidFill>
              </a:rPr>
              <a:t>confuse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Terminology </a:t>
            </a:r>
            <a:r>
              <a:rPr lang="en-GB" altLang="en-US" sz="1800" b="1" dirty="0">
                <a:solidFill>
                  <a:srgbClr val="FF0000"/>
                </a:solidFill>
              </a:rPr>
              <a:t>not very clear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Necessary to start remote machine </a:t>
            </a:r>
            <a:r>
              <a:rPr lang="en-GB" altLang="en-US" sz="1800" b="1" dirty="0">
                <a:solidFill>
                  <a:srgbClr val="FF0000"/>
                </a:solidFill>
              </a:rPr>
              <a:t>one by one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Remote machines must be declared in a property file before starting application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>
            <a:extLst>
              <a:ext uri="{FF2B5EF4-FFF2-40B4-BE49-F238E27FC236}">
                <a16:creationId xmlns:a16="http://schemas.microsoft.com/office/drawing/2014/main" id="{F3F160E1-DF7E-AB3D-CEA2-8948CFBF20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6516" y="745181"/>
            <a:ext cx="8428063" cy="794861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Testing</a:t>
            </a:r>
          </a:p>
        </p:txBody>
      </p:sp>
      <p:sp>
        <p:nvSpPr>
          <p:cNvPr id="993283" name="Rectangle 3">
            <a:extLst>
              <a:ext uri="{FF2B5EF4-FFF2-40B4-BE49-F238E27FC236}">
                <a16:creationId xmlns:a16="http://schemas.microsoft.com/office/drawing/2014/main" id="{F719BF13-884B-139F-4EC7-1EB252EA9E2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6516" y="1779629"/>
            <a:ext cx="10401242" cy="4809666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1800" dirty="0"/>
          </a:p>
          <a:p>
            <a:pPr marL="0" indent="0" eaLnBrk="1" hangingPunct="1">
              <a:buNone/>
            </a:pPr>
            <a:r>
              <a:rPr lang="en-US" altLang="en-US" sz="1800" dirty="0"/>
              <a:t>Performance testing is the process of determining the </a:t>
            </a:r>
            <a:r>
              <a:rPr lang="en-US" altLang="en-US" sz="1800" b="1" dirty="0">
                <a:solidFill>
                  <a:srgbClr val="92D050"/>
                </a:solidFill>
              </a:rPr>
              <a:t>speed</a:t>
            </a:r>
            <a:r>
              <a:rPr lang="en-US" altLang="en-US" sz="1800" dirty="0"/>
              <a:t> or effectiveness of a:</a:t>
            </a:r>
          </a:p>
          <a:p>
            <a:pPr lvl="1"/>
            <a:endParaRPr lang="en-US" altLang="en-US" sz="1400" dirty="0"/>
          </a:p>
          <a:p>
            <a:pPr lvl="1"/>
            <a:r>
              <a:rPr lang="en-US" altLang="en-US" sz="1600" dirty="0"/>
              <a:t>Computer</a:t>
            </a:r>
          </a:p>
          <a:p>
            <a:pPr lvl="1"/>
            <a:r>
              <a:rPr lang="en-US" altLang="en-US" sz="1600" dirty="0"/>
              <a:t>Network</a:t>
            </a:r>
          </a:p>
          <a:p>
            <a:pPr lvl="1"/>
            <a:r>
              <a:rPr lang="en-US" altLang="en-US" sz="1600" dirty="0"/>
              <a:t>Software program</a:t>
            </a:r>
          </a:p>
          <a:p>
            <a:pPr lvl="1"/>
            <a:r>
              <a:rPr lang="en-US" altLang="en-US" sz="1600" dirty="0"/>
              <a:t>Device</a:t>
            </a:r>
          </a:p>
          <a:p>
            <a:pPr marL="0" indent="0" eaLnBrk="1" hangingPunct="1">
              <a:buNone/>
            </a:pPr>
            <a:endParaRPr lang="en-US" altLang="en-US" sz="1800" dirty="0"/>
          </a:p>
          <a:p>
            <a:pPr marL="0" indent="0" eaLnBrk="1" hangingPunct="1">
              <a:buNone/>
            </a:pPr>
            <a:r>
              <a:rPr lang="en-US" altLang="en-US" sz="1800" dirty="0"/>
              <a:t>The </a:t>
            </a:r>
            <a:r>
              <a:rPr lang="en-US" altLang="en-US" sz="1800" b="1" dirty="0">
                <a:solidFill>
                  <a:srgbClr val="92D050"/>
                </a:solidFill>
              </a:rPr>
              <a:t>factors</a:t>
            </a:r>
            <a:r>
              <a:rPr lang="en-US" altLang="en-US" sz="1800" dirty="0"/>
              <a:t> of performance testing:</a:t>
            </a:r>
            <a:br>
              <a:rPr lang="en-US" altLang="en-US" sz="1800" dirty="0"/>
            </a:br>
            <a:endParaRPr lang="en-US" altLang="en-US" sz="1800" dirty="0">
              <a:cs typeface="Times New Roman" panose="02020603050405020304" pitchFamily="18" charset="0"/>
            </a:endParaRPr>
          </a:p>
          <a:p>
            <a:pPr lvl="1"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Throughput</a:t>
            </a:r>
          </a:p>
          <a:p>
            <a:pPr lvl="1"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Response Time</a:t>
            </a:r>
          </a:p>
          <a:p>
            <a:pPr lvl="1"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Tuning</a:t>
            </a:r>
          </a:p>
          <a:p>
            <a:pPr lvl="1"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Benchmarking</a:t>
            </a:r>
            <a:endParaRPr lang="en-IN" altLang="en-US" sz="18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">
            <a:extLst>
              <a:ext uri="{FF2B5EF4-FFF2-40B4-BE49-F238E27FC236}">
                <a16:creationId xmlns:a16="http://schemas.microsoft.com/office/drawing/2014/main" id="{2611E61A-5E1D-54D6-A966-FF99F10671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6516" y="749192"/>
            <a:ext cx="6097947" cy="734704"/>
          </a:xfrm>
        </p:spPr>
        <p:txBody>
          <a:bodyPr/>
          <a:lstStyle/>
          <a:p>
            <a:pPr eaLnBrk="1" hangingPunct="1"/>
            <a:r>
              <a:rPr lang="en-US" altLang="en-US" dirty="0"/>
              <a:t>Why Performance Testing</a:t>
            </a:r>
          </a:p>
        </p:txBody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9AC28235-E7CC-17AA-A86E-F0BC2F49904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6516" y="1627228"/>
            <a:ext cx="10433326" cy="5002172"/>
          </a:xfrm>
        </p:spPr>
        <p:txBody>
          <a:bodyPr/>
          <a:lstStyle/>
          <a:p>
            <a:pPr>
              <a:spcBef>
                <a:spcPts val="400"/>
              </a:spcBef>
            </a:pPr>
            <a:endParaRPr lang="en-GB" altLang="en-US" sz="1800" dirty="0"/>
          </a:p>
          <a:p>
            <a:pPr>
              <a:spcBef>
                <a:spcPts val="400"/>
              </a:spcBef>
            </a:pPr>
            <a:r>
              <a:rPr lang="en-GB" altLang="en-US" sz="1800" dirty="0"/>
              <a:t>Identifies problems </a:t>
            </a:r>
            <a:r>
              <a:rPr lang="en-GB" altLang="en-US" sz="1800" b="1" dirty="0">
                <a:solidFill>
                  <a:srgbClr val="FF0000"/>
                </a:solidFill>
              </a:rPr>
              <a:t>early on </a:t>
            </a:r>
            <a:r>
              <a:rPr lang="en-GB" altLang="en-US" sz="1800" dirty="0"/>
              <a:t>before they become </a:t>
            </a:r>
            <a:r>
              <a:rPr lang="en-GB" altLang="en-US" sz="1800" b="1" dirty="0">
                <a:solidFill>
                  <a:srgbClr val="FF0000"/>
                </a:solidFill>
              </a:rPr>
              <a:t>costly</a:t>
            </a:r>
            <a:r>
              <a:rPr lang="en-GB" altLang="en-US" sz="1800" dirty="0"/>
              <a:t> to resolve.</a:t>
            </a:r>
          </a:p>
          <a:p>
            <a:pPr marL="0" indent="0">
              <a:spcBef>
                <a:spcPts val="400"/>
              </a:spcBef>
              <a:buNone/>
            </a:pPr>
            <a:endParaRPr lang="en-GB" altLang="en-US" sz="1800" dirty="0"/>
          </a:p>
          <a:p>
            <a:pPr>
              <a:spcBef>
                <a:spcPts val="400"/>
              </a:spcBef>
            </a:pPr>
            <a:r>
              <a:rPr lang="en-GB" altLang="en-US" sz="1800" dirty="0"/>
              <a:t>Produces </a:t>
            </a:r>
            <a:r>
              <a:rPr lang="en-GB" altLang="en-US" sz="1800" b="1" dirty="0">
                <a:solidFill>
                  <a:srgbClr val="92D050"/>
                </a:solidFill>
              </a:rPr>
              <a:t>better quality</a:t>
            </a:r>
            <a:r>
              <a:rPr lang="en-GB" altLang="en-US" sz="1800" dirty="0"/>
              <a:t>, more </a:t>
            </a:r>
            <a:r>
              <a:rPr lang="en-GB" altLang="en-US" sz="1800" b="1" dirty="0">
                <a:solidFill>
                  <a:srgbClr val="92D050"/>
                </a:solidFill>
              </a:rPr>
              <a:t>scalable code</a:t>
            </a:r>
            <a:r>
              <a:rPr lang="en-GB" altLang="en-US" sz="1800" dirty="0"/>
              <a:t>.</a:t>
            </a:r>
          </a:p>
          <a:p>
            <a:pPr>
              <a:spcBef>
                <a:spcPts val="400"/>
              </a:spcBef>
            </a:pPr>
            <a:endParaRPr lang="en-GB" altLang="en-US" sz="1800" dirty="0"/>
          </a:p>
          <a:p>
            <a:pPr>
              <a:spcBef>
                <a:spcPts val="400"/>
              </a:spcBef>
            </a:pPr>
            <a:r>
              <a:rPr lang="en-GB" altLang="en-US" sz="1800" dirty="0"/>
              <a:t>Prevents credibility loss due to </a:t>
            </a:r>
            <a:r>
              <a:rPr lang="en-GB" altLang="en-US" sz="1800" b="1" dirty="0">
                <a:solidFill>
                  <a:srgbClr val="FF0000"/>
                </a:solidFill>
              </a:rPr>
              <a:t>poor Web site performance</a:t>
            </a:r>
            <a:r>
              <a:rPr lang="en-GB" altLang="en-US" sz="1800" dirty="0"/>
              <a:t>.</a:t>
            </a:r>
          </a:p>
          <a:p>
            <a:pPr marL="0" indent="0">
              <a:spcBef>
                <a:spcPts val="400"/>
              </a:spcBef>
              <a:buNone/>
            </a:pPr>
            <a:endParaRPr lang="en-GB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GB" altLang="en-US" sz="1800" dirty="0">
                <a:cs typeface="Times New Roman" panose="02020603050405020304" pitchFamily="18" charset="0"/>
              </a:rPr>
              <a:t>Expose bugs that do not surface in </a:t>
            </a:r>
            <a:r>
              <a:rPr lang="en-GB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cursory</a:t>
            </a:r>
            <a:r>
              <a:rPr lang="en-GB" altLang="en-US" sz="1800" dirty="0">
                <a:cs typeface="Times New Roman" panose="02020603050405020304" pitchFamily="18" charset="0"/>
              </a:rPr>
              <a:t> testing:</a:t>
            </a:r>
          </a:p>
          <a:p>
            <a:pPr lvl="1">
              <a:spcBef>
                <a:spcPts val="400"/>
              </a:spcBef>
            </a:pPr>
            <a:r>
              <a:rPr lang="en-GB" altLang="en-US" sz="1400" dirty="0">
                <a:cs typeface="Times New Roman" panose="02020603050405020304" pitchFamily="18" charset="0"/>
              </a:rPr>
              <a:t>Memory management </a:t>
            </a:r>
            <a:r>
              <a:rPr lang="en-GB" altLang="en-US" sz="1400" b="1" dirty="0">
                <a:solidFill>
                  <a:srgbClr val="FF0000"/>
                </a:solidFill>
                <a:cs typeface="Times New Roman" panose="02020603050405020304" pitchFamily="18" charset="0"/>
              </a:rPr>
              <a:t>bugs</a:t>
            </a:r>
          </a:p>
          <a:p>
            <a:pPr lvl="1">
              <a:spcBef>
                <a:spcPts val="400"/>
              </a:spcBef>
            </a:pPr>
            <a:r>
              <a:rPr lang="en-GB" altLang="en-US" sz="1400" b="1" dirty="0">
                <a:solidFill>
                  <a:srgbClr val="FF0000"/>
                </a:solidFill>
                <a:cs typeface="Times New Roman" panose="02020603050405020304" pitchFamily="18" charset="0"/>
              </a:rPr>
              <a:t>Memory leaks</a:t>
            </a:r>
          </a:p>
          <a:p>
            <a:pPr lvl="1">
              <a:spcBef>
                <a:spcPts val="400"/>
              </a:spcBef>
            </a:pPr>
            <a:r>
              <a:rPr lang="en-GB" altLang="en-US" sz="1400" dirty="0">
                <a:cs typeface="Times New Roman" panose="02020603050405020304" pitchFamily="18" charset="0"/>
              </a:rPr>
              <a:t>Buffer overflows</a:t>
            </a:r>
          </a:p>
          <a:p>
            <a:pPr lvl="1">
              <a:spcBef>
                <a:spcPts val="400"/>
              </a:spcBef>
            </a:pPr>
            <a:r>
              <a:rPr lang="en-GB" altLang="en-US" sz="1400" dirty="0">
                <a:cs typeface="Times New Roman" panose="02020603050405020304" pitchFamily="18" charset="0"/>
              </a:rPr>
              <a:t>Etc.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948059519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>
            <a:extLst>
              <a:ext uri="{FF2B5EF4-FFF2-40B4-BE49-F238E27FC236}">
                <a16:creationId xmlns:a16="http://schemas.microsoft.com/office/drawing/2014/main" id="{74B8DC52-99B0-3CE2-41AB-8F85F56D2FC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6516" y="725129"/>
            <a:ext cx="7385326" cy="770797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Testing</a:t>
            </a:r>
          </a:p>
        </p:txBody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FB5A7AB6-B7A1-4271-45E5-AE90DB7B889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6516" y="1607176"/>
            <a:ext cx="10413273" cy="5038266"/>
          </a:xfrm>
        </p:spPr>
        <p:txBody>
          <a:bodyPr/>
          <a:lstStyle/>
          <a:p>
            <a:pPr>
              <a:spcBef>
                <a:spcPts val="400"/>
              </a:spcBef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400"/>
              </a:spcBef>
              <a:buNone/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Execute in </a:t>
            </a: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comparison with different versions </a:t>
            </a:r>
            <a:r>
              <a:rPr lang="en-US" altLang="en-US" sz="1800" dirty="0">
                <a:cs typeface="Times New Roman" panose="02020603050405020304" pitchFamily="18" charset="0"/>
              </a:rPr>
              <a:t>of the same application.</a:t>
            </a:r>
          </a:p>
          <a:p>
            <a:pPr>
              <a:spcBef>
                <a:spcPts val="400"/>
              </a:spcBef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Performance testing is done to </a:t>
            </a: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derive benchmark numbers </a:t>
            </a:r>
            <a:r>
              <a:rPr lang="en-US" altLang="en-US" sz="1800" dirty="0">
                <a:cs typeface="Times New Roman" panose="02020603050405020304" pitchFamily="18" charset="0"/>
              </a:rPr>
              <a:t>for the system.</a:t>
            </a:r>
          </a:p>
          <a:p>
            <a:pPr>
              <a:spcBef>
                <a:spcPts val="400"/>
              </a:spcBef>
            </a:pPr>
            <a:endParaRPr lang="en-GB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endParaRPr lang="en-GB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Heavy load </a:t>
            </a:r>
            <a:r>
              <a:rPr lang="en-GB" altLang="en-US" sz="1800" dirty="0">
                <a:cs typeface="Times New Roman" panose="02020603050405020304" pitchFamily="18" charset="0"/>
              </a:rPr>
              <a:t>is not applied to the system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(Stress Testing)</a:t>
            </a:r>
          </a:p>
          <a:p>
            <a:pPr>
              <a:spcBef>
                <a:spcPts val="400"/>
              </a:spcBef>
            </a:pPr>
            <a:endParaRPr lang="en-GB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n-GB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Tuning is performed </a:t>
            </a:r>
            <a:r>
              <a:rPr lang="en-GB" altLang="en-US" sz="1800" dirty="0">
                <a:cs typeface="Times New Roman" panose="02020603050405020304" pitchFamily="18" charset="0"/>
              </a:rPr>
              <a:t>until the system under test achieves the expected levels of performance.</a:t>
            </a:r>
          </a:p>
        </p:txBody>
      </p:sp>
    </p:spTree>
    <p:extLst>
      <p:ext uri="{BB962C8B-B14F-4D97-AF65-F5344CB8AC3E}">
        <p14:creationId xmlns:p14="http://schemas.microsoft.com/office/powerpoint/2010/main" val="4192391612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>
            <a:extLst>
              <a:ext uri="{FF2B5EF4-FFF2-40B4-BE49-F238E27FC236}">
                <a16:creationId xmlns:a16="http://schemas.microsoft.com/office/drawing/2014/main" id="{47A5A517-641D-079F-CED8-7BFE5FD34B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6516" y="745182"/>
            <a:ext cx="4870726" cy="758766"/>
          </a:xfrm>
        </p:spPr>
        <p:txBody>
          <a:bodyPr/>
          <a:lstStyle/>
          <a:p>
            <a:pPr eaLnBrk="1" hangingPunct="1"/>
            <a:r>
              <a:rPr lang="en-GB" altLang="en-US" dirty="0"/>
              <a:t>When is it required?</a:t>
            </a:r>
            <a:endParaRPr lang="en-US" altLang="en-US" dirty="0"/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70DE7991-150A-90CE-101D-576A06CF78B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6516" y="1735512"/>
            <a:ext cx="10397231" cy="49219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Design Phase:</a:t>
            </a:r>
          </a:p>
          <a:p>
            <a:endParaRPr lang="en-GB" altLang="en-US" sz="1800" dirty="0">
              <a:cs typeface="Times New Roman" panose="02020603050405020304" pitchFamily="18" charset="0"/>
            </a:endParaRPr>
          </a:p>
          <a:p>
            <a:r>
              <a:rPr lang="en-GB" altLang="en-US" sz="1800" dirty="0">
                <a:cs typeface="Times New Roman" panose="02020603050405020304" pitchFamily="18" charset="0"/>
              </a:rPr>
              <a:t>Pages containing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lots of images </a:t>
            </a:r>
            <a:r>
              <a:rPr lang="en-GB" altLang="en-US" sz="1800" dirty="0">
                <a:cs typeface="Times New Roman" panose="02020603050405020304" pitchFamily="18" charset="0"/>
              </a:rPr>
              <a:t>and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multimedia</a:t>
            </a:r>
            <a:r>
              <a:rPr lang="en-GB" altLang="en-US" sz="1800" dirty="0">
                <a:cs typeface="Times New Roman" panose="02020603050405020304" pitchFamily="18" charset="0"/>
              </a:rPr>
              <a:t>. </a:t>
            </a:r>
          </a:p>
          <a:p>
            <a:r>
              <a:rPr lang="en-GB" altLang="en-US" sz="1800" dirty="0">
                <a:cs typeface="Times New Roman" panose="02020603050405020304" pitchFamily="18" charset="0"/>
              </a:rPr>
              <a:t>Pages containing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complex algorithms</a:t>
            </a:r>
          </a:p>
          <a:p>
            <a:pPr marL="0" indent="0" eaLnBrk="1" hangingPunct="1">
              <a:buNone/>
            </a:pP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Development Phase:</a:t>
            </a:r>
          </a:p>
          <a:p>
            <a:endParaRPr lang="en-GB" altLang="en-US" sz="1800" dirty="0">
              <a:cs typeface="Times New Roman" panose="02020603050405020304" pitchFamily="18" charset="0"/>
            </a:endParaRPr>
          </a:p>
          <a:p>
            <a:r>
              <a:rPr lang="en-GB" altLang="en-US" sz="1800" dirty="0">
                <a:cs typeface="Times New Roman" panose="02020603050405020304" pitchFamily="18" charset="0"/>
              </a:rPr>
              <a:t>To check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individual pages and processes</a:t>
            </a:r>
          </a:p>
          <a:p>
            <a:r>
              <a:rPr lang="en-GB" altLang="en-US" sz="1800" dirty="0">
                <a:cs typeface="Times New Roman" panose="02020603050405020304" pitchFamily="18" charset="0"/>
              </a:rPr>
              <a:t>Looking for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breaking points</a:t>
            </a:r>
          </a:p>
          <a:p>
            <a:r>
              <a:rPr lang="en-GB" altLang="en-US" sz="1800" dirty="0">
                <a:cs typeface="Times New Roman" panose="02020603050405020304" pitchFamily="18" charset="0"/>
              </a:rPr>
              <a:t>Looking for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Unnecessary code </a:t>
            </a:r>
            <a:r>
              <a:rPr lang="en-GB" altLang="en-US" sz="1800" dirty="0">
                <a:cs typeface="Times New Roman" panose="02020603050405020304" pitchFamily="18" charset="0"/>
              </a:rPr>
              <a:t>and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bottlenecks</a:t>
            </a:r>
          </a:p>
          <a:p>
            <a:pPr eaLnBrk="1" hangingPunct="1"/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Deployment Phase:</a:t>
            </a:r>
          </a:p>
          <a:p>
            <a:endParaRPr lang="en-GB" altLang="en-US" sz="1800" dirty="0">
              <a:cs typeface="Times New Roman" panose="02020603050405020304" pitchFamily="18" charset="0"/>
            </a:endParaRPr>
          </a:p>
          <a:p>
            <a:r>
              <a:rPr lang="en-GB" altLang="en-US" sz="1800" dirty="0">
                <a:cs typeface="Times New Roman" panose="02020603050405020304" pitchFamily="18" charset="0"/>
              </a:rPr>
              <a:t>Identify the </a:t>
            </a:r>
            <a:r>
              <a:rPr lang="en-GB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minimum hardware and software requirements</a:t>
            </a:r>
            <a:r>
              <a:rPr lang="en-GB" altLang="en-US" sz="1800" dirty="0">
                <a:cs typeface="Times New Roman" panose="02020603050405020304" pitchFamily="18" charset="0"/>
              </a:rPr>
              <a:t>.</a:t>
            </a:r>
            <a:endParaRPr lang="en-GB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313103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2">
            <a:extLst>
              <a:ext uri="{FF2B5EF4-FFF2-40B4-BE49-F238E27FC236}">
                <a16:creationId xmlns:a16="http://schemas.microsoft.com/office/drawing/2014/main" id="{76C85FC0-AC3F-298E-998F-17E57098D8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40526" y="749191"/>
            <a:ext cx="5600642" cy="686577"/>
          </a:xfrm>
        </p:spPr>
        <p:txBody>
          <a:bodyPr/>
          <a:lstStyle/>
          <a:p>
            <a:pPr eaLnBrk="1" hangingPunct="1"/>
            <a:r>
              <a:rPr lang="en-US" altLang="en-US" dirty="0"/>
              <a:t>What should be tested?</a:t>
            </a:r>
          </a:p>
        </p:txBody>
      </p:sp>
      <p:sp>
        <p:nvSpPr>
          <p:cNvPr id="47110" name="Rectangle 3">
            <a:extLst>
              <a:ext uri="{FF2B5EF4-FFF2-40B4-BE49-F238E27FC236}">
                <a16:creationId xmlns:a16="http://schemas.microsoft.com/office/drawing/2014/main" id="{922877DE-EF6C-4281-B46F-BDBE4A7274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40525" y="1665955"/>
            <a:ext cx="10421295" cy="4959433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en-GB" altLang="en-US" sz="1800" b="1" dirty="0">
                <a:solidFill>
                  <a:srgbClr val="FF0000"/>
                </a:solidFill>
              </a:rPr>
              <a:t>High frequency transactions</a:t>
            </a:r>
            <a:r>
              <a:rPr lang="en-GB" altLang="en-US" sz="1800" b="1" dirty="0"/>
              <a:t>:</a:t>
            </a:r>
            <a:r>
              <a:rPr lang="en-GB" altLang="en-US" sz="1800" dirty="0"/>
              <a:t> </a:t>
            </a:r>
            <a:br>
              <a:rPr lang="en-GB" altLang="en-US" sz="1800" dirty="0"/>
            </a:br>
            <a:br>
              <a:rPr lang="en-GB" altLang="en-US" sz="1800" dirty="0"/>
            </a:br>
            <a:r>
              <a:rPr lang="en-GB" altLang="en-US" sz="1800" dirty="0"/>
              <a:t>The </a:t>
            </a:r>
            <a:r>
              <a:rPr lang="en-GB" altLang="en-US" sz="1800" b="1" dirty="0">
                <a:solidFill>
                  <a:srgbClr val="00B050"/>
                </a:solidFill>
              </a:rPr>
              <a:t>most frequently used transactions </a:t>
            </a:r>
            <a:r>
              <a:rPr lang="en-GB" altLang="en-US" sz="1400" dirty="0"/>
              <a:t>(impact </a:t>
            </a:r>
            <a:r>
              <a:rPr lang="en-GB" altLang="en-US" sz="1400" b="1" dirty="0">
                <a:solidFill>
                  <a:srgbClr val="FF0000"/>
                </a:solidFill>
              </a:rPr>
              <a:t>overall performance)</a:t>
            </a:r>
            <a:r>
              <a:rPr lang="en-GB" altLang="en-US" sz="1400" dirty="0"/>
              <a:t>.</a:t>
            </a:r>
          </a:p>
          <a:p>
            <a:pPr marL="0" indent="0">
              <a:spcBef>
                <a:spcPts val="400"/>
              </a:spcBef>
              <a:buNone/>
            </a:pPr>
            <a:endParaRPr lang="en-GB" altLang="en-US" sz="1800" b="1" dirty="0"/>
          </a:p>
          <a:p>
            <a:pPr>
              <a:spcBef>
                <a:spcPts val="400"/>
              </a:spcBef>
            </a:pPr>
            <a:r>
              <a:rPr lang="en-GB" altLang="en-US" sz="1800" b="1" dirty="0">
                <a:solidFill>
                  <a:srgbClr val="FF0000"/>
                </a:solidFill>
              </a:rPr>
              <a:t>Mission Critical transactions</a:t>
            </a:r>
            <a:r>
              <a:rPr lang="en-GB" altLang="en-US" sz="1800" b="1" dirty="0"/>
              <a:t>:</a:t>
            </a:r>
            <a:r>
              <a:rPr lang="en-GB" altLang="en-US" sz="1800" dirty="0"/>
              <a:t> </a:t>
            </a:r>
            <a:br>
              <a:rPr lang="en-GB" altLang="en-US" sz="1800" dirty="0"/>
            </a:br>
            <a:br>
              <a:rPr lang="en-GB" altLang="en-US" sz="1800" dirty="0"/>
            </a:br>
            <a:r>
              <a:rPr lang="en-GB" altLang="en-US" sz="1800" b="1" dirty="0">
                <a:solidFill>
                  <a:srgbClr val="00B050"/>
                </a:solidFill>
              </a:rPr>
              <a:t>Important transactions </a:t>
            </a:r>
            <a:r>
              <a:rPr lang="en-GB" altLang="en-US" sz="1800" dirty="0"/>
              <a:t>which represents the </a:t>
            </a:r>
            <a:r>
              <a:rPr lang="en-GB" altLang="en-US" sz="1800" b="1" dirty="0">
                <a:solidFill>
                  <a:srgbClr val="00B050"/>
                </a:solidFill>
              </a:rPr>
              <a:t>core functions </a:t>
            </a:r>
            <a:r>
              <a:rPr lang="en-GB" altLang="en-US" sz="1400" dirty="0"/>
              <a:t>(</a:t>
            </a:r>
            <a:r>
              <a:rPr lang="en-GB" altLang="en-US" sz="1400" b="1" dirty="0">
                <a:solidFill>
                  <a:srgbClr val="FF0000"/>
                </a:solidFill>
              </a:rPr>
              <a:t>failure</a:t>
            </a:r>
            <a:r>
              <a:rPr lang="en-GB" altLang="en-US" sz="1400" dirty="0"/>
              <a:t> under load has a </a:t>
            </a:r>
            <a:r>
              <a:rPr lang="en-GB" altLang="en-US" sz="1400" b="1" dirty="0">
                <a:solidFill>
                  <a:srgbClr val="FF0000"/>
                </a:solidFill>
              </a:rPr>
              <a:t>big impact</a:t>
            </a:r>
            <a:r>
              <a:rPr lang="en-GB" altLang="en-US" sz="1400" dirty="0"/>
              <a:t>).</a:t>
            </a:r>
          </a:p>
          <a:p>
            <a:pPr marL="0" indent="0">
              <a:spcBef>
                <a:spcPts val="400"/>
              </a:spcBef>
              <a:buNone/>
            </a:pPr>
            <a:endParaRPr lang="en-GB" altLang="en-US" sz="1800" b="1" dirty="0"/>
          </a:p>
          <a:p>
            <a:pPr>
              <a:spcBef>
                <a:spcPts val="400"/>
              </a:spcBef>
            </a:pPr>
            <a:r>
              <a:rPr lang="en-GB" altLang="en-US" sz="1800" b="1" dirty="0">
                <a:solidFill>
                  <a:srgbClr val="00B050"/>
                </a:solidFill>
              </a:rPr>
              <a:t>Read Transactions:</a:t>
            </a:r>
            <a:r>
              <a:rPr lang="en-GB" altLang="en-US" sz="1800" dirty="0">
                <a:solidFill>
                  <a:srgbClr val="00B050"/>
                </a:solidFill>
              </a:rPr>
              <a:t> </a:t>
            </a:r>
            <a:br>
              <a:rPr lang="en-GB" altLang="en-US" sz="1800" dirty="0">
                <a:solidFill>
                  <a:srgbClr val="00B050"/>
                </a:solidFill>
              </a:rPr>
            </a:br>
            <a:br>
              <a:rPr lang="en-GB" altLang="en-US" sz="1800" dirty="0"/>
            </a:br>
            <a:r>
              <a:rPr lang="en-GB" altLang="en-US" sz="1800" dirty="0"/>
              <a:t>One </a:t>
            </a:r>
            <a:r>
              <a:rPr lang="en-GB" altLang="en-US" sz="1800" b="1" dirty="0">
                <a:solidFill>
                  <a:srgbClr val="00B050"/>
                </a:solidFill>
              </a:rPr>
              <a:t>READ ONLY </a:t>
            </a:r>
            <a:r>
              <a:rPr lang="en-GB" altLang="en-US" sz="1800" dirty="0"/>
              <a:t>transaction should be tested, to be compared to a complex transaction.</a:t>
            </a:r>
            <a:br>
              <a:rPr lang="en-GB" altLang="en-US" sz="1800" dirty="0"/>
            </a:br>
            <a:r>
              <a:rPr lang="en-GB" altLang="en-US" sz="1400" dirty="0"/>
              <a:t>(Base Case, Baseline)</a:t>
            </a:r>
            <a:endParaRPr lang="en-GB" altLang="en-US" sz="1800" dirty="0"/>
          </a:p>
          <a:p>
            <a:pPr marL="0" indent="0">
              <a:spcBef>
                <a:spcPts val="400"/>
              </a:spcBef>
              <a:buNone/>
            </a:pPr>
            <a:endParaRPr lang="en-GB" altLang="en-US" sz="1800" b="1" dirty="0"/>
          </a:p>
          <a:p>
            <a:pPr>
              <a:spcBef>
                <a:spcPts val="400"/>
              </a:spcBef>
            </a:pPr>
            <a:r>
              <a:rPr lang="en-GB" altLang="en-US" sz="1800" b="1" dirty="0">
                <a:solidFill>
                  <a:srgbClr val="FF0000"/>
                </a:solidFill>
              </a:rPr>
              <a:t>Update Transactions</a:t>
            </a:r>
            <a:r>
              <a:rPr lang="en-GB" altLang="en-US" sz="1800" b="1" dirty="0"/>
              <a:t>:</a:t>
            </a:r>
            <a:r>
              <a:rPr lang="en-GB" altLang="en-US" sz="1800" dirty="0"/>
              <a:t> </a:t>
            </a:r>
            <a:br>
              <a:rPr lang="en-GB" altLang="en-US" sz="1800" dirty="0"/>
            </a:br>
            <a:br>
              <a:rPr lang="en-GB" altLang="en-US" sz="1800" dirty="0"/>
            </a:br>
            <a:r>
              <a:rPr lang="en-GB" altLang="en-US" sz="1800" dirty="0"/>
              <a:t>One </a:t>
            </a:r>
            <a:r>
              <a:rPr lang="en-GB" altLang="en-US" sz="1800" b="1" dirty="0">
                <a:solidFill>
                  <a:srgbClr val="00B050"/>
                </a:solidFill>
              </a:rPr>
              <a:t>update transaction </a:t>
            </a:r>
            <a:r>
              <a:rPr lang="en-GB" altLang="en-US" sz="1800" dirty="0"/>
              <a:t>should be tested, to be compared to other transactions.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948785000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2">
            <a:extLst>
              <a:ext uri="{FF2B5EF4-FFF2-40B4-BE49-F238E27FC236}">
                <a16:creationId xmlns:a16="http://schemas.microsoft.com/office/drawing/2014/main" id="{A6699C01-69A9-8332-3881-492DF6CCE9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15933" y="733150"/>
            <a:ext cx="9471330" cy="7667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Load Test configuration for a web system</a:t>
            </a:r>
          </a:p>
        </p:txBody>
      </p:sp>
      <p:pic>
        <p:nvPicPr>
          <p:cNvPr id="52230" name="Picture 5">
            <a:extLst>
              <a:ext uri="{FF2B5EF4-FFF2-40B4-BE49-F238E27FC236}">
                <a16:creationId xmlns:a16="http://schemas.microsoft.com/office/drawing/2014/main" id="{4E0DB1AE-A25C-DBA1-D1C6-7CD2D72E1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6"/>
          <a:stretch>
            <a:fillRect/>
          </a:stretch>
        </p:blipFill>
        <p:spPr bwMode="auto">
          <a:xfrm>
            <a:off x="2971800" y="1752601"/>
            <a:ext cx="57912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8735706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>
            <a:extLst>
              <a:ext uri="{FF2B5EF4-FFF2-40B4-BE49-F238E27FC236}">
                <a16:creationId xmlns:a16="http://schemas.microsoft.com/office/drawing/2014/main" id="{4F04384B-6BDC-5229-B5A4-BCAFCA31D4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52558" y="749193"/>
            <a:ext cx="3094063" cy="714650"/>
          </a:xfrm>
        </p:spPr>
        <p:txBody>
          <a:bodyPr/>
          <a:lstStyle/>
          <a:p>
            <a:pPr eaLnBrk="1" hangingPunct="1"/>
            <a:r>
              <a:rPr lang="en-US" altLang="en-US" dirty="0"/>
              <a:t>Throughput</a:t>
            </a:r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id="{969F5F4B-AD54-C5FE-F4D0-F8673222033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637338" y="1827213"/>
            <a:ext cx="3810000" cy="43418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Capability to handle multiple transactions in a give period.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Throughput</a:t>
            </a:r>
            <a:r>
              <a:rPr lang="en-US" altLang="en-US" sz="1800" dirty="0">
                <a:cs typeface="Times New Roman" panose="02020603050405020304" pitchFamily="18" charset="0"/>
              </a:rPr>
              <a:t> represents the </a:t>
            </a: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number of requests/business transactions processed in a specified time range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As the number of </a:t>
            </a:r>
            <a:r>
              <a:rPr lang="en-US" altLang="en-US" sz="1800" b="1" dirty="0">
                <a:solidFill>
                  <a:srgbClr val="FF0000"/>
                </a:solidFill>
              </a:rPr>
              <a:t>concurrent users increase</a:t>
            </a:r>
            <a:r>
              <a:rPr lang="en-US" altLang="en-US" sz="1800" dirty="0"/>
              <a:t>, the </a:t>
            </a:r>
            <a:r>
              <a:rPr lang="en-US" altLang="en-US" sz="1800" b="1" dirty="0">
                <a:solidFill>
                  <a:srgbClr val="92D050"/>
                </a:solidFill>
              </a:rPr>
              <a:t>throughput increases almost linearly</a:t>
            </a:r>
            <a:r>
              <a:rPr lang="en-US" altLang="en-US" sz="1800" dirty="0"/>
              <a:t> with the number of requests. </a:t>
            </a:r>
          </a:p>
        </p:txBody>
      </p:sp>
      <p:pic>
        <p:nvPicPr>
          <p:cNvPr id="37896" name="Picture 8">
            <a:extLst>
              <a:ext uri="{FF2B5EF4-FFF2-40B4-BE49-F238E27FC236}">
                <a16:creationId xmlns:a16="http://schemas.microsoft.com/office/drawing/2014/main" id="{E1A42F6F-088F-98A4-5E56-67C3BA83C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347" y="1827212"/>
            <a:ext cx="5411561" cy="377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>
            <a:extLst>
              <a:ext uri="{FF2B5EF4-FFF2-40B4-BE49-F238E27FC236}">
                <a16:creationId xmlns:a16="http://schemas.microsoft.com/office/drawing/2014/main" id="{F3E1B61C-17D8-16D2-34EA-B6B8A15E4E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6516" y="759263"/>
            <a:ext cx="3880126" cy="759976"/>
          </a:xfrm>
        </p:spPr>
        <p:txBody>
          <a:bodyPr/>
          <a:lstStyle/>
          <a:p>
            <a:pPr eaLnBrk="1" hangingPunct="1"/>
            <a:r>
              <a:rPr lang="en-US" altLang="en-US" dirty="0"/>
              <a:t>Response Time</a:t>
            </a:r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502BC1AF-8B90-5352-1F02-BA8A4F1F1CA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629399" y="1670802"/>
            <a:ext cx="4792579" cy="4970629"/>
          </a:xfrm>
        </p:spPr>
        <p:txBody>
          <a:bodyPr/>
          <a:lstStyle/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To find out how much time each of the transactions took to </a:t>
            </a: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complete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Response time:</a:t>
            </a:r>
            <a:b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</a:br>
            <a:r>
              <a:rPr lang="en-US" altLang="en-US" sz="1800" dirty="0">
                <a:cs typeface="Times New Roman" panose="02020603050405020304" pitchFamily="18" charset="0"/>
              </a:rPr>
              <a:t>The delay </a:t>
            </a: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between requested </a:t>
            </a:r>
            <a:r>
              <a:rPr lang="en-US" altLang="en-US" sz="1800" dirty="0">
                <a:cs typeface="Times New Roman" panose="02020603050405020304" pitchFamily="18" charset="0"/>
              </a:rPr>
              <a:t>and the </a:t>
            </a: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response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/>
              <a:t>Response time </a:t>
            </a:r>
            <a:r>
              <a:rPr lang="en-US" altLang="en-US" sz="1800" b="1" dirty="0">
                <a:solidFill>
                  <a:srgbClr val="92D050"/>
                </a:solidFill>
              </a:rPr>
              <a:t>increases</a:t>
            </a:r>
            <a:r>
              <a:rPr lang="en-US" altLang="en-US" sz="1800" dirty="0"/>
              <a:t> proportionally to the </a:t>
            </a:r>
            <a:r>
              <a:rPr lang="en-US" altLang="en-US" sz="1800" b="1" dirty="0">
                <a:solidFill>
                  <a:srgbClr val="FF0000"/>
                </a:solidFill>
              </a:rPr>
              <a:t>user load</a:t>
            </a:r>
            <a:r>
              <a:rPr lang="en-US" altLang="en-US" sz="1800" dirty="0"/>
              <a:t>.</a:t>
            </a:r>
            <a:r>
              <a:rPr lang="en-US" altLang="en-US" sz="1400" dirty="0"/>
              <a:t> </a:t>
            </a:r>
          </a:p>
        </p:txBody>
      </p:sp>
      <p:pic>
        <p:nvPicPr>
          <p:cNvPr id="39943" name="Content Placeholder 3" descr="response_time_tc_resin.PNG">
            <a:extLst>
              <a:ext uri="{FF2B5EF4-FFF2-40B4-BE49-F238E27FC236}">
                <a16:creationId xmlns:a16="http://schemas.microsoft.com/office/drawing/2014/main" id="{4F526CF0-94B6-3C19-F198-29030CF34043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515" y="1702887"/>
            <a:ext cx="5472305" cy="3898671"/>
          </a:xfrm>
        </p:spPr>
      </p:pic>
      <p:sp>
        <p:nvSpPr>
          <p:cNvPr id="39944" name="Rectangle 7">
            <a:extLst>
              <a:ext uri="{FF2B5EF4-FFF2-40B4-BE49-F238E27FC236}">
                <a16:creationId xmlns:a16="http://schemas.microsoft.com/office/drawing/2014/main" id="{AA089A2F-5B2F-5BD3-F82D-93A304029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572000"/>
            <a:ext cx="8001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>
            <a:extLst>
              <a:ext uri="{FF2B5EF4-FFF2-40B4-BE49-F238E27FC236}">
                <a16:creationId xmlns:a16="http://schemas.microsoft.com/office/drawing/2014/main" id="{E9838414-DA73-E8E2-2131-0242DB002C6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1646" y="737161"/>
            <a:ext cx="2050101" cy="814914"/>
          </a:xfrm>
        </p:spPr>
        <p:txBody>
          <a:bodyPr/>
          <a:lstStyle/>
          <a:p>
            <a:pPr eaLnBrk="1" hangingPunct="1"/>
            <a:r>
              <a:rPr lang="en-US" altLang="en-US" dirty="0"/>
              <a:t>Tuning</a:t>
            </a: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5479BC10-5D25-906F-0C91-D8D3BA11D6D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637337" y="1827213"/>
            <a:ext cx="4904957" cy="4341812"/>
          </a:xfrm>
        </p:spPr>
        <p:txBody>
          <a:bodyPr/>
          <a:lstStyle/>
          <a:p>
            <a:pPr eaLnBrk="1" hangingPunct="1"/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Tuning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br>
              <a:rPr lang="en-US" altLang="en-US" sz="1800" dirty="0">
                <a:cs typeface="Times New Roman" panose="02020603050405020304" pitchFamily="18" charset="0"/>
              </a:rPr>
            </a:br>
            <a:r>
              <a:rPr lang="en-US" altLang="en-US" sz="1800" dirty="0">
                <a:cs typeface="Times New Roman" panose="02020603050405020304" pitchFamily="18" charset="0"/>
              </a:rPr>
              <a:t>Testing different settings/configurations in the application.</a:t>
            </a:r>
            <a:br>
              <a:rPr lang="en-US" altLang="en-US" sz="1800" dirty="0">
                <a:cs typeface="Times New Roman" panose="02020603050405020304" pitchFamily="18" charset="0"/>
              </a:rPr>
            </a:br>
            <a:r>
              <a:rPr lang="en-US" altLang="en-US" sz="1800" dirty="0">
                <a:cs typeface="Times New Roman" panose="02020603050405020304" pitchFamily="18" charset="0"/>
              </a:rPr>
              <a:t>i.e. how much memory, etc.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Tuning</a:t>
            </a:r>
            <a:r>
              <a:rPr lang="en-US" altLang="en-US" sz="1800" dirty="0">
                <a:cs typeface="Times New Roman" panose="02020603050405020304" pitchFamily="18" charset="0"/>
              </a:rPr>
              <a:t> improves the product performance without having to touch the source code.</a:t>
            </a:r>
            <a:br>
              <a:rPr lang="en-US" altLang="en-US" sz="1800" dirty="0">
                <a:cs typeface="Times New Roman" panose="02020603050405020304" pitchFamily="18" charset="0"/>
              </a:rPr>
            </a:br>
            <a:r>
              <a:rPr lang="en-US" altLang="en-US" sz="1800" dirty="0">
                <a:cs typeface="Times New Roman" panose="02020603050405020304" pitchFamily="18" charset="0"/>
              </a:rPr>
              <a:t>(ideal case)</a:t>
            </a:r>
            <a:endParaRPr lang="en-IN" altLang="en-US" sz="1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 dirty="0"/>
          </a:p>
        </p:txBody>
      </p:sp>
      <p:pic>
        <p:nvPicPr>
          <p:cNvPr id="40967" name="Content Placeholder 3" descr="ms998523_ch17---tuning-process(en-us,MSDN_10).gif">
            <a:extLst>
              <a:ext uri="{FF2B5EF4-FFF2-40B4-BE49-F238E27FC236}">
                <a16:creationId xmlns:a16="http://schemas.microsoft.com/office/drawing/2014/main" id="{4E94A6F2-72A8-5E3C-5CAC-1A9AC747008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828800"/>
            <a:ext cx="4129088" cy="4343400"/>
          </a:xfr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2">
            <a:extLst>
              <a:ext uri="{FF2B5EF4-FFF2-40B4-BE49-F238E27FC236}">
                <a16:creationId xmlns:a16="http://schemas.microsoft.com/office/drawing/2014/main" id="{3524563C-517A-E5A6-1DA5-2013BEAB82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48547" y="752034"/>
            <a:ext cx="3567305" cy="655662"/>
          </a:xfrm>
        </p:spPr>
        <p:txBody>
          <a:bodyPr/>
          <a:lstStyle/>
          <a:p>
            <a:pPr eaLnBrk="1" hangingPunct="1"/>
            <a:r>
              <a:rPr lang="en-US" altLang="en-US" dirty="0"/>
              <a:t>Benchmarking</a:t>
            </a:r>
          </a:p>
        </p:txBody>
      </p:sp>
      <p:sp>
        <p:nvSpPr>
          <p:cNvPr id="41990" name="Rectangle 3">
            <a:extLst>
              <a:ext uri="{FF2B5EF4-FFF2-40B4-BE49-F238E27FC236}">
                <a16:creationId xmlns:a16="http://schemas.microsoft.com/office/drawing/2014/main" id="{1DC46073-64F1-90D9-D1A5-BD8DE7C2EE0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637338" y="1827213"/>
            <a:ext cx="4475832" cy="4341812"/>
          </a:xfrm>
        </p:spPr>
        <p:txBody>
          <a:bodyPr/>
          <a:lstStyle/>
          <a:p>
            <a:pPr eaLnBrk="1" hangingPunct="1"/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A very well-improved application</a:t>
            </a:r>
            <a:r>
              <a:rPr lang="en-US" altLang="en-US" sz="1800" dirty="0">
                <a:cs typeface="Times New Roman" panose="02020603050405020304" pitchFamily="18" charset="0"/>
              </a:rPr>
              <a:t> does not matter if it still does</a:t>
            </a: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not match up to the competition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A </a:t>
            </a: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careful</a:t>
            </a:r>
            <a:r>
              <a:rPr lang="en-US" altLang="en-US" sz="1800" dirty="0">
                <a:cs typeface="Times New Roman" panose="02020603050405020304" pitchFamily="18" charset="0"/>
              </a:rPr>
              <a:t> analysis is needed to check the list of transactions to be compared across products.</a:t>
            </a:r>
            <a:br>
              <a:rPr lang="en-US" altLang="en-US" sz="1800" dirty="0">
                <a:cs typeface="Times New Roman" panose="02020603050405020304" pitchFamily="18" charset="0"/>
              </a:rPr>
            </a:br>
            <a:r>
              <a:rPr lang="en-US" altLang="en-US" sz="1800" dirty="0">
                <a:cs typeface="Times New Roman" panose="02020603050405020304" pitchFamily="18" charset="0"/>
              </a:rPr>
              <a:t>(apple-apple comparison)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Benchmarking with </a:t>
            </a: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competitors</a:t>
            </a:r>
            <a:r>
              <a:rPr lang="en-US" altLang="en-US" sz="1800" dirty="0">
                <a:cs typeface="Times New Roman" panose="02020603050405020304" pitchFamily="18" charset="0"/>
              </a:rPr>
              <a:t> is </a:t>
            </a: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difficult</a:t>
            </a:r>
            <a:r>
              <a:rPr lang="en-US" altLang="en-US" sz="1800" dirty="0">
                <a:cs typeface="Times New Roman" panose="02020603050405020304" pitchFamily="18" charset="0"/>
              </a:rPr>
              <a:t>! </a:t>
            </a:r>
            <a:br>
              <a:rPr lang="en-US" altLang="en-US" sz="1800" dirty="0">
                <a:cs typeface="Times New Roman" panose="02020603050405020304" pitchFamily="18" charset="0"/>
              </a:rPr>
            </a:b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(They are not interested in working with you)</a:t>
            </a:r>
          </a:p>
        </p:txBody>
      </p:sp>
      <p:pic>
        <p:nvPicPr>
          <p:cNvPr id="41991" name="Content Placeholder 5" descr="0052798.gif">
            <a:extLst>
              <a:ext uri="{FF2B5EF4-FFF2-40B4-BE49-F238E27FC236}">
                <a16:creationId xmlns:a16="http://schemas.microsoft.com/office/drawing/2014/main" id="{C7C8BF62-E88E-7D8D-4E65-0A4BA4D6646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8830" y="1776662"/>
            <a:ext cx="5416473" cy="3300663"/>
          </a:xfr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>
            <a:extLst>
              <a:ext uri="{FF2B5EF4-FFF2-40B4-BE49-F238E27FC236}">
                <a16:creationId xmlns:a16="http://schemas.microsoft.com/office/drawing/2014/main" id="{7E8F0C20-1E92-013E-2ABA-0B923F59409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2505" y="783075"/>
            <a:ext cx="8720832" cy="1144151"/>
          </a:xfrm>
        </p:spPr>
        <p:txBody>
          <a:bodyPr/>
          <a:lstStyle/>
          <a:p>
            <a:pPr eaLnBrk="1" hangingPunct="1"/>
            <a:r>
              <a:rPr lang="en-US" altLang="en-US" dirty="0"/>
              <a:t>Difference between </a:t>
            </a:r>
            <a:br>
              <a:rPr lang="en-US" altLang="en-US" dirty="0"/>
            </a:br>
            <a:r>
              <a:rPr lang="en-US" altLang="en-US" dirty="0"/>
              <a:t>Performance, Load and Stress Testing</a:t>
            </a:r>
          </a:p>
        </p:txBody>
      </p:sp>
      <p:sp>
        <p:nvSpPr>
          <p:cNvPr id="1031" name="Rectangle 3">
            <a:extLst>
              <a:ext uri="{FF2B5EF4-FFF2-40B4-BE49-F238E27FC236}">
                <a16:creationId xmlns:a16="http://schemas.microsoft.com/office/drawing/2014/main" id="{A4206A86-5BFF-0780-5A38-BD080707568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408821" y="1970757"/>
            <a:ext cx="4122738" cy="43418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Load Testing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GB" altLang="en-US" sz="1800" dirty="0">
                <a:cs typeface="Times New Roman" panose="02020603050405020304" pitchFamily="18" charset="0"/>
              </a:rPr>
              <a:t>Process of exercising the system under test by feeding it the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largest tasks </a:t>
            </a:r>
            <a:r>
              <a:rPr lang="en-GB" altLang="en-US" sz="1800" dirty="0">
                <a:cs typeface="Times New Roman" panose="02020603050405020304" pitchFamily="18" charset="0"/>
              </a:rPr>
              <a:t>it can operate with.</a:t>
            </a:r>
          </a:p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Constantly increasing the load </a:t>
            </a:r>
            <a:r>
              <a:rPr lang="en-GB" altLang="en-US" sz="1800" dirty="0">
                <a:cs typeface="Times New Roman" panose="02020603050405020304" pitchFamily="18" charset="0"/>
              </a:rPr>
              <a:t>on the system via automated tools.</a:t>
            </a:r>
          </a:p>
          <a:p>
            <a:pPr eaLnBrk="1" hangingPunct="1"/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Web-App-Example: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GB" altLang="en-US" sz="1800" dirty="0">
                <a:cs typeface="Times New Roman" panose="02020603050405020304" pitchFamily="18" charset="0"/>
              </a:rPr>
              <a:t>Load is defined in terms of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concurrent</a:t>
            </a:r>
            <a:r>
              <a:rPr lang="en-GB" altLang="en-US" sz="1800" dirty="0">
                <a:cs typeface="Times New Roman" panose="02020603050405020304" pitchFamily="18" charset="0"/>
              </a:rPr>
              <a:t> users or HTTP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connections</a:t>
            </a:r>
            <a:r>
              <a:rPr lang="en-GB" altLang="en-US" sz="1800" dirty="0"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026" name="Object 5">
            <a:extLst>
              <a:ext uri="{FF2B5EF4-FFF2-40B4-BE49-F238E27FC236}">
                <a16:creationId xmlns:a16="http://schemas.microsoft.com/office/drawing/2014/main" id="{66639B71-94D1-084A-3F62-C6B079FD1F50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981200" y="2051553"/>
          <a:ext cx="4114800" cy="447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4161905" imgH="4525007" progId="Paint.Picture">
                  <p:embed/>
                </p:oleObj>
              </mc:Choice>
              <mc:Fallback>
                <p:oleObj name="Bitmap Image" r:id="rId3" imgW="4161905" imgH="4525007" progId="Paint.Picture">
                  <p:embed/>
                  <p:pic>
                    <p:nvPicPr>
                      <p:cNvPr id="1026" name="Object 5">
                        <a:extLst>
                          <a:ext uri="{FF2B5EF4-FFF2-40B4-BE49-F238E27FC236}">
                            <a16:creationId xmlns:a16="http://schemas.microsoft.com/office/drawing/2014/main" id="{66639B71-94D1-084A-3F62-C6B079FD1F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051553"/>
                        <a:ext cx="4114800" cy="447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2">
            <a:extLst>
              <a:ext uri="{FF2B5EF4-FFF2-40B4-BE49-F238E27FC236}">
                <a16:creationId xmlns:a16="http://schemas.microsoft.com/office/drawing/2014/main" id="{4A767056-35E5-4654-D2B2-0E3FE6ED8D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20474" y="745181"/>
            <a:ext cx="10417284" cy="1144151"/>
          </a:xfrm>
        </p:spPr>
        <p:txBody>
          <a:bodyPr/>
          <a:lstStyle/>
          <a:p>
            <a:pPr eaLnBrk="1" hangingPunct="1"/>
            <a:r>
              <a:rPr lang="en-US" altLang="en-US" dirty="0"/>
              <a:t>Difference between </a:t>
            </a:r>
            <a:br>
              <a:rPr lang="en-US" altLang="en-US" dirty="0"/>
            </a:br>
            <a:r>
              <a:rPr lang="en-US" altLang="en-US" dirty="0"/>
              <a:t>Performance, Load and Stress Testing</a:t>
            </a:r>
          </a:p>
        </p:txBody>
      </p:sp>
      <p:sp>
        <p:nvSpPr>
          <p:cNvPr id="1273859" name="Rectangle 3">
            <a:extLst>
              <a:ext uri="{FF2B5EF4-FFF2-40B4-BE49-F238E27FC236}">
                <a16:creationId xmlns:a16="http://schemas.microsoft.com/office/drawing/2014/main" id="{2A2D513C-C5DC-B665-5E35-45EA52C8F35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72200" y="1931487"/>
            <a:ext cx="4275138" cy="43418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Stress Testing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GB" altLang="en-US" sz="1800" dirty="0">
                <a:cs typeface="Times New Roman" panose="02020603050405020304" pitchFamily="18" charset="0"/>
              </a:rPr>
              <a:t>Trying to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break the system </a:t>
            </a:r>
            <a:r>
              <a:rPr lang="en-GB" altLang="en-US" sz="1800" dirty="0">
                <a:cs typeface="Times New Roman" panose="02020603050405020304" pitchFamily="18" charset="0"/>
              </a:rPr>
              <a:t>under test by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overwhelming</a:t>
            </a:r>
            <a:r>
              <a:rPr lang="en-GB" altLang="en-US" sz="1800" dirty="0">
                <a:cs typeface="Times New Roman" panose="02020603050405020304" pitchFamily="18" charset="0"/>
              </a:rPr>
              <a:t> its resources.</a:t>
            </a:r>
          </a:p>
          <a:p>
            <a:pPr eaLnBrk="1" hangingPunct="1"/>
            <a:r>
              <a:rPr lang="en-GB" altLang="en-US" sz="1800" dirty="0">
                <a:cs typeface="Times New Roman" panose="02020603050405020304" pitchFamily="18" charset="0"/>
              </a:rPr>
              <a:t>Purpose is to make sure that the system fails and </a:t>
            </a:r>
            <a:r>
              <a:rPr lang="en-GB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recovers gracefully</a:t>
            </a:r>
            <a:r>
              <a:rPr lang="en-GB" altLang="en-US" sz="1800" dirty="0">
                <a:cs typeface="Times New Roman" panose="02020603050405020304" pitchFamily="18" charset="0"/>
              </a:rPr>
              <a:t>.</a:t>
            </a:r>
            <a:r>
              <a:rPr lang="en-GB" altLang="en-US" dirty="0"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Example: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Double</a:t>
            </a:r>
            <a:r>
              <a:rPr lang="en-GB" altLang="en-US" sz="1800" dirty="0">
                <a:cs typeface="Times New Roman" panose="02020603050405020304" pitchFamily="18" charset="0"/>
              </a:rPr>
              <a:t> the baseline number for concurrent users/HTTP connections.</a:t>
            </a:r>
          </a:p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Randomly shut down and restart ports </a:t>
            </a:r>
            <a:r>
              <a:rPr lang="en-GB" altLang="en-US" sz="1800" dirty="0">
                <a:cs typeface="Times New Roman" panose="02020603050405020304" pitchFamily="18" charset="0"/>
              </a:rPr>
              <a:t>on the network switches/routers that connects servers.</a:t>
            </a:r>
          </a:p>
          <a:p>
            <a:pPr eaLnBrk="1" hangingPunct="1"/>
            <a:endParaRPr lang="en-GB" altLang="en-US" dirty="0"/>
          </a:p>
        </p:txBody>
      </p:sp>
      <p:graphicFrame>
        <p:nvGraphicFramePr>
          <p:cNvPr id="1273862" name="Object 2">
            <a:extLst>
              <a:ext uri="{FF2B5EF4-FFF2-40B4-BE49-F238E27FC236}">
                <a16:creationId xmlns:a16="http://schemas.microsoft.com/office/drawing/2014/main" id="{7AFFF515-2BDC-996D-AE53-7802BB835C1F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949115" y="2390275"/>
          <a:ext cx="3703638" cy="394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895238" imgH="3086531" progId="Paint.Picture">
                  <p:embed/>
                </p:oleObj>
              </mc:Choice>
              <mc:Fallback>
                <p:oleObj name="Bitmap Image" r:id="rId3" imgW="2895238" imgH="3086531" progId="Paint.Picture">
                  <p:embed/>
                  <p:pic>
                    <p:nvPicPr>
                      <p:cNvPr id="1273862" name="Object 2">
                        <a:extLst>
                          <a:ext uri="{FF2B5EF4-FFF2-40B4-BE49-F238E27FC236}">
                            <a16:creationId xmlns:a16="http://schemas.microsoft.com/office/drawing/2014/main" id="{7AFFF515-2BDC-996D-AE53-7802BB835C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115" y="2390275"/>
                        <a:ext cx="3703638" cy="3946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E2DD-B66D-972C-5C62-98D34665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0E99ABC9-1491-4916-60F3-FB2C5AE8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 View Controller (MVC)</a:t>
            </a:r>
            <a:br>
              <a:rPr lang="en-US" altLang="en-US" dirty="0"/>
            </a:br>
            <a:r>
              <a:rPr lang="en-US" altLang="en-US" dirty="0"/>
              <a:t>3-Tier Swing Application</a:t>
            </a:r>
          </a:p>
        </p:txBody>
      </p:sp>
    </p:spTree>
    <p:extLst>
      <p:ext uri="{BB962C8B-B14F-4D97-AF65-F5344CB8AC3E}">
        <p14:creationId xmlns:p14="http://schemas.microsoft.com/office/powerpoint/2010/main" val="20798568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B4427-2532-3F83-DE0D-1B823643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66D51B17-FC6A-131C-4331-96B234F7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5465"/>
            <a:ext cx="5937668" cy="573537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/>
              <a:t>odel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iew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ontroller (</a:t>
            </a:r>
            <a:r>
              <a:rPr lang="en-US" altLang="en-US" dirty="0"/>
              <a:t>MVC)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EACA7-7D94-EF7B-D3AA-8FE4A2514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708963"/>
            <a:ext cx="10412564" cy="493864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Invented at Xerox 1970s with Smalltalk 80.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b="1" dirty="0">
                <a:solidFill>
                  <a:srgbClr val="92D050"/>
                </a:solidFill>
              </a:rPr>
              <a:t>Architectural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pattern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Relevant for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UI/interaction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applications.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Insulating the “</a:t>
            </a:r>
            <a:r>
              <a:rPr lang="en-US" b="1" dirty="0">
                <a:solidFill>
                  <a:srgbClr val="92D050"/>
                </a:solidFill>
              </a:rPr>
              <a:t>system</a:t>
            </a:r>
            <a:r>
              <a:rPr lang="en-US" dirty="0">
                <a:solidFill>
                  <a:schemeClr val="tx1"/>
                </a:solidFill>
              </a:rPr>
              <a:t>” (from user interface).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Put functionality into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distinct components</a:t>
            </a:r>
            <a:r>
              <a:rPr lang="en-US" dirty="0"/>
              <a:t>.</a:t>
            </a:r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107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0CB7-FEC4-EDC3-1C23-215A815F8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57CFA508-DFAD-1285-1A7C-A1C822AF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1175505" cy="545215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055C8-F03C-FB8B-74CA-63C65655B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482387"/>
            <a:ext cx="10384242" cy="51611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rgbClr val="92D050"/>
                </a:solidFill>
              </a:rPr>
              <a:t>Data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b="1" dirty="0">
                <a:solidFill>
                  <a:srgbClr val="92D050"/>
                </a:solidFill>
              </a:rPr>
              <a:t>model</a:t>
            </a:r>
            <a:r>
              <a:rPr lang="en-US" dirty="0"/>
              <a:t>:</a:t>
            </a:r>
          </a:p>
          <a:p>
            <a:pPr marL="0" indent="0">
              <a:buNone/>
              <a:defRPr/>
            </a:pPr>
            <a:endParaRPr lang="en-US" dirty="0"/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Is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Arial Narrow" panose="020B0606020202030204" pitchFamily="34" charset="0"/>
              </a:rPr>
              <a:t>independent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of its </a:t>
            </a:r>
            <a:r>
              <a:rPr lang="en-US" b="1" dirty="0">
                <a:solidFill>
                  <a:srgbClr val="00B0F0"/>
                </a:solidFill>
                <a:latin typeface="Arial Narrow" panose="020B0606020202030204" pitchFamily="34" charset="0"/>
              </a:rPr>
              <a:t>view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  <a:p>
            <a:pPr marL="457200" lvl="1" indent="0">
              <a:buNone/>
              <a:defRPr/>
            </a:pPr>
            <a:endParaRPr lang="en-US" dirty="0">
              <a:latin typeface="Arial Narrow" panose="020B0606020202030204" pitchFamily="34" charset="0"/>
            </a:endParaRP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Maintains and manipulates </a:t>
            </a:r>
            <a:r>
              <a:rPr lang="en-US" b="1" dirty="0">
                <a:solidFill>
                  <a:srgbClr val="92D050"/>
                </a:solidFill>
                <a:latin typeface="Arial Narrow" panose="020B0606020202030204" pitchFamily="34" charset="0"/>
              </a:rPr>
              <a:t>information</a:t>
            </a:r>
            <a:r>
              <a:rPr lang="en-US" dirty="0">
                <a:latin typeface="Arial Narrow" panose="020B0606020202030204" pitchFamily="34" charset="0"/>
              </a:rPr>
              <a:t> 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Allows operations to </a:t>
            </a:r>
            <a:r>
              <a:rPr lang="en-US" b="1" dirty="0">
                <a:solidFill>
                  <a:srgbClr val="92D050"/>
                </a:solidFill>
                <a:latin typeface="Arial Narrow" panose="020B0606020202030204" pitchFamily="34" charset="0"/>
              </a:rPr>
              <a:t>query and modify 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the data. </a:t>
            </a:r>
          </a:p>
          <a:p>
            <a:pPr marL="457200" lvl="2" indent="0">
              <a:spcBef>
                <a:spcPts val="0"/>
              </a:spcBef>
              <a:buNone/>
              <a:defRPr/>
            </a:pPr>
            <a:endParaRPr lang="en-US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The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Arial Narrow" panose="020B0606020202030204" pitchFamily="34" charset="0"/>
              </a:rPr>
              <a:t>views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are the </a:t>
            </a:r>
            <a:r>
              <a:rPr lang="en-US" sz="2000" b="1" dirty="0">
                <a:solidFill>
                  <a:srgbClr val="00B0F0"/>
                </a:solidFill>
                <a:latin typeface="Arial Narrow" panose="020B0606020202030204" pitchFamily="34" charset="0"/>
              </a:rPr>
              <a:t>dependent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components.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The </a:t>
            </a:r>
            <a:r>
              <a:rPr lang="en-US" sz="2000" b="1" dirty="0">
                <a:solidFill>
                  <a:srgbClr val="92D050"/>
                </a:solidFill>
                <a:latin typeface="Arial Narrow" panose="020B0606020202030204" pitchFamily="34" charset="0"/>
              </a:rPr>
              <a:t>data model 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does not know its </a:t>
            </a:r>
            <a:r>
              <a:rPr lang="en-US" sz="2000" b="1" dirty="0">
                <a:solidFill>
                  <a:srgbClr val="00B0F0"/>
                </a:solidFill>
                <a:latin typeface="Arial Narrow" panose="020B0606020202030204" pitchFamily="34" charset="0"/>
              </a:rPr>
              <a:t>dependents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latin typeface="Arial Narrow" panose="020B060602020203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But when the </a:t>
            </a:r>
            <a:r>
              <a:rPr lang="en-US" sz="2000" b="1" dirty="0">
                <a:solidFill>
                  <a:srgbClr val="92D050"/>
                </a:solidFill>
                <a:latin typeface="Arial Narrow" panose="020B0606020202030204" pitchFamily="34" charset="0"/>
              </a:rPr>
              <a:t>data model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changes,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Arial Narrow" panose="020B0606020202030204" pitchFamily="34" charset="0"/>
              </a:rPr>
              <a:t>it notifies the dependents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39812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484C-038F-8927-3F89-DAE4CDA8B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B69CCF8C-308A-272E-A1F1-7FE0D98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1175505" cy="545215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EB802-8B6D-9D44-360C-1F01857DF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482387"/>
            <a:ext cx="10384242" cy="51611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Controller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endParaRPr lang="en-US" dirty="0"/>
          </a:p>
          <a:p>
            <a:pPr marL="800100" lvl="2" indent="-342900">
              <a:spcBef>
                <a:spcPts val="0"/>
              </a:spcBef>
              <a:defRPr/>
            </a:pPr>
            <a:endParaRPr lang="en-US" dirty="0"/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Handles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user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input (check).  </a:t>
            </a:r>
          </a:p>
          <a:p>
            <a:pPr marL="457200" lvl="2" indent="0">
              <a:spcBef>
                <a:spcPts val="0"/>
              </a:spcBef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Translates user actions into operations on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data (SQL).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“listen” for user</a:t>
            </a: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</a:rPr>
              <a:t>events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(keyboard or mouse events).</a:t>
            </a:r>
          </a:p>
          <a:p>
            <a:pPr marL="457200" lvl="2" indent="0">
              <a:spcBef>
                <a:spcPts val="0"/>
              </a:spcBef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Controls communication between </a:t>
            </a:r>
            <a:r>
              <a:rPr lang="en-US" dirty="0">
                <a:solidFill>
                  <a:srgbClr val="00B0F0"/>
                </a:solidFill>
              </a:rPr>
              <a:t>view(s</a:t>
            </a:r>
            <a:r>
              <a:rPr lang="en-US" dirty="0"/>
              <a:t>) </a:t>
            </a:r>
            <a:r>
              <a:rPr lang="en-US" dirty="0">
                <a:solidFill>
                  <a:schemeClr val="tx1"/>
                </a:solidFill>
              </a:rPr>
              <a:t>and the data/model.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The controller allows the</a:t>
            </a:r>
            <a:r>
              <a:rPr lang="en-US" dirty="0"/>
              <a:t> </a:t>
            </a:r>
            <a:r>
              <a:rPr lang="en-US" dirty="0">
                <a:solidFill>
                  <a:srgbClr val="FFC000"/>
                </a:solidFill>
              </a:rPr>
              <a:t>decoupling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of the </a:t>
            </a:r>
            <a:r>
              <a:rPr lang="en-US" b="1" dirty="0">
                <a:solidFill>
                  <a:srgbClr val="92D050"/>
                </a:solidFill>
              </a:rPr>
              <a:t>model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 its </a:t>
            </a:r>
            <a:r>
              <a:rPr lang="en-US" b="1" dirty="0">
                <a:solidFill>
                  <a:srgbClr val="00B0F0"/>
                </a:solidFill>
              </a:rPr>
              <a:t>views</a:t>
            </a:r>
            <a:endParaRPr lang="en-US" dirty="0"/>
          </a:p>
          <a:p>
            <a:pPr marL="457200" lvl="2" indent="0">
              <a:spcBef>
                <a:spcPts val="0"/>
              </a:spcBef>
              <a:buNone/>
              <a:defRPr/>
            </a:pPr>
            <a:endParaRPr lang="en-US" dirty="0"/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The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controller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knows the </a:t>
            </a:r>
            <a:r>
              <a:rPr lang="en-US" dirty="0">
                <a:solidFill>
                  <a:srgbClr val="00B0F0"/>
                </a:solidFill>
              </a:rPr>
              <a:t>view</a:t>
            </a:r>
            <a:r>
              <a:rPr lang="en-US" dirty="0">
                <a:solidFill>
                  <a:schemeClr val="tx1"/>
                </a:solidFill>
              </a:rPr>
              <a:t>, and it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controls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model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69315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B1E1-6C78-96B6-61F3-9FAEAD57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03630DEA-FBDA-E1B4-5963-6EBA617A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1175505" cy="545215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1A557-C899-E4BB-3F26-B516485D4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482387"/>
            <a:ext cx="10384242" cy="51611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rgbClr val="00B0F0"/>
                </a:solidFill>
              </a:rPr>
              <a:t>View</a:t>
            </a:r>
            <a:r>
              <a:rPr lang="en-US" dirty="0"/>
              <a:t> 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Renders the data for the user.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 </a:t>
            </a:r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rendering of the </a:t>
            </a:r>
            <a:r>
              <a:rPr lang="en-US" sz="20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designed.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the data changes, the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reflects the change.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can evolve separately from the </a:t>
            </a:r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view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maybe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or text-based.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the </a:t>
            </a:r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Whenever the </a:t>
            </a:r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changes (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updated)</a:t>
            </a:r>
          </a:p>
        </p:txBody>
      </p:sp>
    </p:spTree>
    <p:extLst>
      <p:ext uri="{BB962C8B-B14F-4D97-AF65-F5344CB8AC3E}">
        <p14:creationId xmlns:p14="http://schemas.microsoft.com/office/powerpoint/2010/main" val="14119064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51514-9E8B-DB30-249F-1BD79B98A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6036C866-DE8D-D2F3-04F2-9746ABE8B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141" y="730656"/>
            <a:ext cx="6902811" cy="637866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The basic components in MVC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4F2B25-5E60-AB00-CF27-B8DA860BADC1}"/>
              </a:ext>
            </a:extLst>
          </p:cNvPr>
          <p:cNvSpPr/>
          <p:nvPr/>
        </p:nvSpPr>
        <p:spPr>
          <a:xfrm>
            <a:off x="4024313" y="4138396"/>
            <a:ext cx="20574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E2F9BF2D-9EB8-8A5B-7626-D470740164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6400" y="4124110"/>
            <a:ext cx="2084388" cy="8667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>
            <a:extLst>
              <a:ext uri="{FF2B5EF4-FFF2-40B4-BE49-F238E27FC236}">
                <a16:creationId xmlns:a16="http://schemas.microsoft.com/office/drawing/2014/main" id="{C51D068C-9503-7BE6-7F75-0E19A8DF0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639" y="2544546"/>
            <a:ext cx="2084387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 descr="C:\Program Files (x86)\Microsoft Office\MEDIA\CAGCAT10\j0292020.wmf">
            <a:extLst>
              <a:ext uri="{FF2B5EF4-FFF2-40B4-BE49-F238E27FC236}">
                <a16:creationId xmlns:a16="http://schemas.microsoft.com/office/drawing/2014/main" id="{FE3EA6D2-24FB-BFC8-D237-7DE7ADA0A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09671"/>
            <a:ext cx="17526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TextBox 6">
            <a:extLst>
              <a:ext uri="{FF2B5EF4-FFF2-40B4-BE49-F238E27FC236}">
                <a16:creationId xmlns:a16="http://schemas.microsoft.com/office/drawing/2014/main" id="{6246B0C8-1654-C13D-0670-D36724604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4" y="2792196"/>
            <a:ext cx="1177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Controller </a:t>
            </a:r>
          </a:p>
        </p:txBody>
      </p:sp>
      <p:sp>
        <p:nvSpPr>
          <p:cNvPr id="8200" name="TextBox 7">
            <a:extLst>
              <a:ext uri="{FF2B5EF4-FFF2-40B4-BE49-F238E27FC236}">
                <a16:creationId xmlns:a16="http://schemas.microsoft.com/office/drawing/2014/main" id="{489A805A-B5B8-6883-A55E-F6D948E11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938" y="4401921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View</a:t>
            </a:r>
          </a:p>
        </p:txBody>
      </p:sp>
      <p:sp>
        <p:nvSpPr>
          <p:cNvPr id="8201" name="TextBox 8">
            <a:extLst>
              <a:ext uri="{FF2B5EF4-FFF2-40B4-BE49-F238E27FC236}">
                <a16:creationId xmlns:a16="http://schemas.microsoft.com/office/drawing/2014/main" id="{AE8A48ED-9426-D949-68F4-7E98AF940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389221"/>
            <a:ext cx="990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0E71F8-EE6A-DEC8-7377-D8ABFEE76E2E}"/>
              </a:ext>
            </a:extLst>
          </p:cNvPr>
          <p:cNvCxnSpPr>
            <a:stCxn id="6" idx="0"/>
          </p:cNvCxnSpPr>
          <p:nvPr/>
        </p:nvCxnSpPr>
        <p:spPr>
          <a:xfrm flipV="1">
            <a:off x="5053014" y="3300196"/>
            <a:ext cx="661987" cy="8382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35D8DA-13D9-F6DA-A04B-415D22BF48C3}"/>
              </a:ext>
            </a:extLst>
          </p:cNvPr>
          <p:cNvCxnSpPr/>
          <p:nvPr/>
        </p:nvCxnSpPr>
        <p:spPr>
          <a:xfrm>
            <a:off x="6781800" y="3300196"/>
            <a:ext cx="7620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1BCCFA-9F6F-4725-0EA4-0DCF38083F8A}"/>
              </a:ext>
            </a:extLst>
          </p:cNvPr>
          <p:cNvCxnSpPr/>
          <p:nvPr/>
        </p:nvCxnSpPr>
        <p:spPr>
          <a:xfrm flipH="1">
            <a:off x="5626101" y="3409734"/>
            <a:ext cx="468313" cy="8191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5" name="TextBox 16">
            <a:extLst>
              <a:ext uri="{FF2B5EF4-FFF2-40B4-BE49-F238E27FC236}">
                <a16:creationId xmlns:a16="http://schemas.microsoft.com/office/drawing/2014/main" id="{67E6B514-E524-3B3D-E5CB-4764EA973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1" y="3275312"/>
            <a:ext cx="1154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User Action</a:t>
            </a:r>
          </a:p>
        </p:txBody>
      </p:sp>
      <p:sp>
        <p:nvSpPr>
          <p:cNvPr id="8206" name="TextBox 17">
            <a:extLst>
              <a:ext uri="{FF2B5EF4-FFF2-40B4-BE49-F238E27FC236}">
                <a16:creationId xmlns:a16="http://schemas.microsoft.com/office/drawing/2014/main" id="{20C2F9D4-9A7C-2EE3-10FE-D0ED02666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0401" y="3820786"/>
            <a:ext cx="1443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Change Display</a:t>
            </a:r>
          </a:p>
        </p:txBody>
      </p:sp>
      <p:sp>
        <p:nvSpPr>
          <p:cNvPr id="8207" name="TextBox 18">
            <a:extLst>
              <a:ext uri="{FF2B5EF4-FFF2-40B4-BE49-F238E27FC236}">
                <a16:creationId xmlns:a16="http://schemas.microsoft.com/office/drawing/2014/main" id="{E0F1B8A0-8435-3379-68FE-A2D9FBC26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629" y="3513716"/>
            <a:ext cx="12366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Change Data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F0936FC4-B287-D309-506A-344ED819443B}"/>
              </a:ext>
            </a:extLst>
          </p:cNvPr>
          <p:cNvSpPr/>
          <p:nvPr/>
        </p:nvSpPr>
        <p:spPr>
          <a:xfrm>
            <a:off x="3505201" y="2976347"/>
            <a:ext cx="1247775" cy="2206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Left Arrow 21">
            <a:extLst>
              <a:ext uri="{FF2B5EF4-FFF2-40B4-BE49-F238E27FC236}">
                <a16:creationId xmlns:a16="http://schemas.microsoft.com/office/drawing/2014/main" id="{DF4F3F09-F052-4CFF-48BD-89A2D09E1C39}"/>
              </a:ext>
            </a:extLst>
          </p:cNvPr>
          <p:cNvSpPr/>
          <p:nvPr/>
        </p:nvSpPr>
        <p:spPr>
          <a:xfrm>
            <a:off x="2971801" y="4587660"/>
            <a:ext cx="1052513" cy="23653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10" name="TextBox 22">
            <a:extLst>
              <a:ext uri="{FF2B5EF4-FFF2-40B4-BE49-F238E27FC236}">
                <a16:creationId xmlns:a16="http://schemas.microsoft.com/office/drawing/2014/main" id="{7D18B4CE-1D17-B00C-A48F-8B77A4E8D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2539785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Input</a:t>
            </a:r>
          </a:p>
        </p:txBody>
      </p:sp>
      <p:sp>
        <p:nvSpPr>
          <p:cNvPr id="8211" name="TextBox 23">
            <a:extLst>
              <a:ext uri="{FF2B5EF4-FFF2-40B4-BE49-F238E27FC236}">
                <a16:creationId xmlns:a16="http://schemas.microsoft.com/office/drawing/2014/main" id="{8DD853B8-B99B-EDF8-7778-99D4132DD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3426" y="4833721"/>
            <a:ext cx="8556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389011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26902-7DDC-153B-5767-63D857488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B14C5799-2DC6-815E-5B18-67E8A074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17143"/>
            <a:ext cx="6443420" cy="707055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Implementing MVC in Swing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21F77-C928-2842-E9D6-F20BE340C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676595"/>
            <a:ext cx="10392334" cy="4958873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rgbClr val="000000"/>
                </a:solidFill>
                <a:latin typeface="Verdana"/>
              </a:rPr>
              <a:t>Mapping of Java swing classes to MVC components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  <a:latin typeface="Verdana"/>
            </a:endParaRPr>
          </a:p>
          <a:p>
            <a:pPr>
              <a:defRPr/>
            </a:pPr>
            <a:r>
              <a:rPr lang="en-US" sz="2000" b="1" dirty="0">
                <a:solidFill>
                  <a:srgbClr val="00B0F0"/>
                </a:solidFill>
                <a:latin typeface="Verdana"/>
              </a:rPr>
              <a:t>View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is a Swing widget (like a </a:t>
            </a:r>
            <a:r>
              <a:rPr lang="en-US" sz="2000" dirty="0" err="1">
                <a:solidFill>
                  <a:srgbClr val="000000"/>
                </a:solidFill>
                <a:latin typeface="Verdana"/>
              </a:rPr>
              <a:t>JFrame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Verdana"/>
              </a:rPr>
              <a:t>JCheckBoxes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Verdana"/>
              </a:rPr>
              <a:t>JButton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Verdana"/>
              </a:rPr>
              <a:t>etc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)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  <a:latin typeface="Verdana"/>
            </a:endParaRPr>
          </a:p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  <a:latin typeface="Verdana"/>
              </a:rPr>
              <a:t>Controller</a:t>
            </a:r>
            <a:r>
              <a:rPr lang="en-US" sz="2000" b="1" dirty="0">
                <a:solidFill>
                  <a:srgbClr val="C00000"/>
                </a:solidFill>
                <a:latin typeface="Verdana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is an </a:t>
            </a:r>
            <a:r>
              <a:rPr lang="en-US" sz="2000" b="1" i="1" dirty="0" err="1">
                <a:solidFill>
                  <a:srgbClr val="FFC000"/>
                </a:solidFill>
                <a:latin typeface="Verdana"/>
              </a:rPr>
              <a:t>ActionListener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or a Java class with “business logic” invoked by the event handlers.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  <a:latin typeface="Verdana"/>
            </a:endParaRPr>
          </a:p>
          <a:p>
            <a:pPr>
              <a:defRPr/>
            </a:pPr>
            <a:r>
              <a:rPr lang="en-US" sz="2000" b="1" dirty="0">
                <a:solidFill>
                  <a:srgbClr val="92D050"/>
                </a:solidFill>
                <a:latin typeface="Verdana"/>
              </a:rPr>
              <a:t>Model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is a Java entity class (or database)</a:t>
            </a:r>
          </a:p>
          <a:p>
            <a:pPr>
              <a:defRPr/>
            </a:pPr>
            <a:endParaRPr lang="en-US" sz="2000" dirty="0">
              <a:solidFill>
                <a:srgbClr val="000000"/>
              </a:solidFill>
              <a:latin typeface="Verdana"/>
            </a:endParaRPr>
          </a:p>
          <a:p>
            <a:pPr>
              <a:defRPr/>
            </a:pPr>
            <a:r>
              <a:rPr lang="en-US" sz="2000" b="1" dirty="0">
                <a:solidFill>
                  <a:srgbClr val="92D050"/>
                </a:solidFill>
                <a:latin typeface="Verdana"/>
              </a:rPr>
              <a:t>Model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and </a:t>
            </a:r>
            <a:r>
              <a:rPr lang="en-US" sz="2000" b="1" dirty="0">
                <a:solidFill>
                  <a:srgbClr val="00B0F0"/>
                </a:solidFill>
                <a:latin typeface="Verdana"/>
              </a:rPr>
              <a:t>view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are </a:t>
            </a:r>
            <a:r>
              <a:rPr lang="en-US" sz="2000" b="1" dirty="0">
                <a:solidFill>
                  <a:srgbClr val="FFC000"/>
                </a:solidFill>
                <a:latin typeface="Verdana"/>
              </a:rPr>
              <a:t>completely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decoupled.</a:t>
            </a:r>
            <a:endParaRPr lang="en-US" dirty="0">
              <a:solidFill>
                <a:srgbClr val="000000"/>
              </a:solidFill>
              <a:latin typeface="Verdana"/>
            </a:endParaRPr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9767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FDD98-732E-BC44-BBF1-1A00E271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1F0C895A-88FC-C406-1B50-56043320E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9511"/>
            <a:ext cx="4481102" cy="662549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MVC with Observer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610AF-0FDE-4DB6-8E9A-A5AF1F922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91629"/>
            <a:ext cx="10408518" cy="5035747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sz="3600" b="1" dirty="0">
                <a:solidFill>
                  <a:srgbClr val="FFC000"/>
                </a:solidFill>
              </a:rPr>
              <a:t>Initialization:</a:t>
            </a:r>
          </a:p>
          <a:p>
            <a:pPr lvl="1"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>
                <a:solidFill>
                  <a:schemeClr val="tx1"/>
                </a:solidFill>
              </a:rPr>
              <a:t>Instantiate 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92D050"/>
                </a:solidFill>
              </a:rPr>
              <a:t>Model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lvl="1"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sz="2400" dirty="0">
                <a:solidFill>
                  <a:schemeClr val="tx1"/>
                </a:solidFill>
              </a:rPr>
              <a:t>Instantiate 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F0"/>
                </a:solidFill>
              </a:rPr>
              <a:t>View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and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F0"/>
                </a:solidFill>
              </a:rPr>
              <a:t>view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registers with </a:t>
            </a:r>
            <a:r>
              <a:rPr lang="en-US" sz="2400" b="1" dirty="0">
                <a:solidFill>
                  <a:srgbClr val="92D050"/>
                </a:solidFill>
              </a:rPr>
              <a:t>model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as an </a:t>
            </a:r>
            <a:r>
              <a:rPr lang="en-US" sz="2400" b="1" dirty="0">
                <a:solidFill>
                  <a:srgbClr val="00B0F0"/>
                </a:solidFill>
              </a:rPr>
              <a:t>observer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lvl="1"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sz="2400" dirty="0">
                <a:solidFill>
                  <a:schemeClr val="tx1"/>
                </a:solidFill>
              </a:rPr>
              <a:t>Instantiate a </a:t>
            </a:r>
            <a:r>
              <a:rPr lang="en-US" sz="2400" dirty="0">
                <a:solidFill>
                  <a:srgbClr val="FF0000"/>
                </a:solidFill>
              </a:rPr>
              <a:t>controller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with:</a:t>
            </a:r>
          </a:p>
          <a:p>
            <a:pPr lvl="2">
              <a:defRPr/>
            </a:pPr>
            <a:endParaRPr lang="en-US" sz="2200" dirty="0">
              <a:solidFill>
                <a:schemeClr val="tx1"/>
              </a:solidFill>
            </a:endParaRPr>
          </a:p>
          <a:p>
            <a:pPr lvl="2">
              <a:defRPr/>
            </a:pPr>
            <a:r>
              <a:rPr lang="en-US" sz="2200" dirty="0">
                <a:solidFill>
                  <a:schemeClr val="tx1"/>
                </a:solidFill>
              </a:rPr>
              <a:t>a reference to the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92D050"/>
                </a:solidFill>
              </a:rPr>
              <a:t>model</a:t>
            </a:r>
            <a:r>
              <a:rPr lang="en-US" sz="2200" dirty="0"/>
              <a:t> </a:t>
            </a:r>
          </a:p>
          <a:p>
            <a:pPr lvl="2">
              <a:defRPr/>
            </a:pPr>
            <a:endParaRPr lang="en-US" sz="2200" dirty="0"/>
          </a:p>
          <a:p>
            <a:pPr lvl="2">
              <a:defRPr/>
            </a:pPr>
            <a:r>
              <a:rPr lang="en-US" sz="2200" dirty="0">
                <a:solidFill>
                  <a:schemeClr val="tx1"/>
                </a:solidFill>
              </a:rPr>
              <a:t>a reference to the </a:t>
            </a:r>
            <a:r>
              <a:rPr lang="en-US" sz="2200" b="1" dirty="0">
                <a:solidFill>
                  <a:srgbClr val="00B0F0"/>
                </a:solidFill>
              </a:rPr>
              <a:t>view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8483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B107-E1AF-5D9A-CB91-8017244F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B1B5DFC9-357F-F6D1-C544-B2D03D356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9511"/>
            <a:ext cx="4481102" cy="662549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MVC with Observer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45DF2-BAD7-AF18-8B68-90DD5146F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91629"/>
            <a:ext cx="10408518" cy="5035747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sz="3600" b="1" dirty="0">
                <a:solidFill>
                  <a:srgbClr val="FFC000"/>
                </a:solidFill>
              </a:rPr>
              <a:t>Execution:</a:t>
            </a:r>
          </a:p>
          <a:p>
            <a:pPr lvl="1"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>
                <a:solidFill>
                  <a:schemeClr val="tx1"/>
                </a:solidFill>
              </a:rPr>
              <a:t>User interacts with the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controller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using the </a:t>
            </a:r>
            <a:r>
              <a:rPr lang="en-US" sz="2400" b="1" dirty="0">
                <a:solidFill>
                  <a:srgbClr val="92D050"/>
                </a:solidFill>
              </a:rPr>
              <a:t>input widgets</a:t>
            </a:r>
            <a:r>
              <a:rPr lang="en-US" sz="2400" dirty="0"/>
              <a:t>. </a:t>
            </a:r>
          </a:p>
          <a:p>
            <a:pPr marL="457200" lvl="1" indent="0">
              <a:buNone/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>
                <a:solidFill>
                  <a:srgbClr val="FF0000"/>
                </a:solidFill>
              </a:rPr>
              <a:t>Controller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changes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92D050"/>
                </a:solidFill>
              </a:rPr>
              <a:t>model</a:t>
            </a:r>
            <a:r>
              <a:rPr lang="en-US" sz="2400" dirty="0"/>
              <a:t>.</a:t>
            </a:r>
          </a:p>
          <a:p>
            <a:pPr lvl="1"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>
                <a:solidFill>
                  <a:srgbClr val="92D050"/>
                </a:solidFill>
              </a:rPr>
              <a:t>Model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C000"/>
                </a:solidFill>
              </a:rPr>
              <a:t>notifies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the change to all its registered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00B0F0"/>
                </a:solidFill>
              </a:rPr>
              <a:t>views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F0"/>
                </a:solidFill>
              </a:rPr>
              <a:t>observers</a:t>
            </a:r>
            <a:r>
              <a:rPr lang="en-US" sz="2400" dirty="0"/>
              <a:t>).</a:t>
            </a:r>
          </a:p>
          <a:p>
            <a:pPr lvl="1"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>
                <a:solidFill>
                  <a:srgbClr val="00B0F0"/>
                </a:solidFill>
              </a:rPr>
              <a:t>Views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subsequently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92D050"/>
                </a:solidFill>
              </a:rPr>
              <a:t>update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their display.</a:t>
            </a:r>
          </a:p>
          <a:p>
            <a:pPr marL="457200" lvl="1" indent="0">
              <a:buNone/>
              <a:defRPr/>
            </a:pPr>
            <a:endParaRPr lang="en-US" sz="2400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877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649B6-97DB-CEE2-1F11-C342F88D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11183883-89C4-08EE-B2A9-0BEB778A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5465"/>
            <a:ext cx="4031994" cy="601859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Observer pattern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4B39B0DA-9D06-9966-7338-A90E6010F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39031"/>
            <a:ext cx="10384242" cy="5096437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Observer design pattern: 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Multiple </a:t>
            </a:r>
            <a:r>
              <a:rPr lang="en-US" altLang="en-US" dirty="0">
                <a:solidFill>
                  <a:srgbClr val="00B0F0"/>
                </a:solidFill>
              </a:rPr>
              <a:t>observer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objects (</a:t>
            </a:r>
            <a:r>
              <a:rPr lang="en-US" altLang="en-US" dirty="0">
                <a:solidFill>
                  <a:srgbClr val="00B0F0"/>
                </a:solidFill>
              </a:rPr>
              <a:t>views</a:t>
            </a:r>
            <a:r>
              <a:rPr lang="en-US" altLang="en-US" dirty="0">
                <a:solidFill>
                  <a:schemeClr val="tx1"/>
                </a:solidFill>
              </a:rPr>
              <a:t>) registers with a </a:t>
            </a:r>
            <a:r>
              <a:rPr lang="en-US" altLang="en-US" dirty="0">
                <a:solidFill>
                  <a:srgbClr val="92D050"/>
                </a:solidFill>
              </a:rPr>
              <a:t>subject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(for change notification). 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When the state of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92D050"/>
                </a:solidFill>
              </a:rPr>
              <a:t>subject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changes, it </a:t>
            </a:r>
            <a:r>
              <a:rPr lang="en-US" altLang="en-US" b="1" dirty="0">
                <a:solidFill>
                  <a:srgbClr val="FFC000"/>
                </a:solidFill>
              </a:rPr>
              <a:t>notifies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the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B0F0"/>
                </a:solidFill>
              </a:rPr>
              <a:t>observers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dirty="0">
                <a:solidFill>
                  <a:srgbClr val="00B0F0"/>
                </a:solidFill>
              </a:rPr>
              <a:t>views</a:t>
            </a:r>
            <a:r>
              <a:rPr lang="en-US" altLang="en-US" dirty="0">
                <a:solidFill>
                  <a:schemeClr val="tx1"/>
                </a:solidFill>
              </a:rPr>
              <a:t>). 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Objects that listen or watch for change, are called </a:t>
            </a:r>
            <a:r>
              <a:rPr lang="en-US" altLang="en-US" dirty="0">
                <a:solidFill>
                  <a:srgbClr val="00B0F0"/>
                </a:solidFill>
              </a:rPr>
              <a:t>observers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The object that is being watched for is called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92D050"/>
                </a:solidFill>
              </a:rPr>
              <a:t>subject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836849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FD6A-5C17-3D9A-F368-C51ACCD3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134E48C-8ED7-5995-2CB0-28075BC6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5715137" cy="638273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Observer pattern in Java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639DB11A-010D-EC10-37EB-FDC8AA4FC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83537"/>
            <a:ext cx="10384242" cy="5060023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Java has support for the following class and interface in its API for implementing the pattern.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Class </a:t>
            </a:r>
            <a:r>
              <a:rPr lang="en-US" altLang="en-US" sz="2000" b="1" dirty="0">
                <a:solidFill>
                  <a:srgbClr val="92D050"/>
                </a:solidFill>
              </a:rPr>
              <a:t>Observable</a:t>
            </a:r>
            <a:r>
              <a:rPr lang="en-US" altLang="en-US" sz="2000" dirty="0">
                <a:solidFill>
                  <a:schemeClr val="tx1"/>
                </a:solidFill>
              </a:rPr>
              <a:t>: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Represents an observable object, or “</a:t>
            </a:r>
            <a:r>
              <a:rPr lang="en-US" altLang="en-US" dirty="0">
                <a:solidFill>
                  <a:srgbClr val="92D050"/>
                </a:solidFill>
              </a:rPr>
              <a:t>subject</a:t>
            </a:r>
            <a:r>
              <a:rPr lang="en-US" altLang="en-US" dirty="0">
                <a:solidFill>
                  <a:schemeClr val="tx1"/>
                </a:solidFill>
              </a:rPr>
              <a:t>”, "</a:t>
            </a:r>
            <a:r>
              <a:rPr lang="en-US" altLang="en-US" dirty="0">
                <a:solidFill>
                  <a:srgbClr val="92D050"/>
                </a:solidFill>
              </a:rPr>
              <a:t>data</a:t>
            </a:r>
            <a:r>
              <a:rPr lang="en-US" altLang="en-US" dirty="0">
                <a:solidFill>
                  <a:schemeClr val="tx1"/>
                </a:solidFill>
              </a:rPr>
              <a:t>“, “</a:t>
            </a:r>
            <a:r>
              <a:rPr lang="en-US" altLang="en-US" dirty="0">
                <a:solidFill>
                  <a:srgbClr val="92D050"/>
                </a:solidFill>
              </a:rPr>
              <a:t>model</a:t>
            </a:r>
            <a:r>
              <a:rPr lang="en-US" altLang="en-US" dirty="0">
                <a:solidFill>
                  <a:schemeClr val="tx1"/>
                </a:solidFill>
              </a:rPr>
              <a:t>” in the model-view paradigm. </a:t>
            </a:r>
          </a:p>
          <a:p>
            <a:pPr marL="457200" lvl="1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Can have one or more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B0F0"/>
                </a:solidFill>
              </a:rPr>
              <a:t>observers (views) </a:t>
            </a:r>
            <a:r>
              <a:rPr lang="en-US" altLang="en-US" dirty="0">
                <a:solidFill>
                  <a:schemeClr val="tx1"/>
                </a:solidFill>
              </a:rPr>
              <a:t>attached to it.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Can be sub-classed. </a:t>
            </a:r>
          </a:p>
          <a:p>
            <a:pPr marL="457200" lvl="1" indent="0">
              <a:buNone/>
            </a:pPr>
            <a:endParaRPr lang="en-US" altLang="en-US" dirty="0"/>
          </a:p>
          <a:p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108958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70D1-AE61-3D3E-0D8C-17CCCFD33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BAAEB25-FDCC-8ABD-32E6-415E3F28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5715137" cy="638273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Observer pattern in Java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D4123366-CE2C-ABF2-3B3D-13234CC0A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83537"/>
            <a:ext cx="10384242" cy="5060023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Interface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00B0F0"/>
                </a:solidFill>
              </a:rPr>
              <a:t>Observer</a:t>
            </a:r>
            <a:r>
              <a:rPr lang="en-US" altLang="en-US" sz="2000" dirty="0">
                <a:solidFill>
                  <a:schemeClr val="tx1"/>
                </a:solidFill>
              </a:rPr>
              <a:t>: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An </a:t>
            </a:r>
            <a:r>
              <a:rPr lang="en-US" altLang="en-US" dirty="0">
                <a:solidFill>
                  <a:srgbClr val="00B0F0"/>
                </a:solidFill>
              </a:rPr>
              <a:t>observer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b="1" dirty="0">
                <a:solidFill>
                  <a:srgbClr val="00B0F0"/>
                </a:solidFill>
              </a:rPr>
              <a:t>view</a:t>
            </a:r>
            <a:r>
              <a:rPr lang="en-US" altLang="en-US" dirty="0">
                <a:solidFill>
                  <a:schemeClr val="tx1"/>
                </a:solidFill>
              </a:rPr>
              <a:t>) may be any object that implements </a:t>
            </a:r>
            <a:r>
              <a:rPr lang="en-US" altLang="en-US" b="1" dirty="0">
                <a:solidFill>
                  <a:srgbClr val="00B0F0"/>
                </a:solidFill>
              </a:rPr>
              <a:t>interface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B0F0"/>
                </a:solidFill>
              </a:rPr>
              <a:t>Observer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</a:p>
          <a:p>
            <a:pPr marL="457200" lvl="1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After an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92D050"/>
                </a:solidFill>
              </a:rPr>
              <a:t>observable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dirty="0">
                <a:solidFill>
                  <a:srgbClr val="92D050"/>
                </a:solidFill>
              </a:rPr>
              <a:t>model</a:t>
            </a:r>
            <a:r>
              <a:rPr lang="en-US" altLang="en-US" dirty="0">
                <a:solidFill>
                  <a:schemeClr val="tx1"/>
                </a:solidFill>
              </a:rPr>
              <a:t>) instance changes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All </a:t>
            </a:r>
            <a:r>
              <a:rPr lang="en-US" altLang="en-US" dirty="0">
                <a:solidFill>
                  <a:srgbClr val="00B0F0"/>
                </a:solidFill>
              </a:rPr>
              <a:t>Observers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b="1" dirty="0">
                <a:solidFill>
                  <a:srgbClr val="00B0F0"/>
                </a:solidFill>
              </a:rPr>
              <a:t>views</a:t>
            </a:r>
            <a:r>
              <a:rPr lang="en-US" altLang="en-US" dirty="0">
                <a:solidFill>
                  <a:schemeClr val="tx1"/>
                </a:solidFill>
              </a:rPr>
              <a:t>) are </a:t>
            </a:r>
            <a:r>
              <a:rPr lang="en-US" altLang="en-US" dirty="0">
                <a:solidFill>
                  <a:srgbClr val="FFC000"/>
                </a:solidFill>
              </a:rPr>
              <a:t>notified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by calling their </a:t>
            </a:r>
            <a:r>
              <a:rPr lang="en-US" altLang="en-US" dirty="0">
                <a:solidFill>
                  <a:srgbClr val="FFC000"/>
                </a:solidFill>
              </a:rPr>
              <a:t>update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method. 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r>
              <a:rPr lang="en-US" altLang="en-US" sz="2000" dirty="0">
                <a:solidFill>
                  <a:schemeClr val="tx1"/>
                </a:solidFill>
              </a:rPr>
              <a:t>The order in which notifications will be delivered is </a:t>
            </a:r>
            <a:r>
              <a:rPr lang="en-US" altLang="en-US" sz="2000" dirty="0">
                <a:solidFill>
                  <a:srgbClr val="FFC000"/>
                </a:solidFill>
              </a:rPr>
              <a:t>unspecified</a:t>
            </a:r>
            <a:r>
              <a:rPr lang="en-US" altLang="en-US" sz="2000" dirty="0">
                <a:solidFill>
                  <a:schemeClr val="tx1"/>
                </a:solidFill>
              </a:rPr>
              <a:t>. 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r>
              <a:rPr lang="en-US" altLang="en-US" sz="2000" dirty="0">
                <a:solidFill>
                  <a:schemeClr val="tx1"/>
                </a:solidFill>
              </a:rPr>
              <a:t>When an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rgbClr val="92D050"/>
                </a:solidFill>
              </a:rPr>
              <a:t>observable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(</a:t>
            </a:r>
            <a:r>
              <a:rPr lang="en-US" altLang="en-US" sz="2000" dirty="0">
                <a:solidFill>
                  <a:srgbClr val="92D050"/>
                </a:solidFill>
              </a:rPr>
              <a:t>model</a:t>
            </a:r>
            <a:r>
              <a:rPr lang="en-US" altLang="en-US" sz="2000" dirty="0">
                <a:solidFill>
                  <a:schemeClr val="tx1"/>
                </a:solidFill>
              </a:rPr>
              <a:t>) object is newly created, its set of </a:t>
            </a:r>
            <a:r>
              <a:rPr lang="en-US" altLang="en-US" sz="2000" dirty="0">
                <a:solidFill>
                  <a:srgbClr val="00B0F0"/>
                </a:solidFill>
              </a:rPr>
              <a:t>observers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(</a:t>
            </a:r>
            <a:r>
              <a:rPr lang="en-US" altLang="en-US" sz="2000" dirty="0">
                <a:solidFill>
                  <a:srgbClr val="00B0F0"/>
                </a:solidFill>
              </a:rPr>
              <a:t>views</a:t>
            </a:r>
            <a:r>
              <a:rPr lang="en-US" altLang="en-US" sz="2000" dirty="0">
                <a:solidFill>
                  <a:schemeClr val="tx1"/>
                </a:solidFill>
              </a:rPr>
              <a:t>) is empty. </a:t>
            </a:r>
          </a:p>
          <a:p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016102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B4ABE-A996-018A-247C-3F339B5DD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D7A38C5C-A03A-4234-BA8F-19ACEED3702E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MVC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E04F77-7E73-3CDC-14DC-033A8577F2A6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CSEN160_09_3_WebAppTomcat.SwingMVC.MVC1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6B39D2-FE46-E388-596B-F55FC4FC5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18" y="1656364"/>
            <a:ext cx="5511682" cy="4998967"/>
          </a:xfrm>
          <a:prstGeom prst="rect">
            <a:avLst/>
          </a:prstGeom>
        </p:spPr>
      </p:pic>
      <p:pic>
        <p:nvPicPr>
          <p:cNvPr id="14341" name="Picture 3">
            <a:extLst>
              <a:ext uri="{FF2B5EF4-FFF2-40B4-BE49-F238E27FC236}">
                <a16:creationId xmlns:a16="http://schemas.microsoft.com/office/drawing/2014/main" id="{EE2F6BD9-F801-7E4C-2835-1305B788E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244" y="791227"/>
            <a:ext cx="7030756" cy="1338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B00136-B52F-6EDB-23B6-2771C2B52C02}"/>
              </a:ext>
            </a:extLst>
          </p:cNvPr>
          <p:cNvSpPr/>
          <p:nvPr/>
        </p:nvSpPr>
        <p:spPr>
          <a:xfrm>
            <a:off x="1487905" y="2567126"/>
            <a:ext cx="3641558" cy="77765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36F53B-ACE9-BE41-F558-657A2E27920B}"/>
              </a:ext>
            </a:extLst>
          </p:cNvPr>
          <p:cNvSpPr/>
          <p:nvPr/>
        </p:nvSpPr>
        <p:spPr>
          <a:xfrm>
            <a:off x="1487905" y="3485909"/>
            <a:ext cx="3641558" cy="77765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FC55F9-A7BD-6099-77DE-347D1FC07292}"/>
              </a:ext>
            </a:extLst>
          </p:cNvPr>
          <p:cNvSpPr/>
          <p:nvPr/>
        </p:nvSpPr>
        <p:spPr>
          <a:xfrm>
            <a:off x="1487905" y="4351046"/>
            <a:ext cx="4539916" cy="45757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9A1BB-AEFC-8378-6EC7-588A661CC01B}"/>
              </a:ext>
            </a:extLst>
          </p:cNvPr>
          <p:cNvSpPr/>
          <p:nvPr/>
        </p:nvSpPr>
        <p:spPr>
          <a:xfrm>
            <a:off x="1487905" y="2072559"/>
            <a:ext cx="4539916" cy="407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2ED11-A924-5FF8-1849-897151E68038}"/>
              </a:ext>
            </a:extLst>
          </p:cNvPr>
          <p:cNvSpPr/>
          <p:nvPr/>
        </p:nvSpPr>
        <p:spPr>
          <a:xfrm>
            <a:off x="1487905" y="3143303"/>
            <a:ext cx="441158" cy="188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ED62A9-290E-6507-182D-6E7678370996}"/>
              </a:ext>
            </a:extLst>
          </p:cNvPr>
          <p:cNvSpPr/>
          <p:nvPr/>
        </p:nvSpPr>
        <p:spPr>
          <a:xfrm>
            <a:off x="2298031" y="2213492"/>
            <a:ext cx="441158" cy="188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1EA4D0-5804-3396-A5DD-2B24E8BBAD97}"/>
              </a:ext>
            </a:extLst>
          </p:cNvPr>
          <p:cNvSpPr/>
          <p:nvPr/>
        </p:nvSpPr>
        <p:spPr>
          <a:xfrm>
            <a:off x="1487905" y="4061490"/>
            <a:ext cx="441158" cy="188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A4A9B6-8528-1603-FC0F-631DAC4C9F2E}"/>
              </a:ext>
            </a:extLst>
          </p:cNvPr>
          <p:cNvSpPr/>
          <p:nvPr/>
        </p:nvSpPr>
        <p:spPr>
          <a:xfrm>
            <a:off x="2682263" y="4603900"/>
            <a:ext cx="895128" cy="16462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D68974-0B2C-4499-578E-81089CC516D4}"/>
              </a:ext>
            </a:extLst>
          </p:cNvPr>
          <p:cNvSpPr/>
          <p:nvPr/>
        </p:nvSpPr>
        <p:spPr>
          <a:xfrm>
            <a:off x="1487905" y="5331043"/>
            <a:ext cx="870284" cy="15535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306BA7-6520-A3CC-0B29-C4CA16DC46F7}"/>
              </a:ext>
            </a:extLst>
          </p:cNvPr>
          <p:cNvSpPr/>
          <p:nvPr/>
        </p:nvSpPr>
        <p:spPr>
          <a:xfrm>
            <a:off x="1487905" y="5498940"/>
            <a:ext cx="870284" cy="15535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290A57-5A99-533F-15E4-4D7FE8A9F45E}"/>
              </a:ext>
            </a:extLst>
          </p:cNvPr>
          <p:cNvSpPr/>
          <p:nvPr/>
        </p:nvSpPr>
        <p:spPr>
          <a:xfrm>
            <a:off x="1487905" y="6042948"/>
            <a:ext cx="870284" cy="15535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31126A-50A4-F610-5346-BD8A32DB6713}"/>
              </a:ext>
            </a:extLst>
          </p:cNvPr>
          <p:cNvSpPr/>
          <p:nvPr/>
        </p:nvSpPr>
        <p:spPr>
          <a:xfrm>
            <a:off x="2454442" y="2762878"/>
            <a:ext cx="621632" cy="20060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0D5BC8-7276-969F-0257-1E21338D06EC}"/>
              </a:ext>
            </a:extLst>
          </p:cNvPr>
          <p:cNvSpPr/>
          <p:nvPr/>
        </p:nvSpPr>
        <p:spPr>
          <a:xfrm>
            <a:off x="2955759" y="3159709"/>
            <a:ext cx="621632" cy="17230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031E0B-C82A-A967-DCF0-4484E34A0699}"/>
              </a:ext>
            </a:extLst>
          </p:cNvPr>
          <p:cNvSpPr/>
          <p:nvPr/>
        </p:nvSpPr>
        <p:spPr>
          <a:xfrm>
            <a:off x="2249905" y="3694254"/>
            <a:ext cx="657727" cy="18096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688A8D-E2B9-1555-4E4F-69D110DEA4BF}"/>
              </a:ext>
            </a:extLst>
          </p:cNvPr>
          <p:cNvSpPr/>
          <p:nvPr/>
        </p:nvSpPr>
        <p:spPr>
          <a:xfrm>
            <a:off x="2955759" y="4043650"/>
            <a:ext cx="657727" cy="18096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7F6095-A7C2-90CA-AD0B-08D1DDF6BE4E}"/>
              </a:ext>
            </a:extLst>
          </p:cNvPr>
          <p:cNvSpPr/>
          <p:nvPr/>
        </p:nvSpPr>
        <p:spPr>
          <a:xfrm>
            <a:off x="5265820" y="4615319"/>
            <a:ext cx="441158" cy="1532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B71CE4-212B-9A29-278C-D323CA2A79B5}"/>
              </a:ext>
            </a:extLst>
          </p:cNvPr>
          <p:cNvSpPr/>
          <p:nvPr/>
        </p:nvSpPr>
        <p:spPr>
          <a:xfrm>
            <a:off x="3092116" y="5325481"/>
            <a:ext cx="621632" cy="15535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1E23CD-0FDF-D148-899B-24997995CFDF}"/>
              </a:ext>
            </a:extLst>
          </p:cNvPr>
          <p:cNvSpPr/>
          <p:nvPr/>
        </p:nvSpPr>
        <p:spPr>
          <a:xfrm>
            <a:off x="3108158" y="5506172"/>
            <a:ext cx="685799" cy="16758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371CA4-6B12-6DDB-862F-657A75BFE70F}"/>
              </a:ext>
            </a:extLst>
          </p:cNvPr>
          <p:cNvSpPr txBox="1"/>
          <p:nvPr/>
        </p:nvSpPr>
        <p:spPr>
          <a:xfrm>
            <a:off x="6272463" y="2129996"/>
            <a:ext cx="396134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register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another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register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Controller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(with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Controller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Start application</a:t>
            </a:r>
          </a:p>
        </p:txBody>
      </p:sp>
    </p:spTree>
    <p:extLst>
      <p:ext uri="{BB962C8B-B14F-4D97-AF65-F5344CB8AC3E}">
        <p14:creationId xmlns:p14="http://schemas.microsoft.com/office/powerpoint/2010/main" val="33323227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72B5B-A94C-780C-F6CD-027A1125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A79CC238-2010-099D-3B40-B41A459671D0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MVC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87DB0C5-B77F-E5EF-7A94-B920E3B89510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CSEN160_09_3_WebAppTomcat.SwingMVC.MVC2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AE0805-DFE8-D3B6-A76D-DE076C4E5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803" y="941801"/>
            <a:ext cx="2627723" cy="26738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A81E22-B452-86F8-51DC-76C1F7DE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340" y="3710548"/>
            <a:ext cx="3550587" cy="27517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CBF444-61DA-924E-0542-9A4F6246A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647" y="2672310"/>
            <a:ext cx="4582800" cy="30146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61DD7B-0570-3910-6976-C8764D9EBF97}"/>
              </a:ext>
            </a:extLst>
          </p:cNvPr>
          <p:cNvSpPr txBox="1"/>
          <p:nvPr/>
        </p:nvSpPr>
        <p:spPr>
          <a:xfrm>
            <a:off x="1712820" y="3341216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 (Observable)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6F6D11-08EF-2AD4-8A83-F7C80A6A5A08}"/>
              </a:ext>
            </a:extLst>
          </p:cNvPr>
          <p:cNvSpPr txBox="1"/>
          <p:nvPr/>
        </p:nvSpPr>
        <p:spPr>
          <a:xfrm>
            <a:off x="8171236" y="2302978"/>
            <a:ext cx="1847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 (Observer)</a:t>
            </a:r>
          </a:p>
        </p:txBody>
      </p:sp>
    </p:spTree>
    <p:extLst>
      <p:ext uri="{BB962C8B-B14F-4D97-AF65-F5344CB8AC3E}">
        <p14:creationId xmlns:p14="http://schemas.microsoft.com/office/powerpoint/2010/main" val="22788649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970D-7DC2-AAC0-83FE-6A689CDEA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091CD6CB-6633-624C-9B71-44D7743B5A77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MVC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C29CE8-3972-2B72-9FCA-2F52949CD207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CSEN160_09_3_WebAppTomcat.SwingMVC.MVC3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75931-500B-6D95-6691-CAA91B595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26" y="1311763"/>
            <a:ext cx="4564489" cy="49121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AC13B4-6976-2369-A662-6BE1BF991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110" y="898781"/>
            <a:ext cx="4168281" cy="30092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6C5319-757A-9AA1-5A3D-0F2D23E1D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813" y="3604378"/>
            <a:ext cx="3347450" cy="29780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8D1923-556E-AC0A-F5AE-1E46E06B3B98}"/>
              </a:ext>
            </a:extLst>
          </p:cNvPr>
          <p:cNvSpPr txBox="1"/>
          <p:nvPr/>
        </p:nvSpPr>
        <p:spPr>
          <a:xfrm>
            <a:off x="7812831" y="109128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 (Observable)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F73E15-FBBE-2C44-B37A-E86283D52B67}"/>
              </a:ext>
            </a:extLst>
          </p:cNvPr>
          <p:cNvSpPr txBox="1"/>
          <p:nvPr/>
        </p:nvSpPr>
        <p:spPr>
          <a:xfrm>
            <a:off x="10180509" y="3253622"/>
            <a:ext cx="1847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 (Observer)</a:t>
            </a:r>
          </a:p>
        </p:txBody>
      </p:sp>
    </p:spTree>
    <p:extLst>
      <p:ext uri="{BB962C8B-B14F-4D97-AF65-F5344CB8AC3E}">
        <p14:creationId xmlns:p14="http://schemas.microsoft.com/office/powerpoint/2010/main" val="31889697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89229-7876-54D7-7167-4B45ECCA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8ACB02ED-C089-674E-0EB7-BBDE5E6B2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9314389" cy="638273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MVC Observer/Observable </a:t>
            </a:r>
            <a:r>
              <a:rPr lang="en-US" altLang="en-US" dirty="0">
                <a:solidFill>
                  <a:srgbClr val="FF0000"/>
                </a:solidFill>
              </a:rPr>
              <a:t>Deprecated?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0962BC48-8C6F-B291-449F-243C3B22A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83537"/>
            <a:ext cx="10384242" cy="5060023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Why: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sz="2000" dirty="0">
                <a:solidFill>
                  <a:schemeClr val="tx1"/>
                </a:solidFill>
              </a:rPr>
              <a:t>Too basic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r>
              <a:rPr lang="en-US" altLang="en-US" sz="2000" dirty="0">
                <a:solidFill>
                  <a:schemeClr val="tx1"/>
                </a:solidFill>
              </a:rPr>
              <a:t>Thread Safety Issues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r>
              <a:rPr lang="en-US" altLang="en-US" sz="2000" dirty="0">
                <a:solidFill>
                  <a:schemeClr val="tx1"/>
                </a:solidFill>
              </a:rPr>
              <a:t>Better Alternatives (</a:t>
            </a:r>
            <a:r>
              <a:rPr lang="en-US" altLang="en-US" sz="2000" dirty="0" err="1">
                <a:solidFill>
                  <a:schemeClr val="tx1"/>
                </a:solidFill>
              </a:rPr>
              <a:t>RxJava</a:t>
            </a:r>
            <a:r>
              <a:rPr lang="en-US" altLang="en-US" sz="2000" dirty="0">
                <a:solidFill>
                  <a:schemeClr val="tx1"/>
                </a:solidFill>
              </a:rPr>
              <a:t>, Apache struts -&gt; also obsolete)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518664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643606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3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6.xml><?xml version="1.0" encoding="utf-8"?>
<a:theme xmlns:a="http://schemas.openxmlformats.org/drawingml/2006/main" name="4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7.xml><?xml version="1.0" encoding="utf-8"?>
<a:theme xmlns:a="http://schemas.openxmlformats.org/drawingml/2006/main" name="5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8.xml><?xml version="1.0" encoding="utf-8"?>
<a:theme xmlns:a="http://schemas.openxmlformats.org/drawingml/2006/main" name="6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1644</TotalTime>
  <Words>2611</Words>
  <Application>Microsoft Office PowerPoint</Application>
  <PresentationFormat>Widescreen</PresentationFormat>
  <Paragraphs>635</Paragraphs>
  <Slides>75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93" baseType="lpstr">
      <vt:lpstr>Arial</vt:lpstr>
      <vt:lpstr>Arial Narrow</vt:lpstr>
      <vt:lpstr>Bookman Old Style</vt:lpstr>
      <vt:lpstr>Calibri</vt:lpstr>
      <vt:lpstr>Garamond</vt:lpstr>
      <vt:lpstr>Symbol</vt:lpstr>
      <vt:lpstr>Times New Roman</vt:lpstr>
      <vt:lpstr>Verdana</vt:lpstr>
      <vt:lpstr>Wingdings</vt:lpstr>
      <vt:lpstr>SCUTemplate</vt:lpstr>
      <vt:lpstr>Custom Design</vt:lpstr>
      <vt:lpstr>1_SCUTemplate</vt:lpstr>
      <vt:lpstr>2_SCUTemplate</vt:lpstr>
      <vt:lpstr>3_SCUTemplate</vt:lpstr>
      <vt:lpstr>4_SCUTemplate</vt:lpstr>
      <vt:lpstr>5_SCUTemplate</vt:lpstr>
      <vt:lpstr>6_SCUTemplate</vt:lpstr>
      <vt:lpstr>Bitmap Image</vt:lpstr>
      <vt:lpstr>CSEN160</vt:lpstr>
      <vt:lpstr>Model View Controller (MVC) 3-Tier Web Application</vt:lpstr>
      <vt:lpstr>3-Tier Java Web Application</vt:lpstr>
      <vt:lpstr>3-Tier Application</vt:lpstr>
      <vt:lpstr>3-Tier Application</vt:lpstr>
      <vt:lpstr>3-Tier Application</vt:lpstr>
      <vt:lpstr>Apache Tomcat as Application Server (Middle Tier)</vt:lpstr>
      <vt:lpstr>Apache Tomcat as Application Server (Middle Tier)</vt:lpstr>
      <vt:lpstr>PostgreSQL as the Database (Data Layer)</vt:lpstr>
      <vt:lpstr>Presentation Layer</vt:lpstr>
      <vt:lpstr>How Layers Interact in 3-Tier Architecture</vt:lpstr>
      <vt:lpstr>Apache Tomcat</vt:lpstr>
      <vt:lpstr>PowerPoint Presentation</vt:lpstr>
      <vt:lpstr>PowerPoint Presentation</vt:lpstr>
      <vt:lpstr>PowerPoint Presentation</vt:lpstr>
      <vt:lpstr>Creating Web Applications IntelliJ</vt:lpstr>
      <vt:lpstr>Tomcat and IntelliJ</vt:lpstr>
      <vt:lpstr>Creating Web Applications</vt:lpstr>
      <vt:lpstr>Creating Web Applications</vt:lpstr>
      <vt:lpstr>Creating Web Applications</vt:lpstr>
      <vt:lpstr>Creating Web Applications</vt:lpstr>
      <vt:lpstr>Servlet</vt:lpstr>
      <vt:lpstr>A Servlet Example</vt:lpstr>
      <vt:lpstr>A Servlet Example</vt:lpstr>
      <vt:lpstr>JSP (Java Server Pages)</vt:lpstr>
      <vt:lpstr>A JSP Example</vt:lpstr>
      <vt:lpstr>A JSP Example</vt:lpstr>
      <vt:lpstr>Another JSP Example</vt:lpstr>
      <vt:lpstr>Plain JSP and Tomcat</vt:lpstr>
      <vt:lpstr>Database Connection</vt:lpstr>
      <vt:lpstr>Tomcat, IntelliJ and PostgreSQL</vt:lpstr>
      <vt:lpstr>Tomcat, Eclipse and PostgreSQL</vt:lpstr>
      <vt:lpstr>Tomcat, Eclipse and PostgreSQL</vt:lpstr>
      <vt:lpstr>PowerPoint Presentation</vt:lpstr>
      <vt:lpstr>SQL Injection attacks</vt:lpstr>
      <vt:lpstr>Injection attacks</vt:lpstr>
      <vt:lpstr>Java Tomcat Example</vt:lpstr>
      <vt:lpstr>SQL Poisoning attacks</vt:lpstr>
      <vt:lpstr>SQL Poisoning attacks</vt:lpstr>
      <vt:lpstr>Poisoning attacks</vt:lpstr>
      <vt:lpstr>Deployment Process</vt:lpstr>
      <vt:lpstr>War Deployment Process</vt:lpstr>
      <vt:lpstr>War Deployment Process</vt:lpstr>
      <vt:lpstr>JMeter Stress Testing</vt:lpstr>
      <vt:lpstr>JMeter</vt:lpstr>
      <vt:lpstr>Performance Testing</vt:lpstr>
      <vt:lpstr>Why Performance Testing</vt:lpstr>
      <vt:lpstr>Performance Testing</vt:lpstr>
      <vt:lpstr>When is it required?</vt:lpstr>
      <vt:lpstr>What should be tested?</vt:lpstr>
      <vt:lpstr>Load Test configuration for a web system</vt:lpstr>
      <vt:lpstr>Throughput</vt:lpstr>
      <vt:lpstr>Response Time</vt:lpstr>
      <vt:lpstr>Tuning</vt:lpstr>
      <vt:lpstr>Benchmarking</vt:lpstr>
      <vt:lpstr>Difference between  Performance, Load and Stress Testing</vt:lpstr>
      <vt:lpstr>Difference between  Performance, Load and Stress Testing</vt:lpstr>
      <vt:lpstr>Model View Controller (MVC) 3-Tier Swing Application</vt:lpstr>
      <vt:lpstr>Model View Controller (MVC)</vt:lpstr>
      <vt:lpstr>MVC</vt:lpstr>
      <vt:lpstr>MVC</vt:lpstr>
      <vt:lpstr>MVC</vt:lpstr>
      <vt:lpstr>The basic components in MVC</vt:lpstr>
      <vt:lpstr>Implementing MVC in Swing</vt:lpstr>
      <vt:lpstr>MVC with Observer</vt:lpstr>
      <vt:lpstr>MVC with Observer</vt:lpstr>
      <vt:lpstr>Observer pattern</vt:lpstr>
      <vt:lpstr>Observer pattern in Java</vt:lpstr>
      <vt:lpstr>Observer pattern in Java</vt:lpstr>
      <vt:lpstr>PowerPoint Presentation</vt:lpstr>
      <vt:lpstr>PowerPoint Presentation</vt:lpstr>
      <vt:lpstr>PowerPoint Presentation</vt:lpstr>
      <vt:lpstr>MVC Observer/Observable Deprecated?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246</cp:revision>
  <cp:lastPrinted>2023-09-11T21:46:56Z</cp:lastPrinted>
  <dcterms:created xsi:type="dcterms:W3CDTF">2023-09-09T19:51:41Z</dcterms:created>
  <dcterms:modified xsi:type="dcterms:W3CDTF">2026-09-22T20:29:10Z</dcterms:modified>
</cp:coreProperties>
</file>