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75"/>
  </p:notesMasterIdLst>
  <p:handoutMasterIdLst>
    <p:handoutMasterId r:id="rId76"/>
  </p:handoutMasterIdLst>
  <p:sldIdLst>
    <p:sldId id="333" r:id="rId4"/>
    <p:sldId id="438" r:id="rId5"/>
    <p:sldId id="439" r:id="rId6"/>
    <p:sldId id="440" r:id="rId7"/>
    <p:sldId id="403" r:id="rId8"/>
    <p:sldId id="441" r:id="rId9"/>
    <p:sldId id="414" r:id="rId10"/>
    <p:sldId id="442" r:id="rId11"/>
    <p:sldId id="413" r:id="rId12"/>
    <p:sldId id="428" r:id="rId13"/>
    <p:sldId id="443" r:id="rId14"/>
    <p:sldId id="444" r:id="rId15"/>
    <p:sldId id="415" r:id="rId16"/>
    <p:sldId id="448" r:id="rId17"/>
    <p:sldId id="449" r:id="rId18"/>
    <p:sldId id="450" r:id="rId19"/>
    <p:sldId id="451" r:id="rId20"/>
    <p:sldId id="416" r:id="rId21"/>
    <p:sldId id="452" r:id="rId22"/>
    <p:sldId id="410" r:id="rId23"/>
    <p:sldId id="412" r:id="rId24"/>
    <p:sldId id="386" r:id="rId25"/>
    <p:sldId id="453" r:id="rId26"/>
    <p:sldId id="454" r:id="rId27"/>
    <p:sldId id="455" r:id="rId28"/>
    <p:sldId id="456" r:id="rId29"/>
    <p:sldId id="457" r:id="rId30"/>
    <p:sldId id="424" r:id="rId31"/>
    <p:sldId id="458" r:id="rId32"/>
    <p:sldId id="459" r:id="rId33"/>
    <p:sldId id="460" r:id="rId34"/>
    <p:sldId id="461" r:id="rId35"/>
    <p:sldId id="391" r:id="rId36"/>
    <p:sldId id="392" r:id="rId37"/>
    <p:sldId id="463" r:id="rId38"/>
    <p:sldId id="393" r:id="rId39"/>
    <p:sldId id="394" r:id="rId40"/>
    <p:sldId id="396" r:id="rId41"/>
    <p:sldId id="398" r:id="rId42"/>
    <p:sldId id="397" r:id="rId43"/>
    <p:sldId id="399" r:id="rId44"/>
    <p:sldId id="343" r:id="rId45"/>
    <p:sldId id="344" r:id="rId46"/>
    <p:sldId id="345" r:id="rId47"/>
    <p:sldId id="347" r:id="rId48"/>
    <p:sldId id="349" r:id="rId49"/>
    <p:sldId id="346" r:id="rId50"/>
    <p:sldId id="352" r:id="rId51"/>
    <p:sldId id="348" r:id="rId52"/>
    <p:sldId id="353" r:id="rId53"/>
    <p:sldId id="367" r:id="rId54"/>
    <p:sldId id="357" r:id="rId55"/>
    <p:sldId id="359" r:id="rId56"/>
    <p:sldId id="355" r:id="rId57"/>
    <p:sldId id="360" r:id="rId58"/>
    <p:sldId id="362" r:id="rId59"/>
    <p:sldId id="361" r:id="rId60"/>
    <p:sldId id="366" r:id="rId61"/>
    <p:sldId id="462" r:id="rId62"/>
    <p:sldId id="351" r:id="rId63"/>
    <p:sldId id="368" r:id="rId64"/>
    <p:sldId id="369" r:id="rId65"/>
    <p:sldId id="371" r:id="rId66"/>
    <p:sldId id="372" r:id="rId67"/>
    <p:sldId id="375" r:id="rId68"/>
    <p:sldId id="373" r:id="rId69"/>
    <p:sldId id="376" r:id="rId70"/>
    <p:sldId id="379" r:id="rId71"/>
    <p:sldId id="380" r:id="rId72"/>
    <p:sldId id="381" r:id="rId73"/>
    <p:sldId id="336" r:id="rId7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59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1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8/21/2026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4D533-7F64-4678-892D-1BE11DF205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166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43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60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60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6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PhD, mschimpf@scu.edu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Thread Memory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2496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Thread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Each thread has its </a:t>
            </a:r>
            <a:r>
              <a:rPr lang="en-US" b="1" dirty="0">
                <a:solidFill>
                  <a:srgbClr val="FF0000"/>
                </a:solidFill>
              </a:rPr>
              <a:t>own</a:t>
            </a:r>
            <a:r>
              <a:rPr lang="en-US" dirty="0">
                <a:solidFill>
                  <a:schemeClr val="tx1"/>
                </a:solidFill>
              </a:rPr>
              <a:t> stack (1 to 2 MB)</a:t>
            </a:r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For local/auto variables in functions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rgbClr val="00B050"/>
                </a:solidFill>
              </a:rPr>
              <a:t>Heap</a:t>
            </a:r>
            <a:r>
              <a:rPr lang="en-US" dirty="0">
                <a:solidFill>
                  <a:schemeClr val="tx1"/>
                </a:solidFill>
              </a:rPr>
              <a:t> between Threads are </a:t>
            </a:r>
            <a:r>
              <a:rPr lang="en-US" b="1" dirty="0">
                <a:solidFill>
                  <a:srgbClr val="00B050"/>
                </a:solidFill>
              </a:rPr>
              <a:t>shared</a:t>
            </a:r>
            <a:r>
              <a:rPr lang="en-US" dirty="0">
                <a:solidFill>
                  <a:schemeClr val="tx1"/>
                </a:solidFill>
              </a:rPr>
              <a:t> for all objects </a:t>
            </a:r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Class/object attributes </a:t>
            </a:r>
          </a:p>
          <a:p>
            <a:pPr marL="914400" lvl="2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Everything created by “</a:t>
            </a:r>
            <a:r>
              <a:rPr lang="en-US" b="1" dirty="0">
                <a:solidFill>
                  <a:srgbClr val="00B050"/>
                </a:solidFill>
              </a:rPr>
              <a:t>new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108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Thread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936516" y="1416103"/>
            <a:ext cx="9413197" cy="50898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2993" y="1889489"/>
            <a:ext cx="2973823" cy="31761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8762" y="1889488"/>
            <a:ext cx="2742525" cy="31761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 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5739" y="2868625"/>
            <a:ext cx="2168329" cy="21079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Stack for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Local variables: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Byte, short, char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long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float, double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references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13233" y="1920508"/>
            <a:ext cx="2973823" cy="31761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01502" y="2868624"/>
            <a:ext cx="2168329" cy="21079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Stack for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Local variables: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Byte, short, char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long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float, double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references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7919" y="2868624"/>
            <a:ext cx="2168329" cy="21079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Stack for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Local variables: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Byte, short, char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long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float, double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references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2993" y="5251052"/>
            <a:ext cx="8974063" cy="10573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Heap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1500" y="5752759"/>
            <a:ext cx="921477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11484" y="5752759"/>
            <a:ext cx="907825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7816" y="5752758"/>
            <a:ext cx="880005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52390" y="5752757"/>
            <a:ext cx="880005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6964" y="5752757"/>
            <a:ext cx="880005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41538" y="5752756"/>
            <a:ext cx="880005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9143" y="5752755"/>
            <a:ext cx="880005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5255" y="5752755"/>
            <a:ext cx="880005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50956" y="5752755"/>
            <a:ext cx="880005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cxnSp>
        <p:nvCxnSpPr>
          <p:cNvPr id="24" name="Straight Arrow Connector 23"/>
          <p:cNvCxnSpPr>
            <a:endCxn id="22" idx="0"/>
          </p:cNvCxnSpPr>
          <p:nvPr/>
        </p:nvCxnSpPr>
        <p:spPr>
          <a:xfrm>
            <a:off x="8512821" y="4806669"/>
            <a:ext cx="878138" cy="946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116229" y="4722382"/>
            <a:ext cx="1369744" cy="1030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16" idx="0"/>
          </p:cNvCxnSpPr>
          <p:nvPr/>
        </p:nvCxnSpPr>
        <p:spPr>
          <a:xfrm>
            <a:off x="3007879" y="4722381"/>
            <a:ext cx="639940" cy="1030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3642748" y="4722381"/>
            <a:ext cx="2472476" cy="1030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8457681" y="4806669"/>
            <a:ext cx="55140" cy="927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2637663" y="4722381"/>
            <a:ext cx="357569" cy="1012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21" idx="0"/>
          </p:cNvCxnSpPr>
          <p:nvPr/>
        </p:nvCxnSpPr>
        <p:spPr>
          <a:xfrm>
            <a:off x="6124374" y="4722378"/>
            <a:ext cx="2310884" cy="1030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572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105" y="2052459"/>
            <a:ext cx="8231673" cy="45587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Thread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8"/>
            <a:ext cx="1307760" cy="43947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Example: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1805" y="3684696"/>
            <a:ext cx="2501006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 itself goes to heap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94" y="3853973"/>
            <a:ext cx="277511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Reference goes to the Stack</a:t>
            </a:r>
          </a:p>
        </p:txBody>
      </p:sp>
      <p:cxnSp>
        <p:nvCxnSpPr>
          <p:cNvPr id="10" name="Straight Arrow Connector 9"/>
          <p:cNvCxnSpPr>
            <a:stCxn id="8" idx="3"/>
          </p:cNvCxnSpPr>
          <p:nvPr/>
        </p:nvCxnSpPr>
        <p:spPr>
          <a:xfrm flipV="1">
            <a:off x="2826513" y="3902578"/>
            <a:ext cx="952468" cy="120672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64209" y="3022150"/>
            <a:ext cx="3092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Local variable goes to the Stack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5142488" y="3853973"/>
            <a:ext cx="2929317" cy="374918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1"/>
          </p:cNvCxnSpPr>
          <p:nvPr/>
        </p:nvCxnSpPr>
        <p:spPr>
          <a:xfrm flipH="1">
            <a:off x="3819441" y="3191427"/>
            <a:ext cx="3344768" cy="915281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9235" y="2305182"/>
            <a:ext cx="17940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Goes to the Heap</a:t>
            </a:r>
          </a:p>
        </p:txBody>
      </p:sp>
      <p:cxnSp>
        <p:nvCxnSpPr>
          <p:cNvPr id="28" name="Straight Arrow Connector 27"/>
          <p:cNvCxnSpPr>
            <a:stCxn id="26" idx="3"/>
          </p:cNvCxnSpPr>
          <p:nvPr/>
        </p:nvCxnSpPr>
        <p:spPr>
          <a:xfrm flipV="1">
            <a:off x="2073316" y="2445340"/>
            <a:ext cx="601102" cy="2911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59384" y="1783935"/>
            <a:ext cx="7745473" cy="562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674418" y="2178063"/>
            <a:ext cx="8132718" cy="51427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251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047285"/>
            <a:ext cx="10515600" cy="1816662"/>
          </a:xfrm>
        </p:spPr>
        <p:txBody>
          <a:bodyPr/>
          <a:lstStyle/>
          <a:p>
            <a:r>
              <a:rPr lang="en-US" altLang="en-US" dirty="0"/>
              <a:t>Volatile</a:t>
            </a:r>
          </a:p>
        </p:txBody>
      </p:sp>
    </p:spTree>
    <p:extLst>
      <p:ext uri="{BB962C8B-B14F-4D97-AF65-F5344CB8AC3E}">
        <p14:creationId xmlns:p14="http://schemas.microsoft.com/office/powerpoint/2010/main" val="4249664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Two problems: 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/>
                </a:solidFill>
              </a:rPr>
              <a:t>Instruction reordering</a:t>
            </a:r>
          </a:p>
          <a:p>
            <a:pPr marL="457200" indent="-457200">
              <a:buFont typeface="+mj-lt"/>
              <a:buAutoNum type="arabicPeriod"/>
              <a:defRPr/>
            </a:pPr>
            <a:endParaRPr lang="en-US" dirty="0"/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</a:rPr>
              <a:t>L1, L2, L3 cache: </a:t>
            </a:r>
            <a:r>
              <a:rPr lang="en-US" dirty="0">
                <a:solidFill>
                  <a:srgbClr val="FF0000"/>
                </a:solidFill>
              </a:rPr>
              <a:t>Data not written to RAM immediately!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</p:txBody>
      </p:sp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2106089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Volatile</a:t>
            </a:r>
          </a:p>
        </p:txBody>
      </p:sp>
    </p:spTree>
    <p:extLst>
      <p:ext uri="{BB962C8B-B14F-4D97-AF65-F5344CB8AC3E}">
        <p14:creationId xmlns:p14="http://schemas.microsoft.com/office/powerpoint/2010/main" val="1348398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b="1" dirty="0"/>
              <a:t>1. </a:t>
            </a:r>
            <a:r>
              <a:rPr lang="en-US" b="1" dirty="0">
                <a:solidFill>
                  <a:schemeClr val="tx1"/>
                </a:solidFill>
              </a:rPr>
              <a:t>Instruction Reordering Problem: </a:t>
            </a: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Java “Happens Before Guarantee” </a:t>
            </a:r>
            <a:r>
              <a:rPr lang="en-US" sz="1400" dirty="0">
                <a:solidFill>
                  <a:schemeClr val="tx1"/>
                </a:solidFill>
              </a:rPr>
              <a:t>a set of rules that prevent instruction reordering from breaking visibility guarantees</a:t>
            </a: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Issue: 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Java JVM is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allowed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to reorder code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But it does not consider </a:t>
            </a:r>
            <a:r>
              <a:rPr lang="en-US" b="1" dirty="0">
                <a:solidFill>
                  <a:srgbClr val="FF0000"/>
                </a:solidFill>
              </a:rPr>
              <a:t>concurrencies in different threads</a:t>
            </a:r>
            <a:r>
              <a:rPr lang="en-US" dirty="0">
                <a:solidFill>
                  <a:schemeClr val="tx1"/>
                </a:solidFill>
              </a:rPr>
              <a:t>!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JVM checks only one thread or sequence at a time.</a:t>
            </a:r>
          </a:p>
        </p:txBody>
      </p:sp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2106089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Volatile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6980" y="2783660"/>
            <a:ext cx="1387785" cy="129944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b + 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m + n</a:t>
            </a:r>
          </a:p>
        </p:txBody>
      </p:sp>
      <p:sp>
        <p:nvSpPr>
          <p:cNvPr id="5" name="Rectangle 4"/>
          <p:cNvSpPr/>
          <p:nvPr/>
        </p:nvSpPr>
        <p:spPr>
          <a:xfrm>
            <a:off x="967228" y="2776916"/>
            <a:ext cx="2055377" cy="13061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1.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b + c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2.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 =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+ e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3.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m + n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4.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 =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+ q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24766" y="2783660"/>
            <a:ext cx="1494330" cy="12994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 =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+ 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 =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+ q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12119" y="2390999"/>
            <a:ext cx="1001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 T1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1313" y="2367801"/>
            <a:ext cx="1001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 T2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5306" y="2405564"/>
            <a:ext cx="659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81025" y="2760331"/>
            <a:ext cx="1387785" cy="129944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b + 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 =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+ 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963459" y="2760332"/>
            <a:ext cx="1494330" cy="12994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m + 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 =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+ q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67746" y="2367671"/>
            <a:ext cx="1001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 T1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6940" y="2344473"/>
            <a:ext cx="1001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 T2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847" y="2529498"/>
            <a:ext cx="149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 needs to wait!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(Until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is calc)</a:t>
            </a:r>
          </a:p>
        </p:txBody>
      </p:sp>
      <p:cxnSp>
        <p:nvCxnSpPr>
          <p:cNvPr id="19" name="Straight Arrow Connector 18"/>
          <p:cNvCxnSpPr>
            <a:cxnSpLocks/>
            <a:stCxn id="11" idx="1"/>
          </p:cNvCxnSpPr>
          <p:nvPr/>
        </p:nvCxnSpPr>
        <p:spPr>
          <a:xfrm flipH="1">
            <a:off x="6142525" y="2760331"/>
            <a:ext cx="843322" cy="3838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031434" y="3229777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 need to wait!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(Until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is calc)</a:t>
            </a:r>
          </a:p>
        </p:txBody>
      </p:sp>
      <p:cxnSp>
        <p:nvCxnSpPr>
          <p:cNvPr id="22" name="Straight Arrow Connector 21"/>
          <p:cNvCxnSpPr>
            <a:cxnSpLocks/>
            <a:stCxn id="21" idx="1"/>
          </p:cNvCxnSpPr>
          <p:nvPr/>
        </p:nvCxnSpPr>
        <p:spPr>
          <a:xfrm flipH="1">
            <a:off x="6225484" y="3460610"/>
            <a:ext cx="805950" cy="16312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9FE752-6C99-6CAD-DC44-4BEE6476E132}"/>
              </a:ext>
            </a:extLst>
          </p:cNvPr>
          <p:cNvCxnSpPr>
            <a:cxnSpLocks/>
          </p:cNvCxnSpPr>
          <p:nvPr/>
        </p:nvCxnSpPr>
        <p:spPr>
          <a:xfrm>
            <a:off x="2751667" y="2951747"/>
            <a:ext cx="13885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7A5A071-23C5-C824-D4EB-06E99B549DA2}"/>
              </a:ext>
            </a:extLst>
          </p:cNvPr>
          <p:cNvCxnSpPr>
            <a:cxnSpLocks/>
          </p:cNvCxnSpPr>
          <p:nvPr/>
        </p:nvCxnSpPr>
        <p:spPr>
          <a:xfrm>
            <a:off x="2751667" y="3248952"/>
            <a:ext cx="2919646" cy="7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6FB339-37E1-CBD5-3475-99399F908667}"/>
              </a:ext>
            </a:extLst>
          </p:cNvPr>
          <p:cNvCxnSpPr>
            <a:cxnSpLocks/>
          </p:cNvCxnSpPr>
          <p:nvPr/>
        </p:nvCxnSpPr>
        <p:spPr>
          <a:xfrm>
            <a:off x="2751667" y="3544977"/>
            <a:ext cx="13885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D54F8AD-579A-7446-131E-0996DFC7AE84}"/>
              </a:ext>
            </a:extLst>
          </p:cNvPr>
          <p:cNvCxnSpPr>
            <a:cxnSpLocks/>
          </p:cNvCxnSpPr>
          <p:nvPr/>
        </p:nvCxnSpPr>
        <p:spPr>
          <a:xfrm>
            <a:off x="2751667" y="3852754"/>
            <a:ext cx="2919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12BA797-A861-C2FA-189E-E4A5738DD1A3}"/>
              </a:ext>
            </a:extLst>
          </p:cNvPr>
          <p:cNvSpPr txBox="1"/>
          <p:nvPr/>
        </p:nvSpPr>
        <p:spPr>
          <a:xfrm>
            <a:off x="9204014" y="3544977"/>
            <a:ext cx="1503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Wait at all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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56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/>
              <a:t>2. </a:t>
            </a:r>
            <a:r>
              <a:rPr lang="en-US" b="1" dirty="0">
                <a:solidFill>
                  <a:schemeClr val="tx1"/>
                </a:solidFill>
              </a:rPr>
              <a:t>Cache Levels: L1, L2, L3, etc.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A write to RAM is </a:t>
            </a:r>
            <a:r>
              <a:rPr lang="en-US" b="1" dirty="0">
                <a:solidFill>
                  <a:srgbClr val="00B050"/>
                </a:solidFill>
              </a:rPr>
              <a:t>buffered </a:t>
            </a:r>
            <a:r>
              <a:rPr lang="en-US" dirty="0">
                <a:solidFill>
                  <a:schemeClr val="tx1"/>
                </a:solidFill>
              </a:rPr>
              <a:t>by the cache hierarchy!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 variable could </a:t>
            </a:r>
            <a:r>
              <a:rPr lang="en-US" b="1" dirty="0">
                <a:solidFill>
                  <a:srgbClr val="FF0000"/>
                </a:solidFill>
              </a:rPr>
              <a:t>stuck</a:t>
            </a:r>
            <a:r>
              <a:rPr lang="en-US" dirty="0">
                <a:solidFill>
                  <a:schemeClr val="tx1"/>
                </a:solidFill>
              </a:rPr>
              <a:t> in the cache hierarchy!</a:t>
            </a:r>
          </a:p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Possible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</a:rPr>
              <a:t>Thread1 access date from Thread2</a:t>
            </a:r>
            <a:endParaRPr lang="en-US" sz="18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</a:rPr>
              <a:t>Thread1 </a:t>
            </a:r>
            <a:r>
              <a:rPr lang="en-US" b="1" dirty="0">
                <a:solidFill>
                  <a:srgbClr val="00B050"/>
                </a:solidFill>
              </a:rPr>
              <a:t>changes some var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</a:rPr>
              <a:t>But it is </a:t>
            </a:r>
            <a:r>
              <a:rPr lang="en-US" b="1" dirty="0">
                <a:solidFill>
                  <a:srgbClr val="FF0000"/>
                </a:solidFill>
              </a:rPr>
              <a:t>not immediately reflected </a:t>
            </a:r>
            <a:r>
              <a:rPr lang="en-US" dirty="0">
                <a:solidFill>
                  <a:schemeClr val="tx1"/>
                </a:solidFill>
              </a:rPr>
              <a:t>to Thread2</a:t>
            </a:r>
            <a:endParaRPr lang="en-US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US" b="1" dirty="0"/>
          </a:p>
        </p:txBody>
      </p:sp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2106089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Volatile</a:t>
            </a:r>
          </a:p>
        </p:txBody>
      </p:sp>
    </p:spTree>
    <p:extLst>
      <p:ext uri="{BB962C8B-B14F-4D97-AF65-F5344CB8AC3E}">
        <p14:creationId xmlns:p14="http://schemas.microsoft.com/office/powerpoint/2010/main" val="79807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Cache Hierarchy: </a:t>
            </a:r>
          </a:p>
          <a:p>
            <a:pPr marL="0" indent="0">
              <a:buNone/>
              <a:defRPr/>
            </a:pPr>
            <a:endParaRPr lang="en-US" b="1" dirty="0"/>
          </a:p>
          <a:p>
            <a:pPr marL="0" indent="0">
              <a:buNone/>
              <a:defRPr/>
            </a:pPr>
            <a:endParaRPr lang="en-US" b="1" dirty="0"/>
          </a:p>
          <a:p>
            <a:pPr marL="0" indent="0">
              <a:buNone/>
              <a:defRPr/>
            </a:pPr>
            <a:endParaRPr lang="en-US" b="1" dirty="0"/>
          </a:p>
          <a:p>
            <a:pPr marL="0" indent="0">
              <a:buNone/>
              <a:defRPr/>
            </a:pPr>
            <a:endParaRPr lang="en-US" b="1" dirty="0"/>
          </a:p>
          <a:p>
            <a:pPr marL="0" indent="0">
              <a:buNone/>
              <a:defRPr/>
            </a:pPr>
            <a:endParaRPr lang="en-US" b="1" dirty="0"/>
          </a:p>
          <a:p>
            <a:pPr marL="0" indent="0">
              <a:buNone/>
              <a:defRPr/>
            </a:pPr>
            <a:endParaRPr lang="en-US" b="1" dirty="0"/>
          </a:p>
          <a:p>
            <a:pPr marL="0" indent="0">
              <a:buNone/>
              <a:defRPr/>
            </a:pPr>
            <a:endParaRPr lang="en-US" b="1" dirty="0"/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Java Synchronized Visibility Guarantees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Use: volatile or synchronized</a:t>
            </a:r>
          </a:p>
        </p:txBody>
      </p:sp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2106089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Volatile</a:t>
            </a:r>
          </a:p>
        </p:txBody>
      </p:sp>
      <p:sp>
        <p:nvSpPr>
          <p:cNvPr id="2" name="Rectangle 1"/>
          <p:cNvSpPr/>
          <p:nvPr/>
        </p:nvSpPr>
        <p:spPr>
          <a:xfrm>
            <a:off x="1356788" y="2641853"/>
            <a:ext cx="913662" cy="66546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94748" y="2632037"/>
            <a:ext cx="1048088" cy="1394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count++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4290" y="2643210"/>
            <a:ext cx="2498565" cy="25842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256" y="2271275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 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9305" y="2254609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Main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374" y="22546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94040" y="2640607"/>
            <a:ext cx="1031535" cy="108625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755" y="2274557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L2 cache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49165" y="2642729"/>
            <a:ext cx="1031535" cy="19390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5730" y="2268000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L3 cache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32013" y="2629922"/>
            <a:ext cx="1031535" cy="19390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16248" y="2623941"/>
            <a:ext cx="1031535" cy="108625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61914" y="2623941"/>
            <a:ext cx="913662" cy="66546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27993" y="2610056"/>
            <a:ext cx="1185684" cy="1394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count++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68085" y="224072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73459" y="225460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 cache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2988" y="225460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L2 cache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3617" y="224072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L3 cache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152516" y="2836258"/>
            <a:ext cx="328326" cy="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176007" y="2828166"/>
            <a:ext cx="2783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3286414" y="2836258"/>
            <a:ext cx="431876" cy="6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4425968" y="2828166"/>
            <a:ext cx="12060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6303467" y="2828166"/>
            <a:ext cx="1173574" cy="14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182994" y="2822771"/>
            <a:ext cx="548312" cy="5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9383592" y="2822771"/>
            <a:ext cx="4239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10460188" y="2822771"/>
            <a:ext cx="358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Arrow Connector 30729"/>
          <p:cNvCxnSpPr/>
          <p:nvPr/>
        </p:nvCxnSpPr>
        <p:spPr>
          <a:xfrm flipH="1" flipV="1">
            <a:off x="10430634" y="2957639"/>
            <a:ext cx="352100" cy="141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9218729" y="2956674"/>
            <a:ext cx="7354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 flipV="1">
            <a:off x="8109959" y="2973443"/>
            <a:ext cx="7354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 flipV="1">
            <a:off x="5993014" y="3027957"/>
            <a:ext cx="1590400" cy="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 flipV="1">
            <a:off x="4231656" y="3024667"/>
            <a:ext cx="1590400" cy="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3177295" y="3022181"/>
            <a:ext cx="828736" cy="4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>
            <a:off x="2007314" y="3012092"/>
            <a:ext cx="828736" cy="4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972903" y="3021328"/>
            <a:ext cx="828736" cy="4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36" name="TextBox 30735"/>
          <p:cNvSpPr txBox="1"/>
          <p:nvPr/>
        </p:nvSpPr>
        <p:spPr>
          <a:xfrm>
            <a:off x="5308375" y="1492981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Cache not flushed!</a:t>
            </a:r>
          </a:p>
        </p:txBody>
      </p:sp>
      <p:cxnSp>
        <p:nvCxnSpPr>
          <p:cNvPr id="30738" name="Straight Arrow Connector 30737"/>
          <p:cNvCxnSpPr>
            <a:stCxn id="30736" idx="1"/>
          </p:cNvCxnSpPr>
          <p:nvPr/>
        </p:nvCxnSpPr>
        <p:spPr>
          <a:xfrm flipH="1">
            <a:off x="3549165" y="1677647"/>
            <a:ext cx="1759210" cy="6488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25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5593757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Volatile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Volatile: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“volatile” </a:t>
            </a:r>
            <a:r>
              <a:rPr lang="en-US" b="1" dirty="0">
                <a:solidFill>
                  <a:srgbClr val="FF0000"/>
                </a:solidFill>
              </a:rPr>
              <a:t>deactivates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the caching for a variable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“volatile” read it direct </a:t>
            </a:r>
            <a:r>
              <a:rPr lang="en-US" b="1" dirty="0">
                <a:solidFill>
                  <a:srgbClr val="00B050"/>
                </a:solidFill>
              </a:rPr>
              <a:t>from main memory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“volatile” prevents </a:t>
            </a:r>
            <a:r>
              <a:rPr lang="en-US" b="1" dirty="0">
                <a:solidFill>
                  <a:srgbClr val="00B0F0"/>
                </a:solidFill>
              </a:rPr>
              <a:t>reordering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of your code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“volatile” </a:t>
            </a:r>
            <a:r>
              <a:rPr lang="en-US" b="1" dirty="0">
                <a:solidFill>
                  <a:srgbClr val="FF0000"/>
                </a:solidFill>
              </a:rPr>
              <a:t>cannot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be used with classes/methods</a:t>
            </a:r>
          </a:p>
        </p:txBody>
      </p:sp>
    </p:spTree>
    <p:extLst>
      <p:ext uri="{BB962C8B-B14F-4D97-AF65-F5344CB8AC3E}">
        <p14:creationId xmlns:p14="http://schemas.microsoft.com/office/powerpoint/2010/main" val="696022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5593757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Volatile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Volatile: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Reading a “volatile” variable returns: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	the </a:t>
            </a:r>
            <a:r>
              <a:rPr lang="en-US" b="1" dirty="0">
                <a:solidFill>
                  <a:srgbClr val="00B050"/>
                </a:solidFill>
              </a:rPr>
              <a:t>most recent write </a:t>
            </a:r>
            <a:r>
              <a:rPr lang="en-US" dirty="0">
                <a:solidFill>
                  <a:schemeClr val="tx1"/>
                </a:solidFill>
              </a:rPr>
              <a:t>by any other thread.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Synchronize guarantee:</a:t>
            </a:r>
          </a:p>
          <a:p>
            <a:pPr lvl="1">
              <a:defRPr/>
            </a:pPr>
            <a:r>
              <a:rPr lang="en-US" b="1" dirty="0">
                <a:solidFill>
                  <a:srgbClr val="FF0000"/>
                </a:solidFill>
              </a:rPr>
              <a:t>Visibility</a:t>
            </a: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Atomicity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Volatile variables guarantees only </a:t>
            </a:r>
            <a:r>
              <a:rPr lang="en-US" b="1" dirty="0">
                <a:solidFill>
                  <a:srgbClr val="FF0000"/>
                </a:solidFill>
              </a:rPr>
              <a:t>visibility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904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5593757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Volatile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Simple example for cache: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43" y="2350529"/>
            <a:ext cx="5225280" cy="29337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00" y="5584785"/>
            <a:ext cx="2095555" cy="7674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702" y="2350529"/>
            <a:ext cx="5225280" cy="30371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734" y="5546219"/>
            <a:ext cx="2100998" cy="93075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74184" y="2516623"/>
            <a:ext cx="647363" cy="190163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03734" y="6172875"/>
            <a:ext cx="1351254" cy="179373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11309" y="5826929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Never stops!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693" y="5361553"/>
            <a:ext cx="1672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 should write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 to memory</a:t>
            </a:r>
          </a:p>
        </p:txBody>
      </p:sp>
      <p:cxnSp>
        <p:nvCxnSpPr>
          <p:cNvPr id="13" name="Straight Arrow Connector 12"/>
          <p:cNvCxnSpPr>
            <a:stCxn id="11" idx="0"/>
          </p:cNvCxnSpPr>
          <p:nvPr/>
        </p:nvCxnSpPr>
        <p:spPr>
          <a:xfrm flipV="1">
            <a:off x="971820" y="4741933"/>
            <a:ext cx="638495" cy="619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04387" y="1621780"/>
            <a:ext cx="23278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 it got reordered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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Pipelining, etc.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6" name="Straight Arrow Connector 15"/>
          <p:cNvCxnSpPr>
            <a:stCxn id="15" idx="1"/>
          </p:cNvCxnSpPr>
          <p:nvPr/>
        </p:nvCxnSpPr>
        <p:spPr>
          <a:xfrm flipH="1">
            <a:off x="3200401" y="1944946"/>
            <a:ext cx="1603986" cy="2796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5" idx="1"/>
          </p:cNvCxnSpPr>
          <p:nvPr/>
        </p:nvCxnSpPr>
        <p:spPr>
          <a:xfrm flipH="1">
            <a:off x="2981915" y="1944946"/>
            <a:ext cx="1822472" cy="1020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5A6DF9D-9DC5-E797-3F79-761E774DB76D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CSEN160_07_Threads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</a:t>
            </a: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I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_volatileExample.A_ThreadNonVolatile</a:t>
            </a:r>
          </a:p>
        </p:txBody>
      </p:sp>
    </p:spTree>
    <p:extLst>
      <p:ext uri="{BB962C8B-B14F-4D97-AF65-F5344CB8AC3E}">
        <p14:creationId xmlns:p14="http://schemas.microsoft.com/office/powerpoint/2010/main" val="1934182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047285"/>
            <a:ext cx="10515600" cy="1816662"/>
          </a:xfrm>
        </p:spPr>
        <p:txBody>
          <a:bodyPr/>
          <a:lstStyle/>
          <a:p>
            <a:r>
              <a:rPr lang="en-US" altLang="en-US" dirty="0"/>
              <a:t>How to end Threads</a:t>
            </a:r>
          </a:p>
        </p:txBody>
      </p:sp>
    </p:spTree>
    <p:extLst>
      <p:ext uri="{BB962C8B-B14F-4D97-AF65-F5344CB8AC3E}">
        <p14:creationId xmlns:p14="http://schemas.microsoft.com/office/powerpoint/2010/main" val="3889853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911702" y="734352"/>
            <a:ext cx="5521465" cy="67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How to end Threads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911703" y="1536137"/>
            <a:ext cx="10400962" cy="5103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If a Thread is in an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endless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loop …</a:t>
            </a:r>
          </a:p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First approach: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Outside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: call interrupt()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Thread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:  needs to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catch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InterruptException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!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Thread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: and call interrupt() again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3213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962" y="1651284"/>
            <a:ext cx="7571936" cy="4873082"/>
          </a:xfrm>
          <a:prstGeom prst="rect">
            <a:avLst/>
          </a:prstGeom>
        </p:spPr>
      </p:pic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911703" y="734352"/>
            <a:ext cx="5282750" cy="67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How to end Threads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911703" y="1536137"/>
            <a:ext cx="10400962" cy="5103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9368" y="2791979"/>
            <a:ext cx="1734650" cy="3862191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4309009" y="2350736"/>
            <a:ext cx="4725749" cy="1157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122258" y="3266995"/>
            <a:ext cx="3977236" cy="2126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309009" y="4009604"/>
            <a:ext cx="4818807" cy="2160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484370" y="6012382"/>
            <a:ext cx="1412579" cy="1942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02777" y="3006191"/>
            <a:ext cx="6481721" cy="1456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DB4835B-4625-4AC1-5E0F-7DB7FE9C0463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240821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CSEN160_07_Threads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.A_SimpleExamples.F_KillingMe</a:t>
            </a:r>
          </a:p>
        </p:txBody>
      </p:sp>
    </p:spTree>
    <p:extLst>
      <p:ext uri="{BB962C8B-B14F-4D97-AF65-F5344CB8AC3E}">
        <p14:creationId xmlns:p14="http://schemas.microsoft.com/office/powerpoint/2010/main" val="2672759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911702" y="734352"/>
            <a:ext cx="6383267" cy="67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How to end Threads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911703" y="1536137"/>
            <a:ext cx="10400962" cy="5103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Why: “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Thread.currentThread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().interrupt();”?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Thread is most of the time in sleep mode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interrupt() interrupts the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sleep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Need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another interrupt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to set “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isInterrupted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” flag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5139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20" y="2410959"/>
            <a:ext cx="3677829" cy="4198584"/>
          </a:xfrm>
          <a:prstGeom prst="rect">
            <a:avLst/>
          </a:prstGeom>
        </p:spPr>
      </p:pic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911703" y="734352"/>
            <a:ext cx="4760814" cy="67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How to end  Threads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911703" y="1536137"/>
            <a:ext cx="10400962" cy="5103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If a Thread is in an endless loop: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stop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() – DEPRECATED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no replacement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353515" y="2985961"/>
            <a:ext cx="4859267" cy="477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960418" y="5454032"/>
            <a:ext cx="4252364" cy="788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898258" y="6020474"/>
            <a:ext cx="990600" cy="1618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384" y="2678265"/>
            <a:ext cx="2286792" cy="29335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35" y="3853727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 executed</a:t>
            </a:r>
          </a:p>
        </p:txBody>
      </p:sp>
      <p:cxnSp>
        <p:nvCxnSpPr>
          <p:cNvPr id="19" name="Straight Arrow Connector 18"/>
          <p:cNvCxnSpPr>
            <a:stCxn id="17" idx="1"/>
          </p:cNvCxnSpPr>
          <p:nvPr/>
        </p:nvCxnSpPr>
        <p:spPr>
          <a:xfrm flipH="1" flipV="1">
            <a:off x="5045385" y="3657601"/>
            <a:ext cx="441050" cy="3807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7" idx="1"/>
          </p:cNvCxnSpPr>
          <p:nvPr/>
        </p:nvCxnSpPr>
        <p:spPr>
          <a:xfrm flipH="1">
            <a:off x="4353515" y="4038393"/>
            <a:ext cx="1132920" cy="2299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D0F68-8FFE-33BA-07B0-25266CA1A4B6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240821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CSEN160_07_Threads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.A_SimpleExamples.F_KillingMe</a:t>
            </a:r>
          </a:p>
        </p:txBody>
      </p:sp>
    </p:spTree>
    <p:extLst>
      <p:ext uri="{BB962C8B-B14F-4D97-AF65-F5344CB8AC3E}">
        <p14:creationId xmlns:p14="http://schemas.microsoft.com/office/powerpoint/2010/main" val="2437534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911702" y="734352"/>
            <a:ext cx="6383267" cy="67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ThreadDeath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exception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911703" y="1536137"/>
            <a:ext cx="10400962" cy="5103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ThreadDeath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exception: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Intention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: 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b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Gives time to clean up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DEPREATED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545" y="1536137"/>
            <a:ext cx="4778954" cy="490414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47607" y="3046651"/>
            <a:ext cx="3422931" cy="8051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>
            <a:off x="5085347" y="3324726"/>
            <a:ext cx="1792883" cy="82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0D60B0-200E-2C76-CBEF-7EA4B44E4771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240821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CSEN160_07_Threads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.A_SimpleExamples.G_KillingMe_Unstoppable</a:t>
            </a:r>
          </a:p>
        </p:txBody>
      </p:sp>
    </p:spTree>
    <p:extLst>
      <p:ext uri="{BB962C8B-B14F-4D97-AF65-F5344CB8AC3E}">
        <p14:creationId xmlns:p14="http://schemas.microsoft.com/office/powerpoint/2010/main" val="984526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047285"/>
            <a:ext cx="10515600" cy="1816662"/>
          </a:xfrm>
        </p:spPr>
        <p:txBody>
          <a:bodyPr/>
          <a:lstStyle/>
          <a:p>
            <a:r>
              <a:rPr lang="en-US" altLang="en-US" dirty="0"/>
              <a:t>Daemon</a:t>
            </a:r>
          </a:p>
        </p:txBody>
      </p:sp>
    </p:spTree>
    <p:extLst>
      <p:ext uri="{BB962C8B-B14F-4D97-AF65-F5344CB8AC3E}">
        <p14:creationId xmlns:p14="http://schemas.microsoft.com/office/powerpoint/2010/main" val="2234678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5593757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Daemon vs user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Daemon thread: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Is a </a:t>
            </a:r>
            <a:r>
              <a:rPr lang="en-US" b="1" dirty="0">
                <a:solidFill>
                  <a:srgbClr val="00B0F0"/>
                </a:solidFill>
              </a:rPr>
              <a:t>background </a:t>
            </a:r>
            <a:r>
              <a:rPr lang="en-US" b="1" dirty="0">
                <a:solidFill>
                  <a:schemeClr val="tx1"/>
                </a:solidFill>
              </a:rPr>
              <a:t>thread </a:t>
            </a:r>
            <a:r>
              <a:rPr lang="en-US" dirty="0">
                <a:solidFill>
                  <a:schemeClr val="tx1"/>
                </a:solidFill>
              </a:rPr>
              <a:t>with low priority.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Creating thread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dies</a:t>
            </a:r>
            <a:r>
              <a:rPr lang="en-US" dirty="0">
                <a:solidFill>
                  <a:schemeClr val="tx1"/>
                </a:solidFill>
              </a:rPr>
              <a:t>, daemon thread </a:t>
            </a:r>
            <a:r>
              <a:rPr lang="en-US" b="1" dirty="0">
                <a:solidFill>
                  <a:schemeClr val="tx1"/>
                </a:solidFill>
              </a:rPr>
              <a:t>dies </a:t>
            </a:r>
            <a:r>
              <a:rPr lang="en-US" dirty="0">
                <a:solidFill>
                  <a:schemeClr val="tx1"/>
                </a:solidFill>
              </a:rPr>
              <a:t>with it.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 “daemon” </a:t>
            </a:r>
            <a:r>
              <a:rPr lang="en-US" b="1" dirty="0">
                <a:solidFill>
                  <a:srgbClr val="00B050"/>
                </a:solidFill>
              </a:rPr>
              <a:t>provides a general service </a:t>
            </a:r>
            <a:r>
              <a:rPr lang="en-US" dirty="0">
                <a:solidFill>
                  <a:schemeClr val="tx1"/>
                </a:solidFill>
              </a:rPr>
              <a:t>(background)</a:t>
            </a:r>
          </a:p>
        </p:txBody>
      </p:sp>
    </p:spTree>
    <p:extLst>
      <p:ext uri="{BB962C8B-B14F-4D97-AF65-F5344CB8AC3E}">
        <p14:creationId xmlns:p14="http://schemas.microsoft.com/office/powerpoint/2010/main" val="350591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5593757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Daemon vs user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Main difference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Call </a:t>
            </a:r>
            <a:r>
              <a:rPr lang="en-US" i="1" dirty="0" err="1">
                <a:solidFill>
                  <a:schemeClr val="tx1"/>
                </a:solidFill>
              </a:rPr>
              <a:t>Thread.set</a:t>
            </a:r>
            <a:r>
              <a:rPr lang="en-US" b="1" i="1" dirty="0" err="1">
                <a:solidFill>
                  <a:srgbClr val="FF0000"/>
                </a:solidFill>
              </a:rPr>
              <a:t>Daemon</a:t>
            </a:r>
            <a:r>
              <a:rPr lang="en-US" i="1" dirty="0">
                <a:solidFill>
                  <a:schemeClr val="tx1"/>
                </a:solidFill>
              </a:rPr>
              <a:t>(true)</a:t>
            </a:r>
            <a:r>
              <a:rPr lang="en-US" dirty="0">
                <a:solidFill>
                  <a:schemeClr val="tx1"/>
                </a:solidFill>
              </a:rPr>
              <a:t> to make it a </a:t>
            </a:r>
            <a:r>
              <a:rPr lang="en-US" b="1" dirty="0">
                <a:solidFill>
                  <a:srgbClr val="FF0000"/>
                </a:solidFill>
              </a:rPr>
              <a:t>daemon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dirty="0"/>
              <a:t> </a:t>
            </a:r>
          </a:p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JVM is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waiting that a daemon ends itself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JVM </a:t>
            </a:r>
            <a:r>
              <a:rPr lang="en-US" b="1" dirty="0">
                <a:solidFill>
                  <a:srgbClr val="00B050"/>
                </a:solidFill>
              </a:rPr>
              <a:t>is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waiting for user Threads to terminate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218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Daemons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C38389-A90A-D0CC-5365-993AD06F9191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</a:t>
            </a: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_daemon.A_ThreadDaemon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5F3973-646D-987F-0023-6D005F4C8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506" y="838200"/>
            <a:ext cx="5881459" cy="57270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342C11-7045-CFF9-864D-7D88AD525310}"/>
              </a:ext>
            </a:extLst>
          </p:cNvPr>
          <p:cNvSpPr/>
          <p:nvPr/>
        </p:nvSpPr>
        <p:spPr>
          <a:xfrm>
            <a:off x="4150896" y="2221832"/>
            <a:ext cx="3449052" cy="116305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8646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92C1-ADB8-51A2-6537-6CEC60A2F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C44318D9-38D5-74D2-DB0E-6A0D2C43FBA7}"/>
              </a:ext>
            </a:extLst>
          </p:cNvPr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Daemons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3EF3BC4-045B-5A2A-26F2-DBE2D699329E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</a:t>
            </a: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_daemon.B_ThreadDaemon_continues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29743-9754-FAA4-3EBE-E206AEBA3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725" y="778042"/>
            <a:ext cx="4941854" cy="58342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107A329-B6EC-AE23-77FD-827CF78F736C}"/>
              </a:ext>
            </a:extLst>
          </p:cNvPr>
          <p:cNvSpPr/>
          <p:nvPr/>
        </p:nvSpPr>
        <p:spPr>
          <a:xfrm>
            <a:off x="4098759" y="2562725"/>
            <a:ext cx="3789945" cy="1323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9819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Problems with Threads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7902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Problems With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Three types of problems: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Race conditions:	“counter” ARM assembler example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Deadlock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Starvation</a:t>
            </a:r>
          </a:p>
        </p:txBody>
      </p:sp>
    </p:spTree>
    <p:extLst>
      <p:ext uri="{BB962C8B-B14F-4D97-AF65-F5344CB8AC3E}">
        <p14:creationId xmlns:p14="http://schemas.microsoft.com/office/powerpoint/2010/main" val="673076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7E6AA-57DD-8BCB-78C9-E18572E3D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561F7DBA-23B5-9A49-8BB1-A88EE86A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3327"/>
            <a:ext cx="8151337" cy="715147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Assembler Example – Race Condition</a:t>
            </a:r>
            <a:endParaRPr lang="en-US" altLang="en-US" i="1" dirty="0">
              <a:solidFill>
                <a:srgbClr val="00B050"/>
              </a:solidFill>
            </a:endParaRP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9BEE6462-B755-A1C3-AE20-089A38741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323238"/>
            <a:ext cx="10400426" cy="4906274"/>
          </a:xfrm>
          <a:ln>
            <a:miter lim="800000"/>
            <a:headEnd/>
            <a:tailEnd/>
          </a:ln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>
                <a:solidFill>
                  <a:schemeClr val="tx1"/>
                </a:solidFill>
              </a:rPr>
              <a:t>ARM assembler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77817D-7FFE-D680-13C0-CF3BF6F2F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40" y="2070680"/>
            <a:ext cx="2871353" cy="45632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D63A0F-2F07-79E4-ADE0-ED3F6397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689" y="2098748"/>
            <a:ext cx="2848641" cy="45271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A957DB7-27D1-7835-074A-304626E48F31}"/>
              </a:ext>
            </a:extLst>
          </p:cNvPr>
          <p:cNvSpPr/>
          <p:nvPr/>
        </p:nvSpPr>
        <p:spPr>
          <a:xfrm>
            <a:off x="7851008" y="3757859"/>
            <a:ext cx="1240843" cy="1844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FCB1B8-7E30-6C72-3A20-7398F5427AA7}"/>
              </a:ext>
            </a:extLst>
          </p:cNvPr>
          <p:cNvSpPr/>
          <p:nvPr/>
        </p:nvSpPr>
        <p:spPr>
          <a:xfrm>
            <a:off x="2374316" y="3725780"/>
            <a:ext cx="1240843" cy="1844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9C72AE-874A-571F-4B59-85BA27CC11B0}"/>
              </a:ext>
            </a:extLst>
          </p:cNvPr>
          <p:cNvSpPr/>
          <p:nvPr/>
        </p:nvSpPr>
        <p:spPr>
          <a:xfrm>
            <a:off x="7851008" y="4439649"/>
            <a:ext cx="755572" cy="1844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AFE4BC-C071-5CA6-7A3F-53DD05D36A9B}"/>
              </a:ext>
            </a:extLst>
          </p:cNvPr>
          <p:cNvSpPr/>
          <p:nvPr/>
        </p:nvSpPr>
        <p:spPr>
          <a:xfrm>
            <a:off x="2374316" y="4415591"/>
            <a:ext cx="755572" cy="1844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1531AA-19A5-E7D0-8A6A-A5CBC0AC5525}"/>
              </a:ext>
            </a:extLst>
          </p:cNvPr>
          <p:cNvSpPr/>
          <p:nvPr/>
        </p:nvSpPr>
        <p:spPr>
          <a:xfrm>
            <a:off x="1034716" y="6264700"/>
            <a:ext cx="8053137" cy="17855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F5E19C-80EF-5F67-3D95-526AD5C250B4}"/>
              </a:ext>
            </a:extLst>
          </p:cNvPr>
          <p:cNvSpPr txBox="1"/>
          <p:nvPr/>
        </p:nvSpPr>
        <p:spPr>
          <a:xfrm>
            <a:off x="4109227" y="5955520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Shared Resource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828D93-7C08-15F4-3DC6-9F52DC59CBB1}"/>
              </a:ext>
            </a:extLst>
          </p:cNvPr>
          <p:cNvSpPr txBox="1"/>
          <p:nvPr/>
        </p:nvSpPr>
        <p:spPr>
          <a:xfrm>
            <a:off x="7299148" y="1729416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B108EA-6553-42C9-1256-25CC37805040}"/>
              </a:ext>
            </a:extLst>
          </p:cNvPr>
          <p:cNvSpPr txBox="1"/>
          <p:nvPr/>
        </p:nvSpPr>
        <p:spPr>
          <a:xfrm>
            <a:off x="1776656" y="1727010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98E1AE-CBDE-FFFF-2C4C-20BB8A924FEE}"/>
              </a:ext>
            </a:extLst>
          </p:cNvPr>
          <p:cNvSpPr txBox="1"/>
          <p:nvPr/>
        </p:nvSpPr>
        <p:spPr>
          <a:xfrm>
            <a:off x="3771795" y="3696566"/>
            <a:ext cx="26548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Load the address from counter = $18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42485D-265A-0F2C-BD6A-54B315225254}"/>
              </a:ext>
            </a:extLst>
          </p:cNvPr>
          <p:cNvSpPr txBox="1"/>
          <p:nvPr/>
        </p:nvSpPr>
        <p:spPr>
          <a:xfrm>
            <a:off x="9202759" y="3717754"/>
            <a:ext cx="26548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Load the address from counter = $18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702B20-D698-FA83-1AB8-44CECCA79465}"/>
              </a:ext>
            </a:extLst>
          </p:cNvPr>
          <p:cNvSpPr txBox="1"/>
          <p:nvPr/>
        </p:nvSpPr>
        <p:spPr>
          <a:xfrm>
            <a:off x="3774662" y="3923501"/>
            <a:ext cx="26933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Load the value from address $18 = 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E49C6-AA85-124C-13FD-1845023C0BB6}"/>
              </a:ext>
            </a:extLst>
          </p:cNvPr>
          <p:cNvSpPr txBox="1"/>
          <p:nvPr/>
        </p:nvSpPr>
        <p:spPr>
          <a:xfrm>
            <a:off x="3771795" y="4362522"/>
            <a:ext cx="30460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Write value 13 back to what $18 is pointing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A551F2-3ECA-ABFB-18ED-98B0F6AA6752}"/>
              </a:ext>
            </a:extLst>
          </p:cNvPr>
          <p:cNvSpPr txBox="1"/>
          <p:nvPr/>
        </p:nvSpPr>
        <p:spPr>
          <a:xfrm>
            <a:off x="3743200" y="4137810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13 = 12+ 1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DB1DCC-A9AE-4F66-CE85-EDA1ADAA4801}"/>
              </a:ext>
            </a:extLst>
          </p:cNvPr>
          <p:cNvSpPr txBox="1"/>
          <p:nvPr/>
        </p:nvSpPr>
        <p:spPr>
          <a:xfrm>
            <a:off x="9222267" y="4153981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13 = 12+ 1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C3E8E5-8DDC-FDFE-3C10-21EEF25F8693}"/>
              </a:ext>
            </a:extLst>
          </p:cNvPr>
          <p:cNvSpPr txBox="1"/>
          <p:nvPr/>
        </p:nvSpPr>
        <p:spPr>
          <a:xfrm>
            <a:off x="9202746" y="3910264"/>
            <a:ext cx="26548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Load the address from counter = $18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71D8F4-AA0A-9318-FA51-1CFC21C4EE0A}"/>
              </a:ext>
            </a:extLst>
          </p:cNvPr>
          <p:cNvSpPr txBox="1"/>
          <p:nvPr/>
        </p:nvSpPr>
        <p:spPr>
          <a:xfrm>
            <a:off x="9224692" y="4401085"/>
            <a:ext cx="30460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Write value 13 back to what $18 is pointing</a:t>
            </a:r>
          </a:p>
        </p:txBody>
      </p:sp>
    </p:spTree>
    <p:extLst>
      <p:ext uri="{BB962C8B-B14F-4D97-AF65-F5344CB8AC3E}">
        <p14:creationId xmlns:p14="http://schemas.microsoft.com/office/powerpoint/2010/main" val="40262520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465" y="704007"/>
            <a:ext cx="2732411" cy="679731"/>
          </a:xfrm>
        </p:spPr>
        <p:txBody>
          <a:bodyPr/>
          <a:lstStyle/>
          <a:p>
            <a:r>
              <a:rPr lang="en-US" dirty="0"/>
              <a:t>Deadlock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465" y="1445314"/>
            <a:ext cx="10391523" cy="516804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Is when a thread </a:t>
            </a:r>
            <a:r>
              <a:rPr lang="en-US" i="1" dirty="0">
                <a:solidFill>
                  <a:schemeClr val="tx1"/>
                </a:solidFill>
              </a:rPr>
              <a:t>holds </a:t>
            </a:r>
            <a:r>
              <a:rPr lang="en-US" b="1" dirty="0">
                <a:solidFill>
                  <a:srgbClr val="00B0F0"/>
                </a:solidFill>
              </a:rPr>
              <a:t>a resource</a:t>
            </a:r>
            <a:r>
              <a:rPr lang="en-US" dirty="0"/>
              <a:t>, </a:t>
            </a:r>
            <a:r>
              <a:rPr lang="en-US" dirty="0">
                <a:solidFill>
                  <a:schemeClr val="tx1"/>
                </a:solidFill>
              </a:rPr>
              <a:t>as well as </a:t>
            </a:r>
            <a:r>
              <a:rPr lang="en-US" i="1" dirty="0">
                <a:solidFill>
                  <a:schemeClr val="tx1"/>
                </a:solidFill>
              </a:rPr>
              <a:t>waiting </a:t>
            </a:r>
            <a:r>
              <a:rPr lang="en-US" dirty="0">
                <a:solidFill>
                  <a:schemeClr val="tx1"/>
                </a:solidFill>
              </a:rPr>
              <a:t>for </a:t>
            </a:r>
            <a:r>
              <a:rPr lang="en-US" b="1" dirty="0">
                <a:solidFill>
                  <a:srgbClr val="00B0F0"/>
                </a:solidFill>
              </a:rPr>
              <a:t>a resource </a:t>
            </a:r>
            <a:br>
              <a:rPr lang="en-US" b="1" dirty="0">
                <a:solidFill>
                  <a:srgbClr val="00B0F0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that is held by another thread.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Thread1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holds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Lock1 and is blocked </a:t>
            </a:r>
            <a:r>
              <a:rPr lang="en-US" b="1" dirty="0">
                <a:solidFill>
                  <a:srgbClr val="FF0000"/>
                </a:solidFill>
              </a:rPr>
              <a:t>waiting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for Lock2.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Thread2 </a:t>
            </a:r>
            <a:r>
              <a:rPr lang="en-US" b="1" dirty="0">
                <a:solidFill>
                  <a:srgbClr val="FF0000"/>
                </a:solidFill>
              </a:rPr>
              <a:t>holds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Lock2 and is blocked </a:t>
            </a:r>
            <a:r>
              <a:rPr lang="en-US" b="1" dirty="0">
                <a:solidFill>
                  <a:srgbClr val="FF0000"/>
                </a:solidFill>
              </a:rPr>
              <a:t>waiting</a:t>
            </a:r>
            <a:r>
              <a:rPr lang="en-US" dirty="0"/>
              <a:t> for Lock1. 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No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thread can proceed; thus, a deadlock has occurred.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990" y="2512325"/>
            <a:ext cx="3663696" cy="2915408"/>
          </a:xfrm>
          <a:prstGeom prst="rect">
            <a:avLst/>
          </a:prstGeom>
        </p:spPr>
      </p:pic>
      <p:pic>
        <p:nvPicPr>
          <p:cNvPr id="1026" name="Picture 2" descr="r/pics - Traffic Deadlock">
            <a:extLst>
              <a:ext uri="{FF2B5EF4-FFF2-40B4-BE49-F238E27FC236}">
                <a16:creationId xmlns:a16="http://schemas.microsoft.com/office/drawing/2014/main" id="{EE3719E7-CB95-9737-479A-D61BCD883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172" y="2965211"/>
            <a:ext cx="3327592" cy="236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DF8DD8-3169-06C8-311A-99CFDDDFF35F}"/>
              </a:ext>
            </a:extLst>
          </p:cNvPr>
          <p:cNvSpPr txBox="1"/>
          <p:nvPr/>
        </p:nvSpPr>
        <p:spPr>
          <a:xfrm>
            <a:off x="8561425" y="2512325"/>
            <a:ext cx="2091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 traffic Deadlock</a:t>
            </a:r>
          </a:p>
        </p:txBody>
      </p:sp>
    </p:spTree>
    <p:extLst>
      <p:ext uri="{BB962C8B-B14F-4D97-AF65-F5344CB8AC3E}">
        <p14:creationId xmlns:p14="http://schemas.microsoft.com/office/powerpoint/2010/main" val="2111901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465" y="704007"/>
            <a:ext cx="2732411" cy="679731"/>
          </a:xfrm>
        </p:spPr>
        <p:txBody>
          <a:bodyPr/>
          <a:lstStyle/>
          <a:p>
            <a:r>
              <a:rPr lang="en-US" dirty="0"/>
              <a:t>Deadlock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464" y="1565810"/>
            <a:ext cx="10391523" cy="50494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Example: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212" y="2122576"/>
            <a:ext cx="5296039" cy="32440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415" y="2319321"/>
            <a:ext cx="5181736" cy="26725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415" y="1014841"/>
            <a:ext cx="2977321" cy="9198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9938" y="5483095"/>
            <a:ext cx="2427578" cy="1132144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5603735" y="3281320"/>
            <a:ext cx="339865" cy="2718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7169475" y="2880765"/>
            <a:ext cx="178094" cy="3325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742566" y="4701473"/>
            <a:ext cx="1467372" cy="1606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529639" y="3880131"/>
            <a:ext cx="2306230" cy="2601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5AD928-DEB6-DF4B-B907-F7E391F7B67C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</a:t>
            </a: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F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_threadProblems.A_Deadlock</a:t>
            </a:r>
          </a:p>
        </p:txBody>
      </p:sp>
    </p:spTree>
    <p:extLst>
      <p:ext uri="{BB962C8B-B14F-4D97-AF65-F5344CB8AC3E}">
        <p14:creationId xmlns:p14="http://schemas.microsoft.com/office/powerpoint/2010/main" val="3580738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695"/>
            <a:ext cx="2725130" cy="601859"/>
          </a:xfrm>
        </p:spPr>
        <p:txBody>
          <a:bodyPr/>
          <a:lstStyle/>
          <a:p>
            <a:r>
              <a:rPr lang="en-US" dirty="0"/>
              <a:t>Starvation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44227"/>
            <a:ext cx="10376149" cy="499528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Starvation </a:t>
            </a:r>
            <a:r>
              <a:rPr lang="en-US" dirty="0">
                <a:solidFill>
                  <a:schemeClr val="tx1"/>
                </a:solidFill>
              </a:rPr>
              <a:t>occurs when a thread is not in a deadlock but is unable to continue: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Priority level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Lock on object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Etc.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589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695"/>
            <a:ext cx="2725130" cy="601859"/>
          </a:xfrm>
        </p:spPr>
        <p:txBody>
          <a:bodyPr/>
          <a:lstStyle/>
          <a:p>
            <a:r>
              <a:rPr lang="en-US" dirty="0"/>
              <a:t>Starvation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44227"/>
            <a:ext cx="10376149" cy="49952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Example: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High </a:t>
            </a:r>
            <a:r>
              <a:rPr lang="en-US" b="1" dirty="0">
                <a:solidFill>
                  <a:srgbClr val="00B050"/>
                </a:solidFill>
              </a:rPr>
              <a:t>priority</a:t>
            </a:r>
            <a:r>
              <a:rPr lang="en-US" dirty="0">
                <a:solidFill>
                  <a:schemeClr val="tx1"/>
                </a:solidFill>
              </a:rPr>
              <a:t> threads are always selected to run; 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A low priority thread may never run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Resulting in starvation.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759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Threads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394" y="2302576"/>
            <a:ext cx="4675537" cy="27106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779" y="1041705"/>
            <a:ext cx="5143635" cy="55028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E893E5-B206-01F1-4513-A9E78672B7FF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CSEN160_07_Threads.F_threadProblems.B_Starvation</a:t>
            </a:r>
          </a:p>
        </p:txBody>
      </p:sp>
    </p:spTree>
    <p:extLst>
      <p:ext uri="{BB962C8B-B14F-4D97-AF65-F5344CB8AC3E}">
        <p14:creationId xmlns:p14="http://schemas.microsoft.com/office/powerpoint/2010/main" val="21560616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Virtual Threads</a:t>
            </a:r>
            <a:br>
              <a:rPr lang="en-US" dirty="0"/>
            </a:br>
            <a:r>
              <a:rPr lang="en-US" dirty="0"/>
              <a:t>JDK 21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71003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Virtual Threads: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New</a:t>
            </a:r>
            <a:r>
              <a:rPr lang="en-US" dirty="0">
                <a:solidFill>
                  <a:schemeClr val="tx1"/>
                </a:solidFill>
              </a:rPr>
              <a:t> in JDK 21</a:t>
            </a:r>
          </a:p>
          <a:p>
            <a:pPr lvl="1"/>
            <a:endParaRPr lang="en-US" dirty="0"/>
          </a:p>
          <a:p>
            <a:pPr lvl="2"/>
            <a:r>
              <a:rPr lang="en-US" b="1" dirty="0">
                <a:solidFill>
                  <a:srgbClr val="00B050"/>
                </a:solidFill>
              </a:rPr>
              <a:t>Virtual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Thread </a:t>
            </a:r>
            <a:r>
              <a:rPr lang="en-US">
                <a:solidFill>
                  <a:schemeClr val="tx1"/>
                </a:solidFill>
              </a:rPr>
              <a:t>(Project Loom)</a:t>
            </a:r>
            <a:endParaRPr lang="en-US" dirty="0">
              <a:solidFill>
                <a:schemeClr val="tx1"/>
              </a:solidFill>
            </a:endParaRPr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Platform Thread (OS native Thread)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Virtual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Threads are created but not mounted.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Basically</a:t>
            </a:r>
            <a:r>
              <a:rPr lang="en-US" dirty="0">
                <a:solidFill>
                  <a:schemeClr val="tx1"/>
                </a:solidFill>
              </a:rPr>
              <a:t>: A Thread, </a:t>
            </a:r>
            <a:r>
              <a:rPr lang="en-US" b="1" dirty="0">
                <a:solidFill>
                  <a:srgbClr val="00B050"/>
                </a:solidFill>
              </a:rPr>
              <a:t>initiated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but not </a:t>
            </a:r>
            <a:r>
              <a:rPr lang="en-US" b="1" dirty="0">
                <a:solidFill>
                  <a:srgbClr val="00B0F0"/>
                </a:solidFill>
              </a:rPr>
              <a:t>started</a:t>
            </a:r>
            <a:r>
              <a:rPr lang="en-US" dirty="0">
                <a:solidFill>
                  <a:schemeClr val="tx1"/>
                </a:solidFill>
              </a:rPr>
              <a:t>, managed in a pool</a:t>
            </a:r>
          </a:p>
        </p:txBody>
      </p:sp>
    </p:spTree>
    <p:extLst>
      <p:ext uri="{BB962C8B-B14F-4D97-AF65-F5344CB8AC3E}">
        <p14:creationId xmlns:p14="http://schemas.microsoft.com/office/powerpoint/2010/main" val="1241777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9F600-AD71-E22A-E766-B1A9C7555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1F691-8667-8A42-39F4-CD7B1AC40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Virtual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34E19-A3CA-B2BB-0689-B070CDFD6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Virtual Threads: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Lightweight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(memory, creation)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Implemented in the </a:t>
            </a:r>
            <a:r>
              <a:rPr lang="en-US" b="1" dirty="0">
                <a:solidFill>
                  <a:srgbClr val="0070C0"/>
                </a:solidFill>
              </a:rPr>
              <a:t>JVM</a:t>
            </a:r>
            <a:r>
              <a:rPr lang="en-US" dirty="0">
                <a:solidFill>
                  <a:schemeClr val="tx1"/>
                </a:solidFill>
              </a:rPr>
              <a:t> (Project Loom)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Cheap to create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Millions of them (if needed)</a:t>
            </a:r>
          </a:p>
        </p:txBody>
      </p:sp>
    </p:spTree>
    <p:extLst>
      <p:ext uri="{BB962C8B-B14F-4D97-AF65-F5344CB8AC3E}">
        <p14:creationId xmlns:p14="http://schemas.microsoft.com/office/powerpoint/2010/main" val="36367144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Virtual Threads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3322" y="1934040"/>
            <a:ext cx="1747879" cy="394082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OS Thread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70885" y="2373032"/>
            <a:ext cx="1529395" cy="345732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Platform Thread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55853" y="3075017"/>
            <a:ext cx="1314956" cy="274319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1136" y="1182458"/>
            <a:ext cx="1674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Mounted Virtual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2494" y="3145864"/>
            <a:ext cx="1768110" cy="268655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367163" y="3325237"/>
            <a:ext cx="1344627" cy="70535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7163" y="4141184"/>
            <a:ext cx="1344627" cy="70535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7163" y="4942972"/>
            <a:ext cx="1344627" cy="70535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6337" y="2467482"/>
            <a:ext cx="2326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Unmounted Blocked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25059" y="3143798"/>
            <a:ext cx="1768110" cy="268655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259728" y="3323171"/>
            <a:ext cx="1344627" cy="70535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59728" y="4139118"/>
            <a:ext cx="1344627" cy="70535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59728" y="4940906"/>
            <a:ext cx="1344627" cy="70535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2619" y="2407780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Unmounted Runnable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Threads</a:t>
            </a:r>
          </a:p>
        </p:txBody>
      </p:sp>
      <p:cxnSp>
        <p:nvCxnSpPr>
          <p:cNvPr id="22" name="Straight Arrow Connector 21"/>
          <p:cNvCxnSpPr>
            <a:stCxn id="8" idx="2"/>
            <a:endCxn id="7" idx="0"/>
          </p:cNvCxnSpPr>
          <p:nvPr/>
        </p:nvCxnSpPr>
        <p:spPr>
          <a:xfrm>
            <a:off x="6208609" y="1767233"/>
            <a:ext cx="4722" cy="1307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403733" y="5940946"/>
            <a:ext cx="30107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Ready to go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 least as much as you have CPU cores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13498" y="3693423"/>
            <a:ext cx="1476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Blocked by: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I/O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Synchronized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Wait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Sleep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3150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Easy example: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510" y="2240654"/>
            <a:ext cx="4267312" cy="33801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511" y="2115782"/>
            <a:ext cx="1154951" cy="3629846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5393342" y="3026421"/>
            <a:ext cx="2985961" cy="68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628644" y="5073706"/>
            <a:ext cx="3718291" cy="388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770888" y="3580726"/>
            <a:ext cx="1278542" cy="246807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4F2B43-5D09-E981-644A-FD5244979ADE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</a:t>
            </a: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J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_virtual.A_VirtualThread</a:t>
            </a:r>
          </a:p>
        </p:txBody>
      </p:sp>
    </p:spTree>
    <p:extLst>
      <p:ext uri="{BB962C8B-B14F-4D97-AF65-F5344CB8AC3E}">
        <p14:creationId xmlns:p14="http://schemas.microsoft.com/office/powerpoint/2010/main" val="8836547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But do not expect speed miracles: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Speed gain is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limited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Depends on the </a:t>
            </a:r>
            <a:r>
              <a:rPr lang="en-US" b="1" dirty="0">
                <a:solidFill>
                  <a:srgbClr val="FF0000"/>
                </a:solidFill>
              </a:rPr>
              <a:t>task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Depends on how </a:t>
            </a:r>
            <a:r>
              <a:rPr lang="en-US" b="1" dirty="0">
                <a:solidFill>
                  <a:srgbClr val="FF0000"/>
                </a:solidFill>
              </a:rPr>
              <a:t>many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Threads you need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In many tiny examples it is almost </a:t>
            </a:r>
            <a:r>
              <a:rPr lang="en-US" b="1" dirty="0">
                <a:solidFill>
                  <a:srgbClr val="FF0000"/>
                </a:solidFill>
              </a:rPr>
              <a:t>the same speed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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6970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32233CF-B99C-701C-4F4D-BC678E5CE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293" y="2355880"/>
            <a:ext cx="2224109" cy="38588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045F97-F39E-EAA3-30C1-01F684848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852" y="2403338"/>
            <a:ext cx="3001019" cy="36970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45E91D-5815-6D66-5A56-FDA311D0C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727" y="2403338"/>
            <a:ext cx="2768125" cy="35221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But do not expect speed miracles: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2930332" y="3376401"/>
            <a:ext cx="533303" cy="1228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2300" y="3429000"/>
            <a:ext cx="592666" cy="979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03414" y="3326273"/>
            <a:ext cx="1821438" cy="1027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FBA0279-9373-4FEF-0ED7-FAB3AE6BF54E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Week08_B_Threads_II.J_virtual.VirtualThreadExample2</a:t>
            </a:r>
          </a:p>
        </p:txBody>
      </p:sp>
    </p:spTree>
    <p:extLst>
      <p:ext uri="{BB962C8B-B14F-4D97-AF65-F5344CB8AC3E}">
        <p14:creationId xmlns:p14="http://schemas.microsoft.com/office/powerpoint/2010/main" val="13977914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E5364D1D-ED2F-B37E-1333-CF9FB87CA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536" y="5275650"/>
            <a:ext cx="3340958" cy="5936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81C6E2A-D50C-3866-02C2-A6F51B988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537" y="4627087"/>
            <a:ext cx="3237086" cy="5885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2F303B9-3031-3998-E2DE-F483EF440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536" y="3987958"/>
            <a:ext cx="3131041" cy="5864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365D9F-CC53-08EF-EC45-7FF31F2E28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3536" y="3371248"/>
            <a:ext cx="3131041" cy="602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9A2CC0-47D3-BF89-3CF0-D03424C9E7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3536" y="2712895"/>
            <a:ext cx="3169368" cy="6001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C64763-43C7-C6E5-A96E-CFE0F23EA1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7698" y="2115810"/>
            <a:ext cx="3126879" cy="5653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But do not expect speed miracles: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943" y="2299742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943" y="2815249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943" y="3388896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43" y="3964883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943" y="4566482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43" y="5188364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30543" y="2107428"/>
            <a:ext cx="1489454" cy="187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30543" y="2705047"/>
            <a:ext cx="1489454" cy="187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18065" y="3375595"/>
            <a:ext cx="1492668" cy="187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18064" y="4002013"/>
            <a:ext cx="1495321" cy="18783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118065" y="4610128"/>
            <a:ext cx="1501932" cy="1819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124675" y="5275649"/>
            <a:ext cx="1495324" cy="20618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137153" y="2299741"/>
            <a:ext cx="1482844" cy="35038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130543" y="2894318"/>
            <a:ext cx="1489454" cy="38259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120717" y="3563431"/>
            <a:ext cx="1492668" cy="35766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120717" y="4193044"/>
            <a:ext cx="1495322" cy="373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124674" y="4792059"/>
            <a:ext cx="1495323" cy="3963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118064" y="5489871"/>
            <a:ext cx="1501935" cy="3539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3" name="Straight Arrow Connector 42"/>
          <p:cNvCxnSpPr>
            <a:cxnSpLocks/>
            <a:endCxn id="30" idx="3"/>
          </p:cNvCxnSpPr>
          <p:nvPr/>
        </p:nvCxnSpPr>
        <p:spPr>
          <a:xfrm flipH="1">
            <a:off x="7613385" y="4095286"/>
            <a:ext cx="1278241" cy="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930531" y="3920151"/>
            <a:ext cx="1646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 needs 1,000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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90B419-C1C6-9E80-6E90-F2B25056D99B}"/>
              </a:ext>
            </a:extLst>
          </p:cNvPr>
          <p:cNvSpPr txBox="1"/>
          <p:nvPr/>
        </p:nvSpPr>
        <p:spPr>
          <a:xfrm>
            <a:off x="6137153" y="1754908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2025 JDK24</a:t>
            </a:r>
          </a:p>
        </p:txBody>
      </p:sp>
    </p:spTree>
    <p:extLst>
      <p:ext uri="{BB962C8B-B14F-4D97-AF65-F5344CB8AC3E}">
        <p14:creationId xmlns:p14="http://schemas.microsoft.com/office/powerpoint/2010/main" val="3807580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But do not expect speed miracles: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43" y="2263106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/>
              </a:rPr>
              <a:t>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057" y="2933858"/>
            <a:ext cx="102768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1,000 Threads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break even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code itself is actually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tiny/lightweight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Arial" panose="020B0604020202020204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Lightweight creation and pooling takes time to internally setup.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Most probable, if you use constantly a lot of threads it will pay off </a:t>
            </a:r>
            <a:r>
              <a:rPr lang="en-US" dirty="0">
                <a:solidFill>
                  <a:srgbClr val="000000"/>
                </a:solidFill>
                <a:latin typeface="Arial" panose="020B0604020202020204"/>
                <a:sym typeface="Wingdings" panose="05000000000000000000" pitchFamily="2" charset="2"/>
              </a:rPr>
              <a:t>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8353C3-2AB5-3996-D0FB-FD1B585E0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210" y="2029968"/>
            <a:ext cx="5334274" cy="9334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E73536-5802-7F29-7EBD-32BE27310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825" y="3490232"/>
            <a:ext cx="3568883" cy="158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6299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4000" dirty="0" err="1"/>
              <a:t>java.util.concurrent</a:t>
            </a:r>
            <a:r>
              <a:rPr lang="en-US" sz="4000" dirty="0"/>
              <a:t>.</a:t>
            </a:r>
            <a:br>
              <a:rPr lang="en-US" dirty="0"/>
            </a:br>
            <a:r>
              <a:rPr lang="en-US" dirty="0" err="1"/>
              <a:t>ExecutorService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87485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Courie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Courier"/>
              </a:rPr>
              <a:t>“Easy” to use framework to handle Threads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chemeClr val="tx1"/>
              </a:solidFill>
              <a:cs typeface="Courier"/>
            </a:endParaRPr>
          </a:p>
          <a:p>
            <a:pPr lvl="1">
              <a:spcBef>
                <a:spcPts val="1000"/>
              </a:spcBef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Courier"/>
              </a:rPr>
              <a:t>Easy is relative!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Courie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Courier"/>
              </a:rPr>
              <a:t>Thread Pool Facility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Courie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Courier"/>
              </a:rPr>
              <a:t>Since Java 5 (initial version)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Executor Service</a:t>
            </a:r>
          </a:p>
        </p:txBody>
      </p:sp>
    </p:spTree>
    <p:extLst>
      <p:ext uri="{BB962C8B-B14F-4D97-AF65-F5344CB8AC3E}">
        <p14:creationId xmlns:p14="http://schemas.microsoft.com/office/powerpoint/2010/main" val="33971659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Courier"/>
              </a:rPr>
              <a:t>Four components: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Courie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Main interface, which is an abstraction of Threads.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It separates tasks from execution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This is different from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java.lang.Thread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, which combines both task and its execution.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execute(Runnable);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Executor Service</a:t>
            </a:r>
          </a:p>
        </p:txBody>
      </p:sp>
    </p:spTree>
    <p:extLst>
      <p:ext uri="{BB962C8B-B14F-4D97-AF65-F5344CB8AC3E}">
        <p14:creationId xmlns:p14="http://schemas.microsoft.com/office/powerpoint/2010/main" val="27529752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Courier"/>
              </a:rPr>
              <a:t>Three components: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ExecutorService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Is an extension of the Executor interface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Provides a facility for returning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Future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object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terminates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, or shut down the thread pool. Once the shutdown is called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The thread pool will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not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accept new tasks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but complete any pending task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It also provides a submit() method which extends 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Executor.execute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() method and returns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Future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Courier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Executor Service</a:t>
            </a:r>
          </a:p>
        </p:txBody>
      </p:sp>
    </p:spTree>
    <p:extLst>
      <p:ext uri="{BB962C8B-B14F-4D97-AF65-F5344CB8AC3E}">
        <p14:creationId xmlns:p14="http://schemas.microsoft.com/office/powerpoint/2010/main" val="5868267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ExecutorService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Provides a lifecycle for Threads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Future submit (Callable)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Void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shutdownNow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Boolean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isShutdown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()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Executor Service</a:t>
            </a:r>
          </a:p>
        </p:txBody>
      </p:sp>
    </p:spTree>
    <p:extLst>
      <p:ext uri="{BB962C8B-B14F-4D97-AF65-F5344CB8AC3E}">
        <p14:creationId xmlns:p14="http://schemas.microsoft.com/office/powerpoint/2010/main" val="29664069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Courie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Executors: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1001B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The actual implementations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Utility class, which is something like a Collections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It provides 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factory methods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 to create different types of thread pools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E.g. fixed and cached thread pools.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Provides static methods for: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newFixedThreadPool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(…)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newCachedThreadPool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();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newSingleThreadExecutor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(); // executed sequentially, queue based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newSingleThreadsSchedulerExecutor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();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…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Executor Service</a:t>
            </a:r>
          </a:p>
        </p:txBody>
      </p:sp>
    </p:spTree>
    <p:extLst>
      <p:ext uri="{BB962C8B-B14F-4D97-AF65-F5344CB8AC3E}">
        <p14:creationId xmlns:p14="http://schemas.microsoft.com/office/powerpoint/2010/main" val="4882039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Courie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Executor Service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514" y="2676851"/>
            <a:ext cx="8375477" cy="36187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3643" y="2152319"/>
            <a:ext cx="482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lot of different implementations/options:</a:t>
            </a:r>
          </a:p>
        </p:txBody>
      </p:sp>
    </p:spTree>
    <p:extLst>
      <p:ext uri="{BB962C8B-B14F-4D97-AF65-F5344CB8AC3E}">
        <p14:creationId xmlns:p14="http://schemas.microsoft.com/office/powerpoint/2010/main" val="33631323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Courie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Future: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Return data structure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Based on the Callable Threads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Runnable on the other hand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1001B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cannot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return anything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Executor Service</a:t>
            </a:r>
          </a:p>
        </p:txBody>
      </p:sp>
    </p:spTree>
    <p:extLst>
      <p:ext uri="{BB962C8B-B14F-4D97-AF65-F5344CB8AC3E}">
        <p14:creationId xmlns:p14="http://schemas.microsoft.com/office/powerpoint/2010/main" val="26677599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Cached Thread Pool</a:t>
            </a:r>
            <a:br>
              <a:rPr lang="en-US" dirty="0"/>
            </a:br>
            <a:r>
              <a:rPr lang="en-US" sz="4000" dirty="0"/>
              <a:t>(Standard choice)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68190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Creates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a thread pool that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creates new threads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as needed.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But will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reuse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previously constructed threads when they are available.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These pools will typically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improve the performance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of programs that execute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many short-lived asynchronous tasks.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Cached Thread Pool</a:t>
            </a:r>
          </a:p>
        </p:txBody>
      </p:sp>
    </p:spTree>
    <p:extLst>
      <p:ext uri="{BB962C8B-B14F-4D97-AF65-F5344CB8AC3E}">
        <p14:creationId xmlns:p14="http://schemas.microsoft.com/office/powerpoint/2010/main" val="1712568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Calls to execute will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reuse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previously constructed threads if available.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If no existing thread is available: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new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thread will be created and added to the pool. 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Cached Thread Pool</a:t>
            </a:r>
          </a:p>
        </p:txBody>
      </p:sp>
    </p:spTree>
    <p:extLst>
      <p:ext uri="{BB962C8B-B14F-4D97-AF65-F5344CB8AC3E}">
        <p14:creationId xmlns:p14="http://schemas.microsoft.com/office/powerpoint/2010/main" val="9264082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If a thread have not been used for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sixty seconds </a:t>
            </a:r>
            <a:r>
              <a:rPr lang="en-US" dirty="0">
                <a:solidFill>
                  <a:schemeClr val="tx1"/>
                </a:solidFill>
              </a:rPr>
              <a:t>they will be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terminated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/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removed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pool that remains idle for long enough, will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not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consume any resources.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Cached Thread Pool</a:t>
            </a:r>
          </a:p>
        </p:txBody>
      </p:sp>
    </p:spTree>
    <p:extLst>
      <p:ext uri="{BB962C8B-B14F-4D97-AF65-F5344CB8AC3E}">
        <p14:creationId xmlns:p14="http://schemas.microsoft.com/office/powerpoint/2010/main" val="3348407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Simple Example: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Cached Thread Pool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828" y="5054401"/>
            <a:ext cx="3145246" cy="1442522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D31A29D-8864-547F-F8AE-4DF71F2755B7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Week08_B_Threads_II.K_executor.CachedThreadPool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5C8063-C1BD-4B60-309C-DB237878D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465" y="2202484"/>
            <a:ext cx="5162249" cy="25418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B6D48E-4867-1EC1-F0C7-CB3BA92B8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828" y="1990039"/>
            <a:ext cx="3838728" cy="256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944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Performance?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572948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Speed comparison: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No synchronized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Plain execution of some random computation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Cached Thread Pool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223" y="3946682"/>
            <a:ext cx="4399697" cy="190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2232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Speed comparison: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Cached Thread Pool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75" y="2283743"/>
            <a:ext cx="3804241" cy="21826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37" y="2269811"/>
            <a:ext cx="3907979" cy="219656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438" y="2283743"/>
            <a:ext cx="3690016" cy="23316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0600" y="4579022"/>
            <a:ext cx="2634412" cy="10069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8781" y="5107878"/>
            <a:ext cx="2541881" cy="10559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4218" y="5499262"/>
            <a:ext cx="2607197" cy="101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356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877" y="2250228"/>
            <a:ext cx="2264288" cy="51164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877" y="5818718"/>
            <a:ext cx="2503780" cy="46265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877" y="5214598"/>
            <a:ext cx="2427578" cy="50075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3877" y="4645622"/>
            <a:ext cx="2302389" cy="49531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3877" y="4007808"/>
            <a:ext cx="2286060" cy="51164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3877" y="3363278"/>
            <a:ext cx="2264288" cy="5388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3877" y="2789832"/>
            <a:ext cx="2275174" cy="5225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Reasonable: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516" y="5783024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1,000,000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943" y="2299742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943" y="2815249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943" y="3388896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43" y="3964883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943" y="4566482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43" y="5188364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3877" y="2250228"/>
            <a:ext cx="2267670" cy="145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253877" y="2791009"/>
            <a:ext cx="2275174" cy="168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253877" y="3369497"/>
            <a:ext cx="2264288" cy="158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253877" y="4182534"/>
            <a:ext cx="2264288" cy="1419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253877" y="4811779"/>
            <a:ext cx="2322295" cy="1526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253877" y="5821609"/>
            <a:ext cx="2429417" cy="1438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253877" y="5532031"/>
            <a:ext cx="2416350" cy="15005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253877" y="2408175"/>
            <a:ext cx="2267670" cy="28345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253877" y="2970479"/>
            <a:ext cx="2275174" cy="15646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253877" y="3539580"/>
            <a:ext cx="2264288" cy="13553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253877" y="4327818"/>
            <a:ext cx="2264288" cy="1713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253877" y="4982749"/>
            <a:ext cx="2322298" cy="1414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253877" y="5374347"/>
            <a:ext cx="2416349" cy="1479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253877" y="5965487"/>
            <a:ext cx="2427578" cy="168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0816F9F-4F27-0BC6-BA19-97D3D1BE407B}"/>
              </a:ext>
            </a:extLst>
          </p:cNvPr>
          <p:cNvCxnSpPr>
            <a:cxnSpLocks/>
          </p:cNvCxnSpPr>
          <p:nvPr/>
        </p:nvCxnSpPr>
        <p:spPr>
          <a:xfrm flipH="1">
            <a:off x="7556266" y="4405535"/>
            <a:ext cx="1278241" cy="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1AB8B1-5918-5E34-B164-30F994DF4BCC}"/>
              </a:ext>
            </a:extLst>
          </p:cNvPr>
          <p:cNvSpPr txBox="1"/>
          <p:nvPr/>
        </p:nvSpPr>
        <p:spPr>
          <a:xfrm>
            <a:off x="8873412" y="4230400"/>
            <a:ext cx="1646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 needs 1,000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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26420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Fixed Thread Pool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49553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Executors.newFixedThreadPool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numberOfThreads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Creates a thread pool that reuses a fixed number of threads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Operating off a shared unbounded queue.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At any point, at most n Threads threads will be active processing tasks.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Fixed Thread Pool</a:t>
            </a:r>
          </a:p>
        </p:txBody>
      </p:sp>
    </p:spTree>
    <p:extLst>
      <p:ext uri="{BB962C8B-B14F-4D97-AF65-F5344CB8AC3E}">
        <p14:creationId xmlns:p14="http://schemas.microsoft.com/office/powerpoint/2010/main" val="21196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Executors.newFixedThreadPool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numberOfThreads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If additional tasks are submitted, they will wait in the queue.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If any thread terminates due to a failure, a new one will take its.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The threads in the pool will exist until shutdown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Fixed Thread Pool</a:t>
            </a:r>
          </a:p>
        </p:txBody>
      </p:sp>
    </p:spTree>
    <p:extLst>
      <p:ext uri="{BB962C8B-B14F-4D97-AF65-F5344CB8AC3E}">
        <p14:creationId xmlns:p14="http://schemas.microsoft.com/office/powerpoint/2010/main" val="10803684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40" y="2210243"/>
            <a:ext cx="5562746" cy="2732386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Example: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Fixed Thread Pool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22" y="2274979"/>
            <a:ext cx="5464772" cy="29392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92840" y="2957640"/>
            <a:ext cx="5387418" cy="9467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92840" y="3904408"/>
            <a:ext cx="5387418" cy="9467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792" y="5000867"/>
            <a:ext cx="3078454" cy="159415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2" name="Straight Arrow Connector 11"/>
          <p:cNvCxnSpPr/>
          <p:nvPr/>
        </p:nvCxnSpPr>
        <p:spPr>
          <a:xfrm>
            <a:off x="3629278" y="4021742"/>
            <a:ext cx="611514" cy="979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87281" y="5555502"/>
            <a:ext cx="1578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Simple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TaskA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56928-AA65-D16D-B520-BDF6D93C119B}"/>
              </a:ext>
            </a:extLst>
          </p:cNvPr>
          <p:cNvSpPr txBox="1">
            <a:spLocks/>
          </p:cNvSpPr>
          <p:nvPr/>
        </p:nvSpPr>
        <p:spPr>
          <a:xfrm>
            <a:off x="936516" y="18163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CSEN160_07_Threads.L_FixedThreadPool.FixedThreadPool</a:t>
            </a:r>
          </a:p>
        </p:txBody>
      </p:sp>
    </p:spTree>
    <p:extLst>
      <p:ext uri="{BB962C8B-B14F-4D97-AF65-F5344CB8AC3E}">
        <p14:creationId xmlns:p14="http://schemas.microsoft.com/office/powerpoint/2010/main" val="11230719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Single Thread Executor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62042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Executors.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newSingleThreadExecutor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1" dirty="0">
                <a:solidFill>
                  <a:schemeClr val="tx1"/>
                </a:solidFill>
              </a:rPr>
              <a:t>Single Thread Execution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tx1"/>
                </a:solidFill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se 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single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worker thread.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chemeClr val="tx1"/>
                </a:solidFill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f </a:t>
            </a:r>
            <a:r>
              <a:rPr lang="en-US" dirty="0">
                <a:solidFill>
                  <a:schemeClr val="tx1"/>
                </a:solidFill>
              </a:rPr>
              <a:t>a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single thread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terminates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due to a failure,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a new one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will take its place.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Tasks are guaranteed to execute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sequentially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, no more than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one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task will be active.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Unlike the equivalent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newFixedThreadPool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(1) it is guaranteed not to be reconfigurable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6398914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Single Thread Executor</a:t>
            </a:r>
          </a:p>
        </p:txBody>
      </p:sp>
    </p:spTree>
    <p:extLst>
      <p:ext uri="{BB962C8B-B14F-4D97-AF65-F5344CB8AC3E}">
        <p14:creationId xmlns:p14="http://schemas.microsoft.com/office/powerpoint/2010/main" val="35902461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Executors.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newSingleThreadExecutor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Tasks get serialized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No need for synchronization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6398914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Single Thread Executor</a:t>
            </a:r>
          </a:p>
        </p:txBody>
      </p:sp>
    </p:spTree>
    <p:extLst>
      <p:ext uri="{BB962C8B-B14F-4D97-AF65-F5344CB8AC3E}">
        <p14:creationId xmlns:p14="http://schemas.microsoft.com/office/powerpoint/2010/main" val="9247520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Example: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6398914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Single Thread Executor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79" y="2348603"/>
            <a:ext cx="4942244" cy="27596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099" y="2263637"/>
            <a:ext cx="5644391" cy="2732386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5332819" y="357060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796" y="5018669"/>
            <a:ext cx="3078454" cy="159415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Straight Arrow Connector 5"/>
          <p:cNvCxnSpPr/>
          <p:nvPr/>
        </p:nvCxnSpPr>
        <p:spPr>
          <a:xfrm>
            <a:off x="3479575" y="3944867"/>
            <a:ext cx="1258312" cy="1073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9A097C-8197-D074-4988-E4055D993789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CSEN160_07_Threads.N_SingleThreadExecutor.SingleThreadExecutor</a:t>
            </a:r>
          </a:p>
        </p:txBody>
      </p:sp>
    </p:spTree>
    <p:extLst>
      <p:ext uri="{BB962C8B-B14F-4D97-AF65-F5344CB8AC3E}">
        <p14:creationId xmlns:p14="http://schemas.microsoft.com/office/powerpoint/2010/main" val="39128677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Callable Interface</a:t>
            </a:r>
            <a:br>
              <a:rPr lang="en-US" dirty="0"/>
            </a:br>
            <a:r>
              <a:rPr lang="en-US" dirty="0"/>
              <a:t>Submit &amp; Future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414921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Callable Interface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Returns something in contrast to Runnable interface!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6398914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Callable Interface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947" y="2660035"/>
            <a:ext cx="6179863" cy="335862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80492" y="2633958"/>
            <a:ext cx="1820708" cy="3681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19243" y="4550422"/>
            <a:ext cx="4456014" cy="13769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E13C45-1779-D7C9-774E-9582DEA57CE5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CSEN160_07_Threads.O_Callable.SorterCallable</a:t>
            </a:r>
          </a:p>
        </p:txBody>
      </p:sp>
    </p:spTree>
    <p:extLst>
      <p:ext uri="{BB962C8B-B14F-4D97-AF65-F5344CB8AC3E}">
        <p14:creationId xmlns:p14="http://schemas.microsoft.com/office/powerpoint/2010/main" val="27279012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538" y="898472"/>
            <a:ext cx="5072876" cy="4348957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Callable Example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6398914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Callable Interface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921" y="2501986"/>
            <a:ext cx="5051615" cy="27454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66648" y="2848396"/>
            <a:ext cx="4074340" cy="1861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0019" y="4799324"/>
            <a:ext cx="1589356" cy="1807076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9459589" y="3237433"/>
            <a:ext cx="780882" cy="1520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664288" y="1251151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Execute only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 Callable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example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29BEB9-B592-6A87-124D-61667A0D354A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</a:t>
            </a:r>
            <a:r>
              <a:rPr lang="en-US" dirty="0" err="1">
                <a:solidFill>
                  <a:srgbClr val="FF0000"/>
                </a:solidFill>
                <a:latin typeface="Arial" panose="020B0604020202020204"/>
              </a:rPr>
              <a:t>O_Callable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53949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Callable Example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6398914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Callable Interface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921" y="2501986"/>
            <a:ext cx="5051615" cy="27454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727" y="1056419"/>
            <a:ext cx="4904143" cy="55300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57405" y="2662280"/>
            <a:ext cx="3568588" cy="13716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76810" y="2867356"/>
            <a:ext cx="13847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Polling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8884" y="2881223"/>
            <a:ext cx="1164566" cy="146648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F786A22-29D9-CA1A-D43F-03EECB6F1345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</a:t>
            </a:r>
            <a:r>
              <a:rPr lang="en-US" dirty="0" err="1">
                <a:solidFill>
                  <a:srgbClr val="FF0000"/>
                </a:solidFill>
                <a:latin typeface="Arial" panose="020B0604020202020204"/>
              </a:rPr>
              <a:t>O_Callable.CallableSorterDemoMain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71957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/>
              <a:t>Done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2242</TotalTime>
  <Words>2051</Words>
  <Application>Microsoft Office PowerPoint</Application>
  <PresentationFormat>Widescreen</PresentationFormat>
  <Paragraphs>563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71</vt:i4>
      </vt:variant>
    </vt:vector>
  </HeadingPairs>
  <TitlesOfParts>
    <vt:vector size="81" baseType="lpstr">
      <vt:lpstr>Arial</vt:lpstr>
      <vt:lpstr>Arial Narrow</vt:lpstr>
      <vt:lpstr>Calibri</vt:lpstr>
      <vt:lpstr>Courier</vt:lpstr>
      <vt:lpstr>Garamond</vt:lpstr>
      <vt:lpstr>Times New Roman</vt:lpstr>
      <vt:lpstr>Wingdings</vt:lpstr>
      <vt:lpstr>SCUTemplate</vt:lpstr>
      <vt:lpstr>Custom Design</vt:lpstr>
      <vt:lpstr>1_SCUTemplate</vt:lpstr>
      <vt:lpstr>CSEN160</vt:lpstr>
      <vt:lpstr>Thread Memory</vt:lpstr>
      <vt:lpstr>Thread Memory</vt:lpstr>
      <vt:lpstr>Thread Memory</vt:lpstr>
      <vt:lpstr>Thread Memory</vt:lpstr>
      <vt:lpstr>Volatile</vt:lpstr>
      <vt:lpstr>Volatile</vt:lpstr>
      <vt:lpstr>Volatile</vt:lpstr>
      <vt:lpstr>Volatile</vt:lpstr>
      <vt:lpstr>Volatile</vt:lpstr>
      <vt:lpstr>Volatile keyword</vt:lpstr>
      <vt:lpstr>Volatile keyword</vt:lpstr>
      <vt:lpstr>Volatile keyword</vt:lpstr>
      <vt:lpstr>How to end Threads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Daemon</vt:lpstr>
      <vt:lpstr>Daemon vs user threads</vt:lpstr>
      <vt:lpstr>Daemon vs user threads</vt:lpstr>
      <vt:lpstr>PowerPoint Presentation</vt:lpstr>
      <vt:lpstr>PowerPoint Presentation</vt:lpstr>
      <vt:lpstr>Problems with Threads</vt:lpstr>
      <vt:lpstr>Problems With Threads</vt:lpstr>
      <vt:lpstr>Assembler Example – Race Condition</vt:lpstr>
      <vt:lpstr>Deadlock</vt:lpstr>
      <vt:lpstr>Deadlock</vt:lpstr>
      <vt:lpstr>Starvation</vt:lpstr>
      <vt:lpstr>Starvation</vt:lpstr>
      <vt:lpstr>PowerPoint Presentation</vt:lpstr>
      <vt:lpstr>Virtual Threads JDK 21</vt:lpstr>
      <vt:lpstr>Virtual Threads</vt:lpstr>
      <vt:lpstr>Virtual Threads</vt:lpstr>
      <vt:lpstr>Virtual Threads</vt:lpstr>
      <vt:lpstr>Virtual Threads</vt:lpstr>
      <vt:lpstr>Virtual Threads</vt:lpstr>
      <vt:lpstr>Virtual Threads</vt:lpstr>
      <vt:lpstr>Virtual Threads</vt:lpstr>
      <vt:lpstr>Virtual Threads</vt:lpstr>
      <vt:lpstr>java.util.concurrent. ExecutorService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Cached Thread Pool (Standard choice)</vt:lpstr>
      <vt:lpstr>PowerPoint Presentation</vt:lpstr>
      <vt:lpstr>PowerPoint Presentation</vt:lpstr>
      <vt:lpstr>PowerPoint Presentation</vt:lpstr>
      <vt:lpstr>PowerPoint Presentation</vt:lpstr>
      <vt:lpstr>Performance?</vt:lpstr>
      <vt:lpstr>PowerPoint Presentation</vt:lpstr>
      <vt:lpstr>PowerPoint Presentation</vt:lpstr>
      <vt:lpstr>Threads</vt:lpstr>
      <vt:lpstr>Fixed Thread Pool</vt:lpstr>
      <vt:lpstr>PowerPoint Presentation</vt:lpstr>
      <vt:lpstr>PowerPoint Presentation</vt:lpstr>
      <vt:lpstr>PowerPoint Presentation</vt:lpstr>
      <vt:lpstr>Single Thread Executor</vt:lpstr>
      <vt:lpstr>PowerPoint Presentation</vt:lpstr>
      <vt:lpstr>PowerPoint Presentation</vt:lpstr>
      <vt:lpstr>PowerPoint Presentation</vt:lpstr>
      <vt:lpstr>Callable Interface Submit &amp; Future</vt:lpstr>
      <vt:lpstr>PowerPoint Presentation</vt:lpstr>
      <vt:lpstr>PowerPoint Presentation</vt:lpstr>
      <vt:lpstr>PowerPoint Presentation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244</cp:revision>
  <cp:lastPrinted>2023-09-11T21:46:56Z</cp:lastPrinted>
  <dcterms:created xsi:type="dcterms:W3CDTF">2023-09-09T19:51:41Z</dcterms:created>
  <dcterms:modified xsi:type="dcterms:W3CDTF">2026-08-22T01:54:29Z</dcterms:modified>
</cp:coreProperties>
</file>