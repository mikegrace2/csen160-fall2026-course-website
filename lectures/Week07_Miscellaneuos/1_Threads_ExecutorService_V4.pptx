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  <p:sldMasterId id="2147483687" r:id="rId3"/>
  </p:sldMasterIdLst>
  <p:notesMasterIdLst>
    <p:notesMasterId r:id="rId36"/>
  </p:notesMasterIdLst>
  <p:handoutMasterIdLst>
    <p:handoutMasterId r:id="rId37"/>
  </p:handoutMasterIdLst>
  <p:sldIdLst>
    <p:sldId id="333" r:id="rId4"/>
    <p:sldId id="343" r:id="rId5"/>
    <p:sldId id="344" r:id="rId6"/>
    <p:sldId id="345" r:id="rId7"/>
    <p:sldId id="347" r:id="rId8"/>
    <p:sldId id="349" r:id="rId9"/>
    <p:sldId id="346" r:id="rId10"/>
    <p:sldId id="352" r:id="rId11"/>
    <p:sldId id="348" r:id="rId12"/>
    <p:sldId id="353" r:id="rId13"/>
    <p:sldId id="367" r:id="rId14"/>
    <p:sldId id="357" r:id="rId15"/>
    <p:sldId id="359" r:id="rId16"/>
    <p:sldId id="355" r:id="rId17"/>
    <p:sldId id="360" r:id="rId18"/>
    <p:sldId id="362" r:id="rId19"/>
    <p:sldId id="361" r:id="rId20"/>
    <p:sldId id="366" r:id="rId21"/>
    <p:sldId id="462" r:id="rId22"/>
    <p:sldId id="351" r:id="rId23"/>
    <p:sldId id="368" r:id="rId24"/>
    <p:sldId id="369" r:id="rId25"/>
    <p:sldId id="371" r:id="rId26"/>
    <p:sldId id="372" r:id="rId27"/>
    <p:sldId id="375" r:id="rId28"/>
    <p:sldId id="373" r:id="rId29"/>
    <p:sldId id="376" r:id="rId30"/>
    <p:sldId id="379" r:id="rId31"/>
    <p:sldId id="380" r:id="rId32"/>
    <p:sldId id="381" r:id="rId33"/>
    <p:sldId id="336" r:id="rId34"/>
    <p:sldId id="509" r:id="rId35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259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516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viewProps" Target="viewProps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8E938536-29D3-49BD-A567-41CAF057586A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B2E2B272-7A3A-4005-B1B0-0F9070B87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7907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1559A16-B3AD-4CE2-9A5E-FAAD3C2C27CA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8C6438F-747C-40FA-8F40-021E653C0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0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669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811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698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417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494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000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40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107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721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03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048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178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145046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7506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4800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6008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4086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2073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80891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4435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9839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7919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4304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8934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7763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31139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33056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21138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6587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54137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69430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303953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75687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57994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7955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89712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B289B0-9BEC-4093-861C-76154CD68B5D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10/27/2026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136E94-7335-4773-A64D-0D46B1CA62E8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244945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44D533-7F64-4678-892D-1BE11DF2052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61663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1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2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35.xml"/><Relationship Id="rId20" Type="http://schemas.openxmlformats.org/officeDocument/2006/relationships/theme" Target="../theme/theme3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9.xml"/><Relationship Id="rId19" Type="http://schemas.openxmlformats.org/officeDocument/2006/relationships/slideLayout" Target="../slideLayouts/slideLayout38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33.xml"/><Relationship Id="rId22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924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82" r:id="rId13"/>
    <p:sldLayoutId id="2147483683" r:id="rId14"/>
    <p:sldLayoutId id="2147483685" r:id="rId15"/>
    <p:sldLayoutId id="2147483686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307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EF7EA9-7F89-AB44-B414-A35A39B88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0015"/>
            <a:ext cx="10515600" cy="642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578A8-B26A-4945-96B6-DF5E5BC7D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697162"/>
            <a:ext cx="10515600" cy="3246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 err="1"/>
              <a:t>Secod</a:t>
            </a:r>
            <a:r>
              <a:rPr lang="en-US" dirty="0"/>
              <a:t>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94CFB0A-34C6-5D42-83C5-6E58C3499080}"/>
              </a:ext>
            </a:extLst>
          </p:cNvPr>
          <p:cNvCxnSpPr>
            <a:cxnSpLocks/>
          </p:cNvCxnSpPr>
          <p:nvPr/>
        </p:nvCxnSpPr>
        <p:spPr>
          <a:xfrm>
            <a:off x="956394" y="730089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306B758-975E-984A-8DF2-F551E50A3FBA}"/>
              </a:ext>
            </a:extLst>
          </p:cNvPr>
          <p:cNvCxnSpPr>
            <a:cxnSpLocks/>
          </p:cNvCxnSpPr>
          <p:nvPr/>
        </p:nvCxnSpPr>
        <p:spPr>
          <a:xfrm>
            <a:off x="956394" y="388502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4BCBDF38-9EC5-8347-AE99-4FA5381A78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0924" y="472981"/>
            <a:ext cx="3880944" cy="17262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A5D1952-D4DE-0B48-9AEC-F81A6CB6ED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474" y="157274"/>
            <a:ext cx="804042" cy="80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626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0207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  <p:sldLayoutId id="2147483705" r:id="rId18"/>
    <p:sldLayoutId id="2147483706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8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8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8.xml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8.xml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8.xml"/><Relationship Id="rId4" Type="http://schemas.openxmlformats.org/officeDocument/2006/relationships/image" Target="../media/image3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317890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Fall 2026</a:t>
            </a:r>
          </a:p>
          <a:p>
            <a:r>
              <a:rPr lang="en-US" dirty="0">
                <a:solidFill>
                  <a:schemeClr val="tx1"/>
                </a:solidFill>
              </a:rPr>
              <a:t>Object-Oriented Analysis, Design and Programming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Michael Schimpf, PhD, mschimpf@scu.edu</a:t>
            </a:r>
          </a:p>
          <a:p>
            <a:r>
              <a:rPr lang="en-US" dirty="0">
                <a:solidFill>
                  <a:schemeClr val="tx1"/>
                </a:solidFill>
              </a:rPr>
              <a:t>Department of Computer Science and Engineering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818BAB-0338-734A-B1E8-2463F3B29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CSEN160</a:t>
            </a:r>
          </a:p>
        </p:txBody>
      </p:sp>
    </p:spTree>
    <p:extLst>
      <p:ext uri="{BB962C8B-B14F-4D97-AF65-F5344CB8AC3E}">
        <p14:creationId xmlns:p14="http://schemas.microsoft.com/office/powerpoint/2010/main" val="4052080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sz="4000" dirty="0" err="1"/>
              <a:t>java.util.concurrent</a:t>
            </a:r>
            <a:r>
              <a:rPr lang="en-US" sz="4000" dirty="0"/>
              <a:t>.</a:t>
            </a:r>
            <a:br>
              <a:rPr lang="en-US" dirty="0"/>
            </a:br>
            <a:r>
              <a:rPr lang="en-US" dirty="0" err="1"/>
              <a:t>ExecutorService</a:t>
            </a:r>
            <a:endParaRPr lang="en-US" dirty="0"/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18748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>
          <a:xfrm>
            <a:off x="949465" y="1712816"/>
            <a:ext cx="10516949" cy="492265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  <a:cs typeface="Courier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Courier"/>
              </a:rPr>
              <a:t>“Easy” to use framework to handle Threads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solidFill>
                <a:schemeClr val="tx1"/>
              </a:solidFill>
              <a:cs typeface="Courier"/>
            </a:endParaRPr>
          </a:p>
          <a:p>
            <a:pPr lvl="1">
              <a:spcBef>
                <a:spcPts val="1000"/>
              </a:spcBef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Courier"/>
              </a:rPr>
              <a:t>Easy is relative!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  <a:cs typeface="Courier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Courier"/>
              </a:rPr>
              <a:t>Thread Pool Facility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  <a:cs typeface="Courier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Courier"/>
              </a:rPr>
              <a:t>Since Java 5 (initial version)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936516" y="737373"/>
            <a:ext cx="4003672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Executor Service</a:t>
            </a:r>
          </a:p>
        </p:txBody>
      </p:sp>
    </p:spTree>
    <p:extLst>
      <p:ext uri="{BB962C8B-B14F-4D97-AF65-F5344CB8AC3E}">
        <p14:creationId xmlns:p14="http://schemas.microsoft.com/office/powerpoint/2010/main" val="33971659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>
          <a:xfrm>
            <a:off x="949465" y="1712816"/>
            <a:ext cx="10516949" cy="492265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Courier"/>
              </a:rPr>
              <a:t>Four components: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  <a:cs typeface="Courier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Executor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: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Main interface, which is an abstraction of Threads. 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It separates tasks from execution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This is different from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java.lang.Thread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, which combines both task and its execution. 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execute(Runnable);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936516" y="737373"/>
            <a:ext cx="4003672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Executor Service</a:t>
            </a:r>
          </a:p>
        </p:txBody>
      </p:sp>
    </p:spTree>
    <p:extLst>
      <p:ext uri="{BB962C8B-B14F-4D97-AF65-F5344CB8AC3E}">
        <p14:creationId xmlns:p14="http://schemas.microsoft.com/office/powerpoint/2010/main" val="2752975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>
          <a:xfrm>
            <a:off x="949465" y="1712816"/>
            <a:ext cx="10516949" cy="492265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  <a:cs typeface="Courier"/>
              </a:rPr>
              <a:t>Three components: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ExecutorService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: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Is an extension of the Executor interface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Provides a facility for returning a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Future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object 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It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terminates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, or shut down the thread pool. Once the shutdown is called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The thread pool will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not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accept new tasks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but complete any pending task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. 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It also provides a submit() method which extends 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Executor.execute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() method and returns a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Future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rial Narrow" panose="020B0604020202020204" pitchFamily="34" charset="0"/>
              <a:ea typeface="+mn-ea"/>
              <a:cs typeface="Courier"/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936516" y="737373"/>
            <a:ext cx="4003672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Executor Service</a:t>
            </a:r>
          </a:p>
        </p:txBody>
      </p:sp>
    </p:spTree>
    <p:extLst>
      <p:ext uri="{BB962C8B-B14F-4D97-AF65-F5344CB8AC3E}">
        <p14:creationId xmlns:p14="http://schemas.microsoft.com/office/powerpoint/2010/main" val="5868267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>
          <a:xfrm>
            <a:off x="949465" y="1712816"/>
            <a:ext cx="10516949" cy="492265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ExecutorService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: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Provides a lifecycle for Threads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Future submit (Callable)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Void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shutdownNow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()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Boolean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isShutdown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()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936516" y="737373"/>
            <a:ext cx="4003672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Executor Service</a:t>
            </a:r>
          </a:p>
        </p:txBody>
      </p:sp>
    </p:spTree>
    <p:extLst>
      <p:ext uri="{BB962C8B-B14F-4D97-AF65-F5344CB8AC3E}">
        <p14:creationId xmlns:p14="http://schemas.microsoft.com/office/powerpoint/2010/main" val="29664069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>
          <a:xfrm>
            <a:off x="949465" y="1712816"/>
            <a:ext cx="10516949" cy="492265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  <a:cs typeface="Courier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Executors: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1001B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The actual implementations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Utility class, which is something like a Collections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It provides 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factory methods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 to create different types of thread pools 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E.g. fixed and cached thread pools. 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Provides static methods for: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newFixedThreadPool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(…)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newCachedThreadPool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();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newSingleThreadExecutor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(); // executed sequentially, queue based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newSingleThreadsSchedulerExecutor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();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…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936516" y="737373"/>
            <a:ext cx="4003672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Executor Service</a:t>
            </a:r>
          </a:p>
        </p:txBody>
      </p:sp>
    </p:spTree>
    <p:extLst>
      <p:ext uri="{BB962C8B-B14F-4D97-AF65-F5344CB8AC3E}">
        <p14:creationId xmlns:p14="http://schemas.microsoft.com/office/powerpoint/2010/main" val="4882039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>
          <a:xfrm>
            <a:off x="949465" y="1712816"/>
            <a:ext cx="10516949" cy="492265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rial Narrow" panose="020B0604020202020204" pitchFamily="34" charset="0"/>
              <a:ea typeface="+mn-ea"/>
              <a:cs typeface="Courier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936516" y="737373"/>
            <a:ext cx="4003672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Executor Service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514" y="2676851"/>
            <a:ext cx="8375477" cy="361875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23643" y="2152319"/>
            <a:ext cx="4827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 lot of different implementations/options:</a:t>
            </a:r>
          </a:p>
        </p:txBody>
      </p:sp>
    </p:spTree>
    <p:extLst>
      <p:ext uri="{BB962C8B-B14F-4D97-AF65-F5344CB8AC3E}">
        <p14:creationId xmlns:p14="http://schemas.microsoft.com/office/powerpoint/2010/main" val="33631323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>
          <a:xfrm>
            <a:off x="949465" y="1712816"/>
            <a:ext cx="10516949" cy="492265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  <a:cs typeface="Courier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Future: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Return data structure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Based on the Callable Threads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Runnable on the other hand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1001B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cannot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return anything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936516" y="737373"/>
            <a:ext cx="4003672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Executor Service</a:t>
            </a:r>
          </a:p>
        </p:txBody>
      </p:sp>
    </p:spTree>
    <p:extLst>
      <p:ext uri="{BB962C8B-B14F-4D97-AF65-F5344CB8AC3E}">
        <p14:creationId xmlns:p14="http://schemas.microsoft.com/office/powerpoint/2010/main" val="2667759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Cached Thread Pool</a:t>
            </a:r>
            <a:br>
              <a:rPr lang="en-US" dirty="0"/>
            </a:br>
            <a:r>
              <a:rPr lang="en-US" sz="4000" dirty="0"/>
              <a:t>(Standard choice)</a:t>
            </a:r>
            <a:endParaRPr lang="en-US" dirty="0"/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368190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>
          <a:xfrm>
            <a:off x="949465" y="1712816"/>
            <a:ext cx="10516949" cy="492265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Creates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a thread pool that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creates new threads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as needed.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But will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reuse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previously constructed threads when they are available.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These pools will typically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improve the performance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of programs that execute 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many short-lived asynchronous tasks.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936516" y="737373"/>
            <a:ext cx="5079912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Cached Thread Pool</a:t>
            </a:r>
          </a:p>
        </p:txBody>
      </p:sp>
    </p:spTree>
    <p:extLst>
      <p:ext uri="{BB962C8B-B14F-4D97-AF65-F5344CB8AC3E}">
        <p14:creationId xmlns:p14="http://schemas.microsoft.com/office/powerpoint/2010/main" val="1712568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>
          <a:xfrm>
            <a:off x="949465" y="1712816"/>
            <a:ext cx="10516949" cy="492265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Calls to execute will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reuse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 previously constructed threads if available.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If no existing thread is available: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A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new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 thread will be created and added to the pool. 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936516" y="737373"/>
            <a:ext cx="5079912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Cached Thread Pool</a:t>
            </a:r>
          </a:p>
        </p:txBody>
      </p:sp>
    </p:spTree>
    <p:extLst>
      <p:ext uri="{BB962C8B-B14F-4D97-AF65-F5344CB8AC3E}">
        <p14:creationId xmlns:p14="http://schemas.microsoft.com/office/powerpoint/2010/main" val="9264082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>
          <a:xfrm>
            <a:off x="949465" y="1712816"/>
            <a:ext cx="10516949" cy="492265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If a thread have not been used for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sixty seconds </a:t>
            </a:r>
            <a:r>
              <a:rPr lang="en-US" dirty="0">
                <a:solidFill>
                  <a:schemeClr val="tx1"/>
                </a:solidFill>
              </a:rPr>
              <a:t>they will be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terminated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/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removed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chemeClr val="tx1"/>
                </a:solidFill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 pool that remains idle for long enough, will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not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consume any resources.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936516" y="737373"/>
            <a:ext cx="5079912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Cached Thread Pool</a:t>
            </a:r>
          </a:p>
        </p:txBody>
      </p:sp>
    </p:spTree>
    <p:extLst>
      <p:ext uri="{BB962C8B-B14F-4D97-AF65-F5344CB8AC3E}">
        <p14:creationId xmlns:p14="http://schemas.microsoft.com/office/powerpoint/2010/main" val="3348407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>
          <a:xfrm>
            <a:off x="949465" y="1712816"/>
            <a:ext cx="10516949" cy="492265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Simple Example: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936516" y="737373"/>
            <a:ext cx="5079912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Cached Thread Pool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7828" y="5054401"/>
            <a:ext cx="3145246" cy="1442522"/>
          </a:xfrm>
          <a:prstGeom prst="rect">
            <a:avLst/>
          </a:prstGeo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D31A29D-8864-547F-F8AE-4DF71F2755B7}"/>
              </a:ext>
            </a:extLst>
          </p:cNvPr>
          <p:cNvSpPr txBox="1">
            <a:spLocks/>
          </p:cNvSpPr>
          <p:nvPr/>
        </p:nvSpPr>
        <p:spPr>
          <a:xfrm>
            <a:off x="936516" y="14205"/>
            <a:ext cx="9202096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Week08_B_Threads_II.K_executor.CachedThreadPool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5C8063-C1BD-4B60-309C-DB237878DE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465" y="2202484"/>
            <a:ext cx="5162249" cy="25418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6B6D48E-4867-1EC1-F0C7-CB3BA92B80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7828" y="1990039"/>
            <a:ext cx="3838728" cy="2569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9944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Performance?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572948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>
          <a:xfrm>
            <a:off x="949465" y="1712816"/>
            <a:ext cx="10516949" cy="492265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Speed comparison: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No synchronized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Plain execution of some random computation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936516" y="737373"/>
            <a:ext cx="5079912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Cached Thread Pool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8223" y="3946682"/>
            <a:ext cx="4399697" cy="1907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223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>
          <a:xfrm>
            <a:off x="949465" y="1712816"/>
            <a:ext cx="10516949" cy="492265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Speed comparison: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936516" y="737373"/>
            <a:ext cx="5079912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Cached Thread Pool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75" y="2283743"/>
            <a:ext cx="3804241" cy="218263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3037" y="2269811"/>
            <a:ext cx="3907979" cy="219656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5438" y="2283743"/>
            <a:ext cx="3690016" cy="23316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0600" y="4579022"/>
            <a:ext cx="2634412" cy="100695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8781" y="5107878"/>
            <a:ext cx="2541881" cy="105594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4218" y="5499262"/>
            <a:ext cx="2607197" cy="1017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7356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3877" y="2250228"/>
            <a:ext cx="2264288" cy="51164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3877" y="5818718"/>
            <a:ext cx="2503780" cy="462655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3877" y="5214598"/>
            <a:ext cx="2427578" cy="500756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3877" y="4645622"/>
            <a:ext cx="2302389" cy="49531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3877" y="4007808"/>
            <a:ext cx="2286060" cy="51164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3877" y="3363278"/>
            <a:ext cx="2264288" cy="53885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53877" y="2789832"/>
            <a:ext cx="2275174" cy="52252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57603"/>
            <a:ext cx="5601849" cy="605905"/>
          </a:xfrm>
        </p:spPr>
        <p:txBody>
          <a:bodyPr/>
          <a:lstStyle/>
          <a:p>
            <a:r>
              <a:rPr lang="en-US" dirty="0"/>
              <a:t>Threads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684687"/>
            <a:ext cx="10436840" cy="4962919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Reasonable: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6516" y="5783024"/>
            <a:ext cx="2880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Thread: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1,000,000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3943" y="2299742"/>
            <a:ext cx="2880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Thread: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3943" y="2815249"/>
            <a:ext cx="2880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Thread: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3943" y="3388896"/>
            <a:ext cx="2880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Thread: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3943" y="3964883"/>
            <a:ext cx="2880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Thread: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3943" y="4566482"/>
            <a:ext cx="2880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Thread: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10,000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3943" y="5188364"/>
            <a:ext cx="2880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Thread: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100,000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53877" y="2250228"/>
            <a:ext cx="2267670" cy="1450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253877" y="2791009"/>
            <a:ext cx="2275174" cy="1682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253877" y="3369497"/>
            <a:ext cx="2264288" cy="1588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253877" y="4182534"/>
            <a:ext cx="2264288" cy="1419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5253877" y="4811779"/>
            <a:ext cx="2322295" cy="1526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5253877" y="5821609"/>
            <a:ext cx="2429417" cy="143877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5253877" y="5532031"/>
            <a:ext cx="2416350" cy="150053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253877" y="2408175"/>
            <a:ext cx="2267670" cy="28345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253877" y="2970479"/>
            <a:ext cx="2275174" cy="156461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5253877" y="3539580"/>
            <a:ext cx="2264288" cy="13553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253877" y="4327818"/>
            <a:ext cx="2264288" cy="171351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5253877" y="4982749"/>
            <a:ext cx="2322298" cy="14146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5253877" y="5374347"/>
            <a:ext cx="2416349" cy="1479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5253877" y="5965487"/>
            <a:ext cx="2427578" cy="1682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0816F9F-4F27-0BC6-BA19-97D3D1BE407B}"/>
              </a:ext>
            </a:extLst>
          </p:cNvPr>
          <p:cNvCxnSpPr>
            <a:cxnSpLocks/>
          </p:cNvCxnSpPr>
          <p:nvPr/>
        </p:nvCxnSpPr>
        <p:spPr>
          <a:xfrm flipH="1">
            <a:off x="7556266" y="4405535"/>
            <a:ext cx="1278241" cy="6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B1AB8B1-5918-5E34-B164-30F994DF4BCC}"/>
              </a:ext>
            </a:extLst>
          </p:cNvPr>
          <p:cNvSpPr txBox="1"/>
          <p:nvPr/>
        </p:nvSpPr>
        <p:spPr>
          <a:xfrm>
            <a:off x="8873412" y="4230400"/>
            <a:ext cx="16466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It needs 1,000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Threads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Wingdings" panose="05000000000000000000" pitchFamily="2" charset="2"/>
              </a:rPr>
              <a:t>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26420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Fixed Thread Pool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849553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>
          <a:xfrm>
            <a:off x="949465" y="1712816"/>
            <a:ext cx="10516949" cy="492265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Executors.newFixedThreadPool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(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numberOfThreads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Creates a thread pool that reuses a fixed number of threads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Operating off a shared unbounded queue.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At any point, at most n Threads threads will be active processing tasks.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936516" y="737373"/>
            <a:ext cx="5079912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Fixed Thread Pool</a:t>
            </a:r>
          </a:p>
        </p:txBody>
      </p:sp>
    </p:spTree>
    <p:extLst>
      <p:ext uri="{BB962C8B-B14F-4D97-AF65-F5344CB8AC3E}">
        <p14:creationId xmlns:p14="http://schemas.microsoft.com/office/powerpoint/2010/main" val="21196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>
          <a:xfrm>
            <a:off x="949465" y="1712816"/>
            <a:ext cx="10516949" cy="492265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Executors.newFixedThreadPool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(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numberOfThreads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If additional tasks are submitted, they will wait in the queue.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If any thread terminates due to a failure, a new one will take its.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The threads in the pool will exist until shutdown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936516" y="737373"/>
            <a:ext cx="5079912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Fixed Thread Pool</a:t>
            </a:r>
          </a:p>
        </p:txBody>
      </p:sp>
    </p:spTree>
    <p:extLst>
      <p:ext uri="{BB962C8B-B14F-4D97-AF65-F5344CB8AC3E}">
        <p14:creationId xmlns:p14="http://schemas.microsoft.com/office/powerpoint/2010/main" val="10803684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840" y="2210243"/>
            <a:ext cx="5562746" cy="2732386"/>
          </a:xfrm>
          <a:prstGeom prst="rect">
            <a:avLst/>
          </a:prstGeom>
        </p:spPr>
      </p:pic>
      <p:sp>
        <p:nvSpPr>
          <p:cNvPr id="8" name="Content Placeholder 2"/>
          <p:cNvSpPr txBox="1">
            <a:spLocks/>
          </p:cNvSpPr>
          <p:nvPr/>
        </p:nvSpPr>
        <p:spPr>
          <a:xfrm>
            <a:off x="949465" y="1712816"/>
            <a:ext cx="10516949" cy="492265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Example: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936516" y="737373"/>
            <a:ext cx="5079912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Fixed Thread Pool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522" y="2274979"/>
            <a:ext cx="5464772" cy="29392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592840" y="2957640"/>
            <a:ext cx="5387418" cy="94676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592840" y="3904408"/>
            <a:ext cx="5387418" cy="94676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0792" y="5000867"/>
            <a:ext cx="3078454" cy="1594154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2" name="Straight Arrow Connector 11"/>
          <p:cNvCxnSpPr/>
          <p:nvPr/>
        </p:nvCxnSpPr>
        <p:spPr>
          <a:xfrm>
            <a:off x="3629278" y="4021742"/>
            <a:ext cx="611514" cy="9791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687281" y="5555502"/>
            <a:ext cx="1578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Simple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TaskA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56928-AA65-D16D-B520-BDF6D93C119B}"/>
              </a:ext>
            </a:extLst>
          </p:cNvPr>
          <p:cNvSpPr txBox="1">
            <a:spLocks/>
          </p:cNvSpPr>
          <p:nvPr/>
        </p:nvSpPr>
        <p:spPr>
          <a:xfrm>
            <a:off x="936516" y="18163"/>
            <a:ext cx="9202096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CSEN160_07_Threads.L_FixedThreadPool.FixedThreadPool</a:t>
            </a:r>
          </a:p>
        </p:txBody>
      </p:sp>
    </p:spTree>
    <p:extLst>
      <p:ext uri="{BB962C8B-B14F-4D97-AF65-F5344CB8AC3E}">
        <p14:creationId xmlns:p14="http://schemas.microsoft.com/office/powerpoint/2010/main" val="11230719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Single Thread Executor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262042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>
          <a:xfrm>
            <a:off x="949465" y="1712816"/>
            <a:ext cx="10516949" cy="492265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Executors.</a:t>
            </a: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newSingleThreadExecutor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();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b="1" dirty="0">
                <a:solidFill>
                  <a:schemeClr val="tx1"/>
                </a:solidFill>
              </a:rPr>
              <a:t>Single Thread Execution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: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chemeClr val="tx1"/>
                </a:solidFill>
              </a:rPr>
              <a:t>U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se 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single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worker thread.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en-US" b="1" dirty="0">
              <a:solidFill>
                <a:schemeClr val="tx1"/>
              </a:solidFill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dirty="0">
                <a:solidFill>
                  <a:schemeClr val="tx1"/>
                </a:solidFill>
              </a:rPr>
              <a:t>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f </a:t>
            </a:r>
            <a:r>
              <a:rPr lang="en-US" dirty="0">
                <a:solidFill>
                  <a:schemeClr val="tx1"/>
                </a:solidFill>
              </a:rPr>
              <a:t>a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single thread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terminates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due to a failure,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a new one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will take its place.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Tasks are guaranteed to execute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sequentially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, no more than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one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task will be active.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Unlike the equivalent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newFixedThreadPool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(1) it is guaranteed not to be reconfigurable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.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936516" y="737373"/>
            <a:ext cx="6398914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Single Thread Executor</a:t>
            </a:r>
          </a:p>
        </p:txBody>
      </p:sp>
    </p:spTree>
    <p:extLst>
      <p:ext uri="{BB962C8B-B14F-4D97-AF65-F5344CB8AC3E}">
        <p14:creationId xmlns:p14="http://schemas.microsoft.com/office/powerpoint/2010/main" val="35902461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>
          <a:xfrm>
            <a:off x="949465" y="1712816"/>
            <a:ext cx="10516949" cy="492265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Executors.</a:t>
            </a: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newSingleThreadExecutor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();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Tasks get serialized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No need for synchronization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936516" y="737373"/>
            <a:ext cx="6398914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Single Thread Executor</a:t>
            </a:r>
          </a:p>
        </p:txBody>
      </p:sp>
    </p:spTree>
    <p:extLst>
      <p:ext uri="{BB962C8B-B14F-4D97-AF65-F5344CB8AC3E}">
        <p14:creationId xmlns:p14="http://schemas.microsoft.com/office/powerpoint/2010/main" val="9247520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>
          <a:xfrm>
            <a:off x="949465" y="1712816"/>
            <a:ext cx="10516949" cy="492265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Example: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936516" y="737373"/>
            <a:ext cx="6398914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Single Thread Executor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779" y="2348603"/>
            <a:ext cx="4942244" cy="275960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7099" y="2263637"/>
            <a:ext cx="5644391" cy="2732386"/>
          </a:xfrm>
          <a:prstGeom prst="rect">
            <a:avLst/>
          </a:prstGeom>
        </p:spPr>
      </p:pic>
      <p:sp>
        <p:nvSpPr>
          <p:cNvPr id="4" name="Right Arrow 3"/>
          <p:cNvSpPr/>
          <p:nvPr/>
        </p:nvSpPr>
        <p:spPr>
          <a:xfrm>
            <a:off x="5332819" y="3570609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2796" y="5018669"/>
            <a:ext cx="3078454" cy="1594154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6" name="Straight Arrow Connector 5"/>
          <p:cNvCxnSpPr/>
          <p:nvPr/>
        </p:nvCxnSpPr>
        <p:spPr>
          <a:xfrm>
            <a:off x="3479575" y="3944867"/>
            <a:ext cx="1258312" cy="10738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29A097C-8197-D074-4988-E4055D993789}"/>
              </a:ext>
            </a:extLst>
          </p:cNvPr>
          <p:cNvSpPr txBox="1">
            <a:spLocks/>
          </p:cNvSpPr>
          <p:nvPr/>
        </p:nvSpPr>
        <p:spPr>
          <a:xfrm>
            <a:off x="936516" y="14205"/>
            <a:ext cx="9202096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CSEN160_07_Threads.N_SingleThreadExecutor.SingleThreadExecutor</a:t>
            </a:r>
          </a:p>
        </p:txBody>
      </p:sp>
    </p:spTree>
    <p:extLst>
      <p:ext uri="{BB962C8B-B14F-4D97-AF65-F5344CB8AC3E}">
        <p14:creationId xmlns:p14="http://schemas.microsoft.com/office/powerpoint/2010/main" val="39128677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Callable Interface</a:t>
            </a:r>
            <a:br>
              <a:rPr lang="en-US" dirty="0"/>
            </a:br>
            <a:r>
              <a:rPr lang="en-US" dirty="0"/>
              <a:t>Submit &amp; Future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441492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>
          <a:xfrm>
            <a:off x="949465" y="1712816"/>
            <a:ext cx="10516949" cy="492265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Callable Interface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: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Returns something in contrast to Runnable interface!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936516" y="737373"/>
            <a:ext cx="6398914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Callable Interface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2947" y="2660035"/>
            <a:ext cx="6179863" cy="335862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780492" y="2633958"/>
            <a:ext cx="1820708" cy="36818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919243" y="4550422"/>
            <a:ext cx="4456014" cy="13769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9E13C45-1779-D7C9-774E-9582DEA57CE5}"/>
              </a:ext>
            </a:extLst>
          </p:cNvPr>
          <p:cNvSpPr txBox="1">
            <a:spLocks/>
          </p:cNvSpPr>
          <p:nvPr/>
        </p:nvSpPr>
        <p:spPr>
          <a:xfrm>
            <a:off x="936516" y="14205"/>
            <a:ext cx="9202096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CSEN160_07_Threads.O_Callable.SorterCallable</a:t>
            </a:r>
          </a:p>
        </p:txBody>
      </p:sp>
    </p:spTree>
    <p:extLst>
      <p:ext uri="{BB962C8B-B14F-4D97-AF65-F5344CB8AC3E}">
        <p14:creationId xmlns:p14="http://schemas.microsoft.com/office/powerpoint/2010/main" val="27279012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3538" y="898472"/>
            <a:ext cx="5072876" cy="4348957"/>
          </a:xfrm>
          <a:prstGeom prst="rect">
            <a:avLst/>
          </a:prstGeom>
        </p:spPr>
      </p:pic>
      <p:sp>
        <p:nvSpPr>
          <p:cNvPr id="8" name="Content Placeholder 2"/>
          <p:cNvSpPr txBox="1">
            <a:spLocks/>
          </p:cNvSpPr>
          <p:nvPr/>
        </p:nvSpPr>
        <p:spPr>
          <a:xfrm>
            <a:off x="949465" y="1712816"/>
            <a:ext cx="10516949" cy="492265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Callable Example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: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936516" y="737373"/>
            <a:ext cx="6398914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Callable Interface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921" y="2501986"/>
            <a:ext cx="5051615" cy="274544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266648" y="2848396"/>
            <a:ext cx="4074340" cy="18611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0019" y="4799324"/>
            <a:ext cx="1589356" cy="1807076"/>
          </a:xfrm>
          <a:prstGeom prst="rect">
            <a:avLst/>
          </a:prstGeom>
        </p:spPr>
      </p:pic>
      <p:cxnSp>
        <p:nvCxnSpPr>
          <p:cNvPr id="11" name="Straight Arrow Connector 10"/>
          <p:cNvCxnSpPr/>
          <p:nvPr/>
        </p:nvCxnSpPr>
        <p:spPr>
          <a:xfrm>
            <a:off x="9459589" y="3237433"/>
            <a:ext cx="780882" cy="15206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664288" y="1251151"/>
            <a:ext cx="16081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Execute only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one Callable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example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029BEB9-B592-6A87-124D-61667A0D354A}"/>
              </a:ext>
            </a:extLst>
          </p:cNvPr>
          <p:cNvSpPr txBox="1">
            <a:spLocks/>
          </p:cNvSpPr>
          <p:nvPr/>
        </p:nvSpPr>
        <p:spPr>
          <a:xfrm>
            <a:off x="936516" y="14205"/>
            <a:ext cx="9202096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buNone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CSEN160_07_Threads.</a:t>
            </a:r>
            <a:r>
              <a:rPr lang="en-US" dirty="0" err="1">
                <a:solidFill>
                  <a:srgbClr val="FF0000"/>
                </a:solidFill>
                <a:latin typeface="Arial" panose="020B0604020202020204"/>
              </a:rPr>
              <a:t>O_Callable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853949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>
          <a:xfrm>
            <a:off x="949465" y="1712816"/>
            <a:ext cx="10516949" cy="492265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Callable Example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: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936516" y="737373"/>
            <a:ext cx="6398914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Callable Interface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921" y="2501986"/>
            <a:ext cx="5051615" cy="274544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2727" y="1056419"/>
            <a:ext cx="4904143" cy="553008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157405" y="2662280"/>
            <a:ext cx="3568588" cy="1371600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676810" y="2867356"/>
            <a:ext cx="138473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Polling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668884" y="2881223"/>
            <a:ext cx="1164566" cy="146648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F786A22-29D9-CA1A-D43F-03EECB6F1345}"/>
              </a:ext>
            </a:extLst>
          </p:cNvPr>
          <p:cNvSpPr txBox="1">
            <a:spLocks/>
          </p:cNvSpPr>
          <p:nvPr/>
        </p:nvSpPr>
        <p:spPr>
          <a:xfrm>
            <a:off x="936516" y="14205"/>
            <a:ext cx="9202096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buNone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CSEN160_07_Threads.</a:t>
            </a:r>
            <a:r>
              <a:rPr lang="en-US" dirty="0" err="1">
                <a:solidFill>
                  <a:srgbClr val="FF0000"/>
                </a:solidFill>
                <a:latin typeface="Arial" panose="020B0604020202020204"/>
              </a:rPr>
              <a:t>O_Callable.CallableSorterDemoMain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371957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/>
              <a:t>Done</a:t>
            </a:r>
            <a:endParaRPr lang="en-US" dirty="0"/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535861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A25F2-3AE0-BDCF-0880-EDD5EEF55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E57A2-3A61-C5F8-EEFD-EA29617843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… to here …</a:t>
            </a:r>
          </a:p>
        </p:txBody>
      </p:sp>
    </p:spTree>
    <p:extLst>
      <p:ext uri="{BB962C8B-B14F-4D97-AF65-F5344CB8AC3E}">
        <p14:creationId xmlns:p14="http://schemas.microsoft.com/office/powerpoint/2010/main" val="2815624037"/>
      </p:ext>
    </p:extLst>
  </p:cSld>
  <p:clrMapOvr>
    <a:masterClrMapping/>
  </p:clrMapOvr>
</p:sld>
</file>

<file path=ppt/theme/theme1.xml><?xml version="1.0" encoding="utf-8"?>
<a:theme xmlns:a="http://schemas.openxmlformats.org/drawingml/2006/main" name="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C2E27841-7055-4EC2-8474-90BDE5ACE175}"/>
    </a:ext>
  </a:extLst>
</a:theme>
</file>

<file path=ppt/theme/theme3.xml><?xml version="1.0" encoding="utf-8"?>
<a:theme xmlns:a="http://schemas.openxmlformats.org/drawingml/2006/main" name="1_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SCUTemplate</Template>
  <TotalTime>2244</TotalTime>
  <Words>745</Words>
  <Application>Microsoft Office PowerPoint</Application>
  <PresentationFormat>Widescreen</PresentationFormat>
  <Paragraphs>191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32</vt:i4>
      </vt:variant>
    </vt:vector>
  </HeadingPairs>
  <TitlesOfParts>
    <vt:vector size="40" baseType="lpstr">
      <vt:lpstr>Arial</vt:lpstr>
      <vt:lpstr>Arial Narrow</vt:lpstr>
      <vt:lpstr>Calibri</vt:lpstr>
      <vt:lpstr>Courier</vt:lpstr>
      <vt:lpstr>Garamond</vt:lpstr>
      <vt:lpstr>SCUTemplate</vt:lpstr>
      <vt:lpstr>Custom Design</vt:lpstr>
      <vt:lpstr>1_SCUTemplate</vt:lpstr>
      <vt:lpstr>CSEN160</vt:lpstr>
      <vt:lpstr>java.util.concurrent. ExecutorService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Cached Thread Pool (Standard choice)</vt:lpstr>
      <vt:lpstr>PowerPoint Presentation</vt:lpstr>
      <vt:lpstr>PowerPoint Presentation</vt:lpstr>
      <vt:lpstr>PowerPoint Presentation</vt:lpstr>
      <vt:lpstr>PowerPoint Presentation</vt:lpstr>
      <vt:lpstr>Performance?</vt:lpstr>
      <vt:lpstr>PowerPoint Presentation</vt:lpstr>
      <vt:lpstr>PowerPoint Presentation</vt:lpstr>
      <vt:lpstr>Threads</vt:lpstr>
      <vt:lpstr>Fixed Thread Pool</vt:lpstr>
      <vt:lpstr>PowerPoint Presentation</vt:lpstr>
      <vt:lpstr>PowerPoint Presentation</vt:lpstr>
      <vt:lpstr>PowerPoint Presentation</vt:lpstr>
      <vt:lpstr>Single Thread Executor</vt:lpstr>
      <vt:lpstr>PowerPoint Presentation</vt:lpstr>
      <vt:lpstr>PowerPoint Presentation</vt:lpstr>
      <vt:lpstr>PowerPoint Presentation</vt:lpstr>
      <vt:lpstr>Callable Interface Submit &amp; Future</vt:lpstr>
      <vt:lpstr>PowerPoint Presentation</vt:lpstr>
      <vt:lpstr>PowerPoint Presentation</vt:lpstr>
      <vt:lpstr>PowerPoint Presentation</vt:lpstr>
      <vt:lpstr>Done</vt:lpstr>
      <vt:lpstr>… to here 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Outline</dc:title>
  <dc:creator>Michael Schimpf</dc:creator>
  <cp:lastModifiedBy>Michael Schimpf</cp:lastModifiedBy>
  <cp:revision>246</cp:revision>
  <cp:lastPrinted>2023-09-11T21:46:56Z</cp:lastPrinted>
  <dcterms:created xsi:type="dcterms:W3CDTF">2023-09-09T19:51:41Z</dcterms:created>
  <dcterms:modified xsi:type="dcterms:W3CDTF">2026-10-27T21:48:15Z</dcterms:modified>
</cp:coreProperties>
</file>