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  <p:sldMasterId id="2147483707" r:id="rId4"/>
  </p:sldMasterIdLst>
  <p:notesMasterIdLst>
    <p:notesMasterId r:id="rId59"/>
  </p:notesMasterIdLst>
  <p:handoutMasterIdLst>
    <p:handoutMasterId r:id="rId60"/>
  </p:handoutMasterIdLst>
  <p:sldIdLst>
    <p:sldId id="333" r:id="rId5"/>
    <p:sldId id="528" r:id="rId6"/>
    <p:sldId id="496" r:id="rId7"/>
    <p:sldId id="497" r:id="rId8"/>
    <p:sldId id="509" r:id="rId9"/>
    <p:sldId id="498" r:id="rId10"/>
    <p:sldId id="499" r:id="rId11"/>
    <p:sldId id="507" r:id="rId12"/>
    <p:sldId id="506" r:id="rId13"/>
    <p:sldId id="508" r:id="rId14"/>
    <p:sldId id="501" r:id="rId15"/>
    <p:sldId id="504" r:id="rId16"/>
    <p:sldId id="451" r:id="rId17"/>
    <p:sldId id="399" r:id="rId18"/>
    <p:sldId id="343" r:id="rId19"/>
    <p:sldId id="452" r:id="rId20"/>
    <p:sldId id="400" r:id="rId21"/>
    <p:sldId id="453" r:id="rId22"/>
    <p:sldId id="401" r:id="rId23"/>
    <p:sldId id="454" r:id="rId24"/>
    <p:sldId id="402" r:id="rId25"/>
    <p:sldId id="403" r:id="rId26"/>
    <p:sldId id="404" r:id="rId27"/>
    <p:sldId id="405" r:id="rId28"/>
    <p:sldId id="406" r:id="rId29"/>
    <p:sldId id="455" r:id="rId30"/>
    <p:sldId id="456" r:id="rId31"/>
    <p:sldId id="426" r:id="rId32"/>
    <p:sldId id="421" r:id="rId33"/>
    <p:sldId id="422" r:id="rId34"/>
    <p:sldId id="423" r:id="rId35"/>
    <p:sldId id="427" r:id="rId36"/>
    <p:sldId id="428" r:id="rId37"/>
    <p:sldId id="429" r:id="rId38"/>
    <p:sldId id="340" r:id="rId39"/>
    <p:sldId id="430" r:id="rId40"/>
    <p:sldId id="431" r:id="rId41"/>
    <p:sldId id="447" r:id="rId42"/>
    <p:sldId id="448" r:id="rId43"/>
    <p:sldId id="334" r:id="rId44"/>
    <p:sldId id="407" r:id="rId45"/>
    <p:sldId id="449" r:id="rId46"/>
    <p:sldId id="345" r:id="rId47"/>
    <p:sldId id="344" r:id="rId48"/>
    <p:sldId id="408" r:id="rId49"/>
    <p:sldId id="529" r:id="rId50"/>
    <p:sldId id="342" r:id="rId51"/>
    <p:sldId id="409" r:id="rId52"/>
    <p:sldId id="347" r:id="rId53"/>
    <p:sldId id="348" r:id="rId54"/>
    <p:sldId id="349" r:id="rId55"/>
    <p:sldId id="450" r:id="rId56"/>
    <p:sldId id="350" r:id="rId57"/>
    <p:sldId id="530" r:id="rId5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2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49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4494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4D533-7F64-4678-892D-1BE11DF205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15881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8808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64773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342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60193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1677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7462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1238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8888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86021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6279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81394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9171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00870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8889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24337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63562"/>
          </a:xfrm>
          <a:ln>
            <a:solidFill>
              <a:schemeClr val="tx1"/>
            </a:solidFill>
          </a:ln>
        </p:spPr>
        <p:txBody>
          <a:bodyPr>
            <a:noAutofit/>
          </a:bodyPr>
          <a:lstStyle>
            <a:lvl1pPr>
              <a:defRPr sz="4000" baseline="0">
                <a:solidFill>
                  <a:srgbClr val="0066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1"/>
            <a:ext cx="11074400" cy="5211763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A8ED1E-1A7D-4E33-BE1B-6749D8B897DB}" type="datetimeFigureOut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8538125-56CF-4436-882B-87E3A97AC3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00565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53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47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5" r:id="rId17"/>
    <p:sldLayoutId id="2147483706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5619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ava/java_lambda.asp#:~:text=Lambda%20Expressions%20were%20added%20in,the%20body%20of%20a%20method." TargetMode="External"/><Relationship Id="rId1" Type="http://schemas.openxmlformats.org/officeDocument/2006/relationships/slideLayout" Target="../slideLayouts/slideLayout3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4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31789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PhD, mschimpf@scu.edu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JavaDoc</a:t>
            </a:r>
            <a:r>
              <a:rPr lang="en-US" altLang="en-US" dirty="0"/>
              <a:t> &amp; Annotations</a:t>
            </a:r>
          </a:p>
        </p:txBody>
      </p:sp>
    </p:spTree>
    <p:extLst>
      <p:ext uri="{BB962C8B-B14F-4D97-AF65-F5344CB8AC3E}">
        <p14:creationId xmlns:p14="http://schemas.microsoft.com/office/powerpoint/2010/main" val="1563520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941373" y="735884"/>
            <a:ext cx="8148638" cy="533400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2800" dirty="0" err="1">
                <a:solidFill>
                  <a:schemeClr val="tx1"/>
                </a:solidFill>
              </a:rPr>
              <a:t>javadoc</a:t>
            </a:r>
            <a:r>
              <a:rPr lang="en-US" altLang="en-US" sz="2800" dirty="0">
                <a:solidFill>
                  <a:schemeClr val="tx1"/>
                </a:solidFill>
              </a:rPr>
              <a:t> - Java API documentation generator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idx="1"/>
          </p:nvPr>
        </p:nvSpPr>
        <p:spPr>
          <a:xfrm>
            <a:off x="941372" y="1538835"/>
            <a:ext cx="10383431" cy="5120909"/>
          </a:xfrm>
          <a:ln>
            <a:noFill/>
          </a:ln>
        </p:spPr>
        <p:txBody>
          <a:bodyPr>
            <a:normAutofit lnSpcReduction="10000"/>
          </a:bodyPr>
          <a:lstStyle/>
          <a:p>
            <a:pPr eaLnBrk="1" hangingPunct="1">
              <a:buFont typeface="Arial" charset="0"/>
              <a:buChar char="•"/>
              <a:defRPr/>
            </a:pPr>
            <a:r>
              <a:rPr lang="en-US" sz="2000" b="1" i="1" dirty="0" err="1">
                <a:solidFill>
                  <a:schemeClr val="tx1"/>
                </a:solidFill>
              </a:rPr>
              <a:t>javadoc</a:t>
            </a:r>
            <a:r>
              <a:rPr lang="en-US" sz="2000" dirty="0">
                <a:solidFill>
                  <a:schemeClr val="tx1"/>
                </a:solidFill>
              </a:rPr>
              <a:t> is an (old) program that comes with all Java systems and generates html documentation. </a:t>
            </a:r>
          </a:p>
          <a:p>
            <a:pPr marL="0" indent="0" eaLnBrk="1" hangingPunct="1">
              <a:buNone/>
              <a:defRPr/>
            </a:pPr>
            <a:endParaRPr lang="en-US" sz="2000" dirty="0">
              <a:solidFill>
                <a:schemeClr val="tx1"/>
              </a:solidFill>
            </a:endParaRPr>
          </a:p>
          <a:p>
            <a:pPr eaLnBrk="1" hangingPunct="1">
              <a:buFont typeface="Arial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</a:rPr>
              <a:t>Javadoc uses the Javadoc </a:t>
            </a:r>
            <a:r>
              <a:rPr lang="en-US" sz="2000" b="1" dirty="0">
                <a:solidFill>
                  <a:schemeClr val="tx1"/>
                </a:solidFill>
              </a:rPr>
              <a:t>comments/annotations</a:t>
            </a:r>
            <a:r>
              <a:rPr lang="en-US" sz="2000" dirty="0">
                <a:solidFill>
                  <a:schemeClr val="tx1"/>
                </a:solidFill>
              </a:rPr>
              <a:t> in the code to generate the documentation. </a:t>
            </a:r>
          </a:p>
          <a:p>
            <a:pPr eaLnBrk="1" hangingPunct="1">
              <a:buFont typeface="Arial" charset="0"/>
              <a:buChar char="•"/>
              <a:defRPr/>
            </a:pPr>
            <a:endParaRPr lang="en-US" sz="2000" dirty="0">
              <a:solidFill>
                <a:schemeClr val="tx1"/>
              </a:solidFill>
            </a:endParaRPr>
          </a:p>
          <a:p>
            <a:pPr eaLnBrk="1" hangingPunct="1">
              <a:buFont typeface="Arial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</a:rPr>
              <a:t>Not so important anymore. In Eclipse </a:t>
            </a:r>
            <a:r>
              <a:rPr lang="en-US" sz="2000" b="1" dirty="0">
                <a:solidFill>
                  <a:srgbClr val="00B050"/>
                </a:solidFill>
              </a:rPr>
              <a:t>easy</a:t>
            </a:r>
            <a:r>
              <a:rPr lang="en-US" sz="2000" dirty="0">
                <a:solidFill>
                  <a:schemeClr val="tx1"/>
                </a:solidFill>
              </a:rPr>
              <a:t> in IntelliJ a bit </a:t>
            </a:r>
            <a:r>
              <a:rPr lang="en-US" sz="2000" b="1" dirty="0">
                <a:solidFill>
                  <a:srgbClr val="FF0000"/>
                </a:solidFill>
              </a:rPr>
              <a:t>complicated</a:t>
            </a:r>
          </a:p>
          <a:p>
            <a:pPr marL="0" indent="0" eaLnBrk="1" hangingPunct="1">
              <a:buNone/>
              <a:defRPr/>
            </a:pPr>
            <a:endParaRPr lang="en-US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sz="2000" b="1" dirty="0">
                <a:solidFill>
                  <a:schemeClr val="tx1"/>
                </a:solidFill>
              </a:rPr>
              <a:t>Example</a:t>
            </a:r>
            <a:r>
              <a:rPr lang="en-US" sz="2000" dirty="0">
                <a:solidFill>
                  <a:schemeClr val="tx1"/>
                </a:solidFill>
              </a:rPr>
              <a:t>:</a:t>
            </a:r>
            <a:endParaRPr lang="en-US" sz="2000" i="1" dirty="0">
              <a:solidFill>
                <a:schemeClr val="tx1"/>
              </a:solidFill>
            </a:endParaRPr>
          </a:p>
          <a:p>
            <a:pPr eaLnBrk="1" hangingPunct="1">
              <a:buFontTx/>
              <a:buNone/>
              <a:defRPr/>
            </a:pPr>
            <a:r>
              <a:rPr lang="en-US" sz="2000" i="1" dirty="0">
                <a:solidFill>
                  <a:schemeClr val="tx1"/>
                </a:solidFill>
              </a:rPr>
              <a:t>/** </a:t>
            </a:r>
          </a:p>
          <a:p>
            <a:pPr eaLnBrk="1" hangingPunct="1">
              <a:buFontTx/>
              <a:buNone/>
              <a:defRPr/>
            </a:pPr>
            <a:r>
              <a:rPr lang="en-US" sz="2000" i="1" dirty="0">
                <a:solidFill>
                  <a:schemeClr val="tx1"/>
                </a:solidFill>
              </a:rPr>
              <a:t>* This is the description part of a doc comment *</a:t>
            </a:r>
          </a:p>
          <a:p>
            <a:pPr eaLnBrk="1" hangingPunct="1">
              <a:buFontTx/>
              <a:buNone/>
              <a:defRPr/>
            </a:pPr>
            <a:r>
              <a:rPr lang="en-US" sz="2000" i="1" dirty="0">
                <a:solidFill>
                  <a:schemeClr val="tx1"/>
                </a:solidFill>
              </a:rPr>
              <a:t>*</a:t>
            </a:r>
          </a:p>
          <a:p>
            <a:pPr eaLnBrk="1" hangingPunct="1">
              <a:buFontTx/>
              <a:buNone/>
              <a:defRPr/>
            </a:pPr>
            <a:r>
              <a:rPr lang="en-US" sz="2000" i="1" dirty="0">
                <a:solidFill>
                  <a:schemeClr val="tx1"/>
                </a:solidFill>
              </a:rPr>
              <a:t>*/ </a:t>
            </a:r>
            <a:endParaRPr lang="en-US" sz="2000" dirty="0">
              <a:solidFill>
                <a:schemeClr val="tx1"/>
              </a:solidFill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en-US" sz="2000" dirty="0">
              <a:solidFill>
                <a:schemeClr val="tx1"/>
              </a:solidFill>
            </a:endParaRPr>
          </a:p>
          <a:p>
            <a:pPr eaLnBrk="1" hangingPunct="1">
              <a:buFont typeface="Arial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</a:rPr>
              <a:t>The output of </a:t>
            </a:r>
            <a:r>
              <a:rPr lang="en-US" sz="2000" dirty="0" err="1">
                <a:solidFill>
                  <a:schemeClr val="tx1"/>
                </a:solidFill>
              </a:rPr>
              <a:t>javadoc</a:t>
            </a:r>
            <a:r>
              <a:rPr lang="en-US" sz="2000" dirty="0">
                <a:solidFill>
                  <a:schemeClr val="tx1"/>
                </a:solidFill>
              </a:rPr>
              <a:t> is a set of HTML files.</a:t>
            </a:r>
          </a:p>
        </p:txBody>
      </p:sp>
    </p:spTree>
    <p:extLst>
      <p:ext uri="{BB962C8B-B14F-4D97-AF65-F5344CB8AC3E}">
        <p14:creationId xmlns:p14="http://schemas.microsoft.com/office/powerpoint/2010/main" val="3498583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933281" y="768252"/>
            <a:ext cx="5155976" cy="563562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Javadoc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3281" y="1731698"/>
            <a:ext cx="10367246" cy="4924002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2800" b="1" dirty="0">
                <a:solidFill>
                  <a:schemeClr val="tx1"/>
                </a:solidFill>
              </a:rPr>
              <a:t>In general</a:t>
            </a:r>
            <a:r>
              <a:rPr lang="en-US" sz="2800" dirty="0">
                <a:solidFill>
                  <a:schemeClr val="tx1"/>
                </a:solidFill>
              </a:rPr>
              <a:t>: </a:t>
            </a:r>
          </a:p>
          <a:p>
            <a:pPr marL="0" indent="0">
              <a:buNone/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Javadoc comments are multi-line comments ("/** ... */")  which are placed </a:t>
            </a:r>
            <a:r>
              <a:rPr lang="en-US" b="1" dirty="0">
                <a:solidFill>
                  <a:schemeClr val="tx1"/>
                </a:solidFill>
              </a:rPr>
              <a:t>before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>
              <a:defRPr/>
            </a:pPr>
            <a:endParaRPr lang="en-US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dirty="0">
                <a:solidFill>
                  <a:schemeClr val="tx1"/>
                </a:solidFill>
              </a:rPr>
              <a:t>Class</a:t>
            </a:r>
          </a:p>
          <a:p>
            <a:pPr lvl="1">
              <a:defRPr/>
            </a:pPr>
            <a:r>
              <a:rPr lang="en-US" dirty="0">
                <a:solidFill>
                  <a:schemeClr val="tx1"/>
                </a:solidFill>
              </a:rPr>
              <a:t>Field</a:t>
            </a:r>
          </a:p>
          <a:p>
            <a:pPr lvl="1">
              <a:defRPr/>
            </a:pPr>
            <a:r>
              <a:rPr lang="en-US" dirty="0">
                <a:solidFill>
                  <a:schemeClr val="tx1"/>
                </a:solidFill>
              </a:rPr>
              <a:t>Method </a:t>
            </a:r>
          </a:p>
          <a:p>
            <a:pPr>
              <a:buFont typeface="Arial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They begin with a </a:t>
            </a:r>
            <a:r>
              <a:rPr lang="en-US" b="1" dirty="0">
                <a:solidFill>
                  <a:schemeClr val="tx1"/>
                </a:solidFill>
              </a:rPr>
              <a:t>slash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two stars</a:t>
            </a:r>
          </a:p>
          <a:p>
            <a:pPr>
              <a:buFont typeface="Arial" charset="0"/>
              <a:buChar char="•"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  <a:defRPr/>
            </a:pPr>
            <a:r>
              <a:rPr lang="en-US" dirty="0" err="1">
                <a:solidFill>
                  <a:schemeClr val="tx1"/>
                </a:solidFill>
              </a:rPr>
              <a:t>JavaDoc</a:t>
            </a:r>
            <a:r>
              <a:rPr lang="en-US" dirty="0">
                <a:solidFill>
                  <a:schemeClr val="tx1"/>
                </a:solidFill>
              </a:rPr>
              <a:t> started the whole annotations feature.</a:t>
            </a:r>
          </a:p>
        </p:txBody>
      </p:sp>
    </p:spTree>
    <p:extLst>
      <p:ext uri="{BB962C8B-B14F-4D97-AF65-F5344CB8AC3E}">
        <p14:creationId xmlns:p14="http://schemas.microsoft.com/office/powerpoint/2010/main" val="869290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933281" y="768252"/>
            <a:ext cx="5155976" cy="563562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Javadoc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3281" y="1731698"/>
            <a:ext cx="10367246" cy="4924002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dirty="0">
                <a:solidFill>
                  <a:schemeClr val="tx1"/>
                </a:solidFill>
              </a:rPr>
              <a:t>They can include special tags (annotations) to describe characteristics like:</a:t>
            </a:r>
          </a:p>
          <a:p>
            <a:pPr lvl="1">
              <a:buFont typeface="Arial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lvl="1">
              <a:buFont typeface="Arial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Method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Parameters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Return values</a:t>
            </a:r>
          </a:p>
          <a:p>
            <a:pPr>
              <a:buFont typeface="Arial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dirty="0">
                <a:solidFill>
                  <a:schemeClr val="tx1"/>
                </a:solidFill>
              </a:rPr>
              <a:t>The HTML files generated by Javadoc will describe:</a:t>
            </a:r>
          </a:p>
          <a:p>
            <a:pPr lvl="2">
              <a:buFont typeface="Arial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lvl="2">
              <a:buFont typeface="Arial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Fields</a:t>
            </a:r>
          </a:p>
          <a:p>
            <a:pPr lvl="2">
              <a:buFont typeface="Arial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Method</a:t>
            </a:r>
          </a:p>
          <a:p>
            <a:pPr lvl="2">
              <a:buFont typeface="Arial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Class</a:t>
            </a:r>
          </a:p>
        </p:txBody>
      </p:sp>
    </p:spTree>
    <p:extLst>
      <p:ext uri="{BB962C8B-B14F-4D97-AF65-F5344CB8AC3E}">
        <p14:creationId xmlns:p14="http://schemas.microsoft.com/office/powerpoint/2010/main" val="572232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53512" y="752068"/>
            <a:ext cx="5042686" cy="533400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2800" dirty="0">
                <a:solidFill>
                  <a:schemeClr val="tx1"/>
                </a:solidFill>
              </a:rPr>
              <a:t>Javadoc Tags/Annotations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idx="1"/>
          </p:nvPr>
        </p:nvSpPr>
        <p:spPr>
          <a:xfrm>
            <a:off x="953512" y="1534791"/>
            <a:ext cx="10403660" cy="5116862"/>
          </a:xfrm>
          <a:ln>
            <a:noFill/>
          </a:ln>
        </p:spPr>
        <p:txBody>
          <a:bodyPr>
            <a:normAutofit lnSpcReduction="10000"/>
          </a:bodyPr>
          <a:lstStyle/>
          <a:p>
            <a:pPr>
              <a:buFont typeface="Arial" charset="0"/>
              <a:buChar char="•"/>
              <a:defRPr/>
            </a:pPr>
            <a:endParaRPr lang="en-US" sz="2000" b="1" i="1" dirty="0"/>
          </a:p>
          <a:p>
            <a:pPr>
              <a:buFont typeface="Arial" charset="0"/>
              <a:buChar char="•"/>
              <a:defRPr/>
            </a:pPr>
            <a:r>
              <a:rPr lang="en-US" sz="2000" b="1" i="1" dirty="0">
                <a:solidFill>
                  <a:schemeClr val="tx1"/>
                </a:solidFill>
              </a:rPr>
              <a:t>Tags/Annotations</a:t>
            </a:r>
            <a:r>
              <a:rPr lang="en-US" sz="2000" dirty="0">
                <a:solidFill>
                  <a:schemeClr val="tx1"/>
                </a:solidFill>
              </a:rPr>
              <a:t> are keywords recognized by Javadoc which define the type of information. </a:t>
            </a:r>
          </a:p>
          <a:p>
            <a:pPr>
              <a:buFont typeface="Arial" charset="0"/>
              <a:buChar char="•"/>
              <a:defRPr/>
            </a:pPr>
            <a:endParaRPr lang="en-US" sz="2000" dirty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</a:rPr>
              <a:t>Here are some common pre-defined tags: </a:t>
            </a:r>
          </a:p>
          <a:p>
            <a:pPr lvl="1">
              <a:buFont typeface="Arial" charset="0"/>
              <a:buChar char="–"/>
              <a:defRPr/>
            </a:pPr>
            <a:r>
              <a:rPr lang="en-US" b="1" i="1" dirty="0">
                <a:solidFill>
                  <a:schemeClr val="tx1"/>
                </a:solidFill>
              </a:rPr>
              <a:t>@author [author name]</a:t>
            </a:r>
            <a:r>
              <a:rPr lang="en-US" dirty="0">
                <a:solidFill>
                  <a:schemeClr val="tx1"/>
                </a:solidFill>
              </a:rPr>
              <a:t> - identifies author(s) of a class or interface. </a:t>
            </a:r>
          </a:p>
          <a:p>
            <a:pPr lvl="1">
              <a:buFont typeface="Arial" charset="0"/>
              <a:buChar char="–"/>
              <a:defRPr/>
            </a:pPr>
            <a:endParaRPr lang="en-US" b="1" i="1" dirty="0">
              <a:solidFill>
                <a:schemeClr val="tx1"/>
              </a:solidFill>
            </a:endParaRPr>
          </a:p>
          <a:p>
            <a:pPr lvl="1">
              <a:buFont typeface="Arial" charset="0"/>
              <a:buChar char="–"/>
              <a:defRPr/>
            </a:pPr>
            <a:r>
              <a:rPr lang="en-US" b="1" i="1" dirty="0">
                <a:solidFill>
                  <a:schemeClr val="tx1"/>
                </a:solidFill>
              </a:rPr>
              <a:t>@</a:t>
            </a:r>
            <a:r>
              <a:rPr lang="en-US" b="1" i="1" dirty="0" err="1">
                <a:solidFill>
                  <a:schemeClr val="tx1"/>
                </a:solidFill>
              </a:rPr>
              <a:t>param</a:t>
            </a:r>
            <a:r>
              <a:rPr lang="en-US" b="1" i="1" dirty="0">
                <a:solidFill>
                  <a:schemeClr val="tx1"/>
                </a:solidFill>
              </a:rPr>
              <a:t> [argument name] [argument description]</a:t>
            </a:r>
            <a:r>
              <a:rPr lang="en-US" dirty="0">
                <a:solidFill>
                  <a:schemeClr val="tx1"/>
                </a:solidFill>
              </a:rPr>
              <a:t> - describes an argument of method or constructor. </a:t>
            </a:r>
          </a:p>
          <a:p>
            <a:pPr lvl="1">
              <a:buFont typeface="Arial" charset="0"/>
              <a:buChar char="–"/>
              <a:defRPr/>
            </a:pPr>
            <a:endParaRPr lang="en-US" b="1" i="1" dirty="0">
              <a:solidFill>
                <a:schemeClr val="tx1"/>
              </a:solidFill>
            </a:endParaRPr>
          </a:p>
          <a:p>
            <a:pPr lvl="1">
              <a:buFont typeface="Arial" charset="0"/>
              <a:buChar char="–"/>
              <a:defRPr/>
            </a:pPr>
            <a:r>
              <a:rPr lang="en-US" b="1" i="1" dirty="0">
                <a:solidFill>
                  <a:schemeClr val="tx1"/>
                </a:solidFill>
              </a:rPr>
              <a:t>@return [description of return]</a:t>
            </a:r>
            <a:r>
              <a:rPr lang="en-US" dirty="0">
                <a:solidFill>
                  <a:schemeClr val="tx1"/>
                </a:solidFill>
              </a:rPr>
              <a:t> - describes data returned by method (unnecessary for constructors and void methods). </a:t>
            </a:r>
          </a:p>
          <a:p>
            <a:pPr lvl="1">
              <a:buFont typeface="Arial" charset="0"/>
              <a:buChar char="–"/>
              <a:defRPr/>
            </a:pPr>
            <a:endParaRPr lang="en-US" b="1" i="1" dirty="0">
              <a:solidFill>
                <a:schemeClr val="tx1"/>
              </a:solidFill>
            </a:endParaRPr>
          </a:p>
          <a:p>
            <a:pPr lvl="1">
              <a:buFont typeface="Arial" charset="0"/>
              <a:buChar char="–"/>
              <a:defRPr/>
            </a:pPr>
            <a:r>
              <a:rPr lang="en-US" b="1" i="1" dirty="0">
                <a:solidFill>
                  <a:schemeClr val="tx1"/>
                </a:solidFill>
              </a:rPr>
              <a:t>@exception [exception thrown] [exception description]</a:t>
            </a:r>
            <a:r>
              <a:rPr lang="en-US" dirty="0">
                <a:solidFill>
                  <a:schemeClr val="tx1"/>
                </a:solidFill>
              </a:rPr>
              <a:t> - describes exception thrown by method. </a:t>
            </a:r>
          </a:p>
          <a:p>
            <a:pPr lvl="1">
              <a:buFont typeface="Arial" charset="0"/>
              <a:buChar char="–"/>
              <a:defRPr/>
            </a:pPr>
            <a:endParaRPr lang="en-US" b="1" i="1" dirty="0">
              <a:solidFill>
                <a:schemeClr val="tx1"/>
              </a:solidFill>
            </a:endParaRPr>
          </a:p>
          <a:p>
            <a:pPr lvl="1">
              <a:buFont typeface="Arial" charset="0"/>
              <a:buChar char="–"/>
              <a:defRPr/>
            </a:pPr>
            <a:r>
              <a:rPr lang="en-US" b="1" i="1" dirty="0">
                <a:solidFill>
                  <a:schemeClr val="tx1"/>
                </a:solidFill>
              </a:rPr>
              <a:t>@throws [exception thrown] [exception description]</a:t>
            </a:r>
            <a:r>
              <a:rPr lang="en-US" dirty="0">
                <a:solidFill>
                  <a:schemeClr val="tx1"/>
                </a:solidFill>
              </a:rPr>
              <a:t> - same as </a:t>
            </a:r>
            <a:r>
              <a:rPr lang="en-US" b="1" i="1" dirty="0">
                <a:solidFill>
                  <a:schemeClr val="tx1"/>
                </a:solidFill>
              </a:rPr>
              <a:t>@exception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44032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43397" y="758627"/>
            <a:ext cx="2524040" cy="487545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Example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397" y="1560621"/>
            <a:ext cx="4653765" cy="43598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226" y="1560621"/>
            <a:ext cx="5110817" cy="462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978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01A0129-2CDF-4CB4-8087-949D1C271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134" y="1364927"/>
            <a:ext cx="5357045" cy="3729588"/>
          </a:xfrm>
          <a:prstGeom prst="rect">
            <a:avLst/>
          </a:prstGeom>
        </p:spPr>
      </p:pic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43397" y="758627"/>
            <a:ext cx="2524040" cy="487545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Example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734" y="758627"/>
            <a:ext cx="5693782" cy="58308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55596" y="2056996"/>
            <a:ext cx="1341194" cy="1739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2349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Annotations in General</a:t>
            </a:r>
          </a:p>
        </p:txBody>
      </p:sp>
    </p:spTree>
    <p:extLst>
      <p:ext uri="{BB962C8B-B14F-4D97-AF65-F5344CB8AC3E}">
        <p14:creationId xmlns:p14="http://schemas.microsoft.com/office/powerpoint/2010/main" val="3096856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>
          <a:xfrm>
            <a:off x="925639" y="760160"/>
            <a:ext cx="3104195" cy="563562"/>
          </a:xfrm>
          <a:ln>
            <a:noFill/>
          </a:ln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Annotations</a:t>
            </a:r>
          </a:p>
        </p:txBody>
      </p:sp>
      <p:sp>
        <p:nvSpPr>
          <p:cNvPr id="74755" name="Content Placeholder 2"/>
          <p:cNvSpPr>
            <a:spLocks noGrp="1"/>
          </p:cNvSpPr>
          <p:nvPr>
            <p:ph idx="1"/>
          </p:nvPr>
        </p:nvSpPr>
        <p:spPr>
          <a:xfrm>
            <a:off x="925639" y="1630547"/>
            <a:ext cx="10395119" cy="5000876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They are </a:t>
            </a:r>
            <a:r>
              <a:rPr lang="en-US" altLang="en-US" b="1" dirty="0">
                <a:solidFill>
                  <a:schemeClr val="tx1"/>
                </a:solidFill>
              </a:rPr>
              <a:t>meta-tags</a:t>
            </a:r>
            <a:r>
              <a:rPr lang="en-US" altLang="en-US" dirty="0">
                <a:solidFill>
                  <a:schemeClr val="tx1"/>
                </a:solidFill>
              </a:rPr>
              <a:t> that you add to your code: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Package declarations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Type declarations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Constructors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Methods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Fields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Parameters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Variables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67791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925190" y="760160"/>
            <a:ext cx="3298852" cy="563562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Annotations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5190" y="1840939"/>
            <a:ext cx="10423890" cy="4790483"/>
          </a:xfrm>
          <a:ln>
            <a:noFill/>
          </a:ln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Simple Java Annotations:</a:t>
            </a:r>
          </a:p>
          <a:p>
            <a:pPr lvl="1" eaLnBrk="1" hangingPunct="1">
              <a:buFont typeface="Arial" charset="0"/>
              <a:buChar char="–"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dirty="0">
                <a:solidFill>
                  <a:schemeClr val="tx1"/>
                </a:solidFill>
              </a:rPr>
              <a:t>Override</a:t>
            </a:r>
          </a:p>
          <a:p>
            <a:pPr lvl="1" eaLnBrk="1" hangingPunct="1">
              <a:buFont typeface="Arial" charset="0"/>
              <a:buChar char="–"/>
              <a:defRPr/>
            </a:pPr>
            <a:endParaRPr lang="en-US" dirty="0">
              <a:solidFill>
                <a:schemeClr val="tx1"/>
              </a:solidFill>
            </a:endParaRP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dirty="0">
                <a:solidFill>
                  <a:schemeClr val="tx1"/>
                </a:solidFill>
              </a:rPr>
              <a:t>Deprecated</a:t>
            </a:r>
          </a:p>
          <a:p>
            <a:pPr lvl="1" eaLnBrk="1" hangingPunct="1">
              <a:buFont typeface="Arial" charset="0"/>
              <a:buChar char="–"/>
              <a:defRPr/>
            </a:pPr>
            <a:endParaRPr lang="en-US" dirty="0">
              <a:solidFill>
                <a:schemeClr val="tx1"/>
              </a:solidFill>
            </a:endParaRP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dirty="0" err="1">
                <a:solidFill>
                  <a:schemeClr val="tx1"/>
                </a:solidFill>
              </a:rPr>
              <a:t>Suppresswarnings</a:t>
            </a:r>
            <a:endParaRPr lang="en-US" dirty="0">
              <a:solidFill>
                <a:schemeClr val="tx1"/>
              </a:solidFill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315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>
          <a:xfrm>
            <a:off x="925639" y="760160"/>
            <a:ext cx="3104195" cy="563562"/>
          </a:xfrm>
          <a:ln>
            <a:noFill/>
          </a:ln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Annotations</a:t>
            </a:r>
          </a:p>
        </p:txBody>
      </p:sp>
      <p:sp>
        <p:nvSpPr>
          <p:cNvPr id="74755" name="Content Placeholder 2"/>
          <p:cNvSpPr>
            <a:spLocks noGrp="1"/>
          </p:cNvSpPr>
          <p:nvPr>
            <p:ph idx="1"/>
          </p:nvPr>
        </p:nvSpPr>
        <p:spPr>
          <a:xfrm>
            <a:off x="925639" y="1630547"/>
            <a:ext cx="10395119" cy="5000876"/>
          </a:xfrm>
          <a:ln>
            <a:noFill/>
          </a:ln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Unique to Java</a:t>
            </a: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Meta Data</a:t>
            </a:r>
          </a:p>
          <a:p>
            <a:pPr marL="0" indent="0" eaLnBrk="1" hangingPunct="1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Provide information </a:t>
            </a:r>
            <a:r>
              <a:rPr lang="en-US" altLang="en-US" b="1" dirty="0">
                <a:solidFill>
                  <a:srgbClr val="00B050"/>
                </a:solidFill>
              </a:rPr>
              <a:t>about</a:t>
            </a:r>
            <a:r>
              <a:rPr lang="en-US" altLang="en-US" dirty="0">
                <a:solidFill>
                  <a:schemeClr val="tx1"/>
                </a:solidFill>
              </a:rPr>
              <a:t> the program. </a:t>
            </a: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b="1" dirty="0">
                <a:solidFill>
                  <a:schemeClr val="tx1"/>
                </a:solidFill>
              </a:rPr>
              <a:t>Ease-of-development</a:t>
            </a:r>
            <a:r>
              <a:rPr lang="en-US" altLang="en-US" dirty="0">
                <a:solidFill>
                  <a:schemeClr val="tx1"/>
                </a:solidFill>
              </a:rPr>
              <a:t> features introduced in JDK 5. </a:t>
            </a: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b="1" dirty="0">
                <a:solidFill>
                  <a:schemeClr val="tx1"/>
                </a:solidFill>
              </a:rPr>
              <a:t>No direct effect on the code, </a:t>
            </a:r>
            <a:r>
              <a:rPr lang="en-US" altLang="en-US" dirty="0">
                <a:solidFill>
                  <a:schemeClr val="tx1"/>
                </a:solidFill>
              </a:rPr>
              <a:t>they annotate.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Heavily used in frameworks like </a:t>
            </a:r>
            <a:r>
              <a:rPr lang="en-US" altLang="en-US" b="1" dirty="0">
                <a:solidFill>
                  <a:schemeClr val="tx1"/>
                </a:solidFill>
              </a:rPr>
              <a:t>Hibernate, Spring, </a:t>
            </a:r>
            <a:r>
              <a:rPr lang="en-US" altLang="en-US" b="1" dirty="0" err="1">
                <a:solidFill>
                  <a:schemeClr val="tx1"/>
                </a:solidFill>
              </a:rPr>
              <a:t>etc</a:t>
            </a:r>
            <a:endParaRPr lang="en-US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412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Reflections </a:t>
            </a:r>
          </a:p>
        </p:txBody>
      </p:sp>
    </p:spTree>
    <p:extLst>
      <p:ext uri="{BB962C8B-B14F-4D97-AF65-F5344CB8AC3E}">
        <p14:creationId xmlns:p14="http://schemas.microsoft.com/office/powerpoint/2010/main" val="3873305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3575028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Java Reflections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What can you do with reflections?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Access: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All class info</a:t>
            </a:r>
          </a:p>
          <a:p>
            <a:r>
              <a:rPr lang="en-US" dirty="0">
                <a:solidFill>
                  <a:schemeClr val="tx1"/>
                </a:solidFill>
              </a:rPr>
              <a:t>All members/fields (including final private)</a:t>
            </a:r>
          </a:p>
          <a:p>
            <a:r>
              <a:rPr lang="en-US" dirty="0">
                <a:solidFill>
                  <a:schemeClr val="tx1"/>
                </a:solidFill>
              </a:rPr>
              <a:t>All methods (including final private)</a:t>
            </a:r>
          </a:p>
          <a:p>
            <a:r>
              <a:rPr lang="en-US" dirty="0">
                <a:solidFill>
                  <a:schemeClr val="tx1"/>
                </a:solidFill>
              </a:rPr>
              <a:t>All constructors</a:t>
            </a:r>
          </a:p>
          <a:p>
            <a:r>
              <a:rPr lang="en-US" dirty="0">
                <a:solidFill>
                  <a:schemeClr val="tx1"/>
                </a:solidFill>
              </a:rPr>
              <a:t>All annotations</a:t>
            </a:r>
          </a:p>
          <a:p>
            <a:r>
              <a:rPr lang="en-US" dirty="0">
                <a:solidFill>
                  <a:schemeClr val="tx1"/>
                </a:solidFill>
              </a:rPr>
              <a:t>Arrays</a:t>
            </a:r>
          </a:p>
          <a:p>
            <a:r>
              <a:rPr lang="en-US" dirty="0">
                <a:solidFill>
                  <a:schemeClr val="tx1"/>
                </a:solidFill>
              </a:rPr>
              <a:t>Almost everything (</a:t>
            </a:r>
            <a:r>
              <a:rPr lang="en-US" b="1" dirty="0">
                <a:solidFill>
                  <a:srgbClr val="FF0000"/>
                </a:solidFill>
              </a:rPr>
              <a:t>don’t know what not </a:t>
            </a:r>
            <a:r>
              <a:rPr lang="en-US" dirty="0">
                <a:solidFill>
                  <a:schemeClr val="tx1"/>
                </a:solidFill>
              </a:rPr>
              <a:t>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78770" y="3114136"/>
            <a:ext cx="22349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At runtime</a:t>
            </a:r>
          </a:p>
        </p:txBody>
      </p:sp>
    </p:spTree>
    <p:extLst>
      <p:ext uri="{BB962C8B-B14F-4D97-AF65-F5344CB8AC3E}">
        <p14:creationId xmlns:p14="http://schemas.microsoft.com/office/powerpoint/2010/main" val="2919755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3575028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Java Reflections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What can you do with reflections?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Manipulate:</a:t>
            </a:r>
          </a:p>
          <a:p>
            <a:r>
              <a:rPr lang="en-US" dirty="0">
                <a:solidFill>
                  <a:schemeClr val="tx1"/>
                </a:solidFill>
              </a:rPr>
              <a:t>Access </a:t>
            </a:r>
            <a:r>
              <a:rPr lang="en-US" b="1" dirty="0">
                <a:solidFill>
                  <a:srgbClr val="FF0000"/>
                </a:solidFill>
              </a:rPr>
              <a:t>private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field and methods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By setting “</a:t>
            </a:r>
            <a:r>
              <a:rPr lang="en-US" b="1" dirty="0" err="1">
                <a:solidFill>
                  <a:srgbClr val="FF0000"/>
                </a:solidFill>
              </a:rPr>
              <a:t>setAccessible</a:t>
            </a:r>
            <a:r>
              <a:rPr lang="en-US" b="1" dirty="0">
                <a:solidFill>
                  <a:srgbClr val="FF0000"/>
                </a:solidFill>
              </a:rPr>
              <a:t>(true)</a:t>
            </a:r>
            <a:r>
              <a:rPr lang="en-US" dirty="0">
                <a:solidFill>
                  <a:schemeClr val="tx1"/>
                </a:solidFill>
              </a:rPr>
              <a:t>”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Invoke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functions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Etc.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8770" y="3114136"/>
            <a:ext cx="22349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At runtime</a:t>
            </a:r>
          </a:p>
        </p:txBody>
      </p:sp>
    </p:spTree>
    <p:extLst>
      <p:ext uri="{BB962C8B-B14F-4D97-AF65-F5344CB8AC3E}">
        <p14:creationId xmlns:p14="http://schemas.microsoft.com/office/powerpoint/2010/main" val="1609325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3575028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Java Reflections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4400" b="1" dirty="0"/>
          </a:p>
          <a:p>
            <a:pPr marL="0" indent="0" algn="ctr">
              <a:buNone/>
            </a:pPr>
            <a:endParaRPr lang="en-US" sz="4400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4400" b="1" dirty="0">
                <a:solidFill>
                  <a:schemeClr val="tx1"/>
                </a:solidFill>
              </a:rPr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2475101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3575028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Java Reflections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For</a:t>
            </a:r>
            <a:r>
              <a:rPr lang="en-US" b="1" dirty="0"/>
              <a:t> </a:t>
            </a:r>
            <a:r>
              <a:rPr lang="en-US" b="1" dirty="0">
                <a:solidFill>
                  <a:srgbClr val="00B0F0"/>
                </a:solidFill>
              </a:rPr>
              <a:t>software developer</a:t>
            </a:r>
            <a:r>
              <a:rPr lang="en-US" b="1" dirty="0"/>
              <a:t>: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It is </a:t>
            </a:r>
            <a:r>
              <a:rPr lang="en-US" b="1" dirty="0">
                <a:solidFill>
                  <a:srgbClr val="00B050"/>
                </a:solidFill>
              </a:rPr>
              <a:t>fun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to play with it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Easy way to access class files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Nice for low level </a:t>
            </a:r>
            <a:r>
              <a:rPr lang="en-US" b="1" dirty="0">
                <a:solidFill>
                  <a:srgbClr val="FF0000"/>
                </a:solidFill>
              </a:rPr>
              <a:t>hacks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67321" y="1907219"/>
            <a:ext cx="5583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Software developer itself are not the target group</a:t>
            </a:r>
          </a:p>
        </p:txBody>
      </p:sp>
    </p:spTree>
    <p:extLst>
      <p:ext uri="{BB962C8B-B14F-4D97-AF65-F5344CB8AC3E}">
        <p14:creationId xmlns:p14="http://schemas.microsoft.com/office/powerpoint/2010/main" val="1045657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FDDE6-BBB4-0085-AFF0-F5DBF9CCB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BB8DB-7300-4781-CEEC-DB9734118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85925"/>
            <a:ext cx="3575028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Java Reflections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BB10C-7375-9B46-1FAF-401BECD1C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As </a:t>
            </a:r>
            <a:r>
              <a:rPr lang="en-US" b="1" dirty="0">
                <a:solidFill>
                  <a:srgbClr val="FF0000"/>
                </a:solidFill>
              </a:rPr>
              <a:t>software developer</a:t>
            </a:r>
            <a:r>
              <a:rPr lang="en-US" b="1" dirty="0"/>
              <a:t>?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Careful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using reflections, to </a:t>
            </a:r>
            <a:r>
              <a:rPr lang="en-US" b="1" dirty="0">
                <a:solidFill>
                  <a:srgbClr val="FF0000"/>
                </a:solidFill>
              </a:rPr>
              <a:t>access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private fields or methods!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… to solve some development issues!</a:t>
            </a:r>
          </a:p>
        </p:txBody>
      </p:sp>
    </p:spTree>
    <p:extLst>
      <p:ext uri="{BB962C8B-B14F-4D97-AF65-F5344CB8AC3E}">
        <p14:creationId xmlns:p14="http://schemas.microsoft.com/office/powerpoint/2010/main" val="1605530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3575028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Java Reflections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Because</a:t>
            </a:r>
            <a:r>
              <a:rPr lang="en-US" dirty="0">
                <a:solidFill>
                  <a:schemeClr val="tx1"/>
                </a:solidFill>
              </a:rPr>
              <a:t>: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developer of this class, </a:t>
            </a:r>
            <a:r>
              <a:rPr lang="en-US" b="1" dirty="0">
                <a:solidFill>
                  <a:srgbClr val="FF0000"/>
                </a:solidFill>
              </a:rPr>
              <a:t>does not know </a:t>
            </a:r>
            <a:r>
              <a:rPr lang="en-US" dirty="0">
                <a:solidFill>
                  <a:schemeClr val="tx1"/>
                </a:solidFill>
              </a:rPr>
              <a:t>it is used this way (private)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developer will </a:t>
            </a:r>
            <a:r>
              <a:rPr lang="en-US" b="1" dirty="0">
                <a:solidFill>
                  <a:srgbClr val="FF0000"/>
                </a:solidFill>
              </a:rPr>
              <a:t>change, remove, edit </a:t>
            </a:r>
            <a:r>
              <a:rPr lang="en-US" dirty="0">
                <a:solidFill>
                  <a:schemeClr val="tx1"/>
                </a:solidFill>
              </a:rPr>
              <a:t>a private function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Your program does 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work anymore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In general</a:t>
            </a:r>
            <a:r>
              <a:rPr lang="en-US" dirty="0">
                <a:solidFill>
                  <a:schemeClr val="tx1"/>
                </a:solidFill>
              </a:rPr>
              <a:t>: Do 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use reflections for </a:t>
            </a:r>
            <a:r>
              <a:rPr lang="en-US" b="1" dirty="0">
                <a:solidFill>
                  <a:srgbClr val="00B050"/>
                </a:solidFill>
              </a:rPr>
              <a:t>standard programming tasks</a:t>
            </a:r>
            <a:r>
              <a:rPr lang="en-US" dirty="0">
                <a:solidFill>
                  <a:schemeClr val="tx1"/>
                </a:solidFill>
              </a:rPr>
              <a:t>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309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3575028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Java Reflections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For </a:t>
            </a:r>
            <a:r>
              <a:rPr lang="en-US" b="1" dirty="0">
                <a:solidFill>
                  <a:srgbClr val="FF0000"/>
                </a:solidFill>
              </a:rPr>
              <a:t>hacking</a:t>
            </a:r>
            <a:r>
              <a:rPr lang="en-US" b="1" dirty="0"/>
              <a:t>: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Not really </a:t>
            </a:r>
            <a:r>
              <a:rPr lang="en-US" b="1" dirty="0">
                <a:solidFill>
                  <a:srgbClr val="FF0000"/>
                </a:solidFill>
              </a:rPr>
              <a:t>powerful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Decompiling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is more useful (Bytecode level -&gt; Assembler level)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Could you write a virus with </a:t>
            </a:r>
            <a:r>
              <a:rPr lang="en-US" b="1" dirty="0">
                <a:solidFill>
                  <a:srgbClr val="FF0000"/>
                </a:solidFill>
              </a:rPr>
              <a:t>reflections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Malware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in a JAR archive, do something, maybe …</a:t>
            </a:r>
          </a:p>
        </p:txBody>
      </p:sp>
    </p:spTree>
    <p:extLst>
      <p:ext uri="{BB962C8B-B14F-4D97-AF65-F5344CB8AC3E}">
        <p14:creationId xmlns:p14="http://schemas.microsoft.com/office/powerpoint/2010/main" val="740001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3575028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Java Reflections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Disadvantages</a:t>
            </a:r>
            <a:r>
              <a:rPr lang="en-US" b="1" dirty="0"/>
              <a:t>: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Performance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overhead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Security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violations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It is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against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object-oriented principles</a:t>
            </a:r>
          </a:p>
        </p:txBody>
      </p:sp>
    </p:spTree>
    <p:extLst>
      <p:ext uri="{BB962C8B-B14F-4D97-AF65-F5344CB8AC3E}">
        <p14:creationId xmlns:p14="http://schemas.microsoft.com/office/powerpoint/2010/main" val="41601575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3575028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Java Reflections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For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frameworks and Tools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Eclipse/IntelliJ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are using it:</a:t>
            </a: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List</a:t>
            </a:r>
            <a:r>
              <a:rPr lang="en-US" dirty="0">
                <a:solidFill>
                  <a:schemeClr val="tx1"/>
                </a:solidFill>
              </a:rPr>
              <a:t> of methods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Auto </a:t>
            </a:r>
            <a:r>
              <a:rPr lang="en-US" b="1" dirty="0">
                <a:solidFill>
                  <a:schemeClr val="tx1"/>
                </a:solidFill>
              </a:rPr>
              <a:t>completion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Shows </a:t>
            </a:r>
            <a:r>
              <a:rPr lang="en-US" b="1" dirty="0">
                <a:solidFill>
                  <a:schemeClr val="tx1"/>
                </a:solidFill>
              </a:rPr>
              <a:t>Javadoc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>
                <a:solidFill>
                  <a:srgbClr val="FF0000"/>
                </a:solidFill>
              </a:rPr>
              <a:t>Hibernate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Match entity </a:t>
            </a:r>
            <a:r>
              <a:rPr lang="en-US" b="1" dirty="0">
                <a:solidFill>
                  <a:schemeClr val="tx1"/>
                </a:solidFill>
              </a:rPr>
              <a:t>annotations</a:t>
            </a:r>
            <a:r>
              <a:rPr lang="en-US" dirty="0">
                <a:solidFill>
                  <a:schemeClr val="tx1"/>
                </a:solidFill>
              </a:rPr>
              <a:t> with actual table names</a:t>
            </a:r>
          </a:p>
          <a:p>
            <a:r>
              <a:rPr lang="en-US" dirty="0">
                <a:solidFill>
                  <a:srgbClr val="FF0000"/>
                </a:solidFill>
              </a:rPr>
              <a:t>JUnit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Get more information</a:t>
            </a:r>
          </a:p>
          <a:p>
            <a:r>
              <a:rPr lang="en-US" dirty="0">
                <a:solidFill>
                  <a:srgbClr val="FF0000"/>
                </a:solidFill>
              </a:rPr>
              <a:t>Spring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Get class info's for bean creation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Getter/Setter …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567321" y="1907219"/>
            <a:ext cx="3736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Reflections are for tool creators</a:t>
            </a:r>
          </a:p>
        </p:txBody>
      </p:sp>
    </p:spTree>
    <p:extLst>
      <p:ext uri="{BB962C8B-B14F-4D97-AF65-F5344CB8AC3E}">
        <p14:creationId xmlns:p14="http://schemas.microsoft.com/office/powerpoint/2010/main" val="26178573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Reflection in Action</a:t>
            </a:r>
          </a:p>
        </p:txBody>
      </p:sp>
    </p:spTree>
    <p:extLst>
      <p:ext uri="{BB962C8B-B14F-4D97-AF65-F5344CB8AC3E}">
        <p14:creationId xmlns:p14="http://schemas.microsoft.com/office/powerpoint/2010/main" val="37331006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541" y="1923781"/>
            <a:ext cx="10551751" cy="467527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105951" y="3882255"/>
            <a:ext cx="4553794" cy="3938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7645088" cy="642319"/>
          </a:xfrm>
        </p:spPr>
        <p:txBody>
          <a:bodyPr>
            <a:normAutofit/>
          </a:bodyPr>
          <a:lstStyle/>
          <a:p>
            <a:r>
              <a:rPr lang="en-US" dirty="0"/>
              <a:t>Java Reflections --- Methods ---</a:t>
            </a:r>
          </a:p>
        </p:txBody>
      </p:sp>
      <p:sp>
        <p:nvSpPr>
          <p:cNvPr id="6" name="Rectangle 5"/>
          <p:cNvSpPr/>
          <p:nvPr/>
        </p:nvSpPr>
        <p:spPr>
          <a:xfrm>
            <a:off x="5271962" y="2083699"/>
            <a:ext cx="1788339" cy="234669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63508" y="2083699"/>
            <a:ext cx="1484887" cy="234669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19361" y="2911784"/>
            <a:ext cx="2198335" cy="179374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05951" y="3523407"/>
            <a:ext cx="1426222" cy="161167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4D01-31FF-B661-AA6C-6061D6082A6A}"/>
              </a:ext>
            </a:extLst>
          </p:cNvPr>
          <p:cNvSpPr txBox="1">
            <a:spLocks/>
          </p:cNvSpPr>
          <p:nvPr/>
        </p:nvSpPr>
        <p:spPr>
          <a:xfrm>
            <a:off x="1104958" y="42228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CSEN160_08_Miscellaneous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B_reflections.A_UsingRefelections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401459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02" y="2354501"/>
            <a:ext cx="10440301" cy="329373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025030" y="4012196"/>
            <a:ext cx="3809328" cy="3938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7645088" cy="642319"/>
          </a:xfrm>
        </p:spPr>
        <p:txBody>
          <a:bodyPr>
            <a:normAutofit/>
          </a:bodyPr>
          <a:lstStyle/>
          <a:p>
            <a:r>
              <a:rPr lang="en-US" dirty="0"/>
              <a:t>Java Reflections --- Fields ---</a:t>
            </a:r>
          </a:p>
        </p:txBody>
      </p:sp>
      <p:sp>
        <p:nvSpPr>
          <p:cNvPr id="6" name="Rectangle 5"/>
          <p:cNvSpPr/>
          <p:nvPr/>
        </p:nvSpPr>
        <p:spPr>
          <a:xfrm>
            <a:off x="1278543" y="2548991"/>
            <a:ext cx="1383738" cy="234669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34396" y="2548991"/>
            <a:ext cx="1577947" cy="234669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766763" y="3191244"/>
            <a:ext cx="1846332" cy="166951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25030" y="3604612"/>
            <a:ext cx="1426222" cy="161167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0FDFDF-4E8D-D923-7A53-F55DCDC27776}"/>
              </a:ext>
            </a:extLst>
          </p:cNvPr>
          <p:cNvSpPr txBox="1">
            <a:spLocks/>
          </p:cNvSpPr>
          <p:nvPr/>
        </p:nvSpPr>
        <p:spPr>
          <a:xfrm>
            <a:off x="1104958" y="42228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CSEN160_08_Miscellaneous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.</a:t>
            </a:r>
            <a:r>
              <a:rPr lang="en-US" dirty="0" err="1">
                <a:solidFill>
                  <a:srgbClr val="FF0000"/>
                </a:solidFill>
                <a:latin typeface="Arial" panose="020B0604020202020204"/>
              </a:rPr>
              <a:t>B_reflections</a:t>
            </a: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A_UsingRefelections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570110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923" y="2465892"/>
            <a:ext cx="9348869" cy="29638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7645088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Java Reflections --- Annotations ---</a:t>
            </a:r>
          </a:p>
        </p:txBody>
      </p:sp>
      <p:sp>
        <p:nvSpPr>
          <p:cNvPr id="6" name="Rectangle 5"/>
          <p:cNvSpPr/>
          <p:nvPr/>
        </p:nvSpPr>
        <p:spPr>
          <a:xfrm>
            <a:off x="1703375" y="2746909"/>
            <a:ext cx="3111386" cy="24154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18612" y="2787706"/>
            <a:ext cx="2035147" cy="238715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35901" y="3942621"/>
            <a:ext cx="3842367" cy="200501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F38F1-7F43-22DC-C0BC-38CBECA84C36}"/>
              </a:ext>
            </a:extLst>
          </p:cNvPr>
          <p:cNvSpPr txBox="1">
            <a:spLocks/>
          </p:cNvSpPr>
          <p:nvPr/>
        </p:nvSpPr>
        <p:spPr>
          <a:xfrm>
            <a:off x="1104958" y="42228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CSEN160_08_Miscellaneous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.</a:t>
            </a:r>
            <a:r>
              <a:rPr lang="en-US" dirty="0" err="1">
                <a:solidFill>
                  <a:srgbClr val="FF0000"/>
                </a:solidFill>
                <a:latin typeface="Arial" panose="020B0604020202020204"/>
              </a:rPr>
              <a:t>B_reflections</a:t>
            </a: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A_UsingRefelections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622037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IntelliJ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Java Reflections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586496C-C5B7-00B1-6901-9D673BA38901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CSEN160_08_Miscellaneous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.</a:t>
            </a:r>
            <a:r>
              <a:rPr lang="en-US" dirty="0" err="1">
                <a:solidFill>
                  <a:srgbClr val="FF0000"/>
                </a:solidFill>
                <a:latin typeface="Arial" panose="020B0604020202020204"/>
              </a:rPr>
              <a:t>B_reflections</a:t>
            </a: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A_reflections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A68AEA-EA13-E854-CC06-C9BB7044E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188" y="830179"/>
            <a:ext cx="4761275" cy="571596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415666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Lambda Expressions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20774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5593757" cy="630181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Lambda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29195"/>
            <a:ext cx="10396380" cy="4906274"/>
          </a:xfrm>
        </p:spPr>
        <p:txBody>
          <a:bodyPr rtlCol="0"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Lambda: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Introduced with Java 8</a:t>
            </a:r>
          </a:p>
          <a:p>
            <a:pPr marL="0" indent="0">
              <a:buNone/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Short writing style for interfaces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b="1" dirty="0">
                <a:solidFill>
                  <a:srgbClr val="00B0F0"/>
                </a:solidFill>
              </a:rPr>
              <a:t>Anonymous Function</a:t>
            </a: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(parameters) -&gt; expression</a:t>
            </a:r>
          </a:p>
          <a:p>
            <a:pPr marL="0" indent="0">
              <a:buNone/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Less writing because compiler already know …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037961" y="1825698"/>
            <a:ext cx="516038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“A lambda expression is a short block of code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which takes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parameters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and returns 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Lambda expressions are similar to methods, but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without a name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and they can be implemented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right in the body of a method.”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hlinkClick r:id="rId2"/>
              </a:rPr>
              <a:t>(Source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633755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5593757" cy="630181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Lambda Expressions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54" y="2305405"/>
            <a:ext cx="3799214" cy="9307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54" y="3379525"/>
            <a:ext cx="3766169" cy="8310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92919" y="1814295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Example 2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946" y="2312244"/>
            <a:ext cx="3894311" cy="175708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33772" y="1862655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Example 1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7373" y="2305405"/>
            <a:ext cx="3520205" cy="15962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54961" y="1814295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Example 3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9770" y="4857508"/>
            <a:ext cx="5926577" cy="121006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896604" y="4407325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Example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9105" y="2912832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Own class own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34586" y="2935529"/>
            <a:ext cx="217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Class inside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4850" y="3601665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Anonymous 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5243" y="5461603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Lambda Expression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4524" y="3735756"/>
            <a:ext cx="1100517" cy="101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980014" y="3501665"/>
            <a:ext cx="1100517" cy="101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003631" y="2737147"/>
            <a:ext cx="2390273" cy="6798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41684" y="5330609"/>
            <a:ext cx="4101046" cy="19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Down Arrow 21"/>
          <p:cNvSpPr/>
          <p:nvPr/>
        </p:nvSpPr>
        <p:spPr>
          <a:xfrm flipH="1">
            <a:off x="6096000" y="4821591"/>
            <a:ext cx="64686" cy="544935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675B8A4-F2AE-BAEB-320E-BC59FE88E0AC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CSEN160_08_Miscellaneous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C_lambda.Lambda_Trim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(1 to 4)</a:t>
            </a:r>
          </a:p>
        </p:txBody>
      </p:sp>
    </p:spTree>
    <p:extLst>
      <p:ext uri="{BB962C8B-B14F-4D97-AF65-F5344CB8AC3E}">
        <p14:creationId xmlns:p14="http://schemas.microsoft.com/office/powerpoint/2010/main" val="8374151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36516" y="1404643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Runnable Lambda Example:                               Standard Approach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Lambda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51" y="1873720"/>
            <a:ext cx="5283348" cy="427622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47550" y="2915363"/>
            <a:ext cx="4725749" cy="10964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513" y="1873720"/>
            <a:ext cx="5092021" cy="474151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10626" y="2970659"/>
            <a:ext cx="4725749" cy="138690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80531" y="3123526"/>
            <a:ext cx="1306864" cy="2953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080531" y="4086156"/>
            <a:ext cx="1306864" cy="1540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Down Arrow 5"/>
          <p:cNvSpPr/>
          <p:nvPr/>
        </p:nvSpPr>
        <p:spPr>
          <a:xfrm>
            <a:off x="4434438" y="2222541"/>
            <a:ext cx="121380" cy="718375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795B651-5881-C59C-863C-99DB55F77814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CSEN160_08_Miscellaneous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C_lambda.Lambda_Trim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(1 to 4)</a:t>
            </a:r>
          </a:p>
        </p:txBody>
      </p:sp>
    </p:spTree>
    <p:extLst>
      <p:ext uri="{BB962C8B-B14F-4D97-AF65-F5344CB8AC3E}">
        <p14:creationId xmlns:p14="http://schemas.microsoft.com/office/powerpoint/2010/main" val="3440253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Java Record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96235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Java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7"/>
            <a:ext cx="10436840" cy="4962919"/>
          </a:xfrm>
        </p:spPr>
        <p:txBody>
          <a:bodyPr/>
          <a:lstStyle/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Lightweight entity class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The simplest “classes” (available since JDK16)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Read-only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Every field is private and final (you set it once)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Some kind of a “struct”</a:t>
            </a:r>
          </a:p>
        </p:txBody>
      </p:sp>
    </p:spTree>
    <p:extLst>
      <p:ext uri="{BB962C8B-B14F-4D97-AF65-F5344CB8AC3E}">
        <p14:creationId xmlns:p14="http://schemas.microsoft.com/office/powerpoint/2010/main" val="24339998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Short Example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062" y="2166340"/>
            <a:ext cx="3396432" cy="9797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919" y="2656210"/>
            <a:ext cx="4463260" cy="2351376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V="1">
            <a:off x="4636736" y="3030467"/>
            <a:ext cx="1679098" cy="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624598" y="3058789"/>
            <a:ext cx="1760018" cy="121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83898" y="3119479"/>
            <a:ext cx="3121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One Java file DataShort.java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5288" y="1825193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Special record constructor</a:t>
            </a:r>
          </a:p>
        </p:txBody>
      </p:sp>
      <p:cxnSp>
        <p:nvCxnSpPr>
          <p:cNvPr id="14" name="Straight Arrow Connector 13"/>
          <p:cNvCxnSpPr>
            <a:stCxn id="12" idx="1"/>
          </p:cNvCxnSpPr>
          <p:nvPr/>
        </p:nvCxnSpPr>
        <p:spPr>
          <a:xfrm flipH="1">
            <a:off x="3617140" y="2009859"/>
            <a:ext cx="1068148" cy="935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E566367-3B93-622C-E739-8F13041EC3A9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CSEN160_08_Miscellaneous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D_records.A_DataShort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067737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976" y="2369466"/>
            <a:ext cx="3750227" cy="23132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516" y="2153134"/>
            <a:ext cx="4305413" cy="400604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Long Example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4130984" y="2718924"/>
            <a:ext cx="3689968" cy="265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4130984" y="2892662"/>
            <a:ext cx="3689968" cy="90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36516" y="6230866"/>
            <a:ext cx="3121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One Java file DataShort.java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5288" y="1825193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Special record constructor</a:t>
            </a:r>
          </a:p>
        </p:txBody>
      </p:sp>
      <p:cxnSp>
        <p:nvCxnSpPr>
          <p:cNvPr id="14" name="Straight Arrow Connector 13"/>
          <p:cNvCxnSpPr>
            <a:stCxn id="12" idx="1"/>
          </p:cNvCxnSpPr>
          <p:nvPr/>
        </p:nvCxnSpPr>
        <p:spPr>
          <a:xfrm flipH="1">
            <a:off x="3431023" y="2009859"/>
            <a:ext cx="1254265" cy="893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130984" y="2998586"/>
            <a:ext cx="3689968" cy="48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975433" y="3126404"/>
            <a:ext cx="18165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 parameter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Constructor possible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H="1" flipV="1">
            <a:off x="2621819" y="3156867"/>
            <a:ext cx="1331140" cy="271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41252" y="3728920"/>
            <a:ext cx="11095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Argument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Constructor</a:t>
            </a:r>
          </a:p>
        </p:txBody>
      </p:sp>
      <p:cxnSp>
        <p:nvCxnSpPr>
          <p:cNvPr id="26" name="Straight Arrow Connector 25"/>
          <p:cNvCxnSpPr>
            <a:stCxn id="24" idx="1"/>
          </p:cNvCxnSpPr>
          <p:nvPr/>
        </p:nvCxnSpPr>
        <p:spPr>
          <a:xfrm flipH="1" flipV="1">
            <a:off x="2528761" y="3932729"/>
            <a:ext cx="3312491" cy="57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522814" y="5429219"/>
            <a:ext cx="5775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Overall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do not make record entities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too complicated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They are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simple lightweight entities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nothing else.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D877C-7A6C-E7C2-F44F-62B8F0C8460D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CSEN160_08_Miscellaneous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D_records.B_DataLong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704775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116" y="1499855"/>
            <a:ext cx="4900146" cy="33315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10469208" cy="605905"/>
          </a:xfrm>
        </p:spPr>
        <p:txBody>
          <a:bodyPr>
            <a:normAutofit fontScale="90000"/>
          </a:bodyPr>
          <a:lstStyle/>
          <a:p>
            <a:r>
              <a:rPr lang="en-US" dirty="0"/>
              <a:t>Time comparison old entity classes vs new records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516" y="1460613"/>
            <a:ext cx="4370729" cy="508376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6696" y="4831436"/>
            <a:ext cx="3238585" cy="94163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7676" y="4802756"/>
            <a:ext cx="2922891" cy="88176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5017" y="5684522"/>
            <a:ext cx="2988207" cy="91986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6696" y="5773075"/>
            <a:ext cx="2988207" cy="930753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DC550EA-F32D-D94B-BED5-F0FF1448846F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CSEN160_08_Miscellaneous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D_records.C_DataOld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928741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Java Records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34FFDAD-7571-E903-51BA-3BF6488FF2D3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CSEN160_08_Miscellaneous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.</a:t>
            </a:r>
            <a:r>
              <a:rPr lang="en-US" dirty="0" err="1">
                <a:solidFill>
                  <a:srgbClr val="FF0000"/>
                </a:solidFill>
                <a:latin typeface="Arial" panose="020B0604020202020204"/>
              </a:rPr>
              <a:t>D_records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UseRecordShort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688EED-E422-CE2F-7B9B-18CDBF3BF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40" y="1393745"/>
            <a:ext cx="5410342" cy="15022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DEFAF0-C7B7-1D94-9A1C-01E1C6655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072" y="3581813"/>
            <a:ext cx="5500097" cy="28348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578428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BD30A-644B-F055-440A-A0905A255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5D965BCA-D8A3-152B-28FA-A3A760DCD9CE}"/>
              </a:ext>
            </a:extLst>
          </p:cNvPr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Java Records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4D5232-815D-2B9B-2759-BC413B8DD952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CSEN160_08_Miscellaneous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.</a:t>
            </a: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D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_records.E_UseRecordLong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3F2019-262C-EEF6-4FFD-BF4E1FAA2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852" y="1529798"/>
            <a:ext cx="3604196" cy="31865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12F8B7-CB87-0E0C-92AD-198F3FFD8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707" y="2814139"/>
            <a:ext cx="6595966" cy="38044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958440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BECF6-5884-B3BD-DBB8-31CE1CA97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FC483325-4DA0-E59D-A01D-101709FA961F}"/>
              </a:ext>
            </a:extLst>
          </p:cNvPr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Java Records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9B5C130-6624-319A-F714-B287213FA1D7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CSEN160_08_Miscellaneous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.</a:t>
            </a: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D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_records.F_RecordVsOldEntities_SpeedTest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7EAB6F-937D-B723-5835-1B98A0777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52" y="1460612"/>
            <a:ext cx="5033048" cy="34765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5D1037-CF5A-2709-74D7-093A45764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265" y="1673670"/>
            <a:ext cx="4463260" cy="6150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9B215E-A1D7-AA11-64EC-A741DA5BA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7695" y="2929475"/>
            <a:ext cx="4408830" cy="5388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B56CF3-88F4-6212-0125-2654F93B2F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4973" y="3944202"/>
            <a:ext cx="4359843" cy="5497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A2F3856-0E96-1AD9-C05C-E1B3765B7DF3}"/>
              </a:ext>
            </a:extLst>
          </p:cNvPr>
          <p:cNvSpPr/>
          <p:nvPr/>
        </p:nvSpPr>
        <p:spPr>
          <a:xfrm>
            <a:off x="10980822" y="1943324"/>
            <a:ext cx="637674" cy="25043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E74C87-D4BD-D7EA-35D8-153255079419}"/>
              </a:ext>
            </a:extLst>
          </p:cNvPr>
          <p:cNvSpPr/>
          <p:nvPr/>
        </p:nvSpPr>
        <p:spPr>
          <a:xfrm>
            <a:off x="10980822" y="2929475"/>
            <a:ext cx="637674" cy="25043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FF16A5-35B0-B760-C4A0-08F9E70D2CDB}"/>
              </a:ext>
            </a:extLst>
          </p:cNvPr>
          <p:cNvSpPr/>
          <p:nvPr/>
        </p:nvSpPr>
        <p:spPr>
          <a:xfrm>
            <a:off x="10980822" y="4219073"/>
            <a:ext cx="637674" cy="25043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FE61CB7-8EB1-3563-5638-403C0F397B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3265" y="5123805"/>
            <a:ext cx="4387058" cy="5878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C806E04-E7A7-E6B0-9696-75EAB779E96F}"/>
              </a:ext>
            </a:extLst>
          </p:cNvPr>
          <p:cNvSpPr/>
          <p:nvPr/>
        </p:nvSpPr>
        <p:spPr>
          <a:xfrm>
            <a:off x="10916653" y="5109922"/>
            <a:ext cx="637674" cy="25043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72708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4">
                    <a:lumMod val="75000"/>
                  </a:schemeClr>
                </a:solidFill>
              </a:rPr>
              <a:t>J</a:t>
            </a:r>
            <a:r>
              <a:rPr lang="en-US" altLang="en-US" dirty="0"/>
              <a:t>ava-</a:t>
            </a:r>
            <a:r>
              <a:rPr lang="en-US" altLang="en-US" dirty="0">
                <a:solidFill>
                  <a:schemeClr val="accent4">
                    <a:lumMod val="75000"/>
                  </a:schemeClr>
                </a:solidFill>
              </a:rPr>
              <a:t>Ar</a:t>
            </a:r>
            <a:r>
              <a:rPr lang="en-US" altLang="en-US" dirty="0"/>
              <a:t>chive (</a:t>
            </a:r>
            <a:r>
              <a:rPr lang="en-US" altLang="en-US" dirty="0">
                <a:solidFill>
                  <a:schemeClr val="accent4">
                    <a:lumMod val="75000"/>
                  </a:schemeClr>
                </a:solidFill>
              </a:rPr>
              <a:t>JAR</a:t>
            </a:r>
            <a:r>
              <a:rPr lang="en-US" alt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918294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Advantages:</a:t>
            </a:r>
          </a:p>
          <a:p>
            <a:r>
              <a:rPr lang="en-US" b="1" dirty="0">
                <a:solidFill>
                  <a:srgbClr val="FF0000"/>
                </a:solidFill>
              </a:rPr>
              <a:t>Security</a:t>
            </a:r>
            <a:r>
              <a:rPr lang="en-US" dirty="0">
                <a:solidFill>
                  <a:schemeClr val="tx1"/>
                </a:solidFill>
              </a:rPr>
              <a:t>: you can sign a JAR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Compression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Faster to download a jar then a bunch of class files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Package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versioning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(sealing)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More portable</a:t>
            </a:r>
          </a:p>
        </p:txBody>
      </p:sp>
    </p:spTree>
    <p:extLst>
      <p:ext uri="{BB962C8B-B14F-4D97-AF65-F5344CB8AC3E}">
        <p14:creationId xmlns:p14="http://schemas.microsoft.com/office/powerpoint/2010/main" val="17724666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Put together a bunch of files (tar)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You can open JARs with every zip, </a:t>
            </a:r>
            <a:r>
              <a:rPr lang="en-US" dirty="0" err="1">
                <a:solidFill>
                  <a:schemeClr val="tx1"/>
                </a:solidFill>
              </a:rPr>
              <a:t>rar</a:t>
            </a:r>
            <a:r>
              <a:rPr lang="en-US" dirty="0">
                <a:solidFill>
                  <a:schemeClr val="tx1"/>
                </a:solidFill>
              </a:rPr>
              <a:t>, 7-zip, program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Don’t assign *.jar to a zip program …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Runnable JAR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594" y="4250811"/>
            <a:ext cx="4569527" cy="1664465"/>
          </a:xfrm>
          <a:prstGeom prst="rect">
            <a:avLst/>
          </a:prstGeom>
        </p:spPr>
      </p:pic>
      <p:cxnSp>
        <p:nvCxnSpPr>
          <p:cNvPr id="6" name="Straight Arrow Connector 5"/>
          <p:cNvCxnSpPr>
            <a:endCxn id="4" idx="0"/>
          </p:cNvCxnSpPr>
          <p:nvPr/>
        </p:nvCxnSpPr>
        <p:spPr>
          <a:xfrm>
            <a:off x="6995565" y="3172078"/>
            <a:ext cx="1583793" cy="1078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18549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Very simple example program: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8753" y="2512142"/>
            <a:ext cx="7245360" cy="18777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515" y="2512142"/>
            <a:ext cx="2757245" cy="17159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95212" y="0"/>
            <a:ext cx="4647426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>
                <a:solidFill>
                  <a:srgbClr val="FF0000"/>
                </a:solidFill>
              </a:rPr>
              <a:t>CSEN160_08_</a:t>
            </a:r>
            <a:r>
              <a:rPr lang="en-US" b="1" dirty="0">
                <a:solidFill>
                  <a:srgbClr val="FF0000"/>
                </a:solidFill>
              </a:rPr>
              <a:t>Miscellaneous.</a:t>
            </a: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_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JAR.Main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57649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JAR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Eclipse offers two ways: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Simple plain “JAR file”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“Runnable JAR file”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2267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3623609" cy="642319"/>
          </a:xfrm>
        </p:spPr>
        <p:txBody>
          <a:bodyPr>
            <a:normAutofit/>
          </a:bodyPr>
          <a:lstStyle/>
          <a:p>
            <a:r>
              <a:rPr lang="en-US" dirty="0"/>
              <a:t>JAR file IntelliJ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C9F934-14FF-77EE-48AE-D575C8456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387" y="1623604"/>
            <a:ext cx="5701422" cy="29132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6DBB07-F2CD-D404-2D16-D6FF79959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327" y="1978468"/>
            <a:ext cx="7121440" cy="437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2996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86CCD-5451-B9E6-3088-80AF5B0CE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949F-0092-F0A5-1A5C-48DF083D0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85925"/>
            <a:ext cx="3623609" cy="642319"/>
          </a:xfrm>
        </p:spPr>
        <p:txBody>
          <a:bodyPr>
            <a:normAutofit/>
          </a:bodyPr>
          <a:lstStyle/>
          <a:p>
            <a:r>
              <a:rPr lang="en-US" dirty="0"/>
              <a:t>JAR file IntelliJ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BE7D63-5EE0-C610-B155-0F01A048C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799" y="2319419"/>
            <a:ext cx="5826887" cy="27685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E9D885-5723-C7C1-5839-66EBDC9CE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380" y="1492387"/>
            <a:ext cx="2855340" cy="23918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072224-39CB-F722-28E7-6373C0360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498" y="4028844"/>
            <a:ext cx="3451104" cy="211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0713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7378050" cy="642319"/>
          </a:xfrm>
        </p:spPr>
        <p:txBody>
          <a:bodyPr/>
          <a:lstStyle/>
          <a:p>
            <a:r>
              <a:rPr lang="en-US" dirty="0"/>
              <a:t>Create JAR (command 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pt-BR" b="1" dirty="0">
                <a:solidFill>
                  <a:schemeClr val="tx1"/>
                </a:solidFill>
              </a:rPr>
              <a:t>jar –help or jar -h: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15" y="2736667"/>
            <a:ext cx="5384587" cy="34582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841" y="2736666"/>
            <a:ext cx="4922777" cy="365905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95320" y="2985961"/>
            <a:ext cx="5271961" cy="424832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92827" y="5452683"/>
            <a:ext cx="5271961" cy="312892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35892" y="3363589"/>
            <a:ext cx="4322469" cy="249505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35893" y="5087193"/>
            <a:ext cx="3569910" cy="12812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89369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7378050" cy="642319"/>
          </a:xfrm>
        </p:spPr>
        <p:txBody>
          <a:bodyPr/>
          <a:lstStyle/>
          <a:p>
            <a:r>
              <a:rPr lang="en-US" dirty="0"/>
              <a:t>Create JAR (command 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pt-BR" b="1" dirty="0">
                <a:solidFill>
                  <a:schemeClr val="tx1"/>
                </a:solidFill>
              </a:rPr>
              <a:t>Create JAR:</a:t>
            </a:r>
          </a:p>
          <a:p>
            <a:r>
              <a:rPr lang="pt-BR" dirty="0">
                <a:solidFill>
                  <a:schemeClr val="tx1"/>
                </a:solidFill>
              </a:rPr>
              <a:t>jar cf mike.jar com</a:t>
            </a:r>
          </a:p>
          <a:p>
            <a:pPr marL="0" indent="0">
              <a:buNone/>
            </a:pPr>
            <a:endParaRPr lang="pt-B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 b="1" dirty="0">
                <a:solidFill>
                  <a:schemeClr val="tx1"/>
                </a:solidFill>
              </a:rPr>
              <a:t>Create Executable JAR:</a:t>
            </a:r>
          </a:p>
          <a:p>
            <a:r>
              <a:rPr lang="pt-BR" dirty="0">
                <a:solidFill>
                  <a:schemeClr val="tx1"/>
                </a:solidFill>
              </a:rPr>
              <a:t>jar cmf MANIFEST.MF mike.jar com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Execute JAR:</a:t>
            </a:r>
          </a:p>
          <a:p>
            <a:r>
              <a:rPr lang="en-US" dirty="0">
                <a:solidFill>
                  <a:schemeClr val="tx1"/>
                </a:solidFill>
              </a:rPr>
              <a:t>java -jar ./mike.jar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34186" y="4594747"/>
            <a:ext cx="419217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 Windows: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 double click on JAR does not work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Download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jarfix.exe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F5B9C2-C582-AC66-19D0-E3D45E4FF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186" y="2990893"/>
            <a:ext cx="3044599" cy="14089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B3EC9A-0101-8BE8-CC1A-EE798BBA6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186" y="1850838"/>
            <a:ext cx="2387723" cy="8445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251933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JAR signing</a:t>
            </a:r>
          </a:p>
        </p:txBody>
      </p:sp>
    </p:spTree>
    <p:extLst>
      <p:ext uri="{BB962C8B-B14F-4D97-AF65-F5344CB8AC3E}">
        <p14:creationId xmlns:p14="http://schemas.microsoft.com/office/powerpoint/2010/main" val="37043162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71F2D4-C6A6-9733-D318-F0A890B9D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16" y="2939663"/>
            <a:ext cx="7627524" cy="10312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7378050" cy="642319"/>
          </a:xfrm>
        </p:spPr>
        <p:txBody>
          <a:bodyPr/>
          <a:lstStyle/>
          <a:p>
            <a:r>
              <a:rPr lang="en-US" dirty="0"/>
              <a:t>Create JAR (command 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pt-BR" b="1" dirty="0">
                <a:solidFill>
                  <a:schemeClr val="tx1"/>
                </a:solidFill>
              </a:rPr>
              <a:t>Check if JAR is signed:</a:t>
            </a:r>
          </a:p>
          <a:p>
            <a:r>
              <a:rPr lang="pt-BR" sz="2000" dirty="0">
                <a:solidFill>
                  <a:schemeClr val="tx1"/>
                </a:solidFill>
              </a:rPr>
              <a:t>jarsigner -verify mike.jar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endParaRPr lang="pt-BR" b="1" dirty="0"/>
          </a:p>
        </p:txBody>
      </p:sp>
      <p:sp>
        <p:nvSpPr>
          <p:cNvPr id="8" name="Rectangle 7"/>
          <p:cNvSpPr/>
          <p:nvPr/>
        </p:nvSpPr>
        <p:spPr>
          <a:xfrm>
            <a:off x="936516" y="3547541"/>
            <a:ext cx="2047316" cy="3386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14135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7378050" cy="642319"/>
          </a:xfrm>
        </p:spPr>
        <p:txBody>
          <a:bodyPr/>
          <a:lstStyle/>
          <a:p>
            <a:r>
              <a:rPr lang="en-US" dirty="0"/>
              <a:t>Create JAR (command 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594397"/>
            <a:ext cx="10393221" cy="50751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>
                <a:solidFill>
                  <a:schemeClr val="tx1"/>
                </a:solidFill>
              </a:rPr>
              <a:t>Create keystore.jks:</a:t>
            </a:r>
          </a:p>
          <a:p>
            <a:r>
              <a:rPr lang="en-US" sz="2000" dirty="0" err="1">
                <a:solidFill>
                  <a:schemeClr val="tx1"/>
                </a:solidFill>
              </a:rPr>
              <a:t>keytool</a:t>
            </a:r>
            <a:r>
              <a:rPr lang="en-US" sz="2000" dirty="0">
                <a:solidFill>
                  <a:schemeClr val="tx1"/>
                </a:solidFill>
              </a:rPr>
              <a:t> -</a:t>
            </a:r>
            <a:r>
              <a:rPr lang="en-US" sz="2000" dirty="0" err="1">
                <a:solidFill>
                  <a:schemeClr val="tx1"/>
                </a:solidFill>
              </a:rPr>
              <a:t>genkey</a:t>
            </a:r>
            <a:r>
              <a:rPr lang="en-US" sz="2000" dirty="0">
                <a:solidFill>
                  <a:schemeClr val="tx1"/>
                </a:solidFill>
              </a:rPr>
              <a:t> -alias server -</a:t>
            </a:r>
            <a:r>
              <a:rPr lang="en-US" sz="2000" dirty="0" err="1">
                <a:solidFill>
                  <a:schemeClr val="tx1"/>
                </a:solidFill>
              </a:rPr>
              <a:t>keyalg</a:t>
            </a:r>
            <a:r>
              <a:rPr lang="en-US" sz="2000" dirty="0">
                <a:solidFill>
                  <a:schemeClr val="tx1"/>
                </a:solidFill>
              </a:rPr>
              <a:t> RSA -</a:t>
            </a:r>
            <a:r>
              <a:rPr lang="en-US" sz="2000" dirty="0" err="1">
                <a:solidFill>
                  <a:schemeClr val="tx1"/>
                </a:solidFill>
              </a:rPr>
              <a:t>keypass</a:t>
            </a:r>
            <a:r>
              <a:rPr lang="en-US" sz="2000" dirty="0">
                <a:solidFill>
                  <a:schemeClr val="tx1"/>
                </a:solidFill>
              </a:rPr>
              <a:t> password -</a:t>
            </a:r>
            <a:r>
              <a:rPr lang="en-US" sz="2000" dirty="0" err="1">
                <a:solidFill>
                  <a:schemeClr val="tx1"/>
                </a:solidFill>
              </a:rPr>
              <a:t>storepass</a:t>
            </a:r>
            <a:r>
              <a:rPr lang="en-US" sz="2000" dirty="0">
                <a:solidFill>
                  <a:schemeClr val="tx1"/>
                </a:solidFill>
              </a:rPr>
              <a:t> password -keystore </a:t>
            </a:r>
            <a:r>
              <a:rPr lang="en-US" sz="2000" dirty="0" err="1">
                <a:solidFill>
                  <a:schemeClr val="tx1"/>
                </a:solidFill>
              </a:rPr>
              <a:t>keystore.jks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Create certificate: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 err="1">
                <a:solidFill>
                  <a:schemeClr val="tx1"/>
                </a:solidFill>
              </a:rPr>
              <a:t>keytool</a:t>
            </a:r>
            <a:r>
              <a:rPr lang="en-US" sz="2000" dirty="0">
                <a:solidFill>
                  <a:schemeClr val="tx1"/>
                </a:solidFill>
              </a:rPr>
              <a:t> -export -alias server -</a:t>
            </a:r>
            <a:r>
              <a:rPr lang="en-US" sz="2000" dirty="0" err="1">
                <a:solidFill>
                  <a:schemeClr val="tx1"/>
                </a:solidFill>
              </a:rPr>
              <a:t>storepass</a:t>
            </a:r>
            <a:r>
              <a:rPr lang="en-US" sz="2000" dirty="0">
                <a:solidFill>
                  <a:schemeClr val="tx1"/>
                </a:solidFill>
              </a:rPr>
              <a:t> password -file server.cer -keystore </a:t>
            </a:r>
            <a:r>
              <a:rPr lang="en-US" sz="2000" dirty="0" err="1">
                <a:solidFill>
                  <a:schemeClr val="tx1"/>
                </a:solidFill>
              </a:rPr>
              <a:t>keystore.jks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Actually, sign a Jar:</a:t>
            </a:r>
          </a:p>
          <a:p>
            <a:r>
              <a:rPr lang="en-US" sz="2000" dirty="0" err="1">
                <a:solidFill>
                  <a:schemeClr val="tx1"/>
                </a:solidFill>
              </a:rPr>
              <a:t>jarsigner</a:t>
            </a:r>
            <a:r>
              <a:rPr lang="en-US" sz="2000" dirty="0">
                <a:solidFill>
                  <a:schemeClr val="tx1"/>
                </a:solidFill>
              </a:rPr>
              <a:t> -keystore </a:t>
            </a:r>
            <a:r>
              <a:rPr lang="en-US" sz="2000" dirty="0" err="1">
                <a:solidFill>
                  <a:schemeClr val="tx1"/>
                </a:solidFill>
              </a:rPr>
              <a:t>keystore.jks</a:t>
            </a:r>
            <a:r>
              <a:rPr lang="en-US" sz="2000" dirty="0">
                <a:solidFill>
                  <a:schemeClr val="tx1"/>
                </a:solidFill>
              </a:rPr>
              <a:t> -</a:t>
            </a:r>
            <a:r>
              <a:rPr lang="en-US" sz="2000" dirty="0" err="1">
                <a:solidFill>
                  <a:schemeClr val="tx1"/>
                </a:solidFill>
              </a:rPr>
              <a:t>signedjar</a:t>
            </a:r>
            <a:r>
              <a:rPr lang="en-US" sz="2000" dirty="0">
                <a:solidFill>
                  <a:schemeClr val="tx1"/>
                </a:solidFill>
              </a:rPr>
              <a:t> mike-sign-V1.0.jar mike.jar server</a:t>
            </a:r>
          </a:p>
        </p:txBody>
      </p:sp>
    </p:spTree>
    <p:extLst>
      <p:ext uri="{BB962C8B-B14F-4D97-AF65-F5344CB8AC3E}">
        <p14:creationId xmlns:p14="http://schemas.microsoft.com/office/powerpoint/2010/main" val="19434752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D766E-78E1-67AC-A3CD-834942984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805F-22F7-85EB-8EE7-02CFE95B1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85925"/>
            <a:ext cx="7378050" cy="642319"/>
          </a:xfrm>
        </p:spPr>
        <p:txBody>
          <a:bodyPr/>
          <a:lstStyle/>
          <a:p>
            <a:r>
              <a:rPr lang="en-US" dirty="0"/>
              <a:t>Create JAR (command line)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7E4A6-3F9A-98BE-7ADE-86BB78D31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594397"/>
            <a:ext cx="10393221" cy="507510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Check if it is signed:</a:t>
            </a:r>
          </a:p>
          <a:p>
            <a:r>
              <a:rPr lang="en-US" sz="2000" dirty="0" err="1">
                <a:solidFill>
                  <a:schemeClr val="tx1"/>
                </a:solidFill>
              </a:rPr>
              <a:t>jarsigner</a:t>
            </a:r>
            <a:r>
              <a:rPr lang="en-US" sz="2000" dirty="0">
                <a:solidFill>
                  <a:schemeClr val="tx1"/>
                </a:solidFill>
              </a:rPr>
              <a:t> -verify mike-sign-V1.0.jar </a:t>
            </a:r>
          </a:p>
          <a:p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17252-D889-1249-E1BF-428460504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16" y="3187464"/>
            <a:ext cx="8885878" cy="94448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C931263-E831-042C-187A-AC43D7032568}"/>
              </a:ext>
            </a:extLst>
          </p:cNvPr>
          <p:cNvSpPr/>
          <p:nvPr/>
        </p:nvSpPr>
        <p:spPr>
          <a:xfrm>
            <a:off x="936516" y="3764110"/>
            <a:ext cx="1674336" cy="33865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50776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/>
              <a:t>Done</a:t>
            </a:r>
            <a:endParaRPr lang="en-US" dirty="0"/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08598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2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1506</TotalTime>
  <Words>1311</Words>
  <Application>Microsoft Office PowerPoint</Application>
  <PresentationFormat>Widescreen</PresentationFormat>
  <Paragraphs>335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Arial</vt:lpstr>
      <vt:lpstr>Arial Narrow</vt:lpstr>
      <vt:lpstr>Calibri</vt:lpstr>
      <vt:lpstr>Garamond</vt:lpstr>
      <vt:lpstr>SCUTemplate</vt:lpstr>
      <vt:lpstr>Custom Design</vt:lpstr>
      <vt:lpstr>1_SCUTemplate</vt:lpstr>
      <vt:lpstr>2_SCUTemplate</vt:lpstr>
      <vt:lpstr>CSEN160</vt:lpstr>
      <vt:lpstr>JavaDoc &amp; Annotations</vt:lpstr>
      <vt:lpstr>javadoc - Java API documentation generator</vt:lpstr>
      <vt:lpstr>Javadoc comments</vt:lpstr>
      <vt:lpstr>Javadoc comments</vt:lpstr>
      <vt:lpstr>Javadoc Tags/Annotations</vt:lpstr>
      <vt:lpstr>Example</vt:lpstr>
      <vt:lpstr>Example</vt:lpstr>
      <vt:lpstr>Annotations in General</vt:lpstr>
      <vt:lpstr>Annotations</vt:lpstr>
      <vt:lpstr>Annotations</vt:lpstr>
      <vt:lpstr>Annotations</vt:lpstr>
      <vt:lpstr>Java Reflections </vt:lpstr>
      <vt:lpstr>Java Reflections </vt:lpstr>
      <vt:lpstr>Java Reflections </vt:lpstr>
      <vt:lpstr>Java Reflections </vt:lpstr>
      <vt:lpstr>Java Reflections </vt:lpstr>
      <vt:lpstr>Java Reflections </vt:lpstr>
      <vt:lpstr>Java Reflections </vt:lpstr>
      <vt:lpstr>Java Reflections </vt:lpstr>
      <vt:lpstr>Java Reflections </vt:lpstr>
      <vt:lpstr>Java Reflections </vt:lpstr>
      <vt:lpstr>Reflection in Action</vt:lpstr>
      <vt:lpstr>Java Reflections --- Methods ---</vt:lpstr>
      <vt:lpstr>Java Reflections --- Fields ---</vt:lpstr>
      <vt:lpstr>Java Reflections --- Annotations ---</vt:lpstr>
      <vt:lpstr>PowerPoint Presentation</vt:lpstr>
      <vt:lpstr>Lambda Expressions</vt:lpstr>
      <vt:lpstr>Lambda Expressions</vt:lpstr>
      <vt:lpstr>Lambda Expressions</vt:lpstr>
      <vt:lpstr>PowerPoint Presentation</vt:lpstr>
      <vt:lpstr>Java Record</vt:lpstr>
      <vt:lpstr>Java Record</vt:lpstr>
      <vt:lpstr>Short Example</vt:lpstr>
      <vt:lpstr>Long Example</vt:lpstr>
      <vt:lpstr>Time comparison old entity classes vs new records</vt:lpstr>
      <vt:lpstr>PowerPoint Presentation</vt:lpstr>
      <vt:lpstr>PowerPoint Presentation</vt:lpstr>
      <vt:lpstr>PowerPoint Presentation</vt:lpstr>
      <vt:lpstr>Java-Archive (JAR)</vt:lpstr>
      <vt:lpstr>JAR</vt:lpstr>
      <vt:lpstr>JAR</vt:lpstr>
      <vt:lpstr>JAR</vt:lpstr>
      <vt:lpstr>JAR file</vt:lpstr>
      <vt:lpstr>JAR file IntelliJ</vt:lpstr>
      <vt:lpstr>JAR file IntelliJ</vt:lpstr>
      <vt:lpstr>Create JAR (command line)</vt:lpstr>
      <vt:lpstr>Create JAR (command line)</vt:lpstr>
      <vt:lpstr>JAR signing</vt:lpstr>
      <vt:lpstr>Create JAR (command line)</vt:lpstr>
      <vt:lpstr>Create JAR (command line)</vt:lpstr>
      <vt:lpstr>Create JAR (command line)</vt:lpstr>
      <vt:lpstr>Done</vt:lpstr>
      <vt:lpstr>… to here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228</cp:revision>
  <cp:lastPrinted>2023-09-11T21:46:56Z</cp:lastPrinted>
  <dcterms:created xsi:type="dcterms:W3CDTF">2023-09-09T19:51:41Z</dcterms:created>
  <dcterms:modified xsi:type="dcterms:W3CDTF">2026-09-22T20:29:32Z</dcterms:modified>
</cp:coreProperties>
</file>