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82"/>
  </p:notesMasterIdLst>
  <p:handoutMasterIdLst>
    <p:handoutMasterId r:id="rId83"/>
  </p:handoutMasterIdLst>
  <p:sldIdLst>
    <p:sldId id="333" r:id="rId3"/>
    <p:sldId id="464" r:id="rId4"/>
    <p:sldId id="466" r:id="rId5"/>
    <p:sldId id="566" r:id="rId6"/>
    <p:sldId id="469" r:id="rId7"/>
    <p:sldId id="470" r:id="rId8"/>
    <p:sldId id="471" r:id="rId9"/>
    <p:sldId id="597" r:id="rId10"/>
    <p:sldId id="472" r:id="rId11"/>
    <p:sldId id="473" r:id="rId12"/>
    <p:sldId id="474" r:id="rId13"/>
    <p:sldId id="475" r:id="rId14"/>
    <p:sldId id="477" r:id="rId15"/>
    <p:sldId id="478" r:id="rId16"/>
    <p:sldId id="479" r:id="rId17"/>
    <p:sldId id="596" r:id="rId18"/>
    <p:sldId id="480" r:id="rId19"/>
    <p:sldId id="481" r:id="rId20"/>
    <p:sldId id="482" r:id="rId21"/>
    <p:sldId id="483" r:id="rId22"/>
    <p:sldId id="484" r:id="rId23"/>
    <p:sldId id="485" r:id="rId24"/>
    <p:sldId id="490" r:id="rId25"/>
    <p:sldId id="491" r:id="rId26"/>
    <p:sldId id="605" r:id="rId27"/>
    <p:sldId id="606" r:id="rId28"/>
    <p:sldId id="496" r:id="rId29"/>
    <p:sldId id="497" r:id="rId30"/>
    <p:sldId id="498" r:id="rId31"/>
    <p:sldId id="523" r:id="rId32"/>
    <p:sldId id="598" r:id="rId33"/>
    <p:sldId id="522" r:id="rId34"/>
    <p:sldId id="524" r:id="rId35"/>
    <p:sldId id="525" r:id="rId36"/>
    <p:sldId id="608" r:id="rId37"/>
    <p:sldId id="609" r:id="rId38"/>
    <p:sldId id="610" r:id="rId39"/>
    <p:sldId id="611" r:id="rId40"/>
    <p:sldId id="612" r:id="rId41"/>
    <p:sldId id="613" r:id="rId42"/>
    <p:sldId id="615" r:id="rId43"/>
    <p:sldId id="619" r:id="rId44"/>
    <p:sldId id="620" r:id="rId45"/>
    <p:sldId id="621" r:id="rId46"/>
    <p:sldId id="622" r:id="rId47"/>
    <p:sldId id="623" r:id="rId48"/>
    <p:sldId id="624" r:id="rId49"/>
    <p:sldId id="625" r:id="rId50"/>
    <p:sldId id="626" r:id="rId51"/>
    <p:sldId id="627" r:id="rId52"/>
    <p:sldId id="628" r:id="rId53"/>
    <p:sldId id="629" r:id="rId54"/>
    <p:sldId id="630" r:id="rId55"/>
    <p:sldId id="631" r:id="rId56"/>
    <p:sldId id="632" r:id="rId57"/>
    <p:sldId id="633" r:id="rId58"/>
    <p:sldId id="635" r:id="rId59"/>
    <p:sldId id="636" r:id="rId60"/>
    <p:sldId id="661" r:id="rId61"/>
    <p:sldId id="638" r:id="rId62"/>
    <p:sldId id="639" r:id="rId63"/>
    <p:sldId id="640" r:id="rId64"/>
    <p:sldId id="642" r:id="rId65"/>
    <p:sldId id="643" r:id="rId66"/>
    <p:sldId id="663" r:id="rId67"/>
    <p:sldId id="645" r:id="rId68"/>
    <p:sldId id="646" r:id="rId69"/>
    <p:sldId id="647" r:id="rId70"/>
    <p:sldId id="648" r:id="rId71"/>
    <p:sldId id="649" r:id="rId72"/>
    <p:sldId id="650" r:id="rId73"/>
    <p:sldId id="651" r:id="rId74"/>
    <p:sldId id="652" r:id="rId75"/>
    <p:sldId id="653" r:id="rId76"/>
    <p:sldId id="654" r:id="rId77"/>
    <p:sldId id="656" r:id="rId78"/>
    <p:sldId id="657" r:id="rId79"/>
    <p:sldId id="658" r:id="rId80"/>
    <p:sldId id="604" r:id="rId8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4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34908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32314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219664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4789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30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5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31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57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33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EE247-B21E-D44B-B336-DC60CBF682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6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ECBCF-DA20-D54D-A269-ED2835656F6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44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77A477-681C-AD43-B4C0-237BFA7B54B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4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FDDF3-3EDC-4C87-88FE-283AFFF2DC2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458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EC994-2919-41C2-B305-E055647C360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260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475001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6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0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0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864207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2E583-435F-3646-9D7F-4EF00295C89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55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F9097E-341A-E341-9C5B-9B8B4EC5729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82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E70C89-F027-4D42-BF6F-7EAD1EDC283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Transition from H* shown if there is no history yet.</a:t>
            </a:r>
          </a:p>
        </p:txBody>
      </p:sp>
    </p:spTree>
    <p:extLst>
      <p:ext uri="{BB962C8B-B14F-4D97-AF65-F5344CB8AC3E}">
        <p14:creationId xmlns:p14="http://schemas.microsoft.com/office/powerpoint/2010/main" val="435167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E70C89-F027-4D42-BF6F-7EAD1EDC283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Transition from H* shown if there is no history yet.</a:t>
            </a:r>
          </a:p>
        </p:txBody>
      </p:sp>
    </p:spTree>
    <p:extLst>
      <p:ext uri="{BB962C8B-B14F-4D97-AF65-F5344CB8AC3E}">
        <p14:creationId xmlns:p14="http://schemas.microsoft.com/office/powerpoint/2010/main" val="1681246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28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68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3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03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366981-6FCC-3C47-B13A-5642D153EC5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9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9A9C-A6DF-4FA0-97A4-ED29529749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9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2" r:id="rId14"/>
    <p:sldLayoutId id="2147483683" r:id="rId15"/>
    <p:sldLayoutId id="2147483685" r:id="rId16"/>
    <p:sldLayoutId id="214748368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gif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docs/en/SS8PJ7_9.5.0/com.ibm.xtools.modeler.doc/topics/cgeneral.html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9.png"/><Relationship Id="rId18" Type="http://schemas.openxmlformats.org/officeDocument/2006/relationships/image" Target="../media/image43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image" Target="../media/image38.png"/><Relationship Id="rId17" Type="http://schemas.openxmlformats.org/officeDocument/2006/relationships/image" Target="../media/image42.png"/><Relationship Id="rId2" Type="http://schemas.openxmlformats.org/officeDocument/2006/relationships/image" Target="../media/image21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37.png"/><Relationship Id="rId5" Type="http://schemas.openxmlformats.org/officeDocument/2006/relationships/image" Target="../media/image24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8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58228" y="1129892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UML three amigos</a:t>
            </a:r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E10C8-3DA2-5F86-71FE-4F7A6D16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67" y="801665"/>
            <a:ext cx="5383521" cy="4019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614113" y="2019411"/>
            <a:ext cx="106492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effectLst/>
                <a:latin typeface="canada-type-gibson"/>
              </a:rPr>
              <a:t>Three Amigos: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Grady </a:t>
            </a:r>
            <a:r>
              <a:rPr lang="en-US" b="0" i="0" dirty="0" err="1">
                <a:effectLst/>
                <a:latin typeface="canada-type-gibson"/>
              </a:rPr>
              <a:t>Booch</a:t>
            </a: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Ivar Jacobson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James Rumbaugh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They created the Unified Modeling Language in 1995 </a:t>
            </a:r>
            <a:br>
              <a:rPr lang="en-US" b="0" i="0" dirty="0">
                <a:effectLst/>
                <a:latin typeface="canada-type-gibson"/>
              </a:rPr>
            </a:br>
            <a:r>
              <a:rPr lang="en-US" b="0" i="0" dirty="0">
                <a:effectLst/>
                <a:latin typeface="canada-type-gibson"/>
              </a:rPr>
              <a:t>(while working at Rational software. 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In 1997, the </a:t>
            </a:r>
            <a:r>
              <a:rPr lang="en-US" b="1" i="0" dirty="0">
                <a:effectLst/>
                <a:latin typeface="canada-type-gibson"/>
              </a:rPr>
              <a:t>Object Management Group </a:t>
            </a:r>
            <a:r>
              <a:rPr lang="en-US" b="0" i="0" dirty="0">
                <a:effectLst/>
                <a:latin typeface="canada-type-gibson"/>
              </a:rPr>
              <a:t>adopted </a:t>
            </a:r>
            <a:r>
              <a:rPr lang="en-US" b="1" i="0" dirty="0">
                <a:effectLst/>
                <a:latin typeface="canada-type-gibson"/>
              </a:rPr>
              <a:t>UML</a:t>
            </a:r>
            <a:r>
              <a:rPr lang="en-US" b="0" i="0" dirty="0">
                <a:effectLst/>
                <a:latin typeface="canada-type-gibson"/>
              </a:rPr>
              <a:t> </a:t>
            </a:r>
            <a:br>
              <a:rPr lang="en-US" b="0" i="0" dirty="0">
                <a:effectLst/>
                <a:latin typeface="canada-type-gibson"/>
              </a:rPr>
            </a:br>
            <a:r>
              <a:rPr lang="en-US" b="0" i="0" dirty="0">
                <a:effectLst/>
                <a:latin typeface="canada-type-gibson"/>
              </a:rPr>
              <a:t>as a standard, which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Apple Computer</a:t>
            </a:r>
            <a:endParaRPr lang="en-US" b="0" i="0" dirty="0">
              <a:effectLst/>
              <a:latin typeface="canada-type-gibso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Hewlett-Packard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IBM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algn="l"/>
            <a:r>
              <a:rPr lang="en-US" b="0" i="0" dirty="0">
                <a:effectLst/>
                <a:latin typeface="canada-type-gibson"/>
              </a:rPr>
              <a:t>With interoperability in mind: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UML would be a shared visual language for years to 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2005 International Organization for Standardization </a:t>
            </a:r>
            <a:r>
              <a:rPr lang="en-US" dirty="0">
                <a:latin typeface="canada-type-gibson"/>
              </a:rPr>
              <a:t>(ISO/IEC 19501)</a:t>
            </a:r>
            <a:endParaRPr lang="en-US" b="0" i="0" dirty="0">
              <a:effectLst/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271465171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17741" y="1075021"/>
            <a:ext cx="535472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dirty="0">
                <a:effectLst/>
                <a:latin typeface="canada-type-gibson"/>
              </a:rPr>
              <a:t>UML principles:</a:t>
            </a:r>
          </a:p>
          <a:p>
            <a:pPr algn="l"/>
            <a:endParaRPr lang="en-US" b="1" i="0" dirty="0">
              <a:effectLst/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Case 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Architecture-centric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canada-type-gibson"/>
              </a:rPr>
              <a:t>Standard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language for software blueprints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Start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easy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use what you know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But you can go 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very </a:t>
            </a:r>
            <a:r>
              <a:rPr lang="en-US" b="1" dirty="0" err="1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dirty="0">
                <a:solidFill>
                  <a:srgbClr val="FF0000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complicated!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UML is a 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expressive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6446439" y="1660557"/>
            <a:ext cx="53565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“The rules of the UML encourage you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b="1" dirty="0">
                <a:solidFill>
                  <a:srgbClr val="92D050"/>
                </a:solidFill>
                <a:latin typeface="canada-type-gibson"/>
              </a:rPr>
              <a:t>BUT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does not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force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you” (Three Amigos cite)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“A shitty diagram is better than none” (Michael)</a:t>
            </a:r>
            <a:endParaRPr lang="en-US" b="0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Iterative/incremental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All UML elements (of different diagrams) </a:t>
            </a:r>
            <a:br>
              <a:rPr lang="en-US" dirty="0">
                <a:latin typeface="canada-type-gibson"/>
              </a:rPr>
            </a:br>
            <a:r>
              <a:rPr lang="en-US" dirty="0">
                <a:latin typeface="canada-type-gibson"/>
              </a:rPr>
              <a:t>can be mixed together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UML can be extended by you </a:t>
            </a:r>
            <a:br>
              <a:rPr lang="en-US" dirty="0">
                <a:latin typeface="canada-type-gibson"/>
              </a:rPr>
            </a:br>
            <a:r>
              <a:rPr lang="en-US" dirty="0">
                <a:latin typeface="canada-type-gibson"/>
              </a:rPr>
              <a:t>(Stereotypes, Adornments…)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33998668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It starts with an</a:t>
            </a:r>
            <a:br>
              <a:rPr lang="en-US" dirty="0"/>
            </a:br>
            <a:r>
              <a:rPr lang="en-US" dirty="0"/>
              <a:t>Use Case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09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57834" y="1237407"/>
            <a:ext cx="9851379" cy="4742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b="1" dirty="0">
                <a:solidFill>
                  <a:srgbClr val="800000"/>
                </a:solidFill>
              </a:rPr>
              <a:t>OO Analysis:</a:t>
            </a:r>
            <a:r>
              <a:rPr lang="en-US" altLang="en-US" sz="3600" dirty="0"/>
              <a:t>  </a:t>
            </a:r>
          </a:p>
          <a:p>
            <a:endParaRPr lang="en-US" altLang="en-US" sz="2800" dirty="0"/>
          </a:p>
          <a:p>
            <a:r>
              <a:rPr lang="en-US" altLang="en-US" sz="2800" dirty="0">
                <a:solidFill>
                  <a:schemeClr val="tx1"/>
                </a:solidFill>
              </a:rPr>
              <a:t>Brainstorming sessions</a:t>
            </a:r>
          </a:p>
          <a:p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“Use cases are stories, widely used to discover and record requirements” </a:t>
            </a:r>
            <a:b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Book “Applying UML and Patterns” Craig </a:t>
            </a:r>
            <a:r>
              <a:rPr lang="en-US" altLang="en-US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Larman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 sz="1800" b="1" dirty="0">
                <a:solidFill>
                  <a:schemeClr val="tx1"/>
                </a:solidFill>
              </a:rPr>
              <a:t>Use cases</a:t>
            </a:r>
            <a:r>
              <a:rPr lang="en-US" altLang="en-US" sz="1600" dirty="0">
                <a:solidFill>
                  <a:schemeClr val="tx1"/>
                </a:solidFill>
              </a:rPr>
              <a:t> text version</a:t>
            </a:r>
          </a:p>
          <a:p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Use cases diagram</a:t>
            </a:r>
            <a:endParaRPr lang="en-US" alt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Why use cases?</a:t>
            </a:r>
            <a:endParaRPr lang="en-US" altLang="en-US" sz="3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35222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researchgate.net/profile/Amador-Duran-Toro/publication/220536177/figure/fig2/AS:669051873423392@1536525805936/Use-case-example-using-a-simplified-version-of-Durans-template-Metric-Description-NOS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669" y="788779"/>
            <a:ext cx="6353167" cy="581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8360" y="1671005"/>
            <a:ext cx="211583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Created</a:t>
            </a:r>
          </a:p>
          <a:p>
            <a:r>
              <a:rPr lang="en-US" sz="2400" dirty="0"/>
              <a:t>by a business</a:t>
            </a:r>
            <a:br>
              <a:rPr lang="en-US" sz="2400" dirty="0"/>
            </a:br>
            <a:r>
              <a:rPr lang="en-US" sz="2400" dirty="0"/>
              <a:t>department</a:t>
            </a:r>
          </a:p>
          <a:p>
            <a:r>
              <a:rPr lang="en-US" sz="2400" dirty="0"/>
              <a:t>Business </a:t>
            </a:r>
          </a:p>
          <a:p>
            <a:r>
              <a:rPr lang="en-US" sz="2400" dirty="0"/>
              <a:t>Analyst …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445542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6815199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i="0" dirty="0">
                <a:effectLst/>
                <a:latin typeface="canada-type-gibson"/>
              </a:rPr>
              <a:t>Use cases:</a:t>
            </a:r>
          </a:p>
          <a:p>
            <a:pPr algn="l"/>
            <a:endParaRPr lang="en-US" b="1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Provide a way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for developers </a:t>
            </a:r>
            <a:r>
              <a:rPr lang="en-US" dirty="0">
                <a:latin typeface="canada-type-gibson"/>
              </a:rPr>
              <a:t>to come to a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common understanding 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dirty="0">
                <a:latin typeface="canada-type-gibson"/>
              </a:rPr>
              <a:t>with the systems end user and domain experts.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Describes a set of sequences, and each sequence represents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b="1" dirty="0">
                <a:solidFill>
                  <a:srgbClr val="92D050"/>
                </a:solidFill>
                <a:latin typeface="canada-type-gibson"/>
              </a:rPr>
              <a:t>things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outside the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301382910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3" y="1675848"/>
            <a:ext cx="4377516" cy="1584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497" y="1246174"/>
            <a:ext cx="2976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Case Diagram (Visio)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463" y="3823487"/>
            <a:ext cx="490397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Human or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Actor: user -&gt; cashier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Supporting Actor: service -&gt; payment auth.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Offstage Actor: has an interest, IRS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084625" y="3043740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&lt;&lt;uses&gt;&gt;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099" y="918446"/>
            <a:ext cx="6893942" cy="53578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5979" y="787999"/>
            <a:ext cx="3576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200" b="1" dirty="0"/>
              <a:t>&lt;&lt;includes&gt;&gt; &lt;&lt;uses&gt;&gt;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Includes the functionality of another use case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supports </a:t>
            </a:r>
            <a:r>
              <a:rPr lang="en-US" sz="1200" b="1" dirty="0">
                <a:solidFill>
                  <a:srgbClr val="92D050"/>
                </a:solidFill>
              </a:rPr>
              <a:t>reuse</a:t>
            </a:r>
            <a:r>
              <a:rPr lang="en-US" sz="1200" dirty="0"/>
              <a:t> of functionality.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Putting common behavior in its own use case.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2D050"/>
                </a:solidFill>
              </a:rPr>
              <a:t>Included</a:t>
            </a:r>
            <a:r>
              <a:rPr lang="en-US" sz="1200" dirty="0"/>
              <a:t> case never stands alone.</a:t>
            </a:r>
          </a:p>
        </p:txBody>
      </p:sp>
      <p:sp>
        <p:nvSpPr>
          <p:cNvPr id="18" name="object 3"/>
          <p:cNvSpPr txBox="1"/>
          <p:nvPr/>
        </p:nvSpPr>
        <p:spPr>
          <a:xfrm>
            <a:off x="6797704" y="4483894"/>
            <a:ext cx="2948391" cy="1210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/>
              <a:t>&lt;&lt;extends&gt;&gt;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Extends the behavior of another use case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Reveals details about a system that are </a:t>
            </a:r>
            <a:r>
              <a:rPr lang="en-US" sz="1100" b="1" dirty="0">
                <a:solidFill>
                  <a:srgbClr val="FF0000"/>
                </a:solidFill>
              </a:rPr>
              <a:t>typically hidden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cs typeface="Arial"/>
              </a:rPr>
              <a:t>User may see optional system behavior.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cs typeface="Arial"/>
              </a:rPr>
              <a:t>Exceptional behavior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4106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064" y="1084439"/>
            <a:ext cx="4350665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 dirty="0"/>
              <a:t>&lt;&lt;uses&gt;&gt; &lt;&lt;include&gt;&gt;</a:t>
            </a:r>
          </a:p>
        </p:txBody>
      </p:sp>
      <p:grpSp>
        <p:nvGrpSpPr>
          <p:cNvPr id="7" name="object 3"/>
          <p:cNvGrpSpPr/>
          <p:nvPr/>
        </p:nvGrpSpPr>
        <p:grpSpPr>
          <a:xfrm>
            <a:off x="2864027" y="1785937"/>
            <a:ext cx="3133725" cy="1114425"/>
            <a:chOff x="1690687" y="1785937"/>
            <a:chExt cx="3133725" cy="1114425"/>
          </a:xfrm>
        </p:grpSpPr>
        <p:sp>
          <p:nvSpPr>
            <p:cNvPr id="8" name="object 4"/>
            <p:cNvSpPr/>
            <p:nvPr/>
          </p:nvSpPr>
          <p:spPr>
            <a:xfrm>
              <a:off x="1695450" y="1809750"/>
              <a:ext cx="361950" cy="342900"/>
            </a:xfrm>
            <a:custGeom>
              <a:avLst/>
              <a:gdLst/>
              <a:ahLst/>
              <a:cxnLst/>
              <a:rect l="l" t="t" r="r" b="b"/>
              <a:pathLst>
                <a:path w="361950" h="342900">
                  <a:moveTo>
                    <a:pt x="308944" y="50216"/>
                  </a:moveTo>
                  <a:lnTo>
                    <a:pt x="338391" y="86775"/>
                  </a:lnTo>
                  <a:lnTo>
                    <a:pt x="356060" y="127957"/>
                  </a:lnTo>
                  <a:lnTo>
                    <a:pt x="361949" y="171450"/>
                  </a:lnTo>
                  <a:lnTo>
                    <a:pt x="356060" y="214942"/>
                  </a:lnTo>
                  <a:lnTo>
                    <a:pt x="338391" y="256124"/>
                  </a:lnTo>
                  <a:lnTo>
                    <a:pt x="308944" y="292682"/>
                  </a:lnTo>
                  <a:lnTo>
                    <a:pt x="270353" y="320581"/>
                  </a:lnTo>
                  <a:lnTo>
                    <a:pt x="226884" y="337320"/>
                  </a:lnTo>
                  <a:lnTo>
                    <a:pt x="180975" y="342899"/>
                  </a:lnTo>
                  <a:lnTo>
                    <a:pt x="135066" y="337320"/>
                  </a:lnTo>
                  <a:lnTo>
                    <a:pt x="91596" y="320581"/>
                  </a:lnTo>
                  <a:lnTo>
                    <a:pt x="53006" y="292682"/>
                  </a:lnTo>
                  <a:lnTo>
                    <a:pt x="23558" y="256124"/>
                  </a:lnTo>
                  <a:lnTo>
                    <a:pt x="5889" y="214942"/>
                  </a:lnTo>
                  <a:lnTo>
                    <a:pt x="0" y="171450"/>
                  </a:lnTo>
                  <a:lnTo>
                    <a:pt x="5889" y="127957"/>
                  </a:lnTo>
                  <a:lnTo>
                    <a:pt x="23558" y="86775"/>
                  </a:lnTo>
                  <a:lnTo>
                    <a:pt x="53006" y="50216"/>
                  </a:lnTo>
                  <a:lnTo>
                    <a:pt x="91596" y="22318"/>
                  </a:lnTo>
                  <a:lnTo>
                    <a:pt x="135066" y="5579"/>
                  </a:lnTo>
                  <a:lnTo>
                    <a:pt x="180975" y="0"/>
                  </a:lnTo>
                  <a:lnTo>
                    <a:pt x="226884" y="5579"/>
                  </a:lnTo>
                  <a:lnTo>
                    <a:pt x="270353" y="22318"/>
                  </a:lnTo>
                  <a:lnTo>
                    <a:pt x="308944" y="502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/>
            <p:cNvSpPr/>
            <p:nvPr/>
          </p:nvSpPr>
          <p:spPr>
            <a:xfrm>
              <a:off x="1887219" y="2152650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/>
            <p:cNvSpPr/>
            <p:nvPr/>
          </p:nvSpPr>
          <p:spPr>
            <a:xfrm>
              <a:off x="1714499" y="2724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/>
            <p:cNvSpPr/>
            <p:nvPr/>
          </p:nvSpPr>
          <p:spPr>
            <a:xfrm>
              <a:off x="1895474" y="2724150"/>
              <a:ext cx="180975" cy="171450"/>
            </a:xfrm>
            <a:custGeom>
              <a:avLst/>
              <a:gdLst/>
              <a:ahLst/>
              <a:cxnLst/>
              <a:rect l="l" t="t" r="r" b="b"/>
              <a:pathLst>
                <a:path w="180975" h="171450">
                  <a:moveTo>
                    <a:pt x="0" y="0"/>
                  </a:moveTo>
                  <a:lnTo>
                    <a:pt x="180975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/>
            <p:cNvSpPr/>
            <p:nvPr/>
          </p:nvSpPr>
          <p:spPr>
            <a:xfrm>
              <a:off x="1714499" y="2266950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/>
            <p:cNvSpPr/>
            <p:nvPr/>
          </p:nvSpPr>
          <p:spPr>
            <a:xfrm>
              <a:off x="3276600" y="1790700"/>
              <a:ext cx="1543050" cy="552450"/>
            </a:xfrm>
            <a:custGeom>
              <a:avLst/>
              <a:gdLst/>
              <a:ahLst/>
              <a:cxnLst/>
              <a:rect l="l" t="t" r="r" b="b"/>
              <a:pathLst>
                <a:path w="1543050" h="552450">
                  <a:moveTo>
                    <a:pt x="1317078" y="80904"/>
                  </a:moveTo>
                  <a:lnTo>
                    <a:pt x="1370040" y="101883"/>
                  </a:lnTo>
                  <a:lnTo>
                    <a:pt x="1415941" y="124236"/>
                  </a:lnTo>
                  <a:lnTo>
                    <a:pt x="1454780" y="147767"/>
                  </a:lnTo>
                  <a:lnTo>
                    <a:pt x="1486557" y="172281"/>
                  </a:lnTo>
                  <a:lnTo>
                    <a:pt x="1528926" y="223467"/>
                  </a:lnTo>
                  <a:lnTo>
                    <a:pt x="1543050" y="276225"/>
                  </a:lnTo>
                  <a:lnTo>
                    <a:pt x="1539519" y="302701"/>
                  </a:lnTo>
                  <a:lnTo>
                    <a:pt x="1511272" y="354870"/>
                  </a:lnTo>
                  <a:lnTo>
                    <a:pt x="1454780" y="404682"/>
                  </a:lnTo>
                  <a:lnTo>
                    <a:pt x="1415941" y="428213"/>
                  </a:lnTo>
                  <a:lnTo>
                    <a:pt x="1370040" y="450567"/>
                  </a:lnTo>
                  <a:lnTo>
                    <a:pt x="1317078" y="471545"/>
                  </a:lnTo>
                  <a:lnTo>
                    <a:pt x="1274867" y="485587"/>
                  </a:lnTo>
                  <a:lnTo>
                    <a:pt x="1230545" y="498291"/>
                  </a:lnTo>
                  <a:lnTo>
                    <a:pt x="1184325" y="509657"/>
                  </a:lnTo>
                  <a:lnTo>
                    <a:pt x="1136417" y="519687"/>
                  </a:lnTo>
                  <a:lnTo>
                    <a:pt x="1087032" y="528379"/>
                  </a:lnTo>
                  <a:lnTo>
                    <a:pt x="1036381" y="535734"/>
                  </a:lnTo>
                  <a:lnTo>
                    <a:pt x="984676" y="541752"/>
                  </a:lnTo>
                  <a:lnTo>
                    <a:pt x="932126" y="546432"/>
                  </a:lnTo>
                  <a:lnTo>
                    <a:pt x="878944" y="549775"/>
                  </a:lnTo>
                  <a:lnTo>
                    <a:pt x="825340" y="551781"/>
                  </a:lnTo>
                  <a:lnTo>
                    <a:pt x="771525" y="552450"/>
                  </a:lnTo>
                  <a:lnTo>
                    <a:pt x="717710" y="551781"/>
                  </a:lnTo>
                  <a:lnTo>
                    <a:pt x="664106" y="549775"/>
                  </a:lnTo>
                  <a:lnTo>
                    <a:pt x="610924" y="546432"/>
                  </a:lnTo>
                  <a:lnTo>
                    <a:pt x="558375" y="541752"/>
                  </a:lnTo>
                  <a:lnTo>
                    <a:pt x="506669" y="535734"/>
                  </a:lnTo>
                  <a:lnTo>
                    <a:pt x="456019" y="528379"/>
                  </a:lnTo>
                  <a:lnTo>
                    <a:pt x="406634" y="519687"/>
                  </a:lnTo>
                  <a:lnTo>
                    <a:pt x="358727" y="509657"/>
                  </a:lnTo>
                  <a:lnTo>
                    <a:pt x="312507" y="498291"/>
                  </a:lnTo>
                  <a:lnTo>
                    <a:pt x="268186" y="485587"/>
                  </a:lnTo>
                  <a:lnTo>
                    <a:pt x="225974" y="471545"/>
                  </a:lnTo>
                  <a:lnTo>
                    <a:pt x="173012" y="450567"/>
                  </a:lnTo>
                  <a:lnTo>
                    <a:pt x="127110" y="428213"/>
                  </a:lnTo>
                  <a:lnTo>
                    <a:pt x="88271" y="404682"/>
                  </a:lnTo>
                  <a:lnTo>
                    <a:pt x="56493" y="380168"/>
                  </a:lnTo>
                  <a:lnTo>
                    <a:pt x="14123" y="328982"/>
                  </a:lnTo>
                  <a:lnTo>
                    <a:pt x="0" y="276225"/>
                  </a:lnTo>
                  <a:lnTo>
                    <a:pt x="3530" y="249748"/>
                  </a:lnTo>
                  <a:lnTo>
                    <a:pt x="31777" y="197579"/>
                  </a:lnTo>
                  <a:lnTo>
                    <a:pt x="88271" y="147767"/>
                  </a:lnTo>
                  <a:lnTo>
                    <a:pt x="127110" y="124236"/>
                  </a:lnTo>
                  <a:lnTo>
                    <a:pt x="173012" y="101883"/>
                  </a:lnTo>
                  <a:lnTo>
                    <a:pt x="225974" y="80904"/>
                  </a:lnTo>
                  <a:lnTo>
                    <a:pt x="268186" y="66863"/>
                  </a:lnTo>
                  <a:lnTo>
                    <a:pt x="312507" y="54159"/>
                  </a:lnTo>
                  <a:lnTo>
                    <a:pt x="358727" y="42792"/>
                  </a:lnTo>
                  <a:lnTo>
                    <a:pt x="406634" y="32762"/>
                  </a:lnTo>
                  <a:lnTo>
                    <a:pt x="456019" y="24070"/>
                  </a:lnTo>
                  <a:lnTo>
                    <a:pt x="506669" y="16715"/>
                  </a:lnTo>
                  <a:lnTo>
                    <a:pt x="558375" y="10698"/>
                  </a:lnTo>
                  <a:lnTo>
                    <a:pt x="610924" y="6017"/>
                  </a:lnTo>
                  <a:lnTo>
                    <a:pt x="664106" y="2674"/>
                  </a:lnTo>
                  <a:lnTo>
                    <a:pt x="717710" y="668"/>
                  </a:lnTo>
                  <a:lnTo>
                    <a:pt x="771525" y="0"/>
                  </a:lnTo>
                  <a:lnTo>
                    <a:pt x="825340" y="668"/>
                  </a:lnTo>
                  <a:lnTo>
                    <a:pt x="878944" y="2674"/>
                  </a:lnTo>
                  <a:lnTo>
                    <a:pt x="932126" y="6017"/>
                  </a:lnTo>
                  <a:lnTo>
                    <a:pt x="984676" y="10698"/>
                  </a:lnTo>
                  <a:lnTo>
                    <a:pt x="1036381" y="16715"/>
                  </a:lnTo>
                  <a:lnTo>
                    <a:pt x="1087032" y="24070"/>
                  </a:lnTo>
                  <a:lnTo>
                    <a:pt x="1136417" y="32762"/>
                  </a:lnTo>
                  <a:lnTo>
                    <a:pt x="1184325" y="42792"/>
                  </a:lnTo>
                  <a:lnTo>
                    <a:pt x="1230545" y="54159"/>
                  </a:lnTo>
                  <a:lnTo>
                    <a:pt x="1274867" y="66863"/>
                  </a:lnTo>
                  <a:lnTo>
                    <a:pt x="1317078" y="809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0"/>
          <p:cNvSpPr txBox="1"/>
          <p:nvPr/>
        </p:nvSpPr>
        <p:spPr>
          <a:xfrm>
            <a:off x="4547730" y="187886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1"/>
          <p:cNvSpPr/>
          <p:nvPr/>
        </p:nvSpPr>
        <p:spPr>
          <a:xfrm>
            <a:off x="4430890" y="3048000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 txBox="1"/>
          <p:nvPr/>
        </p:nvSpPr>
        <p:spPr>
          <a:xfrm>
            <a:off x="4528680" y="313616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4368514" y="4152058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 txBox="1"/>
          <p:nvPr/>
        </p:nvSpPr>
        <p:spPr>
          <a:xfrm>
            <a:off x="4466304" y="4240221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6678790" y="2000250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6776580" y="208841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17"/>
          <p:cNvGrpSpPr/>
          <p:nvPr/>
        </p:nvGrpSpPr>
        <p:grpSpPr>
          <a:xfrm>
            <a:off x="3202165" y="2057401"/>
            <a:ext cx="1257300" cy="1243330"/>
            <a:chOff x="2028825" y="2057401"/>
            <a:chExt cx="1257300" cy="1243330"/>
          </a:xfrm>
        </p:grpSpPr>
        <p:sp>
          <p:nvSpPr>
            <p:cNvPr id="22" name="object 18"/>
            <p:cNvSpPr/>
            <p:nvPr/>
          </p:nvSpPr>
          <p:spPr>
            <a:xfrm>
              <a:off x="2038349" y="2062164"/>
              <a:ext cx="1243330" cy="205104"/>
            </a:xfrm>
            <a:custGeom>
              <a:avLst/>
              <a:gdLst/>
              <a:ahLst/>
              <a:cxnLst/>
              <a:rect l="l" t="t" r="r" b="b"/>
              <a:pathLst>
                <a:path w="1243329" h="205105">
                  <a:moveTo>
                    <a:pt x="0" y="204785"/>
                  </a:moveTo>
                  <a:lnTo>
                    <a:pt x="124301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/>
            <p:cNvSpPr/>
            <p:nvPr/>
          </p:nvSpPr>
          <p:spPr>
            <a:xfrm>
              <a:off x="2033587" y="2271712"/>
              <a:ext cx="1205230" cy="1024255"/>
            </a:xfrm>
            <a:custGeom>
              <a:avLst/>
              <a:gdLst/>
              <a:ahLst/>
              <a:cxnLst/>
              <a:rect l="l" t="t" r="r" b="b"/>
              <a:pathLst>
                <a:path w="1205230" h="1024254">
                  <a:moveTo>
                    <a:pt x="0" y="0"/>
                  </a:moveTo>
                  <a:lnTo>
                    <a:pt x="1204914" y="102394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0"/>
          <p:cNvGrpSpPr/>
          <p:nvPr/>
        </p:nvGrpSpPr>
        <p:grpSpPr>
          <a:xfrm>
            <a:off x="5887758" y="3594845"/>
            <a:ext cx="2028825" cy="1114425"/>
            <a:chOff x="4738694" y="3805237"/>
            <a:chExt cx="2028825" cy="1114425"/>
          </a:xfrm>
        </p:grpSpPr>
        <p:sp>
          <p:nvSpPr>
            <p:cNvPr id="25" name="object 21"/>
            <p:cNvSpPr/>
            <p:nvPr/>
          </p:nvSpPr>
          <p:spPr>
            <a:xfrm>
              <a:off x="6362700" y="3810000"/>
              <a:ext cx="361950" cy="342900"/>
            </a:xfrm>
            <a:custGeom>
              <a:avLst/>
              <a:gdLst/>
              <a:ahLst/>
              <a:cxnLst/>
              <a:rect l="l" t="t" r="r" b="b"/>
              <a:pathLst>
                <a:path w="361950" h="342900">
                  <a:moveTo>
                    <a:pt x="308944" y="50216"/>
                  </a:moveTo>
                  <a:lnTo>
                    <a:pt x="338391" y="86775"/>
                  </a:lnTo>
                  <a:lnTo>
                    <a:pt x="356060" y="127957"/>
                  </a:lnTo>
                  <a:lnTo>
                    <a:pt x="361949" y="171450"/>
                  </a:lnTo>
                  <a:lnTo>
                    <a:pt x="356060" y="214942"/>
                  </a:lnTo>
                  <a:lnTo>
                    <a:pt x="338391" y="256124"/>
                  </a:lnTo>
                  <a:lnTo>
                    <a:pt x="308944" y="292682"/>
                  </a:lnTo>
                  <a:lnTo>
                    <a:pt x="270353" y="320581"/>
                  </a:lnTo>
                  <a:lnTo>
                    <a:pt x="226884" y="337320"/>
                  </a:lnTo>
                  <a:lnTo>
                    <a:pt x="180975" y="342899"/>
                  </a:lnTo>
                  <a:lnTo>
                    <a:pt x="135066" y="337320"/>
                  </a:lnTo>
                  <a:lnTo>
                    <a:pt x="91596" y="320581"/>
                  </a:lnTo>
                  <a:lnTo>
                    <a:pt x="53006" y="292682"/>
                  </a:lnTo>
                  <a:lnTo>
                    <a:pt x="23558" y="256124"/>
                  </a:lnTo>
                  <a:lnTo>
                    <a:pt x="5889" y="214942"/>
                  </a:lnTo>
                  <a:lnTo>
                    <a:pt x="0" y="171450"/>
                  </a:lnTo>
                  <a:lnTo>
                    <a:pt x="5889" y="127957"/>
                  </a:lnTo>
                  <a:lnTo>
                    <a:pt x="23558" y="86775"/>
                  </a:lnTo>
                  <a:lnTo>
                    <a:pt x="53006" y="50216"/>
                  </a:lnTo>
                  <a:lnTo>
                    <a:pt x="91596" y="22318"/>
                  </a:lnTo>
                  <a:lnTo>
                    <a:pt x="135066" y="5579"/>
                  </a:lnTo>
                  <a:lnTo>
                    <a:pt x="180975" y="0"/>
                  </a:lnTo>
                  <a:lnTo>
                    <a:pt x="226884" y="5579"/>
                  </a:lnTo>
                  <a:lnTo>
                    <a:pt x="270353" y="22318"/>
                  </a:lnTo>
                  <a:lnTo>
                    <a:pt x="308944" y="502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2"/>
            <p:cNvSpPr/>
            <p:nvPr/>
          </p:nvSpPr>
          <p:spPr>
            <a:xfrm>
              <a:off x="6554470" y="4152900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/>
            <p:cNvSpPr/>
            <p:nvPr/>
          </p:nvSpPr>
          <p:spPr>
            <a:xfrm>
              <a:off x="6372225" y="4729162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4"/>
            <p:cNvSpPr/>
            <p:nvPr/>
          </p:nvSpPr>
          <p:spPr>
            <a:xfrm>
              <a:off x="6553200" y="47244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0" y="0"/>
                  </a:moveTo>
                  <a:lnTo>
                    <a:pt x="209549" y="190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5"/>
            <p:cNvSpPr/>
            <p:nvPr/>
          </p:nvSpPr>
          <p:spPr>
            <a:xfrm>
              <a:off x="6381750" y="4267200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6"/>
            <p:cNvSpPr/>
            <p:nvPr/>
          </p:nvSpPr>
          <p:spPr>
            <a:xfrm>
              <a:off x="4743456" y="4267200"/>
              <a:ext cx="1676400" cy="400050"/>
            </a:xfrm>
            <a:custGeom>
              <a:avLst/>
              <a:gdLst/>
              <a:ahLst/>
              <a:cxnLst/>
              <a:rect l="l" t="t" r="r" b="b"/>
              <a:pathLst>
                <a:path w="1676400" h="400050">
                  <a:moveTo>
                    <a:pt x="1676393" y="0"/>
                  </a:moveTo>
                  <a:lnTo>
                    <a:pt x="0" y="40004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7"/>
          <p:cNvGrpSpPr/>
          <p:nvPr/>
        </p:nvGrpSpPr>
        <p:grpSpPr>
          <a:xfrm>
            <a:off x="7402690" y="2552700"/>
            <a:ext cx="186055" cy="762000"/>
            <a:chOff x="6229350" y="2552700"/>
            <a:chExt cx="186055" cy="762000"/>
          </a:xfrm>
        </p:grpSpPr>
        <p:sp>
          <p:nvSpPr>
            <p:cNvPr id="32" name="object 28"/>
            <p:cNvSpPr/>
            <p:nvPr/>
          </p:nvSpPr>
          <p:spPr>
            <a:xfrm>
              <a:off x="6324599" y="2657475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9"/>
            <p:cNvSpPr/>
            <p:nvPr/>
          </p:nvSpPr>
          <p:spPr>
            <a:xfrm>
              <a:off x="6234112" y="2557462"/>
              <a:ext cx="81280" cy="95250"/>
            </a:xfrm>
            <a:custGeom>
              <a:avLst/>
              <a:gdLst/>
              <a:ahLst/>
              <a:cxnLst/>
              <a:rect l="l" t="t" r="r" b="b"/>
              <a:pathLst>
                <a:path w="81279" h="95250">
                  <a:moveTo>
                    <a:pt x="80962" y="0"/>
                  </a:moveTo>
                  <a:lnTo>
                    <a:pt x="0" y="9524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0"/>
            <p:cNvSpPr/>
            <p:nvPr/>
          </p:nvSpPr>
          <p:spPr>
            <a:xfrm>
              <a:off x="6315074" y="2562224"/>
              <a:ext cx="95250" cy="81280"/>
            </a:xfrm>
            <a:custGeom>
              <a:avLst/>
              <a:gdLst/>
              <a:ahLst/>
              <a:cxnLst/>
              <a:rect l="l" t="t" r="r" b="b"/>
              <a:pathLst>
                <a:path w="95250" h="81280">
                  <a:moveTo>
                    <a:pt x="0" y="0"/>
                  </a:moveTo>
                  <a:lnTo>
                    <a:pt x="95249" y="8096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1"/>
            <p:cNvSpPr/>
            <p:nvPr/>
          </p:nvSpPr>
          <p:spPr>
            <a:xfrm>
              <a:off x="6234112" y="2652712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2"/>
          <p:cNvSpPr txBox="1"/>
          <p:nvPr/>
        </p:nvSpPr>
        <p:spPr>
          <a:xfrm>
            <a:off x="2642729" y="2983763"/>
            <a:ext cx="546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ct</a:t>
            </a:r>
            <a:r>
              <a:rPr sz="1800" dirty="0"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39" name="object 33"/>
          <p:cNvSpPr txBox="1"/>
          <p:nvPr/>
        </p:nvSpPr>
        <p:spPr>
          <a:xfrm>
            <a:off x="5961240" y="3021863"/>
            <a:ext cx="153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152654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&lt;&lt;uses&gt;&gt;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34"/>
          <p:cNvSpPr txBox="1"/>
          <p:nvPr/>
        </p:nvSpPr>
        <p:spPr>
          <a:xfrm>
            <a:off x="1260598" y="5349012"/>
            <a:ext cx="6186595" cy="769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660"/>
              </a:spcBef>
            </a:pPr>
            <a:r>
              <a:rPr lang="en-US" b="1" dirty="0">
                <a:latin typeface="Times New Roman"/>
                <a:cs typeface="Times New Roman"/>
              </a:rPr>
              <a:t>Stereotype:</a:t>
            </a:r>
          </a:p>
          <a:p>
            <a:pPr marL="12700" marR="5080">
              <a:lnSpc>
                <a:spcPts val="2100"/>
              </a:lnSpc>
              <a:spcBef>
                <a:spcPts val="1660"/>
              </a:spcBef>
            </a:pPr>
            <a:r>
              <a:rPr sz="1800" b="1" dirty="0">
                <a:solidFill>
                  <a:srgbClr val="2D208C"/>
                </a:solidFill>
                <a:latin typeface="Times New Roman"/>
                <a:cs typeface="Times New Roman"/>
              </a:rPr>
              <a:t>&lt;&lt;uses&gt;&gt;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lang="en-US" spc="-5" dirty="0">
                <a:latin typeface="Times New Roman"/>
                <a:cs typeface="Times New Roman"/>
              </a:rPr>
              <a:t>aka </a:t>
            </a:r>
            <a:r>
              <a:rPr sz="1800" spc="-5" dirty="0">
                <a:latin typeface="Times New Roman"/>
                <a:cs typeface="Times New Roman"/>
              </a:rPr>
              <a:t>&lt;&lt;include&gt;&gt;) </a:t>
            </a:r>
            <a:r>
              <a:rPr sz="1800" dirty="0">
                <a:latin typeface="Times New Roman"/>
                <a:cs typeface="Times New Roman"/>
              </a:rPr>
              <a:t>one use </a:t>
            </a:r>
            <a:r>
              <a:rPr sz="1800" spc="-5" dirty="0">
                <a:latin typeface="Times New Roman"/>
                <a:cs typeface="Times New Roman"/>
              </a:rPr>
              <a:t>case is needed </a:t>
            </a:r>
            <a:r>
              <a:rPr sz="1800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another.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1" name="object 32"/>
          <p:cNvSpPr txBox="1"/>
          <p:nvPr/>
        </p:nvSpPr>
        <p:spPr>
          <a:xfrm>
            <a:off x="7464138" y="4729137"/>
            <a:ext cx="546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ct</a:t>
            </a:r>
            <a:r>
              <a:rPr sz="1800" dirty="0"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9777" y="2343150"/>
            <a:ext cx="38788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base use case </a:t>
            </a:r>
            <a:r>
              <a:rPr lang="en-US" sz="1600" b="1" dirty="0">
                <a:solidFill>
                  <a:srgbClr val="92D050"/>
                </a:solidFill>
              </a:rPr>
              <a:t>includes</a:t>
            </a:r>
            <a:r>
              <a:rPr lang="en-US" sz="1600" dirty="0"/>
              <a:t> the functionality of another use case.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supports the </a:t>
            </a:r>
            <a:r>
              <a:rPr lang="en-US" sz="1600" b="1" dirty="0">
                <a:solidFill>
                  <a:srgbClr val="92D050"/>
                </a:solidFill>
              </a:rPr>
              <a:t>reuse</a:t>
            </a:r>
            <a:r>
              <a:rPr lang="en-US" sz="1600" dirty="0"/>
              <a:t> of </a:t>
            </a:r>
            <a:br>
              <a:rPr lang="en-US" sz="1600" dirty="0"/>
            </a:br>
            <a:r>
              <a:rPr lang="en-US" sz="1600" dirty="0"/>
              <a:t>functionality in a use-case model.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Putting common behavior in its own use case.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92D050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92D050"/>
                </a:solidFill>
              </a:rPr>
              <a:t>Included</a:t>
            </a:r>
            <a:r>
              <a:rPr lang="en-US" sz="1600" dirty="0"/>
              <a:t> case never stands alone.</a:t>
            </a:r>
          </a:p>
        </p:txBody>
      </p:sp>
    </p:spTree>
    <p:extLst>
      <p:ext uri="{BB962C8B-B14F-4D97-AF65-F5344CB8AC3E}">
        <p14:creationId xmlns:p14="http://schemas.microsoft.com/office/powerpoint/2010/main" val="18911254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bject 2"/>
          <p:cNvSpPr txBox="1">
            <a:spLocks noGrp="1"/>
          </p:cNvSpPr>
          <p:nvPr>
            <p:ph type="title"/>
          </p:nvPr>
        </p:nvSpPr>
        <p:spPr>
          <a:xfrm>
            <a:off x="2920508" y="1023025"/>
            <a:ext cx="3304952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0" dirty="0"/>
              <a:t>&lt;&lt;extends&gt;&gt;</a:t>
            </a:r>
            <a:endParaRPr sz="4000" dirty="0"/>
          </a:p>
        </p:txBody>
      </p:sp>
      <p:sp>
        <p:nvSpPr>
          <p:cNvPr id="73" name="object 3"/>
          <p:cNvSpPr txBox="1"/>
          <p:nvPr/>
        </p:nvSpPr>
        <p:spPr>
          <a:xfrm>
            <a:off x="2830037" y="1842363"/>
            <a:ext cx="6189733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Extends the behavior of another use case (base).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Reveals details about a system that are </a:t>
            </a:r>
            <a:r>
              <a:rPr lang="en-US" b="1" dirty="0">
                <a:solidFill>
                  <a:srgbClr val="FF0000"/>
                </a:solidFill>
              </a:rPr>
              <a:t>typically hidden.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User may see </a:t>
            </a:r>
            <a:r>
              <a:rPr lang="en-US" b="1" dirty="0">
                <a:solidFill>
                  <a:srgbClr val="0000FF"/>
                </a:solidFill>
                <a:latin typeface="Arial"/>
                <a:cs typeface="Arial"/>
              </a:rPr>
              <a:t>optional</a:t>
            </a:r>
            <a:r>
              <a:rPr lang="en-US" dirty="0">
                <a:latin typeface="Arial"/>
                <a:cs typeface="Arial"/>
              </a:rPr>
              <a:t> system behavior.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92D050"/>
                </a:solidFill>
                <a:latin typeface="Arial"/>
                <a:cs typeface="Arial"/>
              </a:rPr>
              <a:t>Exceptional</a:t>
            </a:r>
            <a:r>
              <a:rPr lang="en-US" dirty="0">
                <a:latin typeface="Arial"/>
                <a:cs typeface="Arial"/>
              </a:rPr>
              <a:t> behavior.</a:t>
            </a:r>
          </a:p>
        </p:txBody>
      </p:sp>
      <p:grpSp>
        <p:nvGrpSpPr>
          <p:cNvPr id="74" name="object 4"/>
          <p:cNvGrpSpPr/>
          <p:nvPr/>
        </p:nvGrpSpPr>
        <p:grpSpPr>
          <a:xfrm>
            <a:off x="2689773" y="4956079"/>
            <a:ext cx="6425565" cy="1112520"/>
            <a:chOff x="1128017" y="3879843"/>
            <a:chExt cx="6425565" cy="1112520"/>
          </a:xfrm>
        </p:grpSpPr>
        <p:sp>
          <p:nvSpPr>
            <p:cNvPr id="75" name="object 5"/>
            <p:cNvSpPr/>
            <p:nvPr/>
          </p:nvSpPr>
          <p:spPr>
            <a:xfrm>
              <a:off x="1128017" y="3879843"/>
              <a:ext cx="2132507" cy="11120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6"/>
            <p:cNvSpPr/>
            <p:nvPr/>
          </p:nvSpPr>
          <p:spPr>
            <a:xfrm>
              <a:off x="1172469" y="3898896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4" h="1023620">
                  <a:moveTo>
                    <a:pt x="1021805" y="0"/>
                  </a:moveTo>
                  <a:lnTo>
                    <a:pt x="969523" y="665"/>
                  </a:lnTo>
                  <a:lnTo>
                    <a:pt x="917351" y="2663"/>
                  </a:lnTo>
                  <a:lnTo>
                    <a:pt x="865399" y="5993"/>
                  </a:lnTo>
                  <a:lnTo>
                    <a:pt x="813778" y="10655"/>
                  </a:lnTo>
                  <a:lnTo>
                    <a:pt x="762598" y="16648"/>
                  </a:lnTo>
                  <a:lnTo>
                    <a:pt x="711969" y="23974"/>
                  </a:lnTo>
                  <a:lnTo>
                    <a:pt x="662001" y="32631"/>
                  </a:lnTo>
                  <a:lnTo>
                    <a:pt x="612804" y="42620"/>
                  </a:lnTo>
                  <a:lnTo>
                    <a:pt x="564489" y="53941"/>
                  </a:lnTo>
                  <a:lnTo>
                    <a:pt x="517166" y="66594"/>
                  </a:lnTo>
                  <a:lnTo>
                    <a:pt x="470944" y="80579"/>
                  </a:lnTo>
                  <a:lnTo>
                    <a:pt x="425935" y="95896"/>
                  </a:lnTo>
                  <a:lnTo>
                    <a:pt x="382248" y="112544"/>
                  </a:lnTo>
                  <a:lnTo>
                    <a:pt x="339994" y="130525"/>
                  </a:lnTo>
                  <a:lnTo>
                    <a:pt x="299283" y="149837"/>
                  </a:lnTo>
                  <a:lnTo>
                    <a:pt x="251480" y="175439"/>
                  </a:lnTo>
                  <a:lnTo>
                    <a:pt x="207835" y="202226"/>
                  </a:lnTo>
                  <a:lnTo>
                    <a:pt x="168346" y="230090"/>
                  </a:lnTo>
                  <a:lnTo>
                    <a:pt x="133014" y="258924"/>
                  </a:lnTo>
                  <a:lnTo>
                    <a:pt x="101839" y="288620"/>
                  </a:lnTo>
                  <a:lnTo>
                    <a:pt x="74820" y="319070"/>
                  </a:lnTo>
                  <a:lnTo>
                    <a:pt x="51958" y="350167"/>
                  </a:lnTo>
                  <a:lnTo>
                    <a:pt x="18705" y="413869"/>
                  </a:lnTo>
                  <a:lnTo>
                    <a:pt x="2078" y="478863"/>
                  </a:lnTo>
                  <a:lnTo>
                    <a:pt x="0" y="511576"/>
                  </a:lnTo>
                  <a:lnTo>
                    <a:pt x="2078" y="544289"/>
                  </a:lnTo>
                  <a:lnTo>
                    <a:pt x="18705" y="609283"/>
                  </a:lnTo>
                  <a:lnTo>
                    <a:pt x="51958" y="672984"/>
                  </a:lnTo>
                  <a:lnTo>
                    <a:pt x="74820" y="704080"/>
                  </a:lnTo>
                  <a:lnTo>
                    <a:pt x="101839" y="734529"/>
                  </a:lnTo>
                  <a:lnTo>
                    <a:pt x="133014" y="764224"/>
                  </a:lnTo>
                  <a:lnTo>
                    <a:pt x="168346" y="793057"/>
                  </a:lnTo>
                  <a:lnTo>
                    <a:pt x="207835" y="820920"/>
                  </a:lnTo>
                  <a:lnTo>
                    <a:pt x="251480" y="847705"/>
                  </a:lnTo>
                  <a:lnTo>
                    <a:pt x="299283" y="873305"/>
                  </a:lnTo>
                  <a:lnTo>
                    <a:pt x="339994" y="892618"/>
                  </a:lnTo>
                  <a:lnTo>
                    <a:pt x="382248" y="910598"/>
                  </a:lnTo>
                  <a:lnTo>
                    <a:pt x="425935" y="927247"/>
                  </a:lnTo>
                  <a:lnTo>
                    <a:pt x="470944" y="942564"/>
                  </a:lnTo>
                  <a:lnTo>
                    <a:pt x="517166" y="956549"/>
                  </a:lnTo>
                  <a:lnTo>
                    <a:pt x="564489" y="969202"/>
                  </a:lnTo>
                  <a:lnTo>
                    <a:pt x="612804" y="980523"/>
                  </a:lnTo>
                  <a:lnTo>
                    <a:pt x="662001" y="990512"/>
                  </a:lnTo>
                  <a:lnTo>
                    <a:pt x="711969" y="999169"/>
                  </a:lnTo>
                  <a:lnTo>
                    <a:pt x="762598" y="1006495"/>
                  </a:lnTo>
                  <a:lnTo>
                    <a:pt x="813778" y="1012488"/>
                  </a:lnTo>
                  <a:lnTo>
                    <a:pt x="865399" y="1017150"/>
                  </a:lnTo>
                  <a:lnTo>
                    <a:pt x="917351" y="1020479"/>
                  </a:lnTo>
                  <a:lnTo>
                    <a:pt x="969523" y="1022477"/>
                  </a:lnTo>
                  <a:lnTo>
                    <a:pt x="1021805" y="1023143"/>
                  </a:lnTo>
                  <a:lnTo>
                    <a:pt x="1074087" y="1022477"/>
                  </a:lnTo>
                  <a:lnTo>
                    <a:pt x="1126259" y="1020479"/>
                  </a:lnTo>
                  <a:lnTo>
                    <a:pt x="1178210" y="1017150"/>
                  </a:lnTo>
                  <a:lnTo>
                    <a:pt x="1229831" y="1012488"/>
                  </a:lnTo>
                  <a:lnTo>
                    <a:pt x="1281011" y="1006495"/>
                  </a:lnTo>
                  <a:lnTo>
                    <a:pt x="1331641" y="999169"/>
                  </a:lnTo>
                  <a:lnTo>
                    <a:pt x="1381609" y="990512"/>
                  </a:lnTo>
                  <a:lnTo>
                    <a:pt x="1430805" y="980523"/>
                  </a:lnTo>
                  <a:lnTo>
                    <a:pt x="1479120" y="969202"/>
                  </a:lnTo>
                  <a:lnTo>
                    <a:pt x="1526444" y="956549"/>
                  </a:lnTo>
                  <a:lnTo>
                    <a:pt x="1572665" y="942564"/>
                  </a:lnTo>
                  <a:lnTo>
                    <a:pt x="1617674" y="927247"/>
                  </a:lnTo>
                  <a:lnTo>
                    <a:pt x="1661361" y="910598"/>
                  </a:lnTo>
                  <a:lnTo>
                    <a:pt x="1703615" y="892618"/>
                  </a:lnTo>
                  <a:lnTo>
                    <a:pt x="1744327" y="873305"/>
                  </a:lnTo>
                  <a:lnTo>
                    <a:pt x="1792128" y="847705"/>
                  </a:lnTo>
                  <a:lnTo>
                    <a:pt x="1835772" y="820920"/>
                  </a:lnTo>
                  <a:lnTo>
                    <a:pt x="1875260" y="793057"/>
                  </a:lnTo>
                  <a:lnTo>
                    <a:pt x="1910591" y="764224"/>
                  </a:lnTo>
                  <a:lnTo>
                    <a:pt x="1941765" y="734529"/>
                  </a:lnTo>
                  <a:lnTo>
                    <a:pt x="1968783" y="704080"/>
                  </a:lnTo>
                  <a:lnTo>
                    <a:pt x="1991645" y="672984"/>
                  </a:lnTo>
                  <a:lnTo>
                    <a:pt x="2024898" y="609283"/>
                  </a:lnTo>
                  <a:lnTo>
                    <a:pt x="2041524" y="544289"/>
                  </a:lnTo>
                  <a:lnTo>
                    <a:pt x="2043602" y="511576"/>
                  </a:lnTo>
                  <a:lnTo>
                    <a:pt x="2041524" y="478863"/>
                  </a:lnTo>
                  <a:lnTo>
                    <a:pt x="2024898" y="413869"/>
                  </a:lnTo>
                  <a:lnTo>
                    <a:pt x="1991645" y="350167"/>
                  </a:lnTo>
                  <a:lnTo>
                    <a:pt x="1968783" y="319070"/>
                  </a:lnTo>
                  <a:lnTo>
                    <a:pt x="1941765" y="288620"/>
                  </a:lnTo>
                  <a:lnTo>
                    <a:pt x="1910591" y="258924"/>
                  </a:lnTo>
                  <a:lnTo>
                    <a:pt x="1875260" y="230090"/>
                  </a:lnTo>
                  <a:lnTo>
                    <a:pt x="1835772" y="202226"/>
                  </a:lnTo>
                  <a:lnTo>
                    <a:pt x="1792128" y="175439"/>
                  </a:lnTo>
                  <a:lnTo>
                    <a:pt x="1744327" y="149837"/>
                  </a:lnTo>
                  <a:lnTo>
                    <a:pt x="1703615" y="130525"/>
                  </a:lnTo>
                  <a:lnTo>
                    <a:pt x="1661361" y="112544"/>
                  </a:lnTo>
                  <a:lnTo>
                    <a:pt x="1617674" y="95896"/>
                  </a:lnTo>
                  <a:lnTo>
                    <a:pt x="1572665" y="80579"/>
                  </a:lnTo>
                  <a:lnTo>
                    <a:pt x="1526444" y="66594"/>
                  </a:lnTo>
                  <a:lnTo>
                    <a:pt x="1479120" y="53941"/>
                  </a:lnTo>
                  <a:lnTo>
                    <a:pt x="1430805" y="42620"/>
                  </a:lnTo>
                  <a:lnTo>
                    <a:pt x="1381609" y="32631"/>
                  </a:lnTo>
                  <a:lnTo>
                    <a:pt x="1331641" y="23974"/>
                  </a:lnTo>
                  <a:lnTo>
                    <a:pt x="1281011" y="16648"/>
                  </a:lnTo>
                  <a:lnTo>
                    <a:pt x="1229831" y="10655"/>
                  </a:lnTo>
                  <a:lnTo>
                    <a:pt x="1178210" y="5993"/>
                  </a:lnTo>
                  <a:lnTo>
                    <a:pt x="1126259" y="2663"/>
                  </a:lnTo>
                  <a:lnTo>
                    <a:pt x="1074087" y="665"/>
                  </a:lnTo>
                  <a:lnTo>
                    <a:pt x="10218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"/>
            <p:cNvSpPr/>
            <p:nvPr/>
          </p:nvSpPr>
          <p:spPr>
            <a:xfrm>
              <a:off x="1172467" y="3898900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4" h="1023620">
                  <a:moveTo>
                    <a:pt x="1744332" y="149835"/>
                  </a:moveTo>
                  <a:lnTo>
                    <a:pt x="1792133" y="175437"/>
                  </a:lnTo>
                  <a:lnTo>
                    <a:pt x="1835777" y="202223"/>
                  </a:lnTo>
                  <a:lnTo>
                    <a:pt x="1875265" y="230087"/>
                  </a:lnTo>
                  <a:lnTo>
                    <a:pt x="1910596" y="258921"/>
                  </a:lnTo>
                  <a:lnTo>
                    <a:pt x="1941770" y="288616"/>
                  </a:lnTo>
                  <a:lnTo>
                    <a:pt x="1968788" y="319066"/>
                  </a:lnTo>
                  <a:lnTo>
                    <a:pt x="1991650" y="350163"/>
                  </a:lnTo>
                  <a:lnTo>
                    <a:pt x="2024903" y="413864"/>
                  </a:lnTo>
                  <a:lnTo>
                    <a:pt x="2041529" y="478859"/>
                  </a:lnTo>
                  <a:lnTo>
                    <a:pt x="2043607" y="511571"/>
                  </a:lnTo>
                  <a:lnTo>
                    <a:pt x="2041529" y="544284"/>
                  </a:lnTo>
                  <a:lnTo>
                    <a:pt x="2024903" y="609279"/>
                  </a:lnTo>
                  <a:lnTo>
                    <a:pt x="1991650" y="672980"/>
                  </a:lnTo>
                  <a:lnTo>
                    <a:pt x="1968788" y="704076"/>
                  </a:lnTo>
                  <a:lnTo>
                    <a:pt x="1941770" y="734526"/>
                  </a:lnTo>
                  <a:lnTo>
                    <a:pt x="1910596" y="764222"/>
                  </a:lnTo>
                  <a:lnTo>
                    <a:pt x="1875265" y="793056"/>
                  </a:lnTo>
                  <a:lnTo>
                    <a:pt x="1835777" y="820920"/>
                  </a:lnTo>
                  <a:lnTo>
                    <a:pt x="1792133" y="847706"/>
                  </a:lnTo>
                  <a:lnTo>
                    <a:pt x="1744332" y="873307"/>
                  </a:lnTo>
                  <a:lnTo>
                    <a:pt x="1703619" y="892620"/>
                  </a:lnTo>
                  <a:lnTo>
                    <a:pt x="1661364" y="910600"/>
                  </a:lnTo>
                  <a:lnTo>
                    <a:pt x="1617676" y="927248"/>
                  </a:lnTo>
                  <a:lnTo>
                    <a:pt x="1572666" y="942565"/>
                  </a:lnTo>
                  <a:lnTo>
                    <a:pt x="1526444" y="956550"/>
                  </a:lnTo>
                  <a:lnTo>
                    <a:pt x="1479120" y="969202"/>
                  </a:lnTo>
                  <a:lnTo>
                    <a:pt x="1430805" y="980523"/>
                  </a:lnTo>
                  <a:lnTo>
                    <a:pt x="1381607" y="990512"/>
                  </a:lnTo>
                  <a:lnTo>
                    <a:pt x="1331639" y="999170"/>
                  </a:lnTo>
                  <a:lnTo>
                    <a:pt x="1281010" y="1006495"/>
                  </a:lnTo>
                  <a:lnTo>
                    <a:pt x="1229829" y="1012488"/>
                  </a:lnTo>
                  <a:lnTo>
                    <a:pt x="1178208" y="1017150"/>
                  </a:lnTo>
                  <a:lnTo>
                    <a:pt x="1126257" y="1020480"/>
                  </a:lnTo>
                  <a:lnTo>
                    <a:pt x="1074085" y="1022477"/>
                  </a:lnTo>
                  <a:lnTo>
                    <a:pt x="1021802" y="1023143"/>
                  </a:lnTo>
                  <a:lnTo>
                    <a:pt x="969520" y="1022477"/>
                  </a:lnTo>
                  <a:lnTo>
                    <a:pt x="917348" y="1020480"/>
                  </a:lnTo>
                  <a:lnTo>
                    <a:pt x="865397" y="1017150"/>
                  </a:lnTo>
                  <a:lnTo>
                    <a:pt x="813776" y="1012488"/>
                  </a:lnTo>
                  <a:lnTo>
                    <a:pt x="762596" y="1006495"/>
                  </a:lnTo>
                  <a:lnTo>
                    <a:pt x="711967" y="999170"/>
                  </a:lnTo>
                  <a:lnTo>
                    <a:pt x="661999" y="990512"/>
                  </a:lnTo>
                  <a:lnTo>
                    <a:pt x="612802" y="980523"/>
                  </a:lnTo>
                  <a:lnTo>
                    <a:pt x="564487" y="969202"/>
                  </a:lnTo>
                  <a:lnTo>
                    <a:pt x="517163" y="956550"/>
                  </a:lnTo>
                  <a:lnTo>
                    <a:pt x="470942" y="942565"/>
                  </a:lnTo>
                  <a:lnTo>
                    <a:pt x="425933" y="927248"/>
                  </a:lnTo>
                  <a:lnTo>
                    <a:pt x="382245" y="910600"/>
                  </a:lnTo>
                  <a:lnTo>
                    <a:pt x="339991" y="892620"/>
                  </a:lnTo>
                  <a:lnTo>
                    <a:pt x="299279" y="873307"/>
                  </a:lnTo>
                  <a:lnTo>
                    <a:pt x="251477" y="847706"/>
                  </a:lnTo>
                  <a:lnTo>
                    <a:pt x="207832" y="820920"/>
                  </a:lnTo>
                  <a:lnTo>
                    <a:pt x="168344" y="793056"/>
                  </a:lnTo>
                  <a:lnTo>
                    <a:pt x="133012" y="764222"/>
                  </a:lnTo>
                  <a:lnTo>
                    <a:pt x="101838" y="734526"/>
                  </a:lnTo>
                  <a:lnTo>
                    <a:pt x="74819" y="704076"/>
                  </a:lnTo>
                  <a:lnTo>
                    <a:pt x="51958" y="672980"/>
                  </a:lnTo>
                  <a:lnTo>
                    <a:pt x="18704" y="609279"/>
                  </a:lnTo>
                  <a:lnTo>
                    <a:pt x="2078" y="544284"/>
                  </a:lnTo>
                  <a:lnTo>
                    <a:pt x="0" y="511571"/>
                  </a:lnTo>
                  <a:lnTo>
                    <a:pt x="2078" y="478859"/>
                  </a:lnTo>
                  <a:lnTo>
                    <a:pt x="18704" y="413864"/>
                  </a:lnTo>
                  <a:lnTo>
                    <a:pt x="51958" y="350163"/>
                  </a:lnTo>
                  <a:lnTo>
                    <a:pt x="74819" y="319066"/>
                  </a:lnTo>
                  <a:lnTo>
                    <a:pt x="101838" y="288616"/>
                  </a:lnTo>
                  <a:lnTo>
                    <a:pt x="133012" y="258921"/>
                  </a:lnTo>
                  <a:lnTo>
                    <a:pt x="168344" y="230087"/>
                  </a:lnTo>
                  <a:lnTo>
                    <a:pt x="207832" y="202223"/>
                  </a:lnTo>
                  <a:lnTo>
                    <a:pt x="251477" y="175437"/>
                  </a:lnTo>
                  <a:lnTo>
                    <a:pt x="299279" y="149835"/>
                  </a:lnTo>
                  <a:lnTo>
                    <a:pt x="339991" y="130523"/>
                  </a:lnTo>
                  <a:lnTo>
                    <a:pt x="382245" y="112543"/>
                  </a:lnTo>
                  <a:lnTo>
                    <a:pt x="425933" y="95894"/>
                  </a:lnTo>
                  <a:lnTo>
                    <a:pt x="470942" y="80578"/>
                  </a:lnTo>
                  <a:lnTo>
                    <a:pt x="517163" y="66593"/>
                  </a:lnTo>
                  <a:lnTo>
                    <a:pt x="564487" y="53940"/>
                  </a:lnTo>
                  <a:lnTo>
                    <a:pt x="612802" y="42619"/>
                  </a:lnTo>
                  <a:lnTo>
                    <a:pt x="661999" y="32630"/>
                  </a:lnTo>
                  <a:lnTo>
                    <a:pt x="711967" y="23973"/>
                  </a:lnTo>
                  <a:lnTo>
                    <a:pt x="762596" y="16648"/>
                  </a:lnTo>
                  <a:lnTo>
                    <a:pt x="813776" y="10654"/>
                  </a:lnTo>
                  <a:lnTo>
                    <a:pt x="865397" y="5993"/>
                  </a:lnTo>
                  <a:lnTo>
                    <a:pt x="917348" y="2663"/>
                  </a:lnTo>
                  <a:lnTo>
                    <a:pt x="969520" y="665"/>
                  </a:lnTo>
                  <a:lnTo>
                    <a:pt x="1021802" y="0"/>
                  </a:lnTo>
                  <a:lnTo>
                    <a:pt x="1074085" y="665"/>
                  </a:lnTo>
                  <a:lnTo>
                    <a:pt x="1126257" y="2663"/>
                  </a:lnTo>
                  <a:lnTo>
                    <a:pt x="1178208" y="5993"/>
                  </a:lnTo>
                  <a:lnTo>
                    <a:pt x="1229829" y="10654"/>
                  </a:lnTo>
                  <a:lnTo>
                    <a:pt x="1281010" y="16648"/>
                  </a:lnTo>
                  <a:lnTo>
                    <a:pt x="1331639" y="23973"/>
                  </a:lnTo>
                  <a:lnTo>
                    <a:pt x="1381607" y="32630"/>
                  </a:lnTo>
                  <a:lnTo>
                    <a:pt x="1430805" y="42619"/>
                  </a:lnTo>
                  <a:lnTo>
                    <a:pt x="1479120" y="53940"/>
                  </a:lnTo>
                  <a:lnTo>
                    <a:pt x="1526444" y="66593"/>
                  </a:lnTo>
                  <a:lnTo>
                    <a:pt x="1572666" y="80578"/>
                  </a:lnTo>
                  <a:lnTo>
                    <a:pt x="1617676" y="95894"/>
                  </a:lnTo>
                  <a:lnTo>
                    <a:pt x="1661364" y="112543"/>
                  </a:lnTo>
                  <a:lnTo>
                    <a:pt x="1703619" y="130523"/>
                  </a:lnTo>
                  <a:lnTo>
                    <a:pt x="1744332" y="149835"/>
                  </a:lnTo>
                  <a:close/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8"/>
            <p:cNvSpPr/>
            <p:nvPr/>
          </p:nvSpPr>
          <p:spPr>
            <a:xfrm>
              <a:off x="5420613" y="3879843"/>
              <a:ext cx="2132507" cy="11120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9"/>
            <p:cNvSpPr/>
            <p:nvPr/>
          </p:nvSpPr>
          <p:spPr>
            <a:xfrm>
              <a:off x="5465066" y="3898896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5" h="1023620">
                  <a:moveTo>
                    <a:pt x="1021807" y="0"/>
                  </a:moveTo>
                  <a:lnTo>
                    <a:pt x="969524" y="665"/>
                  </a:lnTo>
                  <a:lnTo>
                    <a:pt x="917352" y="2663"/>
                  </a:lnTo>
                  <a:lnTo>
                    <a:pt x="865401" y="5993"/>
                  </a:lnTo>
                  <a:lnTo>
                    <a:pt x="813780" y="10655"/>
                  </a:lnTo>
                  <a:lnTo>
                    <a:pt x="762600" y="16648"/>
                  </a:lnTo>
                  <a:lnTo>
                    <a:pt x="711971" y="23974"/>
                  </a:lnTo>
                  <a:lnTo>
                    <a:pt x="662003" y="32631"/>
                  </a:lnTo>
                  <a:lnTo>
                    <a:pt x="612806" y="42620"/>
                  </a:lnTo>
                  <a:lnTo>
                    <a:pt x="564491" y="53941"/>
                  </a:lnTo>
                  <a:lnTo>
                    <a:pt x="517168" y="66594"/>
                  </a:lnTo>
                  <a:lnTo>
                    <a:pt x="470946" y="80579"/>
                  </a:lnTo>
                  <a:lnTo>
                    <a:pt x="425937" y="95896"/>
                  </a:lnTo>
                  <a:lnTo>
                    <a:pt x="382250" y="112544"/>
                  </a:lnTo>
                  <a:lnTo>
                    <a:pt x="339996" y="130525"/>
                  </a:lnTo>
                  <a:lnTo>
                    <a:pt x="299285" y="149837"/>
                  </a:lnTo>
                  <a:lnTo>
                    <a:pt x="251482" y="175439"/>
                  </a:lnTo>
                  <a:lnTo>
                    <a:pt x="207836" y="202226"/>
                  </a:lnTo>
                  <a:lnTo>
                    <a:pt x="168347" y="230090"/>
                  </a:lnTo>
                  <a:lnTo>
                    <a:pt x="133015" y="258924"/>
                  </a:lnTo>
                  <a:lnTo>
                    <a:pt x="101840" y="288620"/>
                  </a:lnTo>
                  <a:lnTo>
                    <a:pt x="74821" y="319070"/>
                  </a:lnTo>
                  <a:lnTo>
                    <a:pt x="51959" y="350167"/>
                  </a:lnTo>
                  <a:lnTo>
                    <a:pt x="18705" y="413869"/>
                  </a:lnTo>
                  <a:lnTo>
                    <a:pt x="2078" y="478863"/>
                  </a:lnTo>
                  <a:lnTo>
                    <a:pt x="0" y="511576"/>
                  </a:lnTo>
                  <a:lnTo>
                    <a:pt x="2078" y="544289"/>
                  </a:lnTo>
                  <a:lnTo>
                    <a:pt x="18705" y="609283"/>
                  </a:lnTo>
                  <a:lnTo>
                    <a:pt x="51959" y="672984"/>
                  </a:lnTo>
                  <a:lnTo>
                    <a:pt x="74821" y="704080"/>
                  </a:lnTo>
                  <a:lnTo>
                    <a:pt x="101840" y="734529"/>
                  </a:lnTo>
                  <a:lnTo>
                    <a:pt x="133015" y="764224"/>
                  </a:lnTo>
                  <a:lnTo>
                    <a:pt x="168347" y="793057"/>
                  </a:lnTo>
                  <a:lnTo>
                    <a:pt x="207836" y="820920"/>
                  </a:lnTo>
                  <a:lnTo>
                    <a:pt x="251482" y="847705"/>
                  </a:lnTo>
                  <a:lnTo>
                    <a:pt x="299285" y="873305"/>
                  </a:lnTo>
                  <a:lnTo>
                    <a:pt x="339996" y="892618"/>
                  </a:lnTo>
                  <a:lnTo>
                    <a:pt x="382250" y="910598"/>
                  </a:lnTo>
                  <a:lnTo>
                    <a:pt x="425937" y="927247"/>
                  </a:lnTo>
                  <a:lnTo>
                    <a:pt x="470946" y="942564"/>
                  </a:lnTo>
                  <a:lnTo>
                    <a:pt x="517168" y="956549"/>
                  </a:lnTo>
                  <a:lnTo>
                    <a:pt x="564491" y="969202"/>
                  </a:lnTo>
                  <a:lnTo>
                    <a:pt x="612806" y="980523"/>
                  </a:lnTo>
                  <a:lnTo>
                    <a:pt x="662003" y="990512"/>
                  </a:lnTo>
                  <a:lnTo>
                    <a:pt x="711971" y="999169"/>
                  </a:lnTo>
                  <a:lnTo>
                    <a:pt x="762600" y="1006495"/>
                  </a:lnTo>
                  <a:lnTo>
                    <a:pt x="813780" y="1012488"/>
                  </a:lnTo>
                  <a:lnTo>
                    <a:pt x="865401" y="1017150"/>
                  </a:lnTo>
                  <a:lnTo>
                    <a:pt x="917352" y="1020479"/>
                  </a:lnTo>
                  <a:lnTo>
                    <a:pt x="969524" y="1022477"/>
                  </a:lnTo>
                  <a:lnTo>
                    <a:pt x="1021807" y="1023143"/>
                  </a:lnTo>
                  <a:lnTo>
                    <a:pt x="1074089" y="1022477"/>
                  </a:lnTo>
                  <a:lnTo>
                    <a:pt x="1126261" y="1020479"/>
                  </a:lnTo>
                  <a:lnTo>
                    <a:pt x="1178212" y="1017150"/>
                  </a:lnTo>
                  <a:lnTo>
                    <a:pt x="1229833" y="1012488"/>
                  </a:lnTo>
                  <a:lnTo>
                    <a:pt x="1281013" y="1006495"/>
                  </a:lnTo>
                  <a:lnTo>
                    <a:pt x="1331643" y="999169"/>
                  </a:lnTo>
                  <a:lnTo>
                    <a:pt x="1381611" y="990512"/>
                  </a:lnTo>
                  <a:lnTo>
                    <a:pt x="1430807" y="980523"/>
                  </a:lnTo>
                  <a:lnTo>
                    <a:pt x="1479122" y="969202"/>
                  </a:lnTo>
                  <a:lnTo>
                    <a:pt x="1526446" y="956549"/>
                  </a:lnTo>
                  <a:lnTo>
                    <a:pt x="1572667" y="942564"/>
                  </a:lnTo>
                  <a:lnTo>
                    <a:pt x="1617676" y="927247"/>
                  </a:lnTo>
                  <a:lnTo>
                    <a:pt x="1661363" y="910598"/>
                  </a:lnTo>
                  <a:lnTo>
                    <a:pt x="1703617" y="892618"/>
                  </a:lnTo>
                  <a:lnTo>
                    <a:pt x="1744329" y="873305"/>
                  </a:lnTo>
                  <a:lnTo>
                    <a:pt x="1792130" y="847705"/>
                  </a:lnTo>
                  <a:lnTo>
                    <a:pt x="1835774" y="820920"/>
                  </a:lnTo>
                  <a:lnTo>
                    <a:pt x="1875262" y="793057"/>
                  </a:lnTo>
                  <a:lnTo>
                    <a:pt x="1910593" y="764224"/>
                  </a:lnTo>
                  <a:lnTo>
                    <a:pt x="1941767" y="734529"/>
                  </a:lnTo>
                  <a:lnTo>
                    <a:pt x="1968785" y="704080"/>
                  </a:lnTo>
                  <a:lnTo>
                    <a:pt x="1991647" y="672984"/>
                  </a:lnTo>
                  <a:lnTo>
                    <a:pt x="2024899" y="609283"/>
                  </a:lnTo>
                  <a:lnTo>
                    <a:pt x="2041526" y="544289"/>
                  </a:lnTo>
                  <a:lnTo>
                    <a:pt x="2043604" y="511576"/>
                  </a:lnTo>
                  <a:lnTo>
                    <a:pt x="2041526" y="478863"/>
                  </a:lnTo>
                  <a:lnTo>
                    <a:pt x="2024899" y="413869"/>
                  </a:lnTo>
                  <a:lnTo>
                    <a:pt x="1991647" y="350167"/>
                  </a:lnTo>
                  <a:lnTo>
                    <a:pt x="1968785" y="319070"/>
                  </a:lnTo>
                  <a:lnTo>
                    <a:pt x="1941767" y="288620"/>
                  </a:lnTo>
                  <a:lnTo>
                    <a:pt x="1910593" y="258924"/>
                  </a:lnTo>
                  <a:lnTo>
                    <a:pt x="1875262" y="230090"/>
                  </a:lnTo>
                  <a:lnTo>
                    <a:pt x="1835774" y="202226"/>
                  </a:lnTo>
                  <a:lnTo>
                    <a:pt x="1792130" y="175439"/>
                  </a:lnTo>
                  <a:lnTo>
                    <a:pt x="1744329" y="149837"/>
                  </a:lnTo>
                  <a:lnTo>
                    <a:pt x="1703617" y="130525"/>
                  </a:lnTo>
                  <a:lnTo>
                    <a:pt x="1661363" y="112544"/>
                  </a:lnTo>
                  <a:lnTo>
                    <a:pt x="1617676" y="95896"/>
                  </a:lnTo>
                  <a:lnTo>
                    <a:pt x="1572667" y="80579"/>
                  </a:lnTo>
                  <a:lnTo>
                    <a:pt x="1526446" y="66594"/>
                  </a:lnTo>
                  <a:lnTo>
                    <a:pt x="1479122" y="53941"/>
                  </a:lnTo>
                  <a:lnTo>
                    <a:pt x="1430807" y="42620"/>
                  </a:lnTo>
                  <a:lnTo>
                    <a:pt x="1381611" y="32631"/>
                  </a:lnTo>
                  <a:lnTo>
                    <a:pt x="1331643" y="23974"/>
                  </a:lnTo>
                  <a:lnTo>
                    <a:pt x="1281013" y="16648"/>
                  </a:lnTo>
                  <a:lnTo>
                    <a:pt x="1229833" y="10655"/>
                  </a:lnTo>
                  <a:lnTo>
                    <a:pt x="1178212" y="5993"/>
                  </a:lnTo>
                  <a:lnTo>
                    <a:pt x="1126261" y="2663"/>
                  </a:lnTo>
                  <a:lnTo>
                    <a:pt x="1074089" y="665"/>
                  </a:lnTo>
                  <a:lnTo>
                    <a:pt x="1021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0"/>
            <p:cNvSpPr/>
            <p:nvPr/>
          </p:nvSpPr>
          <p:spPr>
            <a:xfrm>
              <a:off x="5465063" y="3898900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5" h="1023620">
                  <a:moveTo>
                    <a:pt x="1744332" y="149835"/>
                  </a:moveTo>
                  <a:lnTo>
                    <a:pt x="1792133" y="175437"/>
                  </a:lnTo>
                  <a:lnTo>
                    <a:pt x="1835777" y="202223"/>
                  </a:lnTo>
                  <a:lnTo>
                    <a:pt x="1875265" y="230087"/>
                  </a:lnTo>
                  <a:lnTo>
                    <a:pt x="1910596" y="258921"/>
                  </a:lnTo>
                  <a:lnTo>
                    <a:pt x="1941770" y="288616"/>
                  </a:lnTo>
                  <a:lnTo>
                    <a:pt x="1968788" y="319066"/>
                  </a:lnTo>
                  <a:lnTo>
                    <a:pt x="1991650" y="350163"/>
                  </a:lnTo>
                  <a:lnTo>
                    <a:pt x="2024903" y="413864"/>
                  </a:lnTo>
                  <a:lnTo>
                    <a:pt x="2041529" y="478859"/>
                  </a:lnTo>
                  <a:lnTo>
                    <a:pt x="2043607" y="511571"/>
                  </a:lnTo>
                  <a:lnTo>
                    <a:pt x="2041529" y="544284"/>
                  </a:lnTo>
                  <a:lnTo>
                    <a:pt x="2024903" y="609279"/>
                  </a:lnTo>
                  <a:lnTo>
                    <a:pt x="1991650" y="672980"/>
                  </a:lnTo>
                  <a:lnTo>
                    <a:pt x="1968788" y="704076"/>
                  </a:lnTo>
                  <a:lnTo>
                    <a:pt x="1941770" y="734526"/>
                  </a:lnTo>
                  <a:lnTo>
                    <a:pt x="1910596" y="764222"/>
                  </a:lnTo>
                  <a:lnTo>
                    <a:pt x="1875265" y="793056"/>
                  </a:lnTo>
                  <a:lnTo>
                    <a:pt x="1835777" y="820920"/>
                  </a:lnTo>
                  <a:lnTo>
                    <a:pt x="1792133" y="847706"/>
                  </a:lnTo>
                  <a:lnTo>
                    <a:pt x="1744332" y="873307"/>
                  </a:lnTo>
                  <a:lnTo>
                    <a:pt x="1703619" y="892620"/>
                  </a:lnTo>
                  <a:lnTo>
                    <a:pt x="1661364" y="910600"/>
                  </a:lnTo>
                  <a:lnTo>
                    <a:pt x="1617676" y="927248"/>
                  </a:lnTo>
                  <a:lnTo>
                    <a:pt x="1572666" y="942565"/>
                  </a:lnTo>
                  <a:lnTo>
                    <a:pt x="1526444" y="956550"/>
                  </a:lnTo>
                  <a:lnTo>
                    <a:pt x="1479120" y="969202"/>
                  </a:lnTo>
                  <a:lnTo>
                    <a:pt x="1430805" y="980523"/>
                  </a:lnTo>
                  <a:lnTo>
                    <a:pt x="1381607" y="990512"/>
                  </a:lnTo>
                  <a:lnTo>
                    <a:pt x="1331639" y="999170"/>
                  </a:lnTo>
                  <a:lnTo>
                    <a:pt x="1281010" y="1006495"/>
                  </a:lnTo>
                  <a:lnTo>
                    <a:pt x="1229829" y="1012488"/>
                  </a:lnTo>
                  <a:lnTo>
                    <a:pt x="1178208" y="1017150"/>
                  </a:lnTo>
                  <a:lnTo>
                    <a:pt x="1126257" y="1020480"/>
                  </a:lnTo>
                  <a:lnTo>
                    <a:pt x="1074085" y="1022477"/>
                  </a:lnTo>
                  <a:lnTo>
                    <a:pt x="1021802" y="1023143"/>
                  </a:lnTo>
                  <a:lnTo>
                    <a:pt x="969520" y="1022477"/>
                  </a:lnTo>
                  <a:lnTo>
                    <a:pt x="917348" y="1020480"/>
                  </a:lnTo>
                  <a:lnTo>
                    <a:pt x="865397" y="1017150"/>
                  </a:lnTo>
                  <a:lnTo>
                    <a:pt x="813776" y="1012488"/>
                  </a:lnTo>
                  <a:lnTo>
                    <a:pt x="762596" y="1006495"/>
                  </a:lnTo>
                  <a:lnTo>
                    <a:pt x="711967" y="999170"/>
                  </a:lnTo>
                  <a:lnTo>
                    <a:pt x="661999" y="990512"/>
                  </a:lnTo>
                  <a:lnTo>
                    <a:pt x="612802" y="980523"/>
                  </a:lnTo>
                  <a:lnTo>
                    <a:pt x="564487" y="969202"/>
                  </a:lnTo>
                  <a:lnTo>
                    <a:pt x="517163" y="956550"/>
                  </a:lnTo>
                  <a:lnTo>
                    <a:pt x="470942" y="942565"/>
                  </a:lnTo>
                  <a:lnTo>
                    <a:pt x="425933" y="927248"/>
                  </a:lnTo>
                  <a:lnTo>
                    <a:pt x="382245" y="910600"/>
                  </a:lnTo>
                  <a:lnTo>
                    <a:pt x="339991" y="892620"/>
                  </a:lnTo>
                  <a:lnTo>
                    <a:pt x="299279" y="873307"/>
                  </a:lnTo>
                  <a:lnTo>
                    <a:pt x="251477" y="847706"/>
                  </a:lnTo>
                  <a:lnTo>
                    <a:pt x="207832" y="820920"/>
                  </a:lnTo>
                  <a:lnTo>
                    <a:pt x="168344" y="793056"/>
                  </a:lnTo>
                  <a:lnTo>
                    <a:pt x="133012" y="764222"/>
                  </a:lnTo>
                  <a:lnTo>
                    <a:pt x="101838" y="734526"/>
                  </a:lnTo>
                  <a:lnTo>
                    <a:pt x="74819" y="704076"/>
                  </a:lnTo>
                  <a:lnTo>
                    <a:pt x="51958" y="672980"/>
                  </a:lnTo>
                  <a:lnTo>
                    <a:pt x="18704" y="609279"/>
                  </a:lnTo>
                  <a:lnTo>
                    <a:pt x="2078" y="544284"/>
                  </a:lnTo>
                  <a:lnTo>
                    <a:pt x="0" y="511571"/>
                  </a:lnTo>
                  <a:lnTo>
                    <a:pt x="2078" y="478859"/>
                  </a:lnTo>
                  <a:lnTo>
                    <a:pt x="18704" y="413864"/>
                  </a:lnTo>
                  <a:lnTo>
                    <a:pt x="51958" y="350163"/>
                  </a:lnTo>
                  <a:lnTo>
                    <a:pt x="74819" y="319066"/>
                  </a:lnTo>
                  <a:lnTo>
                    <a:pt x="101838" y="288616"/>
                  </a:lnTo>
                  <a:lnTo>
                    <a:pt x="133012" y="258921"/>
                  </a:lnTo>
                  <a:lnTo>
                    <a:pt x="168344" y="230087"/>
                  </a:lnTo>
                  <a:lnTo>
                    <a:pt x="207832" y="202223"/>
                  </a:lnTo>
                  <a:lnTo>
                    <a:pt x="251477" y="175437"/>
                  </a:lnTo>
                  <a:lnTo>
                    <a:pt x="299279" y="149835"/>
                  </a:lnTo>
                  <a:lnTo>
                    <a:pt x="339991" y="130523"/>
                  </a:lnTo>
                  <a:lnTo>
                    <a:pt x="382245" y="112543"/>
                  </a:lnTo>
                  <a:lnTo>
                    <a:pt x="425933" y="95894"/>
                  </a:lnTo>
                  <a:lnTo>
                    <a:pt x="470942" y="80578"/>
                  </a:lnTo>
                  <a:lnTo>
                    <a:pt x="517163" y="66593"/>
                  </a:lnTo>
                  <a:lnTo>
                    <a:pt x="564487" y="53940"/>
                  </a:lnTo>
                  <a:lnTo>
                    <a:pt x="612802" y="42619"/>
                  </a:lnTo>
                  <a:lnTo>
                    <a:pt x="661999" y="32630"/>
                  </a:lnTo>
                  <a:lnTo>
                    <a:pt x="711967" y="23973"/>
                  </a:lnTo>
                  <a:lnTo>
                    <a:pt x="762596" y="16648"/>
                  </a:lnTo>
                  <a:lnTo>
                    <a:pt x="813776" y="10654"/>
                  </a:lnTo>
                  <a:lnTo>
                    <a:pt x="865397" y="5993"/>
                  </a:lnTo>
                  <a:lnTo>
                    <a:pt x="917348" y="2663"/>
                  </a:lnTo>
                  <a:lnTo>
                    <a:pt x="969520" y="665"/>
                  </a:lnTo>
                  <a:lnTo>
                    <a:pt x="1021802" y="0"/>
                  </a:lnTo>
                  <a:lnTo>
                    <a:pt x="1074085" y="665"/>
                  </a:lnTo>
                  <a:lnTo>
                    <a:pt x="1126257" y="2663"/>
                  </a:lnTo>
                  <a:lnTo>
                    <a:pt x="1178208" y="5993"/>
                  </a:lnTo>
                  <a:lnTo>
                    <a:pt x="1229829" y="10654"/>
                  </a:lnTo>
                  <a:lnTo>
                    <a:pt x="1281010" y="16648"/>
                  </a:lnTo>
                  <a:lnTo>
                    <a:pt x="1331639" y="23973"/>
                  </a:lnTo>
                  <a:lnTo>
                    <a:pt x="1381607" y="32630"/>
                  </a:lnTo>
                  <a:lnTo>
                    <a:pt x="1430805" y="42619"/>
                  </a:lnTo>
                  <a:lnTo>
                    <a:pt x="1479120" y="53940"/>
                  </a:lnTo>
                  <a:lnTo>
                    <a:pt x="1526444" y="66593"/>
                  </a:lnTo>
                  <a:lnTo>
                    <a:pt x="1572666" y="80578"/>
                  </a:lnTo>
                  <a:lnTo>
                    <a:pt x="1617676" y="95894"/>
                  </a:lnTo>
                  <a:lnTo>
                    <a:pt x="1661364" y="112543"/>
                  </a:lnTo>
                  <a:lnTo>
                    <a:pt x="1703619" y="130523"/>
                  </a:lnTo>
                  <a:lnTo>
                    <a:pt x="1744332" y="149835"/>
                  </a:lnTo>
                  <a:close/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11"/>
          <p:cNvSpPr txBox="1"/>
          <p:nvPr/>
        </p:nvSpPr>
        <p:spPr>
          <a:xfrm>
            <a:off x="5261964" y="5109375"/>
            <a:ext cx="1325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&lt;&lt;extends&gt;&gt;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2" name="object 12"/>
          <p:cNvGrpSpPr/>
          <p:nvPr/>
        </p:nvGrpSpPr>
        <p:grpSpPr>
          <a:xfrm>
            <a:off x="4774856" y="5436679"/>
            <a:ext cx="2312670" cy="220345"/>
            <a:chOff x="3213100" y="4360443"/>
            <a:chExt cx="2312670" cy="220345"/>
          </a:xfrm>
        </p:grpSpPr>
        <p:sp>
          <p:nvSpPr>
            <p:cNvPr id="83" name="object 13"/>
            <p:cNvSpPr/>
            <p:nvPr/>
          </p:nvSpPr>
          <p:spPr>
            <a:xfrm>
              <a:off x="3213100" y="4360443"/>
              <a:ext cx="2312466" cy="219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4"/>
            <p:cNvSpPr/>
            <p:nvPr/>
          </p:nvSpPr>
          <p:spPr>
            <a:xfrm>
              <a:off x="3355339" y="4445000"/>
              <a:ext cx="2132330" cy="0"/>
            </a:xfrm>
            <a:custGeom>
              <a:avLst/>
              <a:gdLst/>
              <a:ahLst/>
              <a:cxnLst/>
              <a:rect l="l" t="t" r="r" b="b"/>
              <a:pathLst>
                <a:path w="2132329">
                  <a:moveTo>
                    <a:pt x="2132126" y="0"/>
                  </a:moveTo>
                  <a:lnTo>
                    <a:pt x="1269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15"/>
            <p:cNvSpPr/>
            <p:nvPr/>
          </p:nvSpPr>
          <p:spPr>
            <a:xfrm>
              <a:off x="3266439" y="4384040"/>
              <a:ext cx="101600" cy="121920"/>
            </a:xfrm>
            <a:custGeom>
              <a:avLst/>
              <a:gdLst/>
              <a:ahLst/>
              <a:cxnLst/>
              <a:rect l="l" t="t" r="r" b="b"/>
              <a:pathLst>
                <a:path w="101600" h="121920">
                  <a:moveTo>
                    <a:pt x="101600" y="0"/>
                  </a:moveTo>
                  <a:lnTo>
                    <a:pt x="0" y="60960"/>
                  </a:lnTo>
                  <a:lnTo>
                    <a:pt x="101600" y="121920"/>
                  </a:lnTo>
                </a:path>
                <a:path w="101600" h="121920">
                  <a:moveTo>
                    <a:pt x="101600" y="60960"/>
                  </a:moveTo>
                  <a:lnTo>
                    <a:pt x="0" y="60960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16"/>
          <p:cNvSpPr txBox="1"/>
          <p:nvPr/>
        </p:nvSpPr>
        <p:spPr>
          <a:xfrm>
            <a:off x="3212260" y="5310416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Fill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7" name="object 17"/>
          <p:cNvSpPr txBox="1"/>
          <p:nvPr/>
        </p:nvSpPr>
        <p:spPr>
          <a:xfrm>
            <a:off x="7529003" y="5189156"/>
            <a:ext cx="10591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70" dirty="0">
                <a:latin typeface="Arial"/>
                <a:cs typeface="Arial"/>
              </a:rPr>
              <a:t>Get </a:t>
            </a:r>
            <a:r>
              <a:rPr sz="1800" spc="-75" dirty="0">
                <a:latin typeface="Arial"/>
                <a:cs typeface="Arial"/>
              </a:rPr>
              <a:t>help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to  </a:t>
            </a:r>
            <a:r>
              <a:rPr sz="1800" spc="20" dirty="0">
                <a:latin typeface="Arial"/>
                <a:cs typeface="Arial"/>
              </a:rPr>
              <a:t>fill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45482" y="4051800"/>
            <a:ext cx="2661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“Fill a form” is extended by </a:t>
            </a:r>
          </a:p>
          <a:p>
            <a:r>
              <a:rPr lang="en-US" sz="1600" dirty="0"/>
              <a:t>“Get help to fill a form” </a:t>
            </a:r>
          </a:p>
          <a:p>
            <a:r>
              <a:rPr lang="en-US" sz="1600" dirty="0"/>
              <a:t>(hidden use case)</a:t>
            </a:r>
          </a:p>
        </p:txBody>
      </p:sp>
    </p:spTree>
    <p:extLst>
      <p:ext uri="{BB962C8B-B14F-4D97-AF65-F5344CB8AC3E}">
        <p14:creationId xmlns:p14="http://schemas.microsoft.com/office/powerpoint/2010/main" val="357271964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4172081" y="962048"/>
            <a:ext cx="3936131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/>
              <a:t>Generalization</a:t>
            </a:r>
            <a:endParaRPr sz="4000" dirty="0"/>
          </a:p>
        </p:txBody>
      </p:sp>
      <p:grpSp>
        <p:nvGrpSpPr>
          <p:cNvPr id="4" name="object 3"/>
          <p:cNvGrpSpPr/>
          <p:nvPr/>
        </p:nvGrpSpPr>
        <p:grpSpPr>
          <a:xfrm>
            <a:off x="2595816" y="2455102"/>
            <a:ext cx="2066925" cy="1000125"/>
            <a:chOff x="3081337" y="2192337"/>
            <a:chExt cx="2066925" cy="1000125"/>
          </a:xfrm>
        </p:grpSpPr>
        <p:sp>
          <p:nvSpPr>
            <p:cNvPr id="5" name="object 4"/>
            <p:cNvSpPr/>
            <p:nvPr/>
          </p:nvSpPr>
          <p:spPr>
            <a:xfrm>
              <a:off x="3081337" y="21923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31242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6"/>
          <p:cNvSpPr txBox="1"/>
          <p:nvPr/>
        </p:nvSpPr>
        <p:spPr>
          <a:xfrm>
            <a:off x="2867278" y="2153860"/>
            <a:ext cx="1752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pc="-90" dirty="0">
                <a:latin typeface="Arial"/>
                <a:cs typeface="Arial"/>
              </a:rPr>
              <a:t>General use case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" name="object 7"/>
          <p:cNvGrpSpPr/>
          <p:nvPr/>
        </p:nvGrpSpPr>
        <p:grpSpPr>
          <a:xfrm>
            <a:off x="2808123" y="3907347"/>
            <a:ext cx="3162935" cy="1720850"/>
            <a:chOff x="3293643" y="3656495"/>
            <a:chExt cx="3162935" cy="1720850"/>
          </a:xfrm>
        </p:grpSpPr>
        <p:sp>
          <p:nvSpPr>
            <p:cNvPr id="9" name="object 8"/>
            <p:cNvSpPr/>
            <p:nvPr/>
          </p:nvSpPr>
          <p:spPr>
            <a:xfrm>
              <a:off x="3293643" y="3656495"/>
              <a:ext cx="1752600" cy="88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3331743" y="3675545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4984750" y="3682999"/>
              <a:ext cx="88900" cy="838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/>
            <p:cNvSpPr/>
            <p:nvPr/>
          </p:nvSpPr>
          <p:spPr>
            <a:xfrm>
              <a:off x="5029200" y="3695699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/>
            <p:cNvSpPr/>
            <p:nvPr/>
          </p:nvSpPr>
          <p:spPr>
            <a:xfrm>
              <a:off x="3308350" y="3694595"/>
              <a:ext cx="88900" cy="8901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/>
            <p:cNvSpPr/>
            <p:nvPr/>
          </p:nvSpPr>
          <p:spPr>
            <a:xfrm>
              <a:off x="3352800" y="3707295"/>
              <a:ext cx="0" cy="814069"/>
            </a:xfrm>
            <a:custGeom>
              <a:avLst/>
              <a:gdLst/>
              <a:ahLst/>
              <a:cxnLst/>
              <a:rect l="l" t="t" r="r" b="b"/>
              <a:pathLst>
                <a:path h="814070">
                  <a:moveTo>
                    <a:pt x="0" y="0"/>
                  </a:moveTo>
                  <a:lnTo>
                    <a:pt x="0" y="813911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/>
            <p:cNvSpPr/>
            <p:nvPr/>
          </p:nvSpPr>
          <p:spPr>
            <a:xfrm>
              <a:off x="4389437" y="43767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/>
            <p:cNvSpPr/>
            <p:nvPr/>
          </p:nvSpPr>
          <p:spPr>
            <a:xfrm>
              <a:off x="4432300" y="43943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6"/>
          <p:cNvSpPr txBox="1"/>
          <p:nvPr/>
        </p:nvSpPr>
        <p:spPr>
          <a:xfrm>
            <a:off x="4358895" y="4817908"/>
            <a:ext cx="106172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80" dirty="0">
                <a:latin typeface="Arial"/>
                <a:cs typeface="Arial"/>
              </a:rPr>
              <a:t>Graduate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125" dirty="0">
                <a:latin typeface="Arial"/>
                <a:cs typeface="Arial"/>
              </a:rPr>
              <a:t>is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8" name="object 17"/>
          <p:cNvGrpSpPr/>
          <p:nvPr/>
        </p:nvGrpSpPr>
        <p:grpSpPr>
          <a:xfrm>
            <a:off x="1833817" y="4805389"/>
            <a:ext cx="2066925" cy="1000125"/>
            <a:chOff x="2319337" y="4554537"/>
            <a:chExt cx="2066925" cy="1000125"/>
          </a:xfrm>
        </p:grpSpPr>
        <p:sp>
          <p:nvSpPr>
            <p:cNvPr id="19" name="object 18"/>
            <p:cNvSpPr/>
            <p:nvPr/>
          </p:nvSpPr>
          <p:spPr>
            <a:xfrm>
              <a:off x="2319337" y="45545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362200" y="45721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0"/>
          <p:cNvSpPr txBox="1"/>
          <p:nvPr/>
        </p:nvSpPr>
        <p:spPr>
          <a:xfrm>
            <a:off x="2194179" y="5003351"/>
            <a:ext cx="143510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20" dirty="0">
                <a:latin typeface="Arial"/>
                <a:cs typeface="Arial"/>
              </a:rPr>
              <a:t>Un</a:t>
            </a:r>
            <a:r>
              <a:rPr sz="1800" spc="-140" dirty="0">
                <a:latin typeface="Arial"/>
                <a:cs typeface="Arial"/>
              </a:rPr>
              <a:t>d</a:t>
            </a:r>
            <a:r>
              <a:rPr sz="1800" spc="-145" dirty="0">
                <a:latin typeface="Arial"/>
                <a:cs typeface="Arial"/>
              </a:rPr>
              <a:t>e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130" dirty="0">
                <a:latin typeface="Arial"/>
                <a:cs typeface="Arial"/>
              </a:rPr>
              <a:t>g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165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du</a:t>
            </a:r>
            <a:r>
              <a:rPr sz="1800" spc="-114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145" dirty="0">
                <a:latin typeface="Arial"/>
                <a:cs typeface="Arial"/>
              </a:rPr>
              <a:t>e  </a:t>
            </a:r>
            <a:r>
              <a:rPr sz="1800" spc="-65" dirty="0">
                <a:latin typeface="Arial"/>
                <a:cs typeface="Arial"/>
              </a:rPr>
              <a:t>registration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22" name="object 21"/>
          <p:cNvGrpSpPr/>
          <p:nvPr/>
        </p:nvGrpSpPr>
        <p:grpSpPr>
          <a:xfrm>
            <a:off x="3413230" y="3342393"/>
            <a:ext cx="432434" cy="610235"/>
            <a:chOff x="3898750" y="3091541"/>
            <a:chExt cx="432434" cy="610235"/>
          </a:xfrm>
        </p:grpSpPr>
        <p:sp>
          <p:nvSpPr>
            <p:cNvPr id="23" name="object 22"/>
            <p:cNvSpPr/>
            <p:nvPr/>
          </p:nvSpPr>
          <p:spPr>
            <a:xfrm>
              <a:off x="4070350" y="3281845"/>
              <a:ext cx="88900" cy="4197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/>
            <p:cNvSpPr/>
            <p:nvPr/>
          </p:nvSpPr>
          <p:spPr>
            <a:xfrm>
              <a:off x="4114800" y="3294545"/>
              <a:ext cx="0" cy="343535"/>
            </a:xfrm>
            <a:custGeom>
              <a:avLst/>
              <a:gdLst/>
              <a:ahLst/>
              <a:cxnLst/>
              <a:rect l="l" t="t" r="r" b="b"/>
              <a:pathLst>
                <a:path h="343535">
                  <a:moveTo>
                    <a:pt x="0" y="34353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/>
            <p:cNvSpPr/>
            <p:nvPr/>
          </p:nvSpPr>
          <p:spPr>
            <a:xfrm>
              <a:off x="3898750" y="3091541"/>
              <a:ext cx="287115" cy="287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/>
            <p:cNvSpPr/>
            <p:nvPr/>
          </p:nvSpPr>
          <p:spPr>
            <a:xfrm>
              <a:off x="3957129" y="312451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0" y="170373"/>
                  </a:moveTo>
                  <a:lnTo>
                    <a:pt x="170373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/>
            <p:cNvSpPr/>
            <p:nvPr/>
          </p:nvSpPr>
          <p:spPr>
            <a:xfrm>
              <a:off x="4039701" y="3104876"/>
              <a:ext cx="260467" cy="2604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/>
            <p:cNvSpPr/>
            <p:nvPr/>
          </p:nvSpPr>
          <p:spPr>
            <a:xfrm>
              <a:off x="4098075" y="3137841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143724" y="14372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/>
            <p:cNvSpPr/>
            <p:nvPr/>
          </p:nvSpPr>
          <p:spPr>
            <a:xfrm>
              <a:off x="3898900" y="3273983"/>
              <a:ext cx="431800" cy="889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/>
            <p:cNvSpPr/>
            <p:nvPr/>
          </p:nvSpPr>
          <p:spPr>
            <a:xfrm>
              <a:off x="3937000" y="3293033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6"/>
          <p:cNvSpPr txBox="1"/>
          <p:nvPr/>
        </p:nvSpPr>
        <p:spPr>
          <a:xfrm>
            <a:off x="2722973" y="2753244"/>
            <a:ext cx="16624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</a:pPr>
            <a:r>
              <a:rPr sz="1800" spc="-75" dirty="0">
                <a:latin typeface="Arial"/>
                <a:cs typeface="Arial"/>
              </a:rPr>
              <a:t>Registration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26" name="Picture 2" descr="https://www.modernanalyst.com/Portals/0/Public%20Uploads/uc-generalization.gi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54" y="1989046"/>
            <a:ext cx="413385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object 6"/>
          <p:cNvSpPr txBox="1"/>
          <p:nvPr/>
        </p:nvSpPr>
        <p:spPr>
          <a:xfrm>
            <a:off x="2686720" y="5805514"/>
            <a:ext cx="21399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pc="-90" dirty="0">
                <a:latin typeface="Arial"/>
                <a:cs typeface="Arial"/>
              </a:rPr>
              <a:t>Specialized use cases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5" name="object 6"/>
          <p:cNvSpPr txBox="1"/>
          <p:nvPr/>
        </p:nvSpPr>
        <p:spPr>
          <a:xfrm>
            <a:off x="10454910" y="2903247"/>
            <a:ext cx="175260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General use case</a:t>
            </a:r>
            <a:endParaRPr dirty="0">
              <a:latin typeface="Arial"/>
              <a:cs typeface="Arial"/>
            </a:endParaRPr>
          </a:p>
        </p:txBody>
      </p:sp>
      <p:sp>
        <p:nvSpPr>
          <p:cNvPr id="36" name="object 6"/>
          <p:cNvSpPr txBox="1"/>
          <p:nvPr/>
        </p:nvSpPr>
        <p:spPr>
          <a:xfrm>
            <a:off x="7375968" y="3911974"/>
            <a:ext cx="21399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Specialized use cases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7" name="object 6"/>
          <p:cNvSpPr txBox="1"/>
          <p:nvPr/>
        </p:nvSpPr>
        <p:spPr>
          <a:xfrm>
            <a:off x="7406988" y="2044232"/>
            <a:ext cx="21399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Specialized use cases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1319398"/>
            <a:ext cx="1664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like generalization with 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4917" y="4627589"/>
            <a:ext cx="55386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child </a:t>
            </a:r>
            <a:r>
              <a:rPr lang="en-US" b="1" dirty="0">
                <a:solidFill>
                  <a:srgbClr val="92D050"/>
                </a:solidFill>
              </a:rPr>
              <a:t>inherits</a:t>
            </a:r>
            <a:r>
              <a:rPr lang="en-US" dirty="0"/>
              <a:t> the behavior and meaning of </a:t>
            </a:r>
            <a:br>
              <a:rPr lang="en-US" dirty="0"/>
            </a:br>
            <a:r>
              <a:rPr lang="en-US" dirty="0"/>
              <a:t>the parent 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child may </a:t>
            </a:r>
            <a:r>
              <a:rPr lang="en-US" b="1" dirty="0">
                <a:solidFill>
                  <a:srgbClr val="00B0F0"/>
                </a:solidFill>
              </a:rPr>
              <a:t>add or override </a:t>
            </a:r>
            <a:r>
              <a:rPr lang="en-US" dirty="0"/>
              <a:t>the behavior of its</a:t>
            </a:r>
            <a:br>
              <a:rPr lang="en-US" dirty="0"/>
            </a:br>
            <a:r>
              <a:rPr lang="en-US" b="1" dirty="0">
                <a:solidFill>
                  <a:srgbClr val="00B0F0"/>
                </a:solidFill>
              </a:rPr>
              <a:t>parents</a:t>
            </a:r>
          </a:p>
        </p:txBody>
      </p:sp>
    </p:spTree>
    <p:extLst>
      <p:ext uri="{BB962C8B-B14F-4D97-AF65-F5344CB8AC3E}">
        <p14:creationId xmlns:p14="http://schemas.microsoft.com/office/powerpoint/2010/main" val="141890245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979" y="866846"/>
            <a:ext cx="10417284" cy="1144151"/>
          </a:xfrm>
        </p:spPr>
        <p:txBody>
          <a:bodyPr/>
          <a:lstStyle/>
          <a:p>
            <a:r>
              <a:rPr lang="en-US" dirty="0"/>
              <a:t>Generalization vs Include vs Extend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5681" y="2178197"/>
            <a:ext cx="857157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600" b="1" dirty="0">
                <a:hlinkClick r:id="rId2"/>
              </a:rPr>
              <a:t>Generalization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One model element (the </a:t>
            </a:r>
            <a:r>
              <a:rPr lang="en-US" sz="1600" b="1" dirty="0">
                <a:solidFill>
                  <a:srgbClr val="92D050"/>
                </a:solidFill>
              </a:rPr>
              <a:t>child</a:t>
            </a:r>
            <a:r>
              <a:rPr lang="en-US" sz="1600" dirty="0"/>
              <a:t>) is based on another model element (the </a:t>
            </a:r>
            <a:r>
              <a:rPr lang="en-US" sz="1600" b="1" dirty="0">
                <a:solidFill>
                  <a:srgbClr val="92D050"/>
                </a:solidFill>
              </a:rPr>
              <a:t>parent</a:t>
            </a:r>
            <a:r>
              <a:rPr lang="en-US" sz="1600" dirty="0"/>
              <a:t>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child receives all </a:t>
            </a:r>
            <a:r>
              <a:rPr lang="en-US" sz="1600" b="1" dirty="0">
                <a:solidFill>
                  <a:srgbClr val="FF0000"/>
                </a:solidFill>
              </a:rPr>
              <a:t>attributes &amp; operations &amp; relationships</a:t>
            </a:r>
            <a:r>
              <a:rPr lang="en-US" sz="1600" dirty="0"/>
              <a:t>, from the parent.</a:t>
            </a:r>
          </a:p>
          <a:p>
            <a:pPr fontAlgn="base"/>
            <a:endParaRPr lang="en-US" sz="1600" b="1" dirty="0">
              <a:hlinkClick r:id="" action="ppaction://noaction"/>
            </a:endParaRPr>
          </a:p>
          <a:p>
            <a:pPr fontAlgn="base"/>
            <a:r>
              <a:rPr lang="en-US" sz="1600" b="1" dirty="0">
                <a:hlinkClick r:id="" action="ppaction://noaction"/>
              </a:rPr>
              <a:t>Include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base use case </a:t>
            </a:r>
            <a:r>
              <a:rPr lang="en-US" sz="1600" b="1" dirty="0">
                <a:solidFill>
                  <a:srgbClr val="92D050"/>
                </a:solidFill>
              </a:rPr>
              <a:t>includes</a:t>
            </a:r>
            <a:r>
              <a:rPr lang="en-US" sz="1600" dirty="0"/>
              <a:t> the functionality of </a:t>
            </a:r>
            <a:r>
              <a:rPr lang="en-US" sz="1600" b="1" dirty="0">
                <a:solidFill>
                  <a:srgbClr val="92D050"/>
                </a:solidFill>
              </a:rPr>
              <a:t>another</a:t>
            </a:r>
            <a:r>
              <a:rPr lang="en-US" sz="1600" dirty="0"/>
              <a:t> use case(s).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include relationship </a:t>
            </a:r>
            <a:r>
              <a:rPr lang="en-US" sz="1600" b="1" dirty="0">
                <a:solidFill>
                  <a:srgbClr val="92D050"/>
                </a:solidFill>
              </a:rPr>
              <a:t>supports the reuse of functionality</a:t>
            </a:r>
            <a:r>
              <a:rPr lang="en-US" sz="1600" dirty="0"/>
              <a:t>.</a:t>
            </a:r>
          </a:p>
          <a:p>
            <a:pPr fontAlgn="base"/>
            <a:endParaRPr lang="en-US" sz="1600" b="1" dirty="0">
              <a:hlinkClick r:id="" action="ppaction://noaction"/>
            </a:endParaRPr>
          </a:p>
          <a:p>
            <a:pPr fontAlgn="base"/>
            <a:r>
              <a:rPr lang="en-US" sz="1600" b="1" dirty="0">
                <a:hlinkClick r:id="" action="ppaction://noaction"/>
              </a:rPr>
              <a:t>Extend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extension use case </a:t>
            </a:r>
            <a:r>
              <a:rPr lang="en-US" sz="1600" b="1" dirty="0">
                <a:solidFill>
                  <a:srgbClr val="92D050"/>
                </a:solidFill>
              </a:rPr>
              <a:t>extends</a:t>
            </a:r>
            <a:r>
              <a:rPr lang="en-US" sz="1600" dirty="0"/>
              <a:t> the behavior of another use case (base).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Reveals details about a system or application that are </a:t>
            </a:r>
            <a:r>
              <a:rPr lang="en-US" sz="1600" b="1" dirty="0">
                <a:solidFill>
                  <a:srgbClr val="FF0000"/>
                </a:solidFill>
              </a:rPr>
              <a:t>typically hidden </a:t>
            </a:r>
            <a:r>
              <a:rPr lang="en-US" sz="1600" dirty="0"/>
              <a:t>in a use case.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/>
              <a:t>Based on:</a:t>
            </a:r>
          </a:p>
          <a:p>
            <a:r>
              <a:rPr lang="en-US" sz="1200" dirty="0"/>
              <a:t>https://www.ibm.com/docs/en/rational-soft-arch/9.5?topic=diagrams-relationships-in-use-case</a:t>
            </a:r>
          </a:p>
        </p:txBody>
      </p:sp>
    </p:spTree>
    <p:extLst>
      <p:ext uri="{BB962C8B-B14F-4D97-AF65-F5344CB8AC3E}">
        <p14:creationId xmlns:p14="http://schemas.microsoft.com/office/powerpoint/2010/main" val="251229084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2"/>
          <p:cNvGrpSpPr/>
          <p:nvPr/>
        </p:nvGrpSpPr>
        <p:grpSpPr>
          <a:xfrm>
            <a:off x="3067839" y="2427005"/>
            <a:ext cx="4368800" cy="3209925"/>
            <a:chOff x="1465623" y="2192337"/>
            <a:chExt cx="4368800" cy="3209925"/>
          </a:xfrm>
        </p:grpSpPr>
        <p:sp>
          <p:nvSpPr>
            <p:cNvPr id="42" name="object 3"/>
            <p:cNvSpPr/>
            <p:nvPr/>
          </p:nvSpPr>
          <p:spPr>
            <a:xfrm>
              <a:off x="1557337" y="28019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"/>
            <p:cNvSpPr/>
            <p:nvPr/>
          </p:nvSpPr>
          <p:spPr>
            <a:xfrm>
              <a:off x="1601164" y="28203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4" h="531495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5"/>
            <p:cNvSpPr/>
            <p:nvPr/>
          </p:nvSpPr>
          <p:spPr>
            <a:xfrm>
              <a:off x="1821116" y="33385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6"/>
            <p:cNvSpPr/>
            <p:nvPr/>
          </p:nvSpPr>
          <p:spPr>
            <a:xfrm>
              <a:off x="1866900" y="33528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/>
            <p:cNvSpPr/>
            <p:nvPr/>
          </p:nvSpPr>
          <p:spPr>
            <a:xfrm>
              <a:off x="1485900" y="37147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8"/>
            <p:cNvSpPr/>
            <p:nvPr/>
          </p:nvSpPr>
          <p:spPr>
            <a:xfrm>
              <a:off x="1524000" y="37338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9"/>
            <p:cNvSpPr/>
            <p:nvPr/>
          </p:nvSpPr>
          <p:spPr>
            <a:xfrm>
              <a:off x="1465623" y="43866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0"/>
            <p:cNvSpPr/>
            <p:nvPr/>
          </p:nvSpPr>
          <p:spPr>
            <a:xfrm>
              <a:off x="1523999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1"/>
            <p:cNvSpPr/>
            <p:nvPr/>
          </p:nvSpPr>
          <p:spPr>
            <a:xfrm>
              <a:off x="1846491" y="43874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2"/>
            <p:cNvSpPr/>
            <p:nvPr/>
          </p:nvSpPr>
          <p:spPr>
            <a:xfrm>
              <a:off x="1905000" y="44196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3"/>
            <p:cNvSpPr/>
            <p:nvPr/>
          </p:nvSpPr>
          <p:spPr>
            <a:xfrm>
              <a:off x="3614737" y="2192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4"/>
            <p:cNvSpPr/>
            <p:nvPr/>
          </p:nvSpPr>
          <p:spPr>
            <a:xfrm>
              <a:off x="36576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5"/>
            <p:cNvSpPr/>
            <p:nvPr/>
          </p:nvSpPr>
          <p:spPr>
            <a:xfrm>
              <a:off x="3386137" y="3335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6"/>
            <p:cNvSpPr/>
            <p:nvPr/>
          </p:nvSpPr>
          <p:spPr>
            <a:xfrm>
              <a:off x="3429000" y="3352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7"/>
            <p:cNvSpPr/>
            <p:nvPr/>
          </p:nvSpPr>
          <p:spPr>
            <a:xfrm>
              <a:off x="2231577" y="2787727"/>
              <a:ext cx="1556641" cy="87615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8"/>
            <p:cNvSpPr/>
            <p:nvPr/>
          </p:nvSpPr>
          <p:spPr>
            <a:xfrm>
              <a:off x="2286000" y="2819397"/>
              <a:ext cx="1447800" cy="762000"/>
            </a:xfrm>
            <a:custGeom>
              <a:avLst/>
              <a:gdLst/>
              <a:ahLst/>
              <a:cxnLst/>
              <a:rect l="l" t="t" r="r" b="b"/>
              <a:pathLst>
                <a:path w="1447800" h="762000">
                  <a:moveTo>
                    <a:pt x="0" y="762002"/>
                  </a:moveTo>
                  <a:lnTo>
                    <a:pt x="1447805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9"/>
            <p:cNvSpPr/>
            <p:nvPr/>
          </p:nvSpPr>
          <p:spPr>
            <a:xfrm>
              <a:off x="2396998" y="3711963"/>
              <a:ext cx="1073393" cy="17068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20"/>
            <p:cNvSpPr/>
            <p:nvPr/>
          </p:nvSpPr>
          <p:spPr>
            <a:xfrm>
              <a:off x="2438400" y="3733800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0" y="0"/>
                  </a:moveTo>
                  <a:lnTo>
                    <a:pt x="990599" y="7620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21"/>
            <p:cNvSpPr/>
            <p:nvPr/>
          </p:nvSpPr>
          <p:spPr>
            <a:xfrm>
              <a:off x="3767137" y="4402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22"/>
            <p:cNvSpPr/>
            <p:nvPr/>
          </p:nvSpPr>
          <p:spPr>
            <a:xfrm>
              <a:off x="3810000" y="4419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23"/>
            <p:cNvSpPr/>
            <p:nvPr/>
          </p:nvSpPr>
          <p:spPr>
            <a:xfrm>
              <a:off x="2156726" y="3931569"/>
              <a:ext cx="1782554" cy="8744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24"/>
            <p:cNvSpPr/>
            <p:nvPr/>
          </p:nvSpPr>
          <p:spPr>
            <a:xfrm>
              <a:off x="2209800" y="3962400"/>
              <a:ext cx="1676400" cy="762000"/>
            </a:xfrm>
            <a:custGeom>
              <a:avLst/>
              <a:gdLst/>
              <a:ahLst/>
              <a:cxnLst/>
              <a:rect l="l" t="t" r="r" b="b"/>
              <a:pathLst>
                <a:path w="1676400" h="762000">
                  <a:moveTo>
                    <a:pt x="0" y="0"/>
                  </a:moveTo>
                  <a:lnTo>
                    <a:pt x="1676404" y="76200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25"/>
          <p:cNvSpPr txBox="1"/>
          <p:nvPr/>
        </p:nvSpPr>
        <p:spPr>
          <a:xfrm>
            <a:off x="5567156" y="2675227"/>
            <a:ext cx="1042669" cy="1442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5590" marR="95885" indent="80010">
              <a:lnSpc>
                <a:spcPts val="2000"/>
              </a:lnSpc>
              <a:spcBef>
                <a:spcPts val="300"/>
              </a:spcBef>
            </a:pPr>
            <a:r>
              <a:rPr sz="1800" spc="-35" dirty="0">
                <a:latin typeface="Arial"/>
                <a:cs typeface="Arial"/>
              </a:rPr>
              <a:t>Floor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114" dirty="0">
                <a:latin typeface="Arial"/>
                <a:cs typeface="Arial"/>
              </a:rPr>
              <a:t>qu</a:t>
            </a:r>
            <a:r>
              <a:rPr sz="1800" spc="-120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latin typeface="Arial"/>
                <a:cs typeface="Arial"/>
              </a:rPr>
              <a:t>Open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door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5" name="object 26"/>
          <p:cNvSpPr txBox="1"/>
          <p:nvPr/>
        </p:nvSpPr>
        <p:spPr>
          <a:xfrm>
            <a:off x="5643356" y="4885026"/>
            <a:ext cx="1497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Emergency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stop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6" name="object 27"/>
          <p:cNvGrpSpPr/>
          <p:nvPr/>
        </p:nvGrpSpPr>
        <p:grpSpPr>
          <a:xfrm>
            <a:off x="4988353" y="1436405"/>
            <a:ext cx="2447925" cy="5191125"/>
            <a:chOff x="3386137" y="1201737"/>
            <a:chExt cx="2447925" cy="5191125"/>
          </a:xfrm>
        </p:grpSpPr>
        <p:sp>
          <p:nvSpPr>
            <p:cNvPr id="67" name="object 28"/>
            <p:cNvSpPr/>
            <p:nvPr/>
          </p:nvSpPr>
          <p:spPr>
            <a:xfrm>
              <a:off x="3767137" y="53927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9"/>
            <p:cNvSpPr/>
            <p:nvPr/>
          </p:nvSpPr>
          <p:spPr>
            <a:xfrm>
              <a:off x="3810000" y="54103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30"/>
            <p:cNvSpPr/>
            <p:nvPr/>
          </p:nvSpPr>
          <p:spPr>
            <a:xfrm>
              <a:off x="3386137" y="1201737"/>
              <a:ext cx="2066925" cy="9239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0" name="object 31"/>
            <p:cNvSpPr/>
            <p:nvPr/>
          </p:nvSpPr>
          <p:spPr>
            <a:xfrm>
              <a:off x="3429000" y="1219346"/>
              <a:ext cx="1981200" cy="838200"/>
            </a:xfrm>
            <a:custGeom>
              <a:avLst/>
              <a:gdLst/>
              <a:ahLst/>
              <a:cxnLst/>
              <a:rect l="l" t="t" r="r" b="b"/>
              <a:pathLst>
                <a:path w="1981200" h="838200">
                  <a:moveTo>
                    <a:pt x="1691055" y="122605"/>
                  </a:moveTo>
                  <a:lnTo>
                    <a:pt x="1741410" y="145535"/>
                  </a:lnTo>
                  <a:lnTo>
                    <a:pt x="1786970" y="169610"/>
                  </a:lnTo>
                  <a:lnTo>
                    <a:pt x="1827733" y="194718"/>
                  </a:lnTo>
                  <a:lnTo>
                    <a:pt x="1863701" y="220742"/>
                  </a:lnTo>
                  <a:lnTo>
                    <a:pt x="1894873" y="247568"/>
                  </a:lnTo>
                  <a:lnTo>
                    <a:pt x="1921250" y="275082"/>
                  </a:lnTo>
                  <a:lnTo>
                    <a:pt x="1959615" y="331713"/>
                  </a:lnTo>
                  <a:lnTo>
                    <a:pt x="1978798" y="389721"/>
                  </a:lnTo>
                  <a:lnTo>
                    <a:pt x="1981196" y="418953"/>
                  </a:lnTo>
                  <a:lnTo>
                    <a:pt x="1978798" y="448186"/>
                  </a:lnTo>
                  <a:lnTo>
                    <a:pt x="1959615" y="506193"/>
                  </a:lnTo>
                  <a:lnTo>
                    <a:pt x="1921250" y="562825"/>
                  </a:lnTo>
                  <a:lnTo>
                    <a:pt x="1894873" y="590339"/>
                  </a:lnTo>
                  <a:lnTo>
                    <a:pt x="1863701" y="617165"/>
                  </a:lnTo>
                  <a:lnTo>
                    <a:pt x="1827733" y="643189"/>
                  </a:lnTo>
                  <a:lnTo>
                    <a:pt x="1786970" y="668296"/>
                  </a:lnTo>
                  <a:lnTo>
                    <a:pt x="1741410" y="692372"/>
                  </a:lnTo>
                  <a:lnTo>
                    <a:pt x="1691055" y="715302"/>
                  </a:lnTo>
                  <a:lnTo>
                    <a:pt x="1650198" y="731649"/>
                  </a:lnTo>
                  <a:lnTo>
                    <a:pt x="1607744" y="746829"/>
                  </a:lnTo>
                  <a:lnTo>
                    <a:pt x="1563813" y="760841"/>
                  </a:lnTo>
                  <a:lnTo>
                    <a:pt x="1518521" y="773685"/>
                  </a:lnTo>
                  <a:lnTo>
                    <a:pt x="1471987" y="785362"/>
                  </a:lnTo>
                  <a:lnTo>
                    <a:pt x="1424330" y="795871"/>
                  </a:lnTo>
                  <a:lnTo>
                    <a:pt x="1375668" y="805212"/>
                  </a:lnTo>
                  <a:lnTo>
                    <a:pt x="1326119" y="813386"/>
                  </a:lnTo>
                  <a:lnTo>
                    <a:pt x="1275801" y="820392"/>
                  </a:lnTo>
                  <a:lnTo>
                    <a:pt x="1224832" y="826230"/>
                  </a:lnTo>
                  <a:lnTo>
                    <a:pt x="1173332" y="830901"/>
                  </a:lnTo>
                  <a:lnTo>
                    <a:pt x="1121418" y="834404"/>
                  </a:lnTo>
                  <a:lnTo>
                    <a:pt x="1069208" y="836740"/>
                  </a:lnTo>
                  <a:lnTo>
                    <a:pt x="1016820" y="837907"/>
                  </a:lnTo>
                  <a:lnTo>
                    <a:pt x="964374" y="837907"/>
                  </a:lnTo>
                  <a:lnTo>
                    <a:pt x="911986" y="836740"/>
                  </a:lnTo>
                  <a:lnTo>
                    <a:pt x="859776" y="834404"/>
                  </a:lnTo>
                  <a:lnTo>
                    <a:pt x="807862" y="830901"/>
                  </a:lnTo>
                  <a:lnTo>
                    <a:pt x="756362" y="826230"/>
                  </a:lnTo>
                  <a:lnTo>
                    <a:pt x="705393" y="820392"/>
                  </a:lnTo>
                  <a:lnTo>
                    <a:pt x="655076" y="813386"/>
                  </a:lnTo>
                  <a:lnTo>
                    <a:pt x="605526" y="805212"/>
                  </a:lnTo>
                  <a:lnTo>
                    <a:pt x="556864" y="795871"/>
                  </a:lnTo>
                  <a:lnTo>
                    <a:pt x="509207" y="785362"/>
                  </a:lnTo>
                  <a:lnTo>
                    <a:pt x="462674" y="773685"/>
                  </a:lnTo>
                  <a:lnTo>
                    <a:pt x="417382" y="760841"/>
                  </a:lnTo>
                  <a:lnTo>
                    <a:pt x="373450" y="746829"/>
                  </a:lnTo>
                  <a:lnTo>
                    <a:pt x="330997" y="731649"/>
                  </a:lnTo>
                  <a:lnTo>
                    <a:pt x="290140" y="715302"/>
                  </a:lnTo>
                  <a:lnTo>
                    <a:pt x="239785" y="692372"/>
                  </a:lnTo>
                  <a:lnTo>
                    <a:pt x="194226" y="668296"/>
                  </a:lnTo>
                  <a:lnTo>
                    <a:pt x="153462" y="643189"/>
                  </a:lnTo>
                  <a:lnTo>
                    <a:pt x="117494" y="617165"/>
                  </a:lnTo>
                  <a:lnTo>
                    <a:pt x="86322" y="590339"/>
                  </a:lnTo>
                  <a:lnTo>
                    <a:pt x="59946" y="562825"/>
                  </a:lnTo>
                  <a:lnTo>
                    <a:pt x="21580" y="506193"/>
                  </a:lnTo>
                  <a:lnTo>
                    <a:pt x="2397" y="448186"/>
                  </a:lnTo>
                  <a:lnTo>
                    <a:pt x="0" y="418953"/>
                  </a:lnTo>
                  <a:lnTo>
                    <a:pt x="2397" y="389721"/>
                  </a:lnTo>
                  <a:lnTo>
                    <a:pt x="21580" y="331713"/>
                  </a:lnTo>
                  <a:lnTo>
                    <a:pt x="59946" y="275082"/>
                  </a:lnTo>
                  <a:lnTo>
                    <a:pt x="86322" y="247568"/>
                  </a:lnTo>
                  <a:lnTo>
                    <a:pt x="117494" y="220742"/>
                  </a:lnTo>
                  <a:lnTo>
                    <a:pt x="153462" y="194718"/>
                  </a:lnTo>
                  <a:lnTo>
                    <a:pt x="194226" y="169610"/>
                  </a:lnTo>
                  <a:lnTo>
                    <a:pt x="239785" y="145535"/>
                  </a:lnTo>
                  <a:lnTo>
                    <a:pt x="290140" y="122605"/>
                  </a:lnTo>
                  <a:lnTo>
                    <a:pt x="330997" y="106258"/>
                  </a:lnTo>
                  <a:lnTo>
                    <a:pt x="373450" y="91078"/>
                  </a:lnTo>
                  <a:lnTo>
                    <a:pt x="417382" y="77066"/>
                  </a:lnTo>
                  <a:lnTo>
                    <a:pt x="462674" y="64221"/>
                  </a:lnTo>
                  <a:lnTo>
                    <a:pt x="509207" y="52545"/>
                  </a:lnTo>
                  <a:lnTo>
                    <a:pt x="556864" y="42036"/>
                  </a:lnTo>
                  <a:lnTo>
                    <a:pt x="605526" y="32694"/>
                  </a:lnTo>
                  <a:lnTo>
                    <a:pt x="655076" y="24521"/>
                  </a:lnTo>
                  <a:lnTo>
                    <a:pt x="705393" y="17515"/>
                  </a:lnTo>
                  <a:lnTo>
                    <a:pt x="756362" y="11676"/>
                  </a:lnTo>
                  <a:lnTo>
                    <a:pt x="807862" y="7006"/>
                  </a:lnTo>
                  <a:lnTo>
                    <a:pt x="859776" y="3503"/>
                  </a:lnTo>
                  <a:lnTo>
                    <a:pt x="911986" y="1167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167"/>
                  </a:lnTo>
                  <a:lnTo>
                    <a:pt x="1121418" y="3503"/>
                  </a:lnTo>
                  <a:lnTo>
                    <a:pt x="1173332" y="7006"/>
                  </a:lnTo>
                  <a:lnTo>
                    <a:pt x="1224832" y="11676"/>
                  </a:lnTo>
                  <a:lnTo>
                    <a:pt x="1275801" y="17515"/>
                  </a:lnTo>
                  <a:lnTo>
                    <a:pt x="1326119" y="24521"/>
                  </a:lnTo>
                  <a:lnTo>
                    <a:pt x="1375668" y="32694"/>
                  </a:lnTo>
                  <a:lnTo>
                    <a:pt x="1424330" y="42036"/>
                  </a:lnTo>
                  <a:lnTo>
                    <a:pt x="1471987" y="52545"/>
                  </a:lnTo>
                  <a:lnTo>
                    <a:pt x="1518521" y="64221"/>
                  </a:lnTo>
                  <a:lnTo>
                    <a:pt x="1563813" y="77066"/>
                  </a:lnTo>
                  <a:lnTo>
                    <a:pt x="1607744" y="91078"/>
                  </a:lnTo>
                  <a:lnTo>
                    <a:pt x="1650198" y="106258"/>
                  </a:lnTo>
                  <a:lnTo>
                    <a:pt x="1691055" y="122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32"/>
          <p:cNvSpPr txBox="1"/>
          <p:nvPr/>
        </p:nvSpPr>
        <p:spPr>
          <a:xfrm>
            <a:off x="2976355" y="5266026"/>
            <a:ext cx="920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Arial"/>
                <a:cs typeface="Arial"/>
              </a:rPr>
              <a:t>P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33"/>
          <p:cNvSpPr txBox="1">
            <a:spLocks noGrp="1"/>
          </p:cNvSpPr>
          <p:nvPr>
            <p:ph type="title"/>
          </p:nvPr>
        </p:nvSpPr>
        <p:spPr>
          <a:xfrm>
            <a:off x="1720201" y="603283"/>
            <a:ext cx="8904641" cy="77328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3600" spc="-5" dirty="0">
                <a:latin typeface="Times New Roman"/>
                <a:cs typeface="Times New Roman"/>
              </a:rPr>
              <a:t>Example: </a:t>
            </a:r>
            <a:r>
              <a:rPr sz="3600" dirty="0">
                <a:latin typeface="Times New Roman"/>
                <a:cs typeface="Times New Roman"/>
              </a:rPr>
              <a:t>Use </a:t>
            </a:r>
            <a:r>
              <a:rPr sz="3600" spc="-5" dirty="0">
                <a:latin typeface="Times New Roman"/>
                <a:cs typeface="Times New Roman"/>
              </a:rPr>
              <a:t>Case Diagram for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Elevator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34"/>
          <p:cNvGrpSpPr/>
          <p:nvPr/>
        </p:nvGrpSpPr>
        <p:grpSpPr>
          <a:xfrm>
            <a:off x="3677345" y="2106835"/>
            <a:ext cx="5946775" cy="4001770"/>
            <a:chOff x="2075129" y="1872167"/>
            <a:chExt cx="5946775" cy="4001770"/>
          </a:xfrm>
        </p:grpSpPr>
        <p:sp>
          <p:nvSpPr>
            <p:cNvPr id="74" name="object 35"/>
            <p:cNvSpPr/>
            <p:nvPr/>
          </p:nvSpPr>
          <p:spPr>
            <a:xfrm>
              <a:off x="2075129" y="1872167"/>
              <a:ext cx="1564728" cy="16404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6"/>
            <p:cNvSpPr/>
            <p:nvPr/>
          </p:nvSpPr>
          <p:spPr>
            <a:xfrm>
              <a:off x="2133599" y="1905004"/>
              <a:ext cx="1447800" cy="1524000"/>
            </a:xfrm>
            <a:custGeom>
              <a:avLst/>
              <a:gdLst/>
              <a:ahLst/>
              <a:cxnLst/>
              <a:rect l="l" t="t" r="r" b="b"/>
              <a:pathLst>
                <a:path w="1447800" h="1524000">
                  <a:moveTo>
                    <a:pt x="0" y="1523995"/>
                  </a:moveTo>
                  <a:lnTo>
                    <a:pt x="144779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7"/>
            <p:cNvSpPr/>
            <p:nvPr/>
          </p:nvSpPr>
          <p:spPr>
            <a:xfrm>
              <a:off x="7310437" y="26495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8"/>
            <p:cNvSpPr/>
            <p:nvPr/>
          </p:nvSpPr>
          <p:spPr>
            <a:xfrm>
              <a:off x="7354264" y="26679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4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39"/>
            <p:cNvSpPr/>
            <p:nvPr/>
          </p:nvSpPr>
          <p:spPr>
            <a:xfrm>
              <a:off x="7574216" y="31861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40"/>
            <p:cNvSpPr/>
            <p:nvPr/>
          </p:nvSpPr>
          <p:spPr>
            <a:xfrm>
              <a:off x="7620000" y="32004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41"/>
            <p:cNvSpPr/>
            <p:nvPr/>
          </p:nvSpPr>
          <p:spPr>
            <a:xfrm>
              <a:off x="7239000" y="35623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42"/>
            <p:cNvSpPr/>
            <p:nvPr/>
          </p:nvSpPr>
          <p:spPr>
            <a:xfrm>
              <a:off x="7277100" y="35814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43"/>
            <p:cNvSpPr/>
            <p:nvPr/>
          </p:nvSpPr>
          <p:spPr>
            <a:xfrm>
              <a:off x="7218722" y="42342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44"/>
            <p:cNvSpPr/>
            <p:nvPr/>
          </p:nvSpPr>
          <p:spPr>
            <a:xfrm>
              <a:off x="7277100" y="4267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45"/>
            <p:cNvSpPr/>
            <p:nvPr/>
          </p:nvSpPr>
          <p:spPr>
            <a:xfrm>
              <a:off x="7599591" y="42350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46"/>
            <p:cNvSpPr/>
            <p:nvPr/>
          </p:nvSpPr>
          <p:spPr>
            <a:xfrm>
              <a:off x="7658100" y="42672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47"/>
            <p:cNvSpPr/>
            <p:nvPr/>
          </p:nvSpPr>
          <p:spPr>
            <a:xfrm>
              <a:off x="5735244" y="2634475"/>
              <a:ext cx="1559699" cy="103025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48"/>
            <p:cNvSpPr/>
            <p:nvPr/>
          </p:nvSpPr>
          <p:spPr>
            <a:xfrm>
              <a:off x="5791202" y="2667001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1447797" y="91439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49"/>
            <p:cNvSpPr/>
            <p:nvPr/>
          </p:nvSpPr>
          <p:spPr>
            <a:xfrm>
              <a:off x="5734164" y="3700818"/>
              <a:ext cx="1561876" cy="118357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0"/>
            <p:cNvSpPr/>
            <p:nvPr/>
          </p:nvSpPr>
          <p:spPr>
            <a:xfrm>
              <a:off x="5791200" y="3733800"/>
              <a:ext cx="1447800" cy="1066800"/>
            </a:xfrm>
            <a:custGeom>
              <a:avLst/>
              <a:gdLst/>
              <a:ahLst/>
              <a:cxnLst/>
              <a:rect l="l" t="t" r="r" b="b"/>
              <a:pathLst>
                <a:path w="1447800" h="1066800">
                  <a:moveTo>
                    <a:pt x="1447799" y="0"/>
                  </a:moveTo>
                  <a:lnTo>
                    <a:pt x="0" y="1066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51"/>
            <p:cNvSpPr/>
            <p:nvPr/>
          </p:nvSpPr>
          <p:spPr>
            <a:xfrm>
              <a:off x="5885179" y="3930650"/>
              <a:ext cx="1488439" cy="1943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52"/>
            <p:cNvSpPr/>
            <p:nvPr/>
          </p:nvSpPr>
          <p:spPr>
            <a:xfrm>
              <a:off x="5943600" y="39624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1371600" y="0"/>
                  </a:moveTo>
                  <a:lnTo>
                    <a:pt x="0" y="1828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53"/>
          <p:cNvSpPr txBox="1"/>
          <p:nvPr/>
        </p:nvSpPr>
        <p:spPr>
          <a:xfrm>
            <a:off x="5795756" y="5951830"/>
            <a:ext cx="147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"/>
                <a:cs typeface="Arial"/>
              </a:rPr>
              <a:t>Service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elevator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95" name="object 54"/>
          <p:cNvSpPr txBox="1"/>
          <p:nvPr/>
        </p:nvSpPr>
        <p:spPr>
          <a:xfrm>
            <a:off x="8615156" y="5050126"/>
            <a:ext cx="1040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Technician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18385" y="1683375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-120" dirty="0">
                <a:solidFill>
                  <a:srgbClr val="000000"/>
                </a:solidFill>
              </a:rPr>
              <a:t>Close</a:t>
            </a:r>
            <a:r>
              <a:rPr lang="en-US" spc="-60" dirty="0">
                <a:solidFill>
                  <a:srgbClr val="000000"/>
                </a:solidFill>
              </a:rPr>
              <a:t> </a:t>
            </a:r>
            <a:r>
              <a:rPr lang="en-US" spc="-55" dirty="0">
                <a:solidFill>
                  <a:srgbClr val="000000"/>
                </a:solidFill>
              </a:rPr>
              <a:t>door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3658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33"/>
          <p:cNvSpPr txBox="1">
            <a:spLocks noGrp="1"/>
          </p:cNvSpPr>
          <p:nvPr>
            <p:ph type="title"/>
          </p:nvPr>
        </p:nvSpPr>
        <p:spPr>
          <a:xfrm>
            <a:off x="1720201" y="603283"/>
            <a:ext cx="8904641" cy="77328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3600" spc="-5" dirty="0">
                <a:latin typeface="Times New Roman"/>
                <a:cs typeface="Times New Roman"/>
              </a:rPr>
              <a:t>Example:</a:t>
            </a:r>
            <a:r>
              <a:rPr lang="en-US" sz="3600" spc="-5" dirty="0">
                <a:latin typeface="Times New Roman"/>
                <a:cs typeface="Times New Roman"/>
              </a:rPr>
              <a:t> Reservation System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93" name="object 3"/>
          <p:cNvGrpSpPr/>
          <p:nvPr/>
        </p:nvGrpSpPr>
        <p:grpSpPr>
          <a:xfrm>
            <a:off x="2825079" y="2273257"/>
            <a:ext cx="4368800" cy="3209925"/>
            <a:chOff x="1465623" y="2192337"/>
            <a:chExt cx="4368800" cy="3209925"/>
          </a:xfrm>
        </p:grpSpPr>
        <p:sp>
          <p:nvSpPr>
            <p:cNvPr id="94" name="object 4"/>
            <p:cNvSpPr/>
            <p:nvPr/>
          </p:nvSpPr>
          <p:spPr>
            <a:xfrm>
              <a:off x="1557337" y="28019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5"/>
            <p:cNvSpPr/>
            <p:nvPr/>
          </p:nvSpPr>
          <p:spPr>
            <a:xfrm>
              <a:off x="1601164" y="28203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4" h="531495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6"/>
            <p:cNvSpPr/>
            <p:nvPr/>
          </p:nvSpPr>
          <p:spPr>
            <a:xfrm>
              <a:off x="1821116" y="33385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"/>
            <p:cNvSpPr/>
            <p:nvPr/>
          </p:nvSpPr>
          <p:spPr>
            <a:xfrm>
              <a:off x="1866900" y="33528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8"/>
            <p:cNvSpPr/>
            <p:nvPr/>
          </p:nvSpPr>
          <p:spPr>
            <a:xfrm>
              <a:off x="1485900" y="37147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"/>
            <p:cNvSpPr/>
            <p:nvPr/>
          </p:nvSpPr>
          <p:spPr>
            <a:xfrm>
              <a:off x="1524000" y="37338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"/>
            <p:cNvSpPr/>
            <p:nvPr/>
          </p:nvSpPr>
          <p:spPr>
            <a:xfrm>
              <a:off x="1465623" y="43866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1"/>
            <p:cNvSpPr/>
            <p:nvPr/>
          </p:nvSpPr>
          <p:spPr>
            <a:xfrm>
              <a:off x="1523999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2"/>
            <p:cNvSpPr/>
            <p:nvPr/>
          </p:nvSpPr>
          <p:spPr>
            <a:xfrm>
              <a:off x="1846491" y="43874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3"/>
            <p:cNvSpPr/>
            <p:nvPr/>
          </p:nvSpPr>
          <p:spPr>
            <a:xfrm>
              <a:off x="1905000" y="44196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4"/>
            <p:cNvSpPr/>
            <p:nvPr/>
          </p:nvSpPr>
          <p:spPr>
            <a:xfrm>
              <a:off x="3614737" y="2192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5"/>
            <p:cNvSpPr/>
            <p:nvPr/>
          </p:nvSpPr>
          <p:spPr>
            <a:xfrm>
              <a:off x="36576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6"/>
            <p:cNvSpPr/>
            <p:nvPr/>
          </p:nvSpPr>
          <p:spPr>
            <a:xfrm>
              <a:off x="3386137" y="3335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7"/>
            <p:cNvSpPr/>
            <p:nvPr/>
          </p:nvSpPr>
          <p:spPr>
            <a:xfrm>
              <a:off x="3429000" y="3352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8"/>
            <p:cNvSpPr/>
            <p:nvPr/>
          </p:nvSpPr>
          <p:spPr>
            <a:xfrm>
              <a:off x="2154256" y="2787085"/>
              <a:ext cx="1635080" cy="10298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9"/>
            <p:cNvSpPr/>
            <p:nvPr/>
          </p:nvSpPr>
          <p:spPr>
            <a:xfrm>
              <a:off x="2209800" y="2819398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1"/>
                  </a:moveTo>
                  <a:lnTo>
                    <a:pt x="15240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0"/>
            <p:cNvSpPr/>
            <p:nvPr/>
          </p:nvSpPr>
          <p:spPr>
            <a:xfrm>
              <a:off x="2169007" y="3712459"/>
              <a:ext cx="1300793" cy="1696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21"/>
            <p:cNvSpPr/>
            <p:nvPr/>
          </p:nvSpPr>
          <p:spPr>
            <a:xfrm>
              <a:off x="2209800" y="3733800"/>
              <a:ext cx="1219200" cy="76200"/>
            </a:xfrm>
            <a:custGeom>
              <a:avLst/>
              <a:gdLst/>
              <a:ahLst/>
              <a:cxnLst/>
              <a:rect l="l" t="t" r="r" b="b"/>
              <a:pathLst>
                <a:path w="1219200" h="76200">
                  <a:moveTo>
                    <a:pt x="0" y="0"/>
                  </a:moveTo>
                  <a:lnTo>
                    <a:pt x="1219200" y="761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22"/>
            <p:cNvSpPr/>
            <p:nvPr/>
          </p:nvSpPr>
          <p:spPr>
            <a:xfrm>
              <a:off x="3767137" y="4402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23"/>
            <p:cNvSpPr/>
            <p:nvPr/>
          </p:nvSpPr>
          <p:spPr>
            <a:xfrm>
              <a:off x="3810000" y="4419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24"/>
            <p:cNvSpPr/>
            <p:nvPr/>
          </p:nvSpPr>
          <p:spPr>
            <a:xfrm>
              <a:off x="2154389" y="3701548"/>
              <a:ext cx="1787234" cy="11059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25"/>
            <p:cNvSpPr/>
            <p:nvPr/>
          </p:nvSpPr>
          <p:spPr>
            <a:xfrm>
              <a:off x="2209800" y="37338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0" y="0"/>
                  </a:moveTo>
                  <a:lnTo>
                    <a:pt x="1676398" y="9905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26"/>
          <p:cNvSpPr txBox="1"/>
          <p:nvPr/>
        </p:nvSpPr>
        <p:spPr>
          <a:xfrm>
            <a:off x="5494867" y="2521479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Arial"/>
                <a:cs typeface="Arial"/>
              </a:rPr>
              <a:t>Check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45" dirty="0">
                <a:latin typeface="Arial"/>
                <a:cs typeface="Arial"/>
              </a:rPr>
              <a:t>In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8" name="object 27"/>
          <p:cNvSpPr txBox="1"/>
          <p:nvPr/>
        </p:nvSpPr>
        <p:spPr>
          <a:xfrm>
            <a:off x="5283279" y="3634125"/>
            <a:ext cx="10337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40" dirty="0">
                <a:latin typeface="Arial"/>
                <a:cs typeface="Arial"/>
              </a:rPr>
              <a:t>Add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95" dirty="0">
                <a:latin typeface="Arial"/>
                <a:cs typeface="Arial"/>
              </a:rPr>
              <a:t>v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9" name="object 28"/>
          <p:cNvSpPr txBox="1"/>
          <p:nvPr/>
        </p:nvSpPr>
        <p:spPr>
          <a:xfrm>
            <a:off x="5651533" y="4647821"/>
            <a:ext cx="10337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90" dirty="0">
                <a:latin typeface="Arial"/>
                <a:cs typeface="Arial"/>
              </a:rPr>
              <a:t>Cancel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95" dirty="0">
                <a:latin typeface="Arial"/>
                <a:cs typeface="Arial"/>
              </a:rPr>
              <a:t>v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20" name="object 29"/>
          <p:cNvGrpSpPr/>
          <p:nvPr/>
        </p:nvGrpSpPr>
        <p:grpSpPr>
          <a:xfrm>
            <a:off x="7945993" y="2197057"/>
            <a:ext cx="2066925" cy="1000125"/>
            <a:chOff x="6586537" y="2116137"/>
            <a:chExt cx="2066925" cy="1000125"/>
          </a:xfrm>
        </p:grpSpPr>
        <p:sp>
          <p:nvSpPr>
            <p:cNvPr id="121" name="object 30"/>
            <p:cNvSpPr/>
            <p:nvPr/>
          </p:nvSpPr>
          <p:spPr>
            <a:xfrm>
              <a:off x="6586537" y="2116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31"/>
            <p:cNvSpPr/>
            <p:nvPr/>
          </p:nvSpPr>
          <p:spPr>
            <a:xfrm>
              <a:off x="6629400" y="2133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32"/>
          <p:cNvSpPr txBox="1"/>
          <p:nvPr/>
        </p:nvSpPr>
        <p:spPr>
          <a:xfrm>
            <a:off x="8372396" y="2445279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Arial"/>
                <a:cs typeface="Arial"/>
              </a:rPr>
              <a:t>Assign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70" dirty="0">
                <a:latin typeface="Arial"/>
                <a:cs typeface="Arial"/>
              </a:rPr>
              <a:t>seat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24" name="object 33"/>
          <p:cNvGrpSpPr/>
          <p:nvPr/>
        </p:nvGrpSpPr>
        <p:grpSpPr>
          <a:xfrm>
            <a:off x="6695411" y="1358857"/>
            <a:ext cx="2708275" cy="1477010"/>
            <a:chOff x="5335955" y="1277937"/>
            <a:chExt cx="2708275" cy="1477010"/>
          </a:xfrm>
        </p:grpSpPr>
        <p:sp>
          <p:nvSpPr>
            <p:cNvPr id="125" name="object 34"/>
            <p:cNvSpPr/>
            <p:nvPr/>
          </p:nvSpPr>
          <p:spPr>
            <a:xfrm>
              <a:off x="5603608" y="2534585"/>
              <a:ext cx="1060974" cy="21985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35"/>
            <p:cNvSpPr/>
            <p:nvPr/>
          </p:nvSpPr>
          <p:spPr>
            <a:xfrm>
              <a:off x="5642038" y="2618958"/>
              <a:ext cx="880110" cy="22860"/>
            </a:xfrm>
            <a:custGeom>
              <a:avLst/>
              <a:gdLst/>
              <a:ahLst/>
              <a:cxnLst/>
              <a:rect l="l" t="t" r="r" b="b"/>
              <a:pathLst>
                <a:path w="880109" h="22860">
                  <a:moveTo>
                    <a:pt x="0" y="22564"/>
                  </a:moveTo>
                  <a:lnTo>
                    <a:pt x="867321" y="325"/>
                  </a:lnTo>
                  <a:lnTo>
                    <a:pt x="880017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36"/>
            <p:cNvSpPr/>
            <p:nvPr/>
          </p:nvSpPr>
          <p:spPr>
            <a:xfrm>
              <a:off x="6507796" y="2558341"/>
              <a:ext cx="103505" cy="121920"/>
            </a:xfrm>
            <a:custGeom>
              <a:avLst/>
              <a:gdLst/>
              <a:ahLst/>
              <a:cxnLst/>
              <a:rect l="l" t="t" r="r" b="b"/>
              <a:pathLst>
                <a:path w="103504" h="121919">
                  <a:moveTo>
                    <a:pt x="3125" y="121879"/>
                  </a:moveTo>
                  <a:lnTo>
                    <a:pt x="103128" y="58335"/>
                  </a:lnTo>
                  <a:lnTo>
                    <a:pt x="0" y="0"/>
                  </a:lnTo>
                </a:path>
                <a:path w="103504" h="121919">
                  <a:moveTo>
                    <a:pt x="1562" y="60939"/>
                  </a:moveTo>
                  <a:lnTo>
                    <a:pt x="103128" y="5833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37"/>
            <p:cNvSpPr/>
            <p:nvPr/>
          </p:nvSpPr>
          <p:spPr>
            <a:xfrm>
              <a:off x="5348655" y="2020116"/>
              <a:ext cx="803275" cy="323850"/>
            </a:xfrm>
            <a:custGeom>
              <a:avLst/>
              <a:gdLst/>
              <a:ahLst/>
              <a:cxnLst/>
              <a:rect l="l" t="t" r="r" b="b"/>
              <a:pathLst>
                <a:path w="803275" h="323850">
                  <a:moveTo>
                    <a:pt x="0" y="323592"/>
                  </a:moveTo>
                  <a:lnTo>
                    <a:pt x="791365" y="4746"/>
                  </a:lnTo>
                  <a:lnTo>
                    <a:pt x="803145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8"/>
            <p:cNvSpPr/>
            <p:nvPr/>
          </p:nvSpPr>
          <p:spPr>
            <a:xfrm>
              <a:off x="6117238" y="1968316"/>
              <a:ext cx="117475" cy="113664"/>
            </a:xfrm>
            <a:custGeom>
              <a:avLst/>
              <a:gdLst/>
              <a:ahLst/>
              <a:cxnLst/>
              <a:rect l="l" t="t" r="r" b="b"/>
              <a:pathLst>
                <a:path w="117475" h="113664">
                  <a:moveTo>
                    <a:pt x="45563" y="113086"/>
                  </a:moveTo>
                  <a:lnTo>
                    <a:pt x="117019" y="18573"/>
                  </a:lnTo>
                  <a:lnTo>
                    <a:pt x="0" y="0"/>
                  </a:lnTo>
                </a:path>
                <a:path w="117475" h="113664">
                  <a:moveTo>
                    <a:pt x="22781" y="56543"/>
                  </a:moveTo>
                  <a:lnTo>
                    <a:pt x="117019" y="1857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9"/>
            <p:cNvSpPr/>
            <p:nvPr/>
          </p:nvSpPr>
          <p:spPr>
            <a:xfrm>
              <a:off x="5343918" y="2355489"/>
              <a:ext cx="903050" cy="17258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40"/>
            <p:cNvSpPr/>
            <p:nvPr/>
          </p:nvSpPr>
          <p:spPr>
            <a:xfrm>
              <a:off x="5976937" y="1277937"/>
              <a:ext cx="2066925" cy="9239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41"/>
            <p:cNvSpPr/>
            <p:nvPr/>
          </p:nvSpPr>
          <p:spPr>
            <a:xfrm>
              <a:off x="6019800" y="1295546"/>
              <a:ext cx="1981200" cy="838200"/>
            </a:xfrm>
            <a:custGeom>
              <a:avLst/>
              <a:gdLst/>
              <a:ahLst/>
              <a:cxnLst/>
              <a:rect l="l" t="t" r="r" b="b"/>
              <a:pathLst>
                <a:path w="1981200" h="838200">
                  <a:moveTo>
                    <a:pt x="1691055" y="122605"/>
                  </a:moveTo>
                  <a:lnTo>
                    <a:pt x="1741410" y="145535"/>
                  </a:lnTo>
                  <a:lnTo>
                    <a:pt x="1786970" y="169610"/>
                  </a:lnTo>
                  <a:lnTo>
                    <a:pt x="1827733" y="194718"/>
                  </a:lnTo>
                  <a:lnTo>
                    <a:pt x="1863701" y="220742"/>
                  </a:lnTo>
                  <a:lnTo>
                    <a:pt x="1894873" y="247568"/>
                  </a:lnTo>
                  <a:lnTo>
                    <a:pt x="1921250" y="275082"/>
                  </a:lnTo>
                  <a:lnTo>
                    <a:pt x="1959615" y="331713"/>
                  </a:lnTo>
                  <a:lnTo>
                    <a:pt x="1978798" y="389721"/>
                  </a:lnTo>
                  <a:lnTo>
                    <a:pt x="1981196" y="418953"/>
                  </a:lnTo>
                  <a:lnTo>
                    <a:pt x="1978798" y="448186"/>
                  </a:lnTo>
                  <a:lnTo>
                    <a:pt x="1959615" y="506193"/>
                  </a:lnTo>
                  <a:lnTo>
                    <a:pt x="1921250" y="562825"/>
                  </a:lnTo>
                  <a:lnTo>
                    <a:pt x="1894873" y="590339"/>
                  </a:lnTo>
                  <a:lnTo>
                    <a:pt x="1863701" y="617165"/>
                  </a:lnTo>
                  <a:lnTo>
                    <a:pt x="1827733" y="643189"/>
                  </a:lnTo>
                  <a:lnTo>
                    <a:pt x="1786970" y="668296"/>
                  </a:lnTo>
                  <a:lnTo>
                    <a:pt x="1741410" y="692372"/>
                  </a:lnTo>
                  <a:lnTo>
                    <a:pt x="1691055" y="715302"/>
                  </a:lnTo>
                  <a:lnTo>
                    <a:pt x="1650198" y="731649"/>
                  </a:lnTo>
                  <a:lnTo>
                    <a:pt x="1607744" y="746829"/>
                  </a:lnTo>
                  <a:lnTo>
                    <a:pt x="1563813" y="760841"/>
                  </a:lnTo>
                  <a:lnTo>
                    <a:pt x="1518521" y="773685"/>
                  </a:lnTo>
                  <a:lnTo>
                    <a:pt x="1471987" y="785362"/>
                  </a:lnTo>
                  <a:lnTo>
                    <a:pt x="1424330" y="795871"/>
                  </a:lnTo>
                  <a:lnTo>
                    <a:pt x="1375668" y="805212"/>
                  </a:lnTo>
                  <a:lnTo>
                    <a:pt x="1326119" y="813386"/>
                  </a:lnTo>
                  <a:lnTo>
                    <a:pt x="1275801" y="820392"/>
                  </a:lnTo>
                  <a:lnTo>
                    <a:pt x="1224832" y="826230"/>
                  </a:lnTo>
                  <a:lnTo>
                    <a:pt x="1173332" y="830901"/>
                  </a:lnTo>
                  <a:lnTo>
                    <a:pt x="1121418" y="834404"/>
                  </a:lnTo>
                  <a:lnTo>
                    <a:pt x="1069208" y="836740"/>
                  </a:lnTo>
                  <a:lnTo>
                    <a:pt x="1016820" y="837907"/>
                  </a:lnTo>
                  <a:lnTo>
                    <a:pt x="964374" y="837907"/>
                  </a:lnTo>
                  <a:lnTo>
                    <a:pt x="911986" y="836740"/>
                  </a:lnTo>
                  <a:lnTo>
                    <a:pt x="859776" y="834404"/>
                  </a:lnTo>
                  <a:lnTo>
                    <a:pt x="807862" y="830901"/>
                  </a:lnTo>
                  <a:lnTo>
                    <a:pt x="756362" y="826230"/>
                  </a:lnTo>
                  <a:lnTo>
                    <a:pt x="705393" y="820392"/>
                  </a:lnTo>
                  <a:lnTo>
                    <a:pt x="655076" y="813386"/>
                  </a:lnTo>
                  <a:lnTo>
                    <a:pt x="605526" y="805212"/>
                  </a:lnTo>
                  <a:lnTo>
                    <a:pt x="556864" y="795871"/>
                  </a:lnTo>
                  <a:lnTo>
                    <a:pt x="509207" y="785362"/>
                  </a:lnTo>
                  <a:lnTo>
                    <a:pt x="462674" y="773685"/>
                  </a:lnTo>
                  <a:lnTo>
                    <a:pt x="417382" y="760841"/>
                  </a:lnTo>
                  <a:lnTo>
                    <a:pt x="373450" y="746829"/>
                  </a:lnTo>
                  <a:lnTo>
                    <a:pt x="330997" y="731649"/>
                  </a:lnTo>
                  <a:lnTo>
                    <a:pt x="290140" y="715302"/>
                  </a:lnTo>
                  <a:lnTo>
                    <a:pt x="239785" y="692372"/>
                  </a:lnTo>
                  <a:lnTo>
                    <a:pt x="194226" y="668296"/>
                  </a:lnTo>
                  <a:lnTo>
                    <a:pt x="153462" y="643189"/>
                  </a:lnTo>
                  <a:lnTo>
                    <a:pt x="117494" y="617165"/>
                  </a:lnTo>
                  <a:lnTo>
                    <a:pt x="86322" y="590339"/>
                  </a:lnTo>
                  <a:lnTo>
                    <a:pt x="59946" y="562825"/>
                  </a:lnTo>
                  <a:lnTo>
                    <a:pt x="21580" y="506193"/>
                  </a:lnTo>
                  <a:lnTo>
                    <a:pt x="2397" y="448186"/>
                  </a:lnTo>
                  <a:lnTo>
                    <a:pt x="0" y="418953"/>
                  </a:lnTo>
                  <a:lnTo>
                    <a:pt x="2397" y="389721"/>
                  </a:lnTo>
                  <a:lnTo>
                    <a:pt x="21580" y="331713"/>
                  </a:lnTo>
                  <a:lnTo>
                    <a:pt x="59946" y="275082"/>
                  </a:lnTo>
                  <a:lnTo>
                    <a:pt x="86322" y="247568"/>
                  </a:lnTo>
                  <a:lnTo>
                    <a:pt x="117494" y="220742"/>
                  </a:lnTo>
                  <a:lnTo>
                    <a:pt x="153462" y="194718"/>
                  </a:lnTo>
                  <a:lnTo>
                    <a:pt x="194226" y="169610"/>
                  </a:lnTo>
                  <a:lnTo>
                    <a:pt x="239785" y="145535"/>
                  </a:lnTo>
                  <a:lnTo>
                    <a:pt x="290140" y="122605"/>
                  </a:lnTo>
                  <a:lnTo>
                    <a:pt x="330997" y="106258"/>
                  </a:lnTo>
                  <a:lnTo>
                    <a:pt x="373450" y="91078"/>
                  </a:lnTo>
                  <a:lnTo>
                    <a:pt x="417382" y="77066"/>
                  </a:lnTo>
                  <a:lnTo>
                    <a:pt x="462674" y="64221"/>
                  </a:lnTo>
                  <a:lnTo>
                    <a:pt x="509207" y="52545"/>
                  </a:lnTo>
                  <a:lnTo>
                    <a:pt x="556864" y="42036"/>
                  </a:lnTo>
                  <a:lnTo>
                    <a:pt x="605526" y="32694"/>
                  </a:lnTo>
                  <a:lnTo>
                    <a:pt x="655076" y="24521"/>
                  </a:lnTo>
                  <a:lnTo>
                    <a:pt x="705393" y="17515"/>
                  </a:lnTo>
                  <a:lnTo>
                    <a:pt x="756362" y="11676"/>
                  </a:lnTo>
                  <a:lnTo>
                    <a:pt x="807862" y="7006"/>
                  </a:lnTo>
                  <a:lnTo>
                    <a:pt x="859776" y="3503"/>
                  </a:lnTo>
                  <a:lnTo>
                    <a:pt x="911986" y="1167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167"/>
                  </a:lnTo>
                  <a:lnTo>
                    <a:pt x="1121418" y="3503"/>
                  </a:lnTo>
                  <a:lnTo>
                    <a:pt x="1173332" y="7006"/>
                  </a:lnTo>
                  <a:lnTo>
                    <a:pt x="1224832" y="11676"/>
                  </a:lnTo>
                  <a:lnTo>
                    <a:pt x="1275801" y="17515"/>
                  </a:lnTo>
                  <a:lnTo>
                    <a:pt x="1326119" y="24521"/>
                  </a:lnTo>
                  <a:lnTo>
                    <a:pt x="1375668" y="32694"/>
                  </a:lnTo>
                  <a:lnTo>
                    <a:pt x="1424330" y="42036"/>
                  </a:lnTo>
                  <a:lnTo>
                    <a:pt x="1471987" y="52545"/>
                  </a:lnTo>
                  <a:lnTo>
                    <a:pt x="1518521" y="64221"/>
                  </a:lnTo>
                  <a:lnTo>
                    <a:pt x="1563813" y="77066"/>
                  </a:lnTo>
                  <a:lnTo>
                    <a:pt x="1607744" y="91078"/>
                  </a:lnTo>
                  <a:lnTo>
                    <a:pt x="1650198" y="106258"/>
                  </a:lnTo>
                  <a:lnTo>
                    <a:pt x="1691055" y="122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42"/>
          <p:cNvSpPr txBox="1"/>
          <p:nvPr/>
        </p:nvSpPr>
        <p:spPr>
          <a:xfrm>
            <a:off x="7838996" y="1454679"/>
            <a:ext cx="110426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185" dirty="0">
                <a:latin typeface="Arial"/>
                <a:cs typeface="Arial"/>
              </a:rPr>
              <a:t>Excess  </a:t>
            </a:r>
            <a:r>
              <a:rPr sz="1800" spc="-150" dirty="0">
                <a:latin typeface="Arial"/>
                <a:cs typeface="Arial"/>
              </a:rPr>
              <a:t>baggage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fee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4" name="object 43"/>
          <p:cNvSpPr txBox="1"/>
          <p:nvPr/>
        </p:nvSpPr>
        <p:spPr>
          <a:xfrm>
            <a:off x="8143796" y="3512078"/>
            <a:ext cx="91630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95" dirty="0">
                <a:latin typeface="Arial"/>
                <a:cs typeface="Arial"/>
              </a:rPr>
              <a:t>Record  </a:t>
            </a:r>
            <a:r>
              <a:rPr sz="1800" spc="-114" dirty="0">
                <a:latin typeface="Arial"/>
                <a:cs typeface="Arial"/>
              </a:rPr>
              <a:t>p</a:t>
            </a:r>
            <a:r>
              <a:rPr sz="1800" spc="-12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  </a:t>
            </a:r>
            <a:r>
              <a:rPr sz="1800" spc="-35" dirty="0">
                <a:latin typeface="Arial"/>
                <a:cs typeface="Arial"/>
              </a:rPr>
              <a:t>info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5" name="object 44"/>
          <p:cNvGrpSpPr/>
          <p:nvPr/>
        </p:nvGrpSpPr>
        <p:grpSpPr>
          <a:xfrm>
            <a:off x="6723237" y="3340057"/>
            <a:ext cx="2908681" cy="1000125"/>
            <a:chOff x="5363781" y="3259137"/>
            <a:chExt cx="2908681" cy="1000125"/>
          </a:xfrm>
        </p:grpSpPr>
        <p:sp>
          <p:nvSpPr>
            <p:cNvPr id="136" name="object 45"/>
            <p:cNvSpPr/>
            <p:nvPr/>
          </p:nvSpPr>
          <p:spPr>
            <a:xfrm>
              <a:off x="6357937" y="3259137"/>
              <a:ext cx="1914525" cy="10001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46"/>
            <p:cNvSpPr/>
            <p:nvPr/>
          </p:nvSpPr>
          <p:spPr>
            <a:xfrm>
              <a:off x="6401407" y="3276783"/>
              <a:ext cx="1828164" cy="914400"/>
            </a:xfrm>
            <a:custGeom>
              <a:avLst/>
              <a:gdLst/>
              <a:ahLst/>
              <a:cxnLst/>
              <a:rect l="l" t="t" r="r" b="b"/>
              <a:pathLst>
                <a:path w="1828165" h="914400">
                  <a:moveTo>
                    <a:pt x="1560375" y="133727"/>
                  </a:moveTo>
                  <a:lnTo>
                    <a:pt x="1608958" y="159964"/>
                  </a:lnTo>
                  <a:lnTo>
                    <a:pt x="1652683" y="187567"/>
                  </a:lnTo>
                  <a:lnTo>
                    <a:pt x="1691549" y="216392"/>
                  </a:lnTo>
                  <a:lnTo>
                    <a:pt x="1725557" y="246295"/>
                  </a:lnTo>
                  <a:lnTo>
                    <a:pt x="1754707" y="277133"/>
                  </a:lnTo>
                  <a:lnTo>
                    <a:pt x="1778999" y="308760"/>
                  </a:lnTo>
                  <a:lnTo>
                    <a:pt x="1813007" y="373813"/>
                  </a:lnTo>
                  <a:lnTo>
                    <a:pt x="1827582" y="440303"/>
                  </a:lnTo>
                  <a:lnTo>
                    <a:pt x="1827582" y="473728"/>
                  </a:lnTo>
                  <a:lnTo>
                    <a:pt x="1813007" y="540218"/>
                  </a:lnTo>
                  <a:lnTo>
                    <a:pt x="1778999" y="605271"/>
                  </a:lnTo>
                  <a:lnTo>
                    <a:pt x="1754707" y="636899"/>
                  </a:lnTo>
                  <a:lnTo>
                    <a:pt x="1725557" y="667736"/>
                  </a:lnTo>
                  <a:lnTo>
                    <a:pt x="1691549" y="697639"/>
                  </a:lnTo>
                  <a:lnTo>
                    <a:pt x="1652683" y="726464"/>
                  </a:lnTo>
                  <a:lnTo>
                    <a:pt x="1608958" y="754067"/>
                  </a:lnTo>
                  <a:lnTo>
                    <a:pt x="1560375" y="780304"/>
                  </a:lnTo>
                  <a:lnTo>
                    <a:pt x="1519806" y="799408"/>
                  </a:lnTo>
                  <a:lnTo>
                    <a:pt x="1477547" y="817043"/>
                  </a:lnTo>
                  <a:lnTo>
                    <a:pt x="1433733" y="833207"/>
                  </a:lnTo>
                  <a:lnTo>
                    <a:pt x="1388498" y="847903"/>
                  </a:lnTo>
                  <a:lnTo>
                    <a:pt x="1341978" y="861129"/>
                  </a:lnTo>
                  <a:lnTo>
                    <a:pt x="1294309" y="872885"/>
                  </a:lnTo>
                  <a:lnTo>
                    <a:pt x="1245625" y="883172"/>
                  </a:lnTo>
                  <a:lnTo>
                    <a:pt x="1196061" y="891989"/>
                  </a:lnTo>
                  <a:lnTo>
                    <a:pt x="1145754" y="899336"/>
                  </a:lnTo>
                  <a:lnTo>
                    <a:pt x="1094839" y="905214"/>
                  </a:lnTo>
                  <a:lnTo>
                    <a:pt x="1043449" y="909623"/>
                  </a:lnTo>
                  <a:lnTo>
                    <a:pt x="991722" y="912562"/>
                  </a:lnTo>
                  <a:lnTo>
                    <a:pt x="939792" y="914032"/>
                  </a:lnTo>
                  <a:lnTo>
                    <a:pt x="887794" y="914032"/>
                  </a:lnTo>
                  <a:lnTo>
                    <a:pt x="835864" y="912562"/>
                  </a:lnTo>
                  <a:lnTo>
                    <a:pt x="784136" y="909623"/>
                  </a:lnTo>
                  <a:lnTo>
                    <a:pt x="732747" y="905214"/>
                  </a:lnTo>
                  <a:lnTo>
                    <a:pt x="681831" y="899336"/>
                  </a:lnTo>
                  <a:lnTo>
                    <a:pt x="631524" y="891989"/>
                  </a:lnTo>
                  <a:lnTo>
                    <a:pt x="581961" y="883172"/>
                  </a:lnTo>
                  <a:lnTo>
                    <a:pt x="533278" y="872885"/>
                  </a:lnTo>
                  <a:lnTo>
                    <a:pt x="485608" y="861129"/>
                  </a:lnTo>
                  <a:lnTo>
                    <a:pt x="439089" y="847903"/>
                  </a:lnTo>
                  <a:lnTo>
                    <a:pt x="393854" y="833207"/>
                  </a:lnTo>
                  <a:lnTo>
                    <a:pt x="350040" y="817043"/>
                  </a:lnTo>
                  <a:lnTo>
                    <a:pt x="307782" y="799408"/>
                  </a:lnTo>
                  <a:lnTo>
                    <a:pt x="267214" y="780304"/>
                  </a:lnTo>
                  <a:lnTo>
                    <a:pt x="218629" y="754067"/>
                  </a:lnTo>
                  <a:lnTo>
                    <a:pt x="174903" y="726464"/>
                  </a:lnTo>
                  <a:lnTo>
                    <a:pt x="136036" y="697639"/>
                  </a:lnTo>
                  <a:lnTo>
                    <a:pt x="102027" y="667736"/>
                  </a:lnTo>
                  <a:lnTo>
                    <a:pt x="72876" y="636899"/>
                  </a:lnTo>
                  <a:lnTo>
                    <a:pt x="48584" y="605271"/>
                  </a:lnTo>
                  <a:lnTo>
                    <a:pt x="14575" y="540218"/>
                  </a:lnTo>
                  <a:lnTo>
                    <a:pt x="0" y="473728"/>
                  </a:lnTo>
                  <a:lnTo>
                    <a:pt x="0" y="440303"/>
                  </a:lnTo>
                  <a:lnTo>
                    <a:pt x="4858" y="406950"/>
                  </a:lnTo>
                  <a:lnTo>
                    <a:pt x="29150" y="341035"/>
                  </a:lnTo>
                  <a:lnTo>
                    <a:pt x="72876" y="277133"/>
                  </a:lnTo>
                  <a:lnTo>
                    <a:pt x="102027" y="246295"/>
                  </a:lnTo>
                  <a:lnTo>
                    <a:pt x="136036" y="216392"/>
                  </a:lnTo>
                  <a:lnTo>
                    <a:pt x="174903" y="187567"/>
                  </a:lnTo>
                  <a:lnTo>
                    <a:pt x="218629" y="159964"/>
                  </a:lnTo>
                  <a:lnTo>
                    <a:pt x="267214" y="133727"/>
                  </a:lnTo>
                  <a:lnTo>
                    <a:pt x="307782" y="114623"/>
                  </a:lnTo>
                  <a:lnTo>
                    <a:pt x="350040" y="96989"/>
                  </a:lnTo>
                  <a:lnTo>
                    <a:pt x="393854" y="80824"/>
                  </a:lnTo>
                  <a:lnTo>
                    <a:pt x="439089" y="66128"/>
                  </a:lnTo>
                  <a:lnTo>
                    <a:pt x="485608" y="52903"/>
                  </a:lnTo>
                  <a:lnTo>
                    <a:pt x="533278" y="41146"/>
                  </a:lnTo>
                  <a:lnTo>
                    <a:pt x="581961" y="30860"/>
                  </a:lnTo>
                  <a:lnTo>
                    <a:pt x="631524" y="22042"/>
                  </a:lnTo>
                  <a:lnTo>
                    <a:pt x="681831" y="14695"/>
                  </a:lnTo>
                  <a:lnTo>
                    <a:pt x="732747" y="8817"/>
                  </a:lnTo>
                  <a:lnTo>
                    <a:pt x="784136" y="4408"/>
                  </a:lnTo>
                  <a:lnTo>
                    <a:pt x="835864" y="1469"/>
                  </a:lnTo>
                  <a:lnTo>
                    <a:pt x="887794" y="0"/>
                  </a:lnTo>
                  <a:lnTo>
                    <a:pt x="939792" y="0"/>
                  </a:lnTo>
                  <a:lnTo>
                    <a:pt x="991722" y="1469"/>
                  </a:lnTo>
                  <a:lnTo>
                    <a:pt x="1043449" y="4408"/>
                  </a:lnTo>
                  <a:lnTo>
                    <a:pt x="1094839" y="8817"/>
                  </a:lnTo>
                  <a:lnTo>
                    <a:pt x="1145754" y="14695"/>
                  </a:lnTo>
                  <a:lnTo>
                    <a:pt x="1196061" y="22042"/>
                  </a:lnTo>
                  <a:lnTo>
                    <a:pt x="1245625" y="30860"/>
                  </a:lnTo>
                  <a:lnTo>
                    <a:pt x="1294309" y="41146"/>
                  </a:lnTo>
                  <a:lnTo>
                    <a:pt x="1341978" y="52903"/>
                  </a:lnTo>
                  <a:lnTo>
                    <a:pt x="1388498" y="66128"/>
                  </a:lnTo>
                  <a:lnTo>
                    <a:pt x="1433733" y="80824"/>
                  </a:lnTo>
                  <a:lnTo>
                    <a:pt x="1477547" y="96989"/>
                  </a:lnTo>
                  <a:lnTo>
                    <a:pt x="1519806" y="114623"/>
                  </a:lnTo>
                  <a:lnTo>
                    <a:pt x="1560375" y="1337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47"/>
            <p:cNvSpPr/>
            <p:nvPr/>
          </p:nvSpPr>
          <p:spPr>
            <a:xfrm>
              <a:off x="5363781" y="3646650"/>
              <a:ext cx="1083440" cy="30129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48"/>
            <p:cNvSpPr/>
            <p:nvPr/>
          </p:nvSpPr>
          <p:spPr>
            <a:xfrm>
              <a:off x="5410200" y="3741787"/>
              <a:ext cx="887094" cy="68580"/>
            </a:xfrm>
            <a:custGeom>
              <a:avLst/>
              <a:gdLst/>
              <a:ahLst/>
              <a:cxnLst/>
              <a:rect l="l" t="t" r="r" b="b"/>
              <a:pathLst>
                <a:path w="887095" h="68579">
                  <a:moveTo>
                    <a:pt x="0" y="68212"/>
                  </a:moveTo>
                  <a:lnTo>
                    <a:pt x="874103" y="974"/>
                  </a:lnTo>
                  <a:lnTo>
                    <a:pt x="886765" y="0"/>
                  </a:lnTo>
                </a:path>
              </a:pathLst>
            </a:custGeom>
            <a:ln w="253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49"/>
            <p:cNvSpPr/>
            <p:nvPr/>
          </p:nvSpPr>
          <p:spPr>
            <a:xfrm>
              <a:off x="6279625" y="3681987"/>
              <a:ext cx="106045" cy="121920"/>
            </a:xfrm>
            <a:custGeom>
              <a:avLst/>
              <a:gdLst/>
              <a:ahLst/>
              <a:cxnLst/>
              <a:rect l="l" t="t" r="r" b="b"/>
              <a:pathLst>
                <a:path w="106045" h="121920">
                  <a:moveTo>
                    <a:pt x="9350" y="121561"/>
                  </a:moveTo>
                  <a:lnTo>
                    <a:pt x="105976" y="52988"/>
                  </a:lnTo>
                  <a:lnTo>
                    <a:pt x="0" y="0"/>
                  </a:lnTo>
                </a:path>
                <a:path w="106045" h="121920">
                  <a:moveTo>
                    <a:pt x="4675" y="60780"/>
                  </a:moveTo>
                  <a:lnTo>
                    <a:pt x="105976" y="529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50"/>
          <p:cNvSpPr txBox="1"/>
          <p:nvPr/>
        </p:nvSpPr>
        <p:spPr>
          <a:xfrm>
            <a:off x="6391196" y="18356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51"/>
          <p:cNvSpPr txBox="1"/>
          <p:nvPr/>
        </p:nvSpPr>
        <p:spPr>
          <a:xfrm>
            <a:off x="7153196" y="22928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52"/>
          <p:cNvSpPr txBox="1"/>
          <p:nvPr/>
        </p:nvSpPr>
        <p:spPr>
          <a:xfrm>
            <a:off x="6695996" y="34358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4" name="object 53"/>
          <p:cNvGrpSpPr/>
          <p:nvPr/>
        </p:nvGrpSpPr>
        <p:grpSpPr>
          <a:xfrm>
            <a:off x="7112556" y="4635457"/>
            <a:ext cx="2900680" cy="1000125"/>
            <a:chOff x="5753100" y="4554537"/>
            <a:chExt cx="2900680" cy="1000125"/>
          </a:xfrm>
        </p:grpSpPr>
        <p:sp>
          <p:nvSpPr>
            <p:cNvPr id="145" name="object 54"/>
            <p:cNvSpPr/>
            <p:nvPr/>
          </p:nvSpPr>
          <p:spPr>
            <a:xfrm>
              <a:off x="6738937" y="4554537"/>
              <a:ext cx="1914525" cy="10001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55"/>
            <p:cNvSpPr/>
            <p:nvPr/>
          </p:nvSpPr>
          <p:spPr>
            <a:xfrm>
              <a:off x="6782407" y="4572183"/>
              <a:ext cx="1828164" cy="914400"/>
            </a:xfrm>
            <a:custGeom>
              <a:avLst/>
              <a:gdLst/>
              <a:ahLst/>
              <a:cxnLst/>
              <a:rect l="l" t="t" r="r" b="b"/>
              <a:pathLst>
                <a:path w="1828165" h="914400">
                  <a:moveTo>
                    <a:pt x="1560375" y="133727"/>
                  </a:moveTo>
                  <a:lnTo>
                    <a:pt x="1608958" y="159964"/>
                  </a:lnTo>
                  <a:lnTo>
                    <a:pt x="1652683" y="187567"/>
                  </a:lnTo>
                  <a:lnTo>
                    <a:pt x="1691549" y="216392"/>
                  </a:lnTo>
                  <a:lnTo>
                    <a:pt x="1725557" y="246295"/>
                  </a:lnTo>
                  <a:lnTo>
                    <a:pt x="1754707" y="277133"/>
                  </a:lnTo>
                  <a:lnTo>
                    <a:pt x="1778999" y="308760"/>
                  </a:lnTo>
                  <a:lnTo>
                    <a:pt x="1813007" y="373813"/>
                  </a:lnTo>
                  <a:lnTo>
                    <a:pt x="1827582" y="440303"/>
                  </a:lnTo>
                  <a:lnTo>
                    <a:pt x="1827582" y="473728"/>
                  </a:lnTo>
                  <a:lnTo>
                    <a:pt x="1813007" y="540218"/>
                  </a:lnTo>
                  <a:lnTo>
                    <a:pt x="1778999" y="605271"/>
                  </a:lnTo>
                  <a:lnTo>
                    <a:pt x="1754707" y="636899"/>
                  </a:lnTo>
                  <a:lnTo>
                    <a:pt x="1725557" y="667736"/>
                  </a:lnTo>
                  <a:lnTo>
                    <a:pt x="1691549" y="697639"/>
                  </a:lnTo>
                  <a:lnTo>
                    <a:pt x="1652683" y="726464"/>
                  </a:lnTo>
                  <a:lnTo>
                    <a:pt x="1608958" y="754067"/>
                  </a:lnTo>
                  <a:lnTo>
                    <a:pt x="1560375" y="780304"/>
                  </a:lnTo>
                  <a:lnTo>
                    <a:pt x="1519806" y="799408"/>
                  </a:lnTo>
                  <a:lnTo>
                    <a:pt x="1477547" y="817043"/>
                  </a:lnTo>
                  <a:lnTo>
                    <a:pt x="1433733" y="833207"/>
                  </a:lnTo>
                  <a:lnTo>
                    <a:pt x="1388498" y="847903"/>
                  </a:lnTo>
                  <a:lnTo>
                    <a:pt x="1341978" y="861129"/>
                  </a:lnTo>
                  <a:lnTo>
                    <a:pt x="1294309" y="872885"/>
                  </a:lnTo>
                  <a:lnTo>
                    <a:pt x="1245625" y="883172"/>
                  </a:lnTo>
                  <a:lnTo>
                    <a:pt x="1196061" y="891989"/>
                  </a:lnTo>
                  <a:lnTo>
                    <a:pt x="1145754" y="899336"/>
                  </a:lnTo>
                  <a:lnTo>
                    <a:pt x="1094839" y="905214"/>
                  </a:lnTo>
                  <a:lnTo>
                    <a:pt x="1043449" y="909623"/>
                  </a:lnTo>
                  <a:lnTo>
                    <a:pt x="991722" y="912562"/>
                  </a:lnTo>
                  <a:lnTo>
                    <a:pt x="939792" y="914032"/>
                  </a:lnTo>
                  <a:lnTo>
                    <a:pt x="887794" y="914032"/>
                  </a:lnTo>
                  <a:lnTo>
                    <a:pt x="835864" y="912562"/>
                  </a:lnTo>
                  <a:lnTo>
                    <a:pt x="784136" y="909623"/>
                  </a:lnTo>
                  <a:lnTo>
                    <a:pt x="732747" y="905214"/>
                  </a:lnTo>
                  <a:lnTo>
                    <a:pt x="681831" y="899336"/>
                  </a:lnTo>
                  <a:lnTo>
                    <a:pt x="631524" y="891989"/>
                  </a:lnTo>
                  <a:lnTo>
                    <a:pt x="581961" y="883172"/>
                  </a:lnTo>
                  <a:lnTo>
                    <a:pt x="533278" y="872885"/>
                  </a:lnTo>
                  <a:lnTo>
                    <a:pt x="485608" y="861129"/>
                  </a:lnTo>
                  <a:lnTo>
                    <a:pt x="439089" y="847903"/>
                  </a:lnTo>
                  <a:lnTo>
                    <a:pt x="393854" y="833207"/>
                  </a:lnTo>
                  <a:lnTo>
                    <a:pt x="350040" y="817043"/>
                  </a:lnTo>
                  <a:lnTo>
                    <a:pt x="307782" y="799408"/>
                  </a:lnTo>
                  <a:lnTo>
                    <a:pt x="267214" y="780304"/>
                  </a:lnTo>
                  <a:lnTo>
                    <a:pt x="218629" y="754067"/>
                  </a:lnTo>
                  <a:lnTo>
                    <a:pt x="174903" y="726464"/>
                  </a:lnTo>
                  <a:lnTo>
                    <a:pt x="136036" y="697639"/>
                  </a:lnTo>
                  <a:lnTo>
                    <a:pt x="102027" y="667736"/>
                  </a:lnTo>
                  <a:lnTo>
                    <a:pt x="72876" y="636899"/>
                  </a:lnTo>
                  <a:lnTo>
                    <a:pt x="48584" y="605271"/>
                  </a:lnTo>
                  <a:lnTo>
                    <a:pt x="14575" y="540218"/>
                  </a:lnTo>
                  <a:lnTo>
                    <a:pt x="0" y="473728"/>
                  </a:lnTo>
                  <a:lnTo>
                    <a:pt x="0" y="440303"/>
                  </a:lnTo>
                  <a:lnTo>
                    <a:pt x="4858" y="406950"/>
                  </a:lnTo>
                  <a:lnTo>
                    <a:pt x="29150" y="341035"/>
                  </a:lnTo>
                  <a:lnTo>
                    <a:pt x="72876" y="277133"/>
                  </a:lnTo>
                  <a:lnTo>
                    <a:pt x="102027" y="246295"/>
                  </a:lnTo>
                  <a:lnTo>
                    <a:pt x="136036" y="216392"/>
                  </a:lnTo>
                  <a:lnTo>
                    <a:pt x="174903" y="187567"/>
                  </a:lnTo>
                  <a:lnTo>
                    <a:pt x="218629" y="159964"/>
                  </a:lnTo>
                  <a:lnTo>
                    <a:pt x="267214" y="133727"/>
                  </a:lnTo>
                  <a:lnTo>
                    <a:pt x="307782" y="114623"/>
                  </a:lnTo>
                  <a:lnTo>
                    <a:pt x="350040" y="96989"/>
                  </a:lnTo>
                  <a:lnTo>
                    <a:pt x="393854" y="80824"/>
                  </a:lnTo>
                  <a:lnTo>
                    <a:pt x="439089" y="66128"/>
                  </a:lnTo>
                  <a:lnTo>
                    <a:pt x="485608" y="52903"/>
                  </a:lnTo>
                  <a:lnTo>
                    <a:pt x="533278" y="41146"/>
                  </a:lnTo>
                  <a:lnTo>
                    <a:pt x="581961" y="30860"/>
                  </a:lnTo>
                  <a:lnTo>
                    <a:pt x="631524" y="22042"/>
                  </a:lnTo>
                  <a:lnTo>
                    <a:pt x="681831" y="14695"/>
                  </a:lnTo>
                  <a:lnTo>
                    <a:pt x="732747" y="8817"/>
                  </a:lnTo>
                  <a:lnTo>
                    <a:pt x="784136" y="4408"/>
                  </a:lnTo>
                  <a:lnTo>
                    <a:pt x="835864" y="1469"/>
                  </a:lnTo>
                  <a:lnTo>
                    <a:pt x="887794" y="0"/>
                  </a:lnTo>
                  <a:lnTo>
                    <a:pt x="939792" y="0"/>
                  </a:lnTo>
                  <a:lnTo>
                    <a:pt x="991722" y="1469"/>
                  </a:lnTo>
                  <a:lnTo>
                    <a:pt x="1043449" y="4408"/>
                  </a:lnTo>
                  <a:lnTo>
                    <a:pt x="1094839" y="8817"/>
                  </a:lnTo>
                  <a:lnTo>
                    <a:pt x="1145754" y="14695"/>
                  </a:lnTo>
                  <a:lnTo>
                    <a:pt x="1196061" y="22042"/>
                  </a:lnTo>
                  <a:lnTo>
                    <a:pt x="1245625" y="30860"/>
                  </a:lnTo>
                  <a:lnTo>
                    <a:pt x="1294309" y="41146"/>
                  </a:lnTo>
                  <a:lnTo>
                    <a:pt x="1341978" y="52903"/>
                  </a:lnTo>
                  <a:lnTo>
                    <a:pt x="1388498" y="66128"/>
                  </a:lnTo>
                  <a:lnTo>
                    <a:pt x="1433733" y="80824"/>
                  </a:lnTo>
                  <a:lnTo>
                    <a:pt x="1477547" y="96989"/>
                  </a:lnTo>
                  <a:lnTo>
                    <a:pt x="1519806" y="114623"/>
                  </a:lnTo>
                  <a:lnTo>
                    <a:pt x="1560375" y="1337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56"/>
            <p:cNvSpPr/>
            <p:nvPr/>
          </p:nvSpPr>
          <p:spPr>
            <a:xfrm>
              <a:off x="5753100" y="4868456"/>
              <a:ext cx="1066800" cy="2199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57"/>
            <p:cNvSpPr/>
            <p:nvPr/>
          </p:nvSpPr>
          <p:spPr>
            <a:xfrm>
              <a:off x="5791200" y="4953000"/>
              <a:ext cx="886460" cy="0"/>
            </a:xfrm>
            <a:custGeom>
              <a:avLst/>
              <a:gdLst/>
              <a:ahLst/>
              <a:cxnLst/>
              <a:rect l="l" t="t" r="r" b="b"/>
              <a:pathLst>
                <a:path w="886459">
                  <a:moveTo>
                    <a:pt x="0" y="0"/>
                  </a:moveTo>
                  <a:lnTo>
                    <a:pt x="873760" y="0"/>
                  </a:lnTo>
                  <a:lnTo>
                    <a:pt x="886460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58"/>
            <p:cNvSpPr/>
            <p:nvPr/>
          </p:nvSpPr>
          <p:spPr>
            <a:xfrm>
              <a:off x="6664960" y="4892040"/>
              <a:ext cx="101600" cy="121920"/>
            </a:xfrm>
            <a:custGeom>
              <a:avLst/>
              <a:gdLst/>
              <a:ahLst/>
              <a:cxnLst/>
              <a:rect l="l" t="t" r="r" b="b"/>
              <a:pathLst>
                <a:path w="101600" h="121920">
                  <a:moveTo>
                    <a:pt x="0" y="121920"/>
                  </a:moveTo>
                  <a:lnTo>
                    <a:pt x="101600" y="60960"/>
                  </a:lnTo>
                  <a:lnTo>
                    <a:pt x="0" y="0"/>
                  </a:lnTo>
                </a:path>
                <a:path w="101600" h="121920">
                  <a:moveTo>
                    <a:pt x="0" y="60960"/>
                  </a:moveTo>
                  <a:lnTo>
                    <a:pt x="101600" y="6096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59"/>
          <p:cNvSpPr txBox="1"/>
          <p:nvPr/>
        </p:nvSpPr>
        <p:spPr>
          <a:xfrm>
            <a:off x="7229396" y="4655078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1" name="object 60"/>
          <p:cNvSpPr txBox="1"/>
          <p:nvPr/>
        </p:nvSpPr>
        <p:spPr>
          <a:xfrm>
            <a:off x="2581195" y="5417078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Ticket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clerk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2" name="object 61"/>
          <p:cNvGrpSpPr/>
          <p:nvPr/>
        </p:nvGrpSpPr>
        <p:grpSpPr>
          <a:xfrm>
            <a:off x="8098393" y="5778457"/>
            <a:ext cx="1914525" cy="771525"/>
            <a:chOff x="6738937" y="5697537"/>
            <a:chExt cx="1914525" cy="771525"/>
          </a:xfrm>
        </p:grpSpPr>
        <p:sp>
          <p:nvSpPr>
            <p:cNvPr id="153" name="object 62"/>
            <p:cNvSpPr/>
            <p:nvPr/>
          </p:nvSpPr>
          <p:spPr>
            <a:xfrm>
              <a:off x="6738937" y="5697537"/>
              <a:ext cx="1914525" cy="77152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63"/>
            <p:cNvSpPr/>
            <p:nvPr/>
          </p:nvSpPr>
          <p:spPr>
            <a:xfrm>
              <a:off x="6782541" y="5715000"/>
              <a:ext cx="1827530" cy="685800"/>
            </a:xfrm>
            <a:custGeom>
              <a:avLst/>
              <a:gdLst/>
              <a:ahLst/>
              <a:cxnLst/>
              <a:rect l="l" t="t" r="r" b="b"/>
              <a:pathLst>
                <a:path w="1827529" h="685800">
                  <a:moveTo>
                    <a:pt x="1560240" y="100433"/>
                  </a:moveTo>
                  <a:lnTo>
                    <a:pt x="1613655" y="122244"/>
                  </a:lnTo>
                  <a:lnTo>
                    <a:pt x="1661134" y="145292"/>
                  </a:lnTo>
                  <a:lnTo>
                    <a:pt x="1702679" y="169432"/>
                  </a:lnTo>
                  <a:lnTo>
                    <a:pt x="1738288" y="194518"/>
                  </a:lnTo>
                  <a:lnTo>
                    <a:pt x="1767963" y="220405"/>
                  </a:lnTo>
                  <a:lnTo>
                    <a:pt x="1809508" y="273998"/>
                  </a:lnTo>
                  <a:lnTo>
                    <a:pt x="1827313" y="329046"/>
                  </a:lnTo>
                  <a:lnTo>
                    <a:pt x="1827313" y="356753"/>
                  </a:lnTo>
                  <a:lnTo>
                    <a:pt x="1809508" y="411801"/>
                  </a:lnTo>
                  <a:lnTo>
                    <a:pt x="1767963" y="465394"/>
                  </a:lnTo>
                  <a:lnTo>
                    <a:pt x="1738288" y="491281"/>
                  </a:lnTo>
                  <a:lnTo>
                    <a:pt x="1702679" y="516367"/>
                  </a:lnTo>
                  <a:lnTo>
                    <a:pt x="1661134" y="540507"/>
                  </a:lnTo>
                  <a:lnTo>
                    <a:pt x="1613655" y="563556"/>
                  </a:lnTo>
                  <a:lnTo>
                    <a:pt x="1560240" y="585367"/>
                  </a:lnTo>
                  <a:lnTo>
                    <a:pt x="1518077" y="600224"/>
                  </a:lnTo>
                  <a:lnTo>
                    <a:pt x="1474096" y="613892"/>
                  </a:lnTo>
                  <a:lnTo>
                    <a:pt x="1428449" y="626372"/>
                  </a:lnTo>
                  <a:lnTo>
                    <a:pt x="1381287" y="637663"/>
                  </a:lnTo>
                  <a:lnTo>
                    <a:pt x="1332762" y="647766"/>
                  </a:lnTo>
                  <a:lnTo>
                    <a:pt x="1283024" y="656680"/>
                  </a:lnTo>
                  <a:lnTo>
                    <a:pt x="1232227" y="664405"/>
                  </a:lnTo>
                  <a:lnTo>
                    <a:pt x="1180521" y="670942"/>
                  </a:lnTo>
                  <a:lnTo>
                    <a:pt x="1128057" y="676291"/>
                  </a:lnTo>
                  <a:lnTo>
                    <a:pt x="1074987" y="680451"/>
                  </a:lnTo>
                  <a:lnTo>
                    <a:pt x="1021463" y="683422"/>
                  </a:lnTo>
                  <a:lnTo>
                    <a:pt x="967637" y="685205"/>
                  </a:lnTo>
                  <a:lnTo>
                    <a:pt x="913658" y="685799"/>
                  </a:lnTo>
                  <a:lnTo>
                    <a:pt x="859680" y="685205"/>
                  </a:lnTo>
                  <a:lnTo>
                    <a:pt x="805853" y="683422"/>
                  </a:lnTo>
                  <a:lnTo>
                    <a:pt x="752329" y="680451"/>
                  </a:lnTo>
                  <a:lnTo>
                    <a:pt x="699260" y="676291"/>
                  </a:lnTo>
                  <a:lnTo>
                    <a:pt x="646796" y="670942"/>
                  </a:lnTo>
                  <a:lnTo>
                    <a:pt x="595090" y="664405"/>
                  </a:lnTo>
                  <a:lnTo>
                    <a:pt x="544293" y="656680"/>
                  </a:lnTo>
                  <a:lnTo>
                    <a:pt x="494556" y="647766"/>
                  </a:lnTo>
                  <a:lnTo>
                    <a:pt x="446031" y="637663"/>
                  </a:lnTo>
                  <a:lnTo>
                    <a:pt x="398869" y="626372"/>
                  </a:lnTo>
                  <a:lnTo>
                    <a:pt x="353222" y="613892"/>
                  </a:lnTo>
                  <a:lnTo>
                    <a:pt x="309242" y="600224"/>
                  </a:lnTo>
                  <a:lnTo>
                    <a:pt x="267079" y="585367"/>
                  </a:lnTo>
                  <a:lnTo>
                    <a:pt x="213663" y="563556"/>
                  </a:lnTo>
                  <a:lnTo>
                    <a:pt x="166182" y="540507"/>
                  </a:lnTo>
                  <a:lnTo>
                    <a:pt x="124637" y="516367"/>
                  </a:lnTo>
                  <a:lnTo>
                    <a:pt x="89026" y="491281"/>
                  </a:lnTo>
                  <a:lnTo>
                    <a:pt x="59351" y="465394"/>
                  </a:lnTo>
                  <a:lnTo>
                    <a:pt x="17805" y="411801"/>
                  </a:lnTo>
                  <a:lnTo>
                    <a:pt x="0" y="356753"/>
                  </a:lnTo>
                  <a:lnTo>
                    <a:pt x="0" y="329046"/>
                  </a:lnTo>
                  <a:lnTo>
                    <a:pt x="5935" y="301413"/>
                  </a:lnTo>
                  <a:lnTo>
                    <a:pt x="35610" y="246947"/>
                  </a:lnTo>
                  <a:lnTo>
                    <a:pt x="89026" y="194518"/>
                  </a:lnTo>
                  <a:lnTo>
                    <a:pt x="124637" y="169432"/>
                  </a:lnTo>
                  <a:lnTo>
                    <a:pt x="166182" y="145292"/>
                  </a:lnTo>
                  <a:lnTo>
                    <a:pt x="213663" y="122244"/>
                  </a:lnTo>
                  <a:lnTo>
                    <a:pt x="267079" y="100433"/>
                  </a:lnTo>
                  <a:lnTo>
                    <a:pt x="309242" y="85576"/>
                  </a:lnTo>
                  <a:lnTo>
                    <a:pt x="353222" y="71907"/>
                  </a:lnTo>
                  <a:lnTo>
                    <a:pt x="398869" y="59427"/>
                  </a:lnTo>
                  <a:lnTo>
                    <a:pt x="446031" y="48136"/>
                  </a:lnTo>
                  <a:lnTo>
                    <a:pt x="494556" y="38033"/>
                  </a:lnTo>
                  <a:lnTo>
                    <a:pt x="544293" y="29119"/>
                  </a:lnTo>
                  <a:lnTo>
                    <a:pt x="595090" y="21394"/>
                  </a:lnTo>
                  <a:lnTo>
                    <a:pt x="646796" y="14856"/>
                  </a:lnTo>
                  <a:lnTo>
                    <a:pt x="699260" y="9508"/>
                  </a:lnTo>
                  <a:lnTo>
                    <a:pt x="752329" y="5348"/>
                  </a:lnTo>
                  <a:lnTo>
                    <a:pt x="805853" y="2377"/>
                  </a:lnTo>
                  <a:lnTo>
                    <a:pt x="859680" y="594"/>
                  </a:lnTo>
                  <a:lnTo>
                    <a:pt x="913658" y="0"/>
                  </a:lnTo>
                  <a:lnTo>
                    <a:pt x="967637" y="594"/>
                  </a:lnTo>
                  <a:lnTo>
                    <a:pt x="1021463" y="2377"/>
                  </a:lnTo>
                  <a:lnTo>
                    <a:pt x="1074987" y="5348"/>
                  </a:lnTo>
                  <a:lnTo>
                    <a:pt x="1128057" y="9508"/>
                  </a:lnTo>
                  <a:lnTo>
                    <a:pt x="1180521" y="14856"/>
                  </a:lnTo>
                  <a:lnTo>
                    <a:pt x="1232227" y="21394"/>
                  </a:lnTo>
                  <a:lnTo>
                    <a:pt x="1283024" y="29119"/>
                  </a:lnTo>
                  <a:lnTo>
                    <a:pt x="1332762" y="38033"/>
                  </a:lnTo>
                  <a:lnTo>
                    <a:pt x="1381287" y="48136"/>
                  </a:lnTo>
                  <a:lnTo>
                    <a:pt x="1428449" y="59427"/>
                  </a:lnTo>
                  <a:lnTo>
                    <a:pt x="1474096" y="71907"/>
                  </a:lnTo>
                  <a:lnTo>
                    <a:pt x="1518077" y="85576"/>
                  </a:lnTo>
                  <a:lnTo>
                    <a:pt x="1560240" y="1004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64"/>
          <p:cNvSpPr txBox="1"/>
          <p:nvPr/>
        </p:nvSpPr>
        <p:spPr>
          <a:xfrm>
            <a:off x="8720405" y="4691020"/>
            <a:ext cx="1189990" cy="80791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278765">
              <a:lnSpc>
                <a:spcPts val="2000"/>
              </a:lnSpc>
              <a:spcBef>
                <a:spcPts val="300"/>
              </a:spcBef>
            </a:pPr>
            <a:r>
              <a:rPr sz="1800" spc="-90" dirty="0">
                <a:latin typeface="Arial"/>
                <a:cs typeface="Arial"/>
              </a:rPr>
              <a:t>Delete  </a:t>
            </a:r>
            <a:r>
              <a:rPr sz="1800" spc="-114" dirty="0">
                <a:latin typeface="Arial"/>
                <a:cs typeface="Arial"/>
              </a:rPr>
              <a:t>p</a:t>
            </a:r>
            <a:r>
              <a:rPr sz="1800" spc="-12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  </a:t>
            </a:r>
            <a:r>
              <a:rPr sz="1800" spc="-35" dirty="0">
                <a:latin typeface="Arial"/>
                <a:cs typeface="Arial"/>
              </a:rPr>
              <a:t>info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56" name="object 65"/>
          <p:cNvGrpSpPr/>
          <p:nvPr/>
        </p:nvGrpSpPr>
        <p:grpSpPr>
          <a:xfrm>
            <a:off x="7013686" y="5148229"/>
            <a:ext cx="1264920" cy="965200"/>
            <a:chOff x="5654230" y="5067309"/>
            <a:chExt cx="1264920" cy="965200"/>
          </a:xfrm>
        </p:grpSpPr>
        <p:sp>
          <p:nvSpPr>
            <p:cNvPr id="157" name="object 66"/>
            <p:cNvSpPr/>
            <p:nvPr/>
          </p:nvSpPr>
          <p:spPr>
            <a:xfrm>
              <a:off x="5654230" y="5067309"/>
              <a:ext cx="1264530" cy="96519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67"/>
            <p:cNvSpPr/>
            <p:nvPr/>
          </p:nvSpPr>
          <p:spPr>
            <a:xfrm>
              <a:off x="5714999" y="5105400"/>
              <a:ext cx="1143000" cy="838200"/>
            </a:xfrm>
            <a:custGeom>
              <a:avLst/>
              <a:gdLst/>
              <a:ahLst/>
              <a:cxnLst/>
              <a:rect l="l" t="t" r="r" b="b"/>
              <a:pathLst>
                <a:path w="1143000" h="838200">
                  <a:moveTo>
                    <a:pt x="0" y="0"/>
                  </a:moveTo>
                  <a:lnTo>
                    <a:pt x="1142995" y="838197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68"/>
          <p:cNvSpPr txBox="1"/>
          <p:nvPr/>
        </p:nvSpPr>
        <p:spPr>
          <a:xfrm rot="2340000">
            <a:off x="7374524" y="5420476"/>
            <a:ext cx="100982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2700" spc="-82" baseline="1543" dirty="0">
                <a:latin typeface="Arial"/>
                <a:cs typeface="Arial"/>
              </a:rPr>
              <a:t>&lt;&lt;us</a:t>
            </a:r>
            <a:r>
              <a:rPr sz="1800" spc="-55" dirty="0">
                <a:latin typeface="Arial"/>
                <a:cs typeface="Arial"/>
              </a:rPr>
              <a:t>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64"/>
          <p:cNvSpPr txBox="1"/>
          <p:nvPr/>
        </p:nvSpPr>
        <p:spPr>
          <a:xfrm>
            <a:off x="8528876" y="5863103"/>
            <a:ext cx="1189990" cy="55143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1200"/>
              </a:spcBef>
            </a:pPr>
            <a:r>
              <a:rPr sz="1800" spc="-70" dirty="0">
                <a:latin typeface="Arial"/>
                <a:cs typeface="Arial"/>
              </a:rPr>
              <a:t>Update  </a:t>
            </a:r>
            <a:r>
              <a:rPr sz="1800" spc="-120" dirty="0">
                <a:latin typeface="Arial"/>
                <a:cs typeface="Arial"/>
              </a:rPr>
              <a:t>seating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chart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019617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/>
              <a:t> 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675" y="1098494"/>
            <a:ext cx="5586201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Bank Use Case Diagrams</a:t>
            </a:r>
          </a:p>
        </p:txBody>
      </p:sp>
      <p:pic>
        <p:nvPicPr>
          <p:cNvPr id="12294" name="Picture 5" descr="UseCase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2057400"/>
            <a:ext cx="2971800" cy="2228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5" name="Picture 7" descr="Usecas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6" y="1981201"/>
            <a:ext cx="52292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015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se case generalisation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986" y="2296452"/>
            <a:ext cx="7446546" cy="251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5078389" y="1751022"/>
            <a:ext cx="3936131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/>
              <a:t>Generalization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1157613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researchgate.net/profile/Narasimha-Bolloju/publication/303292498/figure/fig3/AS:670021739106320@1536757039595/Example-of-an-enhanced-use-case-diagram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416" y="751264"/>
            <a:ext cx="5274634" cy="589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0722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.stack.imgur.com/3bbk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267" y="802503"/>
            <a:ext cx="8587869" cy="575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5292" y="1784294"/>
            <a:ext cx="18325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&lt;&lt;extends&gt;&gt;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Generalize</a:t>
            </a:r>
          </a:p>
        </p:txBody>
      </p:sp>
      <p:sp>
        <p:nvSpPr>
          <p:cNvPr id="3" name="Oval 2"/>
          <p:cNvSpPr/>
          <p:nvPr/>
        </p:nvSpPr>
        <p:spPr>
          <a:xfrm>
            <a:off x="6862046" y="3261090"/>
            <a:ext cx="360096" cy="2913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45625" y="3426302"/>
            <a:ext cx="325030" cy="2522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9" idx="1"/>
          </p:cNvCxnSpPr>
          <p:nvPr/>
        </p:nvCxnSpPr>
        <p:spPr>
          <a:xfrm flipH="1">
            <a:off x="9006436" y="2553554"/>
            <a:ext cx="888480" cy="8727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894916" y="2230388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Or how does an isolates </a:t>
            </a:r>
            <a:br>
              <a:rPr lang="en-US" sz="1200" b="1" dirty="0">
                <a:solidFill>
                  <a:srgbClr val="FF0000"/>
                </a:solidFill>
              </a:rPr>
            </a:br>
            <a:r>
              <a:rPr lang="en-US" sz="1200" b="1" dirty="0">
                <a:solidFill>
                  <a:srgbClr val="FF0000"/>
                </a:solidFill>
              </a:rPr>
              <a:t>use case call some other </a:t>
            </a:r>
            <a:br>
              <a:rPr lang="en-US" sz="1200" b="1" dirty="0">
                <a:solidFill>
                  <a:srgbClr val="FF0000"/>
                </a:solidFill>
              </a:rPr>
            </a:br>
            <a:r>
              <a:rPr lang="en-US" sz="1200" b="1" dirty="0">
                <a:solidFill>
                  <a:srgbClr val="FF0000"/>
                </a:solidFill>
              </a:rPr>
              <a:t>use case?!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8893" y="1191512"/>
            <a:ext cx="324640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Probably a polymorph approach</a:t>
            </a:r>
          </a:p>
          <a:p>
            <a:pPr algn="ctr"/>
            <a:r>
              <a:rPr lang="en-US" sz="1050" dirty="0"/>
              <a:t>At runtime it will be decided which withdraw is used</a:t>
            </a:r>
          </a:p>
        </p:txBody>
      </p:sp>
    </p:spTree>
    <p:extLst>
      <p:ext uri="{BB962C8B-B14F-4D97-AF65-F5344CB8AC3E}">
        <p14:creationId xmlns:p14="http://schemas.microsoft.com/office/powerpoint/2010/main" val="16183852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000" dirty="0"/>
              <a:t>The overall structure is shown in a</a:t>
            </a:r>
            <a:br>
              <a:rPr lang="en-US" sz="4000" dirty="0"/>
            </a:br>
            <a:r>
              <a:rPr lang="en-US" dirty="0"/>
              <a:t>Class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3445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020910" y="1212276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92D050"/>
                </a:solidFill>
                <a:cs typeface="Times New Roman" panose="02020603050405020304" pitchFamily="18" charset="0"/>
              </a:rPr>
              <a:t>Decompose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complex systems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Add implementation 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constrains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Create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more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UML diagrams: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State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Class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Sequence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895025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602897" y="1124119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3200" b="1" dirty="0">
                <a:solidFill>
                  <a:srgbClr val="800000"/>
                </a:solidFill>
                <a:cs typeface="Times New Roman" panose="02020603050405020304" pitchFamily="18" charset="0"/>
              </a:rPr>
              <a:t>Steps: </a:t>
            </a:r>
          </a:p>
          <a:p>
            <a:pPr lvl="1" algn="just"/>
            <a:endParaRPr lang="en-US" altLang="en-US" sz="2800" b="1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Check your use cases …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Create class diagram …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Think about technical details …</a:t>
            </a:r>
          </a:p>
        </p:txBody>
      </p:sp>
    </p:spTree>
    <p:extLst>
      <p:ext uri="{BB962C8B-B14F-4D97-AF65-F5344CB8AC3E}">
        <p14:creationId xmlns:p14="http://schemas.microsoft.com/office/powerpoint/2010/main" val="266195287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52576" y="925333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r>
              <a:rPr lang="en-US" altLang="en-US" dirty="0"/>
              <a:t>Class diagram (Visio)</a:t>
            </a:r>
            <a:endParaRPr lang="en-US" altLang="en-US" b="1" dirty="0"/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90D5E-F97C-AF83-7740-9AB40997F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50" y="1773551"/>
            <a:ext cx="7172325" cy="266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1A779-22A7-2761-92CB-ACC0D6CE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25" y="4508500"/>
            <a:ext cx="2708574" cy="13833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9AF35-0B62-87FE-F400-AE0642EBEB9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108390" y="4192250"/>
            <a:ext cx="735136" cy="1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FE668-C0B0-BEDB-2C8C-BEE89F5D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117" y="4731256"/>
            <a:ext cx="2225110" cy="125767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EF577-008C-F6E6-B8DA-165CD936CED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56672" y="4192250"/>
            <a:ext cx="0" cy="539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00D8E-90EE-8DFF-ABBC-9938FB864B5B}"/>
              </a:ext>
            </a:extLst>
          </p:cNvPr>
          <p:cNvCxnSpPr>
            <a:cxnSpLocks/>
          </p:cNvCxnSpPr>
          <p:nvPr/>
        </p:nvCxnSpPr>
        <p:spPr>
          <a:xfrm flipH="1" flipV="1">
            <a:off x="5843526" y="3583653"/>
            <a:ext cx="2225171" cy="93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CCC9E59-D5EB-090F-14F2-AC0F22FD4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603" y="4513680"/>
            <a:ext cx="4485757" cy="165150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73363" y="3092121"/>
            <a:ext cx="29819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server knows a customer, </a:t>
            </a:r>
          </a:p>
          <a:p>
            <a:r>
              <a:rPr lang="en-US" sz="1600" dirty="0"/>
              <a:t>but a customer does not know </a:t>
            </a:r>
          </a:p>
          <a:p>
            <a:r>
              <a:rPr lang="en-US" sz="1600" dirty="0"/>
              <a:t>the server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979473" y="3415777"/>
            <a:ext cx="721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45493" y="815086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element depends on another element.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indicate that a change of one might require </a:t>
            </a:r>
            <a:br>
              <a:rPr lang="en-US" sz="1400" dirty="0"/>
            </a:br>
            <a:r>
              <a:rPr lang="en-US" sz="1400" dirty="0"/>
              <a:t>a change to the other.</a:t>
            </a:r>
          </a:p>
        </p:txBody>
      </p:sp>
      <p:cxnSp>
        <p:nvCxnSpPr>
          <p:cNvPr id="11" name="Elbow Connector 10"/>
          <p:cNvCxnSpPr/>
          <p:nvPr/>
        </p:nvCxnSpPr>
        <p:spPr>
          <a:xfrm rot="5400000">
            <a:off x="4518510" y="1235204"/>
            <a:ext cx="2940058" cy="2620441"/>
          </a:xfrm>
          <a:prstGeom prst="bentConnector3">
            <a:avLst>
              <a:gd name="adj1" fmla="val 198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4EEED9-4190-C308-176C-D02999DA94E9}"/>
              </a:ext>
            </a:extLst>
          </p:cNvPr>
          <p:cNvSpPr txBox="1"/>
          <p:nvPr/>
        </p:nvSpPr>
        <p:spPr>
          <a:xfrm>
            <a:off x="3606800" y="5891849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dirty="0">
                <a:effectLst/>
                <a:latin typeface="Open Sans" panose="020B0606030504020204" pitchFamily="34" charset="0"/>
              </a:rPr>
              <a:t>strong lifecycle dependency between the </a:t>
            </a:r>
            <a:br>
              <a:rPr lang="en-US" sz="1200" b="0" i="0" dirty="0">
                <a:effectLst/>
                <a:latin typeface="Open Sans" panose="020B0606030504020204" pitchFamily="34" charset="0"/>
              </a:rPr>
            </a:br>
            <a:r>
              <a:rPr lang="en-US" sz="1200" b="0" i="0" dirty="0">
                <a:effectLst/>
                <a:latin typeface="Open Sans" panose="020B0606030504020204" pitchFamily="34" charset="0"/>
              </a:rPr>
              <a:t>two: meaning that when Person is deleted </a:t>
            </a:r>
            <a:br>
              <a:rPr lang="en-US" sz="1200" b="0" i="0" dirty="0">
                <a:effectLst/>
                <a:latin typeface="Open Sans" panose="020B0606030504020204" pitchFamily="34" charset="0"/>
              </a:rPr>
            </a:br>
            <a:r>
              <a:rPr lang="en-US" sz="1200" b="0" i="0" dirty="0">
                <a:effectLst/>
                <a:latin typeface="Open Sans" panose="020B0606030504020204" pitchFamily="34" charset="0"/>
              </a:rPr>
              <a:t>then Head, Hand, Leg will also be deleted!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59E5C-EE49-8E05-6118-48C8A870D13D}"/>
              </a:ext>
            </a:extLst>
          </p:cNvPr>
          <p:cNvSpPr txBox="1"/>
          <p:nvPr/>
        </p:nvSpPr>
        <p:spPr>
          <a:xfrm>
            <a:off x="868550" y="5932667"/>
            <a:ext cx="27975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0" dirty="0">
                <a:effectLst/>
                <a:latin typeface="Open Sans" panose="020B0606030504020204" pitchFamily="34" charset="0"/>
              </a:rPr>
              <a:t>doesn't state in any way that Class A </a:t>
            </a:r>
          </a:p>
          <a:p>
            <a:r>
              <a:rPr lang="en-US" sz="1100" i="0" dirty="0">
                <a:effectLst/>
                <a:latin typeface="Open Sans" panose="020B0606030504020204" pitchFamily="34" charset="0"/>
              </a:rPr>
              <a:t>owns Class B nor that there's a </a:t>
            </a:r>
          </a:p>
          <a:p>
            <a:r>
              <a:rPr lang="en-US" sz="1100" i="0" dirty="0">
                <a:effectLst/>
                <a:latin typeface="Open Sans" panose="020B0606030504020204" pitchFamily="34" charset="0"/>
              </a:rPr>
              <a:t>parent-child relationship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953AA-AA68-DF83-C567-31EC063F46D4}"/>
              </a:ext>
            </a:extLst>
          </p:cNvPr>
          <p:cNvSpPr txBox="1"/>
          <p:nvPr/>
        </p:nvSpPr>
        <p:spPr>
          <a:xfrm>
            <a:off x="4120779" y="4372591"/>
            <a:ext cx="1975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Needs at least one person</a:t>
            </a:r>
          </a:p>
        </p:txBody>
      </p:sp>
    </p:spTree>
    <p:extLst>
      <p:ext uri="{BB962C8B-B14F-4D97-AF65-F5344CB8AC3E}">
        <p14:creationId xmlns:p14="http://schemas.microsoft.com/office/powerpoint/2010/main" val="328613586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B62659-F15D-8894-8C73-22890192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6" y="1839603"/>
            <a:ext cx="3422208" cy="46513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39236" y="2370968"/>
            <a:ext cx="1454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class</a:t>
            </a:r>
          </a:p>
          <a:p>
            <a:r>
              <a:rPr lang="en-US" dirty="0"/>
              <a:t>Base class</a:t>
            </a:r>
          </a:p>
          <a:p>
            <a:r>
              <a:rPr lang="en-US" dirty="0"/>
              <a:t>Parent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528" y="52879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Subclass</a:t>
            </a:r>
          </a:p>
          <a:p>
            <a:r>
              <a:rPr lang="en-US" dirty="0"/>
              <a:t>Derived class</a:t>
            </a:r>
          </a:p>
          <a:p>
            <a:r>
              <a:rPr lang="en-US" dirty="0"/>
              <a:t>Child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9671" y="1932854"/>
            <a:ext cx="257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Wording is Important!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2892" y="949922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Inheritance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6695" y="3797849"/>
            <a:ext cx="5230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super class is a generalization of a subclass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derived class is an extension of a base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parent class is extended by a child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90" y="2961687"/>
            <a:ext cx="233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Visibility:</a:t>
            </a:r>
          </a:p>
          <a:p>
            <a:r>
              <a:rPr lang="en-US" dirty="0"/>
              <a:t>+ Public</a:t>
            </a:r>
          </a:p>
          <a:p>
            <a:r>
              <a:rPr lang="en-US" dirty="0"/>
              <a:t>-  Private</a:t>
            </a:r>
          </a:p>
          <a:p>
            <a:r>
              <a:rPr lang="en-US" dirty="0"/>
              <a:t># Protected</a:t>
            </a:r>
          </a:p>
          <a:p>
            <a:r>
              <a:rPr lang="en-US" dirty="0"/>
              <a:t>~ Package/Internal</a:t>
            </a:r>
          </a:p>
        </p:txBody>
      </p:sp>
    </p:spTree>
    <p:extLst>
      <p:ext uri="{BB962C8B-B14F-4D97-AF65-F5344CB8AC3E}">
        <p14:creationId xmlns:p14="http://schemas.microsoft.com/office/powerpoint/2010/main" val="293249507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Single vs Multiple inheritance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24012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Single</a:t>
            </a:r>
            <a:r>
              <a:rPr lang="en-US" altLang="en-US" sz="2000" dirty="0">
                <a:solidFill>
                  <a:schemeClr val="tx1"/>
                </a:solidFill>
              </a:rPr>
              <a:t> inheritance, each subclass has exactly one super-class. 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Multiple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inheritance, a subclass may inherit from more than one super-class. 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943" y="4092235"/>
            <a:ext cx="3791372" cy="250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40" y="933044"/>
            <a:ext cx="3095420" cy="2804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486253" y="5359758"/>
            <a:ext cx="666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+drive()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6257" y="5282843"/>
            <a:ext cx="666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+drive()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5230" y="4318207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Which one?!?!</a:t>
            </a:r>
          </a:p>
        </p:txBody>
      </p:sp>
      <p:cxnSp>
        <p:nvCxnSpPr>
          <p:cNvPr id="6" name="Straight Arrow Connector 5"/>
          <p:cNvCxnSpPr>
            <a:stCxn id="4" idx="3"/>
            <a:endCxn id="3" idx="1"/>
          </p:cNvCxnSpPr>
          <p:nvPr/>
        </p:nvCxnSpPr>
        <p:spPr>
          <a:xfrm>
            <a:off x="5282899" y="4502873"/>
            <a:ext cx="1203354" cy="9799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 flipH="1">
            <a:off x="5056777" y="4502873"/>
            <a:ext cx="226122" cy="7799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23419" y="5955062"/>
            <a:ext cx="862834" cy="680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74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25" y="953571"/>
            <a:ext cx="8382000" cy="71596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3200" dirty="0"/>
              <a:t>Multiple Inheritance - Repeated Inheritance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4204" y="1669532"/>
            <a:ext cx="5310454" cy="4922677"/>
          </a:xfrm>
        </p:spPr>
      </p:pic>
    </p:spTree>
    <p:extLst>
      <p:ext uri="{BB962C8B-B14F-4D97-AF65-F5344CB8AC3E}">
        <p14:creationId xmlns:p14="http://schemas.microsoft.com/office/powerpoint/2010/main" val="1801515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6809" y="737364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824" y="4252318"/>
            <a:ext cx="991168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object of one class might use an object of another class.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object </a:t>
            </a:r>
            <a:r>
              <a:rPr lang="en-US" b="1" dirty="0">
                <a:solidFill>
                  <a:srgbClr val="FF0000"/>
                </a:solidFill>
              </a:rPr>
              <a:t>is not stored in any field</a:t>
            </a:r>
            <a:r>
              <a:rPr lang="en-US" dirty="0"/>
              <a:t>, then this is modeled as a </a:t>
            </a:r>
            <a:r>
              <a:rPr lang="en-US" b="1" dirty="0">
                <a:solidFill>
                  <a:srgbClr val="92D050"/>
                </a:solidFill>
              </a:rPr>
              <a:t>dependency relationship</a:t>
            </a:r>
            <a:r>
              <a:rPr lang="en-US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“Person” is using “book” in a method call -&gt; “</a:t>
            </a:r>
            <a:r>
              <a:rPr lang="en-US" sz="1400" dirty="0"/>
              <a:t>Person” has no member “book”</a:t>
            </a:r>
          </a:p>
          <a:p>
            <a:endParaRPr lang="en-US" sz="1400" b="1" dirty="0"/>
          </a:p>
          <a:p>
            <a:r>
              <a:rPr lang="en-US" sz="1400" dirty="0"/>
              <a:t>“Book” class changes -&gt; Person needs to be checked, if it needs an update too.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88" y="3089400"/>
            <a:ext cx="4626550" cy="968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185" y="2156672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element depends on another element.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indicate that a change of one might require </a:t>
            </a:r>
            <a:br>
              <a:rPr lang="en-US" sz="1400" dirty="0"/>
            </a:br>
            <a:r>
              <a:rPr lang="en-US" sz="1400" dirty="0"/>
              <a:t>a change to the other.</a:t>
            </a:r>
          </a:p>
        </p:txBody>
      </p:sp>
      <p:sp>
        <p:nvSpPr>
          <p:cNvPr id="2" name="Rectangle 1"/>
          <p:cNvSpPr/>
          <p:nvPr/>
        </p:nvSpPr>
        <p:spPr>
          <a:xfrm>
            <a:off x="3996105" y="3741127"/>
            <a:ext cx="461596" cy="2022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909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1127" y="754720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Unidirectional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8988" y="1905143"/>
            <a:ext cx="40158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 object store another object in a field. </a:t>
            </a:r>
            <a:br>
              <a:rPr lang="en-US" sz="1400" dirty="0"/>
            </a:br>
            <a:r>
              <a:rPr lang="en-US" sz="1400" dirty="0"/>
              <a:t>For example: people </a:t>
            </a:r>
            <a:r>
              <a:rPr lang="en-US" sz="1400" b="1" dirty="0">
                <a:solidFill>
                  <a:srgbClr val="92D050"/>
                </a:solidFill>
              </a:rPr>
              <a:t>own</a:t>
            </a:r>
            <a:r>
              <a:rPr lang="en-US" sz="1400" dirty="0"/>
              <a:t> books, </a:t>
            </a:r>
            <a:br>
              <a:rPr lang="en-US" sz="1400" dirty="0"/>
            </a:br>
            <a:r>
              <a:rPr lang="en-US" sz="1400" dirty="0"/>
              <a:t>modeled by an owns field in Person objects. 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book be owned by many people, </a:t>
            </a:r>
            <a:br>
              <a:rPr lang="en-US" sz="1400" dirty="0"/>
            </a:br>
            <a:r>
              <a:rPr lang="en-US" sz="1400" dirty="0"/>
              <a:t>so reverse direction is not modeled.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07" y="3646890"/>
            <a:ext cx="4218325" cy="1045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68277" y="3749419"/>
            <a:ext cx="142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Cardinality: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623" y="4173464"/>
            <a:ext cx="1654672" cy="219897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5971922" y="4232135"/>
            <a:ext cx="3196355" cy="101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551770" y="4173464"/>
            <a:ext cx="4616507" cy="107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95247" y="505862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(0..*)</a:t>
            </a:r>
          </a:p>
        </p:txBody>
      </p:sp>
    </p:spTree>
    <p:extLst>
      <p:ext uri="{BB962C8B-B14F-4D97-AF65-F5344CB8AC3E}">
        <p14:creationId xmlns:p14="http://schemas.microsoft.com/office/powerpoint/2010/main" val="91429371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3264" y="767987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19" y="2200600"/>
            <a:ext cx="4600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Both classes/objects knows each 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37" y="3130255"/>
            <a:ext cx="4691866" cy="101784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363670" y="3871823"/>
            <a:ext cx="588022" cy="809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92230" y="3912283"/>
            <a:ext cx="513844" cy="76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28644" y="467472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411731085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24" name="AutoShape 19"/>
          <p:cNvSpPr>
            <a:spLocks noChangeArrowheads="1"/>
          </p:cNvSpPr>
          <p:nvPr/>
        </p:nvSpPr>
        <p:spPr bwMode="auto">
          <a:xfrm>
            <a:off x="6274779" y="2607362"/>
            <a:ext cx="139700" cy="254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5" name="Line 20"/>
          <p:cNvSpPr>
            <a:spLocks noChangeShapeType="1"/>
          </p:cNvSpPr>
          <p:nvPr/>
        </p:nvSpPr>
        <p:spPr bwMode="auto">
          <a:xfrm>
            <a:off x="6338279" y="2842311"/>
            <a:ext cx="6350" cy="958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7" name="AutoShape 22"/>
          <p:cNvSpPr>
            <a:spLocks noChangeArrowheads="1"/>
          </p:cNvSpPr>
          <p:nvPr/>
        </p:nvSpPr>
        <p:spPr bwMode="auto">
          <a:xfrm>
            <a:off x="9405321" y="1315399"/>
            <a:ext cx="139700" cy="254000"/>
          </a:xfrm>
          <a:prstGeom prst="flowChartDecisi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8328" name="Line 23"/>
          <p:cNvSpPr>
            <a:spLocks noChangeShapeType="1"/>
          </p:cNvSpPr>
          <p:nvPr/>
        </p:nvSpPr>
        <p:spPr bwMode="auto">
          <a:xfrm>
            <a:off x="9476238" y="1569400"/>
            <a:ext cx="9278" cy="313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9" name="Text Box 24"/>
          <p:cNvSpPr txBox="1">
            <a:spLocks noChangeArrowheads="1"/>
          </p:cNvSpPr>
          <p:nvPr/>
        </p:nvSpPr>
        <p:spPr bwMode="auto">
          <a:xfrm>
            <a:off x="9628863" y="1492976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Composition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5811513" y="1575111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Aggregation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2093755" y="1553582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>
            <a:off x="1922692" y="1435789"/>
            <a:ext cx="1686" cy="52089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922692" y="1435789"/>
            <a:ext cx="73727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29" idx="0"/>
          </p:cNvCxnSpPr>
          <p:nvPr/>
        </p:nvCxnSpPr>
        <p:spPr>
          <a:xfrm flipH="1">
            <a:off x="1834578" y="1435789"/>
            <a:ext cx="88114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9310720" y="2111096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45479" y="220583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School</a:t>
            </a: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9310720" y="3800982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495427" y="389571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Department</a:t>
            </a:r>
          </a:p>
        </p:txBody>
      </p:sp>
      <p:sp>
        <p:nvSpPr>
          <p:cNvPr id="43" name="AutoShape 22"/>
          <p:cNvSpPr>
            <a:spLocks noChangeArrowheads="1"/>
          </p:cNvSpPr>
          <p:nvPr/>
        </p:nvSpPr>
        <p:spPr bwMode="auto">
          <a:xfrm>
            <a:off x="10059429" y="2677839"/>
            <a:ext cx="139700" cy="254000"/>
          </a:xfrm>
          <a:prstGeom prst="flowChartDecisi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23"/>
          <p:cNvSpPr>
            <a:spLocks noChangeShapeType="1"/>
          </p:cNvSpPr>
          <p:nvPr/>
        </p:nvSpPr>
        <p:spPr bwMode="auto">
          <a:xfrm>
            <a:off x="10130346" y="2931840"/>
            <a:ext cx="10840" cy="8691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1360" y="4745293"/>
            <a:ext cx="2642070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Department is a part of the school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Department cannot </a:t>
            </a:r>
            <a:r>
              <a:rPr lang="en-US" sz="1200" b="1" dirty="0">
                <a:solidFill>
                  <a:srgbClr val="FF0000"/>
                </a:solidFill>
              </a:rPr>
              <a:t>survive</a:t>
            </a:r>
            <a:r>
              <a:rPr lang="en-US" sz="1200" dirty="0"/>
              <a:t> without </a:t>
            </a:r>
          </a:p>
          <a:p>
            <a:r>
              <a:rPr lang="en-US" sz="1200" dirty="0"/>
              <a:t>School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5464649" y="2029225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053157" y="211903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</a:t>
            </a: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5464649" y="3800981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053157" y="391009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1116" y="4724739"/>
            <a:ext cx="2148098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Seat is a part of the car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Seat </a:t>
            </a:r>
            <a:r>
              <a:rPr lang="en-US" sz="1200" b="1" dirty="0">
                <a:solidFill>
                  <a:srgbClr val="92D050"/>
                </a:solidFill>
              </a:rPr>
              <a:t>can survive </a:t>
            </a:r>
            <a:r>
              <a:rPr lang="en-US" sz="1200" dirty="0"/>
              <a:t>without a car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8" y="2055752"/>
            <a:ext cx="3484080" cy="202263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582161" y="4489655"/>
            <a:ext cx="2002959" cy="17543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CourseSchedule</a:t>
            </a:r>
            <a:r>
              <a:rPr lang="en-US" sz="1200" dirty="0"/>
              <a:t> has two functions which have a Course object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Arrow points to Course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If Course </a:t>
            </a:r>
            <a:r>
              <a:rPr lang="en-US" sz="1200" b="1" dirty="0">
                <a:solidFill>
                  <a:srgbClr val="FF0000"/>
                </a:solidFill>
              </a:rPr>
              <a:t>changes</a:t>
            </a:r>
            <a:r>
              <a:rPr lang="en-US" sz="1200" dirty="0"/>
              <a:t>, </a:t>
            </a:r>
            <a:r>
              <a:rPr lang="en-US" sz="1200" dirty="0" err="1"/>
              <a:t>CourseSchedule</a:t>
            </a:r>
            <a:r>
              <a:rPr lang="en-US" sz="1200" dirty="0"/>
              <a:t> needs to be </a:t>
            </a:r>
            <a:r>
              <a:rPr lang="en-US" sz="1200" b="1" dirty="0">
                <a:solidFill>
                  <a:srgbClr val="FF0000"/>
                </a:solidFill>
              </a:rPr>
              <a:t>checked/updated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13" y="2615495"/>
            <a:ext cx="487088" cy="1964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587998" y="2558858"/>
            <a:ext cx="553260" cy="1964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utoShape 19"/>
          <p:cNvSpPr>
            <a:spLocks noChangeArrowheads="1"/>
          </p:cNvSpPr>
          <p:nvPr/>
        </p:nvSpPr>
        <p:spPr bwMode="auto">
          <a:xfrm>
            <a:off x="5508914" y="1369027"/>
            <a:ext cx="139700" cy="254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5572414" y="1603977"/>
            <a:ext cx="5172" cy="3259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679635" y="1173313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564364" y="1173313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62426" y="4489655"/>
            <a:ext cx="2002959" cy="193899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Iterator goes over a lot of Courses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If </a:t>
            </a:r>
            <a:r>
              <a:rPr lang="en-US" sz="1200" dirty="0" err="1"/>
              <a:t>CourseSchedule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0000"/>
                </a:solidFill>
              </a:rPr>
              <a:t>changes</a:t>
            </a:r>
            <a:r>
              <a:rPr lang="en-US" sz="1200" dirty="0"/>
              <a:t>, Iterator needs to be </a:t>
            </a:r>
            <a:r>
              <a:rPr lang="en-US" sz="1200" b="1" dirty="0">
                <a:solidFill>
                  <a:srgbClr val="FF0000"/>
                </a:solidFill>
              </a:rPr>
              <a:t>checked/updated</a:t>
            </a:r>
          </a:p>
          <a:p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627314" y="322508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Iterator depends </a:t>
            </a:r>
            <a:br>
              <a:rPr lang="en-US" sz="900" dirty="0"/>
            </a:br>
            <a:r>
              <a:rPr lang="en-US" sz="900" dirty="0"/>
              <a:t>on </a:t>
            </a:r>
            <a:r>
              <a:rPr lang="en-US" sz="900" dirty="0" err="1"/>
              <a:t>CourseSchedule</a:t>
            </a:r>
            <a:endParaRPr lang="en-US" sz="900" dirty="0"/>
          </a:p>
        </p:txBody>
      </p:sp>
      <p:sp>
        <p:nvSpPr>
          <p:cNvPr id="74" name="TextBox 73"/>
          <p:cNvSpPr txBox="1"/>
          <p:nvPr/>
        </p:nvSpPr>
        <p:spPr>
          <a:xfrm>
            <a:off x="669360" y="4048599"/>
            <a:ext cx="19159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Iterates over all </a:t>
            </a:r>
            <a:r>
              <a:rPr lang="en-US" sz="900" dirty="0" err="1"/>
              <a:t>CourseSchedules</a:t>
            </a:r>
            <a:endParaRPr lang="en-US" sz="900" dirty="0"/>
          </a:p>
        </p:txBody>
      </p:sp>
      <p:cxnSp>
        <p:nvCxnSpPr>
          <p:cNvPr id="22" name="Straight Arrow Connector 21"/>
          <p:cNvCxnSpPr>
            <a:stCxn id="72" idx="0"/>
            <a:endCxn id="74" idx="2"/>
          </p:cNvCxnSpPr>
          <p:nvPr/>
        </p:nvCxnSpPr>
        <p:spPr>
          <a:xfrm flipV="1">
            <a:off x="1363906" y="4279431"/>
            <a:ext cx="263409" cy="210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90799" y="2181799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CourseSchedule</a:t>
            </a:r>
            <a:r>
              <a:rPr lang="en-US" sz="900" dirty="0"/>
              <a:t> </a:t>
            </a:r>
          </a:p>
          <a:p>
            <a:r>
              <a:rPr lang="en-US" sz="900" dirty="0"/>
              <a:t>depends on Course</a:t>
            </a:r>
          </a:p>
        </p:txBody>
      </p:sp>
    </p:spTree>
    <p:extLst>
      <p:ext uri="{BB962C8B-B14F-4D97-AF65-F5344CB8AC3E}">
        <p14:creationId xmlns:p14="http://schemas.microsoft.com/office/powerpoint/2010/main" val="4273724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7" name="Line 17"/>
          <p:cNvSpPr>
            <a:spLocks noChangeShapeType="1"/>
          </p:cNvSpPr>
          <p:nvPr/>
        </p:nvSpPr>
        <p:spPr bwMode="auto">
          <a:xfrm flipV="1">
            <a:off x="608629" y="1460014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098" name="AutoShape 18"/>
          <p:cNvSpPr>
            <a:spLocks noChangeArrowheads="1"/>
          </p:cNvSpPr>
          <p:nvPr/>
        </p:nvSpPr>
        <p:spPr bwMode="auto">
          <a:xfrm>
            <a:off x="534171" y="1358414"/>
            <a:ext cx="152400" cy="1651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768671" y="1541075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Generalization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523301" y="2102855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67517" y="2197589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BankAccount</a:t>
            </a:r>
            <a:endParaRPr lang="en-US" dirty="0"/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523301" y="3784798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20040" y="3893915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SavingsAccount</a:t>
            </a:r>
            <a:endParaRPr lang="en-US" dirty="0"/>
          </a:p>
        </p:txBody>
      </p:sp>
      <p:sp>
        <p:nvSpPr>
          <p:cNvPr id="51" name="Line 17"/>
          <p:cNvSpPr>
            <a:spLocks noChangeShapeType="1"/>
          </p:cNvSpPr>
          <p:nvPr/>
        </p:nvSpPr>
        <p:spPr bwMode="auto">
          <a:xfrm flipV="1">
            <a:off x="1395575" y="2775438"/>
            <a:ext cx="2983" cy="10093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AutoShape 18"/>
          <p:cNvSpPr>
            <a:spLocks noChangeArrowheads="1"/>
          </p:cNvSpPr>
          <p:nvPr/>
        </p:nvSpPr>
        <p:spPr bwMode="auto">
          <a:xfrm>
            <a:off x="1317751" y="2673839"/>
            <a:ext cx="152400" cy="1651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99305" y="4781625"/>
            <a:ext cx="1890301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BankAccount</a:t>
            </a:r>
            <a:r>
              <a:rPr lang="en-US" sz="1200" dirty="0"/>
              <a:t> is a generalization of a </a:t>
            </a:r>
            <a:r>
              <a:rPr lang="en-US" sz="1200" dirty="0" err="1"/>
              <a:t>SavingsAccount</a:t>
            </a:r>
            <a:endParaRPr lang="en-US" sz="1200" dirty="0"/>
          </a:p>
          <a:p>
            <a:endParaRPr lang="en-US" sz="1200" dirty="0"/>
          </a:p>
          <a:p>
            <a:pPr algn="ctr"/>
            <a:r>
              <a:rPr lang="en-US" sz="1200" b="1" dirty="0"/>
              <a:t>Arrow points to the general </a:t>
            </a:r>
          </a:p>
        </p:txBody>
      </p:sp>
      <p:sp>
        <p:nvSpPr>
          <p:cNvPr id="54" name="Line 17"/>
          <p:cNvSpPr>
            <a:spLocks noChangeShapeType="1"/>
          </p:cNvSpPr>
          <p:nvPr/>
        </p:nvSpPr>
        <p:spPr bwMode="auto">
          <a:xfrm flipV="1">
            <a:off x="4155637" y="1524898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 Box 24"/>
          <p:cNvSpPr txBox="1">
            <a:spLocks noChangeArrowheads="1"/>
          </p:cNvSpPr>
          <p:nvPr/>
        </p:nvSpPr>
        <p:spPr bwMode="auto">
          <a:xfrm>
            <a:off x="4315679" y="1605959"/>
            <a:ext cx="1341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Unidirectional Association</a:t>
            </a:r>
          </a:p>
        </p:txBody>
      </p: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4935672" y="2958099"/>
            <a:ext cx="140747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224216" y="3069421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Person</a:t>
            </a:r>
          </a:p>
        </p:txBody>
      </p: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2972578" y="2958099"/>
            <a:ext cx="1372352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072809" y="306942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Book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 flipV="1">
            <a:off x="4344931" y="3223311"/>
            <a:ext cx="57578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17"/>
          <p:cNvSpPr>
            <a:spLocks noChangeShapeType="1"/>
          </p:cNvSpPr>
          <p:nvPr/>
        </p:nvSpPr>
        <p:spPr bwMode="auto">
          <a:xfrm flipV="1">
            <a:off x="8758844" y="1523514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24"/>
          <p:cNvSpPr txBox="1">
            <a:spLocks noChangeArrowheads="1"/>
          </p:cNvSpPr>
          <p:nvPr/>
        </p:nvSpPr>
        <p:spPr bwMode="auto">
          <a:xfrm>
            <a:off x="9003853" y="1534905"/>
            <a:ext cx="1341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Bidirectional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Association</a:t>
            </a:r>
          </a:p>
        </p:txBody>
      </p:sp>
      <p:cxnSp>
        <p:nvCxnSpPr>
          <p:cNvPr id="88" name="Straight Connector 87"/>
          <p:cNvCxnSpPr/>
          <p:nvPr/>
        </p:nvCxnSpPr>
        <p:spPr>
          <a:xfrm>
            <a:off x="4161987" y="1511141"/>
            <a:ext cx="73727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>
            <a:off x="4073873" y="1511141"/>
            <a:ext cx="88114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H="1">
            <a:off x="4864755" y="3223311"/>
            <a:ext cx="89459" cy="64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4864755" y="3163986"/>
            <a:ext cx="89459" cy="59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2629249" y="1024085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7079812" y="1157130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3"/>
          <p:cNvSpPr>
            <a:spLocks noChangeArrowheads="1"/>
          </p:cNvSpPr>
          <p:nvPr/>
        </p:nvSpPr>
        <p:spPr bwMode="auto">
          <a:xfrm>
            <a:off x="9652190" y="3008222"/>
            <a:ext cx="1590954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7989624" y="3101577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Person</a:t>
            </a:r>
            <a:r>
              <a:rPr lang="en-US" sz="1400" dirty="0"/>
              <a:t> </a:t>
            </a:r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7689096" y="3008222"/>
            <a:ext cx="1372352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0079208" y="3077941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Book</a:t>
            </a:r>
          </a:p>
        </p:txBody>
      </p:sp>
      <p:sp>
        <p:nvSpPr>
          <p:cNvPr id="98" name="Line 17"/>
          <p:cNvSpPr>
            <a:spLocks noChangeShapeType="1"/>
          </p:cNvSpPr>
          <p:nvPr/>
        </p:nvSpPr>
        <p:spPr bwMode="auto">
          <a:xfrm flipV="1">
            <a:off x="9061449" y="3273434"/>
            <a:ext cx="57578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3964333" y="4781624"/>
            <a:ext cx="1890301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can have one or many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s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knows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, but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 does not know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039" y="4263247"/>
            <a:ext cx="1890301" cy="17543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can have zero, one or many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(s). A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 knows the current and all former renters (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).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knows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(s) also knows </a:t>
            </a:r>
            <a:r>
              <a:rPr lang="en-US" sz="1200" b="1" dirty="0">
                <a:solidFill>
                  <a:srgbClr val="00B050"/>
                </a:solidFill>
              </a:rPr>
              <a:t>Persons</a:t>
            </a:r>
            <a:r>
              <a:rPr lang="en-US" sz="1200" dirty="0"/>
              <a:t> (rental list)</a:t>
            </a:r>
          </a:p>
        </p:txBody>
      </p:sp>
    </p:spTree>
    <p:extLst>
      <p:ext uri="{BB962C8B-B14F-4D97-AF65-F5344CB8AC3E}">
        <p14:creationId xmlns:p14="http://schemas.microsoft.com/office/powerpoint/2010/main" val="35284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097" grpId="0" animBg="1"/>
      <p:bldP spid="1198098" grpId="0" animBg="1"/>
      <p:bldP spid="51" grpId="0" animBg="1"/>
      <p:bldP spid="52" grpId="0" animBg="1"/>
      <p:bldP spid="54" grpId="0" animBg="1"/>
      <p:bldP spid="73" grpId="0" animBg="1"/>
      <p:bldP spid="77" grpId="0" animBg="1"/>
      <p:bldP spid="9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Object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7724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959910" y="751197"/>
            <a:ext cx="3978384" cy="6243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Object diagram cont.</a:t>
            </a:r>
          </a:p>
        </p:txBody>
      </p:sp>
      <p:sp>
        <p:nvSpPr>
          <p:cNvPr id="98308" name="Rectangle 3"/>
          <p:cNvSpPr>
            <a:spLocks noChangeArrowheads="1"/>
          </p:cNvSpPr>
          <p:nvPr/>
        </p:nvSpPr>
        <p:spPr bwMode="auto">
          <a:xfrm>
            <a:off x="4459714" y="1625600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Text Box 4"/>
          <p:cNvSpPr txBox="1">
            <a:spLocks noChangeArrowheads="1"/>
          </p:cNvSpPr>
          <p:nvPr/>
        </p:nvSpPr>
        <p:spPr bwMode="auto">
          <a:xfrm>
            <a:off x="4523214" y="1778000"/>
            <a:ext cx="173149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10" name="Text Box 5"/>
          <p:cNvSpPr txBox="1">
            <a:spLocks noChangeArrowheads="1"/>
          </p:cNvSpPr>
          <p:nvPr/>
        </p:nvSpPr>
        <p:spPr bwMode="auto">
          <a:xfrm>
            <a:off x="6926436" y="1818769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Named object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4459714" y="2603500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2" name="Text Box 7"/>
          <p:cNvSpPr txBox="1">
            <a:spLocks noChangeArrowheads="1"/>
          </p:cNvSpPr>
          <p:nvPr/>
        </p:nvSpPr>
        <p:spPr bwMode="auto">
          <a:xfrm>
            <a:off x="4512088" y="2755900"/>
            <a:ext cx="711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>
                <a:solidFill>
                  <a:schemeClr val="tx1"/>
                </a:solidFill>
              </a:rPr>
              <a:t>: Class</a:t>
            </a:r>
          </a:p>
        </p:txBody>
      </p:sp>
      <p:sp>
        <p:nvSpPr>
          <p:cNvPr id="98313" name="Text Box 8"/>
          <p:cNvSpPr txBox="1">
            <a:spLocks noChangeArrowheads="1"/>
          </p:cNvSpPr>
          <p:nvPr/>
        </p:nvSpPr>
        <p:spPr bwMode="auto">
          <a:xfrm>
            <a:off x="6926436" y="2781300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Unnamed object</a:t>
            </a:r>
          </a:p>
        </p:txBody>
      </p:sp>
      <p:sp>
        <p:nvSpPr>
          <p:cNvPr id="98314" name="Rectangle 9"/>
          <p:cNvSpPr>
            <a:spLocks noChangeArrowheads="1"/>
          </p:cNvSpPr>
          <p:nvPr/>
        </p:nvSpPr>
        <p:spPr bwMode="auto">
          <a:xfrm>
            <a:off x="4459714" y="3564766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5" name="Text Box 10"/>
          <p:cNvSpPr txBox="1">
            <a:spLocks noChangeArrowheads="1"/>
          </p:cNvSpPr>
          <p:nvPr/>
        </p:nvSpPr>
        <p:spPr bwMode="auto">
          <a:xfrm>
            <a:off x="4461288" y="3721100"/>
            <a:ext cx="226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16" name="Text Box 11"/>
          <p:cNvSpPr txBox="1">
            <a:spLocks noChangeArrowheads="1"/>
          </p:cNvSpPr>
          <p:nvPr/>
        </p:nvSpPr>
        <p:spPr bwMode="auto">
          <a:xfrm>
            <a:off x="6926436" y="4108450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Object attributes</a:t>
            </a:r>
          </a:p>
        </p:txBody>
      </p:sp>
      <p:sp>
        <p:nvSpPr>
          <p:cNvPr id="98317" name="Rectangle 12"/>
          <p:cNvSpPr>
            <a:spLocks noChangeArrowheads="1"/>
          </p:cNvSpPr>
          <p:nvPr/>
        </p:nvSpPr>
        <p:spPr bwMode="auto">
          <a:xfrm>
            <a:off x="4459714" y="4123566"/>
            <a:ext cx="2336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8" name="Text Box 13"/>
          <p:cNvSpPr txBox="1">
            <a:spLocks noChangeArrowheads="1"/>
          </p:cNvSpPr>
          <p:nvPr/>
        </p:nvSpPr>
        <p:spPr bwMode="auto">
          <a:xfrm>
            <a:off x="4410488" y="4172220"/>
            <a:ext cx="19939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Attribute type = </a:t>
            </a:r>
            <a:r>
              <a:rPr lang="ja-JP" altLang="en-US" sz="1400" dirty="0">
                <a:solidFill>
                  <a:schemeClr val="tx1"/>
                </a:solidFill>
              </a:rPr>
              <a:t>‘</a:t>
            </a:r>
            <a:r>
              <a:rPr lang="en-US" sz="1400" dirty="0">
                <a:solidFill>
                  <a:schemeClr val="tx1"/>
                </a:solidFill>
              </a:rPr>
              <a:t>Value</a:t>
            </a:r>
            <a:r>
              <a:rPr lang="ja-JP" altLang="en-US" sz="1400" dirty="0">
                <a:solidFill>
                  <a:schemeClr val="tx1"/>
                </a:solidFill>
              </a:rPr>
              <a:t>’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Attribute type = </a:t>
            </a:r>
            <a:r>
              <a:rPr lang="ja-JP" altLang="en-US" sz="1400" dirty="0">
                <a:solidFill>
                  <a:schemeClr val="tx1"/>
                </a:solidFill>
              </a:rPr>
              <a:t>‘</a:t>
            </a:r>
            <a:r>
              <a:rPr lang="en-US" sz="1400" dirty="0">
                <a:solidFill>
                  <a:schemeClr val="tx1"/>
                </a:solidFill>
              </a:rPr>
              <a:t>Value</a:t>
            </a:r>
            <a:r>
              <a:rPr lang="ja-JP" altLang="en-US" sz="1400" dirty="0">
                <a:solidFill>
                  <a:schemeClr val="tx1"/>
                </a:solidFill>
              </a:rPr>
              <a:t>’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8319" name="Rectangle 14"/>
          <p:cNvSpPr>
            <a:spLocks noChangeArrowheads="1"/>
          </p:cNvSpPr>
          <p:nvPr/>
        </p:nvSpPr>
        <p:spPr bwMode="auto">
          <a:xfrm>
            <a:off x="4459714" y="5303587"/>
            <a:ext cx="2336800" cy="558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Text Box 15"/>
          <p:cNvSpPr txBox="1">
            <a:spLocks noChangeArrowheads="1"/>
          </p:cNvSpPr>
          <p:nvPr/>
        </p:nvSpPr>
        <p:spPr bwMode="auto">
          <a:xfrm>
            <a:off x="4459714" y="5398736"/>
            <a:ext cx="173149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21" name="Text Box 16"/>
          <p:cNvSpPr txBox="1">
            <a:spLocks noChangeArrowheads="1"/>
          </p:cNvSpPr>
          <p:nvPr/>
        </p:nvSpPr>
        <p:spPr bwMode="auto">
          <a:xfrm>
            <a:off x="6926436" y="5430587"/>
            <a:ext cx="247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Active object (thicker border)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2316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959" y="870466"/>
            <a:ext cx="7575607" cy="5659281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8547" y="763210"/>
            <a:ext cx="3274537" cy="72870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Object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Grady </a:t>
            </a:r>
            <a:r>
              <a:rPr lang="en-US" sz="500" dirty="0" err="1"/>
              <a:t>Booch</a:t>
            </a:r>
            <a:r>
              <a:rPr lang="en-US" sz="500" dirty="0"/>
              <a:t>, James </a:t>
            </a:r>
            <a:r>
              <a:rPr lang="en-US" sz="500" dirty="0" err="1"/>
              <a:t>Rumbaugh</a:t>
            </a:r>
            <a:r>
              <a:rPr lang="en-US" sz="500" dirty="0"/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989424" y="1272583"/>
            <a:ext cx="21863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 name</a:t>
            </a:r>
          </a:p>
        </p:txBody>
      </p:sp>
      <p:cxnSp>
        <p:nvCxnSpPr>
          <p:cNvPr id="4" name="Straight Arrow Connector 3"/>
          <p:cNvCxnSpPr>
            <a:stCxn id="6" idx="1"/>
          </p:cNvCxnSpPr>
          <p:nvPr/>
        </p:nvCxnSpPr>
        <p:spPr>
          <a:xfrm flipH="1" flipV="1">
            <a:off x="7383983" y="1424983"/>
            <a:ext cx="605441" cy="1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9865427" y="2667110"/>
            <a:ext cx="15119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State of the object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>
            <a:off x="8901239" y="2820999"/>
            <a:ext cx="964188" cy="23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201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Sequence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4477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4483" y="740972"/>
            <a:ext cx="5326719" cy="66393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 (Visio)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F2A17-97FA-9CE6-F032-E8F0D42F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10" y="1679670"/>
            <a:ext cx="6218761" cy="4417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D48733-B283-2FAB-83DD-6E8ACBF8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02" y="3110321"/>
            <a:ext cx="5295900" cy="1971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9937A-ED98-50C9-3F6F-5956A0917FB9}"/>
              </a:ext>
            </a:extLst>
          </p:cNvPr>
          <p:cNvSpPr txBox="1"/>
          <p:nvPr/>
        </p:nvSpPr>
        <p:spPr>
          <a:xfrm>
            <a:off x="5634754" y="2702758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Bar size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matters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6067AD-0B45-C475-4A31-DB822E67525C}"/>
              </a:ext>
            </a:extLst>
          </p:cNvPr>
          <p:cNvCxnSpPr>
            <a:cxnSpLocks/>
          </p:cNvCxnSpPr>
          <p:nvPr/>
        </p:nvCxnSpPr>
        <p:spPr>
          <a:xfrm flipV="1">
            <a:off x="6717102" y="2421394"/>
            <a:ext cx="327310" cy="45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DCF3D3-81B8-0091-8EC8-461F9E0155D3}"/>
              </a:ext>
            </a:extLst>
          </p:cNvPr>
          <p:cNvCxnSpPr>
            <a:cxnSpLocks/>
          </p:cNvCxnSpPr>
          <p:nvPr/>
        </p:nvCxnSpPr>
        <p:spPr>
          <a:xfrm>
            <a:off x="6717102" y="3155269"/>
            <a:ext cx="327310" cy="396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5ECE7B-9773-D874-D0A1-86D00456860A}"/>
              </a:ext>
            </a:extLst>
          </p:cNvPr>
          <p:cNvSpPr txBox="1"/>
          <p:nvPr/>
        </p:nvSpPr>
        <p:spPr>
          <a:xfrm>
            <a:off x="7503574" y="921051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Message is method call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D51EF5-029B-B22A-E61B-E73EF7B6EE03}"/>
              </a:ext>
            </a:extLst>
          </p:cNvPr>
          <p:cNvCxnSpPr>
            <a:cxnSpLocks/>
          </p:cNvCxnSpPr>
          <p:nvPr/>
        </p:nvCxnSpPr>
        <p:spPr>
          <a:xfrm flipH="1">
            <a:off x="7816456" y="1290383"/>
            <a:ext cx="833062" cy="106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ECE726-1FAA-EC5F-AAC6-23946693E9A7}"/>
              </a:ext>
            </a:extLst>
          </p:cNvPr>
          <p:cNvCxnSpPr>
            <a:cxnSpLocks/>
          </p:cNvCxnSpPr>
          <p:nvPr/>
        </p:nvCxnSpPr>
        <p:spPr>
          <a:xfrm>
            <a:off x="8955626" y="1330393"/>
            <a:ext cx="537651" cy="125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AF4167-CFE2-8182-266D-0C4E9FBB7D2A}"/>
              </a:ext>
            </a:extLst>
          </p:cNvPr>
          <p:cNvSpPr txBox="1"/>
          <p:nvPr/>
        </p:nvSpPr>
        <p:spPr>
          <a:xfrm>
            <a:off x="6717102" y="4415493"/>
            <a:ext cx="37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Return = method is done and returns a value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DFA88B-3027-F0C0-FD9F-1BF7A5A37A6C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7880323" y="3661524"/>
            <a:ext cx="701232" cy="75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4080CC-0F9C-78D2-66F6-B98B67218DF8}"/>
              </a:ext>
            </a:extLst>
          </p:cNvPr>
          <p:cNvCxnSpPr>
            <a:cxnSpLocks/>
          </p:cNvCxnSpPr>
          <p:nvPr/>
        </p:nvCxnSpPr>
        <p:spPr>
          <a:xfrm flipV="1">
            <a:off x="9104755" y="3551639"/>
            <a:ext cx="388522" cy="812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ACDEDA8-3EA5-BA4C-71BB-B87B11C028B5}"/>
              </a:ext>
            </a:extLst>
          </p:cNvPr>
          <p:cNvSpPr txBox="1"/>
          <p:nvPr/>
        </p:nvSpPr>
        <p:spPr>
          <a:xfrm>
            <a:off x="151624" y="5451122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a function of the object (itself)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C749CD-9DC0-23DE-9C2C-423041EE9BD6}"/>
              </a:ext>
            </a:extLst>
          </p:cNvPr>
          <p:cNvCxnSpPr>
            <a:cxnSpLocks/>
          </p:cNvCxnSpPr>
          <p:nvPr/>
        </p:nvCxnSpPr>
        <p:spPr>
          <a:xfrm flipH="1" flipV="1">
            <a:off x="1063530" y="4933051"/>
            <a:ext cx="313957" cy="54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7" name="Straight Arrow Connector 23556">
            <a:extLst>
              <a:ext uri="{FF2B5EF4-FFF2-40B4-BE49-F238E27FC236}">
                <a16:creationId xmlns:a16="http://schemas.microsoft.com/office/drawing/2014/main" id="{A1C68FF9-B00C-94FE-EFB5-361B91FA04DA}"/>
              </a:ext>
            </a:extLst>
          </p:cNvPr>
          <p:cNvCxnSpPr>
            <a:cxnSpLocks/>
          </p:cNvCxnSpPr>
          <p:nvPr/>
        </p:nvCxnSpPr>
        <p:spPr>
          <a:xfrm flipV="1">
            <a:off x="3992191" y="2122901"/>
            <a:ext cx="2662209" cy="1146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1294726" y="4305608"/>
            <a:ext cx="5749686" cy="58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93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41" y="998847"/>
            <a:ext cx="4041884" cy="645803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Sequence Diagrams</a:t>
            </a:r>
          </a:p>
        </p:txBody>
      </p:sp>
      <p:sp>
        <p:nvSpPr>
          <p:cNvPr id="88068" name="Oval 3"/>
          <p:cNvSpPr>
            <a:spLocks noChangeArrowheads="1"/>
          </p:cNvSpPr>
          <p:nvPr/>
        </p:nvSpPr>
        <p:spPr bwMode="auto">
          <a:xfrm>
            <a:off x="3195174" y="1793566"/>
            <a:ext cx="361950" cy="342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69" name="Line 4"/>
          <p:cNvSpPr>
            <a:spLocks noChangeShapeType="1"/>
          </p:cNvSpPr>
          <p:nvPr/>
        </p:nvSpPr>
        <p:spPr bwMode="auto">
          <a:xfrm flipH="1">
            <a:off x="3385674" y="2136466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0" name="Line 5"/>
          <p:cNvSpPr>
            <a:spLocks noChangeShapeType="1"/>
          </p:cNvSpPr>
          <p:nvPr/>
        </p:nvSpPr>
        <p:spPr bwMode="auto">
          <a:xfrm flipH="1">
            <a:off x="3214224" y="2707966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1" name="Line 6"/>
          <p:cNvSpPr>
            <a:spLocks noChangeShapeType="1"/>
          </p:cNvSpPr>
          <p:nvPr/>
        </p:nvSpPr>
        <p:spPr bwMode="auto">
          <a:xfrm>
            <a:off x="3395200" y="2707966"/>
            <a:ext cx="18097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2" name="Line 7"/>
          <p:cNvSpPr>
            <a:spLocks noChangeShapeType="1"/>
          </p:cNvSpPr>
          <p:nvPr/>
        </p:nvSpPr>
        <p:spPr bwMode="auto">
          <a:xfrm>
            <a:off x="3214224" y="2250766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3" name="Rectangle 8"/>
          <p:cNvSpPr>
            <a:spLocks noChangeArrowheads="1"/>
          </p:cNvSpPr>
          <p:nvPr/>
        </p:nvSpPr>
        <p:spPr bwMode="auto">
          <a:xfrm>
            <a:off x="3187700" y="3822700"/>
            <a:ext cx="381000" cy="184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4" name="Text Box 9"/>
          <p:cNvSpPr txBox="1">
            <a:spLocks noChangeArrowheads="1"/>
          </p:cNvSpPr>
          <p:nvPr/>
        </p:nvSpPr>
        <p:spPr bwMode="auto">
          <a:xfrm>
            <a:off x="3040611" y="2844284"/>
            <a:ext cx="757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Actor</a:t>
            </a:r>
          </a:p>
        </p:txBody>
      </p:sp>
      <p:sp>
        <p:nvSpPr>
          <p:cNvPr id="88075" name="Line 10"/>
          <p:cNvSpPr>
            <a:spLocks noChangeShapeType="1"/>
          </p:cNvSpPr>
          <p:nvPr/>
        </p:nvSpPr>
        <p:spPr bwMode="auto">
          <a:xfrm>
            <a:off x="3352800" y="3251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6" name="Line 11"/>
          <p:cNvSpPr>
            <a:spLocks noChangeShapeType="1"/>
          </p:cNvSpPr>
          <p:nvPr/>
        </p:nvSpPr>
        <p:spPr bwMode="auto">
          <a:xfrm>
            <a:off x="3352800" y="3581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7" name="Line 12"/>
          <p:cNvSpPr>
            <a:spLocks noChangeShapeType="1"/>
          </p:cNvSpPr>
          <p:nvPr/>
        </p:nvSpPr>
        <p:spPr bwMode="auto">
          <a:xfrm>
            <a:off x="3378200" y="5664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8" name="Line 13"/>
          <p:cNvSpPr>
            <a:spLocks noChangeShapeType="1"/>
          </p:cNvSpPr>
          <p:nvPr/>
        </p:nvSpPr>
        <p:spPr bwMode="auto">
          <a:xfrm>
            <a:off x="3378200" y="5994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9" name="Rectangle 14"/>
          <p:cNvSpPr>
            <a:spLocks noChangeArrowheads="1"/>
          </p:cNvSpPr>
          <p:nvPr/>
        </p:nvSpPr>
        <p:spPr bwMode="auto">
          <a:xfrm>
            <a:off x="4902200" y="2298700"/>
            <a:ext cx="17780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0" name="Text Box 15"/>
          <p:cNvSpPr txBox="1">
            <a:spLocks noChangeArrowheads="1"/>
          </p:cNvSpPr>
          <p:nvPr/>
        </p:nvSpPr>
        <p:spPr bwMode="auto">
          <a:xfrm>
            <a:off x="4838700" y="2374901"/>
            <a:ext cx="152568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88081" name="Rectangle 16"/>
          <p:cNvSpPr>
            <a:spLocks noChangeArrowheads="1"/>
          </p:cNvSpPr>
          <p:nvPr/>
        </p:nvSpPr>
        <p:spPr bwMode="auto">
          <a:xfrm>
            <a:off x="7607300" y="2311400"/>
            <a:ext cx="17780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2" name="Text Box 17"/>
          <p:cNvSpPr txBox="1">
            <a:spLocks noChangeArrowheads="1"/>
          </p:cNvSpPr>
          <p:nvPr/>
        </p:nvSpPr>
        <p:spPr bwMode="auto">
          <a:xfrm>
            <a:off x="7543800" y="2387601"/>
            <a:ext cx="15314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88083" name="Line 18"/>
          <p:cNvSpPr>
            <a:spLocks noChangeShapeType="1"/>
          </p:cNvSpPr>
          <p:nvPr/>
        </p:nvSpPr>
        <p:spPr bwMode="auto">
          <a:xfrm>
            <a:off x="5715000" y="29083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4" name="Line 19"/>
          <p:cNvSpPr>
            <a:spLocks noChangeShapeType="1"/>
          </p:cNvSpPr>
          <p:nvPr/>
        </p:nvSpPr>
        <p:spPr bwMode="auto">
          <a:xfrm>
            <a:off x="5727700" y="3327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5" name="Rectangle 20"/>
          <p:cNvSpPr>
            <a:spLocks noChangeArrowheads="1"/>
          </p:cNvSpPr>
          <p:nvPr/>
        </p:nvSpPr>
        <p:spPr bwMode="auto">
          <a:xfrm>
            <a:off x="5549900" y="4025900"/>
            <a:ext cx="381000" cy="124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6" name="Line 21"/>
          <p:cNvSpPr>
            <a:spLocks noChangeShapeType="1"/>
          </p:cNvSpPr>
          <p:nvPr/>
        </p:nvSpPr>
        <p:spPr bwMode="auto">
          <a:xfrm>
            <a:off x="5740400" y="3759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7" name="Line 22"/>
          <p:cNvSpPr>
            <a:spLocks noChangeShapeType="1"/>
          </p:cNvSpPr>
          <p:nvPr/>
        </p:nvSpPr>
        <p:spPr bwMode="auto">
          <a:xfrm>
            <a:off x="5740400" y="52705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8" name="Line 23"/>
          <p:cNvSpPr>
            <a:spLocks noChangeShapeType="1"/>
          </p:cNvSpPr>
          <p:nvPr/>
        </p:nvSpPr>
        <p:spPr bwMode="auto">
          <a:xfrm>
            <a:off x="5740400" y="56642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9" name="Rectangle 24"/>
          <p:cNvSpPr>
            <a:spLocks noChangeArrowheads="1"/>
          </p:cNvSpPr>
          <p:nvPr/>
        </p:nvSpPr>
        <p:spPr bwMode="auto">
          <a:xfrm>
            <a:off x="8216900" y="4368800"/>
            <a:ext cx="381000" cy="800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0" name="Line 25"/>
          <p:cNvSpPr>
            <a:spLocks noChangeShapeType="1"/>
          </p:cNvSpPr>
          <p:nvPr/>
        </p:nvSpPr>
        <p:spPr bwMode="auto">
          <a:xfrm>
            <a:off x="8369300" y="28956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1" name="Line 26"/>
          <p:cNvSpPr>
            <a:spLocks noChangeShapeType="1"/>
          </p:cNvSpPr>
          <p:nvPr/>
        </p:nvSpPr>
        <p:spPr bwMode="auto">
          <a:xfrm>
            <a:off x="8382000" y="33020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2" name="Line 27"/>
          <p:cNvSpPr>
            <a:spLocks noChangeShapeType="1"/>
          </p:cNvSpPr>
          <p:nvPr/>
        </p:nvSpPr>
        <p:spPr bwMode="auto">
          <a:xfrm>
            <a:off x="8394700" y="37211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3" name="Line 28"/>
          <p:cNvSpPr>
            <a:spLocks noChangeShapeType="1"/>
          </p:cNvSpPr>
          <p:nvPr/>
        </p:nvSpPr>
        <p:spPr bwMode="auto">
          <a:xfrm>
            <a:off x="8407400" y="41275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4" name="Line 29"/>
          <p:cNvSpPr>
            <a:spLocks noChangeShapeType="1"/>
          </p:cNvSpPr>
          <p:nvPr/>
        </p:nvSpPr>
        <p:spPr bwMode="auto">
          <a:xfrm>
            <a:off x="8420100" y="51816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5" name="Line 30"/>
          <p:cNvSpPr>
            <a:spLocks noChangeShapeType="1"/>
          </p:cNvSpPr>
          <p:nvPr/>
        </p:nvSpPr>
        <p:spPr bwMode="auto">
          <a:xfrm>
            <a:off x="8420100" y="5603734"/>
            <a:ext cx="0" cy="276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6" name="Line 31"/>
          <p:cNvSpPr>
            <a:spLocks noChangeShapeType="1"/>
          </p:cNvSpPr>
          <p:nvPr/>
        </p:nvSpPr>
        <p:spPr bwMode="auto">
          <a:xfrm>
            <a:off x="3581400" y="4064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7" name="Line 32"/>
          <p:cNvSpPr>
            <a:spLocks noChangeShapeType="1"/>
          </p:cNvSpPr>
          <p:nvPr/>
        </p:nvSpPr>
        <p:spPr bwMode="auto">
          <a:xfrm>
            <a:off x="5930900" y="4406900"/>
            <a:ext cx="229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5" name="Freeform 33"/>
          <p:cNvSpPr>
            <a:spLocks/>
          </p:cNvSpPr>
          <p:nvPr/>
        </p:nvSpPr>
        <p:spPr bwMode="auto">
          <a:xfrm>
            <a:off x="9245600" y="2171700"/>
            <a:ext cx="355600" cy="139700"/>
          </a:xfrm>
          <a:custGeom>
            <a:avLst/>
            <a:gdLst>
              <a:gd name="T0" fmla="*/ 564515045 w 224"/>
              <a:gd name="T1" fmla="*/ 0 h 88"/>
              <a:gd name="T2" fmla="*/ 0 w 224"/>
              <a:gd name="T3" fmla="*/ 221773772 h 88"/>
              <a:gd name="T4" fmla="*/ 0 60000 65536"/>
              <a:gd name="T5" fmla="*/ 0 60000 65536"/>
              <a:gd name="T6" fmla="*/ 0 w 224"/>
              <a:gd name="T7" fmla="*/ 0 h 88"/>
              <a:gd name="T8" fmla="*/ 224 w 224"/>
              <a:gd name="T9" fmla="*/ 88 h 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4" h="88">
                <a:moveTo>
                  <a:pt x="224" y="0"/>
                </a:moveTo>
                <a:cubicBezTo>
                  <a:pt x="127" y="35"/>
                  <a:pt x="31" y="71"/>
                  <a:pt x="0" y="88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6" name="Text Box 34"/>
          <p:cNvSpPr txBox="1">
            <a:spLocks noChangeArrowheads="1"/>
          </p:cNvSpPr>
          <p:nvPr/>
        </p:nvSpPr>
        <p:spPr bwMode="auto">
          <a:xfrm>
            <a:off x="9525000" y="1320800"/>
            <a:ext cx="1041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UML Object symbol</a:t>
            </a:r>
          </a:p>
        </p:txBody>
      </p:sp>
      <p:sp>
        <p:nvSpPr>
          <p:cNvPr id="1180707" name="Line 35"/>
          <p:cNvSpPr>
            <a:spLocks noChangeShapeType="1"/>
          </p:cNvSpPr>
          <p:nvPr/>
        </p:nvSpPr>
        <p:spPr bwMode="auto">
          <a:xfrm flipH="1" flipV="1">
            <a:off x="3581400" y="5397500"/>
            <a:ext cx="1397000" cy="584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8" name="Line 36"/>
          <p:cNvSpPr>
            <a:spLocks noChangeShapeType="1"/>
          </p:cNvSpPr>
          <p:nvPr/>
        </p:nvSpPr>
        <p:spPr bwMode="auto">
          <a:xfrm flipV="1">
            <a:off x="5486400" y="5270500"/>
            <a:ext cx="114300" cy="6683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9" name="Line 37"/>
          <p:cNvSpPr>
            <a:spLocks noChangeShapeType="1"/>
          </p:cNvSpPr>
          <p:nvPr/>
        </p:nvSpPr>
        <p:spPr bwMode="auto">
          <a:xfrm flipV="1">
            <a:off x="5930900" y="5194300"/>
            <a:ext cx="2273300" cy="7747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0" name="Text Box 38"/>
          <p:cNvSpPr txBox="1">
            <a:spLocks noChangeArrowheads="1"/>
          </p:cNvSpPr>
          <p:nvPr/>
        </p:nvSpPr>
        <p:spPr bwMode="auto">
          <a:xfrm>
            <a:off x="4559300" y="5916613"/>
            <a:ext cx="2070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Activations</a:t>
            </a:r>
          </a:p>
        </p:txBody>
      </p:sp>
      <p:sp>
        <p:nvSpPr>
          <p:cNvPr id="1180711" name="Line 39"/>
          <p:cNvSpPr>
            <a:spLocks noChangeShapeType="1"/>
          </p:cNvSpPr>
          <p:nvPr/>
        </p:nvSpPr>
        <p:spPr bwMode="auto">
          <a:xfrm flipH="1">
            <a:off x="4470400" y="3886200"/>
            <a:ext cx="0" cy="152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2" name="Line 40"/>
          <p:cNvSpPr>
            <a:spLocks noChangeShapeType="1"/>
          </p:cNvSpPr>
          <p:nvPr/>
        </p:nvSpPr>
        <p:spPr bwMode="auto">
          <a:xfrm>
            <a:off x="5168900" y="3784600"/>
            <a:ext cx="2425700" cy="5969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3" name="Text Box 41"/>
          <p:cNvSpPr txBox="1">
            <a:spLocks noChangeArrowheads="1"/>
          </p:cNvSpPr>
          <p:nvPr/>
        </p:nvSpPr>
        <p:spPr bwMode="auto">
          <a:xfrm>
            <a:off x="4084007" y="3518476"/>
            <a:ext cx="1108496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Messages</a:t>
            </a:r>
          </a:p>
        </p:txBody>
      </p:sp>
      <p:sp>
        <p:nvSpPr>
          <p:cNvPr id="1180714" name="Line 42"/>
          <p:cNvSpPr>
            <a:spLocks noChangeShapeType="1"/>
          </p:cNvSpPr>
          <p:nvPr/>
        </p:nvSpPr>
        <p:spPr bwMode="auto">
          <a:xfrm flipH="1">
            <a:off x="3365500" y="3187700"/>
            <a:ext cx="2616200" cy="279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5" name="Line 43"/>
          <p:cNvSpPr>
            <a:spLocks noChangeShapeType="1"/>
          </p:cNvSpPr>
          <p:nvPr/>
        </p:nvSpPr>
        <p:spPr bwMode="auto">
          <a:xfrm>
            <a:off x="6654800" y="3314700"/>
            <a:ext cx="1752600" cy="508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6" name="Line 44"/>
          <p:cNvSpPr>
            <a:spLocks noChangeShapeType="1"/>
          </p:cNvSpPr>
          <p:nvPr/>
        </p:nvSpPr>
        <p:spPr bwMode="auto">
          <a:xfrm flipH="1">
            <a:off x="5715000" y="3314700"/>
            <a:ext cx="431800" cy="152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7" name="Text Box 45"/>
          <p:cNvSpPr txBox="1">
            <a:spLocks noChangeArrowheads="1"/>
          </p:cNvSpPr>
          <p:nvPr/>
        </p:nvSpPr>
        <p:spPr bwMode="auto">
          <a:xfrm>
            <a:off x="6020391" y="3064561"/>
            <a:ext cx="10535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Lifelines</a:t>
            </a:r>
          </a:p>
        </p:txBody>
      </p:sp>
      <p:sp>
        <p:nvSpPr>
          <p:cNvPr id="88111" name="Line 46"/>
          <p:cNvSpPr>
            <a:spLocks noChangeShapeType="1"/>
          </p:cNvSpPr>
          <p:nvPr/>
        </p:nvSpPr>
        <p:spPr bwMode="auto">
          <a:xfrm flipH="1">
            <a:off x="5918200" y="4864100"/>
            <a:ext cx="2311400" cy="12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112" name="Line 47"/>
          <p:cNvSpPr>
            <a:spLocks noChangeShapeType="1"/>
          </p:cNvSpPr>
          <p:nvPr/>
        </p:nvSpPr>
        <p:spPr bwMode="auto">
          <a:xfrm flipH="1">
            <a:off x="3556000" y="5143500"/>
            <a:ext cx="1993900" cy="12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48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705" grpId="0" animBg="1"/>
      <p:bldP spid="1180706" grpId="0"/>
      <p:bldP spid="1180707" grpId="0" animBg="1"/>
      <p:bldP spid="1180708" grpId="0" animBg="1"/>
      <p:bldP spid="1180709" grpId="0" animBg="1"/>
      <p:bldP spid="1180710" grpId="0"/>
      <p:bldP spid="1180711" grpId="0" animBg="1"/>
      <p:bldP spid="1180712" grpId="0" animBg="1"/>
      <p:bldP spid="1180713" grpId="0"/>
      <p:bldP spid="1180714" grpId="0" animBg="1"/>
      <p:bldP spid="1180715" grpId="0" animBg="1"/>
      <p:bldP spid="1180716" grpId="0" animBg="1"/>
      <p:bldP spid="11807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956888" y="734601"/>
            <a:ext cx="5743459" cy="6570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Sequence Diagram for Elevator</a:t>
            </a:r>
          </a:p>
        </p:txBody>
      </p:sp>
      <p:pic>
        <p:nvPicPr>
          <p:cNvPr id="90116" name="Picture 3" descr="Figure_0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3743" y="1480634"/>
            <a:ext cx="5917523" cy="5101313"/>
          </a:xfrm>
          <a:noFill/>
        </p:spPr>
      </p:pic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2930259" y="6611779"/>
            <a:ext cx="69285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Douglass. UML Lite Offers Simple Yet Powerful Tool Set For Even Complex Designs. Electronic Design, 2002.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497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6516" y="733150"/>
            <a:ext cx="3906272" cy="70261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1026" name="Picture 2" descr="A sample of a UML sequence diagram showing an ATM system.">
            <a:extLst>
              <a:ext uri="{FF2B5EF4-FFF2-40B4-BE49-F238E27FC236}">
                <a16:creationId xmlns:a16="http://schemas.microsoft.com/office/drawing/2014/main" id="{D1B67696-64A6-6E26-95D6-B08FCB480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788" y="766251"/>
            <a:ext cx="3563413" cy="575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E761AB-A182-75F8-677E-5483EBA696A7}"/>
              </a:ext>
            </a:extLst>
          </p:cNvPr>
          <p:cNvSpPr txBox="1"/>
          <p:nvPr/>
        </p:nvSpPr>
        <p:spPr>
          <a:xfrm>
            <a:off x="936516" y="1927901"/>
            <a:ext cx="30911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create sequence diagrams only for important parts of your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everything would be overkill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Good to visualize a protocol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Good to visualize Client vs Server communication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A1A3A1-6034-8122-1CBB-176175FB0922}"/>
              </a:ext>
            </a:extLst>
          </p:cNvPr>
          <p:cNvCxnSpPr>
            <a:cxnSpLocks/>
          </p:cNvCxnSpPr>
          <p:nvPr/>
        </p:nvCxnSpPr>
        <p:spPr>
          <a:xfrm flipH="1" flipV="1">
            <a:off x="7813607" y="2240869"/>
            <a:ext cx="2566599" cy="61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CEE7AC-7EE0-AA92-DF55-296D734A1D26}"/>
              </a:ext>
            </a:extLst>
          </p:cNvPr>
          <p:cNvSpPr txBox="1"/>
          <p:nvPr/>
        </p:nvSpPr>
        <p:spPr>
          <a:xfrm>
            <a:off x="8753516" y="2758898"/>
            <a:ext cx="2845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Dotted line = return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Straight line = method call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9DF527-19EB-D698-ABD3-F16B1BFBCEB2}"/>
              </a:ext>
            </a:extLst>
          </p:cNvPr>
          <p:cNvCxnSpPr>
            <a:cxnSpLocks/>
          </p:cNvCxnSpPr>
          <p:nvPr/>
        </p:nvCxnSpPr>
        <p:spPr>
          <a:xfrm flipH="1">
            <a:off x="7774362" y="3375038"/>
            <a:ext cx="2794218" cy="1028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407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948066" y="756598"/>
            <a:ext cx="3984881" cy="61069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Sequence Diagram</a:t>
            </a:r>
          </a:p>
        </p:txBody>
      </p:sp>
      <p:sp>
        <p:nvSpPr>
          <p:cNvPr id="91140" name="Text Box 3"/>
          <p:cNvSpPr txBox="1">
            <a:spLocks noChangeArrowheads="1"/>
          </p:cNvSpPr>
          <p:nvPr/>
        </p:nvSpPr>
        <p:spPr bwMode="auto">
          <a:xfrm>
            <a:off x="3009901" y="1609725"/>
            <a:ext cx="1381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5372100" y="1676400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2" name="Text Box 5"/>
          <p:cNvSpPr txBox="1">
            <a:spLocks noChangeArrowheads="1"/>
          </p:cNvSpPr>
          <p:nvPr/>
        </p:nvSpPr>
        <p:spPr bwMode="auto">
          <a:xfrm>
            <a:off x="5562601" y="170497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2</a:t>
            </a:r>
          </a:p>
        </p:txBody>
      </p:sp>
      <p:sp>
        <p:nvSpPr>
          <p:cNvPr id="91143" name="Rectangle 6"/>
          <p:cNvSpPr>
            <a:spLocks noChangeArrowheads="1"/>
          </p:cNvSpPr>
          <p:nvPr/>
        </p:nvSpPr>
        <p:spPr bwMode="auto">
          <a:xfrm>
            <a:off x="3067050" y="1647825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4" name="Text Box 7"/>
          <p:cNvSpPr txBox="1">
            <a:spLocks noChangeArrowheads="1"/>
          </p:cNvSpPr>
          <p:nvPr/>
        </p:nvSpPr>
        <p:spPr bwMode="auto">
          <a:xfrm>
            <a:off x="3238501" y="166687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1</a:t>
            </a:r>
          </a:p>
        </p:txBody>
      </p:sp>
      <p:sp>
        <p:nvSpPr>
          <p:cNvPr id="91145" name="Rectangle 8"/>
          <p:cNvSpPr>
            <a:spLocks noChangeArrowheads="1"/>
          </p:cNvSpPr>
          <p:nvPr/>
        </p:nvSpPr>
        <p:spPr bwMode="auto">
          <a:xfrm>
            <a:off x="7620000" y="1695450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6" name="Text Box 9"/>
          <p:cNvSpPr txBox="1">
            <a:spLocks noChangeArrowheads="1"/>
          </p:cNvSpPr>
          <p:nvPr/>
        </p:nvSpPr>
        <p:spPr bwMode="auto">
          <a:xfrm>
            <a:off x="7810501" y="172402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3</a:t>
            </a:r>
          </a:p>
        </p:txBody>
      </p:sp>
      <p:sp>
        <p:nvSpPr>
          <p:cNvPr id="91147" name="Line 10"/>
          <p:cNvSpPr>
            <a:spLocks noChangeShapeType="1"/>
          </p:cNvSpPr>
          <p:nvPr/>
        </p:nvSpPr>
        <p:spPr bwMode="auto">
          <a:xfrm>
            <a:off x="3752850" y="202882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8" name="Line 11"/>
          <p:cNvSpPr>
            <a:spLocks noChangeShapeType="1"/>
          </p:cNvSpPr>
          <p:nvPr/>
        </p:nvSpPr>
        <p:spPr bwMode="auto">
          <a:xfrm>
            <a:off x="6105525" y="204787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9" name="Line 12"/>
          <p:cNvSpPr>
            <a:spLocks noChangeShapeType="1"/>
          </p:cNvSpPr>
          <p:nvPr/>
        </p:nvSpPr>
        <p:spPr bwMode="auto">
          <a:xfrm>
            <a:off x="8334375" y="208597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0" name="Line 13"/>
          <p:cNvSpPr>
            <a:spLocks noChangeShapeType="1"/>
          </p:cNvSpPr>
          <p:nvPr/>
        </p:nvSpPr>
        <p:spPr bwMode="auto">
          <a:xfrm>
            <a:off x="3743326" y="2466975"/>
            <a:ext cx="235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1" name="Text Box 14"/>
          <p:cNvSpPr txBox="1">
            <a:spLocks noChangeArrowheads="1"/>
          </p:cNvSpPr>
          <p:nvPr/>
        </p:nvSpPr>
        <p:spPr bwMode="auto">
          <a:xfrm>
            <a:off x="4400551" y="221773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2" name="Line 15"/>
          <p:cNvSpPr>
            <a:spLocks noChangeShapeType="1"/>
          </p:cNvSpPr>
          <p:nvPr/>
        </p:nvSpPr>
        <p:spPr bwMode="auto">
          <a:xfrm>
            <a:off x="3743326" y="2828925"/>
            <a:ext cx="235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3" name="Line 16"/>
          <p:cNvSpPr>
            <a:spLocks noChangeShapeType="1"/>
          </p:cNvSpPr>
          <p:nvPr/>
        </p:nvSpPr>
        <p:spPr bwMode="auto">
          <a:xfrm>
            <a:off x="3753271" y="3482183"/>
            <a:ext cx="2352254" cy="39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4" name="Text Box 17"/>
          <p:cNvSpPr txBox="1">
            <a:spLocks noChangeArrowheads="1"/>
          </p:cNvSpPr>
          <p:nvPr/>
        </p:nvSpPr>
        <p:spPr bwMode="auto">
          <a:xfrm>
            <a:off x="4448176" y="255111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5" name="Text Box 18"/>
          <p:cNvSpPr txBox="1">
            <a:spLocks noChangeArrowheads="1"/>
          </p:cNvSpPr>
          <p:nvPr/>
        </p:nvSpPr>
        <p:spPr bwMode="auto">
          <a:xfrm>
            <a:off x="4572001" y="302736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6" name="Line 19"/>
          <p:cNvSpPr>
            <a:spLocks noChangeShapeType="1"/>
          </p:cNvSpPr>
          <p:nvPr/>
        </p:nvSpPr>
        <p:spPr bwMode="auto">
          <a:xfrm>
            <a:off x="3762375" y="4229101"/>
            <a:ext cx="234315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7" name="Line 20"/>
          <p:cNvSpPr>
            <a:spLocks noChangeShapeType="1"/>
          </p:cNvSpPr>
          <p:nvPr/>
        </p:nvSpPr>
        <p:spPr bwMode="auto">
          <a:xfrm>
            <a:off x="3762376" y="4229101"/>
            <a:ext cx="45624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8" name="Text Box 21"/>
          <p:cNvSpPr txBox="1">
            <a:spLocks noChangeArrowheads="1"/>
          </p:cNvSpPr>
          <p:nvPr/>
        </p:nvSpPr>
        <p:spPr bwMode="auto">
          <a:xfrm>
            <a:off x="4457701" y="391318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9" name="Text Box 22"/>
          <p:cNvSpPr txBox="1">
            <a:spLocks noChangeArrowheads="1"/>
          </p:cNvSpPr>
          <p:nvPr/>
        </p:nvSpPr>
        <p:spPr bwMode="auto">
          <a:xfrm>
            <a:off x="6648451" y="418941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60" name="Line 23"/>
          <p:cNvSpPr>
            <a:spLocks noChangeShapeType="1"/>
          </p:cNvSpPr>
          <p:nvPr/>
        </p:nvSpPr>
        <p:spPr bwMode="auto">
          <a:xfrm>
            <a:off x="3752850" y="5419726"/>
            <a:ext cx="234315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1" name="Text Box 24"/>
          <p:cNvSpPr txBox="1">
            <a:spLocks noChangeArrowheads="1"/>
          </p:cNvSpPr>
          <p:nvPr/>
        </p:nvSpPr>
        <p:spPr bwMode="auto">
          <a:xfrm>
            <a:off x="3534847" y="3244485"/>
            <a:ext cx="29261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</a:t>
            </a:r>
          </a:p>
        </p:txBody>
      </p:sp>
      <p:sp>
        <p:nvSpPr>
          <p:cNvPr id="91162" name="Text Box 25"/>
          <p:cNvSpPr txBox="1">
            <a:spLocks noChangeArrowheads="1"/>
          </p:cNvSpPr>
          <p:nvPr/>
        </p:nvSpPr>
        <p:spPr bwMode="auto">
          <a:xfrm>
            <a:off x="3540124" y="4155619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</a:t>
            </a:r>
          </a:p>
        </p:txBody>
      </p:sp>
      <p:sp>
        <p:nvSpPr>
          <p:cNvPr id="91163" name="Text Box 26"/>
          <p:cNvSpPr txBox="1">
            <a:spLocks noChangeArrowheads="1"/>
          </p:cNvSpPr>
          <p:nvPr/>
        </p:nvSpPr>
        <p:spPr bwMode="auto">
          <a:xfrm>
            <a:off x="6056313" y="3438525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</a:t>
            </a:r>
          </a:p>
        </p:txBody>
      </p:sp>
      <p:sp>
        <p:nvSpPr>
          <p:cNvPr id="91164" name="Line 27"/>
          <p:cNvSpPr>
            <a:spLocks noChangeShapeType="1"/>
          </p:cNvSpPr>
          <p:nvPr/>
        </p:nvSpPr>
        <p:spPr bwMode="auto">
          <a:xfrm flipV="1">
            <a:off x="3152775" y="3505200"/>
            <a:ext cx="571500" cy="2095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5" name="Line 28"/>
          <p:cNvSpPr>
            <a:spLocks noChangeShapeType="1"/>
          </p:cNvSpPr>
          <p:nvPr/>
        </p:nvSpPr>
        <p:spPr bwMode="auto">
          <a:xfrm>
            <a:off x="3143249" y="3819524"/>
            <a:ext cx="581025" cy="398464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6" name="Text Box 29"/>
          <p:cNvSpPr txBox="1">
            <a:spLocks noChangeArrowheads="1"/>
          </p:cNvSpPr>
          <p:nvPr/>
        </p:nvSpPr>
        <p:spPr bwMode="auto">
          <a:xfrm>
            <a:off x="2266950" y="3562350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 ID</a:t>
            </a:r>
          </a:p>
        </p:txBody>
      </p:sp>
      <p:sp>
        <p:nvSpPr>
          <p:cNvPr id="91167" name="Text Box 30"/>
          <p:cNvSpPr txBox="1">
            <a:spLocks noChangeArrowheads="1"/>
          </p:cNvSpPr>
          <p:nvPr/>
        </p:nvSpPr>
        <p:spPr bwMode="auto">
          <a:xfrm>
            <a:off x="3417888" y="5257800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f</a:t>
            </a:r>
          </a:p>
        </p:txBody>
      </p:sp>
      <p:sp>
        <p:nvSpPr>
          <p:cNvPr id="91168" name="Line 31"/>
          <p:cNvSpPr>
            <a:spLocks noChangeShapeType="1"/>
          </p:cNvSpPr>
          <p:nvPr/>
        </p:nvSpPr>
        <p:spPr bwMode="auto">
          <a:xfrm>
            <a:off x="2826731" y="4341462"/>
            <a:ext cx="0" cy="904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9" name="Text Box 32"/>
          <p:cNvSpPr txBox="1">
            <a:spLocks noChangeArrowheads="1"/>
          </p:cNvSpPr>
          <p:nvPr/>
        </p:nvSpPr>
        <p:spPr bwMode="auto">
          <a:xfrm rot="-5400000">
            <a:off x="2588606" y="4608161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Time</a:t>
            </a:r>
          </a:p>
        </p:txBody>
      </p:sp>
      <p:sp>
        <p:nvSpPr>
          <p:cNvPr id="91170" name="Line 33"/>
          <p:cNvSpPr>
            <a:spLocks noChangeShapeType="1"/>
          </p:cNvSpPr>
          <p:nvPr/>
        </p:nvSpPr>
        <p:spPr bwMode="auto">
          <a:xfrm>
            <a:off x="6200776" y="2466975"/>
            <a:ext cx="10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1" name="Line 34"/>
          <p:cNvSpPr>
            <a:spLocks noChangeShapeType="1"/>
          </p:cNvSpPr>
          <p:nvPr/>
        </p:nvSpPr>
        <p:spPr bwMode="auto">
          <a:xfrm>
            <a:off x="6210301" y="2828925"/>
            <a:ext cx="10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2" name="Line 35"/>
          <p:cNvSpPr>
            <a:spLocks noChangeShapeType="1"/>
          </p:cNvSpPr>
          <p:nvPr/>
        </p:nvSpPr>
        <p:spPr bwMode="auto">
          <a:xfrm>
            <a:off x="6257925" y="2466975"/>
            <a:ext cx="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3" name="Text Box 36"/>
          <p:cNvSpPr txBox="1">
            <a:spLocks noChangeArrowheads="1"/>
          </p:cNvSpPr>
          <p:nvPr/>
        </p:nvSpPr>
        <p:spPr bwMode="auto">
          <a:xfrm>
            <a:off x="6076951" y="2486025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{ 500 ms }</a:t>
            </a:r>
          </a:p>
        </p:txBody>
      </p:sp>
      <p:sp>
        <p:nvSpPr>
          <p:cNvPr id="91174" name="Text Box 37"/>
          <p:cNvSpPr txBox="1">
            <a:spLocks noChangeArrowheads="1"/>
          </p:cNvSpPr>
          <p:nvPr/>
        </p:nvSpPr>
        <p:spPr bwMode="auto">
          <a:xfrm>
            <a:off x="6134101" y="3686175"/>
            <a:ext cx="1381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{ d – c &lt; 2 s }</a:t>
            </a:r>
          </a:p>
        </p:txBody>
      </p:sp>
      <p:sp>
        <p:nvSpPr>
          <p:cNvPr id="91175" name="Line 38"/>
          <p:cNvSpPr>
            <a:spLocks noChangeShapeType="1"/>
          </p:cNvSpPr>
          <p:nvPr/>
        </p:nvSpPr>
        <p:spPr bwMode="auto">
          <a:xfrm flipH="1" flipV="1">
            <a:off x="6715125" y="2790825"/>
            <a:ext cx="514350" cy="3619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6" name="Line 39"/>
          <p:cNvSpPr>
            <a:spLocks noChangeShapeType="1"/>
          </p:cNvSpPr>
          <p:nvPr/>
        </p:nvSpPr>
        <p:spPr bwMode="auto">
          <a:xfrm flipH="1">
            <a:off x="6705600" y="3257550"/>
            <a:ext cx="533400" cy="3619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7" name="Text Box 40"/>
          <p:cNvSpPr txBox="1">
            <a:spLocks noChangeArrowheads="1"/>
          </p:cNvSpPr>
          <p:nvPr/>
        </p:nvSpPr>
        <p:spPr bwMode="auto">
          <a:xfrm>
            <a:off x="7205662" y="2933889"/>
            <a:ext cx="1014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Timing constraint</a:t>
            </a:r>
          </a:p>
        </p:txBody>
      </p:sp>
      <p:sp>
        <p:nvSpPr>
          <p:cNvPr id="91178" name="AutoShape 41"/>
          <p:cNvSpPr>
            <a:spLocks/>
          </p:cNvSpPr>
          <p:nvPr/>
        </p:nvSpPr>
        <p:spPr bwMode="auto">
          <a:xfrm>
            <a:off x="8429626" y="2362200"/>
            <a:ext cx="219075" cy="1409700"/>
          </a:xfrm>
          <a:prstGeom prst="rightBrace">
            <a:avLst>
              <a:gd name="adj1" fmla="val 53623"/>
              <a:gd name="adj2" fmla="val 50000"/>
            </a:avLst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9" name="Text Box 42"/>
          <p:cNvSpPr txBox="1">
            <a:spLocks noChangeArrowheads="1"/>
          </p:cNvSpPr>
          <p:nvPr/>
        </p:nvSpPr>
        <p:spPr bwMode="auto">
          <a:xfrm>
            <a:off x="8628063" y="2805440"/>
            <a:ext cx="12604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Peer-to-peer messaging</a:t>
            </a:r>
          </a:p>
        </p:txBody>
      </p:sp>
      <p:sp>
        <p:nvSpPr>
          <p:cNvPr id="91180" name="AutoShape 43"/>
          <p:cNvSpPr>
            <a:spLocks/>
          </p:cNvSpPr>
          <p:nvPr/>
        </p:nvSpPr>
        <p:spPr bwMode="auto">
          <a:xfrm>
            <a:off x="8429626" y="4133851"/>
            <a:ext cx="219075" cy="542925"/>
          </a:xfrm>
          <a:prstGeom prst="rightBrace">
            <a:avLst>
              <a:gd name="adj1" fmla="val 20652"/>
              <a:gd name="adj2" fmla="val 50000"/>
            </a:avLst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1" name="Text Box 44"/>
          <p:cNvSpPr txBox="1">
            <a:spLocks noChangeArrowheads="1"/>
          </p:cNvSpPr>
          <p:nvPr/>
        </p:nvSpPr>
        <p:spPr bwMode="auto">
          <a:xfrm>
            <a:off x="8620127" y="4143703"/>
            <a:ext cx="10080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Broadcast messaging</a:t>
            </a:r>
          </a:p>
        </p:txBody>
      </p:sp>
      <p:sp>
        <p:nvSpPr>
          <p:cNvPr id="91182" name="Text Box 45"/>
          <p:cNvSpPr txBox="1">
            <a:spLocks noChangeArrowheads="1"/>
          </p:cNvSpPr>
          <p:nvPr/>
        </p:nvSpPr>
        <p:spPr bwMode="auto">
          <a:xfrm>
            <a:off x="4391026" y="511333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83" name="Rectangle 46"/>
          <p:cNvSpPr>
            <a:spLocks noChangeArrowheads="1"/>
          </p:cNvSpPr>
          <p:nvPr/>
        </p:nvSpPr>
        <p:spPr bwMode="auto">
          <a:xfrm>
            <a:off x="5715001" y="4686301"/>
            <a:ext cx="1000125" cy="390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4" name="Text Box 47"/>
          <p:cNvSpPr txBox="1">
            <a:spLocks noChangeArrowheads="1"/>
          </p:cNvSpPr>
          <p:nvPr/>
        </p:nvSpPr>
        <p:spPr bwMode="auto">
          <a:xfrm>
            <a:off x="5724526" y="4724400"/>
            <a:ext cx="923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ID</a:t>
            </a:r>
          </a:p>
        </p:txBody>
      </p:sp>
      <p:sp>
        <p:nvSpPr>
          <p:cNvPr id="91185" name="Rectangle 48"/>
          <p:cNvSpPr>
            <a:spLocks noChangeArrowheads="1"/>
          </p:cNvSpPr>
          <p:nvPr/>
        </p:nvSpPr>
        <p:spPr bwMode="auto">
          <a:xfrm>
            <a:off x="5715001" y="5724526"/>
            <a:ext cx="1000125" cy="390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6" name="Text Box 49"/>
          <p:cNvSpPr txBox="1">
            <a:spLocks noChangeArrowheads="1"/>
          </p:cNvSpPr>
          <p:nvPr/>
        </p:nvSpPr>
        <p:spPr bwMode="auto">
          <a:xfrm>
            <a:off x="5724526" y="5762625"/>
            <a:ext cx="923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ID</a:t>
            </a:r>
          </a:p>
        </p:txBody>
      </p:sp>
      <p:sp>
        <p:nvSpPr>
          <p:cNvPr id="91187" name="Line 50"/>
          <p:cNvSpPr>
            <a:spLocks noChangeShapeType="1"/>
          </p:cNvSpPr>
          <p:nvPr/>
        </p:nvSpPr>
        <p:spPr bwMode="auto">
          <a:xfrm flipH="1" flipV="1">
            <a:off x="6781800" y="4933950"/>
            <a:ext cx="514350" cy="3619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8" name="Line 51"/>
          <p:cNvSpPr>
            <a:spLocks noChangeShapeType="1"/>
          </p:cNvSpPr>
          <p:nvPr/>
        </p:nvSpPr>
        <p:spPr bwMode="auto">
          <a:xfrm flipH="1">
            <a:off x="6772275" y="5400675"/>
            <a:ext cx="533400" cy="3619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9" name="Text Box 52"/>
          <p:cNvSpPr txBox="1">
            <a:spLocks noChangeArrowheads="1"/>
          </p:cNvSpPr>
          <p:nvPr/>
        </p:nvSpPr>
        <p:spPr bwMode="auto">
          <a:xfrm>
            <a:off x="7305085" y="5070802"/>
            <a:ext cx="7229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marks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9976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Grp="1" noChangeArrowheads="1"/>
          </p:cNvSpPr>
          <p:nvPr>
            <p:ph type="title"/>
          </p:nvPr>
        </p:nvSpPr>
        <p:spPr>
          <a:xfrm>
            <a:off x="953019" y="762000"/>
            <a:ext cx="6867507" cy="12713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Sequence Diagram </a:t>
            </a:r>
            <a:br>
              <a:rPr lang="en-US" altLang="en-US" dirty="0"/>
            </a:br>
            <a:r>
              <a:rPr lang="en-US" altLang="en-US" sz="2000" dirty="0"/>
              <a:t>Showing Synchronous and Asynchronous messages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92D050"/>
                </a:solidFill>
              </a:rPr>
              <a:t>(Fire &amp; Forget)</a:t>
            </a:r>
          </a:p>
        </p:txBody>
      </p:sp>
      <p:pic>
        <p:nvPicPr>
          <p:cNvPr id="8196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50896" y="2414341"/>
            <a:ext cx="3563938" cy="3124200"/>
          </a:xfrm>
          <a:noFill/>
        </p:spPr>
      </p:pic>
      <p:sp>
        <p:nvSpPr>
          <p:cNvPr id="8197" name="Line 11"/>
          <p:cNvSpPr>
            <a:spLocks noChangeShapeType="1"/>
          </p:cNvSpPr>
          <p:nvPr/>
        </p:nvSpPr>
        <p:spPr bwMode="auto">
          <a:xfrm flipV="1">
            <a:off x="4989096" y="5005141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98" name="Text Box 12"/>
          <p:cNvSpPr txBox="1">
            <a:spLocks noChangeArrowheads="1"/>
          </p:cNvSpPr>
          <p:nvPr/>
        </p:nvSpPr>
        <p:spPr bwMode="auto">
          <a:xfrm>
            <a:off x="4303296" y="5959327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Asynchronous</a:t>
            </a:r>
          </a:p>
        </p:txBody>
      </p:sp>
      <p:sp>
        <p:nvSpPr>
          <p:cNvPr id="8199" name="Line 13"/>
          <p:cNvSpPr>
            <a:spLocks noChangeShapeType="1"/>
          </p:cNvSpPr>
          <p:nvPr/>
        </p:nvSpPr>
        <p:spPr bwMode="auto">
          <a:xfrm flipH="1">
            <a:off x="3465096" y="3176341"/>
            <a:ext cx="1676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00" name="Text Box 14"/>
          <p:cNvSpPr txBox="1">
            <a:spLocks noChangeArrowheads="1"/>
          </p:cNvSpPr>
          <p:nvPr/>
        </p:nvSpPr>
        <p:spPr bwMode="auto">
          <a:xfrm>
            <a:off x="2855496" y="3938342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Synchronous message</a:t>
            </a:r>
          </a:p>
        </p:txBody>
      </p:sp>
    </p:spTree>
    <p:extLst>
      <p:ext uri="{BB962C8B-B14F-4D97-AF65-F5344CB8AC3E}">
        <p14:creationId xmlns:p14="http://schemas.microsoft.com/office/powerpoint/2010/main" val="167494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5"/>
          <p:cNvSpPr>
            <a:spLocks noGrp="1" noChangeArrowheads="1"/>
          </p:cNvSpPr>
          <p:nvPr>
            <p:ph type="title"/>
          </p:nvPr>
        </p:nvSpPr>
        <p:spPr>
          <a:xfrm>
            <a:off x="944537" y="751796"/>
            <a:ext cx="6827792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Asynchronous Messages and </a:t>
            </a:r>
            <a:br>
              <a:rPr lang="en-US" altLang="en-US" dirty="0"/>
            </a:br>
            <a:r>
              <a:rPr lang="en-US" altLang="en-US" dirty="0"/>
              <a:t>Concurrent Execution</a:t>
            </a:r>
          </a:p>
        </p:txBody>
      </p:sp>
      <p:pic>
        <p:nvPicPr>
          <p:cNvPr id="133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7601" y="2452689"/>
            <a:ext cx="7415213" cy="3171825"/>
          </a:xfrm>
          <a:noFill/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6696159" y="4126938"/>
            <a:ext cx="517892" cy="69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89218" y="475999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Concurrent</a:t>
            </a:r>
          </a:p>
        </p:txBody>
      </p:sp>
    </p:spTree>
    <p:extLst>
      <p:ext uri="{BB962C8B-B14F-4D97-AF65-F5344CB8AC3E}">
        <p14:creationId xmlns:p14="http://schemas.microsoft.com/office/powerpoint/2010/main" val="4131218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Package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0563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10353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Package diagram: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Arrange your elements into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larger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chunks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A package is a general-purpose mechanism to organize elements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Package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destroyed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, elements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destroyed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too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Without packages, you get big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flat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4116063668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561" y="804862"/>
            <a:ext cx="8394550" cy="5409821"/>
          </a:xfrm>
          <a:prstGeom prst="rect">
            <a:avLst/>
          </a:prstGeom>
        </p:spPr>
      </p:pic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61561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55" y="4200047"/>
            <a:ext cx="4144755" cy="2168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</p:spTree>
    <p:extLst>
      <p:ext uri="{BB962C8B-B14F-4D97-AF65-F5344CB8AC3E}">
        <p14:creationId xmlns:p14="http://schemas.microsoft.com/office/powerpoint/2010/main" val="3106070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64851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7" y="2305780"/>
            <a:ext cx="4893257" cy="2683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44" y="835712"/>
            <a:ext cx="5472929" cy="4732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183" y="377897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same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97469" y="4164493"/>
            <a:ext cx="570489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27650" y="28433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Classes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638637" y="3212708"/>
            <a:ext cx="591714" cy="341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</p:cNvCxnSpPr>
          <p:nvPr/>
        </p:nvCxnSpPr>
        <p:spPr>
          <a:xfrm>
            <a:off x="2230352" y="3212708"/>
            <a:ext cx="863693" cy="199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029" y="5881489"/>
            <a:ext cx="1197460" cy="342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42333" y="5855651"/>
            <a:ext cx="3608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Imports adds the contents of the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target to the source</a:t>
            </a:r>
          </a:p>
        </p:txBody>
      </p:sp>
    </p:spTree>
    <p:extLst>
      <p:ext uri="{BB962C8B-B14F-4D97-AF65-F5344CB8AC3E}">
        <p14:creationId xmlns:p14="http://schemas.microsoft.com/office/powerpoint/2010/main" val="2732749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2"/>
            <a:ext cx="4080702" cy="646331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666" y="1115152"/>
            <a:ext cx="2329274" cy="51627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8" y="1855813"/>
            <a:ext cx="6797389" cy="4422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7048" y="759993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tier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2752" y="1615824"/>
            <a:ext cx="1082348" cy="64633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Visual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0062" y="3634015"/>
            <a:ext cx="928459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90131" y="5590938"/>
            <a:ext cx="671979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24357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Component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3876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102894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Components: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canada-type-gibson"/>
              </a:rPr>
              <a:t>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ell-defined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interface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Replaceable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part of the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Build components from smaller ones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Important for COM+, CORBA, EJB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Seldom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stands alone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canada-type-gibson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“Some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bought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library or tool”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686157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140" y="5286813"/>
            <a:ext cx="2149985" cy="118657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706" y="4506420"/>
            <a:ext cx="2208590" cy="929180"/>
          </a:xfrm>
          <a:prstGeom prst="rect">
            <a:avLst/>
          </a:prstGeom>
        </p:spPr>
      </p:pic>
      <p:sp>
        <p:nvSpPr>
          <p:cNvPr id="96260" name="Rectangle 3"/>
          <p:cNvSpPr>
            <a:spLocks noGrp="1" noChangeArrowheads="1"/>
          </p:cNvSpPr>
          <p:nvPr>
            <p:ph type="title"/>
          </p:nvPr>
        </p:nvSpPr>
        <p:spPr>
          <a:xfrm>
            <a:off x="936516" y="739283"/>
            <a:ext cx="4493240" cy="666595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Component Diagram</a:t>
            </a:r>
          </a:p>
        </p:txBody>
      </p:sp>
      <p:sp>
        <p:nvSpPr>
          <p:cNvPr id="96263" name="Text Box 6"/>
          <p:cNvSpPr txBox="1">
            <a:spLocks noChangeArrowheads="1"/>
          </p:cNvSpPr>
          <p:nvPr/>
        </p:nvSpPr>
        <p:spPr bwMode="auto">
          <a:xfrm>
            <a:off x="5715000" y="2616200"/>
            <a:ext cx="3429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Component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(physical building block)</a:t>
            </a:r>
          </a:p>
        </p:txBody>
      </p:sp>
      <p:sp>
        <p:nvSpPr>
          <p:cNvPr id="96264" name="Line 7"/>
          <p:cNvSpPr>
            <a:spLocks noChangeShapeType="1"/>
          </p:cNvSpPr>
          <p:nvPr/>
        </p:nvSpPr>
        <p:spPr bwMode="auto">
          <a:xfrm flipH="1">
            <a:off x="4347784" y="3547908"/>
            <a:ext cx="1686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65" name="Oval 8"/>
          <p:cNvSpPr>
            <a:spLocks noChangeArrowheads="1"/>
          </p:cNvSpPr>
          <p:nvPr/>
        </p:nvSpPr>
        <p:spPr bwMode="auto">
          <a:xfrm>
            <a:off x="4265234" y="4106708"/>
            <a:ext cx="165100" cy="165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66" name="Text Box 9"/>
          <p:cNvSpPr txBox="1">
            <a:spLocks noChangeArrowheads="1"/>
          </p:cNvSpPr>
          <p:nvPr/>
        </p:nvSpPr>
        <p:spPr bwMode="auto">
          <a:xfrm>
            <a:off x="5715000" y="3666038"/>
            <a:ext cx="4660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Interface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(collection of one or more methods and zero or more attributes)</a:t>
            </a:r>
          </a:p>
        </p:txBody>
      </p:sp>
      <p:sp>
        <p:nvSpPr>
          <p:cNvPr id="96271" name="Line 14"/>
          <p:cNvSpPr>
            <a:spLocks noChangeShapeType="1"/>
          </p:cNvSpPr>
          <p:nvPr/>
        </p:nvSpPr>
        <p:spPr bwMode="auto">
          <a:xfrm flipH="1">
            <a:off x="4343400" y="54356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2" name="Oval 15"/>
          <p:cNvSpPr>
            <a:spLocks noChangeArrowheads="1"/>
          </p:cNvSpPr>
          <p:nvPr/>
        </p:nvSpPr>
        <p:spPr bwMode="auto">
          <a:xfrm>
            <a:off x="4259389" y="5880100"/>
            <a:ext cx="165100" cy="165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3" name="Line 16"/>
          <p:cNvSpPr>
            <a:spLocks noChangeShapeType="1"/>
          </p:cNvSpPr>
          <p:nvPr/>
        </p:nvSpPr>
        <p:spPr bwMode="auto">
          <a:xfrm flipH="1" flipV="1">
            <a:off x="4419600" y="5930899"/>
            <a:ext cx="3249514" cy="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4" name="Text Box 17"/>
          <p:cNvSpPr txBox="1">
            <a:spLocks noChangeArrowheads="1"/>
          </p:cNvSpPr>
          <p:nvPr/>
        </p:nvSpPr>
        <p:spPr bwMode="auto">
          <a:xfrm>
            <a:off x="4856570" y="5670550"/>
            <a:ext cx="281254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Dependency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(shown in dotted lines)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606" y="2332978"/>
            <a:ext cx="2208590" cy="929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3967" y="5435600"/>
            <a:ext cx="17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Offers Interface</a:t>
            </a:r>
          </a:p>
        </p:txBody>
      </p:sp>
      <p:cxnSp>
        <p:nvCxnSpPr>
          <p:cNvPr id="6" name="Straight Arrow Connector 5"/>
          <p:cNvCxnSpPr>
            <a:stCxn id="16" idx="3"/>
            <a:endCxn id="96265" idx="2"/>
          </p:cNvCxnSpPr>
          <p:nvPr/>
        </p:nvCxnSpPr>
        <p:spPr>
          <a:xfrm flipV="1">
            <a:off x="2034645" y="4189258"/>
            <a:ext cx="2230589" cy="143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3"/>
            <a:endCxn id="96272" idx="2"/>
          </p:cNvCxnSpPr>
          <p:nvPr/>
        </p:nvCxnSpPr>
        <p:spPr>
          <a:xfrm>
            <a:off x="2034645" y="5620266"/>
            <a:ext cx="2224744" cy="34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06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6746" y="731360"/>
            <a:ext cx="4794350" cy="620187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Component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77" y="2165135"/>
            <a:ext cx="4882371" cy="27704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02" y="1751468"/>
            <a:ext cx="4920472" cy="35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73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6745" y="750860"/>
            <a:ext cx="5294351" cy="62876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Component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7" y="2154473"/>
            <a:ext cx="6034279" cy="30689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29" y="2057114"/>
            <a:ext cx="4506655" cy="30532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3956" y="5929307"/>
            <a:ext cx="3583032" cy="64633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Same as above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Below one shows expanded view</a:t>
            </a:r>
          </a:p>
        </p:txBody>
      </p:sp>
      <p:cxnSp>
        <p:nvCxnSpPr>
          <p:cNvPr id="7" name="Straight Arrow Connector 6"/>
          <p:cNvCxnSpPr>
            <a:stCxn id="3" idx="0"/>
          </p:cNvCxnSpPr>
          <p:nvPr/>
        </p:nvCxnSpPr>
        <p:spPr>
          <a:xfrm flipH="1" flipV="1">
            <a:off x="3342012" y="3261090"/>
            <a:ext cx="1683460" cy="266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0"/>
          </p:cNvCxnSpPr>
          <p:nvPr/>
        </p:nvCxnSpPr>
        <p:spPr>
          <a:xfrm flipH="1" flipV="1">
            <a:off x="3366287" y="5182949"/>
            <a:ext cx="1659185" cy="746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24882" y="5401434"/>
            <a:ext cx="17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Offers Interface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10568198" y="2779615"/>
            <a:ext cx="242023" cy="244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0527738" y="3912499"/>
            <a:ext cx="282483" cy="131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9496004" y="4677627"/>
            <a:ext cx="1282587" cy="57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7857366" y="4640782"/>
            <a:ext cx="2831843" cy="64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545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State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4375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5251"/>
            <a:ext cx="3216384" cy="70387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State Diagram</a:t>
            </a:r>
          </a:p>
        </p:txBody>
      </p:sp>
      <p:sp>
        <p:nvSpPr>
          <p:cNvPr id="82948" name="AutoShape 3"/>
          <p:cNvSpPr>
            <a:spLocks noChangeArrowheads="1"/>
          </p:cNvSpPr>
          <p:nvPr/>
        </p:nvSpPr>
        <p:spPr bwMode="auto">
          <a:xfrm>
            <a:off x="4717536" y="1879600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49" name="Text Box 4"/>
          <p:cNvSpPr txBox="1">
            <a:spLocks noChangeArrowheads="1"/>
          </p:cNvSpPr>
          <p:nvPr/>
        </p:nvSpPr>
        <p:spPr bwMode="auto">
          <a:xfrm>
            <a:off x="4781036" y="1955801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    State</a:t>
            </a:r>
          </a:p>
        </p:txBody>
      </p:sp>
      <p:sp>
        <p:nvSpPr>
          <p:cNvPr id="82951" name="Line 6"/>
          <p:cNvSpPr>
            <a:spLocks noChangeShapeType="1"/>
          </p:cNvSpPr>
          <p:nvPr/>
        </p:nvSpPr>
        <p:spPr bwMode="auto">
          <a:xfrm>
            <a:off x="4844536" y="38481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2" name="Arc 7"/>
          <p:cNvSpPr>
            <a:spLocks/>
          </p:cNvSpPr>
          <p:nvPr/>
        </p:nvSpPr>
        <p:spPr bwMode="auto">
          <a:xfrm rot="-2405096">
            <a:off x="4979474" y="3055939"/>
            <a:ext cx="1073150" cy="1057275"/>
          </a:xfrm>
          <a:custGeom>
            <a:avLst/>
            <a:gdLst>
              <a:gd name="T0" fmla="*/ 0 w 25361"/>
              <a:gd name="T1" fmla="*/ 25041582 h 24973"/>
              <a:gd name="T2" fmla="*/ 1901458894 w 25361"/>
              <a:gd name="T3" fmla="*/ 1895056865 h 24973"/>
              <a:gd name="T4" fmla="*/ 284961711 w 25361"/>
              <a:gd name="T5" fmla="*/ 1639099274 h 24973"/>
              <a:gd name="T6" fmla="*/ 0 60000 65536"/>
              <a:gd name="T7" fmla="*/ 0 60000 65536"/>
              <a:gd name="T8" fmla="*/ 0 60000 65536"/>
              <a:gd name="T9" fmla="*/ 0 w 25361"/>
              <a:gd name="T10" fmla="*/ 0 h 24973"/>
              <a:gd name="T11" fmla="*/ 25361 w 25361"/>
              <a:gd name="T12" fmla="*/ 24973 h 249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361" h="24973" fill="none" extrusionOk="0">
                <a:moveTo>
                  <a:pt x="-1" y="329"/>
                </a:moveTo>
                <a:cubicBezTo>
                  <a:pt x="1241" y="110"/>
                  <a:pt x="2500" y="-1"/>
                  <a:pt x="3761" y="0"/>
                </a:cubicBezTo>
                <a:cubicBezTo>
                  <a:pt x="15690" y="0"/>
                  <a:pt x="25361" y="9670"/>
                  <a:pt x="25361" y="21600"/>
                </a:cubicBezTo>
                <a:cubicBezTo>
                  <a:pt x="25361" y="22729"/>
                  <a:pt x="25272" y="23857"/>
                  <a:pt x="25096" y="24973"/>
                </a:cubicBezTo>
              </a:path>
              <a:path w="25361" h="24973" stroke="0" extrusionOk="0">
                <a:moveTo>
                  <a:pt x="-1" y="329"/>
                </a:moveTo>
                <a:cubicBezTo>
                  <a:pt x="1241" y="110"/>
                  <a:pt x="2500" y="-1"/>
                  <a:pt x="3761" y="0"/>
                </a:cubicBezTo>
                <a:cubicBezTo>
                  <a:pt x="15690" y="0"/>
                  <a:pt x="25361" y="9670"/>
                  <a:pt x="25361" y="21600"/>
                </a:cubicBezTo>
                <a:cubicBezTo>
                  <a:pt x="25361" y="22729"/>
                  <a:pt x="25272" y="23857"/>
                  <a:pt x="25096" y="24973"/>
                </a:cubicBezTo>
                <a:lnTo>
                  <a:pt x="376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3" name="Text Box 8"/>
          <p:cNvSpPr txBox="1">
            <a:spLocks noChangeArrowheads="1"/>
          </p:cNvSpPr>
          <p:nvPr/>
        </p:nvSpPr>
        <p:spPr bwMode="auto">
          <a:xfrm>
            <a:off x="4704836" y="2819401"/>
            <a:ext cx="158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event/action</a:t>
            </a:r>
          </a:p>
        </p:txBody>
      </p:sp>
      <p:sp>
        <p:nvSpPr>
          <p:cNvPr id="82954" name="Text Box 9"/>
          <p:cNvSpPr txBox="1">
            <a:spLocks noChangeArrowheads="1"/>
          </p:cNvSpPr>
          <p:nvPr/>
        </p:nvSpPr>
        <p:spPr bwMode="auto">
          <a:xfrm>
            <a:off x="4742936" y="3886201"/>
            <a:ext cx="158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event/action</a:t>
            </a:r>
          </a:p>
        </p:txBody>
      </p:sp>
      <p:sp>
        <p:nvSpPr>
          <p:cNvPr id="82955" name="Text Box 10"/>
          <p:cNvSpPr txBox="1">
            <a:spLocks noChangeArrowheads="1"/>
          </p:cNvSpPr>
          <p:nvPr/>
        </p:nvSpPr>
        <p:spPr bwMode="auto">
          <a:xfrm>
            <a:off x="6419336" y="1981202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</a:t>
            </a:r>
          </a:p>
        </p:txBody>
      </p:sp>
      <p:sp>
        <p:nvSpPr>
          <p:cNvPr id="82956" name="Text Box 11"/>
          <p:cNvSpPr txBox="1">
            <a:spLocks noChangeArrowheads="1"/>
          </p:cNvSpPr>
          <p:nvPr/>
        </p:nvSpPr>
        <p:spPr bwMode="auto">
          <a:xfrm>
            <a:off x="6330436" y="3541715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Transition</a:t>
            </a:r>
          </a:p>
        </p:txBody>
      </p:sp>
      <p:sp>
        <p:nvSpPr>
          <p:cNvPr id="82957" name="Oval 12"/>
          <p:cNvSpPr>
            <a:spLocks noChangeArrowheads="1"/>
          </p:cNvSpPr>
          <p:nvPr/>
        </p:nvSpPr>
        <p:spPr bwMode="auto">
          <a:xfrm>
            <a:off x="8705336" y="2019300"/>
            <a:ext cx="2413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8" name="Line 13"/>
          <p:cNvSpPr>
            <a:spLocks noChangeShapeType="1"/>
          </p:cNvSpPr>
          <p:nvPr/>
        </p:nvSpPr>
        <p:spPr bwMode="auto">
          <a:xfrm>
            <a:off x="8946636" y="21082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9" name="Text Box 14"/>
          <p:cNvSpPr txBox="1">
            <a:spLocks noChangeArrowheads="1"/>
          </p:cNvSpPr>
          <p:nvPr/>
        </p:nvSpPr>
        <p:spPr bwMode="auto">
          <a:xfrm>
            <a:off x="9873736" y="1879601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Initial State</a:t>
            </a:r>
          </a:p>
        </p:txBody>
      </p:sp>
      <p:sp>
        <p:nvSpPr>
          <p:cNvPr id="82960" name="Oval 15"/>
          <p:cNvSpPr>
            <a:spLocks noChangeArrowheads="1"/>
          </p:cNvSpPr>
          <p:nvPr/>
        </p:nvSpPr>
        <p:spPr bwMode="auto">
          <a:xfrm>
            <a:off x="9474978" y="3434732"/>
            <a:ext cx="2413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1" name="Oval 16"/>
          <p:cNvSpPr>
            <a:spLocks noChangeArrowheads="1"/>
          </p:cNvSpPr>
          <p:nvPr/>
        </p:nvSpPr>
        <p:spPr bwMode="auto">
          <a:xfrm>
            <a:off x="9411478" y="3383932"/>
            <a:ext cx="368300" cy="342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2" name="Line 17"/>
          <p:cNvSpPr>
            <a:spLocks noChangeShapeType="1"/>
          </p:cNvSpPr>
          <p:nvPr/>
        </p:nvSpPr>
        <p:spPr bwMode="auto">
          <a:xfrm>
            <a:off x="8738378" y="3561732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3" name="Text Box 18"/>
          <p:cNvSpPr txBox="1">
            <a:spLocks noChangeArrowheads="1"/>
          </p:cNvSpPr>
          <p:nvPr/>
        </p:nvSpPr>
        <p:spPr bwMode="auto">
          <a:xfrm>
            <a:off x="10000736" y="3365501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Final State</a:t>
            </a:r>
          </a:p>
        </p:txBody>
      </p:sp>
      <p:sp>
        <p:nvSpPr>
          <p:cNvPr id="82964" name="Line 19"/>
          <p:cNvSpPr>
            <a:spLocks noChangeShapeType="1"/>
          </p:cNvSpPr>
          <p:nvPr/>
        </p:nvSpPr>
        <p:spPr bwMode="auto">
          <a:xfrm>
            <a:off x="5276336" y="5905500"/>
            <a:ext cx="55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5" name="Line 20"/>
          <p:cNvSpPr>
            <a:spLocks noChangeShapeType="1"/>
          </p:cNvSpPr>
          <p:nvPr/>
        </p:nvSpPr>
        <p:spPr bwMode="auto">
          <a:xfrm>
            <a:off x="6800336" y="4610100"/>
            <a:ext cx="55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6" name="Freeform 21"/>
          <p:cNvSpPr>
            <a:spLocks/>
          </p:cNvSpPr>
          <p:nvPr/>
        </p:nvSpPr>
        <p:spPr bwMode="auto">
          <a:xfrm>
            <a:off x="6647936" y="4622800"/>
            <a:ext cx="292100" cy="1333500"/>
          </a:xfrm>
          <a:custGeom>
            <a:avLst/>
            <a:gdLst>
              <a:gd name="T0" fmla="*/ 355510103 w 240"/>
              <a:gd name="T1" fmla="*/ 0 h 816"/>
              <a:gd name="T2" fmla="*/ 272557300 w 240"/>
              <a:gd name="T3" fmla="*/ 1196420826 h 816"/>
              <a:gd name="T4" fmla="*/ 0 w 240"/>
              <a:gd name="T5" fmla="*/ 2147483647 h 816"/>
              <a:gd name="T6" fmla="*/ 0 60000 65536"/>
              <a:gd name="T7" fmla="*/ 0 60000 65536"/>
              <a:gd name="T8" fmla="*/ 0 60000 65536"/>
              <a:gd name="T9" fmla="*/ 0 w 240"/>
              <a:gd name="T10" fmla="*/ 0 h 816"/>
              <a:gd name="T11" fmla="*/ 240 w 240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816">
                <a:moveTo>
                  <a:pt x="240" y="0"/>
                </a:moveTo>
                <a:cubicBezTo>
                  <a:pt x="232" y="156"/>
                  <a:pt x="224" y="312"/>
                  <a:pt x="184" y="448"/>
                </a:cubicBezTo>
                <a:cubicBezTo>
                  <a:pt x="144" y="584"/>
                  <a:pt x="72" y="700"/>
                  <a:pt x="0" y="8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7" name="Freeform 22"/>
          <p:cNvSpPr>
            <a:spLocks/>
          </p:cNvSpPr>
          <p:nvPr/>
        </p:nvSpPr>
        <p:spPr bwMode="auto">
          <a:xfrm>
            <a:off x="7181336" y="4610100"/>
            <a:ext cx="520700" cy="1346200"/>
          </a:xfrm>
          <a:custGeom>
            <a:avLst/>
            <a:gdLst>
              <a:gd name="T0" fmla="*/ 0 w 248"/>
              <a:gd name="T1" fmla="*/ 0 h 768"/>
              <a:gd name="T2" fmla="*/ 211599476 w 248"/>
              <a:gd name="T3" fmla="*/ 934050845 h 768"/>
              <a:gd name="T4" fmla="*/ 1093260034 w 248"/>
              <a:gd name="T5" fmla="*/ 2147483647 h 768"/>
              <a:gd name="T6" fmla="*/ 0 60000 65536"/>
              <a:gd name="T7" fmla="*/ 0 60000 65536"/>
              <a:gd name="T8" fmla="*/ 0 60000 65536"/>
              <a:gd name="T9" fmla="*/ 0 w 248"/>
              <a:gd name="T10" fmla="*/ 0 h 768"/>
              <a:gd name="T11" fmla="*/ 248 w 248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768">
                <a:moveTo>
                  <a:pt x="0" y="0"/>
                </a:moveTo>
                <a:cubicBezTo>
                  <a:pt x="3" y="88"/>
                  <a:pt x="7" y="176"/>
                  <a:pt x="48" y="304"/>
                </a:cubicBezTo>
                <a:cubicBezTo>
                  <a:pt x="89" y="432"/>
                  <a:pt x="215" y="689"/>
                  <a:pt x="248" y="7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8" name="Text Box 23"/>
          <p:cNvSpPr txBox="1">
            <a:spLocks noChangeArrowheads="1"/>
          </p:cNvSpPr>
          <p:nvPr/>
        </p:nvSpPr>
        <p:spPr bwMode="auto">
          <a:xfrm>
            <a:off x="4628636" y="5943601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</a:t>
            </a:r>
          </a:p>
        </p:txBody>
      </p:sp>
      <p:sp>
        <p:nvSpPr>
          <p:cNvPr id="82969" name="Text Box 24"/>
          <p:cNvSpPr txBox="1">
            <a:spLocks noChangeArrowheads="1"/>
          </p:cNvSpPr>
          <p:nvPr/>
        </p:nvSpPr>
        <p:spPr bwMode="auto">
          <a:xfrm>
            <a:off x="6419336" y="5905501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Splitting</a:t>
            </a:r>
          </a:p>
        </p:txBody>
      </p:sp>
      <p:sp>
        <p:nvSpPr>
          <p:cNvPr id="82970" name="Text Box 25"/>
          <p:cNvSpPr txBox="1">
            <a:spLocks noChangeArrowheads="1"/>
          </p:cNvSpPr>
          <p:nvPr/>
        </p:nvSpPr>
        <p:spPr bwMode="auto">
          <a:xfrm>
            <a:off x="7714736" y="4953000"/>
            <a:ext cx="401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 and Splitting of control</a:t>
            </a:r>
          </a:p>
        </p:txBody>
      </p:sp>
      <p:sp>
        <p:nvSpPr>
          <p:cNvPr id="82971" name="Freeform 26"/>
          <p:cNvSpPr>
            <a:spLocks/>
          </p:cNvSpPr>
          <p:nvPr/>
        </p:nvSpPr>
        <p:spPr bwMode="auto">
          <a:xfrm>
            <a:off x="4933436" y="4724400"/>
            <a:ext cx="471488" cy="1181100"/>
          </a:xfrm>
          <a:custGeom>
            <a:avLst/>
            <a:gdLst>
              <a:gd name="T0" fmla="*/ 0 w 297"/>
              <a:gd name="T1" fmla="*/ 0 h 744"/>
              <a:gd name="T2" fmla="*/ 624999354 w 297"/>
              <a:gd name="T3" fmla="*/ 887095106 h 744"/>
              <a:gd name="T4" fmla="*/ 745966933 w 297"/>
              <a:gd name="T5" fmla="*/ 1874996428 h 744"/>
              <a:gd name="T6" fmla="*/ 0 60000 65536"/>
              <a:gd name="T7" fmla="*/ 0 60000 65536"/>
              <a:gd name="T8" fmla="*/ 0 60000 65536"/>
              <a:gd name="T9" fmla="*/ 0 w 297"/>
              <a:gd name="T10" fmla="*/ 0 h 744"/>
              <a:gd name="T11" fmla="*/ 297 w 297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7" h="744">
                <a:moveTo>
                  <a:pt x="0" y="0"/>
                </a:moveTo>
                <a:cubicBezTo>
                  <a:pt x="99" y="114"/>
                  <a:pt x="199" y="228"/>
                  <a:pt x="248" y="352"/>
                </a:cubicBezTo>
                <a:cubicBezTo>
                  <a:pt x="297" y="476"/>
                  <a:pt x="296" y="610"/>
                  <a:pt x="296" y="7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72" name="Freeform 27"/>
          <p:cNvSpPr>
            <a:spLocks/>
          </p:cNvSpPr>
          <p:nvPr/>
        </p:nvSpPr>
        <p:spPr bwMode="auto">
          <a:xfrm>
            <a:off x="5604950" y="4673600"/>
            <a:ext cx="407987" cy="1231900"/>
          </a:xfrm>
          <a:custGeom>
            <a:avLst/>
            <a:gdLst>
              <a:gd name="T0" fmla="*/ 647678460 w 257"/>
              <a:gd name="T1" fmla="*/ 0 h 736"/>
              <a:gd name="T2" fmla="*/ 103325462 w 257"/>
              <a:gd name="T3" fmla="*/ 874078161 h 736"/>
              <a:gd name="T4" fmla="*/ 22680580 w 257"/>
              <a:gd name="T5" fmla="*/ 2061926253 h 736"/>
              <a:gd name="T6" fmla="*/ 0 60000 65536"/>
              <a:gd name="T7" fmla="*/ 0 60000 65536"/>
              <a:gd name="T8" fmla="*/ 0 60000 65536"/>
              <a:gd name="T9" fmla="*/ 0 w 257"/>
              <a:gd name="T10" fmla="*/ 0 h 736"/>
              <a:gd name="T11" fmla="*/ 257 w 257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" h="736">
                <a:moveTo>
                  <a:pt x="257" y="0"/>
                </a:moveTo>
                <a:cubicBezTo>
                  <a:pt x="169" y="94"/>
                  <a:pt x="82" y="189"/>
                  <a:pt x="41" y="312"/>
                </a:cubicBezTo>
                <a:cubicBezTo>
                  <a:pt x="0" y="435"/>
                  <a:pt x="4" y="585"/>
                  <a:pt x="9" y="7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224" y="2658070"/>
            <a:ext cx="35894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Show systems behavior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Systems behave in response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some external stimulus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Does not have variables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activities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Illustrate the systems behavior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across different use cases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197336" y="2322514"/>
            <a:ext cx="533400" cy="458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8197336" y="2780812"/>
            <a:ext cx="431800" cy="584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1629" y="2497143"/>
            <a:ext cx="792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Pseudo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States</a:t>
            </a:r>
          </a:p>
        </p:txBody>
      </p:sp>
    </p:spTree>
    <p:extLst>
      <p:ext uri="{BB962C8B-B14F-4D97-AF65-F5344CB8AC3E}">
        <p14:creationId xmlns:p14="http://schemas.microsoft.com/office/powerpoint/2010/main" val="25511114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960721" y="727540"/>
            <a:ext cx="4525608" cy="66010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 charset="0"/>
              </a:rPr>
              <a:t>Statechart</a:t>
            </a:r>
            <a:r>
              <a:rPr lang="en-US" dirty="0">
                <a:latin typeface="Times New Roman" charset="0"/>
              </a:rPr>
              <a:t>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74" y="1513437"/>
            <a:ext cx="8947060" cy="496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9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58" y="748177"/>
            <a:ext cx="4525608" cy="744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Toaster Oven </a:t>
            </a:r>
            <a:r>
              <a:rPr lang="en-US" dirty="0" err="1">
                <a:latin typeface="Times New Roman" charset="0"/>
              </a:rPr>
              <a:t>Statechart</a:t>
            </a:r>
            <a:endParaRPr lang="en-US" dirty="0">
              <a:latin typeface="Times New Roman" charset="0"/>
            </a:endParaRPr>
          </a:p>
        </p:txBody>
      </p:sp>
      <p:sp>
        <p:nvSpPr>
          <p:cNvPr id="64516" name="AutoShape 3"/>
          <p:cNvSpPr>
            <a:spLocks noChangeArrowheads="1"/>
          </p:cNvSpPr>
          <p:nvPr/>
        </p:nvSpPr>
        <p:spPr bwMode="auto">
          <a:xfrm>
            <a:off x="2555876" y="1947863"/>
            <a:ext cx="4289425" cy="3656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4079875" y="2032000"/>
            <a:ext cx="163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doorClosed</a:t>
            </a:r>
          </a:p>
        </p:txBody>
      </p:sp>
      <p:sp>
        <p:nvSpPr>
          <p:cNvPr id="64518" name="AutoShape 5"/>
          <p:cNvSpPr>
            <a:spLocks noChangeArrowheads="1"/>
          </p:cNvSpPr>
          <p:nvPr/>
        </p:nvSpPr>
        <p:spPr bwMode="auto">
          <a:xfrm>
            <a:off x="7656514" y="3209925"/>
            <a:ext cx="1754187" cy="10810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19" name="Text Box 6"/>
          <p:cNvSpPr txBox="1">
            <a:spLocks noChangeArrowheads="1"/>
          </p:cNvSpPr>
          <p:nvPr/>
        </p:nvSpPr>
        <p:spPr bwMode="auto">
          <a:xfrm>
            <a:off x="8078789" y="3213100"/>
            <a:ext cx="1146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doorOpen</a:t>
            </a:r>
          </a:p>
        </p:txBody>
      </p:sp>
      <p:sp>
        <p:nvSpPr>
          <p:cNvPr id="64520" name="AutoShape 7"/>
          <p:cNvSpPr>
            <a:spLocks noChangeArrowheads="1"/>
          </p:cNvSpPr>
          <p:nvPr/>
        </p:nvSpPr>
        <p:spPr bwMode="auto">
          <a:xfrm>
            <a:off x="2833689" y="2671764"/>
            <a:ext cx="2300287" cy="2624137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1" name="AutoShape 8"/>
          <p:cNvSpPr>
            <a:spLocks noChangeArrowheads="1"/>
          </p:cNvSpPr>
          <p:nvPr/>
        </p:nvSpPr>
        <p:spPr bwMode="auto">
          <a:xfrm>
            <a:off x="5532438" y="3860801"/>
            <a:ext cx="1096962" cy="10255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2" name="AutoShape 9"/>
          <p:cNvSpPr>
            <a:spLocks noChangeArrowheads="1"/>
          </p:cNvSpPr>
          <p:nvPr/>
        </p:nvSpPr>
        <p:spPr bwMode="auto">
          <a:xfrm>
            <a:off x="2898775" y="3970338"/>
            <a:ext cx="908050" cy="10398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3" name="AutoShape 10"/>
          <p:cNvSpPr>
            <a:spLocks noChangeArrowheads="1"/>
          </p:cNvSpPr>
          <p:nvPr/>
        </p:nvSpPr>
        <p:spPr bwMode="auto">
          <a:xfrm>
            <a:off x="3971925" y="3983039"/>
            <a:ext cx="1009650" cy="10255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4" name="Oval 11"/>
          <p:cNvSpPr>
            <a:spLocks noChangeArrowheads="1"/>
          </p:cNvSpPr>
          <p:nvPr/>
        </p:nvSpPr>
        <p:spPr bwMode="auto">
          <a:xfrm>
            <a:off x="6207126" y="2584450"/>
            <a:ext cx="493713" cy="508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5" name="Text Box 12"/>
          <p:cNvSpPr txBox="1">
            <a:spLocks noChangeArrowheads="1"/>
          </p:cNvSpPr>
          <p:nvPr/>
        </p:nvSpPr>
        <p:spPr bwMode="auto">
          <a:xfrm>
            <a:off x="6302375" y="2687638"/>
            <a:ext cx="4206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H*</a:t>
            </a:r>
          </a:p>
        </p:txBody>
      </p:sp>
      <p:sp>
        <p:nvSpPr>
          <p:cNvPr id="64526" name="Text Box 13"/>
          <p:cNvSpPr txBox="1">
            <a:spLocks noChangeArrowheads="1"/>
          </p:cNvSpPr>
          <p:nvPr/>
        </p:nvSpPr>
        <p:spPr bwMode="auto">
          <a:xfrm>
            <a:off x="3338513" y="2743200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heating</a:t>
            </a:r>
          </a:p>
        </p:txBody>
      </p:sp>
      <p:sp>
        <p:nvSpPr>
          <p:cNvPr id="64527" name="Text Box 14"/>
          <p:cNvSpPr txBox="1">
            <a:spLocks noChangeArrowheads="1"/>
          </p:cNvSpPr>
          <p:nvPr/>
        </p:nvSpPr>
        <p:spPr bwMode="auto">
          <a:xfrm>
            <a:off x="2808288" y="4056063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toasting</a:t>
            </a:r>
          </a:p>
        </p:txBody>
      </p:sp>
      <p:sp>
        <p:nvSpPr>
          <p:cNvPr id="64528" name="Text Box 15"/>
          <p:cNvSpPr txBox="1">
            <a:spLocks noChangeArrowheads="1"/>
          </p:cNvSpPr>
          <p:nvPr/>
        </p:nvSpPr>
        <p:spPr bwMode="auto">
          <a:xfrm>
            <a:off x="3911601" y="4084638"/>
            <a:ext cx="11033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baking</a:t>
            </a:r>
          </a:p>
        </p:txBody>
      </p:sp>
      <p:sp>
        <p:nvSpPr>
          <p:cNvPr id="64529" name="Text Box 16"/>
          <p:cNvSpPr txBox="1">
            <a:spLocks noChangeArrowheads="1"/>
          </p:cNvSpPr>
          <p:nvPr/>
        </p:nvSpPr>
        <p:spPr bwMode="auto">
          <a:xfrm>
            <a:off x="2830513" y="3105151"/>
            <a:ext cx="2074862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entry/heaterOn();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exit/heaterOff();</a:t>
            </a:r>
          </a:p>
        </p:txBody>
      </p:sp>
      <p:sp>
        <p:nvSpPr>
          <p:cNvPr id="64530" name="Line 17"/>
          <p:cNvSpPr>
            <a:spLocks noChangeShapeType="1"/>
          </p:cNvSpPr>
          <p:nvPr/>
        </p:nvSpPr>
        <p:spPr bwMode="auto">
          <a:xfrm>
            <a:off x="2830513" y="3135313"/>
            <a:ext cx="229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1" name="Line 18"/>
          <p:cNvSpPr>
            <a:spLocks noChangeShapeType="1"/>
          </p:cNvSpPr>
          <p:nvPr/>
        </p:nvSpPr>
        <p:spPr bwMode="auto">
          <a:xfrm>
            <a:off x="2903539" y="4470400"/>
            <a:ext cx="884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2" name="Line 19"/>
          <p:cNvSpPr>
            <a:spLocks noChangeShapeType="1"/>
          </p:cNvSpPr>
          <p:nvPr/>
        </p:nvSpPr>
        <p:spPr bwMode="auto">
          <a:xfrm>
            <a:off x="3976688" y="4456113"/>
            <a:ext cx="1001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3" name="Line 20"/>
          <p:cNvSpPr>
            <a:spLocks noChangeShapeType="1"/>
          </p:cNvSpPr>
          <p:nvPr/>
        </p:nvSpPr>
        <p:spPr bwMode="auto">
          <a:xfrm>
            <a:off x="7661275" y="3522663"/>
            <a:ext cx="1784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4" name="Line 21"/>
          <p:cNvSpPr>
            <a:spLocks noChangeShapeType="1"/>
          </p:cNvSpPr>
          <p:nvPr/>
        </p:nvSpPr>
        <p:spPr bwMode="auto">
          <a:xfrm>
            <a:off x="2554288" y="2409825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5" name="Freeform 22"/>
          <p:cNvSpPr>
            <a:spLocks/>
          </p:cNvSpPr>
          <p:nvPr/>
        </p:nvSpPr>
        <p:spPr bwMode="auto">
          <a:xfrm>
            <a:off x="3309939" y="5006976"/>
            <a:ext cx="134937" cy="595313"/>
          </a:xfrm>
          <a:custGeom>
            <a:avLst/>
            <a:gdLst>
              <a:gd name="T0" fmla="*/ 45362641 w 85"/>
              <a:gd name="T1" fmla="*/ 945060270 h 375"/>
              <a:gd name="T2" fmla="*/ 206652022 w 85"/>
              <a:gd name="T3" fmla="*/ 322580265 h 375"/>
              <a:gd name="T4" fmla="*/ 0 w 85"/>
              <a:gd name="T5" fmla="*/ 0 h 375"/>
              <a:gd name="T6" fmla="*/ 0 60000 65536"/>
              <a:gd name="T7" fmla="*/ 0 60000 65536"/>
              <a:gd name="T8" fmla="*/ 0 60000 65536"/>
              <a:gd name="T9" fmla="*/ 0 w 85"/>
              <a:gd name="T10" fmla="*/ 0 h 375"/>
              <a:gd name="T11" fmla="*/ 85 w 85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" h="375">
                <a:moveTo>
                  <a:pt x="18" y="375"/>
                </a:moveTo>
                <a:cubicBezTo>
                  <a:pt x="51" y="282"/>
                  <a:pt x="85" y="190"/>
                  <a:pt x="82" y="128"/>
                </a:cubicBezTo>
                <a:cubicBezTo>
                  <a:pt x="79" y="66"/>
                  <a:pt x="39" y="33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6" name="Text Box 23"/>
          <p:cNvSpPr txBox="1">
            <a:spLocks noChangeArrowheads="1"/>
          </p:cNvSpPr>
          <p:nvPr/>
        </p:nvSpPr>
        <p:spPr bwMode="auto">
          <a:xfrm>
            <a:off x="3076575" y="5253038"/>
            <a:ext cx="132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TOAST</a:t>
            </a:r>
          </a:p>
        </p:txBody>
      </p:sp>
      <p:sp>
        <p:nvSpPr>
          <p:cNvPr id="64537" name="Freeform 24"/>
          <p:cNvSpPr>
            <a:spLocks/>
          </p:cNvSpPr>
          <p:nvPr/>
        </p:nvSpPr>
        <p:spPr bwMode="auto">
          <a:xfrm>
            <a:off x="4625976" y="5013326"/>
            <a:ext cx="288925" cy="595313"/>
          </a:xfrm>
          <a:custGeom>
            <a:avLst/>
            <a:gdLst>
              <a:gd name="T0" fmla="*/ 458668482 w 182"/>
              <a:gd name="T1" fmla="*/ 945060270 h 375"/>
              <a:gd name="T2" fmla="*/ 65524065 w 182"/>
              <a:gd name="T3" fmla="*/ 299899641 h 375"/>
              <a:gd name="T4" fmla="*/ 65524065 w 182"/>
              <a:gd name="T5" fmla="*/ 0 h 375"/>
              <a:gd name="T6" fmla="*/ 0 60000 65536"/>
              <a:gd name="T7" fmla="*/ 0 60000 65536"/>
              <a:gd name="T8" fmla="*/ 0 60000 65536"/>
              <a:gd name="T9" fmla="*/ 0 w 182"/>
              <a:gd name="T10" fmla="*/ 0 h 375"/>
              <a:gd name="T11" fmla="*/ 182 w 182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375">
                <a:moveTo>
                  <a:pt x="182" y="375"/>
                </a:moveTo>
                <a:cubicBezTo>
                  <a:pt x="117" y="278"/>
                  <a:pt x="52" y="182"/>
                  <a:pt x="26" y="119"/>
                </a:cubicBezTo>
                <a:cubicBezTo>
                  <a:pt x="0" y="56"/>
                  <a:pt x="13" y="28"/>
                  <a:pt x="2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8" name="Text Box 25"/>
          <p:cNvSpPr txBox="1">
            <a:spLocks noChangeArrowheads="1"/>
          </p:cNvSpPr>
          <p:nvPr/>
        </p:nvSpPr>
        <p:spPr bwMode="auto">
          <a:xfrm>
            <a:off x="4584700" y="5221288"/>
            <a:ext cx="132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BAKE</a:t>
            </a:r>
          </a:p>
        </p:txBody>
      </p:sp>
      <p:sp>
        <p:nvSpPr>
          <p:cNvPr id="64539" name="Text Box 26"/>
          <p:cNvSpPr txBox="1">
            <a:spLocks noChangeArrowheads="1"/>
          </p:cNvSpPr>
          <p:nvPr/>
        </p:nvSpPr>
        <p:spPr bwMode="auto">
          <a:xfrm>
            <a:off x="5516563" y="3873500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off</a:t>
            </a:r>
          </a:p>
        </p:txBody>
      </p:sp>
      <p:sp>
        <p:nvSpPr>
          <p:cNvPr id="64540" name="Line 27"/>
          <p:cNvSpPr>
            <a:spLocks noChangeShapeType="1"/>
          </p:cNvSpPr>
          <p:nvPr/>
        </p:nvSpPr>
        <p:spPr bwMode="auto">
          <a:xfrm>
            <a:off x="5535613" y="4246563"/>
            <a:ext cx="1060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1" name="Text Box 28"/>
          <p:cNvSpPr txBox="1">
            <a:spLocks noChangeArrowheads="1"/>
          </p:cNvSpPr>
          <p:nvPr/>
        </p:nvSpPr>
        <p:spPr bwMode="auto">
          <a:xfrm>
            <a:off x="2960689" y="4572000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2" name="Text Box 29"/>
          <p:cNvSpPr txBox="1">
            <a:spLocks noChangeArrowheads="1"/>
          </p:cNvSpPr>
          <p:nvPr/>
        </p:nvSpPr>
        <p:spPr bwMode="auto">
          <a:xfrm>
            <a:off x="4084639" y="4565650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3" name="Text Box 30"/>
          <p:cNvSpPr txBox="1">
            <a:spLocks noChangeArrowheads="1"/>
          </p:cNvSpPr>
          <p:nvPr/>
        </p:nvSpPr>
        <p:spPr bwMode="auto">
          <a:xfrm>
            <a:off x="5740401" y="4433888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4" name="Freeform 31"/>
          <p:cNvSpPr>
            <a:spLocks/>
          </p:cNvSpPr>
          <p:nvPr/>
        </p:nvSpPr>
        <p:spPr bwMode="auto">
          <a:xfrm>
            <a:off x="5930901" y="4838700"/>
            <a:ext cx="149225" cy="755650"/>
          </a:xfrm>
          <a:custGeom>
            <a:avLst/>
            <a:gdLst>
              <a:gd name="T0" fmla="*/ 55478338 w 85"/>
              <a:gd name="T1" fmla="*/ 1522685135 h 375"/>
              <a:gd name="T2" fmla="*/ 252730990 w 85"/>
              <a:gd name="T3" fmla="*/ 519744087 h 375"/>
              <a:gd name="T4" fmla="*/ 0 w 85"/>
              <a:gd name="T5" fmla="*/ 0 h 375"/>
              <a:gd name="T6" fmla="*/ 0 60000 65536"/>
              <a:gd name="T7" fmla="*/ 0 60000 65536"/>
              <a:gd name="T8" fmla="*/ 0 60000 65536"/>
              <a:gd name="T9" fmla="*/ 0 w 85"/>
              <a:gd name="T10" fmla="*/ 0 h 375"/>
              <a:gd name="T11" fmla="*/ 85 w 85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" h="375">
                <a:moveTo>
                  <a:pt x="18" y="375"/>
                </a:moveTo>
                <a:cubicBezTo>
                  <a:pt x="51" y="282"/>
                  <a:pt x="85" y="190"/>
                  <a:pt x="82" y="128"/>
                </a:cubicBezTo>
                <a:cubicBezTo>
                  <a:pt x="79" y="66"/>
                  <a:pt x="39" y="33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5" name="Text Box 32"/>
          <p:cNvSpPr txBox="1">
            <a:spLocks noChangeArrowheads="1"/>
          </p:cNvSpPr>
          <p:nvPr/>
        </p:nvSpPr>
        <p:spPr bwMode="auto">
          <a:xfrm>
            <a:off x="5997576" y="5051425"/>
            <a:ext cx="1857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OFF, tm(TIME_OUT)</a:t>
            </a:r>
          </a:p>
        </p:txBody>
      </p:sp>
      <p:sp>
        <p:nvSpPr>
          <p:cNvPr id="64546" name="Freeform 33"/>
          <p:cNvSpPr>
            <a:spLocks/>
          </p:cNvSpPr>
          <p:nvPr/>
        </p:nvSpPr>
        <p:spPr bwMode="auto">
          <a:xfrm>
            <a:off x="6851651" y="2176464"/>
            <a:ext cx="620713" cy="447675"/>
          </a:xfrm>
          <a:custGeom>
            <a:avLst/>
            <a:gdLst>
              <a:gd name="T0" fmla="*/ 859498386 w 410"/>
              <a:gd name="T1" fmla="*/ 0 h 522"/>
              <a:gd name="T2" fmla="*/ 797614832 w 410"/>
              <a:gd name="T3" fmla="*/ 255955167 h 522"/>
              <a:gd name="T4" fmla="*/ 0 w 410"/>
              <a:gd name="T5" fmla="*/ 383932697 h 522"/>
              <a:gd name="T6" fmla="*/ 0 60000 65536"/>
              <a:gd name="T7" fmla="*/ 0 60000 65536"/>
              <a:gd name="T8" fmla="*/ 0 60000 65536"/>
              <a:gd name="T9" fmla="*/ 0 w 410"/>
              <a:gd name="T10" fmla="*/ 0 h 522"/>
              <a:gd name="T11" fmla="*/ 410 w 410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0" h="522">
                <a:moveTo>
                  <a:pt x="375" y="0"/>
                </a:moveTo>
                <a:cubicBezTo>
                  <a:pt x="392" y="130"/>
                  <a:pt x="410" y="261"/>
                  <a:pt x="348" y="348"/>
                </a:cubicBezTo>
                <a:cubicBezTo>
                  <a:pt x="286" y="435"/>
                  <a:pt x="56" y="495"/>
                  <a:pt x="0" y="52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7" name="Freeform 34"/>
          <p:cNvSpPr>
            <a:spLocks/>
          </p:cNvSpPr>
          <p:nvPr/>
        </p:nvSpPr>
        <p:spPr bwMode="auto">
          <a:xfrm>
            <a:off x="5646738" y="3309938"/>
            <a:ext cx="214312" cy="550862"/>
          </a:xfrm>
          <a:custGeom>
            <a:avLst/>
            <a:gdLst>
              <a:gd name="T0" fmla="*/ 0 w 135"/>
              <a:gd name="T1" fmla="*/ 0 h 347"/>
              <a:gd name="T2" fmla="*/ 297377708 w 135"/>
              <a:gd name="T3" fmla="*/ 435985887 h 347"/>
              <a:gd name="T4" fmla="*/ 252015022 w 135"/>
              <a:gd name="T5" fmla="*/ 874492720 h 347"/>
              <a:gd name="T6" fmla="*/ 0 60000 65536"/>
              <a:gd name="T7" fmla="*/ 0 60000 65536"/>
              <a:gd name="T8" fmla="*/ 0 60000 65536"/>
              <a:gd name="T9" fmla="*/ 0 w 135"/>
              <a:gd name="T10" fmla="*/ 0 h 347"/>
              <a:gd name="T11" fmla="*/ 135 w 135"/>
              <a:gd name="T12" fmla="*/ 347 h 3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5" h="347">
                <a:moveTo>
                  <a:pt x="0" y="0"/>
                </a:moveTo>
                <a:cubicBezTo>
                  <a:pt x="50" y="57"/>
                  <a:pt x="101" y="115"/>
                  <a:pt x="118" y="173"/>
                </a:cubicBezTo>
                <a:cubicBezTo>
                  <a:pt x="135" y="231"/>
                  <a:pt x="117" y="289"/>
                  <a:pt x="100" y="3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4548" name="AutoShape 35"/>
          <p:cNvCxnSpPr>
            <a:cxnSpLocks noChangeShapeType="1"/>
            <a:endCxn id="64518" idx="1"/>
          </p:cNvCxnSpPr>
          <p:nvPr/>
        </p:nvCxnSpPr>
        <p:spPr bwMode="auto">
          <a:xfrm>
            <a:off x="5135563" y="3025775"/>
            <a:ext cx="2520950" cy="7254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4549" name="Text Box 36"/>
          <p:cNvSpPr txBox="1">
            <a:spLocks noChangeArrowheads="1"/>
          </p:cNvSpPr>
          <p:nvPr/>
        </p:nvSpPr>
        <p:spPr bwMode="auto">
          <a:xfrm>
            <a:off x="6904039" y="3673475"/>
            <a:ext cx="769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OPEN</a:t>
            </a:r>
          </a:p>
        </p:txBody>
      </p:sp>
      <p:cxnSp>
        <p:nvCxnSpPr>
          <p:cNvPr id="64550" name="AutoShape 37"/>
          <p:cNvCxnSpPr>
            <a:cxnSpLocks noChangeShapeType="1"/>
            <a:stCxn id="64518" idx="0"/>
            <a:endCxn id="64524" idx="5"/>
          </p:cNvCxnSpPr>
          <p:nvPr/>
        </p:nvCxnSpPr>
        <p:spPr bwMode="auto">
          <a:xfrm rot="5400000" flipH="1">
            <a:off x="7485064" y="2160589"/>
            <a:ext cx="192087" cy="1906587"/>
          </a:xfrm>
          <a:prstGeom prst="curvedConnector3">
            <a:avLst>
              <a:gd name="adj1" fmla="val 3057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4551" name="Text Box 38"/>
          <p:cNvSpPr txBox="1">
            <a:spLocks noChangeArrowheads="1"/>
          </p:cNvSpPr>
          <p:nvPr/>
        </p:nvSpPr>
        <p:spPr bwMode="auto">
          <a:xfrm>
            <a:off x="6867525" y="2873375"/>
            <a:ext cx="1162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CLOSE</a:t>
            </a:r>
          </a:p>
        </p:txBody>
      </p:sp>
      <p:sp>
        <p:nvSpPr>
          <p:cNvPr id="64552" name="Text Box 40"/>
          <p:cNvSpPr txBox="1">
            <a:spLocks noChangeArrowheads="1"/>
          </p:cNvSpPr>
          <p:nvPr/>
        </p:nvSpPr>
        <p:spPr bwMode="auto">
          <a:xfrm>
            <a:off x="7874001" y="3533775"/>
            <a:ext cx="1452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entry/lampOn();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7842250" y="3876675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exit/lampOff();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72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Activity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172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87192"/>
            <a:ext cx="8379901" cy="67664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50752" y="2683525"/>
            <a:ext cx="43588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=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Arrows = control flow = show direction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 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 and rejoin</a:t>
            </a:r>
          </a:p>
        </p:txBody>
      </p:sp>
      <p:sp>
        <p:nvSpPr>
          <p:cNvPr id="50" name="AutoShape 24"/>
          <p:cNvSpPr>
            <a:spLocks noChangeArrowheads="1"/>
          </p:cNvSpPr>
          <p:nvPr/>
        </p:nvSpPr>
        <p:spPr bwMode="auto">
          <a:xfrm>
            <a:off x="7783133" y="3828616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55085" y="2634140"/>
            <a:ext cx="35468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diagram: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dynamic View of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to flow charts: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Workflow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processes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Procedural </a:t>
            </a:r>
          </a:p>
        </p:txBody>
      </p:sp>
    </p:spTree>
    <p:extLst>
      <p:ext uri="{BB962C8B-B14F-4D97-AF65-F5344CB8AC3E}">
        <p14:creationId xmlns:p14="http://schemas.microsoft.com/office/powerpoint/2010/main" val="425334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87193"/>
            <a:ext cx="10417284" cy="59227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100356" name="AutoShape 3"/>
          <p:cNvSpPr>
            <a:spLocks noChangeArrowheads="1"/>
          </p:cNvSpPr>
          <p:nvPr/>
        </p:nvSpPr>
        <p:spPr bwMode="auto">
          <a:xfrm>
            <a:off x="2760112" y="1905182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57" name="Text Box 4"/>
          <p:cNvSpPr txBox="1">
            <a:spLocks noChangeArrowheads="1"/>
          </p:cNvSpPr>
          <p:nvPr/>
        </p:nvSpPr>
        <p:spPr bwMode="auto">
          <a:xfrm>
            <a:off x="3058562" y="2038531"/>
            <a:ext cx="98745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58" name="AutoShape 5"/>
          <p:cNvSpPr>
            <a:spLocks noChangeArrowheads="1"/>
          </p:cNvSpPr>
          <p:nvPr/>
        </p:nvSpPr>
        <p:spPr bwMode="auto">
          <a:xfrm>
            <a:off x="2937912" y="3175182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59" name="Text Box 6"/>
          <p:cNvSpPr txBox="1">
            <a:spLocks noChangeArrowheads="1"/>
          </p:cNvSpPr>
          <p:nvPr/>
        </p:nvSpPr>
        <p:spPr bwMode="auto">
          <a:xfrm>
            <a:off x="3001412" y="3314883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60" name="Line 7"/>
          <p:cNvSpPr>
            <a:spLocks noChangeShapeType="1"/>
          </p:cNvSpPr>
          <p:nvPr/>
        </p:nvSpPr>
        <p:spPr bwMode="auto">
          <a:xfrm flipH="1">
            <a:off x="3598312" y="2552882"/>
            <a:ext cx="0" cy="2666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2" name="Line 9"/>
          <p:cNvSpPr>
            <a:spLocks noChangeShapeType="1"/>
          </p:cNvSpPr>
          <p:nvPr/>
        </p:nvSpPr>
        <p:spPr bwMode="auto">
          <a:xfrm flipH="1">
            <a:off x="3585612" y="2819582"/>
            <a:ext cx="127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3" name="AutoShape 10"/>
          <p:cNvSpPr>
            <a:spLocks noChangeArrowheads="1"/>
          </p:cNvSpPr>
          <p:nvPr/>
        </p:nvSpPr>
        <p:spPr bwMode="auto">
          <a:xfrm>
            <a:off x="7575044" y="1876860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4" name="Text Box 11"/>
          <p:cNvSpPr txBox="1">
            <a:spLocks noChangeArrowheads="1"/>
          </p:cNvSpPr>
          <p:nvPr/>
        </p:nvSpPr>
        <p:spPr bwMode="auto">
          <a:xfrm>
            <a:off x="7638544" y="2016561"/>
            <a:ext cx="94710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65" name="AutoShape 12"/>
          <p:cNvSpPr>
            <a:spLocks noChangeArrowheads="1"/>
          </p:cNvSpPr>
          <p:nvPr/>
        </p:nvSpPr>
        <p:spPr bwMode="auto">
          <a:xfrm>
            <a:off x="7498844" y="3235760"/>
            <a:ext cx="19685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6" name="Line 13"/>
          <p:cNvSpPr>
            <a:spLocks noChangeShapeType="1"/>
          </p:cNvSpPr>
          <p:nvPr/>
        </p:nvSpPr>
        <p:spPr bwMode="auto">
          <a:xfrm flipH="1">
            <a:off x="8438644" y="2880160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7" name="Text Box 14"/>
          <p:cNvSpPr txBox="1">
            <a:spLocks noChangeArrowheads="1"/>
          </p:cNvSpPr>
          <p:nvPr/>
        </p:nvSpPr>
        <p:spPr bwMode="auto">
          <a:xfrm>
            <a:off x="4203725" y="2624319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 flow</a:t>
            </a:r>
          </a:p>
        </p:txBody>
      </p:sp>
      <p:sp>
        <p:nvSpPr>
          <p:cNvPr id="100368" name="Text Box 15"/>
          <p:cNvSpPr txBox="1">
            <a:spLocks noChangeArrowheads="1"/>
          </p:cNvSpPr>
          <p:nvPr/>
        </p:nvSpPr>
        <p:spPr bwMode="auto">
          <a:xfrm>
            <a:off x="7454394" y="3337356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name : Class</a:t>
            </a:r>
          </a:p>
        </p:txBody>
      </p:sp>
      <p:sp>
        <p:nvSpPr>
          <p:cNvPr id="100375" name="Line 22"/>
          <p:cNvSpPr>
            <a:spLocks noChangeShapeType="1"/>
          </p:cNvSpPr>
          <p:nvPr/>
        </p:nvSpPr>
        <p:spPr bwMode="auto">
          <a:xfrm flipV="1">
            <a:off x="8438644" y="2524560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76" name="Text Box 23"/>
          <p:cNvSpPr txBox="1">
            <a:spLocks noChangeArrowheads="1"/>
          </p:cNvSpPr>
          <p:nvPr/>
        </p:nvSpPr>
        <p:spPr bwMode="auto">
          <a:xfrm>
            <a:off x="7862311" y="2584094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flow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6207" y="4412879"/>
            <a:ext cx="43588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=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Arrows = control flow = show direction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 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 and rejoin</a:t>
            </a:r>
          </a:p>
        </p:txBody>
      </p:sp>
      <p:sp>
        <p:nvSpPr>
          <p:cNvPr id="50" name="AutoShape 24"/>
          <p:cNvSpPr>
            <a:spLocks noChangeArrowheads="1"/>
          </p:cNvSpPr>
          <p:nvPr/>
        </p:nvSpPr>
        <p:spPr bwMode="auto">
          <a:xfrm>
            <a:off x="8438644" y="5013043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71269" y="4114983"/>
            <a:ext cx="34057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diagram: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dynamic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View of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to flow charts: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Workflow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processes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Procedural </a:t>
            </a:r>
          </a:p>
        </p:txBody>
      </p:sp>
    </p:spTree>
    <p:extLst>
      <p:ext uri="{BB962C8B-B14F-4D97-AF65-F5344CB8AC3E}">
        <p14:creationId xmlns:p14="http://schemas.microsoft.com/office/powerpoint/2010/main" val="151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39122"/>
            <a:ext cx="8347817" cy="59227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1202192" name="AutoShape 16"/>
          <p:cNvSpPr>
            <a:spLocks noChangeArrowheads="1"/>
          </p:cNvSpPr>
          <p:nvPr/>
        </p:nvSpPr>
        <p:spPr bwMode="auto">
          <a:xfrm>
            <a:off x="1984853" y="26097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3" name="Text Box 17"/>
          <p:cNvSpPr txBox="1">
            <a:spLocks noChangeArrowheads="1"/>
          </p:cNvSpPr>
          <p:nvPr/>
        </p:nvSpPr>
        <p:spPr bwMode="auto">
          <a:xfrm>
            <a:off x="2048353" y="27494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194" name="AutoShape 18"/>
          <p:cNvSpPr>
            <a:spLocks noChangeArrowheads="1"/>
          </p:cNvSpPr>
          <p:nvPr/>
        </p:nvSpPr>
        <p:spPr bwMode="auto">
          <a:xfrm>
            <a:off x="1984853" y="40956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5" name="Text Box 19"/>
          <p:cNvSpPr txBox="1">
            <a:spLocks noChangeArrowheads="1"/>
          </p:cNvSpPr>
          <p:nvPr/>
        </p:nvSpPr>
        <p:spPr bwMode="auto">
          <a:xfrm>
            <a:off x="2048353" y="42353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196" name="Line 20"/>
          <p:cNvSpPr>
            <a:spLocks noChangeShapeType="1"/>
          </p:cNvSpPr>
          <p:nvPr/>
        </p:nvSpPr>
        <p:spPr bwMode="auto">
          <a:xfrm>
            <a:off x="2708753" y="3244713"/>
            <a:ext cx="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7" name="Line 21"/>
          <p:cNvSpPr>
            <a:spLocks noChangeShapeType="1"/>
          </p:cNvSpPr>
          <p:nvPr/>
        </p:nvSpPr>
        <p:spPr bwMode="auto">
          <a:xfrm flipH="1">
            <a:off x="2708753" y="3752713"/>
            <a:ext cx="127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0" name="AutoShape 24"/>
          <p:cNvSpPr>
            <a:spLocks noChangeArrowheads="1"/>
          </p:cNvSpPr>
          <p:nvPr/>
        </p:nvSpPr>
        <p:spPr bwMode="auto">
          <a:xfrm>
            <a:off x="2505553" y="3498713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1" name="Line 25"/>
          <p:cNvSpPr>
            <a:spLocks noChangeShapeType="1"/>
          </p:cNvSpPr>
          <p:nvPr/>
        </p:nvSpPr>
        <p:spPr bwMode="auto">
          <a:xfrm>
            <a:off x="2924653" y="3625713"/>
            <a:ext cx="800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2" name="AutoShape 26"/>
          <p:cNvSpPr>
            <a:spLocks noChangeArrowheads="1"/>
          </p:cNvSpPr>
          <p:nvPr/>
        </p:nvSpPr>
        <p:spPr bwMode="auto">
          <a:xfrm>
            <a:off x="3737453" y="33336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3" name="Text Box 27"/>
          <p:cNvSpPr txBox="1">
            <a:spLocks noChangeArrowheads="1"/>
          </p:cNvSpPr>
          <p:nvPr/>
        </p:nvSpPr>
        <p:spPr bwMode="auto">
          <a:xfrm>
            <a:off x="3788253" y="34733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04" name="Text Box 28"/>
          <p:cNvSpPr txBox="1">
            <a:spLocks noChangeArrowheads="1"/>
          </p:cNvSpPr>
          <p:nvPr/>
        </p:nvSpPr>
        <p:spPr bwMode="auto">
          <a:xfrm>
            <a:off x="1654653" y="3727313"/>
            <a:ext cx="120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[condition]</a:t>
            </a:r>
          </a:p>
        </p:txBody>
      </p:sp>
      <p:sp>
        <p:nvSpPr>
          <p:cNvPr id="1202205" name="Text Box 29"/>
          <p:cNvSpPr txBox="1">
            <a:spLocks noChangeArrowheads="1"/>
          </p:cNvSpPr>
          <p:nvPr/>
        </p:nvSpPr>
        <p:spPr bwMode="auto">
          <a:xfrm>
            <a:off x="2708753" y="3308213"/>
            <a:ext cx="120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[condition]</a:t>
            </a:r>
          </a:p>
        </p:txBody>
      </p:sp>
      <p:sp>
        <p:nvSpPr>
          <p:cNvPr id="100383" name="Text Box 30"/>
          <p:cNvSpPr txBox="1">
            <a:spLocks noChangeArrowheads="1"/>
          </p:cNvSpPr>
          <p:nvPr/>
        </p:nvSpPr>
        <p:spPr bwMode="auto">
          <a:xfrm>
            <a:off x="3648553" y="2647814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Branching</a:t>
            </a:r>
          </a:p>
        </p:txBody>
      </p:sp>
      <p:sp>
        <p:nvSpPr>
          <p:cNvPr id="1202207" name="AutoShape 31"/>
          <p:cNvSpPr>
            <a:spLocks noChangeArrowheads="1"/>
          </p:cNvSpPr>
          <p:nvPr/>
        </p:nvSpPr>
        <p:spPr bwMode="auto">
          <a:xfrm>
            <a:off x="7862427" y="22838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8" name="Text Box 32"/>
          <p:cNvSpPr txBox="1">
            <a:spLocks noChangeArrowheads="1"/>
          </p:cNvSpPr>
          <p:nvPr/>
        </p:nvSpPr>
        <p:spPr bwMode="auto">
          <a:xfrm>
            <a:off x="7913227" y="24235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09" name="AutoShape 33"/>
          <p:cNvSpPr>
            <a:spLocks noChangeArrowheads="1"/>
          </p:cNvSpPr>
          <p:nvPr/>
        </p:nvSpPr>
        <p:spPr bwMode="auto">
          <a:xfrm>
            <a:off x="6871827" y="33760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0" name="Text Box 34"/>
          <p:cNvSpPr txBox="1">
            <a:spLocks noChangeArrowheads="1"/>
          </p:cNvSpPr>
          <p:nvPr/>
        </p:nvSpPr>
        <p:spPr bwMode="auto">
          <a:xfrm>
            <a:off x="6922627" y="35157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1" name="AutoShape 35"/>
          <p:cNvSpPr>
            <a:spLocks noChangeArrowheads="1"/>
          </p:cNvSpPr>
          <p:nvPr/>
        </p:nvSpPr>
        <p:spPr bwMode="auto">
          <a:xfrm>
            <a:off x="8891127" y="33506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2" name="Text Box 36"/>
          <p:cNvSpPr txBox="1">
            <a:spLocks noChangeArrowheads="1"/>
          </p:cNvSpPr>
          <p:nvPr/>
        </p:nvSpPr>
        <p:spPr bwMode="auto">
          <a:xfrm>
            <a:off x="8941927" y="34903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3" name="AutoShape 37"/>
          <p:cNvSpPr>
            <a:spLocks noChangeArrowheads="1"/>
          </p:cNvSpPr>
          <p:nvPr/>
        </p:nvSpPr>
        <p:spPr bwMode="auto">
          <a:xfrm>
            <a:off x="8014827" y="44047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4" name="Text Box 38"/>
          <p:cNvSpPr txBox="1">
            <a:spLocks noChangeArrowheads="1"/>
          </p:cNvSpPr>
          <p:nvPr/>
        </p:nvSpPr>
        <p:spPr bwMode="auto">
          <a:xfrm>
            <a:off x="8065627" y="45444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5" name="Line 39"/>
          <p:cNvSpPr>
            <a:spLocks noChangeShapeType="1"/>
          </p:cNvSpPr>
          <p:nvPr/>
        </p:nvSpPr>
        <p:spPr bwMode="auto">
          <a:xfrm>
            <a:off x="6821027" y="3122096"/>
            <a:ext cx="353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6" name="Line 40"/>
          <p:cNvSpPr>
            <a:spLocks noChangeShapeType="1"/>
          </p:cNvSpPr>
          <p:nvPr/>
        </p:nvSpPr>
        <p:spPr bwMode="auto">
          <a:xfrm>
            <a:off x="6846427" y="4226996"/>
            <a:ext cx="353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7" name="Line 41"/>
          <p:cNvSpPr>
            <a:spLocks noChangeShapeType="1"/>
          </p:cNvSpPr>
          <p:nvPr/>
        </p:nvSpPr>
        <p:spPr bwMode="auto">
          <a:xfrm>
            <a:off x="7671927" y="3109396"/>
            <a:ext cx="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8" name="Line 42"/>
          <p:cNvSpPr>
            <a:spLocks noChangeShapeType="1"/>
          </p:cNvSpPr>
          <p:nvPr/>
        </p:nvSpPr>
        <p:spPr bwMode="auto">
          <a:xfrm>
            <a:off x="9513427" y="3109396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9" name="Line 43"/>
          <p:cNvSpPr>
            <a:spLocks noChangeShapeType="1"/>
          </p:cNvSpPr>
          <p:nvPr/>
        </p:nvSpPr>
        <p:spPr bwMode="auto">
          <a:xfrm>
            <a:off x="8599027" y="2918896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0" name="Line 44"/>
          <p:cNvSpPr>
            <a:spLocks noChangeShapeType="1"/>
          </p:cNvSpPr>
          <p:nvPr/>
        </p:nvSpPr>
        <p:spPr bwMode="auto">
          <a:xfrm>
            <a:off x="7659227" y="4023796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1" name="Line 45"/>
          <p:cNvSpPr>
            <a:spLocks noChangeShapeType="1"/>
          </p:cNvSpPr>
          <p:nvPr/>
        </p:nvSpPr>
        <p:spPr bwMode="auto">
          <a:xfrm>
            <a:off x="9551527" y="3998396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2" name="Line 46"/>
          <p:cNvSpPr>
            <a:spLocks noChangeShapeType="1"/>
          </p:cNvSpPr>
          <p:nvPr/>
        </p:nvSpPr>
        <p:spPr bwMode="auto">
          <a:xfrm>
            <a:off x="8662527" y="4214296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3" name="Text Box 47"/>
          <p:cNvSpPr txBox="1">
            <a:spLocks noChangeArrowheads="1"/>
          </p:cNvSpPr>
          <p:nvPr/>
        </p:nvSpPr>
        <p:spPr bwMode="auto">
          <a:xfrm>
            <a:off x="10443446" y="3429656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6200096" y="2889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7341" y="4029630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Rejoin</a:t>
            </a:r>
          </a:p>
        </p:txBody>
      </p:sp>
    </p:spTree>
    <p:extLst>
      <p:ext uri="{BB962C8B-B14F-4D97-AF65-F5344CB8AC3E}">
        <p14:creationId xmlns:p14="http://schemas.microsoft.com/office/powerpoint/2010/main" val="140839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2192" grpId="0" animBg="1"/>
      <p:bldP spid="1202193" grpId="0"/>
      <p:bldP spid="1202194" grpId="0" animBg="1"/>
      <p:bldP spid="1202195" grpId="0"/>
      <p:bldP spid="1202196" grpId="0" animBg="1"/>
      <p:bldP spid="1202197" grpId="0" animBg="1"/>
      <p:bldP spid="1202200" grpId="0" animBg="1"/>
      <p:bldP spid="1202201" grpId="0" animBg="1"/>
      <p:bldP spid="1202202" grpId="0" animBg="1"/>
      <p:bldP spid="1202203" grpId="0"/>
      <p:bldP spid="1202204" grpId="0"/>
      <p:bldP spid="1202205" grpId="0"/>
      <p:bldP spid="1202207" grpId="0" animBg="1"/>
      <p:bldP spid="1202208" grpId="0"/>
      <p:bldP spid="1202209" grpId="0" animBg="1"/>
      <p:bldP spid="1202210" grpId="0"/>
      <p:bldP spid="1202211" grpId="0" animBg="1"/>
      <p:bldP spid="1202212" grpId="0"/>
      <p:bldP spid="1202213" grpId="0" animBg="1"/>
      <p:bldP spid="1202214" grpId="0"/>
      <p:bldP spid="1202215" grpId="0" animBg="1"/>
      <p:bldP spid="1202216" grpId="0" animBg="1"/>
      <p:bldP spid="1202217" grpId="0" animBg="1"/>
      <p:bldP spid="1202218" grpId="0" animBg="1"/>
      <p:bldP spid="1202219" grpId="0" animBg="1"/>
      <p:bldP spid="1202220" grpId="0" animBg="1"/>
      <p:bldP spid="1202221" grpId="0" animBg="1"/>
      <p:bldP spid="1202222" grpId="0" animBg="1"/>
      <p:bldP spid="12022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286" y="769742"/>
            <a:ext cx="6722595" cy="612978"/>
          </a:xfrm>
        </p:spPr>
        <p:txBody>
          <a:bodyPr/>
          <a:lstStyle/>
          <a:p>
            <a:r>
              <a:rPr lang="en-US" dirty="0"/>
              <a:t>Activity Diagram for Purchase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7" descr="0p5U9IJWvuPnM-OnqD6LXgb5roeIN38aHlXlivSKaS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44" y="1350125"/>
            <a:ext cx="7793728" cy="5220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09882" y="6638842"/>
            <a:ext cx="4387906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Source: Designing GUI components from UML use cases.</a:t>
            </a:r>
          </a:p>
        </p:txBody>
      </p:sp>
    </p:spTree>
    <p:extLst>
      <p:ext uri="{BB962C8B-B14F-4D97-AF65-F5344CB8AC3E}">
        <p14:creationId xmlns:p14="http://schemas.microsoft.com/office/powerpoint/2010/main" val="26987180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305" y="744375"/>
            <a:ext cx="9684600" cy="698963"/>
          </a:xfrm>
        </p:spPr>
        <p:txBody>
          <a:bodyPr>
            <a:normAutofit/>
          </a:bodyPr>
          <a:lstStyle/>
          <a:p>
            <a:r>
              <a:rPr lang="en-US" dirty="0"/>
              <a:t>Activity Diagram to Manage Shopping Cart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GVJjpeLGlLkylj8aS9d_rRMNrPyy-l1S3aEUe3QFZ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831" y="1735741"/>
            <a:ext cx="8015835" cy="46674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94768" y="6630750"/>
            <a:ext cx="4572000" cy="240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Source: Designing GUI components from UML use cases.</a:t>
            </a:r>
          </a:p>
        </p:txBody>
      </p:sp>
    </p:spTree>
    <p:extLst>
      <p:ext uri="{BB962C8B-B14F-4D97-AF65-F5344CB8AC3E}">
        <p14:creationId xmlns:p14="http://schemas.microsoft.com/office/powerpoint/2010/main" val="35566801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87" y="762924"/>
            <a:ext cx="6286086" cy="5867457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2558" y="762924"/>
            <a:ext cx="3906272" cy="608676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Activity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504" y="4213014"/>
            <a:ext cx="542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1224" y="5251526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Rejoin</a:t>
            </a:r>
          </a:p>
        </p:txBody>
      </p:sp>
    </p:spTree>
    <p:extLst>
      <p:ext uri="{BB962C8B-B14F-4D97-AF65-F5344CB8AC3E}">
        <p14:creationId xmlns:p14="http://schemas.microsoft.com/office/powerpoint/2010/main" val="29267456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8964" y="729289"/>
            <a:ext cx="9724741" cy="67840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Difference between activity vs state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1026" name="Picture 2" descr="Getting Started with Arduino Programming - The Engineering Proje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259" y="2694287"/>
            <a:ext cx="3309224" cy="397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79" y="3523496"/>
            <a:ext cx="2455460" cy="1707049"/>
          </a:xfrm>
          <a:prstGeom prst="rect">
            <a:avLst/>
          </a:prstGeom>
        </p:spPr>
      </p:pic>
      <p:pic>
        <p:nvPicPr>
          <p:cNvPr id="1028" name="Picture 4" descr="Amazon.com: RS Components Raspberry Pi 3 B+ Motherboard : Electronic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35" y="3134779"/>
            <a:ext cx="4255789" cy="286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62106" y="2002374"/>
            <a:ext cx="408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Like between Arduino vs Raspberry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580" y="2911201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kind 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state machine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962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DEEB-60CA-93FA-B862-8A043EB9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D16D-54F8-4A5A-CD47-DF40EFF8868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Deployment Diagram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4792E59A-D76A-B697-502A-25D5916706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28440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57310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Deployment Diagram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173" y="1555637"/>
            <a:ext cx="3284036" cy="494738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charset="0"/>
              </a:rPr>
              <a:t>Shows the: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hardware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installed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software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the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middleware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used to connect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machines to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each other.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Static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deployment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view of a system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Physical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allocation of components to computational units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Node = computational unit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Edge = communication</a:t>
            </a:r>
          </a:p>
        </p:txBody>
      </p:sp>
      <p:sp>
        <p:nvSpPr>
          <p:cNvPr id="101381" name="AutoShape 4"/>
          <p:cNvSpPr>
            <a:spLocks noChangeArrowheads="1"/>
          </p:cNvSpPr>
          <p:nvPr/>
        </p:nvSpPr>
        <p:spPr bwMode="auto">
          <a:xfrm>
            <a:off x="4661342" y="2168780"/>
            <a:ext cx="1600200" cy="10160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2" name="Text Box 5"/>
          <p:cNvSpPr txBox="1">
            <a:spLocks noChangeArrowheads="1"/>
          </p:cNvSpPr>
          <p:nvPr/>
        </p:nvSpPr>
        <p:spPr bwMode="auto">
          <a:xfrm>
            <a:off x="4712142" y="24735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 name</a:t>
            </a:r>
          </a:p>
        </p:txBody>
      </p:sp>
      <p:sp>
        <p:nvSpPr>
          <p:cNvPr id="101383" name="Text Box 6"/>
          <p:cNvSpPr txBox="1">
            <a:spLocks noChangeArrowheads="1"/>
          </p:cNvSpPr>
          <p:nvPr/>
        </p:nvSpPr>
        <p:spPr bwMode="auto">
          <a:xfrm>
            <a:off x="7810942" y="24227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(physical resource that executes code components)</a:t>
            </a:r>
          </a:p>
        </p:txBody>
      </p:sp>
      <p:sp>
        <p:nvSpPr>
          <p:cNvPr id="101384" name="AutoShape 7"/>
          <p:cNvSpPr>
            <a:spLocks noChangeArrowheads="1"/>
          </p:cNvSpPr>
          <p:nvPr/>
        </p:nvSpPr>
        <p:spPr bwMode="auto">
          <a:xfrm>
            <a:off x="4559742" y="3565780"/>
            <a:ext cx="1219200" cy="9271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5" name="Text Box 8"/>
          <p:cNvSpPr txBox="1">
            <a:spLocks noChangeArrowheads="1"/>
          </p:cNvSpPr>
          <p:nvPr/>
        </p:nvSpPr>
        <p:spPr bwMode="auto">
          <a:xfrm>
            <a:off x="4570413" y="3934079"/>
            <a:ext cx="57049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86" name="Text Box 9"/>
          <p:cNvSpPr txBox="1">
            <a:spLocks noChangeArrowheads="1"/>
          </p:cNvSpPr>
          <p:nvPr/>
        </p:nvSpPr>
        <p:spPr bwMode="auto">
          <a:xfrm>
            <a:off x="8230042" y="37689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Association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(physical connection between nodes such as Ethernet)</a:t>
            </a:r>
          </a:p>
        </p:txBody>
      </p:sp>
      <p:sp>
        <p:nvSpPr>
          <p:cNvPr id="101387" name="AutoShape 10"/>
          <p:cNvSpPr>
            <a:spLocks noChangeArrowheads="1"/>
          </p:cNvSpPr>
          <p:nvPr/>
        </p:nvSpPr>
        <p:spPr bwMode="auto">
          <a:xfrm>
            <a:off x="6629842" y="3603880"/>
            <a:ext cx="1295400" cy="9017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8" name="Text Box 11"/>
          <p:cNvSpPr txBox="1">
            <a:spLocks noChangeArrowheads="1"/>
          </p:cNvSpPr>
          <p:nvPr/>
        </p:nvSpPr>
        <p:spPr bwMode="auto">
          <a:xfrm>
            <a:off x="6617142" y="39086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89" name="Line 12"/>
          <p:cNvSpPr>
            <a:spLocks noChangeShapeType="1"/>
          </p:cNvSpPr>
          <p:nvPr/>
        </p:nvSpPr>
        <p:spPr bwMode="auto">
          <a:xfrm>
            <a:off x="5778942" y="3972180"/>
            <a:ext cx="85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0" name="AutoShape 13"/>
          <p:cNvSpPr>
            <a:spLocks noChangeArrowheads="1"/>
          </p:cNvSpPr>
          <p:nvPr/>
        </p:nvSpPr>
        <p:spPr bwMode="auto">
          <a:xfrm>
            <a:off x="4432742" y="4873880"/>
            <a:ext cx="2197100" cy="10541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1" name="Text Box 14"/>
          <p:cNvSpPr txBox="1">
            <a:spLocks noChangeArrowheads="1"/>
          </p:cNvSpPr>
          <p:nvPr/>
        </p:nvSpPr>
        <p:spPr bwMode="auto">
          <a:xfrm>
            <a:off x="4483542" y="51786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92" name="Text Box 15"/>
          <p:cNvSpPr txBox="1">
            <a:spLocks noChangeArrowheads="1"/>
          </p:cNvSpPr>
          <p:nvPr/>
        </p:nvSpPr>
        <p:spPr bwMode="auto">
          <a:xfrm>
            <a:off x="7582342" y="51278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Components and nodes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(components are put inside the node that deploys them)</a:t>
            </a:r>
          </a:p>
        </p:txBody>
      </p:sp>
      <p:sp>
        <p:nvSpPr>
          <p:cNvPr id="101393" name="Rectangle 16"/>
          <p:cNvSpPr>
            <a:spLocks noChangeArrowheads="1"/>
          </p:cNvSpPr>
          <p:nvPr/>
        </p:nvSpPr>
        <p:spPr bwMode="auto">
          <a:xfrm>
            <a:off x="4775642" y="5483480"/>
            <a:ext cx="1244600" cy="27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4" name="Text Box 17"/>
          <p:cNvSpPr txBox="1">
            <a:spLocks noChangeArrowheads="1"/>
          </p:cNvSpPr>
          <p:nvPr/>
        </p:nvSpPr>
        <p:spPr bwMode="auto">
          <a:xfrm>
            <a:off x="5004242" y="5419981"/>
            <a:ext cx="1181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&lt;&lt;component&gt;&gt;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857275" y="3922640"/>
            <a:ext cx="3110401" cy="241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Wingdings" charset="0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9961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68" y="896311"/>
            <a:ext cx="7255928" cy="5577318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2557" y="733150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744" y="2892331"/>
            <a:ext cx="3179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Bad design!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least it shows which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servers are involved.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to deploy or update?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better than nothing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620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0" y="1965917"/>
            <a:ext cx="8865234" cy="4452144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4537" y="741171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5129" y="3618356"/>
            <a:ext cx="3179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issue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least it shows the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Servers involved.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to deploy or update?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better than nothing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0467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63" y="1813600"/>
            <a:ext cx="10112234" cy="4219012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94" y="753492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cxnSp>
        <p:nvCxnSpPr>
          <p:cNvPr id="4" name="Straight Arrow Connector 3"/>
          <p:cNvCxnSpPr>
            <a:stCxn id="6" idx="0"/>
          </p:cNvCxnSpPr>
          <p:nvPr/>
        </p:nvCxnSpPr>
        <p:spPr>
          <a:xfrm flipV="1">
            <a:off x="3345869" y="5046860"/>
            <a:ext cx="1979628" cy="93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0301" y="5985518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Has to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deployed/updated</a:t>
            </a:r>
          </a:p>
        </p:txBody>
      </p:sp>
      <p:cxnSp>
        <p:nvCxnSpPr>
          <p:cNvPr id="9" name="Straight Arrow Connector 8"/>
          <p:cNvCxnSpPr>
            <a:stCxn id="6" idx="0"/>
          </p:cNvCxnSpPr>
          <p:nvPr/>
        </p:nvCxnSpPr>
        <p:spPr>
          <a:xfrm flipV="1">
            <a:off x="3345869" y="5090030"/>
            <a:ext cx="4860184" cy="89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743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0525" y="757212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7859" y="6688723"/>
            <a:ext cx="426430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https://www.researchgate.net/figure/A-unified-modeling-language-UML-deployment-diagram-for-the-Carbon-Data-Explorer-CDE_fig1_307681378</a:t>
            </a:r>
          </a:p>
        </p:txBody>
      </p:sp>
      <p:pic>
        <p:nvPicPr>
          <p:cNvPr id="1026" name="Picture 2" descr="A unified modeling language (UML) deployment diagram for the Carbon Data Explorer (CDE), illustrating the configuration and connections between the components as currently deploy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92" y="1092453"/>
            <a:ext cx="809625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7678" y="2911864"/>
            <a:ext cx="33842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Better design: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Shows all computational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units and subsystems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Including version numbers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relationships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Missing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the own content?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13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Collaboration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2056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xfrm>
            <a:off x="953126" y="770876"/>
            <a:ext cx="4838074" cy="624532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Collaboration Diagram</a:t>
            </a:r>
          </a:p>
        </p:txBody>
      </p:sp>
      <p:sp>
        <p:nvSpPr>
          <p:cNvPr id="95236" name="Rectangle 3"/>
          <p:cNvSpPr>
            <a:spLocks noChangeArrowheads="1"/>
          </p:cNvSpPr>
          <p:nvPr/>
        </p:nvSpPr>
        <p:spPr bwMode="auto">
          <a:xfrm>
            <a:off x="2400300" y="2256776"/>
            <a:ext cx="1828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37" name="Text Box 4"/>
          <p:cNvSpPr txBox="1">
            <a:spLocks noChangeArrowheads="1"/>
          </p:cNvSpPr>
          <p:nvPr/>
        </p:nvSpPr>
        <p:spPr bwMode="auto">
          <a:xfrm>
            <a:off x="2463800" y="2409176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95238" name="Text Box 5"/>
          <p:cNvSpPr txBox="1">
            <a:spLocks noChangeArrowheads="1"/>
          </p:cNvSpPr>
          <p:nvPr/>
        </p:nvSpPr>
        <p:spPr bwMode="auto">
          <a:xfrm>
            <a:off x="5016500" y="2443286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Class roles</a:t>
            </a:r>
          </a:p>
        </p:txBody>
      </p:sp>
      <p:sp>
        <p:nvSpPr>
          <p:cNvPr id="95239" name="Line 6"/>
          <p:cNvSpPr>
            <a:spLocks noChangeShapeType="1"/>
          </p:cNvSpPr>
          <p:nvPr/>
        </p:nvSpPr>
        <p:spPr bwMode="auto">
          <a:xfrm>
            <a:off x="2476500" y="3780776"/>
            <a:ext cx="177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0" name="Text Box 7"/>
          <p:cNvSpPr txBox="1">
            <a:spLocks noChangeArrowheads="1"/>
          </p:cNvSpPr>
          <p:nvPr/>
        </p:nvSpPr>
        <p:spPr bwMode="auto">
          <a:xfrm>
            <a:off x="2552700" y="3394550"/>
            <a:ext cx="1270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&lt;&lt;global&gt;&gt;</a:t>
            </a:r>
          </a:p>
        </p:txBody>
      </p:sp>
      <p:sp>
        <p:nvSpPr>
          <p:cNvPr id="95241" name="Text Box 8"/>
          <p:cNvSpPr txBox="1">
            <a:spLocks noChangeArrowheads="1"/>
          </p:cNvSpPr>
          <p:nvPr/>
        </p:nvSpPr>
        <p:spPr bwMode="auto">
          <a:xfrm>
            <a:off x="5041900" y="3388746"/>
            <a:ext cx="161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Association roles</a:t>
            </a:r>
          </a:p>
        </p:txBody>
      </p:sp>
      <p:sp>
        <p:nvSpPr>
          <p:cNvPr id="95242" name="Line 9"/>
          <p:cNvSpPr>
            <a:spLocks noChangeShapeType="1"/>
          </p:cNvSpPr>
          <p:nvPr/>
        </p:nvSpPr>
        <p:spPr bwMode="auto">
          <a:xfrm>
            <a:off x="2552700" y="4923776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3" name="Text Box 10"/>
          <p:cNvSpPr txBox="1">
            <a:spLocks noChangeArrowheads="1"/>
          </p:cNvSpPr>
          <p:nvPr/>
        </p:nvSpPr>
        <p:spPr bwMode="auto">
          <a:xfrm>
            <a:off x="2425700" y="4301476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1.2 [condition]: message name</a:t>
            </a:r>
          </a:p>
        </p:txBody>
      </p:sp>
      <p:sp>
        <p:nvSpPr>
          <p:cNvPr id="95244" name="Text Box 11"/>
          <p:cNvSpPr txBox="1">
            <a:spLocks noChangeArrowheads="1"/>
          </p:cNvSpPr>
          <p:nvPr/>
        </p:nvSpPr>
        <p:spPr bwMode="auto">
          <a:xfrm>
            <a:off x="5054600" y="4733276"/>
            <a:ext cx="410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Message.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(number messages in order of execution)</a:t>
            </a:r>
          </a:p>
        </p:txBody>
      </p:sp>
      <p:sp>
        <p:nvSpPr>
          <p:cNvPr id="95245" name="Line 12"/>
          <p:cNvSpPr>
            <a:spLocks noChangeShapeType="1"/>
          </p:cNvSpPr>
          <p:nvPr/>
        </p:nvSpPr>
        <p:spPr bwMode="auto">
          <a:xfrm>
            <a:off x="2501900" y="6142976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6" name="Text Box 13"/>
          <p:cNvSpPr txBox="1">
            <a:spLocks noChangeArrowheads="1"/>
          </p:cNvSpPr>
          <p:nvPr/>
        </p:nvSpPr>
        <p:spPr bwMode="auto">
          <a:xfrm>
            <a:off x="2425700" y="5584176"/>
            <a:ext cx="2374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1.2 *  [loop expression]: message name</a:t>
            </a:r>
          </a:p>
        </p:txBody>
      </p:sp>
      <p:sp>
        <p:nvSpPr>
          <p:cNvPr id="95247" name="Text Box 14"/>
          <p:cNvSpPr txBox="1">
            <a:spLocks noChangeArrowheads="1"/>
          </p:cNvSpPr>
          <p:nvPr/>
        </p:nvSpPr>
        <p:spPr bwMode="auto">
          <a:xfrm>
            <a:off x="5016500" y="6015414"/>
            <a:ext cx="3759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(Use a * to indicate a loop)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811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4" y="749511"/>
            <a:ext cx="4714388" cy="509373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74" y="1309945"/>
            <a:ext cx="6822159" cy="5073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63968" y="3054453"/>
            <a:ext cx="199285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Structural aspect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4597555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3" y="749511"/>
            <a:ext cx="5294351" cy="561931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6022" y="3331346"/>
            <a:ext cx="22109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Behavioral Aspects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 Collaboration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23" y="1625800"/>
            <a:ext cx="7174904" cy="41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616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3" y="749511"/>
            <a:ext cx="5294351" cy="5499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467" y="1463760"/>
            <a:ext cx="5877408" cy="509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231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Case Study</a:t>
            </a:r>
            <a:br>
              <a:rPr lang="en-US" dirty="0"/>
            </a:br>
            <a:r>
              <a:rPr lang="en-US" dirty="0"/>
              <a:t>Model Driven Development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3379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Model Driven Development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48728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Customer wanted a Service Oriented Architecture (SOA) with a Model Driven Development approach (MDA)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Implemented in and on</a:t>
            </a:r>
            <a:r>
              <a:rPr lang="en-US" altLang="en-US" sz="2000" dirty="0">
                <a:solidFill>
                  <a:schemeClr val="tx1"/>
                </a:solidFill>
              </a:rPr>
              <a:t>: Java &amp; Enterprise Java Beans – Servlets - </a:t>
            </a:r>
            <a:r>
              <a:rPr lang="en-US" altLang="en-US" sz="2000" dirty="0" err="1">
                <a:solidFill>
                  <a:schemeClr val="tx1"/>
                </a:solidFill>
              </a:rPr>
              <a:t>JBoss</a:t>
            </a:r>
            <a:r>
              <a:rPr lang="en-US" altLang="en-US" sz="2000" dirty="0">
                <a:solidFill>
                  <a:schemeClr val="tx1"/>
                </a:solidFill>
              </a:rPr>
              <a:t> application server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Customer was very annoyed by their old </a:t>
            </a:r>
            <a:r>
              <a:rPr lang="en-US" altLang="en-US" sz="2000" dirty="0" err="1">
                <a:solidFill>
                  <a:schemeClr val="tx1"/>
                </a:solidFill>
              </a:rPr>
              <a:t>intrasparent</a:t>
            </a:r>
            <a:r>
              <a:rPr lang="en-US" altLang="en-US" sz="2000" dirty="0">
                <a:solidFill>
                  <a:schemeClr val="tx1"/>
                </a:solidFill>
              </a:rPr>
              <a:t> legacy development process (COBOL)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Customer MDA expectations: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Draw a model and create the code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You have everything modelled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Easy to understand system 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Can be understood even by the higher management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Implementation costs goes down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Implementation speed goes up</a:t>
            </a:r>
          </a:p>
          <a:p>
            <a:endParaRPr lang="en-US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C65B1-4768-AE67-9046-3EC65128A744}"/>
              </a:ext>
            </a:extLst>
          </p:cNvPr>
          <p:cNvSpPr txBox="1"/>
          <p:nvPr/>
        </p:nvSpPr>
        <p:spPr>
          <a:xfrm>
            <a:off x="6945465" y="3653625"/>
            <a:ext cx="40767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 Travel Agency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Medium size: 3 to 4 years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Maximum at one time 50 developer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COBOL system big millions of locs</a:t>
            </a:r>
          </a:p>
        </p:txBody>
      </p:sp>
    </p:spTree>
    <p:extLst>
      <p:ext uri="{BB962C8B-B14F-4D97-AF65-F5344CB8AC3E}">
        <p14:creationId xmlns:p14="http://schemas.microsoft.com/office/powerpoint/2010/main" val="16325386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Model Driven Development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487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Problems and issues: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MDA </a:t>
            </a:r>
            <a:r>
              <a:rPr lang="en-US" altLang="en-US" sz="2000" b="1" dirty="0">
                <a:solidFill>
                  <a:srgbClr val="FF0000"/>
                </a:solidFill>
              </a:rPr>
              <a:t>looks good on paper</a:t>
            </a:r>
            <a:r>
              <a:rPr lang="en-US" altLang="en-US" sz="2000" dirty="0">
                <a:solidFill>
                  <a:schemeClr val="tx1"/>
                </a:solidFill>
              </a:rPr>
              <a:t>, and for small projects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You could model everything,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but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…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Balance between modelling and software development must be found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Software development turned into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too easy too boring tasks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Architecture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overhead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unexpected high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Rework was needed on the architecture then all code needs to be rechecked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UML diagrams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complexity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a lot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Overall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complexity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a lot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Customer was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unhappy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at the end</a:t>
            </a:r>
          </a:p>
          <a:p>
            <a:r>
              <a:rPr lang="en-US" altLang="en-US" sz="2000" b="1" dirty="0">
                <a:solidFill>
                  <a:srgbClr val="0000FF"/>
                </a:solidFill>
              </a:rPr>
              <a:t>Too good to be true!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Be careful with bigger projects and new technology</a:t>
            </a:r>
          </a:p>
          <a:p>
            <a:endParaRPr lang="en-US" altLang="en-US" sz="2000" dirty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51002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102587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466</TotalTime>
  <Words>3079</Words>
  <Application>Microsoft Office PowerPoint</Application>
  <PresentationFormat>Widescreen</PresentationFormat>
  <Paragraphs>708</Paragraphs>
  <Slides>79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79</vt:i4>
      </vt:variant>
    </vt:vector>
  </HeadingPairs>
  <TitlesOfParts>
    <vt:vector size="89" baseType="lpstr">
      <vt:lpstr>Arial</vt:lpstr>
      <vt:lpstr>Arial Narrow</vt:lpstr>
      <vt:lpstr>Calibri</vt:lpstr>
      <vt:lpstr>canada-type-gibson</vt:lpstr>
      <vt:lpstr>Garamond</vt:lpstr>
      <vt:lpstr>Open Sans</vt:lpstr>
      <vt:lpstr>Times New Roman</vt:lpstr>
      <vt:lpstr>Wingdings</vt:lpstr>
      <vt:lpstr>SCUTemplate</vt:lpstr>
      <vt:lpstr>Custom Design</vt:lpstr>
      <vt:lpstr>COEN160</vt:lpstr>
      <vt:lpstr>Introduction</vt:lpstr>
      <vt:lpstr>UML three amigos</vt:lpstr>
      <vt:lpstr>PowerPoint Presentation</vt:lpstr>
      <vt:lpstr>It starts with an Use Case Diagram</vt:lpstr>
      <vt:lpstr>PowerPoint Presentation</vt:lpstr>
      <vt:lpstr>PowerPoint Presentation</vt:lpstr>
      <vt:lpstr>PowerPoint Presentation</vt:lpstr>
      <vt:lpstr>PowerPoint Presentation</vt:lpstr>
      <vt:lpstr>&lt;&lt;uses&gt;&gt; &lt;&lt;include&gt;&gt;</vt:lpstr>
      <vt:lpstr>&lt;&lt;extends&gt;&gt;</vt:lpstr>
      <vt:lpstr>Generalization</vt:lpstr>
      <vt:lpstr>Generalization vs Include vs Extend</vt:lpstr>
      <vt:lpstr>Example: Use Case Diagram for Elevator</vt:lpstr>
      <vt:lpstr>Example: Reservation System</vt:lpstr>
      <vt:lpstr>Bank Use Case Diagrams</vt:lpstr>
      <vt:lpstr>Generalization</vt:lpstr>
      <vt:lpstr>PowerPoint Presentation</vt:lpstr>
      <vt:lpstr>PowerPoint Presentation</vt:lpstr>
      <vt:lpstr>The overall structure is shown in a Class Diagram</vt:lpstr>
      <vt:lpstr>PowerPoint Presentation</vt:lpstr>
      <vt:lpstr>PowerPoint Presentation</vt:lpstr>
      <vt:lpstr>Class diagram (Visio)</vt:lpstr>
      <vt:lpstr>PowerPoint Presentation</vt:lpstr>
      <vt:lpstr>Single vs Multiple inheritance</vt:lpstr>
      <vt:lpstr>Multiple Inheritance - Repeated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Diagram</vt:lpstr>
      <vt:lpstr>Object diagram cont.</vt:lpstr>
      <vt:lpstr>Object Diagram</vt:lpstr>
      <vt:lpstr>Sequence Diagram</vt:lpstr>
      <vt:lpstr>Sequence Diagram (Visio)</vt:lpstr>
      <vt:lpstr>Sequence Diagrams</vt:lpstr>
      <vt:lpstr>Sequence Diagram for Elevator</vt:lpstr>
      <vt:lpstr>Sequence Diagram</vt:lpstr>
      <vt:lpstr>Sequence Diagram</vt:lpstr>
      <vt:lpstr>Sequence Diagram  Showing Synchronous and Asynchronous messages (Fire &amp; Forget)</vt:lpstr>
      <vt:lpstr>Asynchronous Messages and  Concurrent Execution</vt:lpstr>
      <vt:lpstr>Package Diagram</vt:lpstr>
      <vt:lpstr>PowerPoint Presentation</vt:lpstr>
      <vt:lpstr>Package Diagram</vt:lpstr>
      <vt:lpstr>Package Diagram</vt:lpstr>
      <vt:lpstr>Package Diagram</vt:lpstr>
      <vt:lpstr>Component Diagram</vt:lpstr>
      <vt:lpstr>PowerPoint Presentation</vt:lpstr>
      <vt:lpstr>Component Diagram</vt:lpstr>
      <vt:lpstr>Component Diagram</vt:lpstr>
      <vt:lpstr>Component Diagram</vt:lpstr>
      <vt:lpstr>State Diagram</vt:lpstr>
      <vt:lpstr>State Diagram</vt:lpstr>
      <vt:lpstr>Statechart Diagram</vt:lpstr>
      <vt:lpstr>Toaster Oven Statechart</vt:lpstr>
      <vt:lpstr>Activity Diagram</vt:lpstr>
      <vt:lpstr>Activity Diagram Symbols and Notations</vt:lpstr>
      <vt:lpstr>Activity Diagram Symbols and Notations</vt:lpstr>
      <vt:lpstr>Activity Diagram Symbols and Notations</vt:lpstr>
      <vt:lpstr>Activity Diagram for Purchase</vt:lpstr>
      <vt:lpstr>Activity Diagram to Manage Shopping Cart </vt:lpstr>
      <vt:lpstr>Activity Diagram</vt:lpstr>
      <vt:lpstr>Difference between activity vs state diagram</vt:lpstr>
      <vt:lpstr>Deployment Diagram</vt:lpstr>
      <vt:lpstr>Deployment Diagram</vt:lpstr>
      <vt:lpstr>Deployment  Diagram</vt:lpstr>
      <vt:lpstr>Deployment  Diagram</vt:lpstr>
      <vt:lpstr>Deployment  Diagram</vt:lpstr>
      <vt:lpstr>Deployment  Diagram</vt:lpstr>
      <vt:lpstr>Collaboration Diagram</vt:lpstr>
      <vt:lpstr>Collaboration Diagram</vt:lpstr>
      <vt:lpstr>Collaboration Diagram</vt:lpstr>
      <vt:lpstr>Collaboration Diagram</vt:lpstr>
      <vt:lpstr>Collaboration Diagram</vt:lpstr>
      <vt:lpstr>Case Study Model Driven Development</vt:lpstr>
      <vt:lpstr>Model Driven Development</vt:lpstr>
      <vt:lpstr>Model Driven Development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207</cp:revision>
  <cp:lastPrinted>2023-09-11T21:46:56Z</cp:lastPrinted>
  <dcterms:created xsi:type="dcterms:W3CDTF">2023-09-09T19:51:41Z</dcterms:created>
  <dcterms:modified xsi:type="dcterms:W3CDTF">2026-08-21T22:18:18Z</dcterms:modified>
</cp:coreProperties>
</file>