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74" r:id="rId2"/>
  </p:sldMasterIdLst>
  <p:notesMasterIdLst>
    <p:notesMasterId r:id="rId69"/>
  </p:notesMasterIdLst>
  <p:handoutMasterIdLst>
    <p:handoutMasterId r:id="rId70"/>
  </p:handoutMasterIdLst>
  <p:sldIdLst>
    <p:sldId id="333" r:id="rId3"/>
    <p:sldId id="498" r:id="rId4"/>
    <p:sldId id="499" r:id="rId5"/>
    <p:sldId id="547" r:id="rId6"/>
    <p:sldId id="500" r:id="rId7"/>
    <p:sldId id="501" r:id="rId8"/>
    <p:sldId id="502" r:id="rId9"/>
    <p:sldId id="503" r:id="rId10"/>
    <p:sldId id="504" r:id="rId11"/>
    <p:sldId id="505" r:id="rId12"/>
    <p:sldId id="506" r:id="rId13"/>
    <p:sldId id="463" r:id="rId14"/>
    <p:sldId id="476" r:id="rId15"/>
    <p:sldId id="489" r:id="rId16"/>
    <p:sldId id="464" r:id="rId17"/>
    <p:sldId id="465" r:id="rId18"/>
    <p:sldId id="477" r:id="rId19"/>
    <p:sldId id="493" r:id="rId20"/>
    <p:sldId id="494" r:id="rId21"/>
    <p:sldId id="495" r:id="rId22"/>
    <p:sldId id="496" r:id="rId23"/>
    <p:sldId id="497" r:id="rId24"/>
    <p:sldId id="490" r:id="rId25"/>
    <p:sldId id="466" r:id="rId26"/>
    <p:sldId id="478" r:id="rId27"/>
    <p:sldId id="467" r:id="rId28"/>
    <p:sldId id="468" r:id="rId29"/>
    <p:sldId id="479" r:id="rId30"/>
    <p:sldId id="491" r:id="rId31"/>
    <p:sldId id="469" r:id="rId32"/>
    <p:sldId id="507" r:id="rId33"/>
    <p:sldId id="508" r:id="rId34"/>
    <p:sldId id="509" r:id="rId35"/>
    <p:sldId id="510" r:id="rId36"/>
    <p:sldId id="511" r:id="rId37"/>
    <p:sldId id="512" r:id="rId38"/>
    <p:sldId id="514" r:id="rId39"/>
    <p:sldId id="515" r:id="rId40"/>
    <p:sldId id="516" r:id="rId41"/>
    <p:sldId id="518" r:id="rId42"/>
    <p:sldId id="519" r:id="rId43"/>
    <p:sldId id="520" r:id="rId44"/>
    <p:sldId id="521" r:id="rId45"/>
    <p:sldId id="522" r:id="rId46"/>
    <p:sldId id="523" r:id="rId47"/>
    <p:sldId id="524" r:id="rId48"/>
    <p:sldId id="525" r:id="rId49"/>
    <p:sldId id="526" r:id="rId50"/>
    <p:sldId id="527" r:id="rId51"/>
    <p:sldId id="528" r:id="rId52"/>
    <p:sldId id="529" r:id="rId53"/>
    <p:sldId id="530" r:id="rId54"/>
    <p:sldId id="531" r:id="rId55"/>
    <p:sldId id="532" r:id="rId56"/>
    <p:sldId id="533" r:id="rId57"/>
    <p:sldId id="534" r:id="rId58"/>
    <p:sldId id="535" r:id="rId59"/>
    <p:sldId id="536" r:id="rId60"/>
    <p:sldId id="537" r:id="rId61"/>
    <p:sldId id="538" r:id="rId62"/>
    <p:sldId id="539" r:id="rId63"/>
    <p:sldId id="540" r:id="rId64"/>
    <p:sldId id="541" r:id="rId65"/>
    <p:sldId id="542" r:id="rId66"/>
    <p:sldId id="483" r:id="rId67"/>
    <p:sldId id="548" r:id="rId68"/>
  </p:sldIdLst>
  <p:sldSz cx="12192000" cy="6858000"/>
  <p:notesSz cx="7010400" cy="9296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493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73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63" Type="http://schemas.openxmlformats.org/officeDocument/2006/relationships/slide" Target="slides/slide61.xml"/><Relationship Id="rId68" Type="http://schemas.openxmlformats.org/officeDocument/2006/relationships/slide" Target="slides/slide66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slide" Target="slides/slide51.xml"/><Relationship Id="rId58" Type="http://schemas.openxmlformats.org/officeDocument/2006/relationships/slide" Target="slides/slide56.xml"/><Relationship Id="rId66" Type="http://schemas.openxmlformats.org/officeDocument/2006/relationships/slide" Target="slides/slide64.xml"/><Relationship Id="rId74" Type="http://schemas.openxmlformats.org/officeDocument/2006/relationships/tableStyles" Target="tableStyles.xml"/><Relationship Id="rId5" Type="http://schemas.openxmlformats.org/officeDocument/2006/relationships/slide" Target="slides/slide3.xml"/><Relationship Id="rId61" Type="http://schemas.openxmlformats.org/officeDocument/2006/relationships/slide" Target="slides/slide59.xml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slide" Target="slides/slide54.xml"/><Relationship Id="rId64" Type="http://schemas.openxmlformats.org/officeDocument/2006/relationships/slide" Target="slides/slide62.xml"/><Relationship Id="rId69" Type="http://schemas.openxmlformats.org/officeDocument/2006/relationships/notesMaster" Target="notesMasters/notesMaster1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72" Type="http://schemas.openxmlformats.org/officeDocument/2006/relationships/viewProps" Target="viewProps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slide" Target="slides/slide57.xml"/><Relationship Id="rId67" Type="http://schemas.openxmlformats.org/officeDocument/2006/relationships/slide" Target="slides/slide65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slide" Target="slides/slide52.xml"/><Relationship Id="rId62" Type="http://schemas.openxmlformats.org/officeDocument/2006/relationships/slide" Target="slides/slide60.xml"/><Relationship Id="rId70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slide" Target="slides/slide55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slide" Target="slides/slide58.xml"/><Relationship Id="rId65" Type="http://schemas.openxmlformats.org/officeDocument/2006/relationships/slide" Target="slides/slide63.xml"/><Relationship Id="rId73" Type="http://schemas.openxmlformats.org/officeDocument/2006/relationships/theme" Target="theme/theme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slide" Target="slides/slide37.xml"/><Relationship Id="rId34" Type="http://schemas.openxmlformats.org/officeDocument/2006/relationships/slide" Target="slides/slide32.xml"/><Relationship Id="rId50" Type="http://schemas.openxmlformats.org/officeDocument/2006/relationships/slide" Target="slides/slide48.xml"/><Relationship Id="rId55" Type="http://schemas.openxmlformats.org/officeDocument/2006/relationships/slide" Target="slides/slide53.xml"/><Relationship Id="rId7" Type="http://schemas.openxmlformats.org/officeDocument/2006/relationships/slide" Target="slides/slide5.xml"/><Relationship Id="rId71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70938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8E938536-29D3-49BD-A567-41CAF057586A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70938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B2E2B272-7A3A-4005-B1B0-0F9070B870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879073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938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71559A16-B3AD-4CE2-9A5E-FAAD3C2C27CA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17550" y="1162050"/>
            <a:ext cx="5575300" cy="31369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177" tIns="46589" rIns="93177" bIns="46589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040" y="4473892"/>
            <a:ext cx="5608320" cy="3660458"/>
          </a:xfrm>
          <a:prstGeom prst="rect">
            <a:avLst/>
          </a:prstGeom>
        </p:spPr>
        <p:txBody>
          <a:bodyPr vert="horz" lIns="93177" tIns="46589" rIns="93177" bIns="46589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938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28C6438F-747C-40FA-8F40-021E653C05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69010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6D5B4C3-9B00-474A-97E8-C13B4A35C4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391831"/>
            <a:ext cx="9144000" cy="1655762"/>
          </a:xfrm>
        </p:spPr>
        <p:txBody>
          <a:bodyPr/>
          <a:lstStyle>
            <a:lvl1pPr marL="0" indent="0" algn="l">
              <a:buNone/>
              <a:defRPr sz="2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D22AE50-6F90-E24E-B822-6568D311B3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032145"/>
            <a:ext cx="9144000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B2EB50-2D06-0F47-91A8-A0077BC58DD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86695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BAA9E0-FD26-B94E-9B92-E4BB7FDAC5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AD2F48-A24B-4049-960D-8B798AEFA8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6516" y="2449386"/>
            <a:ext cx="10417284" cy="3805364"/>
          </a:xfrm>
        </p:spPr>
        <p:txBody>
          <a:bodyPr/>
          <a:lstStyle>
            <a:lvl1pPr>
              <a:buClr>
                <a:srgbClr val="B30738"/>
              </a:buClr>
              <a:defRPr b="0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  <a:lvl2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2pPr>
            <a:lvl3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3pPr>
            <a:lvl4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4pPr>
            <a:lvl5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04C7CA-926E-AD42-9C16-D63E0CBCB0B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54750"/>
            <a:ext cx="3873500" cy="4000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538119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455421C-28F7-134B-8F0E-FE7D28044B4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207617" y="1170297"/>
            <a:ext cx="2316923" cy="215804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4035" y="1170297"/>
            <a:ext cx="10379765" cy="4683851"/>
          </a:xfrm>
        </p:spPr>
        <p:txBody>
          <a:bodyPr>
            <a:normAutofit/>
          </a:bodyPr>
          <a:lstStyle>
            <a:lvl1pPr>
              <a:defRPr sz="6000" b="0" i="0">
                <a:solidFill>
                  <a:schemeClr val="tx1">
                    <a:lumMod val="50000"/>
                    <a:lumOff val="50000"/>
                  </a:schemeClr>
                </a:solidFill>
                <a:latin typeface="Garamond" panose="02020404030301010803" pitchFamily="18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43C62840-6E05-504B-B2F6-709D240E692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886984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F10691-0E51-0642-89F8-2E84D8B866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D74316-63BB-3446-BDDD-074CD2479E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677103"/>
            <a:ext cx="10515600" cy="141254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67D355E-B4A2-6F4F-B305-737A32A3ACE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84170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7112F8-AE85-BC4D-8ACE-BD36C70435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0E9A7C-E733-9C48-89C3-E864661018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36516" y="2438399"/>
            <a:ext cx="5083284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853515-618E-BC46-A98D-B716B4327E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438399"/>
            <a:ext cx="5181600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BF872C4E-C1EA-6E4F-ACE3-4DD19FF177F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84945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2EAC0-550E-1740-BE53-8E9F0A34C0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0" y="882869"/>
            <a:ext cx="10419967" cy="8078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6707B4-CFB5-CF4A-9970-F7B61DECC9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5421" y="1839309"/>
            <a:ext cx="5062154" cy="66576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EA7258-4408-8940-BE1F-BB96B82778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35421" y="2653695"/>
            <a:ext cx="5062154" cy="3607406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1E6BE5-8409-9441-A406-BB5D9E6F94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839309"/>
            <a:ext cx="5183188" cy="66576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3EBE53-5EFB-6744-957B-B93F2D10CC5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653695"/>
            <a:ext cx="5183188" cy="3607405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30A5D7E1-E327-DF48-B848-9BDF99F875D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80007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3651EA50-74CA-AA48-8D7F-2B85A97EE66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5404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46758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6AC4C19D-273F-DD4F-AB1E-92F31DD503B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01071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52473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DA9A9976-053D-644A-ACDD-10A8928C184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07211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9C3A92E6-32C2-FB44-B5B2-762BF26633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534275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4E849984-83FA-4B45-A602-6A412FE0CCE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99200"/>
            <a:ext cx="3873500" cy="355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5034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3C6088-92BE-7449-8B28-318FAB3F25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87425"/>
            <a:ext cx="4138612" cy="142995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A42DAB-D135-604C-8CA5-59E8EBB192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52673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DFE57F-E4E9-7543-83FD-1DD747CAD0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571750"/>
            <a:ext cx="4138612" cy="382905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2E940D73-0AAB-1944-9712-6637A75B1A9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324600"/>
            <a:ext cx="3873500" cy="3302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010484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342C89-5587-0348-8D17-7C08B2EAD6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1" y="956440"/>
            <a:ext cx="4011228" cy="1166649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521D3EC-E376-5D4E-835F-620AC359D3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62167" y="956441"/>
            <a:ext cx="6172200" cy="532370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B5B150-6498-3B43-813F-7D37535FB1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35420" y="2291254"/>
            <a:ext cx="4011229" cy="398889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131420AC-1CC6-B24D-864B-D3A8C0514E9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80150"/>
            <a:ext cx="3873500" cy="3746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317878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600">
                <a:solidFill>
                  <a:srgbClr val="002060"/>
                </a:solidFill>
              </a:defRPr>
            </a:lvl1pPr>
            <a:lvl2pPr>
              <a:defRPr sz="2400">
                <a:solidFill>
                  <a:schemeClr val="accent2">
                    <a:lumMod val="75000"/>
                  </a:schemeClr>
                </a:solidFill>
              </a:defRPr>
            </a:lvl2pPr>
            <a:lvl3pPr>
              <a:defRPr sz="2000"/>
            </a:lvl3pPr>
            <a:lvl4pPr>
              <a:defRPr sz="18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C656F1-AD33-45CA-85C7-DC330226D9FE}" type="datetime1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09600" y="6324601"/>
            <a:ext cx="2844800" cy="365125"/>
          </a:xfrm>
        </p:spPr>
        <p:txBody>
          <a:bodyPr/>
          <a:lstStyle/>
          <a:p>
            <a:pPr algn="l"/>
            <a:fld id="{4FBCB832-F407-431A-BE08-B640AFF97906}" type="slidenum">
              <a:rPr lang="en-US" smtClean="0"/>
              <a:pPr algn="l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8512057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81450464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875062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248008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7F930-5302-8041-8D70-01651E1577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44217" y="1351721"/>
            <a:ext cx="10555357" cy="2317267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2F13BE-DC53-5D42-92BC-B1405D01D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4217" y="4228203"/>
            <a:ext cx="10555357" cy="137746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460084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7F930-5302-8041-8D70-01651E1577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44217" y="1351721"/>
            <a:ext cx="10555357" cy="2317267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2F13BE-DC53-5D42-92BC-B1405D01D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4217" y="4228203"/>
            <a:ext cx="10555357" cy="137746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440867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8220731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080891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0.xml"/><Relationship Id="rId2" Type="http://schemas.openxmlformats.org/officeDocument/2006/relationships/slideLayout" Target="../slideLayouts/slideLayout19.xml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58DCC4-D98B-2742-9141-E813C534FE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21E8D8-70CD-BF4D-805E-3BA2B3E848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6516" y="2449386"/>
            <a:ext cx="10417284" cy="3835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0FD0265-AE87-AC4A-BBB3-EF8B93299236}"/>
              </a:ext>
            </a:extLst>
          </p:cNvPr>
          <p:cNvCxnSpPr>
            <a:cxnSpLocks/>
          </p:cNvCxnSpPr>
          <p:nvPr/>
        </p:nvCxnSpPr>
        <p:spPr>
          <a:xfrm>
            <a:off x="936516" y="730089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1606507F-9FCF-7C40-9CCC-8081F5D27FC8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050924" y="471954"/>
            <a:ext cx="3880944" cy="160105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215C687-9087-C947-AB5A-223EF7DA7E9A}"/>
              </a:ext>
            </a:extLst>
          </p:cNvPr>
          <p:cNvCxnSpPr>
            <a:cxnSpLocks/>
          </p:cNvCxnSpPr>
          <p:nvPr/>
        </p:nvCxnSpPr>
        <p:spPr>
          <a:xfrm>
            <a:off x="936516" y="388502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9" name="Picture 28">
            <a:extLst>
              <a:ext uri="{FF2B5EF4-FFF2-40B4-BE49-F238E27FC236}">
                <a16:creationId xmlns:a16="http://schemas.microsoft.com/office/drawing/2014/main" id="{3AF69D0A-C2A3-A54B-87B3-155829A53D57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32474" y="160495"/>
            <a:ext cx="804042" cy="804042"/>
          </a:xfrm>
          <a:prstGeom prst="rect">
            <a:avLst/>
          </a:prstGeom>
        </p:spPr>
      </p:pic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2A6E712-938E-934E-86D2-CF80E3166B5B}"/>
              </a:ext>
            </a:extLst>
          </p:cNvPr>
          <p:cNvCxnSpPr>
            <a:cxnSpLocks/>
          </p:cNvCxnSpPr>
          <p:nvPr/>
        </p:nvCxnSpPr>
        <p:spPr>
          <a:xfrm>
            <a:off x="936516" y="6652668"/>
            <a:ext cx="10417284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992432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9" r:id="rId13"/>
    <p:sldLayoutId id="2147483682" r:id="rId14"/>
    <p:sldLayoutId id="2147483683" r:id="rId15"/>
    <p:sldLayoutId id="2147483685" r:id="rId16"/>
    <p:sldLayoutId id="2147483686" r:id="rId17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i="0" kern="1200" baseline="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rgbClr val="B30738"/>
        </a:buClr>
        <a:buFont typeface="Arial" panose="020B0604020202020204" pitchFamily="34" charset="0"/>
        <a:buChar char="•"/>
        <a:defRPr sz="2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20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8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6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B307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5EF7EA9-7F89-AB44-B414-A35A39B886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0015"/>
            <a:ext cx="10515600" cy="6427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FD578A8-B26A-4945-96B6-DF5E5BC7DE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2697162"/>
            <a:ext cx="10515600" cy="32464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 err="1"/>
              <a:t>Secod</a:t>
            </a:r>
            <a:r>
              <a:rPr lang="en-US" dirty="0"/>
              <a:t>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94CFB0A-34C6-5D42-83C5-6E58C3499080}"/>
              </a:ext>
            </a:extLst>
          </p:cNvPr>
          <p:cNvCxnSpPr>
            <a:cxnSpLocks/>
          </p:cNvCxnSpPr>
          <p:nvPr/>
        </p:nvCxnSpPr>
        <p:spPr>
          <a:xfrm>
            <a:off x="956394" y="730089"/>
            <a:ext cx="11255484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306B758-975E-984A-8DF2-F551E50A3FBA}"/>
              </a:ext>
            </a:extLst>
          </p:cNvPr>
          <p:cNvCxnSpPr>
            <a:cxnSpLocks/>
          </p:cNvCxnSpPr>
          <p:nvPr/>
        </p:nvCxnSpPr>
        <p:spPr>
          <a:xfrm>
            <a:off x="956394" y="388502"/>
            <a:ext cx="11255484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Picture 15">
            <a:extLst>
              <a:ext uri="{FF2B5EF4-FFF2-40B4-BE49-F238E27FC236}">
                <a16:creationId xmlns:a16="http://schemas.microsoft.com/office/drawing/2014/main" id="{4BCBDF38-9EC5-8347-AE99-4FA5381A78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50924" y="472981"/>
            <a:ext cx="3880944" cy="172629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FA5D1952-D4DE-0B48-9AEC-F81A6CB6ED0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2474" y="157274"/>
            <a:ext cx="804042" cy="8040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86267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i="0" kern="1200">
          <a:solidFill>
            <a:schemeClr val="bg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2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3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3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3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13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3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0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3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3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3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3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3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3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3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3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3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3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3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3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13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13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13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13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DAF3DE3F-7502-904F-9BAB-B1F5DEA23BE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391831"/>
            <a:ext cx="9144000" cy="3178902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tx1"/>
                </a:solidFill>
              </a:rPr>
              <a:t>Fall 2026</a:t>
            </a:r>
          </a:p>
          <a:p>
            <a:r>
              <a:rPr lang="en-US" dirty="0">
                <a:solidFill>
                  <a:schemeClr val="tx1"/>
                </a:solidFill>
              </a:rPr>
              <a:t>Object-Oriented Analysis, Design and Programming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Michael Schimpf, PhD</a:t>
            </a:r>
          </a:p>
          <a:p>
            <a:r>
              <a:rPr lang="en-US" dirty="0">
                <a:solidFill>
                  <a:schemeClr val="tx1"/>
                </a:solidFill>
              </a:rPr>
              <a:t>Department of Computer Science and Engineering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A818BAB-0338-734A-B1E8-2463F3B297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CSEN160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520801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44217" y="2290046"/>
            <a:ext cx="10555357" cy="942722"/>
          </a:xfrm>
        </p:spPr>
        <p:txBody>
          <a:bodyPr rtlCol="0">
            <a:normAutofit/>
          </a:bodyPr>
          <a:lstStyle/>
          <a:p>
            <a:pPr>
              <a:defRPr/>
            </a:pPr>
            <a:r>
              <a:rPr lang="en-US" dirty="0"/>
              <a:t>Java GUI</a:t>
            </a:r>
          </a:p>
        </p:txBody>
      </p:sp>
      <p:sp>
        <p:nvSpPr>
          <p:cNvPr id="5123" name="Slide Number Placeholder 3"/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1168293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itle 1"/>
          <p:cNvSpPr>
            <a:spLocks noGrp="1"/>
          </p:cNvSpPr>
          <p:nvPr>
            <p:ph type="title"/>
          </p:nvPr>
        </p:nvSpPr>
        <p:spPr>
          <a:xfrm>
            <a:off x="936516" y="760099"/>
            <a:ext cx="7087985" cy="803781"/>
          </a:xfrm>
          <a:ln>
            <a:miter lim="800000"/>
            <a:headEnd/>
            <a:tailEnd/>
          </a:ln>
        </p:spPr>
        <p:txBody>
          <a:bodyPr/>
          <a:lstStyle/>
          <a:p>
            <a:pPr eaLnBrk="1" hangingPunct="1"/>
            <a:r>
              <a:rPr lang="en-US" altLang="en-US" dirty="0"/>
              <a:t>Graphical User Interfaces (GUI)</a:t>
            </a:r>
          </a:p>
        </p:txBody>
      </p:sp>
      <p:sp>
        <p:nvSpPr>
          <p:cNvPr id="4099" name="Content Placeholder 2"/>
          <p:cNvSpPr>
            <a:spLocks noGrp="1"/>
          </p:cNvSpPr>
          <p:nvPr>
            <p:ph idx="1"/>
          </p:nvPr>
        </p:nvSpPr>
        <p:spPr>
          <a:xfrm>
            <a:off x="936516" y="1771695"/>
            <a:ext cx="10417284" cy="4859841"/>
          </a:xfrm>
          <a:ln>
            <a:miter lim="800000"/>
            <a:headEnd/>
            <a:tailEnd/>
          </a:ln>
        </p:spPr>
        <p:txBody>
          <a:bodyPr rtlCol="0">
            <a:normAutofit/>
          </a:bodyPr>
          <a:lstStyle/>
          <a:p>
            <a:pPr marL="0" indent="0">
              <a:buNone/>
              <a:defRPr/>
            </a:pPr>
            <a:r>
              <a:rPr lang="en-US" sz="2400" dirty="0"/>
              <a:t>GUIs are difficult in general:</a:t>
            </a:r>
          </a:p>
          <a:p>
            <a:pPr>
              <a:defRPr/>
            </a:pPr>
            <a:r>
              <a:rPr lang="en-US" sz="2000" dirty="0"/>
              <a:t>QT </a:t>
            </a:r>
          </a:p>
          <a:p>
            <a:pPr>
              <a:defRPr/>
            </a:pPr>
            <a:r>
              <a:rPr lang="en-US" sz="2000" dirty="0"/>
              <a:t>Microsoft Foundation Class MFC (before C#)</a:t>
            </a:r>
          </a:p>
          <a:p>
            <a:pPr>
              <a:defRPr/>
            </a:pPr>
            <a:r>
              <a:rPr lang="en-US" sz="2000" dirty="0"/>
              <a:t>Unreal Engine</a:t>
            </a:r>
          </a:p>
          <a:p>
            <a:pPr>
              <a:defRPr/>
            </a:pPr>
            <a:r>
              <a:rPr lang="en-US" sz="2000" dirty="0"/>
              <a:t>Aqua (Apple)</a:t>
            </a:r>
          </a:p>
          <a:p>
            <a:pPr marL="0" indent="0">
              <a:buNone/>
              <a:defRPr/>
            </a:pPr>
            <a:endParaRPr lang="en-US" sz="2000" dirty="0"/>
          </a:p>
          <a:p>
            <a:pPr marL="0" indent="0">
              <a:buNone/>
              <a:defRPr/>
            </a:pPr>
            <a:r>
              <a:rPr lang="en-US" sz="2000" dirty="0"/>
              <a:t>Recommended:</a:t>
            </a:r>
          </a:p>
          <a:p>
            <a:pPr>
              <a:defRPr/>
            </a:pPr>
            <a:r>
              <a:rPr lang="en-US" sz="2000" dirty="0"/>
              <a:t>Read book</a:t>
            </a:r>
          </a:p>
          <a:p>
            <a:pPr>
              <a:defRPr/>
            </a:pPr>
            <a:r>
              <a:rPr lang="en-US" sz="2000" dirty="0"/>
              <a:t>Watch YouTube</a:t>
            </a:r>
          </a:p>
          <a:p>
            <a:pPr>
              <a:defRPr/>
            </a:pPr>
            <a:r>
              <a:rPr lang="en-US" sz="2000" dirty="0"/>
              <a:t>Do exercises:</a:t>
            </a:r>
          </a:p>
          <a:p>
            <a:pPr lvl="1">
              <a:defRPr/>
            </a:pPr>
            <a:r>
              <a:rPr lang="en-US" sz="1800" dirty="0"/>
              <a:t>Java: https://www.youtube.com/watch?v=Kmgo00avvEw</a:t>
            </a:r>
          </a:p>
          <a:p>
            <a:pPr marL="0" indent="0">
              <a:buNone/>
              <a:defRPr/>
            </a:pPr>
            <a:endParaRPr lang="en-US" sz="20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Arial" panose="020B0604020202020204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43489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itle 1"/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593767"/>
          </a:xfrm>
          <a:ln>
            <a:miter lim="800000"/>
            <a:headEnd/>
            <a:tailEnd/>
          </a:ln>
        </p:spPr>
        <p:txBody>
          <a:bodyPr/>
          <a:lstStyle/>
          <a:p>
            <a:pPr eaLnBrk="1" hangingPunct="1"/>
            <a:r>
              <a:rPr lang="en-US" altLang="en-US" dirty="0"/>
              <a:t>Graphical User Interfaces (GUI) with Swing</a:t>
            </a:r>
          </a:p>
        </p:txBody>
      </p:sp>
      <p:sp>
        <p:nvSpPr>
          <p:cNvPr id="4099" name="Content Placeholder 2"/>
          <p:cNvSpPr>
            <a:spLocks noGrp="1"/>
          </p:cNvSpPr>
          <p:nvPr>
            <p:ph idx="1"/>
          </p:nvPr>
        </p:nvSpPr>
        <p:spPr>
          <a:xfrm>
            <a:off x="936516" y="2190439"/>
            <a:ext cx="10417284" cy="4475055"/>
          </a:xfrm>
          <a:ln>
            <a:miter lim="800000"/>
            <a:headEnd/>
            <a:tailEnd/>
          </a:ln>
        </p:spPr>
        <p:txBody>
          <a:bodyPr rtlCol="0">
            <a:normAutofit/>
          </a:bodyPr>
          <a:lstStyle/>
          <a:p>
            <a:pPr>
              <a:defRPr/>
            </a:pPr>
            <a:r>
              <a:rPr lang="en-US" sz="2400" dirty="0"/>
              <a:t>GUIs are built using standard UI objects like:</a:t>
            </a:r>
          </a:p>
          <a:p>
            <a:pPr lvl="1">
              <a:defRPr/>
            </a:pPr>
            <a:r>
              <a:rPr lang="en-US" sz="2200" dirty="0">
                <a:solidFill>
                  <a:srgbClr val="C00000"/>
                </a:solidFill>
              </a:rPr>
              <a:t>Windows</a:t>
            </a:r>
          </a:p>
          <a:p>
            <a:pPr lvl="1">
              <a:defRPr/>
            </a:pPr>
            <a:r>
              <a:rPr lang="en-US" sz="2200" dirty="0">
                <a:solidFill>
                  <a:srgbClr val="C00000"/>
                </a:solidFill>
              </a:rPr>
              <a:t>Buttons</a:t>
            </a:r>
          </a:p>
          <a:p>
            <a:pPr lvl="1">
              <a:defRPr/>
            </a:pPr>
            <a:r>
              <a:rPr lang="en-US" sz="2200" dirty="0">
                <a:solidFill>
                  <a:srgbClr val="C00000"/>
                </a:solidFill>
              </a:rPr>
              <a:t>scrolls bars</a:t>
            </a:r>
          </a:p>
          <a:p>
            <a:pPr lvl="1">
              <a:defRPr/>
            </a:pPr>
            <a:r>
              <a:rPr lang="en-US" sz="2200" dirty="0">
                <a:solidFill>
                  <a:srgbClr val="C00000"/>
                </a:solidFill>
              </a:rPr>
              <a:t>Panels</a:t>
            </a:r>
          </a:p>
          <a:p>
            <a:pPr lvl="1">
              <a:defRPr/>
            </a:pPr>
            <a:r>
              <a:rPr lang="en-US" sz="2200" dirty="0">
                <a:solidFill>
                  <a:srgbClr val="FF0000"/>
                </a:solidFill>
              </a:rPr>
              <a:t>etc.</a:t>
            </a:r>
          </a:p>
          <a:p>
            <a:pPr>
              <a:defRPr/>
            </a:pPr>
            <a:endParaRPr lang="en-US" sz="2400" dirty="0"/>
          </a:p>
          <a:p>
            <a:pPr>
              <a:defRPr/>
            </a:pPr>
            <a:r>
              <a:rPr lang="en-US" sz="2400" dirty="0"/>
              <a:t>GUIs for Java desktop applications -&gt; Java </a:t>
            </a:r>
            <a:r>
              <a:rPr lang="en-US" sz="2400" dirty="0">
                <a:solidFill>
                  <a:srgbClr val="C00000"/>
                </a:solidFill>
              </a:rPr>
              <a:t>Swing</a:t>
            </a:r>
            <a:r>
              <a:rPr lang="en-US" sz="2400" dirty="0"/>
              <a:t>. </a:t>
            </a:r>
          </a:p>
          <a:p>
            <a:pPr>
              <a:defRPr/>
            </a:pPr>
            <a:endParaRPr lang="en-US" sz="2400" dirty="0"/>
          </a:p>
          <a:p>
            <a:pPr>
              <a:defRPr/>
            </a:pPr>
            <a:r>
              <a:rPr lang="en-US" sz="2400" dirty="0"/>
              <a:t>Swing is currently the </a:t>
            </a:r>
            <a:r>
              <a:rPr lang="en-US" sz="2400" b="1" dirty="0">
                <a:solidFill>
                  <a:srgbClr val="92D050"/>
                </a:solidFill>
              </a:rPr>
              <a:t>primary</a:t>
            </a:r>
            <a:r>
              <a:rPr lang="en-US" sz="2400" dirty="0"/>
              <a:t> Java GUI toolkit, </a:t>
            </a:r>
            <a:r>
              <a:rPr lang="en-US" sz="2400" b="1" dirty="0"/>
              <a:t>built into the JDK</a:t>
            </a:r>
            <a:r>
              <a:rPr lang="en-US" sz="2400" dirty="0"/>
              <a:t>. </a:t>
            </a:r>
          </a:p>
          <a:p>
            <a:pPr>
              <a:defRPr/>
            </a:pPr>
            <a:endParaRPr lang="en-US" sz="20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Arial" panose="020B0604020202020204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0037044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itle 1"/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593767"/>
          </a:xfrm>
          <a:ln>
            <a:miter lim="800000"/>
            <a:headEnd/>
            <a:tailEnd/>
          </a:ln>
        </p:spPr>
        <p:txBody>
          <a:bodyPr/>
          <a:lstStyle/>
          <a:p>
            <a:pPr eaLnBrk="1" hangingPunct="1"/>
            <a:r>
              <a:rPr lang="en-US" altLang="en-US" dirty="0"/>
              <a:t>Graphical User Interfaces</a:t>
            </a:r>
          </a:p>
        </p:txBody>
      </p:sp>
      <p:sp>
        <p:nvSpPr>
          <p:cNvPr id="4099" name="Content Placeholder 2"/>
          <p:cNvSpPr>
            <a:spLocks noGrp="1"/>
          </p:cNvSpPr>
          <p:nvPr>
            <p:ph idx="1"/>
          </p:nvPr>
        </p:nvSpPr>
        <p:spPr>
          <a:xfrm>
            <a:off x="936516" y="2190440"/>
            <a:ext cx="10417284" cy="3835800"/>
          </a:xfrm>
          <a:ln>
            <a:miter lim="800000"/>
            <a:headEnd/>
            <a:tailEnd/>
          </a:ln>
        </p:spPr>
        <p:txBody>
          <a:bodyPr rtlCol="0">
            <a:normAutofit/>
          </a:bodyPr>
          <a:lstStyle/>
          <a:p>
            <a:pPr marL="0" indent="0">
              <a:buNone/>
              <a:defRPr/>
            </a:pPr>
            <a:r>
              <a:rPr lang="en-US" sz="2400" b="1" dirty="0"/>
              <a:t>Other GUI approaches:</a:t>
            </a:r>
          </a:p>
          <a:p>
            <a:pPr>
              <a:defRPr/>
            </a:pPr>
            <a:endParaRPr lang="en-US" sz="2000" dirty="0"/>
          </a:p>
          <a:p>
            <a:pPr>
              <a:defRPr/>
            </a:pPr>
            <a:r>
              <a:rPr lang="en-US" sz="2000" dirty="0"/>
              <a:t>Abstract Window Toolkit (AWT)</a:t>
            </a:r>
          </a:p>
          <a:p>
            <a:pPr>
              <a:defRPr/>
            </a:pPr>
            <a:endParaRPr lang="en-US" sz="2000" dirty="0"/>
          </a:p>
          <a:p>
            <a:pPr>
              <a:defRPr/>
            </a:pPr>
            <a:r>
              <a:rPr lang="en-US" sz="2000" dirty="0"/>
              <a:t>Swing </a:t>
            </a:r>
          </a:p>
          <a:p>
            <a:pPr>
              <a:defRPr/>
            </a:pPr>
            <a:endParaRPr lang="en-US" sz="2000" dirty="0"/>
          </a:p>
          <a:p>
            <a:pPr>
              <a:defRPr/>
            </a:pPr>
            <a:r>
              <a:rPr lang="en-US" sz="2000" dirty="0"/>
              <a:t>Standard Widget Toolkit (SWT) Eclipse</a:t>
            </a:r>
          </a:p>
          <a:p>
            <a:pPr>
              <a:defRPr/>
            </a:pPr>
            <a:endParaRPr lang="en-US" sz="2000" dirty="0"/>
          </a:p>
          <a:p>
            <a:pPr>
              <a:defRPr/>
            </a:pPr>
            <a:r>
              <a:rPr lang="en-US" sz="2000" dirty="0"/>
              <a:t>JavaFX -&gt; </a:t>
            </a:r>
            <a:r>
              <a:rPr lang="en-US" sz="2000" dirty="0" err="1"/>
              <a:t>OpenJFX</a:t>
            </a:r>
            <a:r>
              <a:rPr lang="en-US" sz="2000" dirty="0"/>
              <a:t> (some kind of web approach, </a:t>
            </a:r>
            <a:r>
              <a:rPr lang="en-US" sz="2000" b="1" dirty="0">
                <a:solidFill>
                  <a:srgbClr val="FF0000"/>
                </a:solidFill>
              </a:rPr>
              <a:t>removed</a:t>
            </a:r>
            <a:r>
              <a:rPr lang="en-US" sz="2000" dirty="0"/>
              <a:t>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Arial" panose="020B0604020202020204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6824260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itle 1"/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593767"/>
          </a:xfrm>
          <a:ln>
            <a:miter lim="800000"/>
            <a:headEnd/>
            <a:tailEnd/>
          </a:ln>
        </p:spPr>
        <p:txBody>
          <a:bodyPr/>
          <a:lstStyle/>
          <a:p>
            <a:pPr eaLnBrk="1" hangingPunct="1"/>
            <a:r>
              <a:rPr lang="en-US" altLang="en-US" dirty="0"/>
              <a:t>Graphical User Interfaces (GUI) with Swing</a:t>
            </a:r>
          </a:p>
        </p:txBody>
      </p:sp>
      <p:sp>
        <p:nvSpPr>
          <p:cNvPr id="4099" name="Content Placeholder 2"/>
          <p:cNvSpPr>
            <a:spLocks noGrp="1"/>
          </p:cNvSpPr>
          <p:nvPr>
            <p:ph idx="1"/>
          </p:nvPr>
        </p:nvSpPr>
        <p:spPr>
          <a:xfrm>
            <a:off x="936516" y="2190440"/>
            <a:ext cx="10417284" cy="3835800"/>
          </a:xfrm>
          <a:ln>
            <a:miter lim="800000"/>
            <a:headEnd/>
            <a:tailEnd/>
          </a:ln>
        </p:spPr>
        <p:txBody>
          <a:bodyPr rtlCol="0">
            <a:normAutofit/>
          </a:bodyPr>
          <a:lstStyle/>
          <a:p>
            <a:pPr>
              <a:defRPr/>
            </a:pPr>
            <a:r>
              <a:rPr lang="en-US" sz="2400" dirty="0"/>
              <a:t>Swing is part of Oracle's Java Foundation Classes (JFC).</a:t>
            </a:r>
            <a:endParaRPr lang="en-US" sz="2400" i="1" dirty="0"/>
          </a:p>
          <a:p>
            <a:pPr>
              <a:defRPr/>
            </a:pPr>
            <a:r>
              <a:rPr lang="en-US" sz="2400" i="1" dirty="0"/>
              <a:t>You can also use the Standard Widget Toolkit (</a:t>
            </a:r>
            <a:r>
              <a:rPr lang="en-US" sz="2400" i="1" dirty="0">
                <a:solidFill>
                  <a:srgbClr val="C00000"/>
                </a:solidFill>
              </a:rPr>
              <a:t>SWT</a:t>
            </a:r>
            <a:r>
              <a:rPr lang="en-US" sz="2400" i="1" dirty="0"/>
              <a:t>) from Eclipse </a:t>
            </a:r>
          </a:p>
          <a:p>
            <a:pPr marL="0" indent="0">
              <a:buNone/>
              <a:defRPr/>
            </a:pPr>
            <a:endParaRPr lang="en-US" sz="2400" dirty="0"/>
          </a:p>
          <a:p>
            <a:pPr marL="0" indent="0">
              <a:buNone/>
              <a:defRPr/>
            </a:pPr>
            <a:r>
              <a:rPr lang="en-US" sz="2400" b="1" dirty="0"/>
              <a:t>Before Swing: </a:t>
            </a:r>
            <a:endParaRPr lang="en-US" sz="2400" b="1" dirty="0">
              <a:solidFill>
                <a:srgbClr val="C00000"/>
              </a:solidFill>
            </a:endParaRPr>
          </a:p>
          <a:p>
            <a:pPr>
              <a:defRPr/>
            </a:pPr>
            <a:endParaRPr lang="en-US" sz="2400" dirty="0">
              <a:solidFill>
                <a:srgbClr val="C00000"/>
              </a:solidFill>
            </a:endParaRPr>
          </a:p>
          <a:p>
            <a:pPr>
              <a:defRPr/>
            </a:pPr>
            <a:r>
              <a:rPr lang="en-US" sz="2400" dirty="0">
                <a:solidFill>
                  <a:srgbClr val="C00000"/>
                </a:solidFill>
              </a:rPr>
              <a:t>Abstract Window Toolkit (AWT) </a:t>
            </a:r>
            <a:r>
              <a:rPr lang="en-US" sz="2400" dirty="0"/>
              <a:t>was the original. </a:t>
            </a:r>
          </a:p>
          <a:p>
            <a:pPr>
              <a:defRPr/>
            </a:pPr>
            <a:endParaRPr lang="en-US" sz="2400" dirty="0"/>
          </a:p>
          <a:p>
            <a:pPr>
              <a:defRPr/>
            </a:pPr>
            <a:r>
              <a:rPr lang="en-US" sz="2400" dirty="0"/>
              <a:t>Limited set of GUI components, layout managers, events, etc.</a:t>
            </a:r>
          </a:p>
          <a:p>
            <a:pPr>
              <a:defRPr/>
            </a:pPr>
            <a:endParaRPr lang="en-US" sz="2400" dirty="0"/>
          </a:p>
          <a:p>
            <a:pPr>
              <a:defRPr/>
            </a:pPr>
            <a:endParaRPr lang="en-US" sz="20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Arial" panose="020B0604020202020204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338485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Title 1"/>
          <p:cNvSpPr>
            <a:spLocks noGrp="1"/>
          </p:cNvSpPr>
          <p:nvPr>
            <p:ph type="title"/>
          </p:nvPr>
        </p:nvSpPr>
        <p:spPr>
          <a:ln>
            <a:miter lim="800000"/>
            <a:headEnd/>
            <a:tailEnd/>
          </a:ln>
        </p:spPr>
        <p:txBody>
          <a:bodyPr/>
          <a:lstStyle/>
          <a:p>
            <a:pPr eaLnBrk="1" hangingPunct="1"/>
            <a:r>
              <a:rPr lang="en-US" altLang="en-US"/>
              <a:t>Swing vs AWT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rtlCol="0">
            <a:normAutofit/>
          </a:bodyPr>
          <a:lstStyle/>
          <a:p>
            <a:pPr>
              <a:defRPr/>
            </a:pPr>
            <a:r>
              <a:rPr lang="en-US" dirty="0"/>
              <a:t>Swing is built “</a:t>
            </a:r>
            <a:r>
              <a:rPr lang="en-US" b="1" dirty="0"/>
              <a:t>on top of</a:t>
            </a:r>
            <a:r>
              <a:rPr lang="en-US" dirty="0"/>
              <a:t>” AWT.</a:t>
            </a:r>
          </a:p>
          <a:p>
            <a:pPr>
              <a:defRPr/>
            </a:pPr>
            <a:r>
              <a:rPr lang="en-US" dirty="0"/>
              <a:t>You need to import AWT.</a:t>
            </a:r>
          </a:p>
          <a:p>
            <a:pPr>
              <a:defRPr/>
            </a:pPr>
            <a:r>
              <a:rPr lang="en-US" dirty="0"/>
              <a:t>Swing is slower.</a:t>
            </a:r>
          </a:p>
          <a:p>
            <a:pPr>
              <a:defRPr/>
            </a:pPr>
            <a:r>
              <a:rPr lang="en-US" dirty="0"/>
              <a:t>Swing is bigger than AWT.</a:t>
            </a:r>
          </a:p>
          <a:p>
            <a:pPr>
              <a:defRPr/>
            </a:pPr>
            <a:r>
              <a:rPr lang="en-US" dirty="0"/>
              <a:t>Swing is more flexible.</a:t>
            </a:r>
          </a:p>
          <a:p>
            <a:pPr>
              <a:defRPr/>
            </a:pPr>
            <a:r>
              <a:rPr lang="en-US" dirty="0"/>
              <a:t>Swing looks better.</a:t>
            </a:r>
          </a:p>
          <a:p>
            <a:pPr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Arial" panose="020B0604020202020204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9768503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Title 1"/>
          <p:cNvSpPr>
            <a:spLocks noGrp="1"/>
          </p:cNvSpPr>
          <p:nvPr>
            <p:ph type="title"/>
          </p:nvPr>
        </p:nvSpPr>
        <p:spPr>
          <a:ln>
            <a:miter lim="800000"/>
            <a:headEnd/>
            <a:tailEnd/>
          </a:ln>
        </p:spPr>
        <p:txBody>
          <a:bodyPr/>
          <a:lstStyle/>
          <a:p>
            <a:pPr eaLnBrk="1" hangingPunct="1"/>
            <a:r>
              <a:rPr lang="en-US" altLang="en-US"/>
              <a:t>Swing vs AWT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rtlCol="0">
            <a:normAutofit/>
          </a:bodyPr>
          <a:lstStyle/>
          <a:p>
            <a:pPr>
              <a:defRPr/>
            </a:pPr>
            <a:r>
              <a:rPr lang="en-US" dirty="0"/>
              <a:t>AWT components looks like the OS.</a:t>
            </a:r>
          </a:p>
          <a:p>
            <a:pPr>
              <a:defRPr/>
            </a:pPr>
            <a:r>
              <a:rPr lang="en-US" dirty="0"/>
              <a:t>Swing components can change their appearance </a:t>
            </a:r>
            <a:br>
              <a:rPr lang="en-US" dirty="0"/>
            </a:br>
            <a:r>
              <a:rPr lang="en-US" dirty="0"/>
              <a:t>(based on the current "look and feel“ -&gt; “Nimbus” example). </a:t>
            </a:r>
          </a:p>
          <a:p>
            <a:pPr marL="0" indent="0">
              <a:buNone/>
              <a:defRPr/>
            </a:pPr>
            <a:endParaRPr lang="en-US" dirty="0"/>
          </a:p>
          <a:p>
            <a:pPr marL="0" indent="0">
              <a:buNone/>
              <a:defRPr/>
            </a:pPr>
            <a:r>
              <a:rPr lang="en-US" b="1" dirty="0"/>
              <a:t>Careful:</a:t>
            </a:r>
          </a:p>
          <a:p>
            <a:pPr>
              <a:defRPr/>
            </a:pPr>
            <a:r>
              <a:rPr lang="en-US" dirty="0"/>
              <a:t>Swing and AWT are incompatible.</a:t>
            </a:r>
          </a:p>
          <a:p>
            <a:pPr>
              <a:defRPr/>
            </a:pPr>
            <a:r>
              <a:rPr lang="en-US" dirty="0"/>
              <a:t>You can use both together.</a:t>
            </a:r>
          </a:p>
          <a:p>
            <a:pPr>
              <a:defRPr/>
            </a:pPr>
            <a:r>
              <a:rPr lang="en-US" dirty="0"/>
              <a:t>But you are advised not to mix them!</a:t>
            </a:r>
          </a:p>
          <a:p>
            <a:pPr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Arial" panose="020B0604020202020204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5391940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Title 1"/>
          <p:cNvSpPr>
            <a:spLocks noGrp="1"/>
          </p:cNvSpPr>
          <p:nvPr>
            <p:ph type="title"/>
          </p:nvPr>
        </p:nvSpPr>
        <p:spPr>
          <a:xfrm>
            <a:off x="936516" y="1170298"/>
            <a:ext cx="10417284" cy="516892"/>
          </a:xfrm>
          <a:ln>
            <a:miter lim="800000"/>
            <a:headEnd/>
            <a:tailEnd/>
          </a:ln>
        </p:spPr>
        <p:txBody>
          <a:bodyPr/>
          <a:lstStyle/>
          <a:p>
            <a:pPr eaLnBrk="1" hangingPunct="1"/>
            <a:r>
              <a:rPr lang="en-US" altLang="en-US" sz="2800" dirty="0"/>
              <a:t>What are the important steps in building a GUI?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789884"/>
            <a:ext cx="10417284" cy="4724203"/>
          </a:xfrm>
        </p:spPr>
        <p:txBody>
          <a:bodyPr rtlCol="0">
            <a:normAutofit lnSpcReduction="10000"/>
          </a:bodyPr>
          <a:lstStyle/>
          <a:p>
            <a:pPr marL="0" indent="0">
              <a:buNone/>
              <a:defRPr/>
            </a:pPr>
            <a:r>
              <a:rPr lang="en-US" dirty="0">
                <a:solidFill>
                  <a:srgbClr val="C00000"/>
                </a:solidFill>
              </a:rPr>
              <a:t>Step 1</a:t>
            </a:r>
            <a:r>
              <a:rPr lang="en-US" dirty="0"/>
              <a:t>: </a:t>
            </a:r>
          </a:p>
          <a:p>
            <a:pPr>
              <a:defRPr/>
            </a:pPr>
            <a:r>
              <a:rPr lang="en-US" dirty="0"/>
              <a:t>Create an area (window/container/display area) </a:t>
            </a:r>
          </a:p>
          <a:p>
            <a:pPr marL="0" indent="0">
              <a:buNone/>
              <a:defRPr/>
            </a:pPr>
            <a:endParaRPr lang="en-US" dirty="0"/>
          </a:p>
          <a:p>
            <a:pPr>
              <a:defRPr/>
            </a:pPr>
            <a:r>
              <a:rPr lang="en-US" dirty="0"/>
              <a:t>In Swing: use </a:t>
            </a:r>
            <a:r>
              <a:rPr lang="en-US" dirty="0" err="1">
                <a:solidFill>
                  <a:srgbClr val="0070C0"/>
                </a:solidFill>
              </a:rPr>
              <a:t>JFrame</a:t>
            </a:r>
            <a:r>
              <a:rPr lang="en-US" dirty="0"/>
              <a:t>.</a:t>
            </a:r>
          </a:p>
          <a:p>
            <a:pPr>
              <a:defRPr/>
            </a:pPr>
            <a:endParaRPr lang="en-US" dirty="0"/>
          </a:p>
          <a:p>
            <a:pPr>
              <a:defRPr/>
            </a:pPr>
            <a:r>
              <a:rPr lang="en-US" dirty="0"/>
              <a:t>Create some Components:</a:t>
            </a:r>
          </a:p>
          <a:p>
            <a:pPr lvl="1">
              <a:defRPr/>
            </a:pPr>
            <a:r>
              <a:rPr lang="en-US" dirty="0"/>
              <a:t>Buttons</a:t>
            </a:r>
          </a:p>
          <a:p>
            <a:pPr lvl="1">
              <a:defRPr/>
            </a:pPr>
            <a:r>
              <a:rPr lang="en-US" dirty="0"/>
              <a:t>Text areas</a:t>
            </a:r>
          </a:p>
          <a:p>
            <a:pPr lvl="1">
              <a:defRPr/>
            </a:pPr>
            <a:r>
              <a:rPr lang="en-US" dirty="0"/>
              <a:t>Sliders</a:t>
            </a:r>
          </a:p>
          <a:p>
            <a:pPr lvl="1">
              <a:defRPr/>
            </a:pPr>
            <a:r>
              <a:rPr lang="en-US" dirty="0"/>
              <a:t>Panels</a:t>
            </a:r>
          </a:p>
          <a:p>
            <a:pPr lvl="1">
              <a:defRPr/>
            </a:pPr>
            <a:r>
              <a:rPr lang="en-US" dirty="0"/>
              <a:t>etc.</a:t>
            </a:r>
          </a:p>
          <a:p>
            <a:pPr marL="0" indent="0">
              <a:buNone/>
              <a:defRPr/>
            </a:pPr>
            <a:endParaRPr lang="en-US" dirty="0">
              <a:solidFill>
                <a:srgbClr val="C00000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Arial" panose="020B0604020202020204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353465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Title 1"/>
          <p:cNvSpPr>
            <a:spLocks noGrp="1"/>
          </p:cNvSpPr>
          <p:nvPr>
            <p:ph type="title"/>
          </p:nvPr>
        </p:nvSpPr>
        <p:spPr>
          <a:xfrm>
            <a:off x="936516" y="1170298"/>
            <a:ext cx="10417284" cy="516892"/>
          </a:xfrm>
          <a:ln>
            <a:miter lim="800000"/>
            <a:headEnd/>
            <a:tailEnd/>
          </a:ln>
        </p:spPr>
        <p:txBody>
          <a:bodyPr/>
          <a:lstStyle/>
          <a:p>
            <a:pPr eaLnBrk="1" hangingPunct="1"/>
            <a:r>
              <a:rPr lang="en-US" altLang="en-US" sz="2800" dirty="0"/>
              <a:t>What are the important steps in building a GUI?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789885"/>
            <a:ext cx="10417284" cy="4768710"/>
          </a:xfrm>
        </p:spPr>
        <p:txBody>
          <a:bodyPr rtlCol="0">
            <a:normAutofit lnSpcReduction="10000"/>
          </a:bodyPr>
          <a:lstStyle/>
          <a:p>
            <a:pPr marL="0" indent="0">
              <a:buNone/>
              <a:defRPr/>
            </a:pPr>
            <a:endParaRPr lang="en-US" dirty="0">
              <a:solidFill>
                <a:srgbClr val="C00000"/>
              </a:solidFill>
            </a:endParaRPr>
          </a:p>
          <a:p>
            <a:pPr marL="0" indent="0">
              <a:buNone/>
              <a:defRPr/>
            </a:pPr>
            <a:r>
              <a:rPr lang="en-US" dirty="0">
                <a:solidFill>
                  <a:srgbClr val="C00000"/>
                </a:solidFill>
              </a:rPr>
              <a:t>Step 2</a:t>
            </a:r>
            <a:r>
              <a:rPr lang="en-US" dirty="0"/>
              <a:t>: Choose a </a:t>
            </a:r>
            <a:r>
              <a:rPr lang="en-US" b="1" dirty="0">
                <a:solidFill>
                  <a:srgbClr val="0070C0"/>
                </a:solidFill>
              </a:rPr>
              <a:t>layout manager</a:t>
            </a:r>
            <a:r>
              <a:rPr lang="en-US" dirty="0">
                <a:solidFill>
                  <a:srgbClr val="0070C0"/>
                </a:solidFill>
              </a:rPr>
              <a:t>.</a:t>
            </a:r>
          </a:p>
          <a:p>
            <a:pPr marL="0" indent="0">
              <a:buNone/>
              <a:defRPr/>
            </a:pPr>
            <a:endParaRPr lang="en-US" dirty="0">
              <a:solidFill>
                <a:srgbClr val="C00000"/>
              </a:solidFill>
            </a:endParaRPr>
          </a:p>
          <a:p>
            <a:pPr marL="0" indent="0">
              <a:buNone/>
              <a:defRPr/>
            </a:pPr>
            <a:r>
              <a:rPr lang="en-US" dirty="0">
                <a:solidFill>
                  <a:srgbClr val="C00000"/>
                </a:solidFill>
              </a:rPr>
              <a:t>Step 3</a:t>
            </a:r>
            <a:r>
              <a:rPr lang="en-US" dirty="0"/>
              <a:t>: Add your components to your </a:t>
            </a:r>
            <a:r>
              <a:rPr lang="en-US" dirty="0" err="1">
                <a:solidFill>
                  <a:srgbClr val="0070C0"/>
                </a:solidFill>
              </a:rPr>
              <a:t>JFrame</a:t>
            </a:r>
            <a:r>
              <a:rPr lang="en-US" dirty="0"/>
              <a:t>.</a:t>
            </a:r>
          </a:p>
          <a:p>
            <a:pPr marL="0" indent="0">
              <a:buNone/>
              <a:defRPr/>
            </a:pPr>
            <a:endParaRPr lang="en-US" dirty="0">
              <a:solidFill>
                <a:srgbClr val="C00000"/>
              </a:solidFill>
            </a:endParaRPr>
          </a:p>
          <a:p>
            <a:pPr marL="0" indent="0">
              <a:buNone/>
              <a:defRPr/>
            </a:pPr>
            <a:r>
              <a:rPr lang="en-US" dirty="0">
                <a:solidFill>
                  <a:srgbClr val="C00000"/>
                </a:solidFill>
              </a:rPr>
              <a:t>Step 4</a:t>
            </a:r>
            <a:r>
              <a:rPr lang="en-US" dirty="0"/>
              <a:t>: </a:t>
            </a:r>
            <a:r>
              <a:rPr lang="en-US" b="1" dirty="0"/>
              <a:t>Event Handling: </a:t>
            </a:r>
            <a:r>
              <a:rPr lang="en-US" dirty="0"/>
              <a:t>Attach </a:t>
            </a:r>
            <a:r>
              <a:rPr lang="en-US" b="1" i="1" dirty="0"/>
              <a:t>event listeners</a:t>
            </a:r>
            <a:r>
              <a:rPr lang="en-US" dirty="0"/>
              <a:t> to your components. </a:t>
            </a:r>
          </a:p>
          <a:p>
            <a:pPr>
              <a:defRPr/>
            </a:pPr>
            <a:endParaRPr lang="en-US" dirty="0"/>
          </a:p>
          <a:p>
            <a:pPr>
              <a:defRPr/>
            </a:pPr>
            <a:r>
              <a:rPr lang="en-US" dirty="0"/>
              <a:t>Interaction with a specific component -&gt; triggers a specific </a:t>
            </a:r>
            <a:r>
              <a:rPr lang="en-US" b="1" dirty="0"/>
              <a:t>event</a:t>
            </a:r>
            <a:r>
              <a:rPr lang="en-US" dirty="0"/>
              <a:t>.</a:t>
            </a:r>
          </a:p>
          <a:p>
            <a:pPr>
              <a:defRPr/>
            </a:pPr>
            <a:endParaRPr lang="en-US" dirty="0"/>
          </a:p>
          <a:p>
            <a:pPr>
              <a:defRPr/>
            </a:pPr>
            <a:r>
              <a:rPr lang="en-US" dirty="0"/>
              <a:t>A </a:t>
            </a:r>
            <a:r>
              <a:rPr lang="en-US" b="1" dirty="0"/>
              <a:t>listener</a:t>
            </a:r>
            <a:r>
              <a:rPr lang="en-US" dirty="0"/>
              <a:t> is notified when an </a:t>
            </a:r>
            <a:r>
              <a:rPr lang="en-US" b="1" dirty="0"/>
              <a:t>event</a:t>
            </a:r>
            <a:r>
              <a:rPr lang="en-US" dirty="0"/>
              <a:t> occurs -&gt; and executes some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Arial" panose="020B0604020202020204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5841515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Title 1"/>
          <p:cNvSpPr>
            <a:spLocks noGrp="1"/>
          </p:cNvSpPr>
          <p:nvPr>
            <p:ph type="title"/>
          </p:nvPr>
        </p:nvSpPr>
        <p:spPr>
          <a:xfrm>
            <a:off x="936516" y="1170298"/>
            <a:ext cx="10417284" cy="516892"/>
          </a:xfrm>
          <a:ln>
            <a:miter lim="800000"/>
            <a:headEnd/>
            <a:tailEnd/>
          </a:ln>
        </p:spPr>
        <p:txBody>
          <a:bodyPr/>
          <a:lstStyle/>
          <a:p>
            <a:pPr eaLnBrk="1" hangingPunct="1"/>
            <a:r>
              <a:rPr lang="en-US" altLang="en-US" sz="2800" dirty="0"/>
              <a:t>What are the important steps in building a GUI?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413313" y="2696193"/>
            <a:ext cx="6394868" cy="447564"/>
          </a:xfrm>
        </p:spPr>
        <p:txBody>
          <a:bodyPr rtlCol="0">
            <a:normAutofit lnSpcReduction="10000"/>
          </a:bodyPr>
          <a:lstStyle/>
          <a:p>
            <a:pPr marL="0" indent="0" algn="ctr">
              <a:buNone/>
              <a:defRPr/>
            </a:pPr>
            <a:r>
              <a:rPr lang="en-US" dirty="0">
                <a:solidFill>
                  <a:srgbClr val="C00000"/>
                </a:solidFill>
              </a:rPr>
              <a:t>“</a:t>
            </a:r>
            <a:r>
              <a:rPr lang="en-US" b="1" dirty="0" err="1">
                <a:solidFill>
                  <a:srgbClr val="C00000"/>
                </a:solidFill>
              </a:rPr>
              <a:t>OldSwing</a:t>
            </a:r>
            <a:r>
              <a:rPr lang="en-US" b="1" dirty="0">
                <a:solidFill>
                  <a:srgbClr val="C00000"/>
                </a:solidFill>
              </a:rPr>
              <a:t>:</a:t>
            </a:r>
            <a:r>
              <a:rPr lang="en-US" dirty="0">
                <a:solidFill>
                  <a:srgbClr val="C00000"/>
                </a:solidFill>
              </a:rPr>
              <a:t> Swing-10 ActionListener” example 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Arial" panose="020B0604020202020204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86053253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Title 1"/>
          <p:cNvSpPr>
            <a:spLocks noGrp="1"/>
          </p:cNvSpPr>
          <p:nvPr>
            <p:ph type="title"/>
          </p:nvPr>
        </p:nvSpPr>
        <p:spPr>
          <a:xfrm>
            <a:off x="204187" y="1020595"/>
            <a:ext cx="6989633" cy="440018"/>
          </a:xfrm>
          <a:ln>
            <a:miter lim="800000"/>
            <a:headEnd/>
            <a:tailEnd/>
          </a:ln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en-US" sz="2800" dirty="0"/>
              <a:t>Components and Containers in Swing</a:t>
            </a:r>
            <a:endParaRPr lang="en-US" altLang="en-US" sz="1600" i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en-US" dirty="0">
                <a:solidFill>
                  <a:srgbClr val="898989"/>
                </a:solidFill>
              </a:rPr>
              <a:t> </a:t>
            </a:r>
          </a:p>
        </p:txBody>
      </p:sp>
      <p:pic>
        <p:nvPicPr>
          <p:cNvPr id="12290" name="Picture 2" descr="AWT and Swing in Java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91239" y="1553706"/>
            <a:ext cx="5597862" cy="50655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/>
          <p:cNvSpPr txBox="1"/>
          <p:nvPr/>
        </p:nvSpPr>
        <p:spPr>
          <a:xfrm>
            <a:off x="3770889" y="6619285"/>
            <a:ext cx="398173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en-US" sz="1200" dirty="0"/>
              <a:t>From: </a:t>
            </a:r>
            <a:r>
              <a:rPr lang="en-US" sz="1200" dirty="0"/>
              <a:t>https://www.javatpoint.com/awt-and-swing-in-java</a:t>
            </a:r>
          </a:p>
        </p:txBody>
      </p:sp>
    </p:spTree>
    <p:extLst>
      <p:ext uri="{BB962C8B-B14F-4D97-AF65-F5344CB8AC3E}">
        <p14:creationId xmlns:p14="http://schemas.microsoft.com/office/powerpoint/2010/main" val="198107471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Title 1"/>
          <p:cNvSpPr>
            <a:spLocks noGrp="1"/>
          </p:cNvSpPr>
          <p:nvPr>
            <p:ph type="title"/>
          </p:nvPr>
        </p:nvSpPr>
        <p:spPr>
          <a:xfrm>
            <a:off x="936516" y="1170298"/>
            <a:ext cx="10417284" cy="488570"/>
          </a:xfrm>
          <a:ln>
            <a:miter lim="800000"/>
            <a:headEnd/>
            <a:tailEnd/>
          </a:ln>
        </p:spPr>
        <p:txBody>
          <a:bodyPr>
            <a:normAutofit/>
          </a:bodyPr>
          <a:lstStyle/>
          <a:p>
            <a:pPr eaLnBrk="1" hangingPunct="1"/>
            <a:r>
              <a:rPr lang="en-US" altLang="en-US" sz="2800" dirty="0"/>
              <a:t>Components and Containers in Swing</a:t>
            </a:r>
            <a:endParaRPr lang="en-US" altLang="en-US" sz="1600" i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2000278"/>
            <a:ext cx="10417284" cy="4473350"/>
          </a:xfrm>
        </p:spPr>
        <p:txBody>
          <a:bodyPr rtlCol="0">
            <a:normAutofit/>
          </a:bodyPr>
          <a:lstStyle/>
          <a:p>
            <a:pPr>
              <a:defRPr/>
            </a:pPr>
            <a:r>
              <a:rPr lang="en-US" b="1" dirty="0" err="1"/>
              <a:t>JFrame</a:t>
            </a:r>
            <a:r>
              <a:rPr lang="en-US" dirty="0"/>
              <a:t> is a top-level containers. </a:t>
            </a:r>
          </a:p>
          <a:p>
            <a:pPr>
              <a:defRPr/>
            </a:pPr>
            <a:endParaRPr lang="en-US" b="1" dirty="0"/>
          </a:p>
          <a:p>
            <a:pPr>
              <a:defRPr/>
            </a:pPr>
            <a:r>
              <a:rPr lang="en-US" b="1" dirty="0" err="1"/>
              <a:t>JPanel</a:t>
            </a:r>
            <a:r>
              <a:rPr lang="en-US" b="1" dirty="0"/>
              <a:t> </a:t>
            </a:r>
            <a:r>
              <a:rPr lang="en-US" dirty="0"/>
              <a:t>is an intermediate container that contain components like:</a:t>
            </a:r>
          </a:p>
          <a:p>
            <a:pPr lvl="1">
              <a:defRPr/>
            </a:pPr>
            <a:r>
              <a:rPr lang="en-US" dirty="0"/>
              <a:t>Buttons</a:t>
            </a:r>
          </a:p>
          <a:p>
            <a:pPr lvl="1">
              <a:defRPr/>
            </a:pPr>
            <a:r>
              <a:rPr lang="en-US" dirty="0"/>
              <a:t>Labels</a:t>
            </a:r>
          </a:p>
          <a:p>
            <a:pPr lvl="1">
              <a:defRPr/>
            </a:pPr>
            <a:r>
              <a:rPr lang="en-US" dirty="0"/>
              <a:t>Etc.</a:t>
            </a:r>
          </a:p>
          <a:p>
            <a:pPr>
              <a:defRPr/>
            </a:pPr>
            <a:endParaRPr lang="en-US" dirty="0"/>
          </a:p>
          <a:p>
            <a:pPr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en-US" dirty="0">
                <a:solidFill>
                  <a:srgbClr val="898989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50433123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Title 1"/>
          <p:cNvSpPr>
            <a:spLocks noGrp="1"/>
          </p:cNvSpPr>
          <p:nvPr>
            <p:ph type="title"/>
          </p:nvPr>
        </p:nvSpPr>
        <p:spPr>
          <a:xfrm>
            <a:off x="936516" y="1170298"/>
            <a:ext cx="10417284" cy="516892"/>
          </a:xfrm>
          <a:ln>
            <a:miter lim="800000"/>
            <a:headEnd/>
            <a:tailEnd/>
          </a:ln>
        </p:spPr>
        <p:txBody>
          <a:bodyPr/>
          <a:lstStyle/>
          <a:p>
            <a:pPr eaLnBrk="1" hangingPunct="1"/>
            <a:r>
              <a:rPr lang="en-US" altLang="en-US" sz="2800" dirty="0"/>
              <a:t>What are the important steps in building a GUI?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413313" y="2696193"/>
            <a:ext cx="6394868" cy="447564"/>
          </a:xfrm>
        </p:spPr>
        <p:txBody>
          <a:bodyPr rtlCol="0">
            <a:normAutofit fontScale="92500"/>
          </a:bodyPr>
          <a:lstStyle/>
          <a:p>
            <a:pPr marL="0" indent="0" algn="ctr">
              <a:buNone/>
              <a:defRPr/>
            </a:pPr>
            <a:r>
              <a:rPr lang="en-US" dirty="0">
                <a:solidFill>
                  <a:srgbClr val="C00000"/>
                </a:solidFill>
              </a:rPr>
              <a:t>“</a:t>
            </a:r>
            <a:r>
              <a:rPr lang="en-US" b="1" dirty="0" err="1">
                <a:solidFill>
                  <a:srgbClr val="C00000"/>
                </a:solidFill>
              </a:rPr>
              <a:t>OldSwing</a:t>
            </a:r>
            <a:r>
              <a:rPr lang="en-US" b="1" dirty="0">
                <a:solidFill>
                  <a:srgbClr val="C00000"/>
                </a:solidFill>
              </a:rPr>
              <a:t>:</a:t>
            </a:r>
            <a:r>
              <a:rPr lang="en-US" dirty="0">
                <a:solidFill>
                  <a:srgbClr val="C00000"/>
                </a:solidFill>
              </a:rPr>
              <a:t> Swing-02 </a:t>
            </a:r>
            <a:r>
              <a:rPr lang="en-US" dirty="0" err="1">
                <a:solidFill>
                  <a:srgbClr val="C00000"/>
                </a:solidFill>
              </a:rPr>
              <a:t>FrameTwoVersions</a:t>
            </a:r>
            <a:r>
              <a:rPr lang="en-US" dirty="0">
                <a:solidFill>
                  <a:srgbClr val="C00000"/>
                </a:solidFill>
              </a:rPr>
              <a:t>” example 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en-US" dirty="0">
                <a:solidFill>
                  <a:srgbClr val="898989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96586069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Title 1"/>
          <p:cNvSpPr>
            <a:spLocks noGrp="1"/>
          </p:cNvSpPr>
          <p:nvPr>
            <p:ph type="title"/>
          </p:nvPr>
        </p:nvSpPr>
        <p:spPr>
          <a:xfrm>
            <a:off x="936516" y="826387"/>
            <a:ext cx="10417284" cy="488570"/>
          </a:xfrm>
          <a:ln>
            <a:miter lim="800000"/>
            <a:headEnd/>
            <a:tailEnd/>
          </a:ln>
        </p:spPr>
        <p:txBody>
          <a:bodyPr>
            <a:normAutofit/>
          </a:bodyPr>
          <a:lstStyle/>
          <a:p>
            <a:pPr eaLnBrk="1" hangingPunct="1"/>
            <a:r>
              <a:rPr lang="en-US" altLang="en-US" sz="2800" dirty="0"/>
              <a:t>Components and Containers in Swing</a:t>
            </a:r>
            <a:endParaRPr lang="en-US" altLang="en-US" sz="1600" i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85069" y="1462157"/>
            <a:ext cx="10417284" cy="5104530"/>
          </a:xfrm>
        </p:spPr>
        <p:txBody>
          <a:bodyPr rtlCol="0">
            <a:normAutofit/>
          </a:bodyPr>
          <a:lstStyle/>
          <a:p>
            <a:pPr>
              <a:defRPr/>
            </a:pPr>
            <a:r>
              <a:rPr lang="en-US" dirty="0"/>
              <a:t>Important container classes are:</a:t>
            </a:r>
          </a:p>
          <a:p>
            <a:pPr lvl="1">
              <a:defRPr/>
            </a:pPr>
            <a:r>
              <a:rPr lang="en-US" dirty="0" err="1">
                <a:solidFill>
                  <a:srgbClr val="C00000"/>
                </a:solidFill>
              </a:rPr>
              <a:t>JFrame</a:t>
            </a:r>
            <a:endParaRPr lang="en-US" dirty="0">
              <a:solidFill>
                <a:srgbClr val="C00000"/>
              </a:solidFill>
            </a:endParaRPr>
          </a:p>
          <a:p>
            <a:pPr lvl="1">
              <a:defRPr/>
            </a:pPr>
            <a:r>
              <a:rPr lang="en-US" dirty="0" err="1">
                <a:solidFill>
                  <a:srgbClr val="C00000"/>
                </a:solidFill>
              </a:rPr>
              <a:t>JApplet</a:t>
            </a:r>
            <a:r>
              <a:rPr lang="en-US" dirty="0">
                <a:solidFill>
                  <a:srgbClr val="C00000"/>
                </a:solidFill>
              </a:rPr>
              <a:t> (obsolete)</a:t>
            </a:r>
            <a:endParaRPr lang="en-US" dirty="0"/>
          </a:p>
          <a:p>
            <a:pPr lvl="1">
              <a:defRPr/>
            </a:pPr>
            <a:r>
              <a:rPr lang="en-US">
                <a:solidFill>
                  <a:srgbClr val="C00000"/>
                </a:solidFill>
              </a:rPr>
              <a:t>JPanel</a:t>
            </a:r>
            <a:endParaRPr lang="en-US"/>
          </a:p>
          <a:p>
            <a:pPr marL="0" indent="0">
              <a:buNone/>
              <a:defRPr/>
            </a:pPr>
            <a:endParaRPr lang="en-US"/>
          </a:p>
          <a:p>
            <a:pPr>
              <a:defRPr/>
            </a:pPr>
            <a:r>
              <a:rPr lang="en-US"/>
              <a:t>A </a:t>
            </a:r>
            <a:r>
              <a:rPr lang="en-US" dirty="0"/>
              <a:t>container holds components for displaying.</a:t>
            </a:r>
          </a:p>
          <a:p>
            <a:pPr>
              <a:defRPr/>
            </a:pPr>
            <a:r>
              <a:rPr lang="en-US" dirty="0"/>
              <a:t>Some frequently components are:</a:t>
            </a:r>
          </a:p>
          <a:p>
            <a:pPr lvl="1">
              <a:defRPr/>
            </a:pPr>
            <a:r>
              <a:rPr lang="en-US" dirty="0" err="1">
                <a:solidFill>
                  <a:srgbClr val="C00000"/>
                </a:solidFill>
              </a:rPr>
              <a:t>JButton</a:t>
            </a:r>
            <a:endParaRPr lang="en-US" dirty="0">
              <a:solidFill>
                <a:srgbClr val="C00000"/>
              </a:solidFill>
            </a:endParaRPr>
          </a:p>
          <a:p>
            <a:pPr lvl="1">
              <a:defRPr/>
            </a:pPr>
            <a:r>
              <a:rPr lang="en-US" dirty="0" err="1">
                <a:solidFill>
                  <a:srgbClr val="C00000"/>
                </a:solidFill>
              </a:rPr>
              <a:t>JCheckbox</a:t>
            </a:r>
            <a:endParaRPr lang="en-US" dirty="0">
              <a:solidFill>
                <a:srgbClr val="C00000"/>
              </a:solidFill>
            </a:endParaRPr>
          </a:p>
          <a:p>
            <a:pPr lvl="1">
              <a:defRPr/>
            </a:pPr>
            <a:r>
              <a:rPr lang="en-US" dirty="0" err="1">
                <a:solidFill>
                  <a:srgbClr val="C00000"/>
                </a:solidFill>
              </a:rPr>
              <a:t>JLabel</a:t>
            </a:r>
            <a:endParaRPr lang="en-US" dirty="0">
              <a:solidFill>
                <a:srgbClr val="C00000"/>
              </a:solidFill>
            </a:endParaRPr>
          </a:p>
          <a:p>
            <a:pPr lvl="1">
              <a:defRPr/>
            </a:pPr>
            <a:r>
              <a:rPr lang="en-US" dirty="0" err="1">
                <a:solidFill>
                  <a:srgbClr val="C00000"/>
                </a:solidFill>
              </a:rPr>
              <a:t>JTextField</a:t>
            </a:r>
            <a:endParaRPr lang="en-US" dirty="0"/>
          </a:p>
          <a:p>
            <a:pPr lvl="1">
              <a:defRPr/>
            </a:pPr>
            <a:r>
              <a:rPr lang="en-US" dirty="0" err="1">
                <a:solidFill>
                  <a:srgbClr val="C00000"/>
                </a:solidFill>
              </a:rPr>
              <a:t>JTextArea</a:t>
            </a:r>
            <a:endParaRPr lang="en-US" dirty="0"/>
          </a:p>
          <a:p>
            <a:pPr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en-US" dirty="0">
                <a:solidFill>
                  <a:srgbClr val="898989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73196433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Title 1"/>
          <p:cNvSpPr>
            <a:spLocks noGrp="1"/>
          </p:cNvSpPr>
          <p:nvPr>
            <p:ph type="title"/>
          </p:nvPr>
        </p:nvSpPr>
        <p:spPr>
          <a:xfrm>
            <a:off x="989250" y="1091076"/>
            <a:ext cx="9983549" cy="685800"/>
          </a:xfrm>
          <a:ln>
            <a:miter lim="800000"/>
            <a:headEnd/>
            <a:tailEnd/>
          </a:ln>
        </p:spPr>
        <p:txBody>
          <a:bodyPr>
            <a:normAutofit/>
          </a:bodyPr>
          <a:lstStyle/>
          <a:p>
            <a:pPr eaLnBrk="1" hangingPunct="1"/>
            <a:r>
              <a:rPr lang="en-US" altLang="en-US" sz="2400" dirty="0"/>
              <a:t>Arranging components in a container using a Layout Manager</a:t>
            </a:r>
          </a:p>
        </p:txBody>
      </p:sp>
      <p:sp>
        <p:nvSpPr>
          <p:cNvPr id="9219" name="Content Placeholder 2"/>
          <p:cNvSpPr>
            <a:spLocks noGrp="1"/>
          </p:cNvSpPr>
          <p:nvPr>
            <p:ph idx="1"/>
          </p:nvPr>
        </p:nvSpPr>
        <p:spPr>
          <a:ln>
            <a:miter lim="800000"/>
            <a:headEnd/>
            <a:tailEnd/>
          </a:ln>
        </p:spPr>
        <p:txBody>
          <a:bodyPr/>
          <a:lstStyle/>
          <a:p>
            <a:pPr eaLnBrk="1" hangingPunct="1"/>
            <a:r>
              <a:rPr lang="en-US" altLang="en-US" dirty="0">
                <a:solidFill>
                  <a:srgbClr val="0070C0"/>
                </a:solidFill>
              </a:rPr>
              <a:t>Layout Management: organize </a:t>
            </a:r>
            <a:r>
              <a:rPr lang="en-US" altLang="en-US" dirty="0"/>
              <a:t>size and position of components. </a:t>
            </a:r>
          </a:p>
          <a:p>
            <a:pPr eaLnBrk="1" hangingPunct="1"/>
            <a:endParaRPr lang="en-US" altLang="en-US" dirty="0"/>
          </a:p>
          <a:p>
            <a:pPr eaLnBrk="1" hangingPunct="1"/>
            <a:r>
              <a:rPr lang="en-US" altLang="en-US" dirty="0"/>
              <a:t>Display multiple components at once.</a:t>
            </a:r>
          </a:p>
          <a:p>
            <a:pPr eaLnBrk="1" hangingPunct="1"/>
            <a:endParaRPr lang="en-US" altLang="en-US" dirty="0"/>
          </a:p>
          <a:p>
            <a:pPr eaLnBrk="1" hangingPunct="1"/>
            <a:r>
              <a:rPr lang="en-US" altLang="en-US" dirty="0"/>
              <a:t>Each container has a default layout manager.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en-US" dirty="0">
                <a:solidFill>
                  <a:srgbClr val="898989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19512952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Title 1"/>
          <p:cNvSpPr>
            <a:spLocks noGrp="1"/>
          </p:cNvSpPr>
          <p:nvPr>
            <p:ph type="title"/>
          </p:nvPr>
        </p:nvSpPr>
        <p:spPr>
          <a:xfrm>
            <a:off x="989250" y="1091076"/>
            <a:ext cx="9538487" cy="685800"/>
          </a:xfrm>
          <a:ln>
            <a:miter lim="800000"/>
            <a:headEnd/>
            <a:tailEnd/>
          </a:ln>
        </p:spPr>
        <p:txBody>
          <a:bodyPr>
            <a:normAutofit/>
          </a:bodyPr>
          <a:lstStyle/>
          <a:p>
            <a:pPr eaLnBrk="1" hangingPunct="1"/>
            <a:r>
              <a:rPr lang="en-US" altLang="en-US" sz="2400" dirty="0"/>
              <a:t>Arranging components in a container using a Layout Manager</a:t>
            </a:r>
          </a:p>
        </p:txBody>
      </p:sp>
      <p:sp>
        <p:nvSpPr>
          <p:cNvPr id="9219" name="Content Placeholder 2"/>
          <p:cNvSpPr>
            <a:spLocks noGrp="1"/>
          </p:cNvSpPr>
          <p:nvPr>
            <p:ph idx="1"/>
          </p:nvPr>
        </p:nvSpPr>
        <p:spPr>
          <a:ln>
            <a:miter lim="800000"/>
            <a:headEnd/>
            <a:tailEnd/>
          </a:ln>
        </p:spPr>
        <p:txBody>
          <a:bodyPr/>
          <a:lstStyle/>
          <a:p>
            <a:pPr marL="0" indent="0" eaLnBrk="1" hangingPunct="1">
              <a:buNone/>
            </a:pPr>
            <a:r>
              <a:rPr lang="en-US" altLang="en-US" b="1" dirty="0"/>
              <a:t>Layout Managers:</a:t>
            </a:r>
          </a:p>
          <a:p>
            <a:pPr lvl="1" eaLnBrk="1" hangingPunct="1"/>
            <a:endParaRPr lang="en-US" altLang="en-US" dirty="0"/>
          </a:p>
          <a:p>
            <a:pPr lvl="1" eaLnBrk="1" hangingPunct="1"/>
            <a:r>
              <a:rPr lang="en-US" altLang="en-US" dirty="0" err="1"/>
              <a:t>FlowLayout</a:t>
            </a:r>
            <a:r>
              <a:rPr lang="en-US" altLang="en-US" dirty="0"/>
              <a:t> (default layout for </a:t>
            </a:r>
            <a:r>
              <a:rPr lang="en-US" altLang="en-US" dirty="0" err="1"/>
              <a:t>JPanel</a:t>
            </a:r>
            <a:r>
              <a:rPr lang="en-US" altLang="en-US" dirty="0"/>
              <a:t>)</a:t>
            </a:r>
          </a:p>
          <a:p>
            <a:pPr lvl="1" eaLnBrk="1" hangingPunct="1"/>
            <a:endParaRPr lang="en-US" altLang="en-US" dirty="0"/>
          </a:p>
          <a:p>
            <a:pPr lvl="1" eaLnBrk="1" hangingPunct="1"/>
            <a:r>
              <a:rPr lang="en-US" altLang="en-US" dirty="0" err="1"/>
              <a:t>Borderlayout</a:t>
            </a:r>
            <a:r>
              <a:rPr lang="en-US" altLang="en-US" dirty="0"/>
              <a:t> (default layout for </a:t>
            </a:r>
            <a:r>
              <a:rPr lang="en-US" altLang="en-US" dirty="0" err="1"/>
              <a:t>JFrame</a:t>
            </a:r>
            <a:r>
              <a:rPr lang="en-US" altLang="en-US" dirty="0"/>
              <a:t>)</a:t>
            </a:r>
          </a:p>
          <a:p>
            <a:pPr lvl="1" eaLnBrk="1" hangingPunct="1"/>
            <a:endParaRPr lang="en-US" altLang="en-US" dirty="0"/>
          </a:p>
          <a:p>
            <a:pPr lvl="1" eaLnBrk="1" hangingPunct="1"/>
            <a:r>
              <a:rPr lang="en-US" altLang="en-US" dirty="0" err="1"/>
              <a:t>GridLayout</a:t>
            </a:r>
            <a:endParaRPr lang="en-US" altLang="en-US" dirty="0"/>
          </a:p>
          <a:p>
            <a:pPr lvl="1" eaLnBrk="1" hangingPunct="1"/>
            <a:endParaRPr lang="en-US" altLang="en-US" dirty="0"/>
          </a:p>
          <a:p>
            <a:pPr lvl="1" eaLnBrk="1" hangingPunct="1"/>
            <a:r>
              <a:rPr lang="en-US" altLang="en-US" dirty="0" err="1"/>
              <a:t>BoxLayout</a:t>
            </a:r>
            <a:endParaRPr lang="en-US" altLang="en-US" dirty="0"/>
          </a:p>
          <a:p>
            <a:pPr eaLnBrk="1" hangingPunct="1"/>
            <a:endParaRPr lang="en-US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en-US" dirty="0">
                <a:solidFill>
                  <a:srgbClr val="898989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1060834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9" name="Content Placeholder 2"/>
          <p:cNvSpPr>
            <a:spLocks noGrp="1"/>
          </p:cNvSpPr>
          <p:nvPr>
            <p:ph idx="1"/>
          </p:nvPr>
        </p:nvSpPr>
        <p:spPr>
          <a:xfrm>
            <a:off x="981022" y="1280086"/>
            <a:ext cx="2182964" cy="443517"/>
          </a:xfrm>
          <a:ln>
            <a:miter lim="800000"/>
            <a:headEnd/>
            <a:tailEnd/>
          </a:ln>
        </p:spPr>
        <p:txBody>
          <a:bodyPr>
            <a:normAutofit lnSpcReduction="10000"/>
          </a:bodyPr>
          <a:lstStyle/>
          <a:p>
            <a:pPr marL="0" indent="0" eaLnBrk="1" hangingPunct="1">
              <a:buNone/>
            </a:pPr>
            <a:r>
              <a:rPr lang="en-US" altLang="en-US" b="1" dirty="0" err="1"/>
              <a:t>FlowLayout</a:t>
            </a:r>
            <a:r>
              <a:rPr lang="en-US" altLang="en-US" b="1" dirty="0"/>
              <a:t>: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en-US" dirty="0">
                <a:solidFill>
                  <a:srgbClr val="898989"/>
                </a:solidFill>
              </a:rPr>
              <a:t> 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50363" y="2078619"/>
            <a:ext cx="8490231" cy="19107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378524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9" name="Content Placeholder 2"/>
          <p:cNvSpPr>
            <a:spLocks noGrp="1"/>
          </p:cNvSpPr>
          <p:nvPr>
            <p:ph idx="1"/>
          </p:nvPr>
        </p:nvSpPr>
        <p:spPr>
          <a:xfrm>
            <a:off x="981022" y="1280086"/>
            <a:ext cx="2182964" cy="443517"/>
          </a:xfrm>
          <a:ln>
            <a:miter lim="800000"/>
            <a:headEnd/>
            <a:tailEnd/>
          </a:ln>
        </p:spPr>
        <p:txBody>
          <a:bodyPr>
            <a:normAutofit lnSpcReduction="10000"/>
          </a:bodyPr>
          <a:lstStyle/>
          <a:p>
            <a:pPr marL="0" indent="0" eaLnBrk="1" hangingPunct="1">
              <a:buNone/>
            </a:pPr>
            <a:r>
              <a:rPr lang="en-US" altLang="en-US" b="1" dirty="0" err="1"/>
              <a:t>BorderLayout</a:t>
            </a:r>
            <a:r>
              <a:rPr lang="en-US" altLang="en-US" b="1" dirty="0"/>
              <a:t>: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en-US" dirty="0">
                <a:solidFill>
                  <a:srgbClr val="898989"/>
                </a:solidFill>
              </a:rPr>
              <a:t> 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93303" y="2223649"/>
            <a:ext cx="7499765" cy="28941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492415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9" name="Content Placeholder 2"/>
          <p:cNvSpPr>
            <a:spLocks noGrp="1"/>
          </p:cNvSpPr>
          <p:nvPr>
            <p:ph idx="1"/>
          </p:nvPr>
        </p:nvSpPr>
        <p:spPr>
          <a:xfrm>
            <a:off x="981022" y="1280086"/>
            <a:ext cx="2182964" cy="443517"/>
          </a:xfrm>
          <a:ln>
            <a:miter lim="800000"/>
            <a:headEnd/>
            <a:tailEnd/>
          </a:ln>
        </p:spPr>
        <p:txBody>
          <a:bodyPr>
            <a:normAutofit lnSpcReduction="10000"/>
          </a:bodyPr>
          <a:lstStyle/>
          <a:p>
            <a:pPr marL="0" indent="0" eaLnBrk="1" hangingPunct="1">
              <a:buNone/>
            </a:pPr>
            <a:r>
              <a:rPr lang="en-US" altLang="en-US" b="1" dirty="0" err="1"/>
              <a:t>GridLayout</a:t>
            </a:r>
            <a:r>
              <a:rPr lang="en-US" altLang="en-US" b="1" dirty="0"/>
              <a:t>: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en-US" dirty="0">
                <a:solidFill>
                  <a:srgbClr val="898989"/>
                </a:solidFill>
              </a:rPr>
              <a:t> 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8214" y="2201457"/>
            <a:ext cx="3605060" cy="2399687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1837" y="1863276"/>
            <a:ext cx="3333750" cy="3333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382010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9" name="Content Placeholder 2"/>
          <p:cNvSpPr>
            <a:spLocks noGrp="1"/>
          </p:cNvSpPr>
          <p:nvPr>
            <p:ph idx="1"/>
          </p:nvPr>
        </p:nvSpPr>
        <p:spPr>
          <a:xfrm>
            <a:off x="981022" y="1280086"/>
            <a:ext cx="2182964" cy="443517"/>
          </a:xfrm>
          <a:ln>
            <a:miter lim="800000"/>
            <a:headEnd/>
            <a:tailEnd/>
          </a:ln>
        </p:spPr>
        <p:txBody>
          <a:bodyPr>
            <a:normAutofit lnSpcReduction="10000"/>
          </a:bodyPr>
          <a:lstStyle/>
          <a:p>
            <a:pPr marL="0" indent="0" eaLnBrk="1" hangingPunct="1">
              <a:buNone/>
            </a:pPr>
            <a:r>
              <a:rPr lang="en-US" altLang="en-US" b="1" dirty="0" err="1"/>
              <a:t>BoxLayout</a:t>
            </a:r>
            <a:r>
              <a:rPr lang="en-US" altLang="en-US" b="1" dirty="0"/>
              <a:t>: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en-US" dirty="0">
                <a:solidFill>
                  <a:srgbClr val="898989"/>
                </a:solidFill>
              </a:rPr>
              <a:t> 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95853" y="2012822"/>
            <a:ext cx="3642433" cy="29426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577523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Title 1"/>
          <p:cNvSpPr>
            <a:spLocks noGrp="1"/>
          </p:cNvSpPr>
          <p:nvPr>
            <p:ph type="title"/>
          </p:nvPr>
        </p:nvSpPr>
        <p:spPr>
          <a:xfrm>
            <a:off x="936516" y="1170298"/>
            <a:ext cx="10417284" cy="516892"/>
          </a:xfrm>
          <a:ln>
            <a:miter lim="800000"/>
            <a:headEnd/>
            <a:tailEnd/>
          </a:ln>
        </p:spPr>
        <p:txBody>
          <a:bodyPr/>
          <a:lstStyle/>
          <a:p>
            <a:pPr eaLnBrk="1" hangingPunct="1"/>
            <a:r>
              <a:rPr lang="en-US" altLang="en-US" sz="2800" dirty="0" err="1"/>
              <a:t>WindowBuilder</a:t>
            </a:r>
            <a:r>
              <a:rPr lang="en-US" altLang="en-US" sz="2800" dirty="0"/>
              <a:t> (Eclipse)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413313" y="2696193"/>
            <a:ext cx="6394868" cy="447564"/>
          </a:xfrm>
        </p:spPr>
        <p:txBody>
          <a:bodyPr rtlCol="0">
            <a:normAutofit lnSpcReduction="10000"/>
          </a:bodyPr>
          <a:lstStyle/>
          <a:p>
            <a:pPr marL="0" indent="0" algn="ctr">
              <a:buNone/>
              <a:defRPr/>
            </a:pPr>
            <a:r>
              <a:rPr lang="en-US" b="1" dirty="0">
                <a:solidFill>
                  <a:srgbClr val="C00000"/>
                </a:solidFill>
              </a:rPr>
              <a:t>“Current: </a:t>
            </a:r>
            <a:r>
              <a:rPr lang="en-US" dirty="0">
                <a:solidFill>
                  <a:srgbClr val="C00000"/>
                </a:solidFill>
              </a:rPr>
              <a:t>Calculator” example 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en-US" dirty="0">
                <a:solidFill>
                  <a:srgbClr val="898989"/>
                </a:solidFill>
              </a:rPr>
              <a:t> 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2156" y="3308690"/>
            <a:ext cx="4169338" cy="27977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606260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Title 1"/>
          <p:cNvSpPr>
            <a:spLocks noGrp="1"/>
          </p:cNvSpPr>
          <p:nvPr>
            <p:ph type="title"/>
          </p:nvPr>
        </p:nvSpPr>
        <p:spPr>
          <a:xfrm>
            <a:off x="936516" y="1170298"/>
            <a:ext cx="10417284" cy="516892"/>
          </a:xfrm>
          <a:ln>
            <a:miter lim="800000"/>
            <a:headEnd/>
            <a:tailEnd/>
          </a:ln>
        </p:spPr>
        <p:txBody>
          <a:bodyPr/>
          <a:lstStyle/>
          <a:p>
            <a:pPr eaLnBrk="1" hangingPunct="1"/>
            <a:r>
              <a:rPr lang="en-US" altLang="en-US" sz="2800" dirty="0"/>
              <a:t>What are the important steps in building a GUI?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413313" y="2696193"/>
            <a:ext cx="6394868" cy="447564"/>
          </a:xfrm>
        </p:spPr>
        <p:txBody>
          <a:bodyPr rtlCol="0">
            <a:normAutofit fontScale="77500" lnSpcReduction="20000"/>
          </a:bodyPr>
          <a:lstStyle/>
          <a:p>
            <a:pPr marL="0" indent="0" algn="ctr">
              <a:buNone/>
              <a:defRPr/>
            </a:pPr>
            <a:r>
              <a:rPr lang="en-US" dirty="0">
                <a:solidFill>
                  <a:srgbClr val="C00000"/>
                </a:solidFill>
              </a:rPr>
              <a:t>“</a:t>
            </a:r>
            <a:r>
              <a:rPr lang="en-US" b="1" dirty="0" err="1">
                <a:solidFill>
                  <a:srgbClr val="C00000"/>
                </a:solidFill>
              </a:rPr>
              <a:t>NewSwing</a:t>
            </a:r>
            <a:r>
              <a:rPr lang="en-US" b="1" dirty="0">
                <a:solidFill>
                  <a:srgbClr val="C00000"/>
                </a:solidFill>
              </a:rPr>
              <a:t>: </a:t>
            </a:r>
            <a:r>
              <a:rPr lang="en-US" dirty="0">
                <a:solidFill>
                  <a:srgbClr val="C00000"/>
                </a:solidFill>
              </a:rPr>
              <a:t>Swing-04” &amp; “Swing-05” &amp; “Swing-06” example 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en-US" dirty="0">
                <a:solidFill>
                  <a:srgbClr val="898989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15527536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Title 1"/>
          <p:cNvSpPr>
            <a:spLocks noGrp="1"/>
          </p:cNvSpPr>
          <p:nvPr>
            <p:ph type="title"/>
          </p:nvPr>
        </p:nvSpPr>
        <p:spPr>
          <a:xfrm>
            <a:off x="855596" y="1036779"/>
            <a:ext cx="10417284" cy="512846"/>
          </a:xfrm>
          <a:ln>
            <a:miter lim="800000"/>
            <a:headEnd/>
            <a:tailEnd/>
          </a:ln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en-US" dirty="0"/>
              <a:t>Events and Event Listeners</a:t>
            </a:r>
          </a:p>
        </p:txBody>
      </p:sp>
      <p:sp>
        <p:nvSpPr>
          <p:cNvPr id="10243" name="Content Placeholder 2"/>
          <p:cNvSpPr>
            <a:spLocks noGrp="1"/>
          </p:cNvSpPr>
          <p:nvPr>
            <p:ph idx="1"/>
          </p:nvPr>
        </p:nvSpPr>
        <p:spPr>
          <a:xfrm>
            <a:off x="928424" y="1741333"/>
            <a:ext cx="10417284" cy="4851972"/>
          </a:xfrm>
          <a:ln>
            <a:miter lim="800000"/>
            <a:headEnd/>
            <a:tailEnd/>
          </a:ln>
        </p:spPr>
        <p:txBody>
          <a:bodyPr>
            <a:normAutofit/>
          </a:bodyPr>
          <a:lstStyle/>
          <a:p>
            <a:pPr eaLnBrk="1" hangingPunct="1"/>
            <a:endParaRPr lang="en-US" altLang="en-US" sz="2400" dirty="0"/>
          </a:p>
          <a:p>
            <a:pPr eaLnBrk="1" hangingPunct="1"/>
            <a:r>
              <a:rPr lang="en-US" altLang="en-US" sz="2400" dirty="0"/>
              <a:t>User-actions like typing or pressing buttons -&gt; are </a:t>
            </a:r>
            <a:r>
              <a:rPr lang="en-US" altLang="en-US" sz="2400" b="1" dirty="0"/>
              <a:t>events</a:t>
            </a:r>
            <a:r>
              <a:rPr lang="en-US" altLang="en-US" sz="2400" dirty="0"/>
              <a:t>.</a:t>
            </a:r>
          </a:p>
          <a:p>
            <a:pPr eaLnBrk="1" hangingPunct="1"/>
            <a:endParaRPr lang="en-US" altLang="en-US" sz="2400" dirty="0"/>
          </a:p>
          <a:p>
            <a:pPr eaLnBrk="1" hangingPunct="1"/>
            <a:r>
              <a:rPr lang="en-US" altLang="en-US" sz="2400" dirty="0"/>
              <a:t>An object that generates an </a:t>
            </a:r>
            <a:r>
              <a:rPr lang="en-US" altLang="en-US" sz="2400" b="1" dirty="0">
                <a:solidFill>
                  <a:srgbClr val="0070C0"/>
                </a:solidFill>
              </a:rPr>
              <a:t>event</a:t>
            </a:r>
            <a:r>
              <a:rPr lang="en-US" altLang="en-US" sz="2400" dirty="0"/>
              <a:t> -&gt; is an </a:t>
            </a:r>
            <a:r>
              <a:rPr lang="en-US" altLang="en-US" sz="2400" b="1" dirty="0">
                <a:solidFill>
                  <a:srgbClr val="0070C0"/>
                </a:solidFill>
              </a:rPr>
              <a:t>event source</a:t>
            </a:r>
            <a:r>
              <a:rPr lang="en-US" altLang="en-US" sz="2400" dirty="0"/>
              <a:t>. </a:t>
            </a:r>
          </a:p>
          <a:p>
            <a:pPr eaLnBrk="1" hangingPunct="1"/>
            <a:endParaRPr lang="en-US" altLang="en-US" sz="2400" dirty="0"/>
          </a:p>
          <a:p>
            <a:pPr eaLnBrk="1" hangingPunct="1"/>
            <a:r>
              <a:rPr lang="en-US" altLang="en-US" sz="2400" dirty="0"/>
              <a:t>Each </a:t>
            </a:r>
            <a:r>
              <a:rPr lang="en-US" altLang="en-US" sz="2400" b="1" dirty="0"/>
              <a:t>event</a:t>
            </a:r>
            <a:r>
              <a:rPr lang="en-US" altLang="en-US" sz="2400" dirty="0"/>
              <a:t> is considered an object. </a:t>
            </a:r>
          </a:p>
          <a:p>
            <a:pPr eaLnBrk="1" hangingPunct="1"/>
            <a:endParaRPr lang="en-US" altLang="en-US" sz="2400" dirty="0"/>
          </a:p>
          <a:p>
            <a:pPr eaLnBrk="1" hangingPunct="1"/>
            <a:r>
              <a:rPr lang="en-US" altLang="en-US" sz="2400" dirty="0"/>
              <a:t>An event give information about its </a:t>
            </a:r>
            <a:r>
              <a:rPr lang="en-US" altLang="en-US" sz="2400" b="1" dirty="0"/>
              <a:t>event source</a:t>
            </a:r>
            <a:r>
              <a:rPr lang="en-US" altLang="en-US" sz="2400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en-US" dirty="0">
                <a:solidFill>
                  <a:srgbClr val="898989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28664372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Title 1"/>
          <p:cNvSpPr>
            <a:spLocks noGrp="1"/>
          </p:cNvSpPr>
          <p:nvPr>
            <p:ph type="title"/>
          </p:nvPr>
        </p:nvSpPr>
        <p:spPr>
          <a:xfrm>
            <a:off x="855596" y="1036779"/>
            <a:ext cx="10417284" cy="512846"/>
          </a:xfrm>
          <a:ln>
            <a:miter lim="800000"/>
            <a:headEnd/>
            <a:tailEnd/>
          </a:ln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en-US" dirty="0"/>
              <a:t>Events and Event Listeners</a:t>
            </a:r>
          </a:p>
        </p:txBody>
      </p:sp>
      <p:sp>
        <p:nvSpPr>
          <p:cNvPr id="10243" name="Content Placeholder 2"/>
          <p:cNvSpPr>
            <a:spLocks noGrp="1"/>
          </p:cNvSpPr>
          <p:nvPr>
            <p:ph idx="1"/>
          </p:nvPr>
        </p:nvSpPr>
        <p:spPr>
          <a:xfrm>
            <a:off x="928424" y="1741333"/>
            <a:ext cx="10417284" cy="4864004"/>
          </a:xfrm>
          <a:ln>
            <a:miter lim="800000"/>
            <a:headEnd/>
            <a:tailEnd/>
          </a:ln>
        </p:spPr>
        <p:txBody>
          <a:bodyPr>
            <a:normAutofit/>
          </a:bodyPr>
          <a:lstStyle/>
          <a:p>
            <a:pPr eaLnBrk="1" hangingPunct="1"/>
            <a:endParaRPr lang="en-US" altLang="en-US" sz="2400" dirty="0"/>
          </a:p>
          <a:p>
            <a:pPr eaLnBrk="1" hangingPunct="1"/>
            <a:r>
              <a:rPr lang="en-US" altLang="en-US" sz="2400" dirty="0"/>
              <a:t>Any object may be notified of an </a:t>
            </a:r>
            <a:r>
              <a:rPr lang="en-US" altLang="en-US" sz="2400" b="1" dirty="0"/>
              <a:t>event</a:t>
            </a:r>
            <a:r>
              <a:rPr lang="en-US" altLang="en-US" sz="2400" dirty="0"/>
              <a:t>. </a:t>
            </a:r>
          </a:p>
          <a:p>
            <a:pPr eaLnBrk="1" hangingPunct="1"/>
            <a:endParaRPr lang="en-US" altLang="en-US" sz="2400" dirty="0"/>
          </a:p>
          <a:p>
            <a:pPr eaLnBrk="1" hangingPunct="1"/>
            <a:r>
              <a:rPr lang="en-US" altLang="en-US" sz="2400" dirty="0"/>
              <a:t>Steps for an object to be notified of an </a:t>
            </a:r>
            <a:r>
              <a:rPr lang="en-US" altLang="en-US" sz="2400" b="1" dirty="0"/>
              <a:t>event</a:t>
            </a:r>
            <a:r>
              <a:rPr lang="en-US" altLang="en-US" sz="2400" dirty="0"/>
              <a:t>:</a:t>
            </a:r>
          </a:p>
          <a:p>
            <a:pPr lvl="1"/>
            <a:endParaRPr lang="en-US" altLang="en-US" sz="2200" dirty="0"/>
          </a:p>
          <a:p>
            <a:pPr lvl="1"/>
            <a:r>
              <a:rPr lang="en-US" altLang="en-US" sz="2200" dirty="0"/>
              <a:t>Implement </a:t>
            </a:r>
            <a:r>
              <a:rPr lang="en-US" altLang="en-US" sz="2200" b="1" dirty="0">
                <a:solidFill>
                  <a:srgbClr val="0070C0"/>
                </a:solidFill>
              </a:rPr>
              <a:t>listener interface.</a:t>
            </a:r>
          </a:p>
          <a:p>
            <a:pPr lvl="1"/>
            <a:endParaRPr lang="en-US" altLang="en-US" sz="2200" dirty="0"/>
          </a:p>
          <a:p>
            <a:pPr lvl="1"/>
            <a:r>
              <a:rPr lang="en-US" altLang="en-US" sz="2200" dirty="0"/>
              <a:t>Register as an </a:t>
            </a:r>
            <a:r>
              <a:rPr lang="en-US" altLang="en-US" sz="2200" b="1" dirty="0"/>
              <a:t>event listener</a:t>
            </a:r>
            <a:r>
              <a:rPr lang="en-US" altLang="en-US" sz="2200" dirty="0"/>
              <a:t>.</a:t>
            </a:r>
          </a:p>
          <a:p>
            <a:pPr lvl="1"/>
            <a:endParaRPr lang="en-US" altLang="en-US" sz="2200" dirty="0"/>
          </a:p>
          <a:p>
            <a:pPr lvl="1"/>
            <a:r>
              <a:rPr lang="en-US" altLang="en-US" sz="2200" dirty="0"/>
              <a:t>Any </a:t>
            </a:r>
            <a:r>
              <a:rPr lang="en-US" altLang="en-US" sz="2200" b="1" dirty="0"/>
              <a:t>event</a:t>
            </a:r>
            <a:r>
              <a:rPr lang="en-US" altLang="en-US" sz="2200" dirty="0"/>
              <a:t> can have multiple </a:t>
            </a:r>
            <a:r>
              <a:rPr lang="en-US" altLang="en-US" sz="2200" b="1" dirty="0"/>
              <a:t>listeners</a:t>
            </a:r>
            <a:r>
              <a:rPr lang="en-US" altLang="en-US" sz="2200" dirty="0"/>
              <a:t>.</a:t>
            </a:r>
          </a:p>
          <a:p>
            <a:pPr eaLnBrk="1" hangingPunct="1"/>
            <a:endParaRPr lang="en-US" altLang="en-US" sz="2400" dirty="0"/>
          </a:p>
          <a:p>
            <a:pPr eaLnBrk="1" hangingPunct="1"/>
            <a:endParaRPr lang="en-US" altLang="en-US" sz="1400" dirty="0"/>
          </a:p>
          <a:p>
            <a:pPr eaLnBrk="1" hangingPunct="1"/>
            <a:endParaRPr lang="en-US" altLang="en-US" sz="14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en-US" dirty="0">
                <a:solidFill>
                  <a:srgbClr val="898989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87414489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Title 1"/>
          <p:cNvSpPr>
            <a:spLocks noGrp="1"/>
          </p:cNvSpPr>
          <p:nvPr>
            <p:ph type="title"/>
          </p:nvPr>
        </p:nvSpPr>
        <p:spPr>
          <a:xfrm>
            <a:off x="963558" y="914400"/>
            <a:ext cx="10417284" cy="524984"/>
          </a:xfrm>
          <a:ln>
            <a:miter lim="800000"/>
            <a:headEnd/>
            <a:tailEnd/>
          </a:ln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en-US" dirty="0"/>
              <a:t>Events and Event Listeners</a:t>
            </a:r>
          </a:p>
        </p:txBody>
      </p:sp>
      <p:sp>
        <p:nvSpPr>
          <p:cNvPr id="11267" name="Content Placeholder 2"/>
          <p:cNvSpPr>
            <a:spLocks noGrp="1"/>
          </p:cNvSpPr>
          <p:nvPr>
            <p:ph idx="1"/>
          </p:nvPr>
        </p:nvSpPr>
        <p:spPr>
          <a:xfrm>
            <a:off x="1676400" y="914400"/>
            <a:ext cx="8991600" cy="5562600"/>
          </a:xfrm>
          <a:ln>
            <a:miter lim="800000"/>
            <a:headEnd/>
            <a:tailEnd/>
          </a:ln>
        </p:spPr>
        <p:txBody>
          <a:bodyPr/>
          <a:lstStyle/>
          <a:p>
            <a:pPr eaLnBrk="1" hangingPunct="1"/>
            <a:endParaRPr lang="en-US" altLang="en-US" sz="2400"/>
          </a:p>
          <a:p>
            <a:pPr eaLnBrk="1" hangingPunct="1"/>
            <a:endParaRPr lang="en-US" altLang="en-US" sz="1400"/>
          </a:p>
          <a:p>
            <a:pPr eaLnBrk="1" hangingPunct="1"/>
            <a:endParaRPr lang="en-US" altLang="en-US" sz="14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en-US" dirty="0">
                <a:solidFill>
                  <a:srgbClr val="898989"/>
                </a:solidFill>
              </a:rPr>
              <a:t> 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16179613"/>
              </p:ext>
            </p:extLst>
          </p:nvPr>
        </p:nvGraphicFramePr>
        <p:xfrm>
          <a:off x="1042735" y="1892845"/>
          <a:ext cx="10262938" cy="475660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64143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2150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28319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solidFill>
                            <a:srgbClr val="C00000"/>
                          </a:solidFill>
                          <a:effectLst/>
                        </a:rPr>
                        <a:t>Act that results in the event </a:t>
                      </a:r>
                      <a:endParaRPr lang="en-US" sz="2000" dirty="0">
                        <a:solidFill>
                          <a:srgbClr val="C00000"/>
                        </a:solidFill>
                        <a:effectLst/>
                        <a:latin typeface="Times New Roman"/>
                        <a:ea typeface="Times New Roman"/>
                      </a:endParaRPr>
                    </a:p>
                  </a:txBody>
                  <a:tcPr marL="9525" marR="9525" marT="9524" marB="9524" anchor="ctr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solidFill>
                            <a:srgbClr val="C00000"/>
                          </a:solidFill>
                          <a:effectLst/>
                        </a:rPr>
                        <a:t>Listener type </a:t>
                      </a:r>
                      <a:endParaRPr lang="en-US" sz="2000" dirty="0">
                        <a:solidFill>
                          <a:srgbClr val="C00000"/>
                        </a:solidFill>
                        <a:effectLst/>
                        <a:latin typeface="Times New Roman"/>
                        <a:ea typeface="Times New Roman"/>
                      </a:endParaRPr>
                    </a:p>
                  </a:txBody>
                  <a:tcPr marL="9525" marR="9525" marT="9524" marB="9524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74883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effectLst/>
                        </a:rPr>
                        <a:t>User clicks a button, presses Return while </a:t>
                      </a:r>
                      <a:br>
                        <a:rPr lang="en-US" sz="2000" dirty="0">
                          <a:effectLst/>
                        </a:rPr>
                      </a:br>
                      <a:r>
                        <a:rPr lang="en-US" sz="2000" dirty="0">
                          <a:effectLst/>
                        </a:rPr>
                        <a:t>typing in a text field, or chooses a menu item </a:t>
                      </a:r>
                      <a:endParaRPr lang="en-US" sz="2000" dirty="0">
                        <a:effectLst/>
                        <a:latin typeface="Times New Roman"/>
                        <a:ea typeface="Times New Roman"/>
                      </a:endParaRPr>
                    </a:p>
                  </a:txBody>
                  <a:tcPr marL="9525" marR="9525" marT="9524" marB="9524" anchor="ctr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 err="1">
                          <a:effectLst/>
                        </a:rPr>
                        <a:t>ActionListener</a:t>
                      </a:r>
                      <a:r>
                        <a:rPr lang="en-US" sz="2000" dirty="0">
                          <a:effectLst/>
                        </a:rPr>
                        <a:t> </a:t>
                      </a:r>
                      <a:endParaRPr lang="en-US" sz="2000" dirty="0">
                        <a:effectLst/>
                        <a:latin typeface="Times New Roman"/>
                        <a:ea typeface="Times New Roman"/>
                      </a:endParaRPr>
                    </a:p>
                  </a:txBody>
                  <a:tcPr marL="9525" marR="9525" marT="9524" marB="9524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8319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effectLst/>
                        </a:rPr>
                        <a:t>User closes a frame (main window) </a:t>
                      </a:r>
                      <a:endParaRPr lang="en-US" sz="2000" dirty="0">
                        <a:effectLst/>
                        <a:latin typeface="Times New Roman"/>
                        <a:ea typeface="Times New Roman"/>
                      </a:endParaRPr>
                    </a:p>
                  </a:txBody>
                  <a:tcPr marL="9525" marR="9525" marT="9524" marB="9524" anchor="ctr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>
                          <a:effectLst/>
                        </a:rPr>
                        <a:t>WindowListener </a:t>
                      </a:r>
                      <a:endParaRPr lang="en-US" sz="2000">
                        <a:effectLst/>
                        <a:latin typeface="Times New Roman"/>
                        <a:ea typeface="Times New Roman"/>
                      </a:endParaRPr>
                    </a:p>
                  </a:txBody>
                  <a:tcPr marL="9525" marR="9525" marT="9524" marB="9524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16229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effectLst/>
                        </a:rPr>
                        <a:t>User presses a mouse button while the </a:t>
                      </a:r>
                      <a:br>
                        <a:rPr lang="en-US" sz="2000" dirty="0">
                          <a:effectLst/>
                        </a:rPr>
                      </a:br>
                      <a:r>
                        <a:rPr lang="en-US" sz="2000" dirty="0">
                          <a:effectLst/>
                        </a:rPr>
                        <a:t>cursor is over a component </a:t>
                      </a:r>
                      <a:endParaRPr lang="en-US" sz="2000" dirty="0">
                        <a:effectLst/>
                        <a:latin typeface="Times New Roman"/>
                        <a:ea typeface="Times New Roman"/>
                      </a:endParaRPr>
                    </a:p>
                  </a:txBody>
                  <a:tcPr marL="9525" marR="9525" marT="9524" marB="9524" anchor="ctr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>
                          <a:effectLst/>
                        </a:rPr>
                        <a:t>MouseListener </a:t>
                      </a:r>
                      <a:endParaRPr lang="en-US" sz="2000">
                        <a:effectLst/>
                        <a:latin typeface="Times New Roman"/>
                        <a:ea typeface="Times New Roman"/>
                      </a:endParaRPr>
                    </a:p>
                  </a:txBody>
                  <a:tcPr marL="9525" marR="9525" marT="9524" marB="9524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23900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effectLst/>
                        </a:rPr>
                        <a:t>User moves the mouse over a component </a:t>
                      </a:r>
                      <a:endParaRPr lang="en-US" sz="2000" dirty="0">
                        <a:effectLst/>
                        <a:latin typeface="Times New Roman"/>
                        <a:ea typeface="Times New Roman"/>
                      </a:endParaRPr>
                    </a:p>
                  </a:txBody>
                  <a:tcPr marL="9525" marR="9525" marT="9524" marB="9524" anchor="ctr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>
                          <a:effectLst/>
                        </a:rPr>
                        <a:t>MouseMotionListener </a:t>
                      </a:r>
                      <a:endParaRPr lang="en-US" sz="2000">
                        <a:effectLst/>
                        <a:latin typeface="Times New Roman"/>
                        <a:ea typeface="Times New Roman"/>
                      </a:endParaRPr>
                    </a:p>
                  </a:txBody>
                  <a:tcPr marL="9525" marR="9525" marT="9524" marB="9524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8319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effectLst/>
                        </a:rPr>
                        <a:t>Component becomes visible </a:t>
                      </a:r>
                      <a:endParaRPr lang="en-US" sz="2000" dirty="0">
                        <a:effectLst/>
                        <a:latin typeface="Times New Roman"/>
                        <a:ea typeface="Times New Roman"/>
                      </a:endParaRPr>
                    </a:p>
                  </a:txBody>
                  <a:tcPr marL="9525" marR="9525" marT="9524" marB="9524" anchor="ctr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 err="1">
                          <a:effectLst/>
                        </a:rPr>
                        <a:t>ComponentListener</a:t>
                      </a:r>
                      <a:r>
                        <a:rPr lang="en-US" sz="2000" dirty="0">
                          <a:effectLst/>
                        </a:rPr>
                        <a:t> </a:t>
                      </a:r>
                      <a:endParaRPr lang="en-US" sz="2000" dirty="0">
                        <a:effectLst/>
                        <a:latin typeface="Times New Roman"/>
                        <a:ea typeface="Times New Roman"/>
                      </a:endParaRPr>
                    </a:p>
                  </a:txBody>
                  <a:tcPr marL="9525" marR="9525" marT="9524" marB="9524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8319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>
                          <a:effectLst/>
                        </a:rPr>
                        <a:t>Component gets the keyboard focus </a:t>
                      </a:r>
                      <a:endParaRPr lang="en-US" sz="2000">
                        <a:effectLst/>
                        <a:latin typeface="Times New Roman"/>
                        <a:ea typeface="Times New Roman"/>
                      </a:endParaRPr>
                    </a:p>
                  </a:txBody>
                  <a:tcPr marL="9525" marR="9525" marT="9524" marB="9524" anchor="ctr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 err="1">
                          <a:effectLst/>
                        </a:rPr>
                        <a:t>FocusListener</a:t>
                      </a:r>
                      <a:r>
                        <a:rPr lang="en-US" sz="2000" dirty="0">
                          <a:effectLst/>
                        </a:rPr>
                        <a:t> </a:t>
                      </a:r>
                      <a:endParaRPr lang="en-US" sz="2000" dirty="0">
                        <a:effectLst/>
                        <a:latin typeface="Times New Roman"/>
                        <a:ea typeface="Times New Roman"/>
                      </a:endParaRPr>
                    </a:p>
                  </a:txBody>
                  <a:tcPr marL="9525" marR="9525" marT="9524" marB="9524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8319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>
                          <a:effectLst/>
                        </a:rPr>
                        <a:t>Table or list selection changes </a:t>
                      </a:r>
                      <a:endParaRPr lang="en-US" sz="2000">
                        <a:effectLst/>
                        <a:latin typeface="Times New Roman"/>
                        <a:ea typeface="Times New Roman"/>
                      </a:endParaRPr>
                    </a:p>
                  </a:txBody>
                  <a:tcPr marL="9525" marR="9525" marT="9524" marB="9524" anchor="ctr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 err="1">
                          <a:effectLst/>
                        </a:rPr>
                        <a:t>ListSelectionListener</a:t>
                      </a:r>
                      <a:r>
                        <a:rPr lang="en-US" sz="2000" dirty="0">
                          <a:effectLst/>
                        </a:rPr>
                        <a:t> </a:t>
                      </a:r>
                      <a:endParaRPr lang="en-US" sz="2000" dirty="0">
                        <a:effectLst/>
                        <a:latin typeface="Times New Roman"/>
                        <a:ea typeface="Times New Roman"/>
                      </a:endParaRPr>
                    </a:p>
                  </a:txBody>
                  <a:tcPr marL="9525" marR="9525" marT="9524" marB="9524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435491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Title 1"/>
          <p:cNvSpPr>
            <a:spLocks noGrp="1"/>
          </p:cNvSpPr>
          <p:nvPr>
            <p:ph type="title"/>
          </p:nvPr>
        </p:nvSpPr>
        <p:spPr>
          <a:xfrm>
            <a:off x="936516" y="1170297"/>
            <a:ext cx="3425091" cy="553307"/>
          </a:xfrm>
          <a:ln>
            <a:miter lim="800000"/>
            <a:headEnd/>
            <a:tailEnd/>
          </a:ln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en-US" dirty="0"/>
              <a:t>Event handling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826298"/>
            <a:ext cx="10417284" cy="4562363"/>
          </a:xfrm>
        </p:spPr>
        <p:txBody>
          <a:bodyPr rtlCol="0">
            <a:noAutofit/>
          </a:bodyPr>
          <a:lstStyle/>
          <a:p>
            <a:pPr marL="0" indent="0">
              <a:buNone/>
              <a:defRPr/>
            </a:pPr>
            <a:r>
              <a:rPr lang="en-US" sz="2800" dirty="0"/>
              <a:t>Event handling involves three steps:</a:t>
            </a:r>
          </a:p>
          <a:p>
            <a:pPr marL="0" indent="0">
              <a:buNone/>
              <a:defRPr/>
            </a:pPr>
            <a:endParaRPr lang="en-US" sz="2800" dirty="0"/>
          </a:p>
          <a:p>
            <a:pPr marL="0" indent="0">
              <a:buNone/>
              <a:defRPr/>
            </a:pPr>
            <a:r>
              <a:rPr lang="en-US" sz="2800" b="1" dirty="0">
                <a:solidFill>
                  <a:srgbClr val="C00000"/>
                </a:solidFill>
              </a:rPr>
              <a:t>Step 1:</a:t>
            </a:r>
            <a:r>
              <a:rPr lang="en-US" sz="2800" dirty="0"/>
              <a:t> An </a:t>
            </a:r>
            <a:r>
              <a:rPr lang="en-US" sz="2800" b="1" dirty="0">
                <a:solidFill>
                  <a:srgbClr val="0070C0"/>
                </a:solidFill>
              </a:rPr>
              <a:t>event handler </a:t>
            </a:r>
            <a:r>
              <a:rPr lang="en-US" sz="2800" dirty="0"/>
              <a:t>should implement:</a:t>
            </a:r>
          </a:p>
          <a:p>
            <a:pPr>
              <a:defRPr/>
            </a:pPr>
            <a:r>
              <a:rPr lang="en-US" sz="2800" dirty="0"/>
              <a:t>The listener interface</a:t>
            </a:r>
          </a:p>
          <a:p>
            <a:pPr>
              <a:defRPr/>
            </a:pPr>
            <a:r>
              <a:rPr lang="en-US" sz="2800" dirty="0"/>
              <a:t>Or extend from a class that implements that interface. </a:t>
            </a:r>
          </a:p>
          <a:p>
            <a:pPr marL="0" indent="0">
              <a:buNone/>
              <a:defRPr/>
            </a:pPr>
            <a:endParaRPr lang="en-US" sz="2800" dirty="0"/>
          </a:p>
          <a:p>
            <a:pPr marL="0" indent="0">
              <a:buNone/>
              <a:defRPr/>
            </a:pPr>
            <a:r>
              <a:rPr lang="en-US" sz="2800" b="1" dirty="0">
                <a:solidFill>
                  <a:srgbClr val="0070C0"/>
                </a:solidFill>
              </a:rPr>
              <a:t>Inner classes</a:t>
            </a:r>
            <a:r>
              <a:rPr lang="en-US" sz="2800" b="1" dirty="0"/>
              <a:t> </a:t>
            </a:r>
            <a:r>
              <a:rPr lang="en-US" sz="2800" dirty="0"/>
              <a:t>and </a:t>
            </a:r>
            <a:r>
              <a:rPr lang="en-US" sz="2800" b="1" dirty="0">
                <a:solidFill>
                  <a:srgbClr val="0070C0"/>
                </a:solidFill>
              </a:rPr>
              <a:t>anonymous classes </a:t>
            </a:r>
            <a:r>
              <a:rPr lang="en-US" sz="2800" dirty="0"/>
              <a:t>can be defined as event handlers.</a:t>
            </a:r>
            <a:endParaRPr lang="en-US" sz="1400" dirty="0"/>
          </a:p>
          <a:p>
            <a:pPr>
              <a:defRPr/>
            </a:pPr>
            <a:endParaRPr lang="en-US" sz="14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en-US" dirty="0">
                <a:solidFill>
                  <a:srgbClr val="898989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78111384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Title 1"/>
          <p:cNvSpPr>
            <a:spLocks noGrp="1"/>
          </p:cNvSpPr>
          <p:nvPr>
            <p:ph type="title"/>
          </p:nvPr>
        </p:nvSpPr>
        <p:spPr>
          <a:xfrm>
            <a:off x="936516" y="1170297"/>
            <a:ext cx="3425091" cy="553307"/>
          </a:xfrm>
          <a:ln>
            <a:miter lim="800000"/>
            <a:headEnd/>
            <a:tailEnd/>
          </a:ln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en-US" dirty="0"/>
              <a:t>Event handling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826299"/>
            <a:ext cx="10417284" cy="4291280"/>
          </a:xfrm>
        </p:spPr>
        <p:txBody>
          <a:bodyPr rtlCol="0">
            <a:noAutofit/>
          </a:bodyPr>
          <a:lstStyle/>
          <a:p>
            <a:pPr marL="0" indent="0">
              <a:buNone/>
              <a:defRPr/>
            </a:pPr>
            <a:endParaRPr lang="en-US" sz="2800" b="1" dirty="0">
              <a:solidFill>
                <a:srgbClr val="C00000"/>
              </a:solidFill>
            </a:endParaRPr>
          </a:p>
          <a:p>
            <a:pPr marL="0" indent="0">
              <a:buNone/>
              <a:defRPr/>
            </a:pPr>
            <a:r>
              <a:rPr lang="en-US" sz="2800" b="1" dirty="0">
                <a:solidFill>
                  <a:srgbClr val="C00000"/>
                </a:solidFill>
              </a:rPr>
              <a:t>Step 2:</a:t>
            </a:r>
            <a:r>
              <a:rPr lang="en-US" sz="2800" dirty="0"/>
              <a:t> </a:t>
            </a:r>
          </a:p>
          <a:p>
            <a:pPr marL="0" indent="0">
              <a:buNone/>
              <a:defRPr/>
            </a:pPr>
            <a:r>
              <a:rPr lang="en-US" sz="2800" dirty="0"/>
              <a:t>The event handler class implements the methods in the </a:t>
            </a:r>
            <a:r>
              <a:rPr lang="en-US" sz="2800" b="1" dirty="0"/>
              <a:t>listener</a:t>
            </a:r>
            <a:r>
              <a:rPr lang="en-US" sz="2800" dirty="0"/>
              <a:t> interface.</a:t>
            </a:r>
          </a:p>
          <a:p>
            <a:pPr marL="0" indent="0">
              <a:buNone/>
              <a:defRPr/>
            </a:pPr>
            <a:endParaRPr lang="en-US" sz="2800" b="1" dirty="0">
              <a:solidFill>
                <a:srgbClr val="C00000"/>
              </a:solidFill>
            </a:endParaRPr>
          </a:p>
          <a:p>
            <a:pPr marL="0" indent="0">
              <a:buNone/>
              <a:defRPr/>
            </a:pPr>
            <a:r>
              <a:rPr lang="en-US" sz="2800" b="1" dirty="0">
                <a:solidFill>
                  <a:srgbClr val="C00000"/>
                </a:solidFill>
              </a:rPr>
              <a:t>Step 3:</a:t>
            </a:r>
            <a:r>
              <a:rPr lang="en-US" sz="2800" dirty="0"/>
              <a:t> </a:t>
            </a:r>
          </a:p>
          <a:p>
            <a:pPr marL="0" indent="0">
              <a:buNone/>
              <a:defRPr/>
            </a:pPr>
            <a:r>
              <a:rPr lang="en-US" sz="2800" dirty="0"/>
              <a:t>Register an instance of the event handler as a </a:t>
            </a:r>
            <a:r>
              <a:rPr lang="en-US" sz="2800" b="1" dirty="0"/>
              <a:t>listener</a:t>
            </a:r>
            <a:r>
              <a:rPr lang="en-US" sz="2800" dirty="0"/>
              <a:t> on the </a:t>
            </a:r>
            <a:r>
              <a:rPr lang="en-US" sz="2800" b="1" dirty="0">
                <a:solidFill>
                  <a:srgbClr val="0070C0"/>
                </a:solidFill>
              </a:rPr>
              <a:t>event source</a:t>
            </a:r>
            <a:r>
              <a:rPr lang="en-US" sz="2800" b="1" dirty="0"/>
              <a:t>.</a:t>
            </a:r>
          </a:p>
          <a:p>
            <a:pPr>
              <a:defRPr/>
            </a:pPr>
            <a:endParaRPr lang="en-US" sz="1400" dirty="0"/>
          </a:p>
          <a:p>
            <a:pPr>
              <a:defRPr/>
            </a:pPr>
            <a:endParaRPr lang="en-US" sz="14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en-US" dirty="0">
                <a:solidFill>
                  <a:srgbClr val="898989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96185110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Title 1"/>
          <p:cNvSpPr>
            <a:spLocks noGrp="1"/>
          </p:cNvSpPr>
          <p:nvPr>
            <p:ph type="title"/>
          </p:nvPr>
        </p:nvSpPr>
        <p:spPr>
          <a:xfrm>
            <a:off x="936516" y="1170298"/>
            <a:ext cx="10417284" cy="516892"/>
          </a:xfrm>
          <a:ln>
            <a:miter lim="800000"/>
            <a:headEnd/>
            <a:tailEnd/>
          </a:ln>
        </p:spPr>
        <p:txBody>
          <a:bodyPr/>
          <a:lstStyle/>
          <a:p>
            <a:pPr eaLnBrk="1" hangingPunct="1"/>
            <a:r>
              <a:rPr lang="en-US" altLang="en-US" sz="2800" dirty="0"/>
              <a:t>What are the important steps in building a GUI?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413313" y="2696193"/>
            <a:ext cx="6394868" cy="447564"/>
          </a:xfrm>
        </p:spPr>
        <p:txBody>
          <a:bodyPr rtlCol="0">
            <a:normAutofit lnSpcReduction="10000"/>
          </a:bodyPr>
          <a:lstStyle/>
          <a:p>
            <a:pPr marL="0" indent="0" algn="ctr">
              <a:buNone/>
              <a:defRPr/>
            </a:pPr>
            <a:r>
              <a:rPr lang="en-US" dirty="0">
                <a:solidFill>
                  <a:srgbClr val="C00000"/>
                </a:solidFill>
              </a:rPr>
              <a:t>“</a:t>
            </a:r>
            <a:r>
              <a:rPr lang="en-US" b="1" dirty="0" err="1">
                <a:solidFill>
                  <a:srgbClr val="C00000"/>
                </a:solidFill>
              </a:rPr>
              <a:t>OldSwing</a:t>
            </a:r>
            <a:r>
              <a:rPr lang="en-US" b="1" dirty="0">
                <a:solidFill>
                  <a:srgbClr val="C00000"/>
                </a:solidFill>
              </a:rPr>
              <a:t>: </a:t>
            </a:r>
            <a:r>
              <a:rPr lang="en-US" dirty="0">
                <a:solidFill>
                  <a:srgbClr val="C00000"/>
                </a:solidFill>
              </a:rPr>
              <a:t>Swing-10 ActionListener” example 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en-US" dirty="0">
                <a:solidFill>
                  <a:srgbClr val="898989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50439974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Title 1"/>
          <p:cNvSpPr>
            <a:spLocks noGrp="1"/>
          </p:cNvSpPr>
          <p:nvPr>
            <p:ph type="title"/>
          </p:nvPr>
        </p:nvSpPr>
        <p:spPr>
          <a:xfrm>
            <a:off x="936516" y="1170298"/>
            <a:ext cx="2267930" cy="533076"/>
          </a:xfrm>
          <a:ln>
            <a:miter lim="800000"/>
            <a:headEnd/>
            <a:tailEnd/>
          </a:ln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en-US" dirty="0"/>
              <a:t>Examples</a:t>
            </a:r>
          </a:p>
        </p:txBody>
      </p:sp>
      <p:sp>
        <p:nvSpPr>
          <p:cNvPr id="13315" name="Content Placeholder 2"/>
          <p:cNvSpPr>
            <a:spLocks noGrp="1"/>
          </p:cNvSpPr>
          <p:nvPr>
            <p:ph idx="1"/>
          </p:nvPr>
        </p:nvSpPr>
        <p:spPr>
          <a:xfrm>
            <a:off x="936516" y="1891035"/>
            <a:ext cx="10417284" cy="4283188"/>
          </a:xfrm>
          <a:ln>
            <a:miter lim="800000"/>
            <a:headEnd/>
            <a:tailEnd/>
          </a:ln>
        </p:spPr>
        <p:txBody>
          <a:bodyPr>
            <a:normAutofit fontScale="92500" lnSpcReduction="10000"/>
          </a:bodyPr>
          <a:lstStyle/>
          <a:p>
            <a:pPr marL="0" indent="0" eaLnBrk="1" hangingPunct="1">
              <a:buNone/>
            </a:pPr>
            <a:r>
              <a:rPr lang="en-US" altLang="en-US" b="1" dirty="0">
                <a:solidFill>
                  <a:srgbClr val="000000"/>
                </a:solidFill>
              </a:rPr>
              <a:t>See the examples in the folders:</a:t>
            </a:r>
          </a:p>
          <a:p>
            <a:pPr lvl="1"/>
            <a:r>
              <a:rPr lang="en-US" altLang="en-US" dirty="0" err="1">
                <a:solidFill>
                  <a:srgbClr val="000000"/>
                </a:solidFill>
              </a:rPr>
              <a:t>BasicSwingComponents</a:t>
            </a:r>
            <a:endParaRPr lang="en-US" altLang="en-US" dirty="0">
              <a:solidFill>
                <a:srgbClr val="000000"/>
              </a:solidFill>
            </a:endParaRPr>
          </a:p>
          <a:p>
            <a:pPr lvl="1"/>
            <a:r>
              <a:rPr lang="en-US" altLang="en-US" dirty="0" err="1">
                <a:solidFill>
                  <a:srgbClr val="000000"/>
                </a:solidFill>
              </a:rPr>
              <a:t>LayoutManagers</a:t>
            </a:r>
            <a:endParaRPr lang="en-US" altLang="en-US" dirty="0">
              <a:solidFill>
                <a:srgbClr val="000000"/>
              </a:solidFill>
            </a:endParaRPr>
          </a:p>
          <a:p>
            <a:pPr lvl="1"/>
            <a:r>
              <a:rPr lang="en-US" altLang="en-US" dirty="0" err="1">
                <a:solidFill>
                  <a:srgbClr val="000000"/>
                </a:solidFill>
              </a:rPr>
              <a:t>MoreSwingExamples</a:t>
            </a:r>
            <a:endParaRPr lang="en-US" altLang="en-US" dirty="0">
              <a:solidFill>
                <a:srgbClr val="000000"/>
              </a:solidFill>
            </a:endParaRPr>
          </a:p>
          <a:p>
            <a:pPr marL="0" indent="0" eaLnBrk="1" hangingPunct="1">
              <a:buNone/>
            </a:pPr>
            <a:endParaRPr lang="en-US" altLang="en-US" dirty="0">
              <a:solidFill>
                <a:srgbClr val="000000"/>
              </a:solidFill>
            </a:endParaRPr>
          </a:p>
          <a:p>
            <a:pPr marL="0" indent="0" eaLnBrk="1" hangingPunct="1">
              <a:buNone/>
            </a:pPr>
            <a:r>
              <a:rPr lang="en-US" altLang="en-US" b="1" dirty="0">
                <a:solidFill>
                  <a:srgbClr val="000000"/>
                </a:solidFill>
              </a:rPr>
              <a:t>The demos will cover:</a:t>
            </a:r>
          </a:p>
          <a:p>
            <a:pPr lvl="1" eaLnBrk="1" hangingPunct="1"/>
            <a:r>
              <a:rPr lang="en-US" altLang="en-US" dirty="0">
                <a:solidFill>
                  <a:srgbClr val="000000"/>
                </a:solidFill>
              </a:rPr>
              <a:t>Buttons</a:t>
            </a:r>
          </a:p>
          <a:p>
            <a:pPr lvl="1" eaLnBrk="1" hangingPunct="1"/>
            <a:r>
              <a:rPr lang="en-US" altLang="en-US" dirty="0" err="1">
                <a:solidFill>
                  <a:srgbClr val="000000"/>
                </a:solidFill>
              </a:rPr>
              <a:t>Textfields</a:t>
            </a:r>
            <a:r>
              <a:rPr lang="en-US" altLang="en-US" dirty="0">
                <a:solidFill>
                  <a:srgbClr val="000000"/>
                </a:solidFill>
              </a:rPr>
              <a:t> and </a:t>
            </a:r>
            <a:r>
              <a:rPr lang="en-US" altLang="en-US" dirty="0" err="1">
                <a:solidFill>
                  <a:srgbClr val="000000"/>
                </a:solidFill>
              </a:rPr>
              <a:t>TextAreas</a:t>
            </a:r>
            <a:endParaRPr lang="en-US" altLang="en-US" dirty="0">
              <a:solidFill>
                <a:srgbClr val="000000"/>
              </a:solidFill>
            </a:endParaRPr>
          </a:p>
          <a:p>
            <a:pPr lvl="1" eaLnBrk="1" hangingPunct="1"/>
            <a:r>
              <a:rPr lang="en-US" altLang="en-US" dirty="0">
                <a:solidFill>
                  <a:srgbClr val="000000"/>
                </a:solidFill>
              </a:rPr>
              <a:t>Checkboxes and </a:t>
            </a:r>
            <a:r>
              <a:rPr lang="en-US" altLang="en-US" dirty="0" err="1">
                <a:solidFill>
                  <a:srgbClr val="000000"/>
                </a:solidFill>
              </a:rPr>
              <a:t>RadioButtons</a:t>
            </a:r>
            <a:endParaRPr lang="en-US" altLang="en-US" dirty="0">
              <a:solidFill>
                <a:srgbClr val="000000"/>
              </a:solidFill>
            </a:endParaRPr>
          </a:p>
          <a:p>
            <a:pPr lvl="1" eaLnBrk="1" hangingPunct="1"/>
            <a:r>
              <a:rPr lang="en-US" altLang="en-US" dirty="0" err="1">
                <a:solidFill>
                  <a:srgbClr val="000000"/>
                </a:solidFill>
              </a:rPr>
              <a:t>MenuBars</a:t>
            </a:r>
            <a:endParaRPr lang="en-US" altLang="en-US" dirty="0">
              <a:solidFill>
                <a:srgbClr val="000000"/>
              </a:solidFill>
            </a:endParaRPr>
          </a:p>
          <a:p>
            <a:pPr lvl="1" eaLnBrk="1" hangingPunct="1"/>
            <a:r>
              <a:rPr lang="en-US" altLang="en-US" dirty="0" err="1">
                <a:solidFill>
                  <a:srgbClr val="000000"/>
                </a:solidFill>
              </a:rPr>
              <a:t>ComboBoxes</a:t>
            </a:r>
            <a:endParaRPr lang="en-US" altLang="en-US" dirty="0">
              <a:solidFill>
                <a:srgbClr val="000000"/>
              </a:solidFill>
            </a:endParaRPr>
          </a:p>
          <a:p>
            <a:pPr lvl="1" eaLnBrk="1" hangingPunct="1"/>
            <a:r>
              <a:rPr lang="en-US" altLang="en-US" dirty="0" err="1">
                <a:solidFill>
                  <a:srgbClr val="000000"/>
                </a:solidFill>
              </a:rPr>
              <a:t>ScrollPanes</a:t>
            </a:r>
            <a:endParaRPr lang="en-US" altLang="en-US" dirty="0">
              <a:solidFill>
                <a:srgbClr val="000000"/>
              </a:solidFill>
            </a:endParaRPr>
          </a:p>
          <a:p>
            <a:pPr eaLnBrk="1" hangingPunct="1"/>
            <a:endParaRPr lang="en-US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en-US" dirty="0">
                <a:solidFill>
                  <a:srgbClr val="898989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13505442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>
              <a:defRPr/>
            </a:pPr>
            <a:r>
              <a:rPr lang="en-US" dirty="0"/>
              <a:t>Swing Events</a:t>
            </a:r>
          </a:p>
        </p:txBody>
      </p:sp>
      <p:sp>
        <p:nvSpPr>
          <p:cNvPr id="5123" name="Slide Number Placeholder 3"/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1AA101E-127A-4DAF-B4E5-EFA483F29B1E}" type="slidenum"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31</a:t>
            </a:fld>
            <a:endParaRPr kumimoji="0" lang="en-US" alt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" panose="020F050202020403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9007276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Event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Event model has three types of objects: </a:t>
            </a:r>
          </a:p>
          <a:p>
            <a:pPr marL="914400" lvl="1" indent="-457200">
              <a:buFont typeface="+mj-lt"/>
              <a:buAutoNum type="arabicPeriod"/>
            </a:pPr>
            <a:endParaRPr lang="en-US" dirty="0"/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Event source</a:t>
            </a:r>
          </a:p>
          <a:p>
            <a:pPr marL="914400" lvl="1" indent="-457200">
              <a:buFont typeface="+mj-lt"/>
              <a:buAutoNum type="arabicPeriod"/>
            </a:pPr>
            <a:endParaRPr lang="en-US" dirty="0"/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Event object </a:t>
            </a:r>
          </a:p>
          <a:p>
            <a:pPr marL="914400" lvl="1" indent="-457200">
              <a:buFont typeface="+mj-lt"/>
              <a:buAutoNum type="arabicPeriod"/>
            </a:pPr>
            <a:endParaRPr lang="en-US" dirty="0"/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Event handler</a:t>
            </a:r>
          </a:p>
          <a:p>
            <a:pPr lvl="1">
              <a:buNone/>
            </a:pPr>
            <a:r>
              <a:rPr lang="en-US" dirty="0"/>
              <a:t> 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32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1974519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04148" y="838524"/>
            <a:ext cx="10417284" cy="1144151"/>
          </a:xfrm>
        </p:spPr>
        <p:txBody>
          <a:bodyPr/>
          <a:lstStyle/>
          <a:p>
            <a:r>
              <a:rPr lang="en-US" dirty="0"/>
              <a:t>1. Event Source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04148" y="1807242"/>
            <a:ext cx="10417284" cy="1564264"/>
          </a:xfrm>
        </p:spPr>
        <p:txBody>
          <a:bodyPr>
            <a:normAutofit/>
          </a:bodyPr>
          <a:lstStyle/>
          <a:p>
            <a:pPr marL="342900" lvl="1" indent="-342900">
              <a:spcBef>
                <a:spcPts val="1600"/>
              </a:spcBef>
            </a:pPr>
            <a:r>
              <a:rPr lang="en-US" sz="2200" dirty="0">
                <a:solidFill>
                  <a:srgbClr val="002060"/>
                </a:solidFill>
              </a:rPr>
              <a:t>Event source is the object that creates an event (i.e. press on Button)</a:t>
            </a:r>
          </a:p>
          <a:p>
            <a:pPr marL="342900" lvl="1" indent="-342900">
              <a:spcBef>
                <a:spcPts val="1600"/>
              </a:spcBef>
            </a:pPr>
            <a:r>
              <a:rPr lang="en-US" sz="2200" dirty="0" err="1">
                <a:solidFill>
                  <a:srgbClr val="002060"/>
                </a:solidFill>
              </a:rPr>
              <a:t>getSource</a:t>
            </a:r>
            <a:r>
              <a:rPr lang="en-US" sz="2200" dirty="0">
                <a:solidFill>
                  <a:srgbClr val="002060"/>
                </a:solidFill>
              </a:rPr>
              <a:t>() is used to identify the source:</a:t>
            </a:r>
          </a:p>
          <a:p>
            <a:pPr marL="342900" lvl="1" indent="-342900">
              <a:spcBef>
                <a:spcPts val="1600"/>
              </a:spcBef>
            </a:pPr>
            <a:r>
              <a:rPr lang="en-US" sz="2200" dirty="0" err="1">
                <a:solidFill>
                  <a:srgbClr val="002060"/>
                </a:solidFill>
              </a:rPr>
              <a:t>getActionCommand</a:t>
            </a:r>
            <a:r>
              <a:rPr lang="en-US" sz="2200" dirty="0">
                <a:solidFill>
                  <a:srgbClr val="002060"/>
                </a:solidFill>
              </a:rPr>
              <a:t>() returns a string containing information about the event object.</a:t>
            </a:r>
          </a:p>
          <a:p>
            <a:pPr marL="342900" lvl="1" indent="-342900">
              <a:spcBef>
                <a:spcPts val="1600"/>
              </a:spcBef>
            </a:pPr>
            <a:endParaRPr lang="en-US" sz="2200" dirty="0">
              <a:solidFill>
                <a:srgbClr val="002060"/>
              </a:solidFill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33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130" y="3291248"/>
            <a:ext cx="5761758" cy="3289044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2889" y="4068383"/>
            <a:ext cx="4864541" cy="1311786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1242127" y="2306356"/>
            <a:ext cx="1327093" cy="404476"/>
          </a:xfrm>
          <a:prstGeom prst="rect">
            <a:avLst/>
          </a:prstGeom>
          <a:noFill/>
          <a:ln w="28575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4975253" y="4902550"/>
            <a:ext cx="1327093" cy="231846"/>
          </a:xfrm>
          <a:prstGeom prst="rect">
            <a:avLst/>
          </a:prstGeom>
          <a:noFill/>
          <a:ln w="28575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2669024" y="5454031"/>
            <a:ext cx="4083779" cy="216283"/>
          </a:xfrm>
          <a:prstGeom prst="rect">
            <a:avLst/>
          </a:prstGeom>
          <a:noFill/>
          <a:ln w="28575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4229437" y="3835999"/>
            <a:ext cx="2167317" cy="156573"/>
          </a:xfrm>
          <a:prstGeom prst="rect">
            <a:avLst/>
          </a:prstGeom>
          <a:noFill/>
          <a:ln w="28575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10024684" y="4388955"/>
            <a:ext cx="1656170" cy="1032709"/>
          </a:xfrm>
          <a:prstGeom prst="rect">
            <a:avLst/>
          </a:prstGeom>
          <a:noFill/>
          <a:ln w="28575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2669024" y="4889738"/>
            <a:ext cx="2238795" cy="244658"/>
          </a:xfrm>
          <a:prstGeom prst="rect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339396" y="4879685"/>
            <a:ext cx="1229824" cy="523220"/>
          </a:xfrm>
          <a:prstGeom prst="rect">
            <a:avLst/>
          </a:prstGeom>
          <a:noFill/>
          <a:ln w="19050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In this case it</a:t>
            </a:r>
            <a:b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is a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JButton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171172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04148" y="838525"/>
            <a:ext cx="10417284" cy="537122"/>
          </a:xfrm>
        </p:spPr>
        <p:txBody>
          <a:bodyPr>
            <a:normAutofit fontScale="90000"/>
          </a:bodyPr>
          <a:lstStyle/>
          <a:p>
            <a:r>
              <a:rPr lang="en-US" dirty="0"/>
              <a:t>1. Event Source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04148" y="1457483"/>
            <a:ext cx="10417284" cy="1564264"/>
          </a:xfrm>
        </p:spPr>
        <p:txBody>
          <a:bodyPr>
            <a:normAutofit/>
          </a:bodyPr>
          <a:lstStyle/>
          <a:p>
            <a:pPr marL="342900" lvl="1" indent="-342900">
              <a:spcBef>
                <a:spcPts val="1600"/>
              </a:spcBef>
            </a:pPr>
            <a:r>
              <a:rPr lang="en-US" sz="2200" dirty="0">
                <a:solidFill>
                  <a:srgbClr val="002060"/>
                </a:solidFill>
              </a:rPr>
              <a:t>Event source is the object that creates an event (i.e. press on Button)</a:t>
            </a:r>
          </a:p>
          <a:p>
            <a:pPr marL="342900" lvl="1" indent="-342900">
              <a:spcBef>
                <a:spcPts val="1600"/>
              </a:spcBef>
            </a:pPr>
            <a:r>
              <a:rPr lang="en-US" sz="2200" dirty="0" err="1">
                <a:solidFill>
                  <a:srgbClr val="002060"/>
                </a:solidFill>
              </a:rPr>
              <a:t>getSource</a:t>
            </a:r>
            <a:r>
              <a:rPr lang="en-US" sz="2200" dirty="0">
                <a:solidFill>
                  <a:srgbClr val="002060"/>
                </a:solidFill>
              </a:rPr>
              <a:t>() is used to identify the source:</a:t>
            </a:r>
          </a:p>
          <a:p>
            <a:pPr marL="342900" lvl="1" indent="-342900">
              <a:spcBef>
                <a:spcPts val="1600"/>
              </a:spcBef>
            </a:pPr>
            <a:r>
              <a:rPr lang="en-US" sz="2200" dirty="0" err="1">
                <a:solidFill>
                  <a:srgbClr val="002060"/>
                </a:solidFill>
              </a:rPr>
              <a:t>getActionCommand</a:t>
            </a:r>
            <a:r>
              <a:rPr lang="en-US" sz="2200" dirty="0">
                <a:solidFill>
                  <a:srgbClr val="002060"/>
                </a:solidFill>
              </a:rPr>
              <a:t>() returns a string containing information about the event object.</a:t>
            </a:r>
          </a:p>
          <a:p>
            <a:pPr marL="342900" lvl="1" indent="-342900">
              <a:spcBef>
                <a:spcPts val="1600"/>
              </a:spcBef>
            </a:pPr>
            <a:endParaRPr lang="en-US" sz="2200" dirty="0">
              <a:solidFill>
                <a:srgbClr val="002060"/>
              </a:solidFill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34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708" y="3149638"/>
            <a:ext cx="5844240" cy="3336128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2889" y="4068383"/>
            <a:ext cx="4864541" cy="131178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Rectangle 7"/>
          <p:cNvSpPr/>
          <p:nvPr/>
        </p:nvSpPr>
        <p:spPr>
          <a:xfrm>
            <a:off x="1298771" y="2473231"/>
            <a:ext cx="2229356" cy="40447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4867359" y="5162719"/>
            <a:ext cx="1666959" cy="18207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8644990" y="4369185"/>
            <a:ext cx="482826" cy="101098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4687986" y="3303023"/>
            <a:ext cx="648711" cy="20671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3628033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1170298"/>
            <a:ext cx="10417284" cy="516892"/>
          </a:xfrm>
        </p:spPr>
        <p:txBody>
          <a:bodyPr>
            <a:normAutofit fontScale="90000"/>
          </a:bodyPr>
          <a:lstStyle/>
          <a:p>
            <a:r>
              <a:rPr lang="en-US" dirty="0"/>
              <a:t>2. Event Object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58791" y="1842483"/>
            <a:ext cx="10417284" cy="3835800"/>
          </a:xfrm>
        </p:spPr>
        <p:txBody>
          <a:bodyPr/>
          <a:lstStyle/>
          <a:p>
            <a:r>
              <a:rPr lang="en-US" b="1" dirty="0"/>
              <a:t>Event</a:t>
            </a:r>
            <a:r>
              <a:rPr lang="en-US" dirty="0"/>
              <a:t> </a:t>
            </a:r>
            <a:r>
              <a:rPr lang="en-US" b="1" dirty="0"/>
              <a:t>object</a:t>
            </a:r>
            <a:r>
              <a:rPr lang="en-US" dirty="0"/>
              <a:t> contains information:</a:t>
            </a:r>
          </a:p>
          <a:p>
            <a:pPr lvl="1"/>
            <a:r>
              <a:rPr lang="en-US" dirty="0"/>
              <a:t>what type of event occurred</a:t>
            </a:r>
          </a:p>
          <a:p>
            <a:pPr lvl="1"/>
            <a:r>
              <a:rPr lang="en-US" dirty="0"/>
              <a:t>which component generated this event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35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8044" y="3263309"/>
            <a:ext cx="7426165" cy="33317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Rectangle 6"/>
          <p:cNvSpPr/>
          <p:nvPr/>
        </p:nvSpPr>
        <p:spPr>
          <a:xfrm>
            <a:off x="6543759" y="3840382"/>
            <a:ext cx="1471402" cy="213728"/>
          </a:xfrm>
          <a:prstGeom prst="rect">
            <a:avLst/>
          </a:prstGeom>
          <a:noFill/>
          <a:ln w="28575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1668008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2. Event Object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Event objects created by different types of event sources:</a:t>
            </a:r>
          </a:p>
          <a:p>
            <a:pPr>
              <a:buNone/>
            </a:pPr>
            <a:endParaRPr lang="en-US" dirty="0"/>
          </a:p>
          <a:p>
            <a:pPr>
              <a:buNone/>
            </a:pPr>
            <a:endParaRPr lang="en-US" dirty="0"/>
          </a:p>
          <a:p>
            <a:pPr>
              <a:buNone/>
            </a:pPr>
            <a:endParaRPr lang="en-US" dirty="0"/>
          </a:p>
          <a:p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36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48156" y="3181681"/>
            <a:ext cx="8654551" cy="25596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674296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1170298"/>
            <a:ext cx="10417284" cy="512846"/>
          </a:xfrm>
        </p:spPr>
        <p:txBody>
          <a:bodyPr>
            <a:normAutofit fontScale="90000"/>
          </a:bodyPr>
          <a:lstStyle/>
          <a:p>
            <a:r>
              <a:rPr lang="en-US" dirty="0"/>
              <a:t>3. Event Handler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834391"/>
            <a:ext cx="10417284" cy="411149"/>
          </a:xfrm>
        </p:spPr>
        <p:txBody>
          <a:bodyPr/>
          <a:lstStyle/>
          <a:p>
            <a:pPr marL="342900" lvl="1" indent="-342900">
              <a:spcBef>
                <a:spcPts val="1600"/>
              </a:spcBef>
            </a:pPr>
            <a:r>
              <a:rPr lang="en-US" sz="2200" dirty="0">
                <a:solidFill>
                  <a:srgbClr val="002060"/>
                </a:solidFill>
              </a:rPr>
              <a:t>The </a:t>
            </a:r>
            <a:r>
              <a:rPr lang="en-US" sz="2200" b="1" dirty="0">
                <a:solidFill>
                  <a:srgbClr val="002060"/>
                </a:solidFill>
              </a:rPr>
              <a:t>event</a:t>
            </a:r>
            <a:r>
              <a:rPr lang="en-US" sz="2200" dirty="0">
                <a:solidFill>
                  <a:srgbClr val="002060"/>
                </a:solidFill>
              </a:rPr>
              <a:t> </a:t>
            </a:r>
            <a:r>
              <a:rPr lang="en-US" sz="2200" b="1" dirty="0">
                <a:solidFill>
                  <a:srgbClr val="002060"/>
                </a:solidFill>
              </a:rPr>
              <a:t>handler</a:t>
            </a:r>
            <a:r>
              <a:rPr lang="en-US" sz="2200" dirty="0">
                <a:solidFill>
                  <a:srgbClr val="002060"/>
                </a:solidFill>
              </a:rPr>
              <a:t> (also called </a:t>
            </a:r>
            <a:r>
              <a:rPr lang="en-US" sz="2200" b="1" dirty="0">
                <a:solidFill>
                  <a:srgbClr val="002060"/>
                </a:solidFill>
              </a:rPr>
              <a:t>event listener</a:t>
            </a:r>
            <a:r>
              <a:rPr lang="en-US" sz="2200" dirty="0">
                <a:solidFill>
                  <a:srgbClr val="002060"/>
                </a:solidFill>
              </a:rPr>
              <a:t>) performs some </a:t>
            </a:r>
            <a:r>
              <a:rPr lang="en-US" sz="2200" dirty="0">
                <a:solidFill>
                  <a:srgbClr val="0070C0"/>
                </a:solidFill>
              </a:rPr>
              <a:t>action</a:t>
            </a:r>
            <a:r>
              <a:rPr lang="en-US" sz="2200" dirty="0">
                <a:solidFill>
                  <a:srgbClr val="002060"/>
                </a:solidFill>
              </a:rPr>
              <a:t> to respond to the event. 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37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69990" y="2245540"/>
            <a:ext cx="5715066" cy="4320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792119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Listener Interfaces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An event handler is an instance of a class that implements a </a:t>
            </a:r>
            <a:r>
              <a:rPr lang="en-US" i="1" dirty="0"/>
              <a:t>listener</a:t>
            </a:r>
            <a:r>
              <a:rPr lang="en-US" dirty="0"/>
              <a:t> </a:t>
            </a:r>
            <a:r>
              <a:rPr lang="en-US" i="1" dirty="0"/>
              <a:t>interface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A </a:t>
            </a:r>
            <a:r>
              <a:rPr lang="en-US" b="1" dirty="0"/>
              <a:t>listener</a:t>
            </a:r>
            <a:r>
              <a:rPr lang="en-US" dirty="0"/>
              <a:t> </a:t>
            </a:r>
            <a:r>
              <a:rPr lang="en-US" b="1" dirty="0"/>
              <a:t>interface</a:t>
            </a:r>
            <a:r>
              <a:rPr lang="en-US" dirty="0"/>
              <a:t> declares methods that the event handler class must implement. </a:t>
            </a:r>
          </a:p>
          <a:p>
            <a:endParaRPr lang="en-US" dirty="0"/>
          </a:p>
          <a:p>
            <a:r>
              <a:rPr lang="en-US" dirty="0"/>
              <a:t>Interfaces extend </a:t>
            </a:r>
            <a:r>
              <a:rPr lang="en-US" dirty="0" err="1">
                <a:latin typeface="Courier10 BT" pitchFamily="49" charset="0"/>
              </a:rPr>
              <a:t>EventListener</a:t>
            </a:r>
            <a:r>
              <a:rPr lang="en-US" dirty="0"/>
              <a:t>, which is an </a:t>
            </a:r>
            <a:r>
              <a:rPr lang="en-US" dirty="0">
                <a:solidFill>
                  <a:srgbClr val="0070C0"/>
                </a:solidFill>
              </a:rPr>
              <a:t>empty</a:t>
            </a:r>
            <a:r>
              <a:rPr lang="en-US" dirty="0"/>
              <a:t> interface.</a:t>
            </a:r>
          </a:p>
          <a:p>
            <a:pPr lvl="1"/>
            <a:endParaRPr lang="en-US" dirty="0">
              <a:latin typeface="Courier10 BT" pitchFamily="49" charset="0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38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6796879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601859"/>
          </a:xfrm>
        </p:spPr>
        <p:txBody>
          <a:bodyPr/>
          <a:lstStyle/>
          <a:p>
            <a:r>
              <a:rPr lang="en-US" dirty="0"/>
              <a:t>The </a:t>
            </a:r>
            <a:r>
              <a:rPr lang="en-US" dirty="0" err="1">
                <a:latin typeface="Courier10 BT" pitchFamily="49" charset="0"/>
              </a:rPr>
              <a:t>ActionListener</a:t>
            </a:r>
            <a:r>
              <a:rPr lang="en-US" dirty="0"/>
              <a:t> Interface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89114" y="2060968"/>
            <a:ext cx="10417284" cy="3835800"/>
          </a:xfrm>
        </p:spPr>
        <p:txBody>
          <a:bodyPr/>
          <a:lstStyle/>
          <a:p>
            <a:r>
              <a:rPr lang="en-US" dirty="0"/>
              <a:t>Defined as follows: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Example of an event handling class: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39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4955022" y="2060968"/>
            <a:ext cx="7000959" cy="830997"/>
          </a:xfrm>
          <a:prstGeom prst="rect">
            <a:avLst/>
          </a:prstGeom>
          <a:solidFill>
            <a:srgbClr val="FFFFCC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public interface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ActionListener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extends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EventListener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{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 public void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actionPerformed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ActionEvent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e);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}</a:t>
            </a:r>
          </a:p>
        </p:txBody>
      </p:sp>
      <p:sp>
        <p:nvSpPr>
          <p:cNvPr id="8" name="Rectangle 7"/>
          <p:cNvSpPr/>
          <p:nvPr/>
        </p:nvSpPr>
        <p:spPr>
          <a:xfrm>
            <a:off x="5242289" y="4357995"/>
            <a:ext cx="6713692" cy="1323439"/>
          </a:xfrm>
          <a:prstGeom prst="rect">
            <a:avLst/>
          </a:prstGeom>
          <a:solidFill>
            <a:srgbClr val="FFFFCC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Times New Roman" pitchFamily="18" charset="0"/>
                <a:cs typeface="Times New Roman" pitchFamily="18" charset="0"/>
              </a:rPr>
              <a:t>public class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Times New Roman" pitchFamily="18" charset="0"/>
                <a:cs typeface="Times New Roman" pitchFamily="18" charset="0"/>
              </a:rPr>
              <a:t>EventHandler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Times New Roman" pitchFamily="18" charset="0"/>
                <a:cs typeface="Times New Roman" pitchFamily="18" charset="0"/>
              </a:rPr>
              <a:t> 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Times New Roman" pitchFamily="18" charset="0"/>
                <a:cs typeface="Times New Roman" pitchFamily="18" charset="0"/>
              </a:rPr>
              <a:t>implements 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Times New Roman" pitchFamily="18" charset="0"/>
                <a:cs typeface="Times New Roman" pitchFamily="18" charset="0"/>
              </a:rPr>
              <a:t>ActionListener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Times New Roman" pitchFamily="18" charset="0"/>
                <a:cs typeface="Times New Roman" pitchFamily="18" charset="0"/>
              </a:rPr>
              <a:t> {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itchFamily="34" charset="0"/>
              <a:ea typeface="+mn-ea"/>
              <a:cs typeface="Arial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Times New Roman" pitchFamily="18" charset="0"/>
                <a:cs typeface="Times New Roman" pitchFamily="18" charset="0"/>
              </a:rPr>
              <a:t>  public void 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Times New Roman" pitchFamily="18" charset="0"/>
                <a:cs typeface="Times New Roman" pitchFamily="18" charset="0"/>
              </a:rPr>
              <a:t>actionPerformed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Times New Roman" pitchFamily="18" charset="0"/>
                <a:cs typeface="Times New Roman" pitchFamily="18" charset="0"/>
              </a:rPr>
              <a:t>(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Times New Roman" pitchFamily="18" charset="0"/>
                <a:cs typeface="Times New Roman" pitchFamily="18" charset="0"/>
              </a:rPr>
              <a:t>ActionEvent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Times New Roman" pitchFamily="18" charset="0"/>
                <a:cs typeface="Times New Roman" pitchFamily="18" charset="0"/>
              </a:rPr>
              <a:t> e) {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itchFamily="34" charset="0"/>
              <a:ea typeface="+mn-ea"/>
              <a:cs typeface="Arial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Times New Roman" pitchFamily="18" charset="0"/>
                <a:cs typeface="Times New Roman" pitchFamily="18" charset="0"/>
              </a:rPr>
              <a:t>    // do something here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itchFamily="34" charset="0"/>
              <a:ea typeface="+mn-ea"/>
              <a:cs typeface="Arial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Times New Roman" pitchFamily="18" charset="0"/>
                <a:cs typeface="Times New Roman" pitchFamily="18" charset="0"/>
              </a:rPr>
              <a:t>  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Times New Roman" pitchFamily="18" charset="0"/>
                <a:cs typeface="Times New Roman" pitchFamily="18" charset="0"/>
              </a:rPr>
              <a:t>}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itchFamily="34" charset="0"/>
              <a:ea typeface="+mn-ea"/>
              <a:cs typeface="Arial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Times New Roman" pitchFamily="18" charset="0"/>
                <a:cs typeface="Times New Roman" pitchFamily="18" charset="0"/>
              </a:rPr>
              <a:t>}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itchFamily="34" charset="0"/>
              <a:ea typeface="+mn-ea"/>
              <a:cs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6396555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723239"/>
          </a:xfrm>
        </p:spPr>
        <p:txBody>
          <a:bodyPr>
            <a:normAutofit/>
          </a:bodyPr>
          <a:lstStyle/>
          <a:p>
            <a:r>
              <a:rPr lang="en-US" dirty="0"/>
              <a:t>Using inheritance/implements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40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3228" y="3620000"/>
            <a:ext cx="3635924" cy="2111884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0400" y="4039111"/>
            <a:ext cx="5323254" cy="1692773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52063" y="2634300"/>
            <a:ext cx="4996674" cy="244935"/>
          </a:xfrm>
          <a:prstGeom prst="rect">
            <a:avLst/>
          </a:prstGeom>
        </p:spPr>
      </p:pic>
      <p:cxnSp>
        <p:nvCxnSpPr>
          <p:cNvPr id="13" name="Straight Arrow Connector 12"/>
          <p:cNvCxnSpPr>
            <a:stCxn id="11" idx="2"/>
            <a:endCxn id="10" idx="0"/>
          </p:cNvCxnSpPr>
          <p:nvPr/>
        </p:nvCxnSpPr>
        <p:spPr>
          <a:xfrm>
            <a:off x="6250400" y="2879235"/>
            <a:ext cx="2661627" cy="11598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4195721" y="4256411"/>
            <a:ext cx="554304" cy="38841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6807091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1549" y="846616"/>
            <a:ext cx="6645722" cy="723239"/>
          </a:xfrm>
        </p:spPr>
        <p:txBody>
          <a:bodyPr>
            <a:normAutofit/>
          </a:bodyPr>
          <a:lstStyle/>
          <a:p>
            <a:r>
              <a:rPr lang="en-US" dirty="0" err="1"/>
              <a:t>MouseEventHandler</a:t>
            </a:r>
            <a:r>
              <a:rPr lang="en-US" dirty="0"/>
              <a:t> example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41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9189" y="2040206"/>
            <a:ext cx="5181736" cy="2884790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5942" y="2011884"/>
            <a:ext cx="3472634" cy="3570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670727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723239"/>
          </a:xfrm>
        </p:spPr>
        <p:txBody>
          <a:bodyPr>
            <a:normAutofit/>
          </a:bodyPr>
          <a:lstStyle/>
          <a:p>
            <a:r>
              <a:rPr lang="en-US" dirty="0" err="1"/>
              <a:t>MouseEventHandler</a:t>
            </a:r>
            <a:r>
              <a:rPr lang="en-US" dirty="0"/>
              <a:t> example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42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759" y="2057057"/>
            <a:ext cx="6351980" cy="4104022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06891" y="1893536"/>
            <a:ext cx="2038733" cy="409682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039383" y="6124545"/>
            <a:ext cx="3990195" cy="40011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“Current: </a:t>
            </a:r>
            <a:r>
              <a:rPr kumimoji="0" lang="en-US" sz="200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MouseEventHandler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78855168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>
              <a:defRPr/>
            </a:pPr>
            <a:r>
              <a:rPr lang="en-US" dirty="0"/>
              <a:t>Overwriting paint method (AWT)</a:t>
            </a:r>
          </a:p>
        </p:txBody>
      </p:sp>
      <p:sp>
        <p:nvSpPr>
          <p:cNvPr id="5123" name="Slide Number Placeholder 3"/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1AA101E-127A-4DAF-B4E5-EFA483F29B1E}" type="slidenum"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43</a:t>
            </a:fld>
            <a:endParaRPr kumimoji="0" lang="en-US" alt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" panose="020F050202020403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6632637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723239"/>
          </a:xfrm>
        </p:spPr>
        <p:txBody>
          <a:bodyPr>
            <a:normAutofit/>
          </a:bodyPr>
          <a:lstStyle/>
          <a:p>
            <a:r>
              <a:rPr lang="en-US" dirty="0"/>
              <a:t>Paint method AWT: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44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936516" y="2146989"/>
            <a:ext cx="3954929" cy="3416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Paint is called: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Screen refresh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Window update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Parts been hidden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AWT paints: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Not very powerful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Obsolete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For simple drawings ok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Don’t mix it up too much with Swing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8710283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723239"/>
          </a:xfrm>
        </p:spPr>
        <p:txBody>
          <a:bodyPr>
            <a:normAutofit/>
          </a:bodyPr>
          <a:lstStyle/>
          <a:p>
            <a:r>
              <a:rPr lang="en-US" dirty="0"/>
              <a:t>Paint method example: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45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3755" y="2291106"/>
            <a:ext cx="5845781" cy="3635924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7976" y="2291106"/>
            <a:ext cx="4370729" cy="3472634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7630789" y="2633957"/>
            <a:ext cx="3757916" cy="207156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5FCF15B-AA28-F2DF-D2AF-ACBB463DA7A2}"/>
              </a:ext>
            </a:extLst>
          </p:cNvPr>
          <p:cNvSpPr txBox="1"/>
          <p:nvPr/>
        </p:nvSpPr>
        <p:spPr>
          <a:xfrm>
            <a:off x="2902559" y="6256085"/>
            <a:ext cx="4483920" cy="40011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“Current: </a:t>
            </a:r>
            <a:r>
              <a:rPr kumimoji="0" lang="en-US" sz="2000" b="1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OverwritingPaintMethod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84541936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723239"/>
          </a:xfrm>
        </p:spPr>
        <p:txBody>
          <a:bodyPr>
            <a:normAutofit/>
          </a:bodyPr>
          <a:lstStyle/>
          <a:p>
            <a:r>
              <a:rPr lang="en-US" dirty="0"/>
              <a:t>Paint method example: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46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9476" y="1793525"/>
            <a:ext cx="7511339" cy="4713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54504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7964" y="911353"/>
            <a:ext cx="10845488" cy="524984"/>
          </a:xfrm>
        </p:spPr>
        <p:txBody>
          <a:bodyPr>
            <a:normAutofit fontScale="90000"/>
          </a:bodyPr>
          <a:lstStyle/>
          <a:p>
            <a:r>
              <a:rPr lang="en-US" dirty="0"/>
              <a:t>Paint method example mixed with other components: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47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8980" y="1792134"/>
            <a:ext cx="5883882" cy="4463260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59679" y="2357877"/>
            <a:ext cx="4653765" cy="2797702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1561764" y="3635348"/>
            <a:ext cx="2201032" cy="24883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053477" y="3563970"/>
            <a:ext cx="20569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Call super method</a:t>
            </a:r>
          </a:p>
        </p:txBody>
      </p:sp>
      <p:cxnSp>
        <p:nvCxnSpPr>
          <p:cNvPr id="11" name="Straight Arrow Connector 10"/>
          <p:cNvCxnSpPr>
            <a:stCxn id="9" idx="1"/>
          </p:cNvCxnSpPr>
          <p:nvPr/>
        </p:nvCxnSpPr>
        <p:spPr>
          <a:xfrm flipH="1">
            <a:off x="3762796" y="3748636"/>
            <a:ext cx="1290681" cy="809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9D90F92B-B99B-1F33-2D01-C2866D1D63B5}"/>
              </a:ext>
            </a:extLst>
          </p:cNvPr>
          <p:cNvSpPr txBox="1"/>
          <p:nvPr/>
        </p:nvSpPr>
        <p:spPr>
          <a:xfrm>
            <a:off x="4408136" y="6240005"/>
            <a:ext cx="4626588" cy="40011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“Current: OverwritingPaintMethod2”</a:t>
            </a:r>
          </a:p>
        </p:txBody>
      </p:sp>
    </p:spTree>
    <p:extLst>
      <p:ext uri="{BB962C8B-B14F-4D97-AF65-F5344CB8AC3E}">
        <p14:creationId xmlns:p14="http://schemas.microsoft.com/office/powerpoint/2010/main" val="277762497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>
              <a:defRPr/>
            </a:pPr>
            <a:r>
              <a:rPr lang="en-US" dirty="0"/>
              <a:t>Graphics2D</a:t>
            </a:r>
          </a:p>
        </p:txBody>
      </p:sp>
      <p:sp>
        <p:nvSpPr>
          <p:cNvPr id="5123" name="Slide Number Placeholder 3"/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1AA101E-127A-4DAF-B4E5-EFA483F29B1E}" type="slidenum"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48</a:t>
            </a:fld>
            <a:endParaRPr kumimoji="0" lang="en-US" alt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" panose="020F050202020403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8104048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723239"/>
          </a:xfrm>
        </p:spPr>
        <p:txBody>
          <a:bodyPr>
            <a:normAutofit/>
          </a:bodyPr>
          <a:lstStyle/>
          <a:p>
            <a:r>
              <a:rPr lang="en-US" dirty="0"/>
              <a:t>Graphics2D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49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936516" y="2146989"/>
            <a:ext cx="3704860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Why?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Graphics2D has more functions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Graphics2D is still AWT</a:t>
            </a:r>
          </a:p>
        </p:txBody>
      </p:sp>
    </p:spTree>
    <p:extLst>
      <p:ext uri="{BB962C8B-B14F-4D97-AF65-F5344CB8AC3E}">
        <p14:creationId xmlns:p14="http://schemas.microsoft.com/office/powerpoint/2010/main" val="217513109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723239"/>
          </a:xfrm>
        </p:spPr>
        <p:txBody>
          <a:bodyPr>
            <a:normAutofit/>
          </a:bodyPr>
          <a:lstStyle/>
          <a:p>
            <a:r>
              <a:rPr lang="en-US" dirty="0"/>
              <a:t>Simple Graphics2D example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50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6516" y="2729820"/>
            <a:ext cx="4905934" cy="2387162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7424" y="1954760"/>
            <a:ext cx="4723866" cy="427610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925637" y="4758117"/>
            <a:ext cx="100380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double </a:t>
            </a:r>
            <a:b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or float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precision</a:t>
            </a:r>
          </a:p>
        </p:txBody>
      </p:sp>
      <p:cxnSp>
        <p:nvCxnSpPr>
          <p:cNvPr id="9" name="Straight Arrow Connector 8"/>
          <p:cNvCxnSpPr>
            <a:stCxn id="7" idx="1"/>
          </p:cNvCxnSpPr>
          <p:nvPr/>
        </p:nvCxnSpPr>
        <p:spPr>
          <a:xfrm flipH="1" flipV="1">
            <a:off x="7938289" y="4357564"/>
            <a:ext cx="2987348" cy="81605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/>
          <p:cNvCxnSpPr>
            <a:stCxn id="7" idx="1"/>
          </p:cNvCxnSpPr>
          <p:nvPr/>
        </p:nvCxnSpPr>
        <p:spPr>
          <a:xfrm flipH="1" flipV="1">
            <a:off x="9398899" y="4989282"/>
            <a:ext cx="1526738" cy="18433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/>
          <p:cNvCxnSpPr>
            <a:stCxn id="7" idx="1"/>
          </p:cNvCxnSpPr>
          <p:nvPr/>
        </p:nvCxnSpPr>
        <p:spPr>
          <a:xfrm flipH="1">
            <a:off x="9067127" y="5173616"/>
            <a:ext cx="1858510" cy="27744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28BD7BD0-DF78-C858-2E46-9036B684BBB2}"/>
              </a:ext>
            </a:extLst>
          </p:cNvPr>
          <p:cNvSpPr txBox="1"/>
          <p:nvPr/>
        </p:nvSpPr>
        <p:spPr>
          <a:xfrm>
            <a:off x="856482" y="5451060"/>
            <a:ext cx="296267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“Current: Graphics2D”</a:t>
            </a:r>
          </a:p>
        </p:txBody>
      </p:sp>
    </p:spTree>
    <p:extLst>
      <p:ext uri="{BB962C8B-B14F-4D97-AF65-F5344CB8AC3E}">
        <p14:creationId xmlns:p14="http://schemas.microsoft.com/office/powerpoint/2010/main" val="9485758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723239"/>
          </a:xfrm>
        </p:spPr>
        <p:txBody>
          <a:bodyPr>
            <a:normAutofit/>
          </a:bodyPr>
          <a:lstStyle/>
          <a:p>
            <a:r>
              <a:rPr lang="en-US" dirty="0"/>
              <a:t>Simple Graphics2D example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51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8777" y="1893536"/>
            <a:ext cx="5925684" cy="44528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733138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>
              <a:defRPr/>
            </a:pPr>
            <a:r>
              <a:rPr lang="en-US" dirty="0"/>
              <a:t>Anti Aliasing</a:t>
            </a:r>
          </a:p>
        </p:txBody>
      </p:sp>
      <p:sp>
        <p:nvSpPr>
          <p:cNvPr id="5123" name="Slide Number Placeholder 3"/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1AA101E-127A-4DAF-B4E5-EFA483F29B1E}" type="slidenum"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52</a:t>
            </a:fld>
            <a:endParaRPr kumimoji="0" lang="en-US" alt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" panose="020F050202020403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6072869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723239"/>
          </a:xfrm>
        </p:spPr>
        <p:txBody>
          <a:bodyPr>
            <a:normAutofit/>
          </a:bodyPr>
          <a:lstStyle/>
          <a:p>
            <a:r>
              <a:rPr lang="en-US" dirty="0"/>
              <a:t>Simple Graphics2D Anti Aliasing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53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5633" y="1893536"/>
            <a:ext cx="5807680" cy="4637436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13282" y="2051614"/>
            <a:ext cx="3864530" cy="4114908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1650775" y="2949673"/>
            <a:ext cx="3576680" cy="1003286"/>
          </a:xfrm>
          <a:prstGeom prst="rect">
            <a:avLst/>
          </a:prstGeom>
          <a:noFill/>
          <a:ln w="28575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0B66286-C471-D846-33EE-FED73F3BCB46}"/>
              </a:ext>
            </a:extLst>
          </p:cNvPr>
          <p:cNvSpPr txBox="1"/>
          <p:nvPr/>
        </p:nvSpPr>
        <p:spPr>
          <a:xfrm>
            <a:off x="2953096" y="6181663"/>
            <a:ext cx="2962671" cy="40011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Current: “Graphics2D”</a:t>
            </a:r>
          </a:p>
        </p:txBody>
      </p:sp>
    </p:spTree>
    <p:extLst>
      <p:ext uri="{BB962C8B-B14F-4D97-AF65-F5344CB8AC3E}">
        <p14:creationId xmlns:p14="http://schemas.microsoft.com/office/powerpoint/2010/main" val="73769604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723239"/>
          </a:xfrm>
        </p:spPr>
        <p:txBody>
          <a:bodyPr>
            <a:normAutofit/>
          </a:bodyPr>
          <a:lstStyle/>
          <a:p>
            <a:r>
              <a:rPr lang="en-US" dirty="0"/>
              <a:t>Simple Graphics2D Anti Aliasing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54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0224" y="2282237"/>
            <a:ext cx="3864530" cy="4114908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2885" y="2276794"/>
            <a:ext cx="3837315" cy="412035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117547" y="1929356"/>
            <a:ext cx="22751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Without Anti Aliasing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66817" y="1929356"/>
            <a:ext cx="19909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With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Anti Aliasing</a:t>
            </a:r>
          </a:p>
        </p:txBody>
      </p:sp>
    </p:spTree>
    <p:extLst>
      <p:ext uri="{BB962C8B-B14F-4D97-AF65-F5344CB8AC3E}">
        <p14:creationId xmlns:p14="http://schemas.microsoft.com/office/powerpoint/2010/main" val="171947665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>
              <a:defRPr/>
            </a:pPr>
            <a:r>
              <a:rPr lang="en-US" dirty="0"/>
              <a:t>Path2D</a:t>
            </a:r>
          </a:p>
        </p:txBody>
      </p:sp>
      <p:sp>
        <p:nvSpPr>
          <p:cNvPr id="5123" name="Slide Number Placeholder 3"/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1AA101E-127A-4DAF-B4E5-EFA483F29B1E}" type="slidenum"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55</a:t>
            </a:fld>
            <a:endParaRPr kumimoji="0" lang="en-US" alt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" panose="020F050202020403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34036189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723239"/>
          </a:xfrm>
        </p:spPr>
        <p:txBody>
          <a:bodyPr>
            <a:normAutofit/>
          </a:bodyPr>
          <a:lstStyle/>
          <a:p>
            <a:r>
              <a:rPr lang="en-US" dirty="0"/>
              <a:t>Path2d example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56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1314" y="957288"/>
            <a:ext cx="5413220" cy="5617492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6103" y="1855505"/>
            <a:ext cx="5573394" cy="4209476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7112899" y="3358320"/>
            <a:ext cx="3370333" cy="2860409"/>
          </a:xfrm>
          <a:prstGeom prst="rect">
            <a:avLst/>
          </a:prstGeom>
          <a:noFill/>
          <a:ln w="28575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74FCA83-2057-D9B1-9AF4-DEFAD9DEAB1F}"/>
              </a:ext>
            </a:extLst>
          </p:cNvPr>
          <p:cNvSpPr txBox="1"/>
          <p:nvPr/>
        </p:nvSpPr>
        <p:spPr>
          <a:xfrm>
            <a:off x="1521745" y="6218729"/>
            <a:ext cx="2408032" cy="40011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“Current: Path2D”</a:t>
            </a:r>
          </a:p>
        </p:txBody>
      </p:sp>
    </p:spTree>
    <p:extLst>
      <p:ext uri="{BB962C8B-B14F-4D97-AF65-F5344CB8AC3E}">
        <p14:creationId xmlns:p14="http://schemas.microsoft.com/office/powerpoint/2010/main" val="59211592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>
              <a:defRPr/>
            </a:pPr>
            <a:r>
              <a:rPr lang="en-US" dirty="0"/>
              <a:t>Transformation Rotate</a:t>
            </a:r>
          </a:p>
        </p:txBody>
      </p:sp>
      <p:sp>
        <p:nvSpPr>
          <p:cNvPr id="5123" name="Slide Number Placeholder 3"/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1AA101E-127A-4DAF-B4E5-EFA483F29B1E}" type="slidenum"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57</a:t>
            </a:fld>
            <a:endParaRPr kumimoji="0" lang="en-US" alt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" panose="020F050202020403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61414834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723239"/>
          </a:xfrm>
        </p:spPr>
        <p:txBody>
          <a:bodyPr>
            <a:normAutofit/>
          </a:bodyPr>
          <a:lstStyle/>
          <a:p>
            <a:r>
              <a:rPr lang="en-US" dirty="0"/>
              <a:t>Transformations: Rotate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58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6848" y="1953115"/>
            <a:ext cx="4171120" cy="4144234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5158" y="1849004"/>
            <a:ext cx="5301842" cy="4001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0014733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723239"/>
          </a:xfrm>
        </p:spPr>
        <p:txBody>
          <a:bodyPr>
            <a:normAutofit/>
          </a:bodyPr>
          <a:lstStyle/>
          <a:p>
            <a:r>
              <a:rPr lang="en-US" dirty="0"/>
              <a:t>Transformations: Rotate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59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6517" y="1849004"/>
            <a:ext cx="4594390" cy="4715981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7824" y="1704745"/>
            <a:ext cx="5838652" cy="438855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A41017A-7F6A-C6DA-0149-FBB202F45289}"/>
              </a:ext>
            </a:extLst>
          </p:cNvPr>
          <p:cNvSpPr txBox="1"/>
          <p:nvPr/>
        </p:nvSpPr>
        <p:spPr>
          <a:xfrm>
            <a:off x="3122429" y="6262847"/>
            <a:ext cx="3531993" cy="40011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“Current: Transformations”</a:t>
            </a:r>
          </a:p>
        </p:txBody>
      </p:sp>
    </p:spTree>
    <p:extLst>
      <p:ext uri="{BB962C8B-B14F-4D97-AF65-F5344CB8AC3E}">
        <p14:creationId xmlns:p14="http://schemas.microsoft.com/office/powerpoint/2010/main" val="88539026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723239"/>
          </a:xfrm>
        </p:spPr>
        <p:txBody>
          <a:bodyPr>
            <a:normAutofit/>
          </a:bodyPr>
          <a:lstStyle/>
          <a:p>
            <a:r>
              <a:rPr lang="en-US" dirty="0"/>
              <a:t>Transformations: Rotate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60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6516" y="2075581"/>
            <a:ext cx="5301842" cy="4001537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5187" y="2117438"/>
            <a:ext cx="5264678" cy="39571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3741712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>
              <a:defRPr/>
            </a:pPr>
            <a:r>
              <a:rPr lang="en-US" dirty="0"/>
              <a:t>Simple Animation</a:t>
            </a:r>
          </a:p>
        </p:txBody>
      </p:sp>
      <p:sp>
        <p:nvSpPr>
          <p:cNvPr id="5123" name="Slide Number Placeholder 3"/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1AA101E-127A-4DAF-B4E5-EFA483F29B1E}" type="slidenum"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61</a:t>
            </a:fld>
            <a:endParaRPr kumimoji="0" lang="en-US" alt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" panose="020F050202020403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427894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7" y="891123"/>
            <a:ext cx="3659759" cy="565444"/>
          </a:xfrm>
        </p:spPr>
        <p:txBody>
          <a:bodyPr>
            <a:normAutofit fontScale="90000"/>
          </a:bodyPr>
          <a:lstStyle/>
          <a:p>
            <a:r>
              <a:rPr lang="en-US" dirty="0"/>
              <a:t>Simple Animation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62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150" y="1618640"/>
            <a:ext cx="4948934" cy="4454433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971" y="2081451"/>
            <a:ext cx="4596112" cy="3243109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274496" y="4159306"/>
            <a:ext cx="1266403" cy="133519"/>
          </a:xfrm>
          <a:prstGeom prst="rect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1516177" y="5622616"/>
            <a:ext cx="1979582" cy="155097"/>
          </a:xfrm>
          <a:prstGeom prst="rect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3689968" y="6073073"/>
            <a:ext cx="57288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Timer: executed ever 1ms and calls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actionPerformed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()</a:t>
            </a:r>
          </a:p>
        </p:txBody>
      </p:sp>
      <p:cxnSp>
        <p:nvCxnSpPr>
          <p:cNvPr id="12" name="Straight Arrow Connector 11"/>
          <p:cNvCxnSpPr>
            <a:stCxn id="3" idx="2"/>
            <a:endCxn id="10" idx="0"/>
          </p:cNvCxnSpPr>
          <p:nvPr/>
        </p:nvCxnSpPr>
        <p:spPr>
          <a:xfrm>
            <a:off x="1907698" y="4292825"/>
            <a:ext cx="598270" cy="132979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/>
          <p:cNvCxnSpPr>
            <a:stCxn id="6" idx="0"/>
          </p:cNvCxnSpPr>
          <p:nvPr/>
        </p:nvCxnSpPr>
        <p:spPr>
          <a:xfrm flipH="1" flipV="1">
            <a:off x="2505968" y="5777713"/>
            <a:ext cx="4048438" cy="29536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/>
          <p:cNvCxnSpPr>
            <a:stCxn id="6" idx="0"/>
          </p:cNvCxnSpPr>
          <p:nvPr/>
        </p:nvCxnSpPr>
        <p:spPr>
          <a:xfrm flipV="1">
            <a:off x="6554406" y="3524081"/>
            <a:ext cx="352146" cy="254899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38514660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7" y="891123"/>
            <a:ext cx="3659759" cy="565444"/>
          </a:xfrm>
        </p:spPr>
        <p:txBody>
          <a:bodyPr>
            <a:normAutofit fontScale="90000"/>
          </a:bodyPr>
          <a:lstStyle/>
          <a:p>
            <a:r>
              <a:rPr lang="en-US" dirty="0"/>
              <a:t>Simple Animation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63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150" y="1618640"/>
            <a:ext cx="4948934" cy="4454433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971" y="2081451"/>
            <a:ext cx="4596112" cy="324310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879068" y="3444729"/>
            <a:ext cx="128753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Horizontal 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movement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79068" y="4155479"/>
            <a:ext cx="128753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Vertical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movement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AA7177D-2462-D34F-9F51-26B12D776CFC}"/>
              </a:ext>
            </a:extLst>
          </p:cNvPr>
          <p:cNvSpPr txBox="1"/>
          <p:nvPr/>
        </p:nvSpPr>
        <p:spPr>
          <a:xfrm>
            <a:off x="4183084" y="6134393"/>
            <a:ext cx="3616696" cy="40011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“Current: </a:t>
            </a:r>
            <a:r>
              <a:rPr kumimoji="0" lang="en-US" sz="2000" b="1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SimpleAnimation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409874977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7" y="891123"/>
            <a:ext cx="3659759" cy="565444"/>
          </a:xfrm>
        </p:spPr>
        <p:txBody>
          <a:bodyPr>
            <a:normAutofit fontScale="90000"/>
          </a:bodyPr>
          <a:lstStyle/>
          <a:p>
            <a:r>
              <a:rPr lang="en-US" dirty="0"/>
              <a:t>Simple Animation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64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6517" y="1926628"/>
            <a:ext cx="4768068" cy="3635924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9492" y="1895729"/>
            <a:ext cx="4855913" cy="36668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8146842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44217" y="2290046"/>
            <a:ext cx="10555357" cy="1378942"/>
          </a:xfrm>
        </p:spPr>
        <p:txBody>
          <a:bodyPr rtlCol="0">
            <a:normAutofit/>
          </a:bodyPr>
          <a:lstStyle/>
          <a:p>
            <a:pPr>
              <a:defRPr/>
            </a:pPr>
            <a:r>
              <a:rPr lang="en-US" dirty="0"/>
              <a:t>Done</a:t>
            </a:r>
          </a:p>
        </p:txBody>
      </p:sp>
      <p:sp>
        <p:nvSpPr>
          <p:cNvPr id="5123" name="Slide Number Placeholder 3"/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200" dirty="0">
                <a:solidFill>
                  <a:srgbClr val="898989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61343503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DA25F2-3AE0-BDCF-0880-EDD5EEF55E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AE57A2-3A61-C5F8-EEFD-EA296178433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… to here …</a:t>
            </a:r>
          </a:p>
        </p:txBody>
      </p:sp>
    </p:spTree>
    <p:extLst>
      <p:ext uri="{BB962C8B-B14F-4D97-AF65-F5344CB8AC3E}">
        <p14:creationId xmlns:p14="http://schemas.microsoft.com/office/powerpoint/2010/main" val="2815624037"/>
      </p:ext>
    </p:extLst>
  </p:cSld>
  <p:clrMapOvr>
    <a:masterClrMapping/>
  </p:clrMapOvr>
</p:sld>
</file>

<file path=ppt/theme/theme1.xml><?xml version="1.0" encoding="utf-8"?>
<a:theme xmlns:a="http://schemas.openxmlformats.org/drawingml/2006/main" name="SCUTemplate">
  <a:themeElements>
    <a:clrScheme name="Santa Clara Powerpoint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96641"/>
      </a:accent1>
      <a:accent2>
        <a:srgbClr val="495764"/>
      </a:accent2>
      <a:accent3>
        <a:srgbClr val="71001B"/>
      </a:accent3>
      <a:accent4>
        <a:srgbClr val="FFC000"/>
      </a:accent4>
      <a:accent5>
        <a:srgbClr val="9D9B7B"/>
      </a:accent5>
      <a:accent6>
        <a:srgbClr val="759C9A"/>
      </a:accent6>
      <a:hlink>
        <a:srgbClr val="9E1B32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EN912.pptx" id="{30FD953E-F8CF-43B1-AE2C-113081E30BF0}" vid="{F0B77AA3-1BFC-4F21-AA5C-47F762EA0811}"/>
    </a:ext>
  </a:extLst>
</a:theme>
</file>

<file path=ppt/theme/theme2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EN912.pptx" id="{30FD953E-F8CF-43B1-AE2C-113081E30BF0}" vid="{C2E27841-7055-4EC2-8474-90BDE5ACE175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SCUTemplate</Template>
  <TotalTime>864</TotalTime>
  <Words>1450</Words>
  <Application>Microsoft Office PowerPoint</Application>
  <PresentationFormat>Widescreen</PresentationFormat>
  <Paragraphs>404</Paragraphs>
  <Slides>66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66</vt:i4>
      </vt:variant>
    </vt:vector>
  </HeadingPairs>
  <TitlesOfParts>
    <vt:vector size="74" baseType="lpstr">
      <vt:lpstr>Arial</vt:lpstr>
      <vt:lpstr>Arial Narrow</vt:lpstr>
      <vt:lpstr>Calibri</vt:lpstr>
      <vt:lpstr>Courier10 BT</vt:lpstr>
      <vt:lpstr>Garamond</vt:lpstr>
      <vt:lpstr>Times New Roman</vt:lpstr>
      <vt:lpstr>SCUTemplate</vt:lpstr>
      <vt:lpstr>Custom Design</vt:lpstr>
      <vt:lpstr>CSEN160</vt:lpstr>
      <vt:lpstr>Java GUI</vt:lpstr>
      <vt:lpstr>Graphical User Interfaces (GUI)</vt:lpstr>
      <vt:lpstr>Graphical User Interfaces (GUI) with Swing</vt:lpstr>
      <vt:lpstr>Graphical User Interfaces</vt:lpstr>
      <vt:lpstr>Graphical User Interfaces (GUI) with Swing</vt:lpstr>
      <vt:lpstr>Swing vs AWT</vt:lpstr>
      <vt:lpstr>Swing vs AWT</vt:lpstr>
      <vt:lpstr>What are the important steps in building a GUI?</vt:lpstr>
      <vt:lpstr>What are the important steps in building a GUI?</vt:lpstr>
      <vt:lpstr>What are the important steps in building a GUI?</vt:lpstr>
      <vt:lpstr>Components and Containers in Swing</vt:lpstr>
      <vt:lpstr>Components and Containers in Swing</vt:lpstr>
      <vt:lpstr>What are the important steps in building a GUI?</vt:lpstr>
      <vt:lpstr>Components and Containers in Swing</vt:lpstr>
      <vt:lpstr>Arranging components in a container using a Layout Manager</vt:lpstr>
      <vt:lpstr>Arranging components in a container using a Layout Manager</vt:lpstr>
      <vt:lpstr>PowerPoint Presentation</vt:lpstr>
      <vt:lpstr>PowerPoint Presentation</vt:lpstr>
      <vt:lpstr>PowerPoint Presentation</vt:lpstr>
      <vt:lpstr>PowerPoint Presentation</vt:lpstr>
      <vt:lpstr>WindowBuilder (Eclipse)</vt:lpstr>
      <vt:lpstr>What are the important steps in building a GUI?</vt:lpstr>
      <vt:lpstr>Events and Event Listeners</vt:lpstr>
      <vt:lpstr>Events and Event Listeners</vt:lpstr>
      <vt:lpstr>Events and Event Listeners</vt:lpstr>
      <vt:lpstr>Event handling</vt:lpstr>
      <vt:lpstr>Event handling</vt:lpstr>
      <vt:lpstr>What are the important steps in building a GUI?</vt:lpstr>
      <vt:lpstr>Examples</vt:lpstr>
      <vt:lpstr>Swing Events</vt:lpstr>
      <vt:lpstr>The Event Model</vt:lpstr>
      <vt:lpstr>1. Event Source</vt:lpstr>
      <vt:lpstr>1. Event Source</vt:lpstr>
      <vt:lpstr>2. Event Object</vt:lpstr>
      <vt:lpstr>2. Event Object</vt:lpstr>
      <vt:lpstr>3. Event Handler</vt:lpstr>
      <vt:lpstr>Listener Interfaces</vt:lpstr>
      <vt:lpstr>The ActionListener Interface</vt:lpstr>
      <vt:lpstr>Using inheritance/implements</vt:lpstr>
      <vt:lpstr>MouseEventHandler example</vt:lpstr>
      <vt:lpstr>MouseEventHandler example</vt:lpstr>
      <vt:lpstr>Overwriting paint method (AWT)</vt:lpstr>
      <vt:lpstr>Paint method AWT:</vt:lpstr>
      <vt:lpstr>Paint method example:</vt:lpstr>
      <vt:lpstr>Paint method example:</vt:lpstr>
      <vt:lpstr>Paint method example mixed with other components:</vt:lpstr>
      <vt:lpstr>Graphics2D</vt:lpstr>
      <vt:lpstr>Graphics2D</vt:lpstr>
      <vt:lpstr>Simple Graphics2D example</vt:lpstr>
      <vt:lpstr>Simple Graphics2D example</vt:lpstr>
      <vt:lpstr>Anti Aliasing</vt:lpstr>
      <vt:lpstr>Simple Graphics2D Anti Aliasing</vt:lpstr>
      <vt:lpstr>Simple Graphics2D Anti Aliasing</vt:lpstr>
      <vt:lpstr>Path2D</vt:lpstr>
      <vt:lpstr>Path2d example</vt:lpstr>
      <vt:lpstr>Transformation Rotate</vt:lpstr>
      <vt:lpstr>Transformations: Rotate</vt:lpstr>
      <vt:lpstr>Transformations: Rotate</vt:lpstr>
      <vt:lpstr>Transformations: Rotate</vt:lpstr>
      <vt:lpstr>Simple Animation</vt:lpstr>
      <vt:lpstr>Simple Animation</vt:lpstr>
      <vt:lpstr>Simple Animation</vt:lpstr>
      <vt:lpstr>Simple Animation</vt:lpstr>
      <vt:lpstr>Done</vt:lpstr>
      <vt:lpstr>… to here …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Outline</dc:title>
  <dc:creator>Michael Schimpf</dc:creator>
  <cp:lastModifiedBy>Michael Schimpf</cp:lastModifiedBy>
  <cp:revision>183</cp:revision>
  <cp:lastPrinted>2023-09-11T21:46:56Z</cp:lastPrinted>
  <dcterms:created xsi:type="dcterms:W3CDTF">2023-09-09T19:51:41Z</dcterms:created>
  <dcterms:modified xsi:type="dcterms:W3CDTF">2026-09-23T18:09:02Z</dcterms:modified>
</cp:coreProperties>
</file>