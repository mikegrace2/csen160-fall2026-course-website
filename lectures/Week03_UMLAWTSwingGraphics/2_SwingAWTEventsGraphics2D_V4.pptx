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69"/>
  </p:notesMasterIdLst>
  <p:handoutMasterIdLst>
    <p:handoutMasterId r:id="rId70"/>
  </p:handoutMasterIdLst>
  <p:sldIdLst>
    <p:sldId id="333" r:id="rId3"/>
    <p:sldId id="498" r:id="rId4"/>
    <p:sldId id="499" r:id="rId5"/>
    <p:sldId id="547" r:id="rId6"/>
    <p:sldId id="500" r:id="rId7"/>
    <p:sldId id="501" r:id="rId8"/>
    <p:sldId id="502" r:id="rId9"/>
    <p:sldId id="503" r:id="rId10"/>
    <p:sldId id="504" r:id="rId11"/>
    <p:sldId id="505" r:id="rId12"/>
    <p:sldId id="506" r:id="rId13"/>
    <p:sldId id="463" r:id="rId14"/>
    <p:sldId id="476" r:id="rId15"/>
    <p:sldId id="489" r:id="rId16"/>
    <p:sldId id="464" r:id="rId17"/>
    <p:sldId id="465" r:id="rId18"/>
    <p:sldId id="477" r:id="rId19"/>
    <p:sldId id="493" r:id="rId20"/>
    <p:sldId id="494" r:id="rId21"/>
    <p:sldId id="495" r:id="rId22"/>
    <p:sldId id="496" r:id="rId23"/>
    <p:sldId id="497" r:id="rId24"/>
    <p:sldId id="490" r:id="rId25"/>
    <p:sldId id="466" r:id="rId26"/>
    <p:sldId id="478" r:id="rId27"/>
    <p:sldId id="467" r:id="rId28"/>
    <p:sldId id="468" r:id="rId29"/>
    <p:sldId id="479" r:id="rId30"/>
    <p:sldId id="491" r:id="rId31"/>
    <p:sldId id="469" r:id="rId32"/>
    <p:sldId id="507" r:id="rId33"/>
    <p:sldId id="508" r:id="rId34"/>
    <p:sldId id="509" r:id="rId35"/>
    <p:sldId id="510" r:id="rId36"/>
    <p:sldId id="511" r:id="rId37"/>
    <p:sldId id="512" r:id="rId38"/>
    <p:sldId id="514" r:id="rId39"/>
    <p:sldId id="515" r:id="rId40"/>
    <p:sldId id="516" r:id="rId41"/>
    <p:sldId id="518" r:id="rId42"/>
    <p:sldId id="519" r:id="rId43"/>
    <p:sldId id="520" r:id="rId44"/>
    <p:sldId id="521" r:id="rId45"/>
    <p:sldId id="522" r:id="rId46"/>
    <p:sldId id="523" r:id="rId47"/>
    <p:sldId id="524" r:id="rId48"/>
    <p:sldId id="525" r:id="rId49"/>
    <p:sldId id="526" r:id="rId50"/>
    <p:sldId id="527" r:id="rId51"/>
    <p:sldId id="528" r:id="rId52"/>
    <p:sldId id="529" r:id="rId53"/>
    <p:sldId id="530" r:id="rId54"/>
    <p:sldId id="531" r:id="rId55"/>
    <p:sldId id="532" r:id="rId56"/>
    <p:sldId id="533" r:id="rId57"/>
    <p:sldId id="534" r:id="rId58"/>
    <p:sldId id="535" r:id="rId59"/>
    <p:sldId id="536" r:id="rId60"/>
    <p:sldId id="537" r:id="rId61"/>
    <p:sldId id="538" r:id="rId62"/>
    <p:sldId id="539" r:id="rId63"/>
    <p:sldId id="540" r:id="rId64"/>
    <p:sldId id="541" r:id="rId65"/>
    <p:sldId id="542" r:id="rId66"/>
    <p:sldId id="483" r:id="rId67"/>
    <p:sldId id="548" r:id="rId6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solidFill>
                  <a:srgbClr val="002060"/>
                </a:solidFill>
              </a:defRPr>
            </a:lvl1pPr>
            <a:lvl2pPr>
              <a:defRPr sz="2400">
                <a:solidFill>
                  <a:schemeClr val="accent2">
                    <a:lumMod val="75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56F1-AD33-45CA-85C7-DC330226D9FE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9600" y="6324601"/>
            <a:ext cx="2844800" cy="365125"/>
          </a:xfrm>
        </p:spPr>
        <p:txBody>
          <a:bodyPr/>
          <a:lstStyle/>
          <a:p>
            <a:pPr algn="l"/>
            <a:fld id="{4FBCB832-F407-431A-BE08-B640AFF97906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20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9" r:id="rId13"/>
    <p:sldLayoutId id="2147483682" r:id="rId14"/>
    <p:sldLayoutId id="2147483683" r:id="rId15"/>
    <p:sldLayoutId id="2147483685" r:id="rId16"/>
    <p:sldLayoutId id="2147483686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CSEN160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94272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Java GUI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6829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760099"/>
            <a:ext cx="7087985" cy="803781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 (GUI)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1771695"/>
            <a:ext cx="10417284" cy="4859841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2400" dirty="0"/>
              <a:t>GUIs are difficult in general:</a:t>
            </a:r>
          </a:p>
          <a:p>
            <a:pPr>
              <a:defRPr/>
            </a:pPr>
            <a:r>
              <a:rPr lang="en-US" sz="2000" dirty="0"/>
              <a:t>QT (C++)</a:t>
            </a:r>
          </a:p>
          <a:p>
            <a:pPr>
              <a:defRPr/>
            </a:pPr>
            <a:r>
              <a:rPr lang="en-US" sz="2000" dirty="0"/>
              <a:t>Microsoft Foundation Class MFC (before C#)</a:t>
            </a:r>
          </a:p>
          <a:p>
            <a:pPr>
              <a:defRPr/>
            </a:pPr>
            <a:r>
              <a:rPr lang="en-US" sz="2000" dirty="0"/>
              <a:t>Unreal Engine C++</a:t>
            </a:r>
          </a:p>
          <a:p>
            <a:pPr>
              <a:defRPr/>
            </a:pPr>
            <a:r>
              <a:rPr lang="en-US" sz="2000" dirty="0"/>
              <a:t>Unity C#</a:t>
            </a:r>
          </a:p>
          <a:p>
            <a:pPr>
              <a:defRPr/>
            </a:pPr>
            <a:r>
              <a:rPr lang="en-US" sz="2000" dirty="0"/>
              <a:t>Aqua (Apple)</a:t>
            </a:r>
          </a:p>
          <a:p>
            <a:pPr marL="0" indent="0">
              <a:buNone/>
              <a:defRPr/>
            </a:pPr>
            <a:endParaRPr lang="en-US" sz="2000" dirty="0"/>
          </a:p>
          <a:p>
            <a:pPr marL="0" indent="0">
              <a:buNone/>
              <a:defRPr/>
            </a:pPr>
            <a:r>
              <a:rPr lang="en-US" sz="2000" dirty="0"/>
              <a:t>Recommended:</a:t>
            </a:r>
          </a:p>
          <a:p>
            <a:pPr>
              <a:defRPr/>
            </a:pPr>
            <a:r>
              <a:rPr lang="en-US" sz="2000" dirty="0"/>
              <a:t>Read book</a:t>
            </a:r>
          </a:p>
          <a:p>
            <a:pPr>
              <a:defRPr/>
            </a:pPr>
            <a:r>
              <a:rPr lang="en-US" sz="2000" dirty="0"/>
              <a:t>Watch YouTube</a:t>
            </a:r>
          </a:p>
          <a:p>
            <a:pPr>
              <a:defRPr/>
            </a:pPr>
            <a:r>
              <a:rPr lang="en-US" sz="2000" dirty="0"/>
              <a:t>Do exercises:</a:t>
            </a:r>
          </a:p>
          <a:p>
            <a:pPr lvl="1">
              <a:defRPr/>
            </a:pPr>
            <a:r>
              <a:rPr lang="en-US" sz="1800" dirty="0"/>
              <a:t>Java: https://www.youtube.com/watch?v=Kmgo00avvEw</a:t>
            </a:r>
          </a:p>
          <a:p>
            <a:pPr marL="0" indent="0">
              <a:buNone/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34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59376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 (GUI) with Swing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2190439"/>
            <a:ext cx="10417284" cy="4475055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2400" dirty="0"/>
              <a:t>GUIs are built using standard UI objects like: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Windows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Buttons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scrolls bars</a:t>
            </a:r>
          </a:p>
          <a:p>
            <a:pPr lvl="1">
              <a:defRPr/>
            </a:pPr>
            <a:r>
              <a:rPr lang="en-US" sz="2200" dirty="0">
                <a:solidFill>
                  <a:srgbClr val="C00000"/>
                </a:solidFill>
              </a:rPr>
              <a:t>Panels</a:t>
            </a:r>
          </a:p>
          <a:p>
            <a:pPr lvl="1">
              <a:defRPr/>
            </a:pPr>
            <a:r>
              <a:rPr lang="en-US" sz="2200" dirty="0">
                <a:solidFill>
                  <a:srgbClr val="FF0000"/>
                </a:solidFill>
              </a:rPr>
              <a:t>etc.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GUIs for Java desktop applications -&gt; Java </a:t>
            </a:r>
            <a:r>
              <a:rPr lang="en-US" sz="2400" dirty="0">
                <a:solidFill>
                  <a:srgbClr val="C00000"/>
                </a:solidFill>
              </a:rPr>
              <a:t>Swing</a:t>
            </a:r>
            <a:r>
              <a:rPr lang="en-US" sz="2400" dirty="0"/>
              <a:t>. 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Swing is currently the </a:t>
            </a:r>
            <a:r>
              <a:rPr lang="en-US" sz="2400" b="1" dirty="0">
                <a:solidFill>
                  <a:srgbClr val="92D050"/>
                </a:solidFill>
              </a:rPr>
              <a:t>primary</a:t>
            </a:r>
            <a:r>
              <a:rPr lang="en-US" sz="2400" dirty="0"/>
              <a:t> Java GUI toolkit, </a:t>
            </a:r>
            <a:r>
              <a:rPr lang="en-US" sz="2400" b="1" dirty="0"/>
              <a:t>built into the JDK</a:t>
            </a:r>
            <a:r>
              <a:rPr lang="en-US" sz="2400" dirty="0"/>
              <a:t>. 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70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59376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2190440"/>
            <a:ext cx="10417284" cy="3835800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sz="2400" b="1" dirty="0"/>
              <a:t>GUI approaches: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Abstract Window Toolkit (AWT)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Swing 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Standard Widget Toolkit (SWT) Eclipse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000" dirty="0"/>
              <a:t>JavaFX -&gt; </a:t>
            </a:r>
            <a:r>
              <a:rPr lang="en-US" sz="2000" dirty="0" err="1"/>
              <a:t>OpenJFX</a:t>
            </a:r>
            <a:r>
              <a:rPr lang="en-US" sz="2000" dirty="0"/>
              <a:t> (some kind of web approach, </a:t>
            </a:r>
            <a:r>
              <a:rPr lang="en-US" sz="2000" b="1" dirty="0">
                <a:solidFill>
                  <a:srgbClr val="FF0000"/>
                </a:solidFill>
              </a:rPr>
              <a:t>removed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62AF43-3C22-CF91-A5C9-C0D14F5B2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0556" y="3498450"/>
            <a:ext cx="4061839" cy="3077832"/>
          </a:xfrm>
          <a:prstGeom prst="rect">
            <a:avLst/>
          </a:prstGeom>
        </p:spPr>
      </p:pic>
      <p:pic>
        <p:nvPicPr>
          <p:cNvPr id="5" name="Picture 4" descr="Linux">
            <a:extLst>
              <a:ext uri="{FF2B5EF4-FFF2-40B4-BE49-F238E27FC236}">
                <a16:creationId xmlns:a16="http://schemas.microsoft.com/office/drawing/2014/main" id="{B43ACCD7-744B-8084-81D9-3681CE3B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8210" y="3177990"/>
            <a:ext cx="1615580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2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593767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/>
              <a:t>Graphical User Interfaces (GUI) with Swing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36516" y="2190440"/>
            <a:ext cx="10417284" cy="3835800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2400" dirty="0"/>
              <a:t>Swing is part of Oracle's Java Foundation Classes (JFC).</a:t>
            </a:r>
            <a:endParaRPr lang="en-US" sz="2400" i="1" dirty="0"/>
          </a:p>
          <a:p>
            <a:pPr>
              <a:defRPr/>
            </a:pPr>
            <a:r>
              <a:rPr lang="en-US" sz="2400" i="1" dirty="0"/>
              <a:t>You can also use the Standard Widget Toolkit (</a:t>
            </a:r>
            <a:r>
              <a:rPr lang="en-US" sz="2400" i="1" dirty="0">
                <a:solidFill>
                  <a:srgbClr val="C00000"/>
                </a:solidFill>
              </a:rPr>
              <a:t>SWT</a:t>
            </a:r>
            <a:r>
              <a:rPr lang="en-US" sz="2400" i="1" dirty="0"/>
              <a:t>) from Eclipse </a:t>
            </a:r>
          </a:p>
          <a:p>
            <a:pPr marL="0" indent="0">
              <a:buNone/>
              <a:defRPr/>
            </a:pPr>
            <a:endParaRPr lang="en-US" sz="2400" dirty="0"/>
          </a:p>
          <a:p>
            <a:pPr marL="0" indent="0">
              <a:buNone/>
              <a:defRPr/>
            </a:pPr>
            <a:r>
              <a:rPr lang="en-US" sz="2400" b="1" dirty="0"/>
              <a:t>Before Swing: </a:t>
            </a:r>
            <a:endParaRPr lang="en-US" sz="2400" b="1" dirty="0">
              <a:solidFill>
                <a:srgbClr val="C00000"/>
              </a:solidFill>
            </a:endParaRPr>
          </a:p>
          <a:p>
            <a:pPr>
              <a:defRPr/>
            </a:pPr>
            <a:endParaRPr lang="en-US" sz="2400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400" dirty="0">
                <a:solidFill>
                  <a:srgbClr val="C00000"/>
                </a:solidFill>
              </a:rPr>
              <a:t>Abstract Window Toolkit (AWT) </a:t>
            </a:r>
            <a:r>
              <a:rPr lang="en-US" sz="2400" dirty="0"/>
              <a:t>was the original. 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r>
              <a:rPr lang="en-US" sz="2400" dirty="0"/>
              <a:t>Limited set of GUI components, layout managers, events, etc.</a:t>
            </a:r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384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/>
              <a:t>Swing vs AWT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Swing is built “</a:t>
            </a:r>
            <a:r>
              <a:rPr lang="en-US" b="1" dirty="0"/>
              <a:t>on top of</a:t>
            </a:r>
            <a:r>
              <a:rPr lang="en-US" dirty="0"/>
              <a:t>” AWT.</a:t>
            </a:r>
          </a:p>
          <a:p>
            <a:pPr>
              <a:defRPr/>
            </a:pPr>
            <a:r>
              <a:rPr lang="en-US" dirty="0"/>
              <a:t>You need to import AWT.</a:t>
            </a:r>
          </a:p>
          <a:p>
            <a:pPr>
              <a:defRPr/>
            </a:pPr>
            <a:r>
              <a:rPr lang="en-US" dirty="0"/>
              <a:t>Swing is slower.</a:t>
            </a:r>
          </a:p>
          <a:p>
            <a:pPr>
              <a:defRPr/>
            </a:pPr>
            <a:r>
              <a:rPr lang="en-US" dirty="0"/>
              <a:t>Swing is bigger than AWT.</a:t>
            </a:r>
          </a:p>
          <a:p>
            <a:pPr>
              <a:defRPr/>
            </a:pPr>
            <a:r>
              <a:rPr lang="en-US" dirty="0"/>
              <a:t>Swing is more flexible.</a:t>
            </a:r>
          </a:p>
          <a:p>
            <a:pPr>
              <a:defRPr/>
            </a:pPr>
            <a:r>
              <a:rPr lang="en-US" dirty="0"/>
              <a:t>Swing looks better.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685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/>
              <a:t>Swing vs AWT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AWT components looks like the OS.</a:t>
            </a:r>
          </a:p>
          <a:p>
            <a:pPr>
              <a:defRPr/>
            </a:pPr>
            <a:r>
              <a:rPr lang="en-US" dirty="0"/>
              <a:t>Swing components can change their appearance </a:t>
            </a:r>
            <a:br>
              <a:rPr lang="en-US" dirty="0"/>
            </a:br>
            <a:r>
              <a:rPr lang="en-US" dirty="0"/>
              <a:t>(based on the current "look and feel“ -&gt; “Nimbus”). </a:t>
            </a:r>
          </a:p>
          <a:p>
            <a:pPr marL="0" indent="0">
              <a:buNone/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b="1" dirty="0"/>
              <a:t>Careful:</a:t>
            </a:r>
          </a:p>
          <a:p>
            <a:pPr>
              <a:defRPr/>
            </a:pPr>
            <a:r>
              <a:rPr lang="en-US" dirty="0"/>
              <a:t>Swing and AWT are incompatible.</a:t>
            </a:r>
          </a:p>
          <a:p>
            <a:pPr>
              <a:defRPr/>
            </a:pPr>
            <a:r>
              <a:rPr lang="en-US" dirty="0"/>
              <a:t>You can use both together.</a:t>
            </a:r>
          </a:p>
          <a:p>
            <a:pPr>
              <a:defRPr/>
            </a:pPr>
            <a:r>
              <a:rPr lang="en-US" dirty="0"/>
              <a:t>But you are advised not to mix them!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9194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4"/>
            <a:ext cx="10417284" cy="4724203"/>
          </a:xfrm>
        </p:spPr>
        <p:txBody>
          <a:bodyPr rtlCol="0">
            <a:normAutofit lnSpcReduction="10000"/>
          </a:bodyPr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1</a:t>
            </a:r>
            <a:r>
              <a:rPr lang="en-US" dirty="0"/>
              <a:t>: </a:t>
            </a:r>
          </a:p>
          <a:p>
            <a:pPr>
              <a:defRPr/>
            </a:pPr>
            <a:r>
              <a:rPr lang="en-US" dirty="0"/>
              <a:t>Create an area (window/container/display area) 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 Swing: use </a:t>
            </a:r>
            <a:r>
              <a:rPr lang="en-US" dirty="0" err="1">
                <a:solidFill>
                  <a:srgbClr val="0070C0"/>
                </a:solidFill>
              </a:rPr>
              <a:t>JFrame</a:t>
            </a:r>
            <a:r>
              <a:rPr lang="en-US" dirty="0"/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Create some Components:</a:t>
            </a:r>
          </a:p>
          <a:p>
            <a:pPr lvl="1">
              <a:defRPr/>
            </a:pPr>
            <a:r>
              <a:rPr lang="en-US" dirty="0"/>
              <a:t>Buttons</a:t>
            </a:r>
          </a:p>
          <a:p>
            <a:pPr lvl="1">
              <a:defRPr/>
            </a:pPr>
            <a:r>
              <a:rPr lang="en-US" dirty="0"/>
              <a:t>Text areas</a:t>
            </a:r>
          </a:p>
          <a:p>
            <a:pPr lvl="1">
              <a:defRPr/>
            </a:pPr>
            <a:r>
              <a:rPr lang="en-US" dirty="0"/>
              <a:t>Sliders</a:t>
            </a:r>
          </a:p>
          <a:p>
            <a:pPr lvl="1">
              <a:defRPr/>
            </a:pPr>
            <a:r>
              <a:rPr lang="en-US" dirty="0"/>
              <a:t>Panels</a:t>
            </a:r>
          </a:p>
          <a:p>
            <a:pPr lvl="1">
              <a:defRPr/>
            </a:pPr>
            <a:r>
              <a:rPr lang="en-US" dirty="0"/>
              <a:t>etc.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34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89885"/>
            <a:ext cx="10417284" cy="4768710"/>
          </a:xfrm>
        </p:spPr>
        <p:txBody>
          <a:bodyPr rtlCol="0">
            <a:normAutofit lnSpcReduction="10000"/>
          </a:bodyPr>
          <a:lstStyle/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2</a:t>
            </a:r>
            <a:r>
              <a:rPr lang="en-US" dirty="0"/>
              <a:t>: Choose a </a:t>
            </a:r>
            <a:r>
              <a:rPr lang="en-US" b="1" dirty="0">
                <a:solidFill>
                  <a:srgbClr val="0070C0"/>
                </a:solidFill>
              </a:rPr>
              <a:t>layout manager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3</a:t>
            </a:r>
            <a:r>
              <a:rPr lang="en-US" dirty="0"/>
              <a:t>: Add your components to your </a:t>
            </a:r>
            <a:r>
              <a:rPr lang="en-US" dirty="0" err="1">
                <a:solidFill>
                  <a:srgbClr val="0070C0"/>
                </a:solidFill>
              </a:rPr>
              <a:t>JFrame</a:t>
            </a:r>
            <a:r>
              <a:rPr lang="en-US" dirty="0"/>
              <a:t>.</a:t>
            </a:r>
          </a:p>
          <a:p>
            <a:pPr marL="0" indent="0">
              <a:buNone/>
              <a:defRPr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Step 4</a:t>
            </a:r>
            <a:r>
              <a:rPr lang="en-US" dirty="0"/>
              <a:t>: </a:t>
            </a:r>
            <a:r>
              <a:rPr lang="en-US" b="1" dirty="0"/>
              <a:t>Event Handling: </a:t>
            </a:r>
            <a:r>
              <a:rPr lang="en-US" dirty="0"/>
              <a:t>Attach </a:t>
            </a:r>
            <a:r>
              <a:rPr lang="en-US" b="1" i="1" dirty="0"/>
              <a:t>event listeners</a:t>
            </a:r>
            <a:r>
              <a:rPr lang="en-US" dirty="0"/>
              <a:t> to your components. 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Interaction with a specific component -&gt; triggers a specific </a:t>
            </a:r>
            <a:r>
              <a:rPr lang="en-US" b="1" dirty="0"/>
              <a:t>event</a:t>
            </a:r>
            <a:r>
              <a:rPr lang="en-US" dirty="0"/>
              <a:t>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 </a:t>
            </a:r>
            <a:r>
              <a:rPr lang="en-US" b="1" dirty="0"/>
              <a:t>listener</a:t>
            </a:r>
            <a:r>
              <a:rPr lang="en-US" dirty="0"/>
              <a:t> is notified when an </a:t>
            </a:r>
            <a:r>
              <a:rPr lang="en-US" b="1" dirty="0"/>
              <a:t>event</a:t>
            </a:r>
            <a:r>
              <a:rPr lang="en-US" dirty="0"/>
              <a:t> occurs -&gt; and executes some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8415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OldSwing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dirty="0">
                <a:solidFill>
                  <a:srgbClr val="C00000"/>
                </a:solidFill>
              </a:rPr>
              <a:t> Swing-10 ActionListener”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0532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204187" y="1020595"/>
            <a:ext cx="6989633" cy="440018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dirty="0"/>
              <a:t>Components and Containers in Swing</a:t>
            </a:r>
            <a:endParaRPr lang="en-US" altLang="en-US" sz="16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12290" name="Picture 2" descr="AWT and Swing in Ja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239" y="1553706"/>
            <a:ext cx="5597862" cy="5065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770889" y="6619285"/>
            <a:ext cx="3981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200" dirty="0"/>
              <a:t>From: </a:t>
            </a:r>
            <a:r>
              <a:rPr lang="en-US" sz="1200" dirty="0"/>
              <a:t>https://www.javatpoint.com/awt-and-swing-in-java</a:t>
            </a:r>
          </a:p>
        </p:txBody>
      </p:sp>
    </p:spTree>
    <p:extLst>
      <p:ext uri="{BB962C8B-B14F-4D97-AF65-F5344CB8AC3E}">
        <p14:creationId xmlns:p14="http://schemas.microsoft.com/office/powerpoint/2010/main" val="1981074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48857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Components and Containers in Swing</a:t>
            </a:r>
            <a:endParaRPr lang="en-US" altLang="en-US" sz="16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000278"/>
            <a:ext cx="10417284" cy="447335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b="1" dirty="0" err="1"/>
              <a:t>JFrame</a:t>
            </a:r>
            <a:r>
              <a:rPr lang="en-US" dirty="0"/>
              <a:t> is a top-level containers. </a:t>
            </a:r>
          </a:p>
          <a:p>
            <a:pPr>
              <a:defRPr/>
            </a:pPr>
            <a:endParaRPr lang="en-US" b="1" dirty="0"/>
          </a:p>
          <a:p>
            <a:pPr>
              <a:defRPr/>
            </a:pPr>
            <a:r>
              <a:rPr lang="en-US" b="1" dirty="0" err="1"/>
              <a:t>JPanel</a:t>
            </a:r>
            <a:r>
              <a:rPr lang="en-US" b="1" dirty="0"/>
              <a:t> </a:t>
            </a:r>
            <a:r>
              <a:rPr lang="en-US" dirty="0"/>
              <a:t>is an intermediate container that contain components like:</a:t>
            </a:r>
          </a:p>
          <a:p>
            <a:pPr lvl="1">
              <a:defRPr/>
            </a:pPr>
            <a:r>
              <a:rPr lang="en-US" dirty="0"/>
              <a:t>Buttons</a:t>
            </a:r>
          </a:p>
          <a:p>
            <a:pPr lvl="1">
              <a:defRPr/>
            </a:pPr>
            <a:r>
              <a:rPr lang="en-US" dirty="0"/>
              <a:t>Labels</a:t>
            </a:r>
          </a:p>
          <a:p>
            <a:pPr lvl="1">
              <a:defRPr/>
            </a:pPr>
            <a:r>
              <a:rPr lang="en-US" dirty="0"/>
              <a:t>Etc.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04331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fontScale="925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OldSwing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dirty="0">
                <a:solidFill>
                  <a:srgbClr val="C00000"/>
                </a:solidFill>
              </a:rPr>
              <a:t> Swing-02 </a:t>
            </a:r>
            <a:r>
              <a:rPr lang="en-US" dirty="0" err="1">
                <a:solidFill>
                  <a:srgbClr val="C00000"/>
                </a:solidFill>
              </a:rPr>
              <a:t>FrameTwoVersions</a:t>
            </a:r>
            <a:r>
              <a:rPr lang="en-US" dirty="0">
                <a:solidFill>
                  <a:srgbClr val="C00000"/>
                </a:solidFill>
              </a:rPr>
              <a:t>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860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36516" y="826387"/>
            <a:ext cx="10417284" cy="48857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Components and Containers in Swing</a:t>
            </a:r>
            <a:endParaRPr lang="en-US" altLang="en-US" sz="16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069" y="1462157"/>
            <a:ext cx="10417284" cy="510453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Important container classes are:</a:t>
            </a: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JFrame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JApplet</a:t>
            </a:r>
            <a:r>
              <a:rPr lang="en-US" dirty="0">
                <a:solidFill>
                  <a:srgbClr val="C00000"/>
                </a:solidFill>
              </a:rPr>
              <a:t> (obsolete)</a:t>
            </a:r>
            <a:endParaRPr lang="en-US" dirty="0"/>
          </a:p>
          <a:p>
            <a:pPr lvl="1">
              <a:defRPr/>
            </a:pPr>
            <a:r>
              <a:rPr lang="en-US">
                <a:solidFill>
                  <a:srgbClr val="C00000"/>
                </a:solidFill>
              </a:rPr>
              <a:t>JPanel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r>
              <a:rPr lang="en-US"/>
              <a:t>A </a:t>
            </a:r>
            <a:r>
              <a:rPr lang="en-US" dirty="0"/>
              <a:t>container holds components for displaying.</a:t>
            </a:r>
          </a:p>
          <a:p>
            <a:pPr>
              <a:defRPr/>
            </a:pPr>
            <a:r>
              <a:rPr lang="en-US" dirty="0"/>
              <a:t>Some frequently components are:</a:t>
            </a: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JButton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JCheckbox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JLabel</a:t>
            </a:r>
            <a:endParaRPr lang="en-US" dirty="0">
              <a:solidFill>
                <a:srgbClr val="C00000"/>
              </a:solidFill>
            </a:endParaRPr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JTextField</a:t>
            </a:r>
            <a:endParaRPr lang="en-US" dirty="0"/>
          </a:p>
          <a:p>
            <a:pPr lvl="1">
              <a:defRPr/>
            </a:pPr>
            <a:r>
              <a:rPr lang="en-US" dirty="0" err="1">
                <a:solidFill>
                  <a:srgbClr val="C00000"/>
                </a:solidFill>
              </a:rPr>
              <a:t>JTextArea</a:t>
            </a: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1964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89250" y="1091076"/>
            <a:ext cx="9983549" cy="68580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Arranging components in a container using a Layout Manager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70C0"/>
                </a:solidFill>
              </a:rPr>
              <a:t>Layout Management: organize </a:t>
            </a:r>
            <a:r>
              <a:rPr lang="en-US" altLang="en-US" dirty="0"/>
              <a:t>size and position of components.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Display multiple components at once.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Each container has a default layout manager.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5129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89250" y="1091076"/>
            <a:ext cx="9538487" cy="685800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en-US" sz="2400" dirty="0"/>
              <a:t>Arranging components in a container using a Layout Manager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/>
              <a:t>Layout Managers: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FlowLayout</a:t>
            </a:r>
            <a:r>
              <a:rPr lang="en-US" altLang="en-US" dirty="0"/>
              <a:t> (default layout for </a:t>
            </a:r>
            <a:r>
              <a:rPr lang="en-US" altLang="en-US" dirty="0" err="1"/>
              <a:t>JPanel</a:t>
            </a:r>
            <a:r>
              <a:rPr lang="en-US" altLang="en-US" dirty="0"/>
              <a:t>)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Borderlayout</a:t>
            </a:r>
            <a:r>
              <a:rPr lang="en-US" altLang="en-US" dirty="0"/>
              <a:t> (default layout for </a:t>
            </a:r>
            <a:r>
              <a:rPr lang="en-US" altLang="en-US" dirty="0" err="1"/>
              <a:t>JFrame</a:t>
            </a:r>
            <a:r>
              <a:rPr lang="en-US" altLang="en-US" dirty="0"/>
              <a:t>)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GridLayout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BoxLayout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608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FlowLayout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363" y="2078619"/>
            <a:ext cx="8490231" cy="191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85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BorderLayout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303" y="2223649"/>
            <a:ext cx="7499765" cy="289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924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GridLayout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214" y="2201457"/>
            <a:ext cx="3605060" cy="23996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37" y="1863276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820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81022" y="1280086"/>
            <a:ext cx="2182964" cy="443517"/>
          </a:xfrm>
          <a:ln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 err="1"/>
              <a:t>BoxLayout</a:t>
            </a:r>
            <a:r>
              <a:rPr lang="en-US" altLang="en-US" b="1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53" y="2012822"/>
            <a:ext cx="3642433" cy="294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752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 err="1"/>
              <a:t>WindowBuilder</a:t>
            </a:r>
            <a:r>
              <a:rPr lang="en-US" altLang="en-US" sz="2800" dirty="0"/>
              <a:t> (Eclipse)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b="1" dirty="0">
                <a:solidFill>
                  <a:srgbClr val="C00000"/>
                </a:solidFill>
              </a:rPr>
              <a:t>“Current: </a:t>
            </a:r>
            <a:r>
              <a:rPr lang="en-US" dirty="0">
                <a:solidFill>
                  <a:srgbClr val="C00000"/>
                </a:solidFill>
              </a:rPr>
              <a:t>Calculator”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156" y="3308690"/>
            <a:ext cx="4169338" cy="279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062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fontScale="77500" lnSpcReduction="200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NewSwing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dirty="0">
                <a:solidFill>
                  <a:srgbClr val="C00000"/>
                </a:solidFill>
              </a:rPr>
              <a:t>Swing-04” &amp; “Swing-05” &amp; “Swing-06”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55275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55596" y="1036779"/>
            <a:ext cx="10417284" cy="51284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Events and Event Listeners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28424" y="1741333"/>
            <a:ext cx="10417284" cy="4851972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User-actions like typing or pressing buttons -&gt; are </a:t>
            </a:r>
            <a:r>
              <a:rPr lang="en-US" altLang="en-US" sz="2400" b="1" dirty="0"/>
              <a:t>events</a:t>
            </a:r>
            <a:r>
              <a:rPr lang="en-US" altLang="en-US" sz="2400" dirty="0"/>
              <a:t>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An object that generates an </a:t>
            </a:r>
            <a:r>
              <a:rPr lang="en-US" altLang="en-US" sz="2400" b="1" dirty="0">
                <a:solidFill>
                  <a:srgbClr val="0070C0"/>
                </a:solidFill>
              </a:rPr>
              <a:t>event</a:t>
            </a:r>
            <a:r>
              <a:rPr lang="en-US" altLang="en-US" sz="2400" dirty="0"/>
              <a:t> -&gt; is an </a:t>
            </a:r>
            <a:r>
              <a:rPr lang="en-US" altLang="en-US" sz="2400" b="1" dirty="0">
                <a:solidFill>
                  <a:srgbClr val="0070C0"/>
                </a:solidFill>
              </a:rPr>
              <a:t>event source</a:t>
            </a:r>
            <a:r>
              <a:rPr lang="en-US" altLang="en-US" sz="2400" dirty="0"/>
              <a:t>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Each </a:t>
            </a:r>
            <a:r>
              <a:rPr lang="en-US" altLang="en-US" sz="2400" b="1" dirty="0"/>
              <a:t>event</a:t>
            </a:r>
            <a:r>
              <a:rPr lang="en-US" altLang="en-US" sz="2400" dirty="0"/>
              <a:t> is considered an object.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An event give information about its </a:t>
            </a:r>
            <a:r>
              <a:rPr lang="en-US" altLang="en-US" sz="2400" b="1" dirty="0"/>
              <a:t>event source</a:t>
            </a:r>
            <a:r>
              <a:rPr lang="en-US" alt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664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855596" y="1036779"/>
            <a:ext cx="10417284" cy="51284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Events and Event Listeners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28424" y="1741333"/>
            <a:ext cx="10417284" cy="4864004"/>
          </a:xfrm>
          <a:ln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Any object may be notified of an </a:t>
            </a:r>
            <a:r>
              <a:rPr lang="en-US" altLang="en-US" sz="2400" b="1" dirty="0"/>
              <a:t>event</a:t>
            </a:r>
            <a:r>
              <a:rPr lang="en-US" altLang="en-US" sz="2400" dirty="0"/>
              <a:t>. 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Steps for an object to be notified of an </a:t>
            </a:r>
            <a:r>
              <a:rPr lang="en-US" altLang="en-US" sz="2400" b="1" dirty="0"/>
              <a:t>event</a:t>
            </a:r>
            <a:r>
              <a:rPr lang="en-US" altLang="en-US" sz="2400" dirty="0"/>
              <a:t>:</a:t>
            </a:r>
          </a:p>
          <a:p>
            <a:pPr lvl="1"/>
            <a:endParaRPr lang="en-US" altLang="en-US" sz="2200" dirty="0"/>
          </a:p>
          <a:p>
            <a:pPr lvl="1"/>
            <a:r>
              <a:rPr lang="en-US" altLang="en-US" sz="2200" dirty="0"/>
              <a:t>Implement </a:t>
            </a:r>
            <a:r>
              <a:rPr lang="en-US" altLang="en-US" sz="2200" b="1" dirty="0">
                <a:solidFill>
                  <a:srgbClr val="0070C0"/>
                </a:solidFill>
              </a:rPr>
              <a:t>listener interface.</a:t>
            </a:r>
          </a:p>
          <a:p>
            <a:pPr lvl="1"/>
            <a:endParaRPr lang="en-US" altLang="en-US" sz="2200" dirty="0"/>
          </a:p>
          <a:p>
            <a:pPr lvl="1"/>
            <a:r>
              <a:rPr lang="en-US" altLang="en-US" sz="2200" dirty="0"/>
              <a:t>Register as an </a:t>
            </a:r>
            <a:r>
              <a:rPr lang="en-US" altLang="en-US" sz="2200" b="1" dirty="0"/>
              <a:t>event listener</a:t>
            </a:r>
            <a:r>
              <a:rPr lang="en-US" altLang="en-US" sz="2200" dirty="0"/>
              <a:t>.</a:t>
            </a:r>
          </a:p>
          <a:p>
            <a:pPr lvl="1"/>
            <a:endParaRPr lang="en-US" altLang="en-US" sz="2200" dirty="0"/>
          </a:p>
          <a:p>
            <a:pPr lvl="1"/>
            <a:r>
              <a:rPr lang="en-US" altLang="en-US" sz="2200" dirty="0"/>
              <a:t>Any </a:t>
            </a:r>
            <a:r>
              <a:rPr lang="en-US" altLang="en-US" sz="2200" b="1" dirty="0"/>
              <a:t>event</a:t>
            </a:r>
            <a:r>
              <a:rPr lang="en-US" altLang="en-US" sz="2200" dirty="0"/>
              <a:t> can have multiple </a:t>
            </a:r>
            <a:r>
              <a:rPr lang="en-US" altLang="en-US" sz="2200" b="1" dirty="0"/>
              <a:t>listeners</a:t>
            </a:r>
            <a:r>
              <a:rPr lang="en-US" altLang="en-US" sz="2200" dirty="0"/>
              <a:t>.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endParaRPr lang="en-US" altLang="en-US" sz="1400" dirty="0"/>
          </a:p>
          <a:p>
            <a:pPr eaLnBrk="1" hangingPunct="1"/>
            <a:endParaRPr lang="en-US" alt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41448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63558" y="914400"/>
            <a:ext cx="10417284" cy="524984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Events and Event Listeners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1676400" y="914400"/>
            <a:ext cx="8991600" cy="5562600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 sz="2400"/>
          </a:p>
          <a:p>
            <a:pPr eaLnBrk="1" hangingPunct="1"/>
            <a:endParaRPr lang="en-US" altLang="en-US" sz="1400"/>
          </a:p>
          <a:p>
            <a:pPr eaLnBrk="1" hangingPunct="1"/>
            <a:endParaRPr lang="en-US" alt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179613"/>
              </p:ext>
            </p:extLst>
          </p:nvPr>
        </p:nvGraphicFramePr>
        <p:xfrm>
          <a:off x="1042735" y="1892845"/>
          <a:ext cx="10262938" cy="4756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41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effectLst/>
                        </a:rPr>
                        <a:t>Act that results in the event </a:t>
                      </a:r>
                      <a:endParaRPr lang="en-US" sz="20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effectLst/>
                        </a:rPr>
                        <a:t>Listener type </a:t>
                      </a:r>
                      <a:endParaRPr lang="en-US" sz="2000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88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clicks a button, presses Return while 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typing in a text field, or chooses a menu item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ActionListener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closes a frame (main window)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WindowListener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22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presses a mouse button while the 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cursor is over a component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MouseListener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User moves the mouse over a component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MouseMotionListener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Component becomes visible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ComponentListener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Component gets the keyboard focus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FocusListener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31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Table or list selection changes </a:t>
                      </a:r>
                      <a:endParaRPr lang="en-US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ListSelectionListener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9525" marR="9525" marT="9524" marB="9524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54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425091" cy="55330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26298"/>
            <a:ext cx="10417284" cy="4562363"/>
          </a:xfrm>
        </p:spPr>
        <p:txBody>
          <a:bodyPr rtlCol="0">
            <a:noAutofit/>
          </a:bodyPr>
          <a:lstStyle/>
          <a:p>
            <a:pPr marL="0" indent="0">
              <a:buNone/>
              <a:defRPr/>
            </a:pPr>
            <a:r>
              <a:rPr lang="en-US" sz="2800" dirty="0"/>
              <a:t>Event handling involves three steps: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Step 1:</a:t>
            </a:r>
            <a:r>
              <a:rPr lang="en-US" sz="2800" dirty="0"/>
              <a:t> An </a:t>
            </a:r>
            <a:r>
              <a:rPr lang="en-US" sz="2800" b="1" dirty="0">
                <a:solidFill>
                  <a:srgbClr val="0070C0"/>
                </a:solidFill>
              </a:rPr>
              <a:t>event handler </a:t>
            </a:r>
            <a:r>
              <a:rPr lang="en-US" sz="2800" dirty="0"/>
              <a:t>should implement:</a:t>
            </a:r>
          </a:p>
          <a:p>
            <a:pPr>
              <a:defRPr/>
            </a:pPr>
            <a:r>
              <a:rPr lang="en-US" sz="2800" dirty="0"/>
              <a:t>The listener interface</a:t>
            </a:r>
          </a:p>
          <a:p>
            <a:pPr>
              <a:defRPr/>
            </a:pPr>
            <a:r>
              <a:rPr lang="en-US" sz="2800" dirty="0"/>
              <a:t>Or extend from a class that implements that interface. </a:t>
            </a:r>
          </a:p>
          <a:p>
            <a:pPr marL="0" indent="0">
              <a:buNone/>
              <a:defRPr/>
            </a:pPr>
            <a:endParaRPr lang="en-US" sz="2800" dirty="0"/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0070C0"/>
                </a:solidFill>
              </a:rPr>
              <a:t>Inner classes</a:t>
            </a:r>
            <a:r>
              <a:rPr lang="en-US" sz="2800" b="1" dirty="0"/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0070C0"/>
                </a:solidFill>
              </a:rPr>
              <a:t>anonymous classes </a:t>
            </a:r>
            <a:r>
              <a:rPr lang="en-US" sz="2800" dirty="0"/>
              <a:t>can be defined as event handlers.</a:t>
            </a:r>
            <a:endParaRPr lang="en-US" sz="1400" dirty="0"/>
          </a:p>
          <a:p>
            <a:pPr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11138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3425091" cy="553307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Event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26299"/>
            <a:ext cx="10417284" cy="4291280"/>
          </a:xfrm>
        </p:spPr>
        <p:txBody>
          <a:bodyPr rtlCol="0">
            <a:noAutofit/>
          </a:bodyPr>
          <a:lstStyle/>
          <a:p>
            <a:pPr marL="0" indent="0">
              <a:buNone/>
              <a:defRPr/>
            </a:pP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Step 2:</a:t>
            </a:r>
            <a:r>
              <a:rPr lang="en-US" sz="2800" dirty="0"/>
              <a:t> </a:t>
            </a:r>
          </a:p>
          <a:p>
            <a:pPr marL="0" indent="0">
              <a:buNone/>
              <a:defRPr/>
            </a:pPr>
            <a:r>
              <a:rPr lang="en-US" sz="2800" dirty="0"/>
              <a:t>The event handler class implements the methods in the </a:t>
            </a:r>
            <a:r>
              <a:rPr lang="en-US" sz="2800" b="1" dirty="0"/>
              <a:t>listener</a:t>
            </a:r>
            <a:r>
              <a:rPr lang="en-US" sz="2800" dirty="0"/>
              <a:t> interface.</a:t>
            </a:r>
          </a:p>
          <a:p>
            <a:pPr marL="0" indent="0">
              <a:buNone/>
              <a:defRPr/>
            </a:pPr>
            <a:endParaRPr lang="en-US" sz="2800" b="1" dirty="0">
              <a:solidFill>
                <a:srgbClr val="C00000"/>
              </a:solidFill>
            </a:endParaRPr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C00000"/>
                </a:solidFill>
              </a:rPr>
              <a:t>Step 3:</a:t>
            </a:r>
            <a:r>
              <a:rPr lang="en-US" sz="2800" dirty="0"/>
              <a:t> </a:t>
            </a:r>
          </a:p>
          <a:p>
            <a:pPr marL="0" indent="0">
              <a:buNone/>
              <a:defRPr/>
            </a:pPr>
            <a:r>
              <a:rPr lang="en-US" sz="2800" dirty="0"/>
              <a:t>Register an instance of the event handler as a </a:t>
            </a:r>
            <a:r>
              <a:rPr lang="en-US" sz="2800" b="1" dirty="0"/>
              <a:t>listener</a:t>
            </a:r>
            <a:r>
              <a:rPr lang="en-US" sz="2800" dirty="0"/>
              <a:t> on the </a:t>
            </a:r>
            <a:r>
              <a:rPr lang="en-US" sz="2800" b="1" dirty="0">
                <a:solidFill>
                  <a:srgbClr val="0070C0"/>
                </a:solidFill>
              </a:rPr>
              <a:t>event source</a:t>
            </a:r>
            <a:r>
              <a:rPr lang="en-US" sz="2800" b="1" dirty="0"/>
              <a:t>.</a:t>
            </a:r>
          </a:p>
          <a:p>
            <a:pPr>
              <a:defRPr/>
            </a:pPr>
            <a:endParaRPr lang="en-US" sz="1400" dirty="0"/>
          </a:p>
          <a:p>
            <a:pPr>
              <a:defRPr/>
            </a:pPr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511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  <a:ln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2800" dirty="0"/>
              <a:t>What are the important steps in building a GUI?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13" y="2696193"/>
            <a:ext cx="6394868" cy="447564"/>
          </a:xfrm>
        </p:spPr>
        <p:txBody>
          <a:bodyPr rtlCol="0">
            <a:normAutofit lnSpcReduction="10000"/>
          </a:bodyPr>
          <a:lstStyle/>
          <a:p>
            <a:pPr marL="0" indent="0" algn="ctr">
              <a:buNone/>
              <a:defRPr/>
            </a:pPr>
            <a:r>
              <a:rPr lang="en-US" dirty="0">
                <a:solidFill>
                  <a:srgbClr val="C00000"/>
                </a:solidFill>
              </a:rPr>
              <a:t>“</a:t>
            </a:r>
            <a:r>
              <a:rPr lang="en-US" b="1" dirty="0" err="1">
                <a:solidFill>
                  <a:srgbClr val="C00000"/>
                </a:solidFill>
              </a:rPr>
              <a:t>OldSwing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dirty="0">
                <a:solidFill>
                  <a:srgbClr val="C00000"/>
                </a:solidFill>
              </a:rPr>
              <a:t>Swing-10 ActionListener” example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43997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2267930" cy="533076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36516" y="1891035"/>
            <a:ext cx="10417284" cy="4283188"/>
          </a:xfrm>
          <a:ln>
            <a:miter lim="800000"/>
            <a:headEnd/>
            <a:tailEnd/>
          </a:ln>
        </p:spPr>
        <p:txBody>
          <a:bodyPr>
            <a:normAutofit fontScale="92500" lnSpcReduction="10000"/>
          </a:bodyPr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See the examples in the folders:</a:t>
            </a:r>
          </a:p>
          <a:p>
            <a:pPr lvl="1"/>
            <a:r>
              <a:rPr lang="en-US" altLang="en-US" dirty="0" err="1">
                <a:solidFill>
                  <a:srgbClr val="000000"/>
                </a:solidFill>
              </a:rPr>
              <a:t>BasicSwingComponents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 err="1">
                <a:solidFill>
                  <a:srgbClr val="000000"/>
                </a:solidFill>
              </a:rPr>
              <a:t>LayoutManagers</a:t>
            </a:r>
            <a:endParaRPr lang="en-US" altLang="en-US" dirty="0">
              <a:solidFill>
                <a:srgbClr val="000000"/>
              </a:solidFill>
            </a:endParaRPr>
          </a:p>
          <a:p>
            <a:pPr lvl="1"/>
            <a:r>
              <a:rPr lang="en-US" altLang="en-US" dirty="0" err="1">
                <a:solidFill>
                  <a:srgbClr val="000000"/>
                </a:solidFill>
              </a:rPr>
              <a:t>MoreSwingExamples</a:t>
            </a:r>
            <a:endParaRPr lang="en-US" altLang="en-US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</a:pPr>
            <a:endParaRPr lang="en-US" altLang="en-US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The demos will cover: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Buttons</a:t>
            </a: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Textfields</a:t>
            </a:r>
            <a:r>
              <a:rPr lang="en-US" altLang="en-US" dirty="0">
                <a:solidFill>
                  <a:srgbClr val="000000"/>
                </a:solidFill>
              </a:rPr>
              <a:t> and </a:t>
            </a:r>
            <a:r>
              <a:rPr lang="en-US" altLang="en-US" dirty="0" err="1">
                <a:solidFill>
                  <a:srgbClr val="000000"/>
                </a:solidFill>
              </a:rPr>
              <a:t>TextAreas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</a:rPr>
              <a:t>Checkboxes and </a:t>
            </a:r>
            <a:r>
              <a:rPr lang="en-US" altLang="en-US" dirty="0" err="1">
                <a:solidFill>
                  <a:srgbClr val="000000"/>
                </a:solidFill>
              </a:rPr>
              <a:t>RadioButtons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MenuBars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ComboBoxes</a:t>
            </a:r>
            <a:endParaRPr lang="en-US" altLang="en-US" dirty="0">
              <a:solidFill>
                <a:srgbClr val="000000"/>
              </a:solidFill>
            </a:endParaRPr>
          </a:p>
          <a:p>
            <a:pPr lvl="1" eaLnBrk="1" hangingPunct="1"/>
            <a:r>
              <a:rPr lang="en-US" altLang="en-US" dirty="0" err="1">
                <a:solidFill>
                  <a:srgbClr val="000000"/>
                </a:solidFill>
              </a:rPr>
              <a:t>ScrollPanes</a:t>
            </a:r>
            <a:endParaRPr lang="en-US" altLang="en-US" dirty="0">
              <a:solidFill>
                <a:srgbClr val="000000"/>
              </a:solidFill>
            </a:endParaRPr>
          </a:p>
          <a:p>
            <a:pPr eaLnBrk="1" hangingPunct="1"/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5054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Swing Events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0727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Event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Event model has three types of objects: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Event source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Event object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Event handler</a:t>
            </a:r>
          </a:p>
          <a:p>
            <a:pPr lvl="1">
              <a:buNone/>
            </a:pPr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745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148" y="838524"/>
            <a:ext cx="10417284" cy="1144151"/>
          </a:xfrm>
        </p:spPr>
        <p:txBody>
          <a:bodyPr/>
          <a:lstStyle/>
          <a:p>
            <a:r>
              <a:rPr lang="en-US" dirty="0"/>
              <a:t>1. Event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148" y="1807242"/>
            <a:ext cx="10417284" cy="156426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600"/>
              </a:spcBef>
            </a:pPr>
            <a:r>
              <a:rPr lang="en-US" sz="2200" dirty="0">
                <a:solidFill>
                  <a:srgbClr val="002060"/>
                </a:solidFill>
              </a:rPr>
              <a:t>Event source is the object that creates an event (i.e. press on Button)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getSource</a:t>
            </a:r>
            <a:r>
              <a:rPr lang="en-US" sz="2200" dirty="0">
                <a:solidFill>
                  <a:srgbClr val="002060"/>
                </a:solidFill>
              </a:rPr>
              <a:t>() is used to identify the source: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getActionCommand</a:t>
            </a:r>
            <a:r>
              <a:rPr lang="en-US" sz="2200" dirty="0">
                <a:solidFill>
                  <a:srgbClr val="002060"/>
                </a:solidFill>
              </a:rPr>
              <a:t>() returns a string containing information about the event object.</a:t>
            </a:r>
          </a:p>
          <a:p>
            <a:pPr marL="342900" lvl="1" indent="-342900">
              <a:spcBef>
                <a:spcPts val="1600"/>
              </a:spcBef>
            </a:pP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130" y="3291248"/>
            <a:ext cx="5761758" cy="3289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889" y="4068383"/>
            <a:ext cx="4864541" cy="13117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42127" y="2306356"/>
            <a:ext cx="1327093" cy="40447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75253" y="4902550"/>
            <a:ext cx="1327093" cy="23184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69024" y="5454031"/>
            <a:ext cx="4083779" cy="21628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29437" y="3835999"/>
            <a:ext cx="2167317" cy="156573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24684" y="4388955"/>
            <a:ext cx="1656170" cy="103270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69024" y="4889738"/>
            <a:ext cx="2238795" cy="24465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9396" y="4879685"/>
            <a:ext cx="1229824" cy="523220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this case it</a:t>
            </a:r>
            <a:b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is 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JButton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17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148" y="838525"/>
            <a:ext cx="10417284" cy="537122"/>
          </a:xfrm>
        </p:spPr>
        <p:txBody>
          <a:bodyPr>
            <a:normAutofit fontScale="90000"/>
          </a:bodyPr>
          <a:lstStyle/>
          <a:p>
            <a:r>
              <a:rPr lang="en-US" dirty="0"/>
              <a:t>1. Event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148" y="1457483"/>
            <a:ext cx="10417284" cy="1564264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600"/>
              </a:spcBef>
            </a:pPr>
            <a:r>
              <a:rPr lang="en-US" sz="2200" dirty="0">
                <a:solidFill>
                  <a:srgbClr val="002060"/>
                </a:solidFill>
              </a:rPr>
              <a:t>Event source is the object that creates an event (i.e. press on Button)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getSource</a:t>
            </a:r>
            <a:r>
              <a:rPr lang="en-US" sz="2200" dirty="0">
                <a:solidFill>
                  <a:srgbClr val="002060"/>
                </a:solidFill>
              </a:rPr>
              <a:t>() is used to identify the source:</a:t>
            </a:r>
          </a:p>
          <a:p>
            <a:pPr marL="342900" lvl="1" indent="-342900">
              <a:spcBef>
                <a:spcPts val="1600"/>
              </a:spcBef>
            </a:pPr>
            <a:r>
              <a:rPr lang="en-US" sz="2200" dirty="0" err="1">
                <a:solidFill>
                  <a:srgbClr val="002060"/>
                </a:solidFill>
              </a:rPr>
              <a:t>getActionCommand</a:t>
            </a:r>
            <a:r>
              <a:rPr lang="en-US" sz="2200" dirty="0">
                <a:solidFill>
                  <a:srgbClr val="002060"/>
                </a:solidFill>
              </a:rPr>
              <a:t>() returns a string containing information about the event object.</a:t>
            </a:r>
          </a:p>
          <a:p>
            <a:pPr marL="342900" lvl="1" indent="-342900">
              <a:spcBef>
                <a:spcPts val="1600"/>
              </a:spcBef>
            </a:pP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08" y="3149638"/>
            <a:ext cx="5844240" cy="33361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889" y="4068383"/>
            <a:ext cx="4864541" cy="13117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1298771" y="2473231"/>
            <a:ext cx="2229356" cy="404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67359" y="5162719"/>
            <a:ext cx="1666959" cy="1820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644990" y="4369185"/>
            <a:ext cx="482826" cy="10109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87986" y="3303023"/>
            <a:ext cx="648711" cy="206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62803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6892"/>
          </a:xfrm>
        </p:spPr>
        <p:txBody>
          <a:bodyPr>
            <a:normAutofit fontScale="90000"/>
          </a:bodyPr>
          <a:lstStyle/>
          <a:p>
            <a:r>
              <a:rPr lang="en-US" dirty="0"/>
              <a:t>2. Event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791" y="1842483"/>
            <a:ext cx="10417284" cy="3835800"/>
          </a:xfrm>
        </p:spPr>
        <p:txBody>
          <a:bodyPr/>
          <a:lstStyle/>
          <a:p>
            <a:r>
              <a:rPr lang="en-US" b="1" dirty="0"/>
              <a:t>Event</a:t>
            </a:r>
            <a:r>
              <a:rPr lang="en-US" dirty="0"/>
              <a:t> </a:t>
            </a:r>
            <a:r>
              <a:rPr lang="en-US" b="1" dirty="0"/>
              <a:t>object</a:t>
            </a:r>
            <a:r>
              <a:rPr lang="en-US" dirty="0"/>
              <a:t> contains information:</a:t>
            </a:r>
          </a:p>
          <a:p>
            <a:pPr lvl="1"/>
            <a:r>
              <a:rPr lang="en-US" dirty="0"/>
              <a:t>what type of event occurred</a:t>
            </a:r>
          </a:p>
          <a:p>
            <a:pPr lvl="1"/>
            <a:r>
              <a:rPr lang="en-US" dirty="0"/>
              <a:t>which component generated this event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44" y="3263309"/>
            <a:ext cx="7426165" cy="33317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543759" y="3840382"/>
            <a:ext cx="1471402" cy="21372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6800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Event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Event objects created by different types of event sources: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156" y="3181681"/>
            <a:ext cx="8654551" cy="255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429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8"/>
            <a:ext cx="10417284" cy="512846"/>
          </a:xfrm>
        </p:spPr>
        <p:txBody>
          <a:bodyPr>
            <a:normAutofit fontScale="90000"/>
          </a:bodyPr>
          <a:lstStyle/>
          <a:p>
            <a:r>
              <a:rPr lang="en-US" dirty="0"/>
              <a:t>3. Event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34391"/>
            <a:ext cx="10417284" cy="411149"/>
          </a:xfrm>
        </p:spPr>
        <p:txBody>
          <a:bodyPr/>
          <a:lstStyle/>
          <a:p>
            <a:pPr marL="342900" lvl="1" indent="-342900">
              <a:spcBef>
                <a:spcPts val="1600"/>
              </a:spcBef>
            </a:pPr>
            <a:r>
              <a:rPr lang="en-US" sz="2200" dirty="0">
                <a:solidFill>
                  <a:srgbClr val="002060"/>
                </a:solidFill>
              </a:rPr>
              <a:t>The </a:t>
            </a:r>
            <a:r>
              <a:rPr lang="en-US" sz="2200" b="1" dirty="0">
                <a:solidFill>
                  <a:srgbClr val="002060"/>
                </a:solidFill>
              </a:rPr>
              <a:t>event</a:t>
            </a:r>
            <a:r>
              <a:rPr lang="en-US" sz="2200" dirty="0">
                <a:solidFill>
                  <a:srgbClr val="002060"/>
                </a:solidFill>
              </a:rPr>
              <a:t> </a:t>
            </a:r>
            <a:r>
              <a:rPr lang="en-US" sz="2200" b="1" dirty="0">
                <a:solidFill>
                  <a:srgbClr val="002060"/>
                </a:solidFill>
              </a:rPr>
              <a:t>handler</a:t>
            </a:r>
            <a:r>
              <a:rPr lang="en-US" sz="2200" dirty="0">
                <a:solidFill>
                  <a:srgbClr val="002060"/>
                </a:solidFill>
              </a:rPr>
              <a:t> (also called </a:t>
            </a:r>
            <a:r>
              <a:rPr lang="en-US" sz="2200" b="1" dirty="0">
                <a:solidFill>
                  <a:srgbClr val="002060"/>
                </a:solidFill>
              </a:rPr>
              <a:t>event listener</a:t>
            </a:r>
            <a:r>
              <a:rPr lang="en-US" sz="2200" dirty="0">
                <a:solidFill>
                  <a:srgbClr val="002060"/>
                </a:solidFill>
              </a:rPr>
              <a:t>) performs some </a:t>
            </a:r>
            <a:r>
              <a:rPr lang="en-US" sz="2200" dirty="0">
                <a:solidFill>
                  <a:srgbClr val="0070C0"/>
                </a:solidFill>
              </a:rPr>
              <a:t>action</a:t>
            </a:r>
            <a:r>
              <a:rPr lang="en-US" sz="2200" dirty="0">
                <a:solidFill>
                  <a:srgbClr val="002060"/>
                </a:solidFill>
              </a:rPr>
              <a:t> to respond to the event.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90" y="2245540"/>
            <a:ext cx="5715066" cy="432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21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Listener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event handler is an instance of a class that implements a </a:t>
            </a:r>
            <a:r>
              <a:rPr lang="en-US" i="1" dirty="0"/>
              <a:t>listener</a:t>
            </a:r>
            <a:r>
              <a:rPr lang="en-US" dirty="0"/>
              <a:t> </a:t>
            </a:r>
            <a:r>
              <a:rPr lang="en-US" i="1" dirty="0"/>
              <a:t>interface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listener</a:t>
            </a:r>
            <a:r>
              <a:rPr lang="en-US" dirty="0"/>
              <a:t> </a:t>
            </a:r>
            <a:r>
              <a:rPr lang="en-US" b="1" dirty="0"/>
              <a:t>interface</a:t>
            </a:r>
            <a:r>
              <a:rPr lang="en-US" dirty="0"/>
              <a:t> declares methods that the event handler class must implement. </a:t>
            </a:r>
          </a:p>
          <a:p>
            <a:endParaRPr lang="en-US" dirty="0"/>
          </a:p>
          <a:p>
            <a:r>
              <a:rPr lang="en-US" dirty="0"/>
              <a:t>Interfaces extend </a:t>
            </a:r>
            <a:r>
              <a:rPr lang="en-US" dirty="0" err="1">
                <a:latin typeface="Courier10 BT" pitchFamily="49" charset="0"/>
              </a:rPr>
              <a:t>EventListener</a:t>
            </a:r>
            <a:r>
              <a:rPr lang="en-US" dirty="0"/>
              <a:t>, which is an </a:t>
            </a:r>
            <a:r>
              <a:rPr lang="en-US" dirty="0">
                <a:solidFill>
                  <a:srgbClr val="0070C0"/>
                </a:solidFill>
              </a:rPr>
              <a:t>empty</a:t>
            </a:r>
            <a:r>
              <a:rPr lang="en-US" dirty="0"/>
              <a:t> interface.</a:t>
            </a:r>
          </a:p>
          <a:p>
            <a:pPr lvl="1"/>
            <a:endParaRPr lang="en-US" dirty="0">
              <a:latin typeface="Courier10 BT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79687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601859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>
                <a:latin typeface="Courier10 BT" pitchFamily="49" charset="0"/>
              </a:rPr>
              <a:t>ActionListener</a:t>
            </a:r>
            <a:r>
              <a:rPr lang="en-US" dirty="0"/>
              <a:t>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114" y="2060968"/>
            <a:ext cx="10417284" cy="3835800"/>
          </a:xfrm>
        </p:spPr>
        <p:txBody>
          <a:bodyPr/>
          <a:lstStyle/>
          <a:p>
            <a:r>
              <a:rPr lang="en-US" dirty="0"/>
              <a:t>Defined as follows: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 of an event handling class: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955022" y="2060968"/>
            <a:ext cx="7000959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public interface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ActionListener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extends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EventListener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{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 public void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actionPerformed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ActionEvent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 e);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+mn-ea"/>
                <a:cs typeface="+mn-c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242289" y="4357995"/>
            <a:ext cx="6713692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public class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EventHandler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implements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ActionListener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 public void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actionPerformed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ActionEvent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e) {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   // do something here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10 BT" pitchFamily="49" charset="0"/>
                <a:ea typeface="Times New Roman" pitchFamily="18" charset="0"/>
                <a:cs typeface="Times New Roman" pitchFamily="18" charset="0"/>
              </a:rPr>
              <a:t>}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9655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Using inheritance/implements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228" y="3620000"/>
            <a:ext cx="3635924" cy="21118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400" y="4039111"/>
            <a:ext cx="5323254" cy="169277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063" y="2634300"/>
            <a:ext cx="4996674" cy="244935"/>
          </a:xfrm>
          <a:prstGeom prst="rect">
            <a:avLst/>
          </a:prstGeom>
        </p:spPr>
      </p:pic>
      <p:cxnSp>
        <p:nvCxnSpPr>
          <p:cNvPr id="13" name="Straight Arrow Connector 12"/>
          <p:cNvCxnSpPr>
            <a:stCxn id="11" idx="2"/>
            <a:endCxn id="10" idx="0"/>
          </p:cNvCxnSpPr>
          <p:nvPr/>
        </p:nvCxnSpPr>
        <p:spPr>
          <a:xfrm>
            <a:off x="6250400" y="2879235"/>
            <a:ext cx="2661627" cy="1159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195721" y="4256411"/>
            <a:ext cx="554304" cy="388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070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49" y="846616"/>
            <a:ext cx="6645722" cy="723239"/>
          </a:xfrm>
        </p:spPr>
        <p:txBody>
          <a:bodyPr>
            <a:normAutofit/>
          </a:bodyPr>
          <a:lstStyle/>
          <a:p>
            <a:r>
              <a:rPr lang="en-US" dirty="0" err="1"/>
              <a:t>MouseEventHandler</a:t>
            </a:r>
            <a:r>
              <a:rPr lang="en-US" dirty="0"/>
              <a:t>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189" y="2040206"/>
            <a:ext cx="5181736" cy="28847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42" y="2011884"/>
            <a:ext cx="3472634" cy="357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7072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 err="1"/>
              <a:t>MouseEventHandler</a:t>
            </a:r>
            <a:r>
              <a:rPr lang="en-US" dirty="0"/>
              <a:t>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59" y="2057057"/>
            <a:ext cx="6351980" cy="410402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91" y="1893536"/>
            <a:ext cx="2038733" cy="40968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039383" y="6124545"/>
            <a:ext cx="3990195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</a:t>
            </a:r>
            <a:r>
              <a:rPr kumimoji="0" lang="en-US" sz="200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MouseEventHandler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8551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Overwriting paint method (AWT)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6326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Paint method AWT: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516" y="2146989"/>
            <a:ext cx="395492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Paint is called: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Screen refresh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Window update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Parts been hidden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AWT paints: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very powerful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Obsolete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For simple drawings 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Don’t mix it up too much with Swing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71028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Paint method example: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755" y="2291106"/>
            <a:ext cx="5845781" cy="36359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976" y="2291106"/>
            <a:ext cx="4370729" cy="34726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30789" y="2633957"/>
            <a:ext cx="3757916" cy="20715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CF15B-AA28-F2DF-D2AF-ACBB463DA7A2}"/>
              </a:ext>
            </a:extLst>
          </p:cNvPr>
          <p:cNvSpPr txBox="1"/>
          <p:nvPr/>
        </p:nvSpPr>
        <p:spPr>
          <a:xfrm>
            <a:off x="2902559" y="6256085"/>
            <a:ext cx="4483920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OverwritingPaintMethod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F28358-3DC1-B97B-9844-2E24B0590EF6}"/>
              </a:ext>
            </a:extLst>
          </p:cNvPr>
          <p:cNvSpPr/>
          <p:nvPr/>
        </p:nvSpPr>
        <p:spPr>
          <a:xfrm>
            <a:off x="3122762" y="3429000"/>
            <a:ext cx="1138688" cy="1595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4193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Paint method example: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76" y="1793525"/>
            <a:ext cx="7511339" cy="471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50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964" y="911353"/>
            <a:ext cx="10845488" cy="524984"/>
          </a:xfrm>
        </p:spPr>
        <p:txBody>
          <a:bodyPr>
            <a:normAutofit fontScale="90000"/>
          </a:bodyPr>
          <a:lstStyle/>
          <a:p>
            <a:r>
              <a:rPr lang="en-US" dirty="0"/>
              <a:t>Paint method example mixed with other components: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80" y="1792134"/>
            <a:ext cx="5883882" cy="4463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679" y="2357877"/>
            <a:ext cx="4653765" cy="27977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61764" y="3635348"/>
            <a:ext cx="2201032" cy="248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53477" y="3563970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Call super method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3762796" y="3748636"/>
            <a:ext cx="1290681" cy="8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90F92B-B99B-1F33-2D01-C2866D1D63B5}"/>
              </a:ext>
            </a:extLst>
          </p:cNvPr>
          <p:cNvSpPr txBox="1"/>
          <p:nvPr/>
        </p:nvSpPr>
        <p:spPr>
          <a:xfrm>
            <a:off x="4408136" y="6240005"/>
            <a:ext cx="4626588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OverwritingPaintMethod2”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8AEACB-27CA-86AF-D091-66852B07E27A}"/>
              </a:ext>
            </a:extLst>
          </p:cNvPr>
          <p:cNvSpPr/>
          <p:nvPr/>
        </p:nvSpPr>
        <p:spPr>
          <a:xfrm>
            <a:off x="2812210" y="2723546"/>
            <a:ext cx="1199073" cy="2083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666288-708A-BD19-547A-38385C34DA03}"/>
              </a:ext>
            </a:extLst>
          </p:cNvPr>
          <p:cNvSpPr/>
          <p:nvPr/>
        </p:nvSpPr>
        <p:spPr>
          <a:xfrm>
            <a:off x="3728292" y="3475002"/>
            <a:ext cx="904093" cy="204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249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Graphics2D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10404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Graphics2D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36516" y="2146989"/>
            <a:ext cx="370486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Why?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Graphics2D has more functions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Graphics2D is still AWT</a:t>
            </a:r>
          </a:p>
        </p:txBody>
      </p:sp>
    </p:spTree>
    <p:extLst>
      <p:ext uri="{BB962C8B-B14F-4D97-AF65-F5344CB8AC3E}">
        <p14:creationId xmlns:p14="http://schemas.microsoft.com/office/powerpoint/2010/main" val="2175131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729820"/>
            <a:ext cx="4905934" cy="23871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24" y="1954760"/>
            <a:ext cx="4723866" cy="42761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5637" y="4758117"/>
            <a:ext cx="1003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double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 float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precision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7938289" y="4357564"/>
            <a:ext cx="2987348" cy="816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1"/>
          </p:cNvCxnSpPr>
          <p:nvPr/>
        </p:nvCxnSpPr>
        <p:spPr>
          <a:xfrm flipH="1" flipV="1">
            <a:off x="9398899" y="4989282"/>
            <a:ext cx="1526738" cy="184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1"/>
          </p:cNvCxnSpPr>
          <p:nvPr/>
        </p:nvCxnSpPr>
        <p:spPr>
          <a:xfrm flipH="1">
            <a:off x="9067127" y="5173616"/>
            <a:ext cx="1858510" cy="277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BD7BD0-DF78-C858-2E46-9036B684BBB2}"/>
              </a:ext>
            </a:extLst>
          </p:cNvPr>
          <p:cNvSpPr txBox="1"/>
          <p:nvPr/>
        </p:nvSpPr>
        <p:spPr>
          <a:xfrm>
            <a:off x="856482" y="5451060"/>
            <a:ext cx="2962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Graphics2D”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FE114F-BFAF-57EF-8B78-45FCD43E80AB}"/>
              </a:ext>
            </a:extLst>
          </p:cNvPr>
          <p:cNvSpPr/>
          <p:nvPr/>
        </p:nvSpPr>
        <p:spPr>
          <a:xfrm>
            <a:off x="6773416" y="3923401"/>
            <a:ext cx="2163550" cy="15671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9E82F94-111E-14BF-7B93-8567B596769A}"/>
              </a:ext>
            </a:extLst>
          </p:cNvPr>
          <p:cNvSpPr/>
          <p:nvPr/>
        </p:nvSpPr>
        <p:spPr>
          <a:xfrm rot="5400000">
            <a:off x="9926154" y="2845466"/>
            <a:ext cx="382154" cy="227650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575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777" y="1893536"/>
            <a:ext cx="5925684" cy="445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313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Anti Aliasing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7286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Anti Aliasing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633" y="1893536"/>
            <a:ext cx="5807680" cy="46374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282" y="2051614"/>
            <a:ext cx="3864530" cy="411490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650775" y="2949673"/>
            <a:ext cx="3576680" cy="1003286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66286-C471-D846-33EE-FED73F3BCB46}"/>
              </a:ext>
            </a:extLst>
          </p:cNvPr>
          <p:cNvSpPr txBox="1"/>
          <p:nvPr/>
        </p:nvSpPr>
        <p:spPr>
          <a:xfrm>
            <a:off x="2953096" y="6181663"/>
            <a:ext cx="2962671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Current: “Graphics2D”</a:t>
            </a:r>
          </a:p>
        </p:txBody>
      </p:sp>
    </p:spTree>
    <p:extLst>
      <p:ext uri="{BB962C8B-B14F-4D97-AF65-F5344CB8AC3E}">
        <p14:creationId xmlns:p14="http://schemas.microsoft.com/office/powerpoint/2010/main" val="7376960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Simple Graphics2D Anti Aliasing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24" y="2282237"/>
            <a:ext cx="3864530" cy="411490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885" y="2276794"/>
            <a:ext cx="3837315" cy="41203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17547" y="1929356"/>
            <a:ext cx="227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Without Anti Aliasing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6817" y="1929356"/>
            <a:ext cx="199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With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Anti Aliasing</a:t>
            </a:r>
          </a:p>
        </p:txBody>
      </p:sp>
    </p:spTree>
    <p:extLst>
      <p:ext uri="{BB962C8B-B14F-4D97-AF65-F5344CB8AC3E}">
        <p14:creationId xmlns:p14="http://schemas.microsoft.com/office/powerpoint/2010/main" val="17194766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Path2D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40361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Path2d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14" y="957288"/>
            <a:ext cx="5413220" cy="561749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03" y="1855505"/>
            <a:ext cx="5573394" cy="42094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112899" y="3358320"/>
            <a:ext cx="3370333" cy="2860409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FCA83-2057-D9B1-9AF4-DEFAD9DEAB1F}"/>
              </a:ext>
            </a:extLst>
          </p:cNvPr>
          <p:cNvSpPr txBox="1"/>
          <p:nvPr/>
        </p:nvSpPr>
        <p:spPr>
          <a:xfrm>
            <a:off x="1521745" y="6218729"/>
            <a:ext cx="2408032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Path2D”</a:t>
            </a:r>
          </a:p>
        </p:txBody>
      </p:sp>
    </p:spTree>
    <p:extLst>
      <p:ext uri="{BB962C8B-B14F-4D97-AF65-F5344CB8AC3E}">
        <p14:creationId xmlns:p14="http://schemas.microsoft.com/office/powerpoint/2010/main" val="5921159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Transformation Rotate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414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Transformations: Rotate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848" y="1953115"/>
            <a:ext cx="4171120" cy="41442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158" y="1849004"/>
            <a:ext cx="5301842" cy="400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147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Transformations: Rotate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7" y="1849004"/>
            <a:ext cx="4594390" cy="47159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24" y="1704745"/>
            <a:ext cx="5838652" cy="43885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41017A-7F6A-C6DA-0149-FBB202F45289}"/>
              </a:ext>
            </a:extLst>
          </p:cNvPr>
          <p:cNvSpPr txBox="1"/>
          <p:nvPr/>
        </p:nvSpPr>
        <p:spPr>
          <a:xfrm>
            <a:off x="3122429" y="6262847"/>
            <a:ext cx="3531993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Transformations”</a:t>
            </a:r>
          </a:p>
        </p:txBody>
      </p:sp>
    </p:spTree>
    <p:extLst>
      <p:ext uri="{BB962C8B-B14F-4D97-AF65-F5344CB8AC3E}">
        <p14:creationId xmlns:p14="http://schemas.microsoft.com/office/powerpoint/2010/main" val="885390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723239"/>
          </a:xfrm>
        </p:spPr>
        <p:txBody>
          <a:bodyPr>
            <a:normAutofit/>
          </a:bodyPr>
          <a:lstStyle/>
          <a:p>
            <a:r>
              <a:rPr lang="en-US" dirty="0"/>
              <a:t>Transformations: Rotate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075581"/>
            <a:ext cx="5301842" cy="400153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187" y="2117438"/>
            <a:ext cx="5264678" cy="395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417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Simple Animation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AA101E-127A-4DAF-B4E5-EFA483F29B1E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2789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Animation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50" y="1618640"/>
            <a:ext cx="4948934" cy="4454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971" y="2081451"/>
            <a:ext cx="4596112" cy="32431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74496" y="4159306"/>
            <a:ext cx="1266403" cy="13351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16177" y="5622616"/>
            <a:ext cx="1979582" cy="15509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89968" y="6073073"/>
            <a:ext cx="5728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Timer: executed ever 1ms and calls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actionPerformed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</a:t>
            </a:r>
          </a:p>
        </p:txBody>
      </p:sp>
      <p:cxnSp>
        <p:nvCxnSpPr>
          <p:cNvPr id="12" name="Straight Arrow Connector 11"/>
          <p:cNvCxnSpPr>
            <a:stCxn id="3" idx="2"/>
            <a:endCxn id="10" idx="0"/>
          </p:cNvCxnSpPr>
          <p:nvPr/>
        </p:nvCxnSpPr>
        <p:spPr>
          <a:xfrm>
            <a:off x="1907698" y="4292825"/>
            <a:ext cx="598270" cy="1329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0"/>
          </p:cNvCxnSpPr>
          <p:nvPr/>
        </p:nvCxnSpPr>
        <p:spPr>
          <a:xfrm flipH="1" flipV="1">
            <a:off x="2505968" y="5777713"/>
            <a:ext cx="4048438" cy="295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" idx="0"/>
          </p:cNvCxnSpPr>
          <p:nvPr/>
        </p:nvCxnSpPr>
        <p:spPr>
          <a:xfrm flipV="1">
            <a:off x="6554406" y="3524081"/>
            <a:ext cx="352146" cy="2548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5146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Animation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50" y="1618640"/>
            <a:ext cx="4948934" cy="44544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971" y="2081451"/>
            <a:ext cx="4596112" cy="3243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79068" y="3444729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Horizontal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068" y="4155479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Vertical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movement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A7177D-2462-D34F-9F51-26B12D776CFC}"/>
              </a:ext>
            </a:extLst>
          </p:cNvPr>
          <p:cNvSpPr txBox="1"/>
          <p:nvPr/>
        </p:nvSpPr>
        <p:spPr>
          <a:xfrm>
            <a:off x="4183084" y="6134393"/>
            <a:ext cx="3616696" cy="40011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“Current: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SimpleAnimation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987497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7" y="891123"/>
            <a:ext cx="3659759" cy="565444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Animation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CB832-F407-431A-BE08-B640AFF9790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7" y="1926628"/>
            <a:ext cx="4768068" cy="36359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492" y="1895729"/>
            <a:ext cx="4855913" cy="366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468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217" y="2290046"/>
            <a:ext cx="10555357" cy="1378942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solidFill>
                  <a:srgbClr val="898989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34350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963</TotalTime>
  <Words>1455</Words>
  <Application>Microsoft Office PowerPoint</Application>
  <PresentationFormat>Widescreen</PresentationFormat>
  <Paragraphs>405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Arial</vt:lpstr>
      <vt:lpstr>Arial Narrow</vt:lpstr>
      <vt:lpstr>Calibri</vt:lpstr>
      <vt:lpstr>Courier10 BT</vt:lpstr>
      <vt:lpstr>Garamond</vt:lpstr>
      <vt:lpstr>Times New Roman</vt:lpstr>
      <vt:lpstr>SCUTemplate</vt:lpstr>
      <vt:lpstr>Custom Design</vt:lpstr>
      <vt:lpstr>CSEN160</vt:lpstr>
      <vt:lpstr>Java GUI</vt:lpstr>
      <vt:lpstr>Graphical User Interfaces (GUI)</vt:lpstr>
      <vt:lpstr>Graphical User Interfaces (GUI) with Swing</vt:lpstr>
      <vt:lpstr>Graphical User Interfaces</vt:lpstr>
      <vt:lpstr>Graphical User Interfaces (GUI) with Swing</vt:lpstr>
      <vt:lpstr>Swing vs AWT</vt:lpstr>
      <vt:lpstr>Swing vs AWT</vt:lpstr>
      <vt:lpstr>What are the important steps in building a GUI?</vt:lpstr>
      <vt:lpstr>What are the important steps in building a GUI?</vt:lpstr>
      <vt:lpstr>What are the important steps in building a GUI?</vt:lpstr>
      <vt:lpstr>Components and Containers in Swing</vt:lpstr>
      <vt:lpstr>Components and Containers in Swing</vt:lpstr>
      <vt:lpstr>What are the important steps in building a GUI?</vt:lpstr>
      <vt:lpstr>Components and Containers in Swing</vt:lpstr>
      <vt:lpstr>Arranging components in a container using a Layout Manager</vt:lpstr>
      <vt:lpstr>Arranging components in a container using a Layout Manager</vt:lpstr>
      <vt:lpstr>PowerPoint Presentation</vt:lpstr>
      <vt:lpstr>PowerPoint Presentation</vt:lpstr>
      <vt:lpstr>PowerPoint Presentation</vt:lpstr>
      <vt:lpstr>PowerPoint Presentation</vt:lpstr>
      <vt:lpstr>WindowBuilder (Eclipse)</vt:lpstr>
      <vt:lpstr>What are the important steps in building a GUI?</vt:lpstr>
      <vt:lpstr>Events and Event Listeners</vt:lpstr>
      <vt:lpstr>Events and Event Listeners</vt:lpstr>
      <vt:lpstr>Events and Event Listeners</vt:lpstr>
      <vt:lpstr>Event handling</vt:lpstr>
      <vt:lpstr>Event handling</vt:lpstr>
      <vt:lpstr>What are the important steps in building a GUI?</vt:lpstr>
      <vt:lpstr>Examples</vt:lpstr>
      <vt:lpstr>Swing Events</vt:lpstr>
      <vt:lpstr>The Event Model</vt:lpstr>
      <vt:lpstr>1. Event Source</vt:lpstr>
      <vt:lpstr>1. Event Source</vt:lpstr>
      <vt:lpstr>2. Event Object</vt:lpstr>
      <vt:lpstr>2. Event Object</vt:lpstr>
      <vt:lpstr>3. Event Handler</vt:lpstr>
      <vt:lpstr>Listener Interfaces</vt:lpstr>
      <vt:lpstr>The ActionListener Interface</vt:lpstr>
      <vt:lpstr>Using inheritance/implements</vt:lpstr>
      <vt:lpstr>MouseEventHandler example</vt:lpstr>
      <vt:lpstr>MouseEventHandler example</vt:lpstr>
      <vt:lpstr>Overwriting paint method (AWT)</vt:lpstr>
      <vt:lpstr>Paint method AWT:</vt:lpstr>
      <vt:lpstr>Paint method example:</vt:lpstr>
      <vt:lpstr>Paint method example:</vt:lpstr>
      <vt:lpstr>Paint method example mixed with other components:</vt:lpstr>
      <vt:lpstr>Graphics2D</vt:lpstr>
      <vt:lpstr>Graphics2D</vt:lpstr>
      <vt:lpstr>Simple Graphics2D example</vt:lpstr>
      <vt:lpstr>Simple Graphics2D example</vt:lpstr>
      <vt:lpstr>Anti Aliasing</vt:lpstr>
      <vt:lpstr>Simple Graphics2D Anti Aliasing</vt:lpstr>
      <vt:lpstr>Simple Graphics2D Anti Aliasing</vt:lpstr>
      <vt:lpstr>Path2D</vt:lpstr>
      <vt:lpstr>Path2d example</vt:lpstr>
      <vt:lpstr>Transformation Rotate</vt:lpstr>
      <vt:lpstr>Transformations: Rotate</vt:lpstr>
      <vt:lpstr>Transformations: Rotate</vt:lpstr>
      <vt:lpstr>Transformations: Rotate</vt:lpstr>
      <vt:lpstr>Simple Animation</vt:lpstr>
      <vt:lpstr>Simple Animation</vt:lpstr>
      <vt:lpstr>Simple Animation</vt:lpstr>
      <vt:lpstr>Simple Animation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187</cp:revision>
  <cp:lastPrinted>2023-09-11T21:46:56Z</cp:lastPrinted>
  <dcterms:created xsi:type="dcterms:W3CDTF">2023-09-09T19:51:41Z</dcterms:created>
  <dcterms:modified xsi:type="dcterms:W3CDTF">2026-10-19T17:09:41Z</dcterms:modified>
</cp:coreProperties>
</file>