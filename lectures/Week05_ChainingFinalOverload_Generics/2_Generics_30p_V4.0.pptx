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4" r:id="rId2"/>
  </p:sldMasterIdLst>
  <p:notesMasterIdLst>
    <p:notesMasterId r:id="rId33"/>
  </p:notesMasterIdLst>
  <p:handoutMasterIdLst>
    <p:handoutMasterId r:id="rId34"/>
  </p:handoutMasterIdLst>
  <p:sldIdLst>
    <p:sldId id="333" r:id="rId3"/>
    <p:sldId id="366" r:id="rId4"/>
    <p:sldId id="368" r:id="rId5"/>
    <p:sldId id="369" r:id="rId6"/>
    <p:sldId id="370" r:id="rId7"/>
    <p:sldId id="371" r:id="rId8"/>
    <p:sldId id="372" r:id="rId9"/>
    <p:sldId id="373" r:id="rId10"/>
    <p:sldId id="374" r:id="rId11"/>
    <p:sldId id="375" r:id="rId12"/>
    <p:sldId id="471" r:id="rId13"/>
    <p:sldId id="353" r:id="rId14"/>
    <p:sldId id="355" r:id="rId15"/>
    <p:sldId id="360" r:id="rId16"/>
    <p:sldId id="351" r:id="rId17"/>
    <p:sldId id="385" r:id="rId18"/>
    <p:sldId id="388" r:id="rId19"/>
    <p:sldId id="472" r:id="rId20"/>
    <p:sldId id="404" r:id="rId21"/>
    <p:sldId id="473" r:id="rId22"/>
    <p:sldId id="356" r:id="rId23"/>
    <p:sldId id="396" r:id="rId24"/>
    <p:sldId id="389" r:id="rId25"/>
    <p:sldId id="474" r:id="rId26"/>
    <p:sldId id="357" r:id="rId27"/>
    <p:sldId id="390" r:id="rId28"/>
    <p:sldId id="481" r:id="rId29"/>
    <p:sldId id="354" r:id="rId30"/>
    <p:sldId id="386" r:id="rId31"/>
    <p:sldId id="394" r:id="rId32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250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672" y="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presProps" Target="pres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8E938536-29D3-49BD-A567-41CAF057586A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B2E2B272-7A3A-4005-B1B0-0F9070B870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79073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71559A16-B3AD-4CE2-9A5E-FAAD3C2C27CA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28C6438F-747C-40FA-8F40-021E653C05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9010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6D5B4C3-9B00-474A-97E8-C13B4A35C4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91831"/>
            <a:ext cx="9144000" cy="1655762"/>
          </a:xfrm>
        </p:spPr>
        <p:txBody>
          <a:bodyPr/>
          <a:lstStyle>
            <a:lvl1pPr marL="0" indent="0" algn="l">
              <a:buNone/>
              <a:defRPr sz="2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D22AE50-6F90-E24E-B822-6568D311B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32145"/>
            <a:ext cx="9144000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B2EB50-2D06-0F47-91A8-A0077BC58D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86695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AA9E0-FD26-B94E-9B92-E4BB7FDAC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D2F48-A24B-4049-960D-8B798AEFA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16" y="2449386"/>
            <a:ext cx="10417284" cy="3805364"/>
          </a:xfrm>
        </p:spPr>
        <p:txBody>
          <a:bodyPr/>
          <a:lstStyle>
            <a:lvl1pPr>
              <a:buClr>
                <a:srgbClr val="B30738"/>
              </a:buClr>
              <a:defRPr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2pPr>
            <a:lvl3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3pPr>
            <a:lvl4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4pPr>
            <a:lvl5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4C7CA-926E-AD42-9C16-D63E0CBCB0B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54750"/>
            <a:ext cx="3873500" cy="4000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38119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455421C-28F7-134B-8F0E-FE7D28044B4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207617" y="1170297"/>
            <a:ext cx="2316923" cy="215804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4035" y="1170297"/>
            <a:ext cx="10379765" cy="4683851"/>
          </a:xfrm>
        </p:spPr>
        <p:txBody>
          <a:bodyPr>
            <a:normAutofit/>
          </a:bodyPr>
          <a:lstStyle>
            <a:lvl1pPr>
              <a:defRPr sz="6000" b="0" i="0">
                <a:solidFill>
                  <a:schemeClr val="tx1">
                    <a:lumMod val="50000"/>
                    <a:lumOff val="50000"/>
                  </a:schemeClr>
                </a:solidFill>
                <a:latin typeface="Garamond" panose="02020404030301010803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3C62840-6E05-504B-B2F6-709D240E69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86984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10691-0E51-0642-89F8-2E84D8B86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D74316-63BB-3446-BDDD-074CD2479E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677103"/>
            <a:ext cx="10515600" cy="141254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7D355E-B4A2-6F4F-B305-737A32A3ACE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8417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112F8-AE85-BC4D-8ACE-BD36C7043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E9A7C-E733-9C48-89C3-E864661018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36516" y="2438399"/>
            <a:ext cx="5083284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853515-618E-BC46-A98D-B716B4327E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38399"/>
            <a:ext cx="5181600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BF872C4E-C1EA-6E4F-ACE3-4DD19FF177F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84945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2EAC0-550E-1740-BE53-8E9F0A34C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0" y="882869"/>
            <a:ext cx="10419967" cy="8078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6707B4-CFB5-CF4A-9970-F7B61DECC9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5421" y="1839309"/>
            <a:ext cx="5062154" cy="66576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EA7258-4408-8940-BE1F-BB96B82778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5421" y="2653695"/>
            <a:ext cx="5062154" cy="360740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1E6BE5-8409-9441-A406-BB5D9E6F94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39309"/>
            <a:ext cx="5183188" cy="66576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3EBE53-5EFB-6744-957B-B93F2D10CC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53695"/>
            <a:ext cx="5183188" cy="360740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30A5D7E1-E327-DF48-B848-9BDF99F875D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80007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3651EA50-74CA-AA48-8D7F-2B85A97EE6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5404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46758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6AC4C19D-273F-DD4F-AB1E-92F31DD503B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0107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52473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DA9A9976-053D-644A-ACDD-10A8928C18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07211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9C3A92E6-32C2-FB44-B5B2-762BF26633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534275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E849984-83FA-4B45-A602-6A412FE0CCE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99200"/>
            <a:ext cx="3873500" cy="355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5034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C6088-92BE-7449-8B28-318FAB3F2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4138612" cy="142995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42DAB-D135-604C-8CA5-59E8EBB19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52673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DFE57F-E4E9-7543-83FD-1DD747CAD0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71750"/>
            <a:ext cx="4138612" cy="38290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2E940D73-0AAB-1944-9712-6637A75B1A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324600"/>
            <a:ext cx="3873500" cy="3302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1048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42C89-5587-0348-8D17-7C08B2EAD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1" y="956440"/>
            <a:ext cx="4011228" cy="116664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21D3EC-E376-5D4E-835F-620AC359D3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62167" y="956441"/>
            <a:ext cx="6172200" cy="532370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B5B150-6498-3B43-813F-7D37535FB1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35420" y="2291254"/>
            <a:ext cx="4011229" cy="398889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131420AC-1CC6-B24D-864B-D3A8C0514E9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80150"/>
            <a:ext cx="3873500" cy="3746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31787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145046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87506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24800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7F930-5302-8041-8D70-01651E1577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217" y="1351721"/>
            <a:ext cx="10555357" cy="2317267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2F13BE-DC53-5D42-92BC-B1405D01D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217" y="4228203"/>
            <a:ext cx="10555357" cy="137746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46008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B289B0-9BEC-4093-861C-76154CD68B5D}" type="datetimeFigureOut">
              <a:rPr lang="en-US"/>
              <a:pPr>
                <a:defRPr/>
              </a:pPr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7136E94-7335-4773-A64D-0D46B1CA62E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1433845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688140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7F930-5302-8041-8D70-01651E1577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217" y="1351721"/>
            <a:ext cx="10555357" cy="2317267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2F13BE-DC53-5D42-92BC-B1405D01D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217" y="4228203"/>
            <a:ext cx="10555357" cy="137746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440867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220731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80891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2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1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58DCC4-D98B-2742-9141-E813C534F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21E8D8-70CD-BF4D-805E-3BA2B3E848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6516" y="2449386"/>
            <a:ext cx="10417284" cy="383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0FD0265-AE87-AC4A-BBB3-EF8B93299236}"/>
              </a:ext>
            </a:extLst>
          </p:cNvPr>
          <p:cNvCxnSpPr>
            <a:cxnSpLocks/>
          </p:cNvCxnSpPr>
          <p:nvPr/>
        </p:nvCxnSpPr>
        <p:spPr>
          <a:xfrm>
            <a:off x="936516" y="730089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1606507F-9FCF-7C40-9CCC-8081F5D27FC8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050924" y="471954"/>
            <a:ext cx="3880944" cy="160105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215C687-9087-C947-AB5A-223EF7DA7E9A}"/>
              </a:ext>
            </a:extLst>
          </p:cNvPr>
          <p:cNvCxnSpPr>
            <a:cxnSpLocks/>
          </p:cNvCxnSpPr>
          <p:nvPr/>
        </p:nvCxnSpPr>
        <p:spPr>
          <a:xfrm>
            <a:off x="936516" y="388502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Picture 28">
            <a:extLst>
              <a:ext uri="{FF2B5EF4-FFF2-40B4-BE49-F238E27FC236}">
                <a16:creationId xmlns:a16="http://schemas.microsoft.com/office/drawing/2014/main" id="{3AF69D0A-C2A3-A54B-87B3-155829A53D57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32474" y="160495"/>
            <a:ext cx="804042" cy="804042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2A6E712-938E-934E-86D2-CF80E3166B5B}"/>
              </a:ext>
            </a:extLst>
          </p:cNvPr>
          <p:cNvCxnSpPr>
            <a:cxnSpLocks/>
          </p:cNvCxnSpPr>
          <p:nvPr/>
        </p:nvCxnSpPr>
        <p:spPr>
          <a:xfrm>
            <a:off x="936516" y="6652668"/>
            <a:ext cx="10417284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9243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82" r:id="rId13"/>
    <p:sldLayoutId id="2147483683" r:id="rId14"/>
    <p:sldLayoutId id="2147483685" r:id="rId15"/>
    <p:sldLayoutId id="2147483686" r:id="rId16"/>
    <p:sldLayoutId id="2147483687" r:id="rId17"/>
    <p:sldLayoutId id="2147483689" r:id="rId1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B30738"/>
        </a:buClr>
        <a:buFont typeface="Arial" panose="020B0604020202020204" pitchFamily="34" charset="0"/>
        <a:buChar char="•"/>
        <a:defRPr sz="2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20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8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6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B307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5EF7EA9-7F89-AB44-B414-A35A39B88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0015"/>
            <a:ext cx="10515600" cy="6427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D578A8-B26A-4945-96B6-DF5E5BC7DE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697162"/>
            <a:ext cx="10515600" cy="32464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 err="1"/>
              <a:t>Secod</a:t>
            </a:r>
            <a:r>
              <a:rPr lang="en-US" dirty="0"/>
              <a:t>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94CFB0A-34C6-5D42-83C5-6E58C3499080}"/>
              </a:ext>
            </a:extLst>
          </p:cNvPr>
          <p:cNvCxnSpPr>
            <a:cxnSpLocks/>
          </p:cNvCxnSpPr>
          <p:nvPr/>
        </p:nvCxnSpPr>
        <p:spPr>
          <a:xfrm>
            <a:off x="956394" y="730089"/>
            <a:ext cx="11255484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306B758-975E-984A-8DF2-F551E50A3FBA}"/>
              </a:ext>
            </a:extLst>
          </p:cNvPr>
          <p:cNvCxnSpPr>
            <a:cxnSpLocks/>
          </p:cNvCxnSpPr>
          <p:nvPr/>
        </p:nvCxnSpPr>
        <p:spPr>
          <a:xfrm>
            <a:off x="956394" y="388502"/>
            <a:ext cx="11255484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4BCBDF38-9EC5-8347-AE99-4FA5381A78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0924" y="472981"/>
            <a:ext cx="3880944" cy="17262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A5D1952-D4DE-0B48-9AEC-F81A6CB6ED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2474" y="157274"/>
            <a:ext cx="804042" cy="804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626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2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DAF3DE3F-7502-904F-9BAB-B1F5DEA23B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91831"/>
            <a:ext cx="9144000" cy="317890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Fall 2026</a:t>
            </a:r>
          </a:p>
          <a:p>
            <a:r>
              <a:rPr lang="en-US" dirty="0">
                <a:solidFill>
                  <a:schemeClr val="tx1"/>
                </a:solidFill>
              </a:rPr>
              <a:t>Object-Oriented Analysis, Design and Programming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Michael Schimpf, PhD</a:t>
            </a:r>
          </a:p>
          <a:p>
            <a:r>
              <a:rPr lang="en-US" dirty="0">
                <a:solidFill>
                  <a:schemeClr val="tx1"/>
                </a:solidFill>
              </a:rPr>
              <a:t>Department of Computer Science and Engineering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A818BAB-0338-734A-B1E8-2463F3B29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COEN160</a:t>
            </a:r>
          </a:p>
        </p:txBody>
      </p:sp>
    </p:spTree>
    <p:extLst>
      <p:ext uri="{BB962C8B-B14F-4D97-AF65-F5344CB8AC3E}">
        <p14:creationId xmlns:p14="http://schemas.microsoft.com/office/powerpoint/2010/main" val="40520801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Java Generics simple intro…</a:t>
            </a:r>
          </a:p>
        </p:txBody>
      </p:sp>
    </p:spTree>
    <p:extLst>
      <p:ext uri="{BB962C8B-B14F-4D97-AF65-F5344CB8AC3E}">
        <p14:creationId xmlns:p14="http://schemas.microsoft.com/office/powerpoint/2010/main" val="31491730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>
          <a:xfrm>
            <a:off x="940562" y="757603"/>
            <a:ext cx="6957265" cy="634227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dirty="0"/>
              <a:t>Java Generics simple intro</a:t>
            </a:r>
          </a:p>
        </p:txBody>
      </p:sp>
      <p:sp>
        <p:nvSpPr>
          <p:cNvPr id="5123" name="Content Placeholder 2"/>
          <p:cNvSpPr>
            <a:spLocks noGrp="1"/>
          </p:cNvSpPr>
          <p:nvPr>
            <p:ph idx="1"/>
          </p:nvPr>
        </p:nvSpPr>
        <p:spPr>
          <a:xfrm>
            <a:off x="940562" y="1466682"/>
            <a:ext cx="10388288" cy="5184971"/>
          </a:xfrm>
        </p:spPr>
        <p:txBody>
          <a:bodyPr>
            <a:normAutofit/>
          </a:bodyPr>
          <a:lstStyle/>
          <a:p>
            <a:pPr marL="0" indent="0" eaLnBrk="1" hangingPunct="1">
              <a:buNone/>
            </a:pPr>
            <a:r>
              <a:rPr lang="en-US" altLang="en-US" sz="2800" dirty="0">
                <a:solidFill>
                  <a:schemeClr val="tx1"/>
                </a:solidFill>
              </a:rPr>
              <a:t>This works:</a:t>
            </a:r>
            <a:endParaRPr lang="en-US" altLang="en-US" sz="2800" b="1" dirty="0">
              <a:solidFill>
                <a:schemeClr val="tx1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9916" y="2664402"/>
            <a:ext cx="4223975" cy="152515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5304" y="2622018"/>
            <a:ext cx="4153546" cy="1217652"/>
          </a:xfrm>
          <a:prstGeom prst="rect">
            <a:avLst/>
          </a:prstGeom>
        </p:spPr>
      </p:pic>
      <p:sp>
        <p:nvSpPr>
          <p:cNvPr id="4" name="Right Arrow 3"/>
          <p:cNvSpPr/>
          <p:nvPr/>
        </p:nvSpPr>
        <p:spPr>
          <a:xfrm>
            <a:off x="5943600" y="2942345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EFFBFAB-F6BA-C356-A599-496C0D794B78}"/>
              </a:ext>
            </a:extLst>
          </p:cNvPr>
          <p:cNvSpPr txBox="1">
            <a:spLocks/>
          </p:cNvSpPr>
          <p:nvPr/>
        </p:nvSpPr>
        <p:spPr>
          <a:xfrm>
            <a:off x="5230616" y="6321769"/>
            <a:ext cx="6020822" cy="329884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  <a:defRPr/>
            </a:pPr>
            <a:r>
              <a:rPr lang="en-US" dirty="0">
                <a:solidFill>
                  <a:srgbClr val="C00000"/>
                </a:solidFill>
              </a:rPr>
              <a:t>“CSEN160_05_Lecture_DataStructursAndGenerics.A_NoGenericsIssue”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CC14C4-C85D-6F09-9851-19232B05069F}"/>
              </a:ext>
            </a:extLst>
          </p:cNvPr>
          <p:cNvSpPr txBox="1"/>
          <p:nvPr/>
        </p:nvSpPr>
        <p:spPr>
          <a:xfrm>
            <a:off x="1084326" y="4689707"/>
            <a:ext cx="71951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Typecasting String reference into an Object reference, but why?</a:t>
            </a:r>
          </a:p>
        </p:txBody>
      </p:sp>
    </p:spTree>
    <p:extLst>
      <p:ext uri="{BB962C8B-B14F-4D97-AF65-F5344CB8AC3E}">
        <p14:creationId xmlns:p14="http://schemas.microsoft.com/office/powerpoint/2010/main" val="25693537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>
          <a:xfrm>
            <a:off x="940562" y="757603"/>
            <a:ext cx="6957265" cy="634227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dirty="0"/>
              <a:t>Java Generics simple intro</a:t>
            </a:r>
          </a:p>
        </p:txBody>
      </p:sp>
      <p:sp>
        <p:nvSpPr>
          <p:cNvPr id="5123" name="Content Placeholder 2"/>
          <p:cNvSpPr>
            <a:spLocks noGrp="1"/>
          </p:cNvSpPr>
          <p:nvPr>
            <p:ph idx="1"/>
          </p:nvPr>
        </p:nvSpPr>
        <p:spPr>
          <a:xfrm>
            <a:off x="3909854" y="1537733"/>
            <a:ext cx="3341178" cy="536097"/>
          </a:xfrm>
        </p:spPr>
        <p:txBody>
          <a:bodyPr>
            <a:noAutofit/>
          </a:bodyPr>
          <a:lstStyle/>
          <a:p>
            <a:pPr marL="0" indent="0" eaLnBrk="1" hangingPunct="1">
              <a:buNone/>
            </a:pPr>
            <a:r>
              <a:rPr lang="en-US" altLang="en-US" sz="3600" b="1" dirty="0">
                <a:solidFill>
                  <a:srgbClr val="FF0000"/>
                </a:solidFill>
              </a:rPr>
              <a:t>Will this work?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9815" y="2636473"/>
            <a:ext cx="6006810" cy="2162103"/>
          </a:xfrm>
          <a:prstGeom prst="rect">
            <a:avLst/>
          </a:prstGeom>
        </p:spPr>
      </p:pic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C18F2B0-81FE-5130-1FE4-248184EB1FBF}"/>
              </a:ext>
            </a:extLst>
          </p:cNvPr>
          <p:cNvSpPr txBox="1">
            <a:spLocks/>
          </p:cNvSpPr>
          <p:nvPr/>
        </p:nvSpPr>
        <p:spPr>
          <a:xfrm>
            <a:off x="5230616" y="6321769"/>
            <a:ext cx="6020822" cy="329884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en-US" dirty="0">
                <a:solidFill>
                  <a:srgbClr val="C00000"/>
                </a:solidFill>
              </a:rPr>
              <a:t>“CSEN160_05_Lecture_DataStructursAndGenerics.A_NoGenericsIssue”</a:t>
            </a:r>
          </a:p>
        </p:txBody>
      </p:sp>
    </p:spTree>
    <p:extLst>
      <p:ext uri="{BB962C8B-B14F-4D97-AF65-F5344CB8AC3E}">
        <p14:creationId xmlns:p14="http://schemas.microsoft.com/office/powerpoint/2010/main" val="10100375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>
          <a:xfrm>
            <a:off x="940562" y="757603"/>
            <a:ext cx="6957265" cy="634227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dirty="0"/>
              <a:t>Java Generics simple intro</a:t>
            </a:r>
          </a:p>
        </p:txBody>
      </p:sp>
      <p:sp>
        <p:nvSpPr>
          <p:cNvPr id="5123" name="Content Placeholder 2"/>
          <p:cNvSpPr>
            <a:spLocks noGrp="1"/>
          </p:cNvSpPr>
          <p:nvPr>
            <p:ph idx="1"/>
          </p:nvPr>
        </p:nvSpPr>
        <p:spPr>
          <a:xfrm>
            <a:off x="940562" y="1466682"/>
            <a:ext cx="10388288" cy="5184971"/>
          </a:xfrm>
        </p:spPr>
        <p:txBody>
          <a:bodyPr>
            <a:normAutofit/>
          </a:bodyPr>
          <a:lstStyle/>
          <a:p>
            <a:pPr marL="0" indent="0" eaLnBrk="1" hangingPunct="1">
              <a:buNone/>
            </a:pPr>
            <a:r>
              <a:rPr lang="en-US" altLang="en-US" sz="2800" b="1" dirty="0">
                <a:solidFill>
                  <a:srgbClr val="FF0000"/>
                </a:solidFill>
              </a:rPr>
              <a:t>This will not work!</a:t>
            </a:r>
          </a:p>
        </p:txBody>
      </p:sp>
      <p:sp>
        <p:nvSpPr>
          <p:cNvPr id="4" name="Right Arrow 3"/>
          <p:cNvSpPr/>
          <p:nvPr/>
        </p:nvSpPr>
        <p:spPr>
          <a:xfrm>
            <a:off x="5781759" y="2919306"/>
            <a:ext cx="978408" cy="484632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925" y="5417505"/>
            <a:ext cx="11767230" cy="703639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0342" y="2219733"/>
            <a:ext cx="6006810" cy="2162103"/>
          </a:xfrm>
          <a:prstGeom prst="rect">
            <a:avLst/>
          </a:prstGeom>
        </p:spPr>
      </p:pic>
      <p:sp>
        <p:nvSpPr>
          <p:cNvPr id="7" name="Down Arrow 6"/>
          <p:cNvSpPr/>
          <p:nvPr/>
        </p:nvSpPr>
        <p:spPr>
          <a:xfrm>
            <a:off x="5008969" y="4157887"/>
            <a:ext cx="484632" cy="978408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B91089D9-8746-BBD0-A91E-64B96FA78651}"/>
              </a:ext>
            </a:extLst>
          </p:cNvPr>
          <p:cNvSpPr txBox="1">
            <a:spLocks/>
          </p:cNvSpPr>
          <p:nvPr/>
        </p:nvSpPr>
        <p:spPr>
          <a:xfrm>
            <a:off x="5230616" y="6321769"/>
            <a:ext cx="6020822" cy="329884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en-US" dirty="0">
                <a:solidFill>
                  <a:srgbClr val="C00000"/>
                </a:solidFill>
              </a:rPr>
              <a:t>“CSEN160_05_Lecture_DataStructursAndGenerics.A_NoGenericsIssue”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F842A8-AA8B-B107-B7B7-80E42B94D3DE}"/>
              </a:ext>
            </a:extLst>
          </p:cNvPr>
          <p:cNvSpPr txBox="1"/>
          <p:nvPr/>
        </p:nvSpPr>
        <p:spPr>
          <a:xfrm>
            <a:off x="5971127" y="4224453"/>
            <a:ext cx="56348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Typecasting an Integer reference </a:t>
            </a:r>
            <a:br>
              <a:rPr lang="en-US" b="1" dirty="0">
                <a:solidFill>
                  <a:srgbClr val="FF0000"/>
                </a:solidFill>
              </a:rPr>
            </a:br>
            <a:r>
              <a:rPr lang="en-US" b="1" dirty="0">
                <a:solidFill>
                  <a:srgbClr val="FF0000"/>
                </a:solidFill>
              </a:rPr>
              <a:t>into an Object reference into a String reference …</a:t>
            </a:r>
          </a:p>
        </p:txBody>
      </p:sp>
    </p:spTree>
    <p:extLst>
      <p:ext uri="{BB962C8B-B14F-4D97-AF65-F5344CB8AC3E}">
        <p14:creationId xmlns:p14="http://schemas.microsoft.com/office/powerpoint/2010/main" val="4734430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>
          <a:xfrm>
            <a:off x="940562" y="757603"/>
            <a:ext cx="6957265" cy="634227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dirty="0"/>
              <a:t>Java Generics simple intro</a:t>
            </a:r>
          </a:p>
        </p:txBody>
      </p:sp>
      <p:sp>
        <p:nvSpPr>
          <p:cNvPr id="5123" name="Content Placeholder 2"/>
          <p:cNvSpPr>
            <a:spLocks noGrp="1"/>
          </p:cNvSpPr>
          <p:nvPr>
            <p:ph idx="1"/>
          </p:nvPr>
        </p:nvSpPr>
        <p:spPr>
          <a:xfrm>
            <a:off x="4925890" y="2959664"/>
            <a:ext cx="1677211" cy="697936"/>
          </a:xfrm>
        </p:spPr>
        <p:txBody>
          <a:bodyPr>
            <a:normAutofit/>
          </a:bodyPr>
          <a:lstStyle/>
          <a:p>
            <a:pPr marL="0" indent="0" eaLnBrk="1" hangingPunct="1">
              <a:buNone/>
            </a:pPr>
            <a:r>
              <a:rPr lang="en-US" altLang="en-US" sz="4400" b="1" dirty="0">
                <a:solidFill>
                  <a:schemeClr val="tx1"/>
                </a:solidFill>
              </a:rPr>
              <a:t>Why?</a:t>
            </a:r>
          </a:p>
        </p:txBody>
      </p:sp>
    </p:spTree>
    <p:extLst>
      <p:ext uri="{BB962C8B-B14F-4D97-AF65-F5344CB8AC3E}">
        <p14:creationId xmlns:p14="http://schemas.microsoft.com/office/powerpoint/2010/main" val="27330760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>
          <a:xfrm>
            <a:off x="940562" y="757603"/>
            <a:ext cx="6957265" cy="634227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dirty="0"/>
              <a:t>Java Generics simple intro</a:t>
            </a:r>
          </a:p>
        </p:txBody>
      </p:sp>
      <p:sp>
        <p:nvSpPr>
          <p:cNvPr id="5123" name="Content Placeholder 2"/>
          <p:cNvSpPr>
            <a:spLocks noGrp="1"/>
          </p:cNvSpPr>
          <p:nvPr>
            <p:ph idx="1"/>
          </p:nvPr>
        </p:nvSpPr>
        <p:spPr>
          <a:xfrm>
            <a:off x="2486674" y="2361170"/>
            <a:ext cx="6269440" cy="2331146"/>
          </a:xfrm>
        </p:spPr>
        <p:txBody>
          <a:bodyPr>
            <a:normAutofit fontScale="85000" lnSpcReduction="20000"/>
          </a:bodyPr>
          <a:lstStyle/>
          <a:p>
            <a:pPr marL="0" indent="0" algn="ctr" eaLnBrk="1" hangingPunct="1">
              <a:buNone/>
            </a:pPr>
            <a:r>
              <a:rPr lang="en-US" altLang="en-US" sz="4400" b="1" dirty="0">
                <a:solidFill>
                  <a:srgbClr val="FF0000"/>
                </a:solidFill>
              </a:rPr>
              <a:t>Type error will come up at runtime! </a:t>
            </a:r>
            <a:r>
              <a:rPr lang="en-US" altLang="en-US" sz="4400" b="1" dirty="0">
                <a:solidFill>
                  <a:srgbClr val="FF0000"/>
                </a:solidFill>
                <a:sym typeface="Wingdings" panose="05000000000000000000" pitchFamily="2" charset="2"/>
              </a:rPr>
              <a:t></a:t>
            </a:r>
          </a:p>
          <a:p>
            <a:pPr marL="0" indent="0" algn="ctr" eaLnBrk="1" hangingPunct="1">
              <a:buNone/>
            </a:pPr>
            <a:endParaRPr lang="en-US" altLang="en-US" sz="4400" b="1" dirty="0">
              <a:solidFill>
                <a:srgbClr val="FF0000"/>
              </a:solidFill>
            </a:endParaRPr>
          </a:p>
          <a:p>
            <a:pPr marL="0" indent="0" algn="ctr" eaLnBrk="1" hangingPunct="1">
              <a:buNone/>
            </a:pPr>
            <a:r>
              <a:rPr lang="en-US" altLang="en-US" sz="4400" b="1" dirty="0">
                <a:solidFill>
                  <a:srgbClr val="FF0000"/>
                </a:solidFill>
              </a:rPr>
              <a:t>Which is a problem, how to minimize type errors?</a:t>
            </a:r>
          </a:p>
        </p:txBody>
      </p:sp>
    </p:spTree>
    <p:extLst>
      <p:ext uri="{BB962C8B-B14F-4D97-AF65-F5344CB8AC3E}">
        <p14:creationId xmlns:p14="http://schemas.microsoft.com/office/powerpoint/2010/main" val="12925837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8636" y="1509315"/>
            <a:ext cx="5998185" cy="3891745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5122" name="Title 1"/>
          <p:cNvSpPr>
            <a:spLocks noGrp="1"/>
          </p:cNvSpPr>
          <p:nvPr>
            <p:ph type="title"/>
          </p:nvPr>
        </p:nvSpPr>
        <p:spPr>
          <a:xfrm>
            <a:off x="940562" y="757603"/>
            <a:ext cx="6957265" cy="634227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dirty="0"/>
              <a:t>Java Generics simple intro</a:t>
            </a:r>
          </a:p>
        </p:txBody>
      </p:sp>
      <p:sp>
        <p:nvSpPr>
          <p:cNvPr id="5123" name="Content Placeholder 2"/>
          <p:cNvSpPr>
            <a:spLocks noGrp="1"/>
          </p:cNvSpPr>
          <p:nvPr>
            <p:ph idx="1"/>
          </p:nvPr>
        </p:nvSpPr>
        <p:spPr>
          <a:xfrm>
            <a:off x="940562" y="1466682"/>
            <a:ext cx="10388288" cy="5184971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US" altLang="en-US" sz="2000" dirty="0">
                <a:solidFill>
                  <a:schemeClr val="tx1"/>
                </a:solidFill>
              </a:rPr>
              <a:t>Simple example: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6985" y="5618131"/>
            <a:ext cx="3418204" cy="8164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566087" y="1595020"/>
            <a:ext cx="26853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Nothing special, </a:t>
            </a:r>
          </a:p>
          <a:p>
            <a:r>
              <a:rPr lang="en-US" b="1" dirty="0">
                <a:solidFill>
                  <a:srgbClr val="FF0000"/>
                </a:solidFill>
              </a:rPr>
              <a:t>but could it be better?!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7192" y="1902515"/>
            <a:ext cx="3342002" cy="4686423"/>
          </a:xfrm>
          <a:prstGeom prst="rect">
            <a:avLst/>
          </a:prstGeom>
        </p:spPr>
      </p:pic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75F89262-EC5F-B198-F571-525D5CE002CC}"/>
              </a:ext>
            </a:extLst>
          </p:cNvPr>
          <p:cNvSpPr txBox="1">
            <a:spLocks/>
          </p:cNvSpPr>
          <p:nvPr/>
        </p:nvSpPr>
        <p:spPr>
          <a:xfrm>
            <a:off x="1479882" y="27491"/>
            <a:ext cx="6020822" cy="329884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en-US" dirty="0">
                <a:solidFill>
                  <a:srgbClr val="C00000"/>
                </a:solidFill>
              </a:rPr>
              <a:t>“CSEN160_05_Lecture_DataStructursAndGenerics.B_RocketExample”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07CDC8D-AF0C-27DC-791B-046F2AA1570F}"/>
              </a:ext>
            </a:extLst>
          </p:cNvPr>
          <p:cNvSpPr/>
          <p:nvPr/>
        </p:nvSpPr>
        <p:spPr>
          <a:xfrm>
            <a:off x="6962274" y="4265563"/>
            <a:ext cx="477252" cy="40428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7661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>
          <a:xfrm>
            <a:off x="940562" y="757603"/>
            <a:ext cx="6957265" cy="634227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dirty="0"/>
              <a:t>Java Generics simple intro</a:t>
            </a:r>
          </a:p>
        </p:txBody>
      </p:sp>
      <p:sp>
        <p:nvSpPr>
          <p:cNvPr id="5123" name="Content Placeholder 2"/>
          <p:cNvSpPr>
            <a:spLocks noGrp="1"/>
          </p:cNvSpPr>
          <p:nvPr>
            <p:ph idx="1"/>
          </p:nvPr>
        </p:nvSpPr>
        <p:spPr>
          <a:xfrm>
            <a:off x="940562" y="1466682"/>
            <a:ext cx="10388288" cy="5184971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US" altLang="en-US" sz="2000" dirty="0">
                <a:solidFill>
                  <a:schemeClr val="tx1"/>
                </a:solidFill>
              </a:rPr>
              <a:t>Simple Generic example: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7430" y="5806424"/>
            <a:ext cx="3418204" cy="81645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894" y="1950602"/>
            <a:ext cx="2939220" cy="461566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4291" y="1817380"/>
            <a:ext cx="6673117" cy="395161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180170" y="1921858"/>
            <a:ext cx="323681" cy="218485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2980566" y="2855139"/>
            <a:ext cx="323681" cy="218485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851727" y="3574704"/>
            <a:ext cx="323681" cy="218485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2980565" y="4303614"/>
            <a:ext cx="323681" cy="218485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6852605" y="2171362"/>
            <a:ext cx="563745" cy="218485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6852605" y="2355456"/>
            <a:ext cx="563745" cy="218485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5553833" y="3465461"/>
            <a:ext cx="1644032" cy="218485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8441340" y="3465461"/>
            <a:ext cx="3093855" cy="218485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5553833" y="4003537"/>
            <a:ext cx="1644032" cy="218485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8472359" y="4016031"/>
            <a:ext cx="3093855" cy="218485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9057128" y="4619907"/>
            <a:ext cx="296106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00B050"/>
                </a:solidFill>
              </a:rPr>
              <a:t>No typecasting needed anymore </a:t>
            </a:r>
            <a:r>
              <a:rPr lang="en-US" sz="1400" dirty="0">
                <a:solidFill>
                  <a:srgbClr val="00B050"/>
                </a:solidFill>
                <a:sym typeface="Wingdings" panose="05000000000000000000" pitchFamily="2" charset="2"/>
              </a:rPr>
              <a:t></a:t>
            </a:r>
            <a:endParaRPr lang="en-US" sz="1400" dirty="0">
              <a:solidFill>
                <a:srgbClr val="00B05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0151458" y="5118212"/>
            <a:ext cx="643317" cy="24276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Elbow Connector 10"/>
          <p:cNvCxnSpPr>
            <a:stCxn id="6" idx="2"/>
          </p:cNvCxnSpPr>
          <p:nvPr/>
        </p:nvCxnSpPr>
        <p:spPr>
          <a:xfrm rot="5400000">
            <a:off x="8260957" y="4148179"/>
            <a:ext cx="999367" cy="342495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69D99F5-DD44-B249-5BC3-FDA752A87227}"/>
              </a:ext>
            </a:extLst>
          </p:cNvPr>
          <p:cNvSpPr txBox="1">
            <a:spLocks/>
          </p:cNvSpPr>
          <p:nvPr/>
        </p:nvSpPr>
        <p:spPr>
          <a:xfrm>
            <a:off x="1479882" y="27491"/>
            <a:ext cx="6020822" cy="329884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en-US" dirty="0">
                <a:solidFill>
                  <a:srgbClr val="C00000"/>
                </a:solidFill>
              </a:rPr>
              <a:t>“CSEN160_05_Lecture_DataStructursAndGenerics.B_RocketExample”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B81BBA2-B9C0-03BE-4A20-D8E44D234DB0}"/>
              </a:ext>
            </a:extLst>
          </p:cNvPr>
          <p:cNvSpPr/>
          <p:nvPr/>
        </p:nvSpPr>
        <p:spPr>
          <a:xfrm>
            <a:off x="6368716" y="4587043"/>
            <a:ext cx="84221" cy="404282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78343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>
          <a:xfrm>
            <a:off x="940562" y="757603"/>
            <a:ext cx="6957265" cy="634227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dirty="0"/>
              <a:t>Java Generics simple intro</a:t>
            </a:r>
          </a:p>
        </p:txBody>
      </p:sp>
      <p:sp>
        <p:nvSpPr>
          <p:cNvPr id="5123" name="Content Placeholder 2"/>
          <p:cNvSpPr>
            <a:spLocks noGrp="1"/>
          </p:cNvSpPr>
          <p:nvPr>
            <p:ph idx="1"/>
          </p:nvPr>
        </p:nvSpPr>
        <p:spPr>
          <a:xfrm>
            <a:off x="940562" y="1466682"/>
            <a:ext cx="10388288" cy="5184971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US" altLang="en-US" sz="2000" dirty="0">
                <a:solidFill>
                  <a:schemeClr val="tx1"/>
                </a:solidFill>
              </a:rPr>
              <a:t>Generics are used for </a:t>
            </a:r>
            <a:br>
              <a:rPr lang="en-US" altLang="en-US" sz="2000" dirty="0">
                <a:solidFill>
                  <a:schemeClr val="tx1"/>
                </a:solidFill>
              </a:rPr>
            </a:br>
            <a:r>
              <a:rPr lang="en-US" altLang="en-US" sz="2000" dirty="0">
                <a:solidFill>
                  <a:schemeClr val="tx1"/>
                </a:solidFill>
              </a:rPr>
              <a:t>collection data types: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0798" y="1502765"/>
            <a:ext cx="5630631" cy="5112803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069659" y="1895917"/>
            <a:ext cx="837528" cy="218485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8119895" y="1895917"/>
            <a:ext cx="837528" cy="218485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5069659" y="3525078"/>
            <a:ext cx="748514" cy="218485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8297033" y="3525078"/>
            <a:ext cx="748514" cy="218485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5069659" y="4935754"/>
            <a:ext cx="748514" cy="218485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8031344" y="4921041"/>
            <a:ext cx="186117" cy="218485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9001928" y="4860330"/>
            <a:ext cx="25827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Diamond writing style</a:t>
            </a:r>
          </a:p>
        </p:txBody>
      </p:sp>
      <p:cxnSp>
        <p:nvCxnSpPr>
          <p:cNvPr id="5" name="Straight Arrow Connector 4"/>
          <p:cNvCxnSpPr/>
          <p:nvPr/>
        </p:nvCxnSpPr>
        <p:spPr>
          <a:xfrm flipH="1">
            <a:off x="8468315" y="5030283"/>
            <a:ext cx="441017" cy="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1B5CE16-33BF-CE80-DEBC-E179623CF8FA}"/>
              </a:ext>
            </a:extLst>
          </p:cNvPr>
          <p:cNvSpPr txBox="1">
            <a:spLocks/>
          </p:cNvSpPr>
          <p:nvPr/>
        </p:nvSpPr>
        <p:spPr>
          <a:xfrm>
            <a:off x="1479882" y="27491"/>
            <a:ext cx="6020822" cy="329884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en-US" dirty="0">
                <a:solidFill>
                  <a:srgbClr val="C00000"/>
                </a:solidFill>
              </a:rPr>
              <a:t>“CSEN160_05_Lecture_DataStructursAndGenerics.B_RocketExample”</a:t>
            </a:r>
          </a:p>
        </p:txBody>
      </p:sp>
    </p:spTree>
    <p:extLst>
      <p:ext uri="{BB962C8B-B14F-4D97-AF65-F5344CB8AC3E}">
        <p14:creationId xmlns:p14="http://schemas.microsoft.com/office/powerpoint/2010/main" val="31173943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Generics Methods</a:t>
            </a:r>
          </a:p>
        </p:txBody>
      </p:sp>
    </p:spTree>
    <p:extLst>
      <p:ext uri="{BB962C8B-B14F-4D97-AF65-F5344CB8AC3E}">
        <p14:creationId xmlns:p14="http://schemas.microsoft.com/office/powerpoint/2010/main" val="15512934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>
          <a:xfrm>
            <a:off x="936516" y="741420"/>
            <a:ext cx="4926164" cy="751562"/>
          </a:xfrm>
        </p:spPr>
        <p:txBody>
          <a:bodyPr/>
          <a:lstStyle/>
          <a:p>
            <a:pPr eaLnBrk="1" hangingPunct="1"/>
            <a:r>
              <a:rPr lang="en-US" altLang="en-US" dirty="0"/>
              <a:t>Using Generic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680641"/>
            <a:ext cx="10388288" cy="4962919"/>
          </a:xfrm>
        </p:spPr>
        <p:txBody>
          <a:bodyPr rtlCol="0">
            <a:normAutofit/>
          </a:bodyPr>
          <a:lstStyle/>
          <a:p>
            <a:pPr marL="320040" indent="-320040">
              <a:defRPr/>
            </a:pPr>
            <a:r>
              <a:rPr lang="en-US" dirty="0">
                <a:solidFill>
                  <a:schemeClr val="tx1"/>
                </a:solidFill>
              </a:rPr>
              <a:t>&lt;T&gt; is read, “of T”</a:t>
            </a:r>
          </a:p>
          <a:p>
            <a:pPr marL="728663" lvl="1" indent="-274320">
              <a:defRPr/>
            </a:pPr>
            <a:r>
              <a:rPr lang="en-US" dirty="0">
                <a:solidFill>
                  <a:schemeClr val="tx1"/>
                </a:solidFill>
              </a:rPr>
              <a:t>For example: </a:t>
            </a:r>
            <a:r>
              <a:rPr lang="en-US" b="1" dirty="0">
                <a:solidFill>
                  <a:schemeClr val="tx1"/>
                </a:solidFill>
                <a:latin typeface="Courier New" charset="0"/>
                <a:cs typeface="Courier New" charset="0"/>
                <a:sym typeface="Courier New" charset="0"/>
              </a:rPr>
              <a:t>Stack&lt;Integer&gt;</a:t>
            </a:r>
            <a:r>
              <a:rPr lang="en-US" dirty="0">
                <a:solidFill>
                  <a:schemeClr val="tx1"/>
                </a:solidFill>
              </a:rPr>
              <a:t> 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is read, “</a:t>
            </a:r>
            <a:r>
              <a:rPr lang="en-US" b="1" dirty="0">
                <a:solidFill>
                  <a:schemeClr val="tx1"/>
                </a:solidFill>
              </a:rPr>
              <a:t>Stack of Integer</a:t>
            </a:r>
            <a:r>
              <a:rPr lang="en-US" dirty="0">
                <a:solidFill>
                  <a:schemeClr val="tx1"/>
                </a:solidFill>
              </a:rPr>
              <a:t>”</a:t>
            </a:r>
          </a:p>
          <a:p>
            <a:pPr marL="320040" indent="-320040">
              <a:buFont typeface="Wingdings"/>
              <a:buChar char=""/>
              <a:defRPr/>
            </a:pPr>
            <a:endParaRPr lang="en-US" dirty="0">
              <a:solidFill>
                <a:schemeClr val="tx1"/>
              </a:solidFill>
            </a:endParaRPr>
          </a:p>
          <a:p>
            <a:pPr marL="320040" indent="-320040">
              <a:defRPr/>
            </a:pPr>
            <a:r>
              <a:rPr lang="en-US" dirty="0">
                <a:solidFill>
                  <a:schemeClr val="tx1"/>
                </a:solidFill>
              </a:rPr>
              <a:t>Type &lt;T&gt; informs the compiler, that all parts 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involved should be automatically cast to T</a:t>
            </a:r>
          </a:p>
          <a:p>
            <a:pPr marL="320040" indent="-320040">
              <a:defRPr/>
            </a:pPr>
            <a:endParaRPr lang="en-US" dirty="0">
              <a:solidFill>
                <a:schemeClr val="tx1"/>
              </a:solidFill>
            </a:endParaRPr>
          </a:p>
          <a:p>
            <a:pPr marL="320040" indent="-320040">
              <a:defRPr/>
            </a:pPr>
            <a:r>
              <a:rPr lang="en-US" dirty="0">
                <a:solidFill>
                  <a:schemeClr val="tx1"/>
                </a:solidFill>
              </a:rPr>
              <a:t>E - Element (</a:t>
            </a:r>
            <a:r>
              <a:rPr lang="en-US" dirty="0" err="1">
                <a:solidFill>
                  <a:schemeClr val="tx1"/>
                </a:solidFill>
              </a:rPr>
              <a:t>ArrayList</a:t>
            </a:r>
            <a:r>
              <a:rPr lang="en-US" dirty="0">
                <a:solidFill>
                  <a:schemeClr val="tx1"/>
                </a:solidFill>
              </a:rPr>
              <a:t>, Set etc.)</a:t>
            </a:r>
          </a:p>
          <a:p>
            <a:pPr marL="320040" indent="-320040">
              <a:defRPr/>
            </a:pPr>
            <a:endParaRPr lang="en-US" dirty="0">
              <a:solidFill>
                <a:schemeClr val="tx1"/>
              </a:solidFill>
            </a:endParaRPr>
          </a:p>
          <a:p>
            <a:pPr marL="320040" indent="-320040">
              <a:defRPr/>
            </a:pPr>
            <a:r>
              <a:rPr lang="en-US" dirty="0">
                <a:solidFill>
                  <a:schemeClr val="tx1"/>
                </a:solidFill>
              </a:rPr>
              <a:t>K - Key (Used in Map)</a:t>
            </a:r>
          </a:p>
        </p:txBody>
      </p:sp>
      <p:sp>
        <p:nvSpPr>
          <p:cNvPr id="2" name="Content Placeholder 2"/>
          <p:cNvSpPr txBox="1">
            <a:spLocks/>
          </p:cNvSpPr>
          <p:nvPr/>
        </p:nvSpPr>
        <p:spPr>
          <a:xfrm>
            <a:off x="6679591" y="1680641"/>
            <a:ext cx="4270270" cy="37228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4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20040" marR="0" lvl="0" indent="-32004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T – Type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4020202020204" pitchFamily="34" charset="0"/>
              <a:ea typeface="+mn-ea"/>
            </a:endParaRPr>
          </a:p>
          <a:p>
            <a:pPr marL="320040" marR="0" lvl="0" indent="-32004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N – Number</a:t>
            </a:r>
          </a:p>
          <a:p>
            <a:pPr marL="320040" marR="0" lvl="0" indent="-32004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4020202020204" pitchFamily="34" charset="0"/>
              <a:ea typeface="+mn-ea"/>
            </a:endParaRPr>
          </a:p>
          <a:p>
            <a:pPr marL="320040" marR="0" lvl="0" indent="-32004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V - Value (Used in Map)</a:t>
            </a:r>
          </a:p>
          <a:p>
            <a:pPr marL="320040" marR="0" lvl="0" indent="-32004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4020202020204" pitchFamily="34" charset="0"/>
              <a:ea typeface="+mn-ea"/>
            </a:endParaRPr>
          </a:p>
          <a:p>
            <a:pPr marL="320040" marR="0" lvl="0" indent="-32004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S,U,V etc. - 2nd, 3rd, 4th types</a:t>
            </a:r>
          </a:p>
        </p:txBody>
      </p:sp>
    </p:spTree>
    <p:extLst>
      <p:ext uri="{BB962C8B-B14F-4D97-AF65-F5344CB8AC3E}">
        <p14:creationId xmlns:p14="http://schemas.microsoft.com/office/powerpoint/2010/main" val="11589350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>
          <a:xfrm>
            <a:off x="916286" y="757603"/>
            <a:ext cx="4125052" cy="605905"/>
          </a:xfrm>
        </p:spPr>
        <p:txBody>
          <a:bodyPr/>
          <a:lstStyle/>
          <a:p>
            <a:pPr eaLnBrk="1" hangingPunct="1"/>
            <a:r>
              <a:rPr lang="en-US" altLang="en-US" dirty="0"/>
              <a:t>Generic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6285" y="1441732"/>
            <a:ext cx="10667463" cy="5197783"/>
          </a:xfrm>
        </p:spPr>
        <p:txBody>
          <a:bodyPr rtlCol="0">
            <a:normAutofit/>
          </a:bodyPr>
          <a:lstStyle/>
          <a:p>
            <a:pPr marL="0" indent="0">
              <a:buNone/>
              <a:defRPr/>
            </a:pPr>
            <a:endParaRPr lang="en-US" dirty="0"/>
          </a:p>
          <a:p>
            <a:pPr marL="0" indent="0">
              <a:buNone/>
              <a:defRPr/>
            </a:pPr>
            <a:r>
              <a:rPr lang="en-US" b="1" dirty="0">
                <a:solidFill>
                  <a:schemeClr val="tx1"/>
                </a:solidFill>
              </a:rPr>
              <a:t>Rules:</a:t>
            </a:r>
          </a:p>
          <a:p>
            <a:pPr marL="0" indent="0">
              <a:buNone/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It has a type parameter section delimited by angle brackets (&lt; and &gt;), 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that precedes the method's </a:t>
            </a:r>
            <a:r>
              <a:rPr lang="en-US" b="1" dirty="0">
                <a:solidFill>
                  <a:schemeClr val="tx1"/>
                </a:solidFill>
              </a:rPr>
              <a:t>return type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Each type parameter (can) contains one or more type parameters. </a:t>
            </a: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A </a:t>
            </a:r>
            <a:r>
              <a:rPr lang="en-US" b="1" dirty="0">
                <a:solidFill>
                  <a:schemeClr val="tx1"/>
                </a:solidFill>
              </a:rPr>
              <a:t>type parameter </a:t>
            </a:r>
            <a:r>
              <a:rPr lang="en-US" dirty="0">
                <a:solidFill>
                  <a:schemeClr val="tx1"/>
                </a:solidFill>
              </a:rPr>
              <a:t>is an identifier that specifies a </a:t>
            </a:r>
            <a:r>
              <a:rPr lang="en-US" b="1" dirty="0">
                <a:solidFill>
                  <a:schemeClr val="tx1"/>
                </a:solidFill>
              </a:rPr>
              <a:t>generic type name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93749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>
          <a:xfrm>
            <a:off x="916286" y="757603"/>
            <a:ext cx="4125052" cy="605905"/>
          </a:xfrm>
        </p:spPr>
        <p:txBody>
          <a:bodyPr/>
          <a:lstStyle/>
          <a:p>
            <a:pPr eaLnBrk="1" hangingPunct="1"/>
            <a:r>
              <a:rPr lang="en-US" altLang="en-US" dirty="0"/>
              <a:t>Generic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6286" y="1441732"/>
            <a:ext cx="10428748" cy="5197783"/>
          </a:xfrm>
        </p:spPr>
        <p:txBody>
          <a:bodyPr rtlCol="0">
            <a:normAutofit lnSpcReduction="10000"/>
          </a:bodyPr>
          <a:lstStyle/>
          <a:p>
            <a:pPr>
              <a:defRPr/>
            </a:pPr>
            <a:endParaRPr lang="en-US" b="1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b="1" dirty="0">
                <a:solidFill>
                  <a:schemeClr val="tx1"/>
                </a:solidFill>
              </a:rPr>
              <a:t>Type parameters </a:t>
            </a:r>
            <a:r>
              <a:rPr lang="en-US" dirty="0">
                <a:solidFill>
                  <a:schemeClr val="tx1"/>
                </a:solidFill>
              </a:rPr>
              <a:t>can be used as </a:t>
            </a:r>
            <a:r>
              <a:rPr lang="en-US" b="1" dirty="0">
                <a:solidFill>
                  <a:schemeClr val="tx1"/>
                </a:solidFill>
              </a:rPr>
              <a:t>return type </a:t>
            </a:r>
            <a:br>
              <a:rPr lang="en-US" dirty="0">
                <a:solidFill>
                  <a:schemeClr val="tx1"/>
                </a:solidFill>
              </a:rPr>
            </a:b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A generic method's body is declared. </a:t>
            </a:r>
          </a:p>
          <a:p>
            <a:pPr marL="0" indent="0">
              <a:buNone/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Type parameters can represent only </a:t>
            </a:r>
            <a:r>
              <a:rPr lang="en-US" dirty="0">
                <a:solidFill>
                  <a:srgbClr val="FF0000"/>
                </a:solidFill>
              </a:rPr>
              <a:t>reference types:</a:t>
            </a:r>
          </a:p>
          <a:p>
            <a:pPr lvl="1">
              <a:defRPr/>
            </a:pPr>
            <a:r>
              <a:rPr lang="en-US" dirty="0">
                <a:solidFill>
                  <a:srgbClr val="FF0000"/>
                </a:solidFill>
              </a:rPr>
              <a:t>String</a:t>
            </a:r>
          </a:p>
          <a:p>
            <a:pPr lvl="1">
              <a:defRPr/>
            </a:pPr>
            <a:r>
              <a:rPr lang="en-US" dirty="0">
                <a:solidFill>
                  <a:srgbClr val="FF0000"/>
                </a:solidFill>
              </a:rPr>
              <a:t>Box</a:t>
            </a:r>
          </a:p>
          <a:p>
            <a:pPr lvl="1">
              <a:defRPr/>
            </a:pPr>
            <a:r>
              <a:rPr lang="en-US" dirty="0">
                <a:solidFill>
                  <a:srgbClr val="FF0000"/>
                </a:solidFill>
              </a:rPr>
              <a:t>Integer</a:t>
            </a:r>
          </a:p>
          <a:p>
            <a:pPr lvl="1">
              <a:defRPr/>
            </a:pPr>
            <a:r>
              <a:rPr lang="en-US" dirty="0">
                <a:solidFill>
                  <a:srgbClr val="FF0000"/>
                </a:solidFill>
              </a:rPr>
              <a:t>…</a:t>
            </a:r>
            <a:br>
              <a:rPr lang="en-US" dirty="0">
                <a:solidFill>
                  <a:srgbClr val="FF0000"/>
                </a:solidFill>
              </a:rPr>
            </a:br>
            <a:endParaRPr lang="en-US" dirty="0">
              <a:solidFill>
                <a:srgbClr val="FF0000"/>
              </a:solidFill>
            </a:endParaRPr>
          </a:p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Not </a:t>
            </a:r>
            <a:r>
              <a:rPr lang="en-US" dirty="0">
                <a:solidFill>
                  <a:srgbClr val="FF0000"/>
                </a:solidFill>
              </a:rPr>
              <a:t>primitive types:</a:t>
            </a:r>
          </a:p>
          <a:p>
            <a:pPr lvl="1">
              <a:defRPr/>
            </a:pPr>
            <a:r>
              <a:rPr lang="en-US" dirty="0">
                <a:solidFill>
                  <a:srgbClr val="FF0000"/>
                </a:solidFill>
              </a:rPr>
              <a:t>int</a:t>
            </a:r>
          </a:p>
          <a:p>
            <a:pPr lvl="1">
              <a:defRPr/>
            </a:pPr>
            <a:r>
              <a:rPr lang="en-US" dirty="0">
                <a:solidFill>
                  <a:srgbClr val="FF0000"/>
                </a:solidFill>
              </a:rPr>
              <a:t>long</a:t>
            </a:r>
          </a:p>
          <a:p>
            <a:pPr lvl="1">
              <a:defRPr/>
            </a:pPr>
            <a:r>
              <a:rPr lang="en-US" dirty="0">
                <a:solidFill>
                  <a:srgbClr val="FF0000"/>
                </a:solidFill>
              </a:rPr>
              <a:t>…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37459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>
          <a:xfrm>
            <a:off x="936516" y="951813"/>
            <a:ext cx="7839296" cy="626134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dirty="0"/>
              <a:t>One of my research examples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516" y="2708740"/>
            <a:ext cx="4778954" cy="335833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7183" y="2889021"/>
            <a:ext cx="5957420" cy="3428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477494" y="1904380"/>
            <a:ext cx="52370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Before Generic (overloading):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You need to implement it, for every datatype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Wingdings" panose="05000000000000000000" pitchFamily="2" charset="2"/>
              </a:rPr>
              <a:t>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181436" y="3042605"/>
            <a:ext cx="4534033" cy="13311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181436" y="4488577"/>
            <a:ext cx="4534033" cy="157849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109487" y="2809411"/>
            <a:ext cx="5652286" cy="120828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cxnSp>
        <p:nvCxnSpPr>
          <p:cNvPr id="7" name="Straight Arrow Connector 6"/>
          <p:cNvCxnSpPr>
            <a:stCxn id="6" idx="2"/>
            <a:endCxn id="9" idx="0"/>
          </p:cNvCxnSpPr>
          <p:nvPr/>
        </p:nvCxnSpPr>
        <p:spPr>
          <a:xfrm>
            <a:off x="6096000" y="2550711"/>
            <a:ext cx="2839630" cy="2587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cxnSpLocks/>
            <a:stCxn id="6" idx="2"/>
            <a:endCxn id="2" idx="0"/>
          </p:cNvCxnSpPr>
          <p:nvPr/>
        </p:nvCxnSpPr>
        <p:spPr>
          <a:xfrm flipH="1">
            <a:off x="3448453" y="2550711"/>
            <a:ext cx="2647547" cy="49189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cxnSpLocks/>
            <a:stCxn id="6" idx="2"/>
            <a:endCxn id="8" idx="3"/>
          </p:cNvCxnSpPr>
          <p:nvPr/>
        </p:nvCxnSpPr>
        <p:spPr>
          <a:xfrm flipH="1">
            <a:off x="5715469" y="2550711"/>
            <a:ext cx="380531" cy="272711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0EB1B6-549D-FA9D-9B52-2D3BF8F32607}"/>
              </a:ext>
            </a:extLst>
          </p:cNvPr>
          <p:cNvSpPr txBox="1">
            <a:spLocks/>
          </p:cNvSpPr>
          <p:nvPr/>
        </p:nvSpPr>
        <p:spPr>
          <a:xfrm>
            <a:off x="1835799" y="14718"/>
            <a:ext cx="6181243" cy="360606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buNone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“</a:t>
            </a:r>
            <a:r>
              <a:rPr lang="en-US" dirty="0">
                <a:solidFill>
                  <a:srgbClr val="C00000"/>
                </a:solidFill>
              </a:rPr>
              <a:t>CSEN160_05_Lecture_DataStructursAndGenerics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.</a:t>
            </a:r>
            <a:r>
              <a:rPr kumimoji="0" lang="en-US" sz="2600" b="0" i="0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I_OverloadedMethods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508976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>
          <a:xfrm>
            <a:off x="936516" y="951813"/>
            <a:ext cx="6173858" cy="626134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One of my research examples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084" y="2381580"/>
            <a:ext cx="5769579" cy="414212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38959" y="1785468"/>
            <a:ext cx="5600187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With Generic: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You need to implement it only once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Wingdings" panose="05000000000000000000" pitchFamily="2" charset="2"/>
              </a:rPr>
              <a:t>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92D05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294726" y="2548991"/>
            <a:ext cx="4470849" cy="140801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cxnSp>
        <p:nvCxnSpPr>
          <p:cNvPr id="6" name="Straight Arrow Connector 5"/>
          <p:cNvCxnSpPr>
            <a:cxnSpLocks/>
            <a:stCxn id="5" idx="2"/>
          </p:cNvCxnSpPr>
          <p:nvPr/>
        </p:nvCxnSpPr>
        <p:spPr>
          <a:xfrm flipH="1">
            <a:off x="5765575" y="2524132"/>
            <a:ext cx="3273478" cy="6128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D3950AD-6EFB-3A43-D4F4-3139B4E00DC7}"/>
              </a:ext>
            </a:extLst>
          </p:cNvPr>
          <p:cNvSpPr txBox="1">
            <a:spLocks/>
          </p:cNvSpPr>
          <p:nvPr/>
        </p:nvSpPr>
        <p:spPr>
          <a:xfrm>
            <a:off x="1104466" y="24886"/>
            <a:ext cx="6816117" cy="350074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buNone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“</a:t>
            </a:r>
            <a:r>
              <a:rPr lang="en-US" dirty="0">
                <a:solidFill>
                  <a:srgbClr val="C00000"/>
                </a:solidFill>
              </a:rPr>
              <a:t>CSEN160_05_Lecture_DataStructursAndGenerics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.</a:t>
            </a:r>
            <a:r>
              <a:rPr lang="en-US" dirty="0">
                <a:solidFill>
                  <a:srgbClr val="FF0000"/>
                </a:solidFill>
              </a:rPr>
              <a:t>J</a:t>
            </a:r>
            <a:r>
              <a:rPr kumimoji="0" lang="en-US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_</a:t>
            </a:r>
            <a:r>
              <a:rPr kumimoji="0" lang="en-US" altLang="en-US" sz="26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ArrayWithGenerics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278766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9541" y="1763470"/>
            <a:ext cx="5296039" cy="484427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653" y="3142127"/>
            <a:ext cx="27366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Only one implementation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But multiple use cases</a:t>
            </a:r>
          </a:p>
        </p:txBody>
      </p:sp>
      <p:cxnSp>
        <p:nvCxnSpPr>
          <p:cNvPr id="6" name="Straight Arrow Connector 5"/>
          <p:cNvCxnSpPr>
            <a:stCxn id="4" idx="3"/>
          </p:cNvCxnSpPr>
          <p:nvPr/>
        </p:nvCxnSpPr>
        <p:spPr>
          <a:xfrm flipV="1">
            <a:off x="4291300" y="2274378"/>
            <a:ext cx="1518781" cy="11909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>
            <a:stCxn id="4" idx="3"/>
          </p:cNvCxnSpPr>
          <p:nvPr/>
        </p:nvCxnSpPr>
        <p:spPr>
          <a:xfrm>
            <a:off x="4291300" y="3465293"/>
            <a:ext cx="1835926" cy="15396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7609" y="4376163"/>
            <a:ext cx="2569096" cy="2073783"/>
          </a:xfrm>
          <a:prstGeom prst="rect">
            <a:avLst/>
          </a:prstGeom>
        </p:spPr>
      </p:pic>
      <p:cxnSp>
        <p:nvCxnSpPr>
          <p:cNvPr id="14" name="Straight Arrow Connector 13"/>
          <p:cNvCxnSpPr>
            <a:stCxn id="4" idx="3"/>
          </p:cNvCxnSpPr>
          <p:nvPr/>
        </p:nvCxnSpPr>
        <p:spPr>
          <a:xfrm>
            <a:off x="4291300" y="3465293"/>
            <a:ext cx="1882923" cy="20979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4" idx="3"/>
          </p:cNvCxnSpPr>
          <p:nvPr/>
        </p:nvCxnSpPr>
        <p:spPr>
          <a:xfrm>
            <a:off x="4291300" y="3465293"/>
            <a:ext cx="1882923" cy="26856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2DE3088-D1BC-3730-701E-C1F21C7E4008}"/>
              </a:ext>
            </a:extLst>
          </p:cNvPr>
          <p:cNvSpPr txBox="1">
            <a:spLocks/>
          </p:cNvSpPr>
          <p:nvPr/>
        </p:nvSpPr>
        <p:spPr>
          <a:xfrm>
            <a:off x="1827609" y="11072"/>
            <a:ext cx="6418033" cy="357896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buNone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“</a:t>
            </a:r>
            <a:r>
              <a:rPr lang="en-US" dirty="0">
                <a:solidFill>
                  <a:srgbClr val="C00000"/>
                </a:solidFill>
              </a:rPr>
              <a:t>CSEN160_05_Lecture_DataStructursAndGenerics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.</a:t>
            </a:r>
            <a:r>
              <a:rPr kumimoji="0" lang="en-US" sz="2600" b="0" i="0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K_GenericMethodTest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”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C5CB3B90-97B2-1487-9A17-41685BCB48C5}"/>
              </a:ext>
            </a:extLst>
          </p:cNvPr>
          <p:cNvSpPr txBox="1">
            <a:spLocks/>
          </p:cNvSpPr>
          <p:nvPr/>
        </p:nvSpPr>
        <p:spPr>
          <a:xfrm>
            <a:off x="936516" y="951813"/>
            <a:ext cx="6173858" cy="6261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altLang="en-US"/>
              <a:t>One of my research examples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8085385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Nested Generics</a:t>
            </a:r>
          </a:p>
        </p:txBody>
      </p:sp>
    </p:spTree>
    <p:extLst>
      <p:ext uri="{BB962C8B-B14F-4D97-AF65-F5344CB8AC3E}">
        <p14:creationId xmlns:p14="http://schemas.microsoft.com/office/powerpoint/2010/main" val="16892589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>
          <a:xfrm>
            <a:off x="916286" y="757603"/>
            <a:ext cx="4125052" cy="605905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dirty="0"/>
              <a:t>Nested generics</a:t>
            </a:r>
          </a:p>
        </p:txBody>
      </p:sp>
      <p:pic>
        <p:nvPicPr>
          <p:cNvPr id="2" name="Content Placeholder 1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12237" y="1651000"/>
            <a:ext cx="2922891" cy="4713638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7774" y="2472812"/>
            <a:ext cx="7062390" cy="172793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7193" y="4936900"/>
            <a:ext cx="3342002" cy="892652"/>
          </a:xfrm>
          <a:prstGeom prst="rect">
            <a:avLst/>
          </a:prstGeom>
        </p:spPr>
      </p:pic>
      <p:cxnSp>
        <p:nvCxnSpPr>
          <p:cNvPr id="7" name="Straight Arrow Connector 6"/>
          <p:cNvCxnSpPr>
            <a:endCxn id="5" idx="0"/>
          </p:cNvCxnSpPr>
          <p:nvPr/>
        </p:nvCxnSpPr>
        <p:spPr>
          <a:xfrm flipH="1">
            <a:off x="7168194" y="3689968"/>
            <a:ext cx="1004762" cy="12469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574779" y="1736662"/>
            <a:ext cx="5190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 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GenericRocket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has a 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GenericRocket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inside!</a:t>
            </a:r>
          </a:p>
        </p:txBody>
      </p:sp>
      <p:sp>
        <p:nvSpPr>
          <p:cNvPr id="3" name="Rectangle 2"/>
          <p:cNvSpPr/>
          <p:nvPr/>
        </p:nvSpPr>
        <p:spPr>
          <a:xfrm>
            <a:off x="7610559" y="3503851"/>
            <a:ext cx="748514" cy="18611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3155C88-AB86-3337-BB86-ACF021A8BC4C}"/>
              </a:ext>
            </a:extLst>
          </p:cNvPr>
          <p:cNvSpPr txBox="1">
            <a:spLocks/>
          </p:cNvSpPr>
          <p:nvPr/>
        </p:nvSpPr>
        <p:spPr>
          <a:xfrm>
            <a:off x="1307501" y="26893"/>
            <a:ext cx="6500546" cy="335455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buNone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“</a:t>
            </a:r>
            <a:r>
              <a:rPr lang="en-US" dirty="0">
                <a:solidFill>
                  <a:srgbClr val="C00000"/>
                </a:solidFill>
              </a:rPr>
              <a:t>CSEN160_05_Lecture_DataStructursAndGenerics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.</a:t>
            </a:r>
            <a:r>
              <a:rPr kumimoji="0" lang="en-US" sz="2600" b="0" i="0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L_GenericRocket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”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1467E8F-DE50-BD7A-DB42-3E4EBCB929D9}"/>
              </a:ext>
            </a:extLst>
          </p:cNvPr>
          <p:cNvSpPr/>
          <p:nvPr/>
        </p:nvSpPr>
        <p:spPr>
          <a:xfrm>
            <a:off x="5071896" y="2757894"/>
            <a:ext cx="2427788" cy="16177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1D07A4A-6F81-20C4-AC8A-BEB9C7A78D20}"/>
              </a:ext>
            </a:extLst>
          </p:cNvPr>
          <p:cNvCxnSpPr>
            <a:stCxn id="8" idx="2"/>
            <a:endCxn id="9" idx="3"/>
          </p:cNvCxnSpPr>
          <p:nvPr/>
        </p:nvCxnSpPr>
        <p:spPr>
          <a:xfrm flipH="1">
            <a:off x="7499684" y="2105994"/>
            <a:ext cx="1670229" cy="7327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83434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Bounded Generics</a:t>
            </a:r>
          </a:p>
        </p:txBody>
      </p:sp>
    </p:spTree>
    <p:extLst>
      <p:ext uri="{BB962C8B-B14F-4D97-AF65-F5344CB8AC3E}">
        <p14:creationId xmlns:p14="http://schemas.microsoft.com/office/powerpoint/2010/main" val="40364255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>
          <a:xfrm>
            <a:off x="936516" y="737373"/>
            <a:ext cx="6067141" cy="674687"/>
          </a:xfrm>
        </p:spPr>
        <p:txBody>
          <a:bodyPr/>
          <a:lstStyle/>
          <a:p>
            <a:pPr eaLnBrk="1" hangingPunct="1"/>
            <a:r>
              <a:rPr lang="en-US" altLang="en-US" dirty="0"/>
              <a:t>Bounded Type Parameters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490479"/>
            <a:ext cx="10392334" cy="5161174"/>
          </a:xfrm>
        </p:spPr>
        <p:txBody>
          <a:bodyPr rtlCol="0">
            <a:normAutofit/>
          </a:bodyPr>
          <a:lstStyle/>
          <a:p>
            <a:pPr>
              <a:defRPr/>
            </a:pPr>
            <a:endParaRPr lang="en-US" dirty="0"/>
          </a:p>
          <a:p>
            <a:pPr marL="0" indent="0">
              <a:buNone/>
              <a:defRPr/>
            </a:pPr>
            <a:r>
              <a:rPr lang="en-US" b="1" dirty="0">
                <a:solidFill>
                  <a:schemeClr val="tx1"/>
                </a:solidFill>
              </a:rPr>
              <a:t>You want to </a:t>
            </a:r>
            <a:r>
              <a:rPr lang="en-US" b="1" dirty="0">
                <a:solidFill>
                  <a:srgbClr val="FF0000"/>
                </a:solidFill>
              </a:rPr>
              <a:t>restrict</a:t>
            </a:r>
            <a:r>
              <a:rPr lang="en-US" b="1" dirty="0">
                <a:solidFill>
                  <a:schemeClr val="tx1"/>
                </a:solidFill>
              </a:rPr>
              <a:t> types:</a:t>
            </a: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A method on </a:t>
            </a:r>
            <a:r>
              <a:rPr lang="en-US" b="1" dirty="0">
                <a:solidFill>
                  <a:schemeClr val="tx1"/>
                </a:solidFill>
              </a:rPr>
              <a:t>numbers</a:t>
            </a:r>
            <a:r>
              <a:rPr lang="en-US" dirty="0">
                <a:solidFill>
                  <a:schemeClr val="tx1"/>
                </a:solidFill>
              </a:rPr>
              <a:t> might only want to accept </a:t>
            </a:r>
            <a:r>
              <a:rPr lang="en-US" b="1" dirty="0">
                <a:solidFill>
                  <a:schemeClr val="tx1"/>
                </a:solidFill>
              </a:rPr>
              <a:t>instances of Number </a:t>
            </a:r>
            <a:r>
              <a:rPr lang="en-US" sz="1800" dirty="0">
                <a:solidFill>
                  <a:schemeClr val="tx1"/>
                </a:solidFill>
              </a:rPr>
              <a:t>(or its subclasses)</a:t>
            </a:r>
            <a:r>
              <a:rPr lang="en-US" dirty="0">
                <a:solidFill>
                  <a:schemeClr val="tx1"/>
                </a:solidFill>
              </a:rPr>
              <a:t>. </a:t>
            </a: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Declare a </a:t>
            </a:r>
            <a:r>
              <a:rPr lang="en-US" dirty="0">
                <a:solidFill>
                  <a:srgbClr val="FF0000"/>
                </a:solidFill>
              </a:rPr>
              <a:t>bounded</a:t>
            </a:r>
            <a:r>
              <a:rPr lang="en-US" dirty="0">
                <a:solidFill>
                  <a:schemeClr val="tx1"/>
                </a:solidFill>
              </a:rPr>
              <a:t> type parameter:</a:t>
            </a:r>
          </a:p>
          <a:p>
            <a:pPr lvl="1">
              <a:defRPr/>
            </a:pPr>
            <a:endParaRPr lang="en-US" dirty="0">
              <a:solidFill>
                <a:schemeClr val="tx1"/>
              </a:solidFill>
            </a:endParaRPr>
          </a:p>
          <a:p>
            <a:pPr lvl="1">
              <a:defRPr/>
            </a:pPr>
            <a:r>
              <a:rPr lang="en-US" dirty="0">
                <a:solidFill>
                  <a:schemeClr val="tx1"/>
                </a:solidFill>
              </a:rPr>
              <a:t>list the type parameter's name:</a:t>
            </a:r>
          </a:p>
          <a:p>
            <a:pPr lvl="2">
              <a:defRPr/>
            </a:pPr>
            <a:r>
              <a:rPr lang="en-US" dirty="0">
                <a:solidFill>
                  <a:schemeClr val="tx1"/>
                </a:solidFill>
              </a:rPr>
              <a:t>followed by the </a:t>
            </a:r>
            <a:r>
              <a:rPr lang="en-US" b="1" dirty="0">
                <a:solidFill>
                  <a:srgbClr val="FF0000"/>
                </a:solidFill>
              </a:rPr>
              <a:t>extends</a:t>
            </a:r>
            <a:r>
              <a:rPr lang="en-US" dirty="0">
                <a:solidFill>
                  <a:schemeClr val="tx1"/>
                </a:solidFill>
              </a:rPr>
              <a:t> keyword</a:t>
            </a:r>
          </a:p>
          <a:p>
            <a:pPr lvl="2">
              <a:defRPr/>
            </a:pPr>
            <a:r>
              <a:rPr lang="en-US" dirty="0">
                <a:solidFill>
                  <a:schemeClr val="tx1"/>
                </a:solidFill>
              </a:rPr>
              <a:t>followed by its upper bound.</a:t>
            </a:r>
          </a:p>
          <a:p>
            <a:pPr lvl="1">
              <a:defRPr/>
            </a:pPr>
            <a:endParaRPr lang="en-US" dirty="0">
              <a:solidFill>
                <a:schemeClr val="tx1"/>
              </a:solidFill>
            </a:endParaRPr>
          </a:p>
          <a:p>
            <a:pPr lvl="1">
              <a:defRPr/>
            </a:pPr>
            <a:r>
              <a:rPr lang="en-US" dirty="0">
                <a:solidFill>
                  <a:schemeClr val="tx1"/>
                </a:solidFill>
              </a:rPr>
              <a:t>“</a:t>
            </a:r>
            <a:r>
              <a:rPr lang="en-US" b="1" dirty="0"/>
              <a:t>public</a:t>
            </a:r>
            <a:r>
              <a:rPr lang="en-US" dirty="0"/>
              <a:t> </a:t>
            </a:r>
            <a:r>
              <a:rPr lang="en-US" b="1" dirty="0"/>
              <a:t>class</a:t>
            </a:r>
            <a:r>
              <a:rPr lang="en-US" dirty="0"/>
              <a:t> Sample &lt;T </a:t>
            </a:r>
            <a:r>
              <a:rPr lang="en-US" b="1" dirty="0">
                <a:solidFill>
                  <a:srgbClr val="FF0000"/>
                </a:solidFill>
              </a:rPr>
              <a:t>extends</a:t>
            </a:r>
            <a:r>
              <a:rPr lang="en-US" dirty="0"/>
              <a:t> Number&gt;” …</a:t>
            </a:r>
          </a:p>
        </p:txBody>
      </p:sp>
    </p:spTree>
    <p:extLst>
      <p:ext uri="{BB962C8B-B14F-4D97-AF65-F5344CB8AC3E}">
        <p14:creationId xmlns:p14="http://schemas.microsoft.com/office/powerpoint/2010/main" val="32471165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8880" y="1857795"/>
            <a:ext cx="4855156" cy="279770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4636" y="2000612"/>
            <a:ext cx="4778954" cy="1703659"/>
          </a:xfrm>
          <a:prstGeom prst="rect">
            <a:avLst/>
          </a:prstGeom>
        </p:spPr>
      </p:pic>
      <p:sp>
        <p:nvSpPr>
          <p:cNvPr id="24578" name="Title 1"/>
          <p:cNvSpPr>
            <a:spLocks noGrp="1"/>
          </p:cNvSpPr>
          <p:nvPr>
            <p:ph type="title"/>
          </p:nvPr>
        </p:nvSpPr>
        <p:spPr>
          <a:xfrm>
            <a:off x="936516" y="737373"/>
            <a:ext cx="6067141" cy="674687"/>
          </a:xfrm>
        </p:spPr>
        <p:txBody>
          <a:bodyPr/>
          <a:lstStyle/>
          <a:p>
            <a:pPr eaLnBrk="1" hangingPunct="1"/>
            <a:r>
              <a:rPr lang="en-US" altLang="en-US" dirty="0"/>
              <a:t>Bounded Type Parameters</a:t>
            </a:r>
          </a:p>
        </p:txBody>
      </p:sp>
      <p:sp>
        <p:nvSpPr>
          <p:cNvPr id="5" name="Down Arrow 4"/>
          <p:cNvSpPr/>
          <p:nvPr/>
        </p:nvSpPr>
        <p:spPr>
          <a:xfrm rot="3395687">
            <a:off x="5729696" y="2633610"/>
            <a:ext cx="484632" cy="212971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872673" y="1972035"/>
            <a:ext cx="1505118" cy="202301"/>
          </a:xfrm>
          <a:prstGeom prst="rect">
            <a:avLst/>
          </a:prstGeom>
          <a:noFill/>
          <a:ln w="28575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18056" y="3676681"/>
            <a:ext cx="2226187" cy="120834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7003657" y="3880131"/>
            <a:ext cx="4372685" cy="46124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70086" y="5380340"/>
            <a:ext cx="7516127" cy="1171004"/>
          </a:xfrm>
          <a:prstGeom prst="rect">
            <a:avLst/>
          </a:prstGeom>
        </p:spPr>
      </p:pic>
      <p:sp>
        <p:nvSpPr>
          <p:cNvPr id="4" name="Down Arrow 3"/>
          <p:cNvSpPr/>
          <p:nvPr/>
        </p:nvSpPr>
        <p:spPr>
          <a:xfrm>
            <a:off x="8804135" y="4456585"/>
            <a:ext cx="335819" cy="768548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C51EB3D-5FD7-D1FE-B2CD-1D52AC82AA94}"/>
              </a:ext>
            </a:extLst>
          </p:cNvPr>
          <p:cNvSpPr txBox="1">
            <a:spLocks/>
          </p:cNvSpPr>
          <p:nvPr/>
        </p:nvSpPr>
        <p:spPr>
          <a:xfrm>
            <a:off x="2000230" y="3952"/>
            <a:ext cx="5498567" cy="351498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buNone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“</a:t>
            </a:r>
            <a:r>
              <a:rPr lang="en-US" dirty="0">
                <a:solidFill>
                  <a:srgbClr val="C00000"/>
                </a:solidFill>
              </a:rPr>
              <a:t>CSEN160_05_Lecture_DataStructursAndGenerics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.</a:t>
            </a:r>
            <a:r>
              <a:rPr kumimoji="0" lang="en-US" sz="2600" b="0" i="0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M_BoundedTypes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858132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>
          <a:xfrm>
            <a:off x="936516" y="737373"/>
            <a:ext cx="6067141" cy="674687"/>
          </a:xfrm>
        </p:spPr>
        <p:txBody>
          <a:bodyPr/>
          <a:lstStyle/>
          <a:p>
            <a:pPr eaLnBrk="1" hangingPunct="1"/>
            <a:r>
              <a:rPr lang="en-US" altLang="en-US" dirty="0"/>
              <a:t>Bounded Type Parameters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227" y="2413712"/>
            <a:ext cx="10798911" cy="389174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3017" y="2472118"/>
            <a:ext cx="3663139" cy="1094043"/>
          </a:xfrm>
          <a:prstGeom prst="rect">
            <a:avLst/>
          </a:prstGeom>
        </p:spPr>
      </p:pic>
      <p:sp>
        <p:nvSpPr>
          <p:cNvPr id="5" name="Down Arrow 4"/>
          <p:cNvSpPr/>
          <p:nvPr/>
        </p:nvSpPr>
        <p:spPr>
          <a:xfrm rot="10800000">
            <a:off x="9179955" y="3870380"/>
            <a:ext cx="484632" cy="97840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310276" y="2751292"/>
            <a:ext cx="1869260" cy="202301"/>
          </a:xfrm>
          <a:prstGeom prst="rect">
            <a:avLst/>
          </a:prstGeom>
          <a:noFill/>
          <a:ln w="28575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B86E3FA-7084-95ED-2C4D-5BC2A27743F4}"/>
              </a:ext>
            </a:extLst>
          </p:cNvPr>
          <p:cNvSpPr txBox="1">
            <a:spLocks/>
          </p:cNvSpPr>
          <p:nvPr/>
        </p:nvSpPr>
        <p:spPr>
          <a:xfrm>
            <a:off x="2248883" y="12765"/>
            <a:ext cx="5498567" cy="348182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buNone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“</a:t>
            </a:r>
            <a:r>
              <a:rPr lang="en-US" dirty="0">
                <a:solidFill>
                  <a:srgbClr val="C00000"/>
                </a:solidFill>
              </a:rPr>
              <a:t>CSEN160_05_Lecture_DataStructursAndGenerics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.</a:t>
            </a:r>
            <a:r>
              <a:rPr kumimoji="0" lang="en-US" sz="2600" b="0" i="0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N_MaximumTest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181583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Generic Classes</a:t>
            </a:r>
          </a:p>
        </p:txBody>
      </p:sp>
    </p:spTree>
    <p:extLst>
      <p:ext uri="{BB962C8B-B14F-4D97-AF65-F5344CB8AC3E}">
        <p14:creationId xmlns:p14="http://schemas.microsoft.com/office/powerpoint/2010/main" val="37704944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>
          <a:xfrm>
            <a:off x="936516" y="717143"/>
            <a:ext cx="3785187" cy="674687"/>
          </a:xfrm>
        </p:spPr>
        <p:txBody>
          <a:bodyPr/>
          <a:lstStyle/>
          <a:p>
            <a:pPr eaLnBrk="1" hangingPunct="1"/>
            <a:r>
              <a:rPr lang="en-US" altLang="en-US" dirty="0"/>
              <a:t>Generic Classes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0562" y="1506663"/>
            <a:ext cx="10400426" cy="5124759"/>
          </a:xfrm>
        </p:spPr>
        <p:txBody>
          <a:bodyPr rtlCol="0">
            <a:normAutofit/>
          </a:bodyPr>
          <a:lstStyle/>
          <a:p>
            <a:pPr>
              <a:defRPr/>
            </a:pPr>
            <a:endParaRPr lang="en-US" dirty="0"/>
          </a:p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Declaration looks like a non-generic class declaration, 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except class name is followed by a type parameter.</a:t>
            </a:r>
            <a:br>
              <a:rPr lang="en-US" dirty="0">
                <a:solidFill>
                  <a:schemeClr val="tx1"/>
                </a:solidFill>
              </a:rPr>
            </a:b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			</a:t>
            </a:r>
            <a:r>
              <a:rPr lang="en-US" b="1" dirty="0">
                <a:solidFill>
                  <a:schemeClr val="tx1"/>
                </a:solidFill>
              </a:rPr>
              <a:t>“public class Sample </a:t>
            </a:r>
            <a:r>
              <a:rPr lang="en-US" b="1" dirty="0">
                <a:solidFill>
                  <a:srgbClr val="FF0000"/>
                </a:solidFill>
              </a:rPr>
              <a:t>&lt;T&gt;</a:t>
            </a:r>
            <a:r>
              <a:rPr lang="en-US" b="1" dirty="0">
                <a:solidFill>
                  <a:schemeClr val="tx1"/>
                </a:solidFill>
              </a:rPr>
              <a:t>”</a:t>
            </a: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Type parameter of a generic class, can have one or more type parameters </a:t>
            </a:r>
          </a:p>
          <a:p>
            <a:pPr lvl="1">
              <a:defRPr/>
            </a:pPr>
            <a:r>
              <a:rPr lang="en-US" dirty="0">
                <a:solidFill>
                  <a:schemeClr val="tx1"/>
                </a:solidFill>
              </a:rPr>
              <a:t>Separated by commas. </a:t>
            </a:r>
          </a:p>
        </p:txBody>
      </p:sp>
    </p:spTree>
    <p:extLst>
      <p:ext uri="{BB962C8B-B14F-4D97-AF65-F5344CB8AC3E}">
        <p14:creationId xmlns:p14="http://schemas.microsoft.com/office/powerpoint/2010/main" val="7015486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>
          <a:xfrm>
            <a:off x="936516" y="717143"/>
            <a:ext cx="3785187" cy="674687"/>
          </a:xfrm>
        </p:spPr>
        <p:txBody>
          <a:bodyPr/>
          <a:lstStyle/>
          <a:p>
            <a:pPr eaLnBrk="1" hangingPunct="1"/>
            <a:r>
              <a:rPr lang="en-US" altLang="en-US" dirty="0"/>
              <a:t>Generic Classes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2847" y="1572595"/>
            <a:ext cx="6877092" cy="492530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0015" y="4414404"/>
            <a:ext cx="2454793" cy="1322649"/>
          </a:xfrm>
          <a:prstGeom prst="rect">
            <a:avLst/>
          </a:prstGeom>
        </p:spPr>
      </p:pic>
      <p:sp>
        <p:nvSpPr>
          <p:cNvPr id="6" name="Right Arrow 5"/>
          <p:cNvSpPr/>
          <p:nvPr/>
        </p:nvSpPr>
        <p:spPr>
          <a:xfrm rot="10800000">
            <a:off x="3754808" y="4919957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808814" y="2277908"/>
            <a:ext cx="40318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Nothing special or sophisticated here!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FBEDBC5E-2B00-0565-77F2-ED9C9DF2EC71}"/>
              </a:ext>
            </a:extLst>
          </p:cNvPr>
          <p:cNvSpPr txBox="1">
            <a:spLocks/>
          </p:cNvSpPr>
          <p:nvPr/>
        </p:nvSpPr>
        <p:spPr>
          <a:xfrm>
            <a:off x="2272946" y="16803"/>
            <a:ext cx="5498567" cy="343293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buNone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“</a:t>
            </a:r>
            <a:r>
              <a:rPr lang="en-US" dirty="0">
                <a:solidFill>
                  <a:srgbClr val="C00000"/>
                </a:solidFill>
              </a:rPr>
              <a:t>CSEN160_05_Lecture_DataStructursAndGenerics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.</a:t>
            </a:r>
            <a:r>
              <a:rPr kumimoji="0" lang="en-US" sz="2600" b="0" i="0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O_Box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1649489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2C3468-6CE2-F84F-1C22-7468313AF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>
            <a:extLst>
              <a:ext uri="{FF2B5EF4-FFF2-40B4-BE49-F238E27FC236}">
                <a16:creationId xmlns:a16="http://schemas.microsoft.com/office/drawing/2014/main" id="{087F16B5-793A-F8D2-DF37-4DDB6D92A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Generic Advantages</a:t>
            </a:r>
          </a:p>
        </p:txBody>
      </p:sp>
    </p:spTree>
    <p:extLst>
      <p:ext uri="{BB962C8B-B14F-4D97-AF65-F5344CB8AC3E}">
        <p14:creationId xmlns:p14="http://schemas.microsoft.com/office/powerpoint/2010/main" val="61546448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>
          <a:xfrm>
            <a:off x="936516" y="745465"/>
            <a:ext cx="5476422" cy="719193"/>
          </a:xfrm>
        </p:spPr>
        <p:txBody>
          <a:bodyPr/>
          <a:lstStyle/>
          <a:p>
            <a:pPr eaLnBrk="1" hangingPunct="1"/>
            <a:r>
              <a:rPr lang="en-US" altLang="en-US" dirty="0"/>
              <a:t>Advantages of Generics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571399"/>
            <a:ext cx="10416610" cy="5064069"/>
          </a:xfrm>
        </p:spPr>
        <p:txBody>
          <a:bodyPr rtlCol="0">
            <a:normAutofit/>
          </a:bodyPr>
          <a:lstStyle/>
          <a:p>
            <a:pPr marL="0" indent="0">
              <a:buNone/>
              <a:defRPr/>
            </a:pPr>
            <a:r>
              <a:rPr lang="en-US" b="1" dirty="0">
                <a:solidFill>
                  <a:schemeClr val="tx1"/>
                </a:solidFill>
              </a:rPr>
              <a:t>With</a:t>
            </a:r>
            <a:r>
              <a:rPr lang="en-US" dirty="0">
                <a:solidFill>
                  <a:schemeClr val="tx1"/>
                </a:solidFill>
              </a:rPr>
              <a:t> generics</a:t>
            </a:r>
            <a:r>
              <a:rPr lang="en-US" dirty="0"/>
              <a:t> </a:t>
            </a:r>
            <a:r>
              <a:rPr lang="en-US" b="1" dirty="0">
                <a:solidFill>
                  <a:srgbClr val="009900"/>
                </a:solidFill>
                <a:latin typeface="Courier New" charset="0"/>
                <a:cs typeface="Courier New" charset="0"/>
                <a:sym typeface="Courier New" charset="0"/>
              </a:rPr>
              <a:t>”Collection&lt;String&gt; c;”</a:t>
            </a:r>
            <a:r>
              <a:rPr lang="en-US" dirty="0"/>
              <a:t>  </a:t>
            </a:r>
            <a:r>
              <a:rPr lang="en-US" dirty="0">
                <a:solidFill>
                  <a:schemeClr val="tx1"/>
                </a:solidFill>
              </a:rPr>
              <a:t>it gives us more information about the variable</a:t>
            </a:r>
            <a:r>
              <a:rPr lang="en-US" dirty="0"/>
              <a:t> </a:t>
            </a:r>
            <a:r>
              <a:rPr lang="en-US" b="1" dirty="0">
                <a:solidFill>
                  <a:srgbClr val="00B050"/>
                </a:solidFill>
              </a:rPr>
              <a:t>c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>
                <a:solidFill>
                  <a:schemeClr val="tx1"/>
                </a:solidFill>
              </a:rPr>
              <a:t>(i.e., </a:t>
            </a:r>
            <a:r>
              <a:rPr lang="en-US" b="1" dirty="0">
                <a:solidFill>
                  <a:srgbClr val="00B050"/>
                </a:solidFill>
              </a:rPr>
              <a:t>c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holds only</a:t>
            </a:r>
            <a:r>
              <a:rPr lang="en-US" dirty="0"/>
              <a:t> </a:t>
            </a:r>
            <a:r>
              <a:rPr lang="en-US" dirty="0">
                <a:solidFill>
                  <a:srgbClr val="00B050"/>
                </a:solidFill>
              </a:rPr>
              <a:t>Strings</a:t>
            </a:r>
            <a:r>
              <a:rPr lang="en-US" dirty="0">
                <a:solidFill>
                  <a:schemeClr val="tx1"/>
                </a:solidFill>
              </a:rPr>
              <a:t>):</a:t>
            </a:r>
          </a:p>
          <a:p>
            <a:pPr marL="728663" lvl="1" indent="-274320">
              <a:defRPr/>
            </a:pPr>
            <a:endParaRPr lang="en-US" dirty="0">
              <a:solidFill>
                <a:schemeClr val="tx1"/>
              </a:solidFill>
            </a:endParaRPr>
          </a:p>
          <a:p>
            <a:pPr marL="728663" lvl="1" indent="-274320">
              <a:defRPr/>
            </a:pPr>
            <a:endParaRPr lang="en-US" dirty="0">
              <a:solidFill>
                <a:schemeClr val="tx1"/>
              </a:solidFill>
            </a:endParaRPr>
          </a:p>
          <a:p>
            <a:pPr marL="728663" lvl="1" indent="-274320">
              <a:defRPr/>
            </a:pPr>
            <a:r>
              <a:rPr lang="en-US" dirty="0">
                <a:solidFill>
                  <a:schemeClr val="tx1"/>
                </a:solidFill>
              </a:rPr>
              <a:t>This is true wherever</a:t>
            </a:r>
            <a:r>
              <a:rPr lang="en-US" dirty="0"/>
              <a:t> </a:t>
            </a:r>
            <a:r>
              <a:rPr lang="en-US" b="1" dirty="0">
                <a:solidFill>
                  <a:srgbClr val="00B050"/>
                </a:solidFill>
              </a:rPr>
              <a:t>c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is used</a:t>
            </a:r>
          </a:p>
          <a:p>
            <a:pPr marL="728663" lvl="1" indent="-274320">
              <a:defRPr/>
            </a:pPr>
            <a:endParaRPr lang="en-US" dirty="0">
              <a:solidFill>
                <a:schemeClr val="tx1"/>
              </a:solidFill>
            </a:endParaRPr>
          </a:p>
          <a:p>
            <a:pPr marL="728663" lvl="1" indent="-274320">
              <a:defRPr/>
            </a:pPr>
            <a:r>
              <a:rPr lang="en-US" dirty="0">
                <a:solidFill>
                  <a:schemeClr val="tx1"/>
                </a:solidFill>
              </a:rPr>
              <a:t>The compiler checks it, and </a:t>
            </a:r>
            <a:r>
              <a:rPr lang="en-US" b="1" dirty="0">
                <a:solidFill>
                  <a:srgbClr val="FF0000"/>
                </a:solidFill>
              </a:rPr>
              <a:t>won’t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compile code that </a:t>
            </a:r>
            <a:r>
              <a:rPr lang="en-US" b="1" dirty="0">
                <a:solidFill>
                  <a:srgbClr val="FF0000"/>
                </a:solidFill>
              </a:rPr>
              <a:t>violates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this!</a:t>
            </a:r>
          </a:p>
          <a:p>
            <a:pPr marL="728663" lvl="1" indent="-274320">
              <a:defRPr/>
            </a:pPr>
            <a:endParaRPr lang="en-US" dirty="0">
              <a:solidFill>
                <a:schemeClr val="tx1"/>
              </a:solidFill>
            </a:endParaRPr>
          </a:p>
          <a:p>
            <a:pPr marL="728663" lvl="1" indent="-274320">
              <a:defRPr/>
            </a:pPr>
            <a:r>
              <a:rPr lang="en-US" dirty="0">
                <a:solidFill>
                  <a:schemeClr val="tx1"/>
                </a:solidFill>
              </a:rPr>
              <a:t>More type safety in general</a:t>
            </a:r>
          </a:p>
          <a:p>
            <a:pPr marL="728663" lvl="1" indent="-274320">
              <a:defRPr/>
            </a:pPr>
            <a:endParaRPr lang="en-US" dirty="0">
              <a:solidFill>
                <a:schemeClr val="tx1"/>
              </a:solidFill>
            </a:endParaRPr>
          </a:p>
          <a:p>
            <a:pPr marL="728663" lvl="1" indent="-274320">
              <a:defRPr/>
            </a:pPr>
            <a:r>
              <a:rPr lang="en-US" dirty="0">
                <a:solidFill>
                  <a:schemeClr val="tx1"/>
                </a:solidFill>
              </a:rPr>
              <a:t>Generics in C++ are templates</a:t>
            </a:r>
          </a:p>
        </p:txBody>
      </p:sp>
    </p:spTree>
    <p:extLst>
      <p:ext uri="{BB962C8B-B14F-4D97-AF65-F5344CB8AC3E}">
        <p14:creationId xmlns:p14="http://schemas.microsoft.com/office/powerpoint/2010/main" val="17591897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>
          <a:xfrm>
            <a:off x="936516" y="745465"/>
            <a:ext cx="5476422" cy="719193"/>
          </a:xfrm>
        </p:spPr>
        <p:txBody>
          <a:bodyPr/>
          <a:lstStyle/>
          <a:p>
            <a:pPr eaLnBrk="1" hangingPunct="1"/>
            <a:r>
              <a:rPr lang="en-US" altLang="en-US" dirty="0"/>
              <a:t>Advantages of Generics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571399"/>
            <a:ext cx="10416610" cy="5064069"/>
          </a:xfrm>
        </p:spPr>
        <p:txBody>
          <a:bodyPr rtlCol="0">
            <a:normAutofit/>
          </a:bodyPr>
          <a:lstStyle/>
          <a:p>
            <a:pPr marL="0" indent="0">
              <a:buNone/>
              <a:defRPr/>
            </a:pPr>
            <a:endParaRPr lang="en-US" b="1" dirty="0">
              <a:solidFill>
                <a:schemeClr val="tx1"/>
              </a:solidFill>
            </a:endParaRPr>
          </a:p>
          <a:p>
            <a:pPr marL="0" indent="0">
              <a:buNone/>
              <a:defRPr/>
            </a:pPr>
            <a:r>
              <a:rPr lang="en-US" b="1" dirty="0">
                <a:solidFill>
                  <a:schemeClr val="tx1"/>
                </a:solidFill>
              </a:rPr>
              <a:t>Without</a:t>
            </a:r>
            <a:r>
              <a:rPr lang="en-US" dirty="0">
                <a:solidFill>
                  <a:schemeClr val="tx1"/>
                </a:solidFill>
              </a:rPr>
              <a:t> use of generic types, </a:t>
            </a:r>
            <a:r>
              <a:rPr lang="en-US" b="1" dirty="0">
                <a:solidFill>
                  <a:srgbClr val="FF0000"/>
                </a:solidFill>
              </a:rPr>
              <a:t>explicit casting is needed</a:t>
            </a:r>
            <a:r>
              <a:rPr lang="en-US" dirty="0">
                <a:solidFill>
                  <a:schemeClr val="tx1"/>
                </a:solidFill>
              </a:rPr>
              <a:t>:</a:t>
            </a:r>
          </a:p>
          <a:p>
            <a:pPr marL="728663" lvl="1" indent="-274320">
              <a:defRPr/>
            </a:pPr>
            <a:endParaRPr lang="en-US" dirty="0">
              <a:solidFill>
                <a:schemeClr val="tx1"/>
              </a:solidFill>
            </a:endParaRPr>
          </a:p>
          <a:p>
            <a:pPr marL="728663" lvl="1" indent="-274320">
              <a:defRPr/>
            </a:pPr>
            <a:r>
              <a:rPr lang="en-US" dirty="0">
                <a:solidFill>
                  <a:schemeClr val="tx1"/>
                </a:solidFill>
              </a:rPr>
              <a:t>A cast tells us something the programmer </a:t>
            </a:r>
            <a:r>
              <a:rPr lang="en-US" b="1" dirty="0">
                <a:solidFill>
                  <a:srgbClr val="92D050"/>
                </a:solidFill>
              </a:rPr>
              <a:t>thinks</a:t>
            </a:r>
            <a:r>
              <a:rPr lang="en-US" dirty="0">
                <a:solidFill>
                  <a:schemeClr val="tx1"/>
                </a:solidFill>
              </a:rPr>
              <a:t> is true</a:t>
            </a:r>
          </a:p>
          <a:p>
            <a:pPr marL="728663" lvl="1" indent="-274320">
              <a:defRPr/>
            </a:pPr>
            <a:endParaRPr lang="en-US" dirty="0">
              <a:solidFill>
                <a:schemeClr val="tx1"/>
              </a:solidFill>
            </a:endParaRPr>
          </a:p>
          <a:p>
            <a:pPr marL="728663" lvl="1" indent="-274320">
              <a:defRPr/>
            </a:pPr>
            <a:r>
              <a:rPr lang="en-US" dirty="0">
                <a:solidFill>
                  <a:schemeClr val="tx1"/>
                </a:solidFill>
              </a:rPr>
              <a:t>The JVM checks whether the programmer </a:t>
            </a:r>
            <a:r>
              <a:rPr lang="en-US" dirty="0">
                <a:solidFill>
                  <a:srgbClr val="FF0000"/>
                </a:solidFill>
              </a:rPr>
              <a:t>thoughts</a:t>
            </a:r>
            <a:r>
              <a:rPr lang="en-US" dirty="0">
                <a:solidFill>
                  <a:schemeClr val="tx1"/>
                </a:solidFill>
              </a:rPr>
              <a:t>, are correct </a:t>
            </a:r>
            <a:r>
              <a:rPr lang="en-US" b="1" dirty="0">
                <a:solidFill>
                  <a:srgbClr val="FF0000"/>
                </a:solidFill>
              </a:rPr>
              <a:t>at runtime</a:t>
            </a:r>
          </a:p>
          <a:p>
            <a:pPr marL="728663" lvl="1" indent="-274320">
              <a:defRPr/>
            </a:pPr>
            <a:endParaRPr lang="en-US" b="1" dirty="0">
              <a:solidFill>
                <a:srgbClr val="FF0000"/>
              </a:solidFill>
            </a:endParaRPr>
          </a:p>
          <a:p>
            <a:pPr marL="728663" lvl="1" indent="-274320">
              <a:defRPr/>
            </a:pPr>
            <a:r>
              <a:rPr lang="en-US" b="1" dirty="0">
                <a:solidFill>
                  <a:srgbClr val="00B050"/>
                </a:solidFill>
              </a:rPr>
              <a:t>Once you got used to it, you never go back! </a:t>
            </a:r>
            <a:r>
              <a:rPr lang="en-US" b="1" dirty="0">
                <a:solidFill>
                  <a:srgbClr val="00B050"/>
                </a:solidFill>
                <a:sym typeface="Wingdings" pitchFamily="2" charset="2"/>
              </a:rPr>
              <a:t></a:t>
            </a:r>
            <a:endParaRPr lang="en-US" b="1" dirty="0">
              <a:solidFill>
                <a:srgbClr val="00B050"/>
              </a:solidFill>
            </a:endParaRPr>
          </a:p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774243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/>
              <a:t>Done</a:t>
            </a:r>
            <a:endParaRPr lang="en-US" dirty="0"/>
          </a:p>
        </p:txBody>
      </p:sp>
      <p:sp>
        <p:nvSpPr>
          <p:cNvPr id="5123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96222078"/>
      </p:ext>
    </p:extLst>
  </p:cSld>
  <p:clrMapOvr>
    <a:masterClrMapping/>
  </p:clrMapOvr>
</p:sld>
</file>

<file path=ppt/theme/theme1.xml><?xml version="1.0" encoding="utf-8"?>
<a:theme xmlns:a="http://schemas.openxmlformats.org/drawingml/2006/main" name="SCUTemplate">
  <a:themeElements>
    <a:clrScheme name="Santa Clara Powerpoint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96641"/>
      </a:accent1>
      <a:accent2>
        <a:srgbClr val="495764"/>
      </a:accent2>
      <a:accent3>
        <a:srgbClr val="71001B"/>
      </a:accent3>
      <a:accent4>
        <a:srgbClr val="FFC000"/>
      </a:accent4>
      <a:accent5>
        <a:srgbClr val="9D9B7B"/>
      </a:accent5>
      <a:accent6>
        <a:srgbClr val="759C9A"/>
      </a:accent6>
      <a:hlink>
        <a:srgbClr val="9E1B32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EN912.pptx" id="{30FD953E-F8CF-43B1-AE2C-113081E30BF0}" vid="{F0B77AA3-1BFC-4F21-AA5C-47F762EA0811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EN912.pptx" id="{30FD953E-F8CF-43B1-AE2C-113081E30BF0}" vid="{C2E27841-7055-4EC2-8474-90BDE5ACE175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SCUTemplate</Template>
  <TotalTime>1556</TotalTime>
  <Words>778</Words>
  <Application>Microsoft Office PowerPoint</Application>
  <PresentationFormat>Widescreen</PresentationFormat>
  <Paragraphs>144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30</vt:i4>
      </vt:variant>
    </vt:vector>
  </HeadingPairs>
  <TitlesOfParts>
    <vt:vector size="38" baseType="lpstr">
      <vt:lpstr>Arial</vt:lpstr>
      <vt:lpstr>Arial Narrow</vt:lpstr>
      <vt:lpstr>Calibri</vt:lpstr>
      <vt:lpstr>Courier New</vt:lpstr>
      <vt:lpstr>Garamond</vt:lpstr>
      <vt:lpstr>Wingdings</vt:lpstr>
      <vt:lpstr>SCUTemplate</vt:lpstr>
      <vt:lpstr>Custom Design</vt:lpstr>
      <vt:lpstr>COEN160</vt:lpstr>
      <vt:lpstr>Java Generics simple intro…</vt:lpstr>
      <vt:lpstr>Java Generics simple intro</vt:lpstr>
      <vt:lpstr>Java Generics simple intro</vt:lpstr>
      <vt:lpstr>Java Generics simple intro</vt:lpstr>
      <vt:lpstr>Java Generics simple intro</vt:lpstr>
      <vt:lpstr>Java Generics simple intro</vt:lpstr>
      <vt:lpstr>Java Generics simple intro</vt:lpstr>
      <vt:lpstr>Java Generics simple intro</vt:lpstr>
      <vt:lpstr>Java Generics simple intro</vt:lpstr>
      <vt:lpstr>Generics Methods</vt:lpstr>
      <vt:lpstr>Using Generic Types</vt:lpstr>
      <vt:lpstr>Generic Methods</vt:lpstr>
      <vt:lpstr>Generic Methods</vt:lpstr>
      <vt:lpstr>One of my research examples</vt:lpstr>
      <vt:lpstr>One of my research examples</vt:lpstr>
      <vt:lpstr>PowerPoint Presentation</vt:lpstr>
      <vt:lpstr>Nested Generics</vt:lpstr>
      <vt:lpstr>Nested generics</vt:lpstr>
      <vt:lpstr>Bounded Generics</vt:lpstr>
      <vt:lpstr>Bounded Type Parameters</vt:lpstr>
      <vt:lpstr>Bounded Type Parameters</vt:lpstr>
      <vt:lpstr>Bounded Type Parameters</vt:lpstr>
      <vt:lpstr>Generic Classes</vt:lpstr>
      <vt:lpstr>Generic Classes</vt:lpstr>
      <vt:lpstr>Generic Classes</vt:lpstr>
      <vt:lpstr>Generic Advantages</vt:lpstr>
      <vt:lpstr>Advantages of Generics</vt:lpstr>
      <vt:lpstr>Advantages of Generics</vt:lpstr>
      <vt:lpstr>Done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Outline</dc:title>
  <dc:creator>Michael Schimpf</dc:creator>
  <cp:lastModifiedBy>Michael Schimpf</cp:lastModifiedBy>
  <cp:revision>241</cp:revision>
  <cp:lastPrinted>2023-09-11T21:46:56Z</cp:lastPrinted>
  <dcterms:created xsi:type="dcterms:W3CDTF">2023-09-09T19:51:41Z</dcterms:created>
  <dcterms:modified xsi:type="dcterms:W3CDTF">2026-08-21T22:28:18Z</dcterms:modified>
</cp:coreProperties>
</file>