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54"/>
  </p:notesMasterIdLst>
  <p:handoutMasterIdLst>
    <p:handoutMasterId r:id="rId55"/>
  </p:handoutMasterIdLst>
  <p:sldIdLst>
    <p:sldId id="333" r:id="rId3"/>
    <p:sldId id="427" r:id="rId4"/>
    <p:sldId id="340" r:id="rId5"/>
    <p:sldId id="337" r:id="rId6"/>
    <p:sldId id="338" r:id="rId7"/>
    <p:sldId id="393" r:id="rId8"/>
    <p:sldId id="339" r:id="rId9"/>
    <p:sldId id="362" r:id="rId10"/>
    <p:sldId id="376" r:id="rId11"/>
    <p:sldId id="382" r:id="rId12"/>
    <p:sldId id="341" r:id="rId13"/>
    <p:sldId id="401" r:id="rId14"/>
    <p:sldId id="377" r:id="rId15"/>
    <p:sldId id="363" r:id="rId16"/>
    <p:sldId id="378" r:id="rId17"/>
    <p:sldId id="483" r:id="rId18"/>
    <p:sldId id="482" r:id="rId19"/>
    <p:sldId id="364" r:id="rId20"/>
    <p:sldId id="468" r:id="rId21"/>
    <p:sldId id="344" r:id="rId22"/>
    <p:sldId id="465" r:id="rId23"/>
    <p:sldId id="466" r:id="rId24"/>
    <p:sldId id="469" r:id="rId25"/>
    <p:sldId id="467" r:id="rId26"/>
    <p:sldId id="470" r:id="rId27"/>
    <p:sldId id="457" r:id="rId28"/>
    <p:sldId id="428" r:id="rId29"/>
    <p:sldId id="429" r:id="rId30"/>
    <p:sldId id="430" r:id="rId31"/>
    <p:sldId id="455" r:id="rId32"/>
    <p:sldId id="431" r:id="rId33"/>
    <p:sldId id="480" r:id="rId34"/>
    <p:sldId id="458" r:id="rId35"/>
    <p:sldId id="432" r:id="rId36"/>
    <p:sldId id="475" r:id="rId37"/>
    <p:sldId id="476" r:id="rId38"/>
    <p:sldId id="459" r:id="rId39"/>
    <p:sldId id="433" r:id="rId40"/>
    <p:sldId id="460" r:id="rId41"/>
    <p:sldId id="461" r:id="rId42"/>
    <p:sldId id="435" r:id="rId43"/>
    <p:sldId id="436" r:id="rId44"/>
    <p:sldId id="462" r:id="rId45"/>
    <p:sldId id="463" r:id="rId46"/>
    <p:sldId id="478" r:id="rId47"/>
    <p:sldId id="345" r:id="rId48"/>
    <p:sldId id="365" r:id="rId49"/>
    <p:sldId id="383" r:id="rId50"/>
    <p:sldId id="384" r:id="rId51"/>
    <p:sldId id="394" r:id="rId52"/>
    <p:sldId id="509" r:id="rId5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9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289B0-9BEC-4093-861C-76154CD68B5D}" type="datetimeFigureOut">
              <a:rPr lang="en-US"/>
              <a:pPr>
                <a:defRPr/>
              </a:pPr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7136E94-7335-4773-A64D-0D46B1CA62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14338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8814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A811E5-F559-443C-99AD-DAE29BB27C24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01779A-0D1A-4524-BB27-6339C8C9D7ED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51639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9" r:id="rId18"/>
    <p:sldLayoutId id="214748369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linkedhashset_class.htm" TargetMode="Externa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hashmap_class.htm" TargetMode="Externa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utorialspoint.com/java/java_identityhashmap_class.htm" TargetMode="External"/><Relationship Id="rId2" Type="http://schemas.openxmlformats.org/officeDocument/2006/relationships/hyperlink" Target="http://www.tutorialspoint.com/java/java_linkedhashmap_class.htm" TargetMode="Externa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ckoverflow.com/questions/821079/when-to-use-set-vs-collection#:~:text=The%20practical%20difference%20is%20that,for%20Set%20then%20use%20Set." TargetMode="Externa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Collections</a:t>
            </a:r>
          </a:p>
        </p:txBody>
      </p:sp>
    </p:spTree>
    <p:extLst>
      <p:ext uri="{BB962C8B-B14F-4D97-AF65-F5344CB8AC3E}">
        <p14:creationId xmlns:p14="http://schemas.microsoft.com/office/powerpoint/2010/main" val="1969416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798065"/>
            <a:ext cx="5391456" cy="605904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936516" y="1494525"/>
            <a:ext cx="10396380" cy="5140944"/>
          </a:xfrm>
        </p:spPr>
        <p:txBody>
          <a:bodyPr/>
          <a:lstStyle/>
          <a:p>
            <a:pPr marL="0" indent="0" eaLnBrk="1" hangingPunct="1">
              <a:buNone/>
            </a:pPr>
            <a:endParaRPr lang="en-US" altLang="en-US" dirty="0"/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Java provides a set of standard collection classes: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That implement </a:t>
            </a:r>
            <a:r>
              <a:rPr lang="en-US" altLang="en-US" b="1" dirty="0">
                <a:solidFill>
                  <a:schemeClr val="tx1"/>
                </a:solidFill>
              </a:rPr>
              <a:t>interfaces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Some are </a:t>
            </a:r>
            <a:r>
              <a:rPr lang="en-US" altLang="en-US" b="1" dirty="0">
                <a:solidFill>
                  <a:schemeClr val="tx1"/>
                </a:solidFill>
              </a:rPr>
              <a:t>abstract</a:t>
            </a:r>
            <a:r>
              <a:rPr lang="en-US" altLang="en-US" dirty="0">
                <a:solidFill>
                  <a:schemeClr val="tx1"/>
                </a:solidFill>
              </a:rPr>
              <a:t> class, providing skeletal implementations. </a:t>
            </a:r>
          </a:p>
          <a:p>
            <a:pPr marL="0" indent="0"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Others of the classes provide </a:t>
            </a:r>
            <a:r>
              <a:rPr lang="en-US" altLang="en-US" b="1" dirty="0">
                <a:solidFill>
                  <a:schemeClr val="tx1"/>
                </a:solidFill>
              </a:rPr>
              <a:t>full</a:t>
            </a:r>
            <a:r>
              <a:rPr lang="en-US" altLang="en-US" dirty="0">
                <a:solidFill>
                  <a:schemeClr val="tx1"/>
                </a:solidFill>
              </a:rPr>
              <a:t> implementations (</a:t>
            </a:r>
            <a:r>
              <a:rPr lang="en-US" altLang="en-US" b="1" dirty="0">
                <a:solidFill>
                  <a:schemeClr val="tx1"/>
                </a:solidFill>
              </a:rPr>
              <a:t>as-is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endParaRPr lang="en-US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89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>
          <a:xfrm>
            <a:off x="928224" y="776427"/>
            <a:ext cx="7472320" cy="803135"/>
          </a:xfrm>
          <a:noFill/>
        </p:spPr>
        <p:txBody>
          <a:bodyPr/>
          <a:lstStyle/>
          <a:p>
            <a:pPr eaLnBrk="1" hangingPunct="1"/>
            <a:r>
              <a:rPr lang="en-US" altLang="en-US" sz="3200" dirty="0"/>
              <a:t>Java Collection Framework hierarchy</a:t>
            </a:r>
            <a:br>
              <a:rPr lang="en-US" altLang="en-US" sz="3200" dirty="0"/>
            </a:br>
            <a:r>
              <a:rPr lang="en-US" altLang="en-US" sz="1600" i="1" dirty="0"/>
              <a:t>(Liang, Intro to Java Programming, 5</a:t>
            </a:r>
            <a:r>
              <a:rPr lang="en-US" altLang="en-US" sz="1600" i="1" baseline="30000" dirty="0"/>
              <a:t>th</a:t>
            </a:r>
            <a:r>
              <a:rPr lang="en-US" altLang="en-US" sz="1600" i="1" dirty="0"/>
              <a:t> Edition)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3265488" y="2084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928224" y="1798874"/>
            <a:ext cx="5244988" cy="436564"/>
          </a:xfrm>
          <a:noFill/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7030A0"/>
                </a:solidFill>
                <a:cs typeface="Times New Roman" panose="02020603050405020304" pitchFamily="18" charset="0"/>
              </a:rPr>
              <a:t>Set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and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rgbClr val="7030A0"/>
                </a:solidFill>
                <a:cs typeface="Times New Roman" panose="02020603050405020304" pitchFamily="18" charset="0"/>
              </a:rPr>
              <a:t>List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are sub interfaces of </a:t>
            </a:r>
            <a:r>
              <a:rPr lang="en-US" altLang="en-US" dirty="0">
                <a:solidFill>
                  <a:srgbClr val="C00000"/>
                </a:solidFill>
                <a:cs typeface="Times New Roman" panose="02020603050405020304" pitchFamily="18" charset="0"/>
              </a:rPr>
              <a:t>Collection</a:t>
            </a:r>
            <a:r>
              <a:rPr lang="en-US" altLang="en-US" dirty="0"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3657600" y="2430463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graphicFrame>
        <p:nvGraphicFramePr>
          <p:cNvPr id="1026" name="Object 8"/>
          <p:cNvGraphicFramePr>
            <a:graphicFrameLocks noChangeAspect="1"/>
          </p:cNvGraphicFramePr>
          <p:nvPr/>
        </p:nvGraphicFramePr>
        <p:xfrm>
          <a:off x="496902" y="2153341"/>
          <a:ext cx="10992296" cy="45018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5029200" imgH="2057400" progId="Word.Picture.8">
                  <p:embed/>
                </p:oleObj>
              </mc:Choice>
              <mc:Fallback>
                <p:oleObj r:id="rId2" imgW="5029200" imgH="2057400" progId="Word.Picture.8">
                  <p:embed/>
                  <p:pic>
                    <p:nvPicPr>
                      <p:cNvPr id="102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6902" y="2153341"/>
                        <a:ext cx="10992296" cy="450188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63313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 noChangeArrowheads="1"/>
          </p:cNvSpPr>
          <p:nvPr>
            <p:ph type="title"/>
          </p:nvPr>
        </p:nvSpPr>
        <p:spPr>
          <a:xfrm>
            <a:off x="926359" y="745053"/>
            <a:ext cx="6556959" cy="800815"/>
          </a:xfrm>
          <a:noFill/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Java Collection Framework hierarchy</a:t>
            </a:r>
            <a:br>
              <a:rPr lang="en-US" altLang="en-US" sz="2800" dirty="0"/>
            </a:br>
            <a:r>
              <a:rPr lang="en-US" altLang="en-US" sz="1400" i="1" dirty="0"/>
              <a:t>(Liang, Intro to Java Programming, 5</a:t>
            </a:r>
            <a:r>
              <a:rPr lang="en-US" altLang="en-US" sz="1400" i="1" baseline="30000" dirty="0"/>
              <a:t>th</a:t>
            </a:r>
            <a:r>
              <a:rPr lang="en-US" altLang="en-US" sz="1400" i="1" dirty="0"/>
              <a:t> Edition)</a:t>
            </a:r>
            <a:endParaRPr lang="en-US" altLang="en-US" sz="1400" dirty="0"/>
          </a:p>
        </p:txBody>
      </p:sp>
      <p:sp>
        <p:nvSpPr>
          <p:cNvPr id="2053" name="Rectangle 3"/>
          <p:cNvSpPr>
            <a:spLocks noChangeArrowheads="1"/>
          </p:cNvSpPr>
          <p:nvPr/>
        </p:nvSpPr>
        <p:spPr bwMode="auto">
          <a:xfrm>
            <a:off x="3265488" y="2084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054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926359" y="1617281"/>
            <a:ext cx="10382678" cy="1752600"/>
          </a:xfrm>
          <a:noFill/>
        </p:spPr>
        <p:txBody>
          <a:bodyPr>
            <a:normAutofit/>
          </a:bodyPr>
          <a:lstStyle/>
          <a:p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An instance of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represents a group of objects, each with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. </a:t>
            </a:r>
          </a:p>
          <a:p>
            <a:endParaRPr lang="en-US" altLang="en-US" sz="2000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You can get the object from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using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, and you have to use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to put it into the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. </a:t>
            </a:r>
            <a:endParaRPr lang="en-US" altLang="en-US" sz="2000" noProof="1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751388" y="271303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056" name="Rectangle 9"/>
          <p:cNvSpPr>
            <a:spLocks noChangeArrowheads="1"/>
          </p:cNvSpPr>
          <p:nvPr/>
        </p:nvSpPr>
        <p:spPr bwMode="auto">
          <a:xfrm>
            <a:off x="4324350" y="2846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graphicFrame>
        <p:nvGraphicFramePr>
          <p:cNvPr id="2050" name="Object 8"/>
          <p:cNvGraphicFramePr>
            <a:graphicFrameLocks noChangeAspect="1"/>
          </p:cNvGraphicFramePr>
          <p:nvPr/>
        </p:nvGraphicFramePr>
        <p:xfrm>
          <a:off x="672313" y="3031054"/>
          <a:ext cx="10636724" cy="3497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3657600" imgH="1200912" progId="Word.Picture.8">
                  <p:embed/>
                </p:oleObj>
              </mc:Choice>
              <mc:Fallback>
                <p:oleObj r:id="rId2" imgW="3657600" imgH="1200912" progId="Word.Picture.8">
                  <p:embed/>
                  <p:pic>
                    <p:nvPicPr>
                      <p:cNvPr id="205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2313" y="3031054"/>
                        <a:ext cx="10636724" cy="349722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86493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5383364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96" y="1992999"/>
            <a:ext cx="4408830" cy="387541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80" y="1061234"/>
            <a:ext cx="4387058" cy="383731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1319" y="5149939"/>
            <a:ext cx="3940732" cy="1436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73172" y="2925138"/>
            <a:ext cx="15311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Just playing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around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LinkedList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7112899" y="4620249"/>
            <a:ext cx="303451" cy="4575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52D4ABA-9CE4-F50A-94C1-EFE500AE4BFB}"/>
              </a:ext>
            </a:extLst>
          </p:cNvPr>
          <p:cNvSpPr txBox="1">
            <a:spLocks/>
          </p:cNvSpPr>
          <p:nvPr/>
        </p:nvSpPr>
        <p:spPr>
          <a:xfrm>
            <a:off x="1917783" y="17539"/>
            <a:ext cx="5982954" cy="35945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“CSEN160_05_Lecture_DataStructursAndGenerics.D_LinkedListTest”</a:t>
            </a:r>
          </a:p>
        </p:txBody>
      </p:sp>
    </p:spTree>
    <p:extLst>
      <p:ext uri="{BB962C8B-B14F-4D97-AF65-F5344CB8AC3E}">
        <p14:creationId xmlns:p14="http://schemas.microsoft.com/office/powerpoint/2010/main" val="2652961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332" y="968785"/>
            <a:ext cx="5177016" cy="39877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b="1" dirty="0"/>
              <a:t>The Collection </a:t>
            </a:r>
            <a:r>
              <a:rPr lang="en-US" b="1" dirty="0">
                <a:solidFill>
                  <a:srgbClr val="FF0000"/>
                </a:solidFill>
              </a:rPr>
              <a:t>Interfaces</a:t>
            </a:r>
            <a:r>
              <a:rPr lang="en-US" b="1" dirty="0"/>
              <a:t>:</a:t>
            </a:r>
            <a:endParaRPr lang="en-US" dirty="0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20332" y="1536814"/>
            <a:ext cx="10412564" cy="5102701"/>
          </a:xfrm>
        </p:spPr>
        <p:txBody>
          <a:bodyPr/>
          <a:lstStyle/>
          <a:p>
            <a:pPr eaLnBrk="1" hangingPunct="1"/>
            <a:endParaRPr lang="en-US" altLang="en-US" sz="1600" dirty="0"/>
          </a:p>
          <a:p>
            <a:pPr marL="0" indent="0" eaLnBrk="1" hangingPunct="1">
              <a:buNone/>
            </a:pPr>
            <a:r>
              <a:rPr lang="en-US" altLang="en-US" sz="1600" b="1" dirty="0">
                <a:solidFill>
                  <a:schemeClr val="tx1"/>
                </a:solidFill>
              </a:rPr>
              <a:t>The collections framework defines several interfaces: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Collection Interface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enables you to work with groups of objects; it is at the top of the collection's hierarchy. </a:t>
            </a:r>
          </a:p>
          <a:p>
            <a:pPr eaLnBrk="1" hangingPunct="1"/>
            <a:endParaRPr lang="en-US" altLang="en-US" sz="16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List Interface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</a:t>
            </a:r>
            <a:r>
              <a:rPr lang="en-US" altLang="en-US" sz="1600" b="1" dirty="0">
                <a:solidFill>
                  <a:schemeClr val="tx1"/>
                </a:solidFill>
              </a:rPr>
              <a:t>Collection</a:t>
            </a:r>
            <a:r>
              <a:rPr lang="en-US" altLang="en-US" sz="1600" dirty="0">
                <a:solidFill>
                  <a:schemeClr val="tx1"/>
                </a:solidFill>
              </a:rPr>
              <a:t> and an instance of List stores an ordered collection of elements.</a:t>
            </a:r>
          </a:p>
          <a:p>
            <a:pPr eaLnBrk="1" hangingPunct="1"/>
            <a:endParaRPr lang="en-US" altLang="en-US" sz="16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Set</a:t>
            </a:r>
            <a:br>
              <a:rPr lang="en-US" altLang="en-US" sz="1600" dirty="0">
                <a:solidFill>
                  <a:srgbClr val="C00000"/>
                </a:solidFill>
              </a:rPr>
            </a:br>
            <a:r>
              <a:rPr lang="en-US" altLang="en-US" sz="1600" dirty="0">
                <a:solidFill>
                  <a:schemeClr val="tx1"/>
                </a:solidFill>
              </a:rPr>
              <a:t>This extends Collection to handle sets, which must contain unique elements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SortedSet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Set to handle sorted sets </a:t>
            </a:r>
          </a:p>
        </p:txBody>
      </p:sp>
    </p:spTree>
    <p:extLst>
      <p:ext uri="{BB962C8B-B14F-4D97-AF65-F5344CB8AC3E}">
        <p14:creationId xmlns:p14="http://schemas.microsoft.com/office/powerpoint/2010/main" val="4293335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332" y="968785"/>
            <a:ext cx="5177016" cy="39877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b="1" dirty="0"/>
              <a:t>The Collection </a:t>
            </a:r>
            <a:r>
              <a:rPr lang="en-US" b="1" dirty="0">
                <a:solidFill>
                  <a:srgbClr val="FF0000"/>
                </a:solidFill>
              </a:rPr>
              <a:t>Interfaces</a:t>
            </a:r>
            <a:r>
              <a:rPr lang="en-US" b="1" dirty="0"/>
              <a:t>:</a:t>
            </a:r>
            <a:endParaRPr lang="en-US" dirty="0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20332" y="1536814"/>
            <a:ext cx="10412564" cy="5102701"/>
          </a:xfrm>
        </p:spPr>
        <p:txBody>
          <a:bodyPr/>
          <a:lstStyle/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marL="0" indent="0" eaLnBrk="1" hangingPunct="1">
              <a:buNone/>
            </a:pPr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Map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maps unique keys to values.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Map.Entry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describes an element (a key/value pair) in a map. This is an inner class of Map. 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SortedMap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Map so that the keys are maintained in ascending order. 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Enumeration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is </a:t>
            </a:r>
            <a:r>
              <a:rPr lang="en-US" altLang="en-US" sz="1600" b="1" dirty="0">
                <a:solidFill>
                  <a:schemeClr val="tx1"/>
                </a:solidFill>
              </a:rPr>
              <a:t>legacy</a:t>
            </a:r>
            <a:r>
              <a:rPr lang="en-US" altLang="en-US" sz="1600" dirty="0">
                <a:solidFill>
                  <a:schemeClr val="tx1"/>
                </a:solidFill>
              </a:rPr>
              <a:t> interface and defines the methods by which you can enumerate.</a:t>
            </a:r>
            <a:br>
              <a:rPr lang="en-US" altLang="en-US" sz="1600" dirty="0">
                <a:solidFill>
                  <a:schemeClr val="tx1"/>
                </a:solidFill>
              </a:rPr>
            </a:br>
            <a:r>
              <a:rPr lang="en-US" altLang="en-US" sz="1600" dirty="0">
                <a:solidFill>
                  <a:schemeClr val="tx1"/>
                </a:solidFill>
              </a:rPr>
              <a:t>This legacy interface has been replaced by Iterator.</a:t>
            </a:r>
          </a:p>
        </p:txBody>
      </p:sp>
    </p:spTree>
    <p:extLst>
      <p:ext uri="{BB962C8B-B14F-4D97-AF65-F5344CB8AC3E}">
        <p14:creationId xmlns:p14="http://schemas.microsoft.com/office/powerpoint/2010/main" val="1160521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5314581" cy="63422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The Collections Classes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>
              <a:buNone/>
            </a:pPr>
            <a:endParaRPr lang="en-US" altLang="en-US" sz="2000" b="1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altLang="en-US" sz="2000" b="1" dirty="0">
                <a:solidFill>
                  <a:schemeClr val="tx1"/>
                </a:solidFill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</a:rPr>
              <a:t>:</a:t>
            </a:r>
          </a:p>
          <a:p>
            <a:pPr eaLnBrk="1" hangingPunct="1"/>
            <a:endParaRPr lang="en-US" altLang="en-US" sz="20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000" dirty="0">
                <a:solidFill>
                  <a:schemeClr val="tx1"/>
                </a:solidFill>
              </a:rPr>
              <a:t>The framework also defines several </a:t>
            </a:r>
            <a:r>
              <a:rPr lang="en-US" altLang="en-US" sz="2000" b="1" dirty="0">
                <a:solidFill>
                  <a:schemeClr val="tx1"/>
                </a:solidFill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</a:rPr>
              <a:t> interfaces and classes. </a:t>
            </a:r>
          </a:p>
          <a:p>
            <a:pPr eaLnBrk="1" hangingPunct="1"/>
            <a:endParaRPr lang="en-US" altLang="en-US" sz="20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000" dirty="0">
                <a:solidFill>
                  <a:schemeClr val="tx1"/>
                </a:solidFill>
              </a:rPr>
              <a:t>Maps store </a:t>
            </a:r>
            <a:r>
              <a:rPr lang="en-US" altLang="en-US" sz="2000" b="1" dirty="0">
                <a:solidFill>
                  <a:schemeClr val="tx1"/>
                </a:solidFill>
              </a:rPr>
              <a:t>key/value</a:t>
            </a:r>
            <a:r>
              <a:rPr lang="en-US" altLang="en-US" sz="2000" dirty="0">
                <a:solidFill>
                  <a:schemeClr val="tx1"/>
                </a:solidFill>
              </a:rPr>
              <a:t> pairs. Although maps are </a:t>
            </a:r>
            <a:r>
              <a:rPr lang="en-US" altLang="en-US" sz="2000" b="1" dirty="0">
                <a:solidFill>
                  <a:schemeClr val="tx1"/>
                </a:solidFill>
              </a:rPr>
              <a:t>not</a:t>
            </a:r>
            <a:r>
              <a:rPr lang="en-US" altLang="en-US" sz="2000" dirty="0">
                <a:solidFill>
                  <a:schemeClr val="tx1"/>
                </a:solidFill>
              </a:rPr>
              <a:t> </a:t>
            </a:r>
            <a:r>
              <a:rPr lang="en-US" altLang="en-US" sz="2000" i="1" dirty="0">
                <a:solidFill>
                  <a:schemeClr val="tx1"/>
                </a:solidFill>
              </a:rPr>
              <a:t>collections</a:t>
            </a:r>
            <a:r>
              <a:rPr lang="en-US" altLang="en-US" sz="20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95470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6" y="2225155"/>
            <a:ext cx="5149078" cy="2465679"/>
          </a:xfrm>
          <a:prstGeom prst="rect">
            <a:avLst/>
          </a:prstGeom>
        </p:spPr>
      </p:pic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5314581" cy="63422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The Collections Classes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445" y="877163"/>
            <a:ext cx="5039750" cy="50826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326" y="4441423"/>
            <a:ext cx="4075946" cy="22002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464903" y="1189529"/>
            <a:ext cx="1282382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182478" y="1189528"/>
            <a:ext cx="1282382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943680" y="3457995"/>
            <a:ext cx="3385169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295051" y="4093220"/>
            <a:ext cx="981834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0119089" y="4779843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54827" y="4944234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682079" y="5101281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ight Arrow 6"/>
          <p:cNvSpPr/>
          <p:nvPr/>
        </p:nvSpPr>
        <p:spPr>
          <a:xfrm rot="8105641">
            <a:off x="6078490" y="301806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947F02-3FAE-A2C7-E9B0-FB7043BB7D84}"/>
              </a:ext>
            </a:extLst>
          </p:cNvPr>
          <p:cNvSpPr txBox="1">
            <a:spLocks/>
          </p:cNvSpPr>
          <p:nvPr/>
        </p:nvSpPr>
        <p:spPr>
          <a:xfrm>
            <a:off x="2072420" y="1502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“CSEN160_05_Lecture_DataStructursAndGenerics.C_MapTest”</a:t>
            </a:r>
          </a:p>
        </p:txBody>
      </p:sp>
    </p:spTree>
    <p:extLst>
      <p:ext uri="{BB962C8B-B14F-4D97-AF65-F5344CB8AC3E}">
        <p14:creationId xmlns:p14="http://schemas.microsoft.com/office/powerpoint/2010/main" val="3886890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370592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36516" y="1493837"/>
            <a:ext cx="10408518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AbstractCollection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most of the Collection interface.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AbstractCollection and implements most of the List interface</a:t>
            </a:r>
          </a:p>
          <a:p>
            <a:pPr>
              <a:defRPr/>
            </a:pPr>
            <a:endParaRPr lang="en-US" sz="2000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AbstractSequentialList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AbstractList for use by a collection that uses sequential rather than random access of its elements.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linked list by extending AbstractSequentialList. </a:t>
            </a:r>
          </a:p>
        </p:txBody>
      </p:sp>
    </p:spTree>
    <p:extLst>
      <p:ext uri="{BB962C8B-B14F-4D97-AF65-F5344CB8AC3E}">
        <p14:creationId xmlns:p14="http://schemas.microsoft.com/office/powerpoint/2010/main" val="3816290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803516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817084" y="1658867"/>
            <a:ext cx="4446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Implementing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AbstractList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using it</a:t>
            </a:r>
          </a:p>
        </p:txBody>
      </p:sp>
      <p:sp>
        <p:nvSpPr>
          <p:cNvPr id="7" name="Down Arrow 6"/>
          <p:cNvSpPr/>
          <p:nvPr/>
        </p:nvSpPr>
        <p:spPr>
          <a:xfrm>
            <a:off x="7112899" y="4620249"/>
            <a:ext cx="303451" cy="4575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17" y="1963309"/>
            <a:ext cx="4830587" cy="458120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168" y="2848933"/>
            <a:ext cx="7094869" cy="162700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298" y="5222067"/>
            <a:ext cx="3380103" cy="109404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5158673" y="3147802"/>
            <a:ext cx="2864580" cy="1982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227699" y="3332578"/>
            <a:ext cx="311543" cy="1982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299B359-F267-716D-2189-EB4CF361DA95}"/>
              </a:ext>
            </a:extLst>
          </p:cNvPr>
          <p:cNvSpPr txBox="1">
            <a:spLocks/>
          </p:cNvSpPr>
          <p:nvPr/>
        </p:nvSpPr>
        <p:spPr>
          <a:xfrm>
            <a:off x="1948094" y="13879"/>
            <a:ext cx="5984727" cy="35008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“CSEN160_05_Lecture_DataStructursAndGenerics.E_AbstractList”</a:t>
            </a:r>
          </a:p>
        </p:txBody>
      </p:sp>
    </p:spTree>
    <p:extLst>
      <p:ext uri="{BB962C8B-B14F-4D97-AF65-F5344CB8AC3E}">
        <p14:creationId xmlns:p14="http://schemas.microsoft.com/office/powerpoint/2010/main" val="1881866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937034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36516" y="1493837"/>
            <a:ext cx="10408518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ArrayList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dynamic array by extending AbstractList.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AbstractCollection and implements most of the Set interface. </a:t>
            </a:r>
          </a:p>
          <a:p>
            <a:pPr>
              <a:defRPr/>
            </a:pPr>
            <a:endParaRPr lang="en-US" sz="2000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HashSet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AbstractSet for use with a hash table.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LinkedHashSet</a:t>
            </a:r>
            <a:r>
              <a:rPr lang="en-US" sz="2000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HashSet to allow insertion-order iterations.</a:t>
            </a:r>
          </a:p>
        </p:txBody>
      </p:sp>
    </p:spTree>
    <p:extLst>
      <p:ext uri="{BB962C8B-B14F-4D97-AF65-F5344CB8AC3E}">
        <p14:creationId xmlns:p14="http://schemas.microsoft.com/office/powerpoint/2010/main" val="3410329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750918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6516" y="1489791"/>
            <a:ext cx="10392334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TreeSet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set stored in a tree. Extends AbstractSet.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AbstractMap</a:t>
            </a:r>
            <a:r>
              <a:rPr lang="en-US" sz="2000" b="1" dirty="0"/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most of the Map interface.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HashMap</a:t>
            </a:r>
            <a:r>
              <a:rPr lang="en-US" sz="2000" b="1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hash table.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TreeMap</a:t>
            </a:r>
            <a:r>
              <a:rPr lang="en-US" sz="2000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tree. </a:t>
            </a:r>
          </a:p>
        </p:txBody>
      </p:sp>
    </p:spTree>
    <p:extLst>
      <p:ext uri="{BB962C8B-B14F-4D97-AF65-F5344CB8AC3E}">
        <p14:creationId xmlns:p14="http://schemas.microsoft.com/office/powerpoint/2010/main" val="3599722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779240" cy="686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b="1" dirty="0"/>
              <a:t>The Abstract Collection Classes</a:t>
            </a:r>
            <a:endParaRPr lang="en-US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6516" y="1489791"/>
            <a:ext cx="10392334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WeakHashMap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hash table with weak keys.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LinkedHashMap</a:t>
            </a:r>
            <a:r>
              <a:rPr lang="en-US" sz="2000" b="1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HashMap to allow insertion-order iterations.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IdentityHashMap</a:t>
            </a:r>
            <a:r>
              <a:rPr lang="en-US" sz="2000" b="1" dirty="0">
                <a:solidFill>
                  <a:srgbClr val="C00000"/>
                </a:solidFill>
                <a:hlinkClick r:id="rId3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and uses reference equality when comparing documents.</a:t>
            </a:r>
          </a:p>
        </p:txBody>
      </p:sp>
    </p:spTree>
    <p:extLst>
      <p:ext uri="{BB962C8B-B14F-4D97-AF65-F5344CB8AC3E}">
        <p14:creationId xmlns:p14="http://schemas.microsoft.com/office/powerpoint/2010/main" val="2873358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C276A-D131-6C76-2B19-C87F3983A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9A178050-4ADE-DF6A-10AB-3105F46FA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8823" y="1444428"/>
            <a:ext cx="8963546" cy="1655032"/>
          </a:xfrm>
        </p:spPr>
        <p:txBody>
          <a:bodyPr>
            <a:noAutofit/>
          </a:bodyPr>
          <a:lstStyle/>
          <a:p>
            <a:pPr eaLnBrk="1" hangingPunct="1"/>
            <a:r>
              <a:rPr lang="en-US" altLang="en-US" sz="6000" dirty="0">
                <a:solidFill>
                  <a:srgbClr val="FF0000"/>
                </a:solidFill>
              </a:rPr>
              <a:t>Legacy</a:t>
            </a:r>
            <a:r>
              <a:rPr lang="en-US" altLang="en-US" sz="4400" dirty="0"/>
              <a:t> classes from </a:t>
            </a:r>
            <a:r>
              <a:rPr lang="en-US" altLang="en-US" sz="4400" dirty="0" err="1"/>
              <a:t>java.util</a:t>
            </a:r>
            <a:endParaRPr lang="en-US" alt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1819A-413B-5185-C501-46FC98469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3288906"/>
            <a:ext cx="10380196" cy="3290023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No </a:t>
            </a:r>
            <a:r>
              <a:rPr lang="en-US" b="1" dirty="0">
                <a:solidFill>
                  <a:srgbClr val="FF0000"/>
                </a:solidFill>
              </a:rPr>
              <a:t>warning</a:t>
            </a:r>
            <a:r>
              <a:rPr lang="en-US" b="1" dirty="0">
                <a:solidFill>
                  <a:schemeClr val="tx1"/>
                </a:solidFill>
              </a:rPr>
              <a:t> because those are </a:t>
            </a:r>
            <a:r>
              <a:rPr lang="en-US" b="1" dirty="0">
                <a:solidFill>
                  <a:srgbClr val="FF0000"/>
                </a:solidFill>
              </a:rPr>
              <a:t>legacy</a:t>
            </a:r>
            <a:r>
              <a:rPr lang="en-US" b="1" dirty="0">
                <a:solidFill>
                  <a:schemeClr val="tx1"/>
                </a:solidFill>
              </a:rPr>
              <a:t> classes but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b="1" dirty="0">
                <a:solidFill>
                  <a:schemeClr val="tx1"/>
                </a:solidFill>
              </a:rPr>
              <a:t> annotated </a:t>
            </a:r>
            <a:r>
              <a:rPr lang="en-US" b="1" dirty="0">
                <a:solidFill>
                  <a:srgbClr val="FF0000"/>
                </a:solidFill>
              </a:rPr>
              <a:t>@Deprecated</a:t>
            </a:r>
            <a:r>
              <a:rPr lang="en-US" b="1" dirty="0">
                <a:solidFill>
                  <a:schemeClr val="tx1"/>
                </a:solidFill>
              </a:rPr>
              <a:t>.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They </a:t>
            </a:r>
            <a:r>
              <a:rPr lang="en-US" b="1" dirty="0">
                <a:solidFill>
                  <a:srgbClr val="00B050"/>
                </a:solidFill>
              </a:rPr>
              <a:t>remain</a:t>
            </a:r>
            <a:r>
              <a:rPr lang="en-US" b="1" dirty="0">
                <a:solidFill>
                  <a:schemeClr val="tx1"/>
                </a:solidFill>
              </a:rPr>
              <a:t> in the JDK for backward compatibility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tx1"/>
                </a:solidFill>
              </a:rPr>
              <a:t>javac</a:t>
            </a:r>
            <a:r>
              <a:rPr lang="en-US" b="1" dirty="0">
                <a:solidFill>
                  <a:schemeClr val="tx1"/>
                </a:solidFill>
              </a:rPr>
              <a:t> won't mark them as obsolete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82E5B66-550D-652F-9D85-EFA8727573EF}"/>
              </a:ext>
            </a:extLst>
          </p:cNvPr>
          <p:cNvSpPr txBox="1">
            <a:spLocks/>
          </p:cNvSpPr>
          <p:nvPr/>
        </p:nvSpPr>
        <p:spPr>
          <a:xfrm>
            <a:off x="5361627" y="6267918"/>
            <a:ext cx="5982954" cy="35945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“CSEN160_05_Lecture_DataStructursAndGenerics.D2_Legacy”</a:t>
            </a:r>
          </a:p>
        </p:txBody>
      </p:sp>
    </p:spTree>
    <p:extLst>
      <p:ext uri="{BB962C8B-B14F-4D97-AF65-F5344CB8AC3E}">
        <p14:creationId xmlns:p14="http://schemas.microsoft.com/office/powerpoint/2010/main" val="3576546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90EE2-7F17-A064-C4C2-4C6049AB3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02AE1277-B115-C217-FCE8-F4CA1C90D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50662"/>
            <a:ext cx="6601215" cy="642319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FF0000"/>
                </a:solidFill>
              </a:rPr>
              <a:t>Legacy</a:t>
            </a:r>
            <a:r>
              <a:rPr lang="en-US" altLang="en-US" dirty="0"/>
              <a:t> classes from </a:t>
            </a:r>
            <a:r>
              <a:rPr lang="en-US" altLang="en-US" dirty="0" err="1"/>
              <a:t>java.util</a:t>
            </a:r>
            <a:endParaRPr lang="en-US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97D35-724F-573E-D382-90A6A1376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733239"/>
            <a:ext cx="10380196" cy="4914367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Vector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This implements a dynamic array. It is similar to ArrayList, but with some differences.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Stack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Stack is a subclass of Vector that implements a standard last-in, first-out stack.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Dictionary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Dictionary is an abstract class that represents a key/value storage repository and operates much like Map. </a:t>
            </a:r>
          </a:p>
        </p:txBody>
      </p:sp>
    </p:spTree>
    <p:extLst>
      <p:ext uri="{BB962C8B-B14F-4D97-AF65-F5344CB8AC3E}">
        <p14:creationId xmlns:p14="http://schemas.microsoft.com/office/powerpoint/2010/main" val="38185994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936516" y="850662"/>
            <a:ext cx="6601215" cy="642319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FF0000"/>
                </a:solidFill>
              </a:rPr>
              <a:t>Legacy</a:t>
            </a:r>
            <a:r>
              <a:rPr lang="en-US" altLang="en-US" dirty="0"/>
              <a:t> classes from </a:t>
            </a:r>
            <a:r>
              <a:rPr lang="en-US" altLang="en-US" dirty="0" err="1"/>
              <a:t>java.util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33239"/>
            <a:ext cx="10380196" cy="4914367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rgbClr val="C00000"/>
                </a:solidFill>
              </a:rPr>
              <a:t>Hashtable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Hashtable was part of the original java.util and is a concrete implementation of a Dictionary.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Properties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Properties is a subclass of Hashtable. It is used to maintain lists of values in which the key is a String and the value is also a String.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rgbClr val="C00000"/>
                </a:solidFill>
              </a:rPr>
              <a:t>BitSet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A BitSet class creates a special type of array that holds bit values. This array can increase in size as needed.</a:t>
            </a:r>
          </a:p>
        </p:txBody>
      </p:sp>
    </p:spTree>
    <p:extLst>
      <p:ext uri="{BB962C8B-B14F-4D97-AF65-F5344CB8AC3E}">
        <p14:creationId xmlns:p14="http://schemas.microsoft.com/office/powerpoint/2010/main" val="1845540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Iterators</a:t>
            </a:r>
          </a:p>
        </p:txBody>
      </p:sp>
    </p:spTree>
    <p:extLst>
      <p:ext uri="{BB962C8B-B14F-4D97-AF65-F5344CB8AC3E}">
        <p14:creationId xmlns:p14="http://schemas.microsoft.com/office/powerpoint/2010/main" val="23582472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AEC4F-9324-C6CF-732A-51B5BAED9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134F4D55-99C8-D1FA-4DF2-1345198F8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10201"/>
            <a:ext cx="4557976" cy="682779"/>
          </a:xfrm>
        </p:spPr>
        <p:txBody>
          <a:bodyPr/>
          <a:lstStyle/>
          <a:p>
            <a:pPr eaLnBrk="1" hangingPunct="1"/>
            <a:r>
              <a:rPr lang="en-US" altLang="en-US" dirty="0"/>
              <a:t>What is an iterator?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00C65-E05A-25D2-4322-9A8AE01FF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632089"/>
            <a:ext cx="10400426" cy="5003379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Cycle through the elements in a collection: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An object to move </a:t>
            </a:r>
            <a:r>
              <a:rPr lang="en-US" dirty="0">
                <a:solidFill>
                  <a:srgbClr val="0000FF"/>
                </a:solidFill>
              </a:rPr>
              <a:t>sequentially </a:t>
            </a:r>
            <a:r>
              <a:rPr lang="en-US" dirty="0">
                <a:solidFill>
                  <a:schemeClr val="tx1"/>
                </a:solidFill>
              </a:rPr>
              <a:t>through data.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Cycle through plus </a:t>
            </a:r>
            <a:r>
              <a:rPr lang="en-US" b="1" dirty="0">
                <a:solidFill>
                  <a:schemeClr val="tx1"/>
                </a:solidFill>
              </a:rPr>
              <a:t>removing.</a:t>
            </a:r>
            <a:endParaRPr lang="en-US" dirty="0"/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Iterator</a:t>
            </a:r>
            <a:r>
              <a:rPr lang="en-US" dirty="0"/>
              <a:t>: </a:t>
            </a:r>
            <a:r>
              <a:rPr lang="en-US" dirty="0">
                <a:solidFill>
                  <a:schemeClr val="tx1"/>
                </a:solidFill>
              </a:rPr>
              <a:t>implement </a:t>
            </a:r>
            <a:r>
              <a:rPr lang="en-US" b="1" dirty="0">
                <a:solidFill>
                  <a:schemeClr val="tx1"/>
                </a:solidFill>
              </a:rPr>
              <a:t>ListIterator</a:t>
            </a:r>
            <a:r>
              <a:rPr lang="en-US" dirty="0">
                <a:solidFill>
                  <a:schemeClr val="tx1"/>
                </a:solidFill>
              </a:rPr>
              <a:t> interface.</a:t>
            </a:r>
            <a:endParaRPr lang="en-US" dirty="0"/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tx1"/>
                </a:solidFill>
              </a:rPr>
              <a:t>ListIterator</a:t>
            </a:r>
            <a:r>
              <a:rPr lang="en-US" dirty="0">
                <a:solidFill>
                  <a:schemeClr val="tx1"/>
                </a:solidFill>
              </a:rPr>
              <a:t> extends Iterator to allow bidirectional traversal of a list.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Sets and lists provide an iterator,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whereas maps do not</a:t>
            </a:r>
            <a:r>
              <a:rPr lang="en-US" dirty="0"/>
              <a:t>.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15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282" y="756605"/>
            <a:ext cx="8229600" cy="663547"/>
          </a:xfrm>
        </p:spPr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dirty="0">
                <a:latin typeface="Courier"/>
                <a:cs typeface="Courier"/>
              </a:rPr>
              <a:t>Iterator</a:t>
            </a:r>
            <a:r>
              <a:rPr lang="en-US" dirty="0"/>
              <a:t> Interface </a:t>
            </a:r>
            <a:r>
              <a:rPr lang="en-US" sz="2400" dirty="0"/>
              <a:t>(Classic)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43001"/>
            <a:ext cx="8229600" cy="4525963"/>
          </a:xfrm>
        </p:spPr>
        <p:txBody>
          <a:bodyPr>
            <a:normAutofit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769" y="2282629"/>
            <a:ext cx="7158752" cy="24384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94" y="2245433"/>
            <a:ext cx="3682057" cy="24755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54301" y="3012829"/>
            <a:ext cx="1666963" cy="36964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11194" y="3719534"/>
            <a:ext cx="1507769" cy="21319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321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814444"/>
            <a:ext cx="8229600" cy="571500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ListIterator</a:t>
            </a:r>
            <a:r>
              <a:rPr lang="en-US" dirty="0"/>
              <a:t> Interface </a:t>
            </a:r>
            <a:r>
              <a:rPr lang="en-US" sz="2200" dirty="0"/>
              <a:t>(New)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1834" y="1749903"/>
            <a:ext cx="10371292" cy="4885566"/>
          </a:xfrm>
        </p:spPr>
        <p:txBody>
          <a:bodyPr>
            <a:normAutofit/>
          </a:bodyPr>
          <a:lstStyle/>
          <a:p>
            <a:r>
              <a:rPr lang="en-US" sz="2000" dirty="0" err="1">
                <a:latin typeface="Courier"/>
                <a:cs typeface="Courier"/>
              </a:rPr>
              <a:t>ListIterator</a:t>
            </a:r>
            <a:r>
              <a:rPr lang="en-US" sz="2000" dirty="0">
                <a:cs typeface="Courier"/>
              </a:rPr>
              <a:t> (</a:t>
            </a:r>
            <a:r>
              <a:rPr lang="en-US" b="1" dirty="0">
                <a:solidFill>
                  <a:srgbClr val="00B050"/>
                </a:solidFill>
              </a:rPr>
              <a:t>extends</a:t>
            </a:r>
            <a:r>
              <a:rPr lang="en-US" dirty="0"/>
              <a:t> </a:t>
            </a:r>
            <a:r>
              <a:rPr lang="en-US" sz="2000" dirty="0">
                <a:latin typeface="Courier"/>
                <a:cs typeface="Courier"/>
              </a:rPr>
              <a:t>Iterator</a:t>
            </a:r>
            <a:r>
              <a:rPr lang="en-US" dirty="0"/>
              <a:t>) and is used to move in both, </a:t>
            </a:r>
            <a:br>
              <a:rPr lang="en-US" dirty="0"/>
            </a:br>
            <a:r>
              <a:rPr lang="en-US" dirty="0"/>
              <a:t>the forward and backward directions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286" y="3192309"/>
            <a:ext cx="6830785" cy="2667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556" y="2772092"/>
            <a:ext cx="3823914" cy="36003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31732" y="2824121"/>
            <a:ext cx="3685922" cy="18611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31732" y="3769434"/>
            <a:ext cx="3685922" cy="69737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31732" y="4848372"/>
            <a:ext cx="3685922" cy="69737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83000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78" y="1610882"/>
            <a:ext cx="5156419" cy="34668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6566" y="1610882"/>
            <a:ext cx="5292216" cy="498285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51074" y="1702755"/>
            <a:ext cx="2777229" cy="26361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06566" y="2935389"/>
            <a:ext cx="2821737" cy="1033754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51074" y="4439722"/>
            <a:ext cx="2777229" cy="101835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814444"/>
            <a:ext cx="8229600" cy="5715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"/>
                <a:cs typeface="Courier"/>
              </a:rPr>
              <a:t>Iterator </a:t>
            </a:r>
            <a:r>
              <a:rPr lang="en-US" dirty="0"/>
              <a:t>vs </a:t>
            </a:r>
            <a:r>
              <a:rPr lang="en-US" dirty="0" err="1">
                <a:latin typeface="Courier"/>
                <a:cs typeface="Courier"/>
              </a:rPr>
              <a:t>ListIterator</a:t>
            </a:r>
            <a:r>
              <a:rPr lang="en-US" dirty="0"/>
              <a:t> Interface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6360" y="3669721"/>
            <a:ext cx="2821737" cy="29942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016360" y="2667569"/>
            <a:ext cx="2821737" cy="53687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68743" y="5211108"/>
            <a:ext cx="52962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You get the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ListIterator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from the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interface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you cannot get the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ListIterator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from the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interface</a:t>
            </a:r>
          </a:p>
        </p:txBody>
      </p:sp>
    </p:spTree>
    <p:extLst>
      <p:ext uri="{BB962C8B-B14F-4D97-AF65-F5344CB8AC3E}">
        <p14:creationId xmlns:p14="http://schemas.microsoft.com/office/powerpoint/2010/main" val="4171755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3"/>
            <a:ext cx="10417284" cy="674687"/>
          </a:xfrm>
        </p:spPr>
        <p:txBody>
          <a:bodyPr/>
          <a:lstStyle/>
          <a:p>
            <a:r>
              <a:rPr lang="en-US" dirty="0"/>
              <a:t>Example: Using an Iterator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44227"/>
            <a:ext cx="10417284" cy="499528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You can use an iterator to print and/or delete elements: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354719"/>
            <a:ext cx="7039675" cy="391256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4755" y="2561075"/>
            <a:ext cx="1991019" cy="3498862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V="1">
            <a:off x="3839671" y="4741933"/>
            <a:ext cx="4911487" cy="161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71AF6B6-28F2-FF8F-CC71-81C306E4F2C4}"/>
              </a:ext>
            </a:extLst>
          </p:cNvPr>
          <p:cNvSpPr txBox="1">
            <a:spLocks/>
          </p:cNvSpPr>
          <p:nvPr/>
        </p:nvSpPr>
        <p:spPr>
          <a:xfrm>
            <a:off x="1479881" y="31502"/>
            <a:ext cx="8498307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S_ListMapSet.MyListIteratorExamples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250A9A-8DC2-FE02-7F81-51FE9E671BCB}"/>
              </a:ext>
            </a:extLst>
          </p:cNvPr>
          <p:cNvSpPr txBox="1"/>
          <p:nvPr/>
        </p:nvSpPr>
        <p:spPr>
          <a:xfrm>
            <a:off x="3538760" y="2907879"/>
            <a:ext cx="2787943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10 numbers 0-10</a:t>
            </a:r>
          </a:p>
        </p:txBody>
      </p:sp>
    </p:spTree>
    <p:extLst>
      <p:ext uri="{BB962C8B-B14F-4D97-AF65-F5344CB8AC3E}">
        <p14:creationId xmlns:p14="http://schemas.microsoft.com/office/powerpoint/2010/main" val="11983181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3"/>
            <a:ext cx="10417284" cy="674687"/>
          </a:xfrm>
        </p:spPr>
        <p:txBody>
          <a:bodyPr/>
          <a:lstStyle/>
          <a:p>
            <a:r>
              <a:rPr lang="en-US" dirty="0"/>
              <a:t>Example: Using a </a:t>
            </a:r>
            <a:r>
              <a:rPr lang="en-US" dirty="0" err="1"/>
              <a:t>ListIterator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1661372"/>
            <a:ext cx="5617886" cy="47237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3246" y="1661372"/>
            <a:ext cx="2590349" cy="4835722"/>
          </a:xfrm>
          <a:prstGeom prst="rect">
            <a:avLst/>
          </a:prstGeom>
        </p:spPr>
      </p:pic>
      <p:cxnSp>
        <p:nvCxnSpPr>
          <p:cNvPr id="13" name="Straight Arrow Connector 12"/>
          <p:cNvCxnSpPr/>
          <p:nvPr/>
        </p:nvCxnSpPr>
        <p:spPr>
          <a:xfrm flipV="1">
            <a:off x="2767476" y="3046651"/>
            <a:ext cx="4741933" cy="157795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3957005" y="3677830"/>
            <a:ext cx="3576680" cy="1719558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4062202" y="3859901"/>
            <a:ext cx="3475529" cy="1751926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520279" y="4062202"/>
            <a:ext cx="335820" cy="10357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520279" y="5731858"/>
            <a:ext cx="335820" cy="6001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3957005" y="4062202"/>
            <a:ext cx="5563274" cy="424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3957005" y="4487034"/>
            <a:ext cx="5563274" cy="12448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99074" y="5490787"/>
            <a:ext cx="2364750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Print all items again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745" y="3316018"/>
            <a:ext cx="3147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gets a little bit complicated!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5FAAB-4236-90DB-8371-6EA7F6953F7C}"/>
              </a:ext>
            </a:extLst>
          </p:cNvPr>
          <p:cNvSpPr txBox="1">
            <a:spLocks/>
          </p:cNvSpPr>
          <p:nvPr/>
        </p:nvSpPr>
        <p:spPr>
          <a:xfrm>
            <a:off x="1479881" y="31502"/>
            <a:ext cx="9135981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S_ListMapSet.myCollectionsListIterator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ECF2F4-685F-58E1-2DDD-7143D05BF24A}"/>
              </a:ext>
            </a:extLst>
          </p:cNvPr>
          <p:cNvSpPr txBox="1"/>
          <p:nvPr/>
        </p:nvSpPr>
        <p:spPr>
          <a:xfrm>
            <a:off x="4617591" y="1857122"/>
            <a:ext cx="2787943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10 numbers 0-10</a:t>
            </a:r>
          </a:p>
        </p:txBody>
      </p:sp>
    </p:spTree>
    <p:extLst>
      <p:ext uri="{BB962C8B-B14F-4D97-AF65-F5344CB8AC3E}">
        <p14:creationId xmlns:p14="http://schemas.microsoft.com/office/powerpoint/2010/main" val="25061010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Lists</a:t>
            </a:r>
          </a:p>
        </p:txBody>
      </p:sp>
    </p:spTree>
    <p:extLst>
      <p:ext uri="{BB962C8B-B14F-4D97-AF65-F5344CB8AC3E}">
        <p14:creationId xmlns:p14="http://schemas.microsoft.com/office/powerpoint/2010/main" val="1970918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Important: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Lists memorize the sequence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Elements can be double or triple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List elements:</a:t>
            </a: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java.util.ArrayList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java.util.LinkedList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java.util.concurrent.CopyonWriteArrayList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java.util.Vector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063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4873565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ArrayList</a:t>
            </a:r>
            <a:r>
              <a:rPr lang="en-US" altLang="en-US" dirty="0"/>
              <a:t> or </a:t>
            </a:r>
            <a:r>
              <a:rPr lang="en-US" altLang="en-US" dirty="0" err="1"/>
              <a:t>LinkedList</a:t>
            </a:r>
            <a:r>
              <a:rPr lang="en-US" altLang="en-US" dirty="0"/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ArraList</a:t>
            </a: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Access to an element: </a:t>
            </a:r>
            <a:r>
              <a:rPr lang="en-US" b="1" dirty="0">
                <a:solidFill>
                  <a:srgbClr val="92D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Add or delete element in the middle: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Size of an array can be too </a:t>
            </a:r>
            <a:r>
              <a:rPr lang="en-US" b="1" dirty="0">
                <a:solidFill>
                  <a:srgbClr val="FF0000"/>
                </a:solidFill>
              </a:rPr>
              <a:t>small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LinkedList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Access to an element: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Add or delete element in the middle: </a:t>
            </a:r>
            <a:r>
              <a:rPr lang="en-US" b="1" dirty="0">
                <a:solidFill>
                  <a:srgbClr val="92D050"/>
                </a:solidFill>
              </a:rPr>
              <a:t>fast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802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Interface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List: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Use always the interface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when working with lists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List </a:t>
            </a:r>
            <a:r>
              <a:rPr lang="en-US" dirty="0" err="1">
                <a:solidFill>
                  <a:schemeClr val="tx1"/>
                </a:solidFill>
              </a:rPr>
              <a:t>myList</a:t>
            </a:r>
            <a:r>
              <a:rPr lang="en-US" dirty="0">
                <a:solidFill>
                  <a:schemeClr val="tx1"/>
                </a:solidFill>
              </a:rPr>
              <a:t>=new </a:t>
            </a:r>
            <a:r>
              <a:rPr lang="en-US" dirty="0" err="1">
                <a:solidFill>
                  <a:schemeClr val="tx1"/>
                </a:solidFill>
              </a:rPr>
              <a:t>ArrayList</a:t>
            </a:r>
            <a:r>
              <a:rPr lang="en-US" dirty="0">
                <a:solidFill>
                  <a:schemeClr val="tx1"/>
                </a:solidFill>
              </a:rPr>
              <a:t>();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List </a:t>
            </a:r>
            <a:r>
              <a:rPr lang="en-US" dirty="0" err="1">
                <a:solidFill>
                  <a:schemeClr val="tx1"/>
                </a:solidFill>
              </a:rPr>
              <a:t>myList</a:t>
            </a:r>
            <a:r>
              <a:rPr lang="en-US" dirty="0">
                <a:solidFill>
                  <a:schemeClr val="tx1"/>
                </a:solidFill>
              </a:rPr>
              <a:t>=new </a:t>
            </a:r>
            <a:r>
              <a:rPr lang="en-US" dirty="0" err="1">
                <a:solidFill>
                  <a:schemeClr val="tx1"/>
                </a:solidFill>
              </a:rPr>
              <a:t>LinkedList</a:t>
            </a:r>
            <a:r>
              <a:rPr lang="en-US" dirty="0">
                <a:solidFill>
                  <a:schemeClr val="tx1"/>
                </a:solidFill>
              </a:rPr>
              <a:t>();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To switch the list implementation,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rgbClr val="00B050"/>
                </a:solidFill>
              </a:rPr>
              <a:t>only one line needs to be changed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34" y="765695"/>
            <a:ext cx="2880991" cy="582516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43334" y="789473"/>
            <a:ext cx="2880991" cy="60640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643334" y="2111172"/>
            <a:ext cx="2880991" cy="30834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643334" y="2525834"/>
            <a:ext cx="2880991" cy="88495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646031" y="3855377"/>
            <a:ext cx="2880991" cy="141253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0033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342" y="765695"/>
            <a:ext cx="2880991" cy="5825162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1556718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Interface List versus Collection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051342" y="789473"/>
            <a:ext cx="2880991" cy="60640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051342" y="2111173"/>
            <a:ext cx="2880991" cy="16673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51342" y="2525834"/>
            <a:ext cx="2880991" cy="88495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54039" y="3855377"/>
            <a:ext cx="2880991" cy="141253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252" y="765695"/>
            <a:ext cx="2729745" cy="39666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92555" y="765696"/>
            <a:ext cx="2880991" cy="3469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31453" y="2749025"/>
            <a:ext cx="2880991" cy="84383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36516" y="2592360"/>
            <a:ext cx="4040086" cy="399849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Collection interface: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Collection </a:t>
            </a:r>
            <a:r>
              <a:rPr lang="en-US" dirty="0">
                <a:solidFill>
                  <a:srgbClr val="00B050"/>
                </a:solidFill>
              </a:rPr>
              <a:t>includes</a:t>
            </a:r>
            <a:r>
              <a:rPr lang="en-US" dirty="0">
                <a:solidFill>
                  <a:schemeClr val="tx1"/>
                </a:solidFill>
              </a:rPr>
              <a:t> also Set(s)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Index is </a:t>
            </a:r>
            <a:r>
              <a:rPr lang="en-US" b="1" dirty="0">
                <a:solidFill>
                  <a:srgbClr val="FF0000"/>
                </a:solidFill>
              </a:rPr>
              <a:t>missing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Use it when you want to make your container selection even </a:t>
            </a:r>
            <a:r>
              <a:rPr lang="en-US" b="1" dirty="0">
                <a:solidFill>
                  <a:srgbClr val="00B050"/>
                </a:solidFill>
              </a:rPr>
              <a:t>more generic </a:t>
            </a:r>
            <a:r>
              <a:rPr lang="en-US" dirty="0">
                <a:solidFill>
                  <a:schemeClr val="tx1"/>
                </a:solidFill>
              </a:rPr>
              <a:t>as with List</a:t>
            </a:r>
          </a:p>
          <a:p>
            <a:pPr>
              <a:defRPr/>
            </a:pPr>
            <a:r>
              <a:rPr lang="en-US" b="1" dirty="0">
                <a:solidFill>
                  <a:srgbClr val="00B050"/>
                </a:solidFill>
              </a:rPr>
              <a:t>Usually</a:t>
            </a:r>
            <a:r>
              <a:rPr lang="en-US" dirty="0">
                <a:solidFill>
                  <a:schemeClr val="tx1"/>
                </a:solidFill>
              </a:rPr>
              <a:t> you access everything via Iterator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58FF7A-5104-E498-8FC2-DB4EDB362147}"/>
              </a:ext>
            </a:extLst>
          </p:cNvPr>
          <p:cNvSpPr txBox="1"/>
          <p:nvPr/>
        </p:nvSpPr>
        <p:spPr>
          <a:xfrm>
            <a:off x="10530513" y="3429000"/>
            <a:ext cx="18167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D747F-4813-6464-EA6C-3D58528A8D45}"/>
              </a:ext>
            </a:extLst>
          </p:cNvPr>
          <p:cNvSpPr txBox="1"/>
          <p:nvPr/>
        </p:nvSpPr>
        <p:spPr>
          <a:xfrm>
            <a:off x="5131453" y="4732355"/>
            <a:ext cx="25057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</p:spTree>
    <p:extLst>
      <p:ext uri="{BB962C8B-B14F-4D97-AF65-F5344CB8AC3E}">
        <p14:creationId xmlns:p14="http://schemas.microsoft.com/office/powerpoint/2010/main" val="3892110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6864206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Interface List versus Collection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955" y="2979404"/>
            <a:ext cx="5475658" cy="26725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27" y="2979404"/>
            <a:ext cx="5502873" cy="26452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92126" y="2045457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0504" y="2045457"/>
            <a:ext cx="3817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 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more generic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E0B505D-B249-D771-FDC2-6855557AC887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.B_RocketExample”</a:t>
            </a:r>
          </a:p>
        </p:txBody>
      </p:sp>
    </p:spTree>
    <p:extLst>
      <p:ext uri="{BB962C8B-B14F-4D97-AF65-F5344CB8AC3E}">
        <p14:creationId xmlns:p14="http://schemas.microsoft.com/office/powerpoint/2010/main" val="38584052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CC5A9-6652-C72E-5F29-871CD39C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718D6AEB-7CA0-39B7-5DC5-3ACEC9798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10202"/>
            <a:ext cx="6864206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Interface List versus Collection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70" y="2545134"/>
            <a:ext cx="5502873" cy="414212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69811" y="5129796"/>
            <a:ext cx="4244386" cy="134149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46028" y="1946616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Must use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1521" y="2911231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61521" y="3651779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69613" y="4389248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029363-82D2-587E-48D4-1F687C25664E}"/>
              </a:ext>
            </a:extLst>
          </p:cNvPr>
          <p:cNvSpPr txBox="1"/>
          <p:nvPr/>
        </p:nvSpPr>
        <p:spPr>
          <a:xfrm>
            <a:off x="2310307" y="1584825"/>
            <a:ext cx="2288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684" y="2604568"/>
            <a:ext cx="5606290" cy="394073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681887" y="5149225"/>
            <a:ext cx="5153524" cy="11756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845185" y="1916802"/>
            <a:ext cx="3082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use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index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&amp;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iterator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50802" y="2969771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750802" y="3718185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750802" y="4441868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6AF22-A94E-9340-98FB-06CF6116E5B0}"/>
              </a:ext>
            </a:extLst>
          </p:cNvPr>
          <p:cNvSpPr txBox="1"/>
          <p:nvPr/>
        </p:nvSpPr>
        <p:spPr>
          <a:xfrm>
            <a:off x="8552396" y="1566908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</p:spTree>
    <p:extLst>
      <p:ext uri="{BB962C8B-B14F-4D97-AF65-F5344CB8AC3E}">
        <p14:creationId xmlns:p14="http://schemas.microsoft.com/office/powerpoint/2010/main" val="1580435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Sets</a:t>
            </a:r>
            <a:br>
              <a:rPr lang="en-US" altLang="en-US" dirty="0"/>
            </a:br>
            <a:r>
              <a:rPr lang="en-US" altLang="en-US" sz="1800" b="0" dirty="0">
                <a:latin typeface="Google Sans"/>
              </a:rPr>
              <a:t>C</a:t>
            </a:r>
            <a:r>
              <a:rPr lang="en-US" sz="1800" b="0" i="0" dirty="0">
                <a:effectLst/>
                <a:latin typeface="Google Sans"/>
              </a:rPr>
              <a:t>ollection of unique elements, with no key-value association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07038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709939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91381"/>
            <a:ext cx="5159484" cy="4249240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HashSet</a:t>
            </a:r>
          </a:p>
          <a:p>
            <a:pPr lvl="1">
              <a:defRPr/>
            </a:pPr>
            <a:r>
              <a:rPr lang="en-US" b="1" dirty="0">
                <a:solidFill>
                  <a:srgbClr val="00B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hash-based set implementation 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add(element) returns true is not already in set</a:t>
            </a: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TreeSet</a:t>
            </a:r>
            <a:endParaRPr lang="en-US" b="1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Balanced binary trees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Sorting 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Insert new element: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CE74331-0F9A-470A-490B-BAB08429C675}"/>
              </a:ext>
            </a:extLst>
          </p:cNvPr>
          <p:cNvSpPr txBox="1">
            <a:spLocks/>
          </p:cNvSpPr>
          <p:nvPr/>
        </p:nvSpPr>
        <p:spPr>
          <a:xfrm>
            <a:off x="6456782" y="1891381"/>
            <a:ext cx="5159484" cy="42492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LinkedHashSet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Combination List and Set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Fast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set implementation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Hash based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Keeps inserting sequence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High performant</a:t>
            </a:r>
          </a:p>
        </p:txBody>
      </p:sp>
    </p:spTree>
    <p:extLst>
      <p:ext uri="{BB962C8B-B14F-4D97-AF65-F5344CB8AC3E}">
        <p14:creationId xmlns:p14="http://schemas.microsoft.com/office/powerpoint/2010/main" val="908100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513" y="2104040"/>
            <a:ext cx="7788932" cy="4381615"/>
          </a:xfrm>
          <a:prstGeom prst="rect">
            <a:avLst/>
          </a:prstGeom>
        </p:spPr>
      </p:pic>
      <p:sp>
        <p:nvSpPr>
          <p:cNvPr id="26626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619934" cy="634227"/>
          </a:xfrm>
        </p:spPr>
        <p:txBody>
          <a:bodyPr/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17179" y="2464025"/>
            <a:ext cx="3548357" cy="18207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F0F8432-0156-8D51-851A-5F9056F1E212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P_SetTest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603742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619934" cy="634227"/>
          </a:xfrm>
        </p:spPr>
        <p:txBody>
          <a:bodyPr/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349" y="1761013"/>
            <a:ext cx="5008567" cy="488659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867" y="1160065"/>
            <a:ext cx="5135318" cy="313999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495" y="4508391"/>
            <a:ext cx="2557030" cy="21392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87150" y="1761013"/>
            <a:ext cx="995321" cy="15275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350021" y="6059409"/>
            <a:ext cx="2473466" cy="41017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39316" y="2487948"/>
            <a:ext cx="4706869" cy="15257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H="1" flipV="1">
            <a:off x="3463391" y="1836892"/>
            <a:ext cx="3236814" cy="36414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896315" y="1873306"/>
            <a:ext cx="2803890" cy="4341377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3"/>
          </p:cNvCxnSpPr>
          <p:nvPr/>
        </p:nvCxnSpPr>
        <p:spPr>
          <a:xfrm flipH="1">
            <a:off x="9949159" y="3250799"/>
            <a:ext cx="1497026" cy="2808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39316" y="1413833"/>
            <a:ext cx="3363590" cy="95713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 flipH="1">
            <a:off x="8593742" y="1836892"/>
            <a:ext cx="1509164" cy="30385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3B05ADD-FFBF-BF07-E067-181FB00E4783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Q_TreeSetTest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1260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7240486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 interface vs Collection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526" y="1656365"/>
            <a:ext cx="3627392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Why the same?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Differences, set enforces: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set logic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no duplicates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Unordered</a:t>
            </a:r>
            <a:endParaRPr lang="en-US" b="1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457200" lvl="1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While </a:t>
            </a:r>
            <a:r>
              <a:rPr lang="en-US" b="1" dirty="0">
                <a:solidFill>
                  <a:srgbClr val="00B0F0"/>
                </a:solidFill>
              </a:rPr>
              <a:t>Collection does not.</a:t>
            </a:r>
            <a:r>
              <a:rPr lang="en-US" dirty="0">
                <a:solidFill>
                  <a:schemeClr val="tx1"/>
                </a:solidFill>
              </a:rPr>
              <a:t>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If you need a Collection and you have no requirement for </a:t>
            </a:r>
            <a:r>
              <a:rPr lang="en-US" b="1" dirty="0">
                <a:solidFill>
                  <a:schemeClr val="tx1"/>
                </a:solidFill>
              </a:rPr>
              <a:t>avoiding duplicates</a:t>
            </a:r>
            <a:r>
              <a:rPr lang="en-US" dirty="0">
                <a:solidFill>
                  <a:schemeClr val="tx1"/>
                </a:solidFill>
              </a:rPr>
              <a:t> then use a Collection.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If you have the requirement for Set then use Set.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2089289"/>
            <a:ext cx="2676236" cy="399292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2889" y="2089289"/>
            <a:ext cx="2674328" cy="399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63869" y="1691235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Set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6712" y="1719957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</p:spTree>
    <p:extLst>
      <p:ext uri="{BB962C8B-B14F-4D97-AF65-F5344CB8AC3E}">
        <p14:creationId xmlns:p14="http://schemas.microsoft.com/office/powerpoint/2010/main" val="14096447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4946394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Sets and Set interface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73" y="4085247"/>
            <a:ext cx="5170850" cy="194859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170" y="4085247"/>
            <a:ext cx="5198065" cy="189416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315" y="1605329"/>
            <a:ext cx="5159964" cy="188327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CAA5D68-BE49-9B6C-4584-262045AFFE80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T_Set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39147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6423190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Sets and Collection interface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546" y="1587675"/>
            <a:ext cx="5208951" cy="191049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00" y="4093339"/>
            <a:ext cx="5187179" cy="189416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744" y="4076937"/>
            <a:ext cx="5219837" cy="19431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E6DEDB-C1EA-2A8C-436A-4F6EF837ACFF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T_Set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8419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Maps</a:t>
            </a:r>
            <a:br>
              <a:rPr lang="en-US" altLang="en-US" dirty="0"/>
            </a:br>
            <a:r>
              <a:rPr lang="en-US" altLang="en-US" sz="2000" b="0" dirty="0">
                <a:latin typeface="Google Sans"/>
              </a:rPr>
              <a:t>D</a:t>
            </a:r>
            <a:r>
              <a:rPr lang="en-US" sz="2000" b="0" i="0" dirty="0">
                <a:effectLst/>
                <a:latin typeface="Google Sans"/>
              </a:rPr>
              <a:t>ata in key-value pairs, where each unique key maps to a specific value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10994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5424179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Maps (associative, Keys)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3999626" cy="4995287"/>
          </a:xfrm>
        </p:spPr>
        <p:txBody>
          <a:bodyPr rtlCol="0">
            <a:normAutofit fontScale="92500"/>
          </a:bodyPr>
          <a:lstStyle/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HashMap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marL="228600" lvl="1">
              <a:spcBef>
                <a:spcPts val="1000"/>
              </a:spcBef>
              <a:defRPr/>
            </a:pPr>
            <a:r>
              <a:rPr lang="en-US" b="1" dirty="0">
                <a:solidFill>
                  <a:srgbClr val="00B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hash-based implementation</a:t>
            </a:r>
          </a:p>
          <a:p>
            <a:pPr marL="228600" lvl="1">
              <a:spcBef>
                <a:spcPts val="1000"/>
              </a:spcBef>
              <a:defRPr/>
            </a:pPr>
            <a:r>
              <a:rPr lang="en-US" dirty="0">
                <a:solidFill>
                  <a:schemeClr val="tx1"/>
                </a:solidFill>
              </a:rPr>
              <a:t>Keys: </a:t>
            </a:r>
            <a:r>
              <a:rPr lang="en-US" b="1" dirty="0">
                <a:solidFill>
                  <a:srgbClr val="FF0000"/>
                </a:solidFill>
              </a:rPr>
              <a:t>NOT sorted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TreeMap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b="1" dirty="0">
                <a:solidFill>
                  <a:srgbClr val="FF0000"/>
                </a:solidFill>
              </a:rPr>
              <a:t>Slower </a:t>
            </a:r>
            <a:r>
              <a:rPr lang="en-US" dirty="0">
                <a:solidFill>
                  <a:schemeClr val="tx1"/>
                </a:solidFill>
              </a:rPr>
              <a:t>implementation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Binary Tree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Keys: </a:t>
            </a:r>
            <a:r>
              <a:rPr lang="en-US" b="1" dirty="0">
                <a:solidFill>
                  <a:srgbClr val="92D050"/>
                </a:solidFill>
              </a:rPr>
              <a:t>are sorted</a:t>
            </a:r>
          </a:p>
          <a:p>
            <a:pPr>
              <a:defRPr/>
            </a:pPr>
            <a:endParaRPr lang="en-US" b="1" dirty="0">
              <a:solidFill>
                <a:srgbClr val="92D050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LinkedHashMap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Stores key-value pairs in the order in which keys were inserted.</a:t>
            </a: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6942967" y="3026421"/>
            <a:ext cx="43338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general: &lt;Key, Object&gt; </a:t>
            </a:r>
          </a:p>
        </p:txBody>
      </p:sp>
    </p:spTree>
    <p:extLst>
      <p:ext uri="{BB962C8B-B14F-4D97-AF65-F5344CB8AC3E}">
        <p14:creationId xmlns:p14="http://schemas.microsoft.com/office/powerpoint/2010/main" val="31635445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772" y="810202"/>
            <a:ext cx="2415853" cy="5739416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HashMap</a:t>
            </a:r>
            <a:endParaRPr lang="en-US" alt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2728" y="1440382"/>
            <a:ext cx="5484842" cy="496541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6016428" y="1654821"/>
            <a:ext cx="1847344" cy="6635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111388"/>
            <a:ext cx="3463391" cy="4976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481720" y="4487034"/>
            <a:ext cx="1382052" cy="33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489812" y="5814127"/>
            <a:ext cx="1335186" cy="24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385790" y="154153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443" y="2855140"/>
            <a:ext cx="1950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sorted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cxnSp>
        <p:nvCxnSpPr>
          <p:cNvPr id="21" name="Elbow Connector 20"/>
          <p:cNvCxnSpPr>
            <a:stCxn id="18" idx="3"/>
            <a:endCxn id="14" idx="3"/>
          </p:cNvCxnSpPr>
          <p:nvPr/>
        </p:nvCxnSpPr>
        <p:spPr>
          <a:xfrm flipV="1">
            <a:off x="10905557" y="1726199"/>
            <a:ext cx="267902" cy="4292174"/>
          </a:xfrm>
          <a:prstGeom prst="bentConnector3">
            <a:avLst>
              <a:gd name="adj1" fmla="val 185330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459225" y="1140108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4" name="Elbow Connector 23"/>
          <p:cNvCxnSpPr>
            <a:stCxn id="17" idx="3"/>
          </p:cNvCxnSpPr>
          <p:nvPr/>
        </p:nvCxnSpPr>
        <p:spPr>
          <a:xfrm flipH="1" flipV="1">
            <a:off x="8217299" y="1078418"/>
            <a:ext cx="3832611" cy="3547017"/>
          </a:xfrm>
          <a:prstGeom prst="bentConnector3">
            <a:avLst>
              <a:gd name="adj1" fmla="val -596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211911" y="1137069"/>
            <a:ext cx="94574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BE4DF34-9873-07B6-4FBA-DEDA67CC5BF2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63385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31" y="741092"/>
            <a:ext cx="2243866" cy="5815525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TreeMap</a:t>
            </a: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95" y="1425973"/>
            <a:ext cx="5516569" cy="497772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5931462" y="1610315"/>
            <a:ext cx="1871909" cy="112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002145"/>
            <a:ext cx="3441764" cy="776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360340" y="4389929"/>
            <a:ext cx="1443031" cy="436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6930828" y="6012382"/>
            <a:ext cx="872543" cy="12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52406" y="142597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443" y="2855140"/>
            <a:ext cx="2048381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ARE sorted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87786" y="1044462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40472" y="1041423"/>
            <a:ext cx="119756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3" name="Elbow Connector 22"/>
          <p:cNvCxnSpPr/>
          <p:nvPr/>
        </p:nvCxnSpPr>
        <p:spPr>
          <a:xfrm rot="10800000">
            <a:off x="8282907" y="1004610"/>
            <a:ext cx="3767005" cy="3513104"/>
          </a:xfrm>
          <a:prstGeom prst="bentConnector3">
            <a:avLst>
              <a:gd name="adj1" fmla="val 25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19" idx="3"/>
            <a:endCxn id="15" idx="3"/>
          </p:cNvCxnSpPr>
          <p:nvPr/>
        </p:nvCxnSpPr>
        <p:spPr>
          <a:xfrm flipV="1">
            <a:off x="10905557" y="1610639"/>
            <a:ext cx="334518" cy="4407734"/>
          </a:xfrm>
          <a:prstGeom prst="bentConnector3">
            <a:avLst>
              <a:gd name="adj1" fmla="val 163434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1AE388-2C82-3951-EAB5-A26C3ECF92EC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72338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2782" y="757039"/>
            <a:ext cx="2455917" cy="584494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516" y="1533402"/>
            <a:ext cx="5460016" cy="5023215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LinkedHashMap</a:t>
            </a:r>
            <a:endParaRPr lang="en-US" altLang="en-US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5551136" y="1610318"/>
            <a:ext cx="2252235" cy="910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002145"/>
            <a:ext cx="3441764" cy="776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360340" y="4389929"/>
            <a:ext cx="1443031" cy="436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6930828" y="6012382"/>
            <a:ext cx="872543" cy="12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52406" y="142597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87786" y="1044462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40472" y="1041423"/>
            <a:ext cx="119756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3" name="Elbow Connector 22"/>
          <p:cNvCxnSpPr/>
          <p:nvPr/>
        </p:nvCxnSpPr>
        <p:spPr>
          <a:xfrm rot="10800000">
            <a:off x="8282907" y="1004610"/>
            <a:ext cx="3767005" cy="3513104"/>
          </a:xfrm>
          <a:prstGeom prst="bentConnector3">
            <a:avLst>
              <a:gd name="adj1" fmla="val 25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19" idx="3"/>
            <a:endCxn id="15" idx="3"/>
          </p:cNvCxnSpPr>
          <p:nvPr/>
        </p:nvCxnSpPr>
        <p:spPr>
          <a:xfrm flipV="1">
            <a:off x="10905557" y="1610639"/>
            <a:ext cx="334518" cy="4407734"/>
          </a:xfrm>
          <a:prstGeom prst="bentConnector3">
            <a:avLst>
              <a:gd name="adj1" fmla="val 163434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7443" y="2855140"/>
            <a:ext cx="1950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sorted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4074" y="2042875"/>
            <a:ext cx="2505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Original insert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sequence is preserved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H="1" flipV="1">
            <a:off x="9054988" y="1602361"/>
            <a:ext cx="306776" cy="424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H="1">
            <a:off x="8402663" y="2670475"/>
            <a:ext cx="1030785" cy="184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B9062-8684-2E84-002E-002FADDFCBA3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19984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B7609-D14C-01A6-8D33-9D76F8AD4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B6CC53ED-36F0-4BC8-0220-859EFE10E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Comparator</a:t>
            </a:r>
          </a:p>
        </p:txBody>
      </p:sp>
    </p:spTree>
    <p:extLst>
      <p:ext uri="{BB962C8B-B14F-4D97-AF65-F5344CB8AC3E}">
        <p14:creationId xmlns:p14="http://schemas.microsoft.com/office/powerpoint/2010/main" val="19529552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652319"/>
            <a:ext cx="10396380" cy="4987195"/>
          </a:xfrm>
        </p:spPr>
        <p:txBody>
          <a:bodyPr/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Both </a:t>
            </a:r>
            <a:r>
              <a:rPr lang="en-US" altLang="en-US" b="1" dirty="0" err="1">
                <a:solidFill>
                  <a:schemeClr val="tx1"/>
                </a:solidFill>
              </a:rPr>
              <a:t>TreeSet</a:t>
            </a:r>
            <a:r>
              <a:rPr lang="en-US" altLang="en-US" b="1" dirty="0">
                <a:solidFill>
                  <a:schemeClr val="tx1"/>
                </a:solidFill>
              </a:rPr>
              <a:t> and </a:t>
            </a:r>
            <a:r>
              <a:rPr lang="en-US" altLang="en-US" b="1" dirty="0" err="1">
                <a:solidFill>
                  <a:schemeClr val="tx1"/>
                </a:solidFill>
              </a:rPr>
              <a:t>TreeMap</a:t>
            </a:r>
            <a:r>
              <a:rPr lang="en-US" altLang="en-US" b="1" dirty="0">
                <a:solidFill>
                  <a:schemeClr val="tx1"/>
                </a:solidFill>
              </a:rPr>
              <a:t> store elements in sorted order: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However, it is the </a:t>
            </a:r>
            <a:r>
              <a:rPr lang="en-US" altLang="en-US" b="1" dirty="0">
                <a:solidFill>
                  <a:schemeClr val="tx1"/>
                </a:solidFill>
              </a:rPr>
              <a:t>comparator </a:t>
            </a:r>
            <a:r>
              <a:rPr lang="en-US" altLang="en-US" dirty="0">
                <a:solidFill>
                  <a:schemeClr val="tx1"/>
                </a:solidFill>
              </a:rPr>
              <a:t>that defines precisely what </a:t>
            </a:r>
            <a:r>
              <a:rPr lang="en-US" altLang="en-US" b="1" i="1" dirty="0">
                <a:solidFill>
                  <a:schemeClr val="tx1"/>
                </a:solidFill>
              </a:rPr>
              <a:t>sorted</a:t>
            </a:r>
            <a:r>
              <a:rPr lang="en-US" altLang="en-US" i="1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means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This interface </a:t>
            </a:r>
            <a:r>
              <a:rPr lang="en-US" altLang="en-US" b="1" dirty="0">
                <a:solidFill>
                  <a:schemeClr val="tx1"/>
                </a:solidFill>
              </a:rPr>
              <a:t>lets us sort </a:t>
            </a:r>
            <a:r>
              <a:rPr lang="en-US" altLang="en-US" dirty="0">
                <a:solidFill>
                  <a:schemeClr val="tx1"/>
                </a:solidFill>
              </a:rPr>
              <a:t>a given collection in different ways. </a:t>
            </a:r>
          </a:p>
        </p:txBody>
      </p:sp>
    </p:spTree>
    <p:extLst>
      <p:ext uri="{BB962C8B-B14F-4D97-AF65-F5344CB8AC3E}">
        <p14:creationId xmlns:p14="http://schemas.microsoft.com/office/powerpoint/2010/main" val="3847559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668" y="2154482"/>
            <a:ext cx="4169338" cy="4485032"/>
          </a:xfrm>
          <a:prstGeom prst="rect">
            <a:avLst/>
          </a:prstGeom>
        </p:spPr>
      </p:pic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748" y="1063251"/>
            <a:ext cx="4310856" cy="429452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316" y="4856475"/>
            <a:ext cx="979740" cy="16927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274496" y="3742565"/>
            <a:ext cx="3823486" cy="192995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Down Arrow 7"/>
          <p:cNvSpPr/>
          <p:nvPr/>
        </p:nvSpPr>
        <p:spPr>
          <a:xfrm rot="3033159">
            <a:off x="6910911" y="511526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83D8B9B-F8CF-A026-005F-9A1A480FBDF6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.F_ComparisonDemo1”</a:t>
            </a:r>
          </a:p>
        </p:txBody>
      </p:sp>
    </p:spTree>
    <p:extLst>
      <p:ext uri="{BB962C8B-B14F-4D97-AF65-F5344CB8AC3E}">
        <p14:creationId xmlns:p14="http://schemas.microsoft.com/office/powerpoint/2010/main" val="13338032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4670200" cy="686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A Generic Comparator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000" y="2397052"/>
            <a:ext cx="4446931" cy="339098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997" y="2524962"/>
            <a:ext cx="4272755" cy="156758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8243" y="4928374"/>
            <a:ext cx="881766" cy="990626"/>
          </a:xfrm>
          <a:prstGeom prst="rect">
            <a:avLst/>
          </a:prstGeom>
        </p:spPr>
      </p:pic>
      <p:sp>
        <p:nvSpPr>
          <p:cNvPr id="5" name="Down Arrow 4"/>
          <p:cNvSpPr/>
          <p:nvPr/>
        </p:nvSpPr>
        <p:spPr>
          <a:xfrm rot="3615558">
            <a:off x="7969215" y="2898560"/>
            <a:ext cx="288901" cy="34363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219996" y="2397052"/>
            <a:ext cx="1035781" cy="24095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996750" y="4058617"/>
            <a:ext cx="1035781" cy="24095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26D8104-BFA5-C3D9-7C6A-130708316EC1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.G_ComparisonDemo2”</a:t>
            </a:r>
          </a:p>
        </p:txBody>
      </p:sp>
    </p:spTree>
    <p:extLst>
      <p:ext uri="{BB962C8B-B14F-4D97-AF65-F5344CB8AC3E}">
        <p14:creationId xmlns:p14="http://schemas.microsoft.com/office/powerpoint/2010/main" val="15843465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575" y="1942585"/>
            <a:ext cx="3658334" cy="464028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633" y="951959"/>
            <a:ext cx="5753250" cy="9906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49" y="1993940"/>
            <a:ext cx="4173801" cy="462939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3321" y="3832313"/>
            <a:ext cx="2122770" cy="2721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331140" y="4535586"/>
            <a:ext cx="3002145" cy="13149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39757" y="5458476"/>
            <a:ext cx="2198994" cy="18976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8" name="Straight Arrow Connector 7"/>
          <p:cNvCxnSpPr>
            <a:stCxn id="10" idx="3"/>
            <a:endCxn id="3" idx="3"/>
          </p:cNvCxnSpPr>
          <p:nvPr/>
        </p:nvCxnSpPr>
        <p:spPr>
          <a:xfrm flipV="1">
            <a:off x="11438751" y="1447272"/>
            <a:ext cx="370132" cy="41060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/>
          <p:nvPr/>
        </p:nvCxnSpPr>
        <p:spPr>
          <a:xfrm rot="10800000" flipV="1">
            <a:off x="4333286" y="4288779"/>
            <a:ext cx="4450619" cy="926538"/>
          </a:xfrm>
          <a:prstGeom prst="bentConnector3">
            <a:avLst>
              <a:gd name="adj1" fmla="val 8772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AEF813C-E41E-0E39-8FA4-14D9F04BD2A5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.H_ComparisonDemo3”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2A809-E0CB-70A5-8888-D6D1BC83FCF5}"/>
              </a:ext>
            </a:extLst>
          </p:cNvPr>
          <p:cNvSpPr txBox="1"/>
          <p:nvPr/>
        </p:nvSpPr>
        <p:spPr>
          <a:xfrm rot="16498546">
            <a:off x="10229975" y="3600640"/>
            <a:ext cx="25298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Sort by delivering an object</a:t>
            </a:r>
          </a:p>
        </p:txBody>
      </p:sp>
    </p:spTree>
    <p:extLst>
      <p:ext uri="{BB962C8B-B14F-4D97-AF65-F5344CB8AC3E}">
        <p14:creationId xmlns:p14="http://schemas.microsoft.com/office/powerpoint/2010/main" val="36308847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62220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1544</TotalTime>
  <Words>1585</Words>
  <Application>Microsoft Office PowerPoint</Application>
  <PresentationFormat>Widescreen</PresentationFormat>
  <Paragraphs>293</Paragraphs>
  <Slides>51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1" baseType="lpstr">
      <vt:lpstr>Arial</vt:lpstr>
      <vt:lpstr>Arial Narrow</vt:lpstr>
      <vt:lpstr>Calibri</vt:lpstr>
      <vt:lpstr>Courier</vt:lpstr>
      <vt:lpstr>Garamond</vt:lpstr>
      <vt:lpstr>Google Sans</vt:lpstr>
      <vt:lpstr>Times New Roman</vt:lpstr>
      <vt:lpstr>SCUTemplate</vt:lpstr>
      <vt:lpstr>Custom Design</vt:lpstr>
      <vt:lpstr>Microsoft Word Picture</vt:lpstr>
      <vt:lpstr>CSEN160</vt:lpstr>
      <vt:lpstr>Collections</vt:lpstr>
      <vt:lpstr>The Collection Classes</vt:lpstr>
      <vt:lpstr>Java Collection Framework hierarchy (Liang, Intro to Java Programming, 5th Edition)</vt:lpstr>
      <vt:lpstr>Java Collection Framework hierarchy (Liang, Intro to Java Programming, 5th Edition)</vt:lpstr>
      <vt:lpstr>The Collection Classes</vt:lpstr>
      <vt:lpstr>The Collection Interfaces:</vt:lpstr>
      <vt:lpstr>The Collection Interfaces:</vt:lpstr>
      <vt:lpstr>The Collections Classes</vt:lpstr>
      <vt:lpstr>The Collections Classes</vt:lpstr>
      <vt:lpstr>The Collection Classes</vt:lpstr>
      <vt:lpstr>The Collection Classes</vt:lpstr>
      <vt:lpstr>The Collection Classes</vt:lpstr>
      <vt:lpstr>The Collection Classes</vt:lpstr>
      <vt:lpstr>The Abstract Collection Classes</vt:lpstr>
      <vt:lpstr>Legacy classes from java.util</vt:lpstr>
      <vt:lpstr>Legacy classes from java.util</vt:lpstr>
      <vt:lpstr>Legacy classes from java.util</vt:lpstr>
      <vt:lpstr>Iterators</vt:lpstr>
      <vt:lpstr>What is an iterator?</vt:lpstr>
      <vt:lpstr>The Iterator Interface (Classic)</vt:lpstr>
      <vt:lpstr>The ListIterator Interface (New)</vt:lpstr>
      <vt:lpstr>Iterator vs ListIterator Interface</vt:lpstr>
      <vt:lpstr>Example: Using an Iterator</vt:lpstr>
      <vt:lpstr>Example: Using a ListIterator</vt:lpstr>
      <vt:lpstr>Lists</vt:lpstr>
      <vt:lpstr>Lists</vt:lpstr>
      <vt:lpstr>ArrayList or LinkedList:</vt:lpstr>
      <vt:lpstr>Interface List</vt:lpstr>
      <vt:lpstr>Interface List versus Collection</vt:lpstr>
      <vt:lpstr>Interface List versus Collection</vt:lpstr>
      <vt:lpstr>Interface List versus Collection</vt:lpstr>
      <vt:lpstr>Sets Collection of unique elements, with no key-value association</vt:lpstr>
      <vt:lpstr>Sets</vt:lpstr>
      <vt:lpstr>Examples</vt:lpstr>
      <vt:lpstr>Examples</vt:lpstr>
      <vt:lpstr>Set interface vs Collection interface</vt:lpstr>
      <vt:lpstr>Sets and Set interface</vt:lpstr>
      <vt:lpstr>Sets and Collection interface</vt:lpstr>
      <vt:lpstr>Maps Data in key-value pairs, where each unique key maps to a specific value</vt:lpstr>
      <vt:lpstr>Maps (associative, Keys)</vt:lpstr>
      <vt:lpstr>HashMap</vt:lpstr>
      <vt:lpstr>TreeMap</vt:lpstr>
      <vt:lpstr>LinkedHashMap</vt:lpstr>
      <vt:lpstr>Comparator</vt:lpstr>
      <vt:lpstr>A Comparator</vt:lpstr>
      <vt:lpstr>A Comparator</vt:lpstr>
      <vt:lpstr>A Generic Comparator</vt:lpstr>
      <vt:lpstr>A Comparator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241</cp:revision>
  <cp:lastPrinted>2023-09-11T21:46:56Z</cp:lastPrinted>
  <dcterms:created xsi:type="dcterms:W3CDTF">2023-09-09T19:51:41Z</dcterms:created>
  <dcterms:modified xsi:type="dcterms:W3CDTF">2026-09-23T18:09:38Z</dcterms:modified>
</cp:coreProperties>
</file>