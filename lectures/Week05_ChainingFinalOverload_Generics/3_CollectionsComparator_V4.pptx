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4" r:id="rId2"/>
  </p:sldMasterIdLst>
  <p:notesMasterIdLst>
    <p:notesMasterId r:id="rId54"/>
  </p:notesMasterIdLst>
  <p:handoutMasterIdLst>
    <p:handoutMasterId r:id="rId55"/>
  </p:handoutMasterIdLst>
  <p:sldIdLst>
    <p:sldId id="333" r:id="rId3"/>
    <p:sldId id="427" r:id="rId4"/>
    <p:sldId id="340" r:id="rId5"/>
    <p:sldId id="337" r:id="rId6"/>
    <p:sldId id="338" r:id="rId7"/>
    <p:sldId id="393" r:id="rId8"/>
    <p:sldId id="339" r:id="rId9"/>
    <p:sldId id="362" r:id="rId10"/>
    <p:sldId id="376" r:id="rId11"/>
    <p:sldId id="382" r:id="rId12"/>
    <p:sldId id="341" r:id="rId13"/>
    <p:sldId id="401" r:id="rId14"/>
    <p:sldId id="377" r:id="rId15"/>
    <p:sldId id="363" r:id="rId16"/>
    <p:sldId id="378" r:id="rId17"/>
    <p:sldId id="483" r:id="rId18"/>
    <p:sldId id="482" r:id="rId19"/>
    <p:sldId id="364" r:id="rId20"/>
    <p:sldId id="509" r:id="rId21"/>
    <p:sldId id="468" r:id="rId22"/>
    <p:sldId id="344" r:id="rId23"/>
    <p:sldId id="465" r:id="rId24"/>
    <p:sldId id="466" r:id="rId25"/>
    <p:sldId id="469" r:id="rId26"/>
    <p:sldId id="467" r:id="rId27"/>
    <p:sldId id="470" r:id="rId28"/>
    <p:sldId id="457" r:id="rId29"/>
    <p:sldId id="428" r:id="rId30"/>
    <p:sldId id="429" r:id="rId31"/>
    <p:sldId id="430" r:id="rId32"/>
    <p:sldId id="455" r:id="rId33"/>
    <p:sldId id="431" r:id="rId34"/>
    <p:sldId id="480" r:id="rId35"/>
    <p:sldId id="458" r:id="rId36"/>
    <p:sldId id="432" r:id="rId37"/>
    <p:sldId id="475" r:id="rId38"/>
    <p:sldId id="476" r:id="rId39"/>
    <p:sldId id="459" r:id="rId40"/>
    <p:sldId id="433" r:id="rId41"/>
    <p:sldId id="460" r:id="rId42"/>
    <p:sldId id="461" r:id="rId43"/>
    <p:sldId id="435" r:id="rId44"/>
    <p:sldId id="436" r:id="rId45"/>
    <p:sldId id="462" r:id="rId46"/>
    <p:sldId id="463" r:id="rId47"/>
    <p:sldId id="478" r:id="rId48"/>
    <p:sldId id="345" r:id="rId49"/>
    <p:sldId id="365" r:id="rId50"/>
    <p:sldId id="383" r:id="rId51"/>
    <p:sldId id="384" r:id="rId52"/>
    <p:sldId id="394" r:id="rId5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12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theme" Target="theme/theme1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viewProps" Target="view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938536-29D3-49BD-A567-41CAF057586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2E2B272-7A3A-4005-B1B0-0F9070B87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907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1559A16-B3AD-4CE2-9A5E-FAAD3C2C27CA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8C6438F-747C-40FA-8F40-021E653C05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0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36D5B4C3-9B00-474A-97E8-C13B4A35C4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1655762"/>
          </a:xfrm>
        </p:spPr>
        <p:txBody>
          <a:bodyPr/>
          <a:lstStyle>
            <a:lvl1pPr marL="0" indent="0" algn="l">
              <a:buNone/>
              <a:defRPr sz="2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D22AE50-6F90-E24E-B822-6568D31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032145"/>
            <a:ext cx="9144000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2EB50-2D06-0F47-91A8-A0077BC58D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669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AA9E0-FD26-B94E-9B92-E4BB7FDAC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D2F48-A24B-4049-960D-8B798AEFA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2449386"/>
            <a:ext cx="10417284" cy="3805364"/>
          </a:xfrm>
        </p:spPr>
        <p:txBody>
          <a:bodyPr/>
          <a:lstStyle>
            <a:lvl1pPr>
              <a:buClr>
                <a:srgbClr val="B30738"/>
              </a:buClr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  <a:lvl2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>
              <a:buClr>
                <a:srgbClr val="B30738"/>
              </a:buClr>
              <a:defRPr b="0" i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4C7CA-926E-AD42-9C16-D63E0CBCB0B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54750"/>
            <a:ext cx="3873500" cy="4000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81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55421C-28F7-134B-8F0E-FE7D28044B4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207617" y="1170297"/>
            <a:ext cx="2316923" cy="21580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4035" y="1170297"/>
            <a:ext cx="10379765" cy="4683851"/>
          </a:xfrm>
        </p:spPr>
        <p:txBody>
          <a:bodyPr>
            <a:normAutofit/>
          </a:bodyPr>
          <a:lstStyle>
            <a:lvl1pPr>
              <a:defRPr sz="6000" b="0" i="0">
                <a:solidFill>
                  <a:schemeClr val="tx1">
                    <a:lumMod val="50000"/>
                    <a:lumOff val="50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43C62840-6E05-504B-B2F6-709D240E69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8698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10691-0E51-0642-89F8-2E84D8B86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D74316-63BB-3446-BDDD-074CD2479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677103"/>
            <a:ext cx="10515600" cy="141254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D355E-B4A2-6F4F-B305-737A32A3AC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417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12F8-AE85-BC4D-8ACE-BD36C704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E9A7C-E733-9C48-89C3-E864661018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36516" y="2438399"/>
            <a:ext cx="5083284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853515-618E-BC46-A98D-B716B4327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38399"/>
            <a:ext cx="5181600" cy="382905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BF872C4E-C1EA-6E4F-ACE3-4DD19FF177F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8494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2EAC0-550E-1740-BE53-8E9F0A34C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0" y="882869"/>
            <a:ext cx="10419967" cy="8078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707B4-CFB5-CF4A-9970-F7B61DECC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5421" y="1839309"/>
            <a:ext cx="5062154" cy="66576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7258-4408-8940-BE1F-BB96B8277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5421" y="2653695"/>
            <a:ext cx="5062154" cy="36074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1E6BE5-8409-9441-A406-BB5D9E6F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39309"/>
            <a:ext cx="5183188" cy="66576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3EBE53-5EFB-6744-957B-B93F2D10CC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53695"/>
            <a:ext cx="5183188" cy="360740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A5D7E1-E327-DF48-B848-9BDF99F875D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00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651EA50-74CA-AA48-8D7F-2B85A97EE6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40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46758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AC4C19D-273F-DD4F-AB1E-92F31DD503B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10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731D7-31B8-F741-9BC2-7ACCA951A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5973418"/>
            <a:ext cx="6524734" cy="5751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5F1C41BA-7C2D-F548-A588-7F002DC231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486788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DA9A9976-053D-644A-ACDD-10A8928C18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172200"/>
            <a:ext cx="3873500" cy="482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0721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9C3A92E6-32C2-FB44-B5B2-762BF26633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936516" y="956441"/>
            <a:ext cx="10417284" cy="534275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E849984-83FA-4B45-A602-6A412FE0CC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99200"/>
            <a:ext cx="3873500" cy="3556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503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C6088-92BE-7449-8B28-318FAB3F2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4138612" cy="142995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2DAB-D135-604C-8CA5-59E8EBB19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52673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DFE57F-E4E9-7543-83FD-1DD747CAD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571750"/>
            <a:ext cx="4138612" cy="38290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E940D73-0AAB-1944-9712-6637A75B1A9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324600"/>
            <a:ext cx="3873500" cy="33020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048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42C89-5587-0348-8D17-7C08B2EAD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5421" y="956440"/>
            <a:ext cx="4011228" cy="116664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21D3EC-E376-5D4E-835F-620AC359D3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62167" y="956441"/>
            <a:ext cx="6172200" cy="532370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B5B150-6498-3B43-813F-7D37535FB1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420" y="2291254"/>
            <a:ext cx="4011229" cy="398889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31420AC-1CC6-B24D-864B-D3A8C0514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50150" y="6280150"/>
            <a:ext cx="3873500" cy="374650"/>
          </a:xfrm>
        </p:spPr>
        <p:txBody>
          <a:bodyPr anchor="b"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School or Department, Arial 14 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178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504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7506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480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6008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B289B0-9BEC-4093-861C-76154CD68B5D}" type="datetimeFigureOut">
              <a:rPr lang="en-US"/>
              <a:pPr>
                <a:defRPr/>
              </a:pPr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7136E94-7335-4773-A64D-0D46B1CA62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4338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814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DA811E5-F559-443C-99AD-DAE29BB27C24}" type="datetimeFigureOut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10/21/2026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001779A-0D1A-4524-BB27-6339C8C9D7ED}" type="slidenum"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16395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930-5302-8041-8D70-01651E157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217" y="1351721"/>
            <a:ext cx="10555357" cy="2317267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2F13BE-DC53-5D42-92BC-B1405D01D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4217" y="4228203"/>
            <a:ext cx="10555357" cy="137746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086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707BF-1F09-3444-AFBA-78A9352F1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38948"/>
            <a:ext cx="10515600" cy="246469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2073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08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8DCC4-D98B-2742-9141-E813C534F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1170297"/>
            <a:ext cx="10417284" cy="1144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21E8D8-70CD-BF4D-805E-3BA2B3E84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6516" y="2449386"/>
            <a:ext cx="10417284" cy="383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0FD0265-AE87-AC4A-BBB3-EF8B93299236}"/>
              </a:ext>
            </a:extLst>
          </p:cNvPr>
          <p:cNvCxnSpPr>
            <a:cxnSpLocks/>
          </p:cNvCxnSpPr>
          <p:nvPr/>
        </p:nvCxnSpPr>
        <p:spPr>
          <a:xfrm>
            <a:off x="936516" y="730089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1606507F-9FCF-7C40-9CCC-8081F5D27FC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050924" y="471954"/>
            <a:ext cx="3880944" cy="16010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215C687-9087-C947-AB5A-223EF7DA7E9A}"/>
              </a:ext>
            </a:extLst>
          </p:cNvPr>
          <p:cNvCxnSpPr>
            <a:cxnSpLocks/>
          </p:cNvCxnSpPr>
          <p:nvPr/>
        </p:nvCxnSpPr>
        <p:spPr>
          <a:xfrm>
            <a:off x="936516" y="388502"/>
            <a:ext cx="11255484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3AF69D0A-C2A3-A54B-87B3-155829A53D5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2474" y="160495"/>
            <a:ext cx="804042" cy="804042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A6E712-938E-934E-86D2-CF80E3166B5B}"/>
              </a:ext>
            </a:extLst>
          </p:cNvPr>
          <p:cNvCxnSpPr>
            <a:cxnSpLocks/>
          </p:cNvCxnSpPr>
          <p:nvPr/>
        </p:nvCxnSpPr>
        <p:spPr>
          <a:xfrm>
            <a:off x="936516" y="6652668"/>
            <a:ext cx="10417284" cy="0"/>
          </a:xfrm>
          <a:prstGeom prst="line">
            <a:avLst/>
          </a:prstGeom>
          <a:ln w="190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24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82" r:id="rId13"/>
    <p:sldLayoutId id="2147483683" r:id="rId14"/>
    <p:sldLayoutId id="2147483685" r:id="rId15"/>
    <p:sldLayoutId id="2147483686" r:id="rId16"/>
    <p:sldLayoutId id="2147483687" r:id="rId17"/>
    <p:sldLayoutId id="2147483689" r:id="rId18"/>
    <p:sldLayoutId id="2147483690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B30738"/>
        </a:buClr>
        <a:buFont typeface="Arial" panose="020B0604020202020204" pitchFamily="34" charset="0"/>
        <a:buChar char="•"/>
        <a:defRPr sz="2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20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8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6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B30738"/>
        </a:buClr>
        <a:buFont typeface="Arial" panose="020B0604020202020204" pitchFamily="34" charset="0"/>
        <a:buChar char="•"/>
        <a:defRPr sz="1400" b="0" i="0" kern="1200">
          <a:solidFill>
            <a:schemeClr val="tx1">
              <a:lumMod val="65000"/>
              <a:lumOff val="35000"/>
            </a:schemeClr>
          </a:solidFill>
          <a:latin typeface="Arial Narrow" panose="020B0604020202020204" pitchFamily="34" charset="0"/>
          <a:ea typeface="+mn-ea"/>
          <a:cs typeface="Arial Narrow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307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EF7EA9-7F89-AB44-B414-A35A39B886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0015"/>
            <a:ext cx="10515600" cy="64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578A8-B26A-4945-96B6-DF5E5BC7D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7162"/>
            <a:ext cx="10515600" cy="32464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 err="1"/>
              <a:t>Secod</a:t>
            </a:r>
            <a:r>
              <a:rPr lang="en-US" dirty="0"/>
              <a:t>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94CFB0A-34C6-5D42-83C5-6E58C3499080}"/>
              </a:ext>
            </a:extLst>
          </p:cNvPr>
          <p:cNvCxnSpPr>
            <a:cxnSpLocks/>
          </p:cNvCxnSpPr>
          <p:nvPr/>
        </p:nvCxnSpPr>
        <p:spPr>
          <a:xfrm>
            <a:off x="956394" y="730089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306B758-975E-984A-8DF2-F551E50A3FBA}"/>
              </a:ext>
            </a:extLst>
          </p:cNvPr>
          <p:cNvCxnSpPr>
            <a:cxnSpLocks/>
          </p:cNvCxnSpPr>
          <p:nvPr/>
        </p:nvCxnSpPr>
        <p:spPr>
          <a:xfrm>
            <a:off x="956394" y="388502"/>
            <a:ext cx="11255484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4BCBDF38-9EC5-8347-AE99-4FA5381A78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924" y="472981"/>
            <a:ext cx="3880944" cy="1726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A5D1952-D4DE-0B48-9AEC-F81A6CB6E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474" y="157274"/>
            <a:ext cx="804042" cy="80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6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linkedhashset_class.htm" TargetMode="External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torialspoint.com/java/java_hashmap_class.htm" TargetMode="Externa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utorialspoint.com/java/java_identityhashmap_class.htm" TargetMode="External"/><Relationship Id="rId2" Type="http://schemas.openxmlformats.org/officeDocument/2006/relationships/hyperlink" Target="http://www.tutorialspoint.com/java/java_linkedhashmap_class.htm" TargetMode="Externa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stackoverflow.com/questions/821079/when-to-use-set-vs-collection#:~:text=The%20practical%20difference%20is%20that,for%20Set%20then%20use%20Set." TargetMode="Externa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6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3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AF3DE3F-7502-904F-9BAB-B1F5DEA23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91831"/>
            <a:ext cx="9144000" cy="31789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Fall 2026</a:t>
            </a:r>
          </a:p>
          <a:p>
            <a:r>
              <a:rPr lang="en-US" dirty="0">
                <a:solidFill>
                  <a:schemeClr val="tx1"/>
                </a:solidFill>
              </a:rPr>
              <a:t>Object-Oriented Analysis, Design and Programming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Michael Schimpf, PhD</a:t>
            </a:r>
          </a:p>
          <a:p>
            <a:r>
              <a:rPr lang="en-US" dirty="0">
                <a:solidFill>
                  <a:schemeClr val="tx1"/>
                </a:solidFill>
              </a:rPr>
              <a:t>Department of Computer Science and Engineering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A818BAB-0338-734A-B1E8-2463F3B29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CSEN160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80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Collections</a:t>
            </a:r>
          </a:p>
        </p:txBody>
      </p:sp>
    </p:spTree>
    <p:extLst>
      <p:ext uri="{BB962C8B-B14F-4D97-AF65-F5344CB8AC3E}">
        <p14:creationId xmlns:p14="http://schemas.microsoft.com/office/powerpoint/2010/main" val="1969416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36516" y="798065"/>
            <a:ext cx="5391456" cy="60590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The Collection Classes</a:t>
            </a:r>
            <a:endParaRPr lang="en-US" altLang="en-US" dirty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936516" y="1494525"/>
            <a:ext cx="10396380" cy="5140944"/>
          </a:xfrm>
        </p:spPr>
        <p:txBody>
          <a:bodyPr/>
          <a:lstStyle/>
          <a:p>
            <a:pPr marL="0" indent="0" eaLnBrk="1" hangingPunct="1">
              <a:buNone/>
            </a:pPr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Java provides a set of standard collection classes: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That implement </a:t>
            </a:r>
            <a:r>
              <a:rPr lang="en-US" altLang="en-US" b="1" dirty="0">
                <a:solidFill>
                  <a:schemeClr val="tx1"/>
                </a:solidFill>
              </a:rPr>
              <a:t>interfaces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Some are </a:t>
            </a:r>
            <a:r>
              <a:rPr lang="en-US" altLang="en-US" b="1" dirty="0">
                <a:solidFill>
                  <a:schemeClr val="tx1"/>
                </a:solidFill>
              </a:rPr>
              <a:t>abstract</a:t>
            </a:r>
            <a:r>
              <a:rPr lang="en-US" altLang="en-US" dirty="0">
                <a:solidFill>
                  <a:schemeClr val="tx1"/>
                </a:solidFill>
              </a:rPr>
              <a:t> class, providing skeletal implementations. </a:t>
            </a:r>
          </a:p>
          <a:p>
            <a:pPr marL="0" indent="0">
              <a:buNone/>
            </a:pPr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Others of the classes provide </a:t>
            </a:r>
            <a:r>
              <a:rPr lang="en-US" altLang="en-US" b="1" dirty="0">
                <a:solidFill>
                  <a:schemeClr val="tx1"/>
                </a:solidFill>
              </a:rPr>
              <a:t>full</a:t>
            </a:r>
            <a:r>
              <a:rPr lang="en-US" altLang="en-US" dirty="0">
                <a:solidFill>
                  <a:schemeClr val="tx1"/>
                </a:solidFill>
              </a:rPr>
              <a:t> implementations (</a:t>
            </a:r>
            <a:r>
              <a:rPr lang="en-US" altLang="en-US" b="1" dirty="0">
                <a:solidFill>
                  <a:schemeClr val="tx1"/>
                </a:solidFill>
              </a:rPr>
              <a:t>as-is</a:t>
            </a:r>
            <a:r>
              <a:rPr lang="en-US" altLang="en-US" dirty="0">
                <a:solidFill>
                  <a:schemeClr val="tx1"/>
                </a:solidFill>
              </a:rPr>
              <a:t>)</a:t>
            </a:r>
          </a:p>
          <a:p>
            <a:endParaRPr lang="en-US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894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928224" y="776427"/>
            <a:ext cx="7472320" cy="803135"/>
          </a:xfrm>
          <a:noFill/>
        </p:spPr>
        <p:txBody>
          <a:bodyPr/>
          <a:lstStyle/>
          <a:p>
            <a:pPr eaLnBrk="1" hangingPunct="1"/>
            <a:r>
              <a:rPr lang="en-US" altLang="en-US" sz="3200" dirty="0"/>
              <a:t>Java Collection Framework hierarchy</a:t>
            </a:r>
            <a:br>
              <a:rPr lang="en-US" altLang="en-US" sz="3200" dirty="0"/>
            </a:br>
            <a:r>
              <a:rPr lang="en-US" altLang="en-US" sz="1600" i="1" dirty="0"/>
              <a:t>(Liang, Intro to Java Programming, 5</a:t>
            </a:r>
            <a:r>
              <a:rPr lang="en-US" altLang="en-US" sz="1600" i="1" baseline="30000" dirty="0"/>
              <a:t>th</a:t>
            </a:r>
            <a:r>
              <a:rPr lang="en-US" altLang="en-US" sz="1600" i="1" dirty="0"/>
              <a:t> Edition)</a:t>
            </a:r>
          </a:p>
        </p:txBody>
      </p:sp>
      <p:sp>
        <p:nvSpPr>
          <p:cNvPr id="1029" name="Rectangle 6"/>
          <p:cNvSpPr>
            <a:spLocks noChangeArrowheads="1"/>
          </p:cNvSpPr>
          <p:nvPr/>
        </p:nvSpPr>
        <p:spPr bwMode="auto">
          <a:xfrm>
            <a:off x="3265488" y="208438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928224" y="1798874"/>
            <a:ext cx="5244988" cy="436564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Set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and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rgbClr val="7030A0"/>
                </a:solidFill>
                <a:cs typeface="Times New Roman" panose="02020603050405020304" pitchFamily="18" charset="0"/>
              </a:rPr>
              <a:t>List</a:t>
            </a:r>
            <a:r>
              <a:rPr lang="en-US" altLang="en-US" dirty="0">
                <a:cs typeface="Times New Roman" panose="02020603050405020304" pitchFamily="18" charset="0"/>
              </a:rPr>
              <a:t> </a:t>
            </a:r>
            <a:r>
              <a:rPr lang="en-US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are sub interfaces of </a:t>
            </a:r>
            <a:r>
              <a:rPr lang="en-US" altLang="en-US" dirty="0">
                <a:solidFill>
                  <a:srgbClr val="C00000"/>
                </a:solidFill>
                <a:cs typeface="Times New Roman" panose="02020603050405020304" pitchFamily="18" charset="0"/>
              </a:rPr>
              <a:t>Collection</a:t>
            </a:r>
            <a:r>
              <a:rPr lang="en-US" altLang="en-US" dirty="0"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31" name="Rectangle 9"/>
          <p:cNvSpPr>
            <a:spLocks noChangeArrowheads="1"/>
          </p:cNvSpPr>
          <p:nvPr/>
        </p:nvSpPr>
        <p:spPr bwMode="auto">
          <a:xfrm>
            <a:off x="3657600" y="2430463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1026" name="Object 8"/>
          <p:cNvGraphicFramePr>
            <a:graphicFrameLocks noChangeAspect="1"/>
          </p:cNvGraphicFramePr>
          <p:nvPr/>
        </p:nvGraphicFramePr>
        <p:xfrm>
          <a:off x="496902" y="2153341"/>
          <a:ext cx="10992296" cy="450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5029200" imgH="2057400" progId="Word.Picture.8">
                  <p:embed/>
                </p:oleObj>
              </mc:Choice>
              <mc:Fallback>
                <p:oleObj r:id="rId2" imgW="5029200" imgH="2057400" progId="Word.Picture.8">
                  <p:embed/>
                  <p:pic>
                    <p:nvPicPr>
                      <p:cNvPr id="102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902" y="2153341"/>
                        <a:ext cx="10992296" cy="45018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633135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926359" y="745053"/>
            <a:ext cx="6556959" cy="800815"/>
          </a:xfrm>
          <a:noFill/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Java Collection Framework hierarchy</a:t>
            </a:r>
            <a:br>
              <a:rPr lang="en-US" altLang="en-US" sz="2800" dirty="0"/>
            </a:br>
            <a:r>
              <a:rPr lang="en-US" altLang="en-US" sz="1400" i="1" dirty="0"/>
              <a:t>(Liang, Intro to Java Programming, 5</a:t>
            </a:r>
            <a:r>
              <a:rPr lang="en-US" altLang="en-US" sz="1400" i="1" baseline="30000" dirty="0"/>
              <a:t>th</a:t>
            </a:r>
            <a:r>
              <a:rPr lang="en-US" altLang="en-US" sz="1400" i="1" dirty="0"/>
              <a:t> Edition)</a:t>
            </a:r>
            <a:endParaRPr lang="en-US" altLang="en-US" sz="1400" dirty="0"/>
          </a:p>
        </p:txBody>
      </p:sp>
      <p:sp>
        <p:nvSpPr>
          <p:cNvPr id="2053" name="Rectangle 3"/>
          <p:cNvSpPr>
            <a:spLocks noChangeArrowheads="1"/>
          </p:cNvSpPr>
          <p:nvPr/>
        </p:nvSpPr>
        <p:spPr bwMode="auto">
          <a:xfrm>
            <a:off x="3265488" y="208438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5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926359" y="1617281"/>
            <a:ext cx="10382678" cy="1752600"/>
          </a:xfrm>
          <a:noFill/>
        </p:spPr>
        <p:txBody>
          <a:bodyPr>
            <a:normAutofit/>
          </a:bodyPr>
          <a:lstStyle/>
          <a:p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An instance of </a:t>
            </a:r>
            <a:r>
              <a:rPr lang="en-US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map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represents a group of objects, each with a </a:t>
            </a:r>
            <a:r>
              <a:rPr lang="en-US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key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. </a:t>
            </a:r>
          </a:p>
          <a:p>
            <a:endParaRPr lang="en-US" altLang="en-US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You can get the object from a </a:t>
            </a:r>
            <a:r>
              <a:rPr lang="en-US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map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using a </a:t>
            </a:r>
            <a:r>
              <a:rPr lang="en-US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key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, and you have to use a </a:t>
            </a:r>
            <a:r>
              <a:rPr lang="en-US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key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 to put it into the </a:t>
            </a:r>
            <a:r>
              <a:rPr lang="en-US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map</a:t>
            </a:r>
            <a:r>
              <a:rPr lang="en-US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. </a:t>
            </a:r>
            <a:endParaRPr lang="en-US" altLang="en-US" sz="20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055" name="Rectangle 7"/>
          <p:cNvSpPr>
            <a:spLocks noChangeArrowheads="1"/>
          </p:cNvSpPr>
          <p:nvPr/>
        </p:nvSpPr>
        <p:spPr bwMode="auto">
          <a:xfrm>
            <a:off x="4751388" y="271303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2056" name="Rectangle 9"/>
          <p:cNvSpPr>
            <a:spLocks noChangeArrowheads="1"/>
          </p:cNvSpPr>
          <p:nvPr/>
        </p:nvSpPr>
        <p:spPr bwMode="auto">
          <a:xfrm>
            <a:off x="4324350" y="2846388"/>
            <a:ext cx="914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graphicFrame>
        <p:nvGraphicFramePr>
          <p:cNvPr id="2050" name="Object 8"/>
          <p:cNvGraphicFramePr>
            <a:graphicFrameLocks noChangeAspect="1"/>
          </p:cNvGraphicFramePr>
          <p:nvPr/>
        </p:nvGraphicFramePr>
        <p:xfrm>
          <a:off x="672313" y="3031054"/>
          <a:ext cx="10636724" cy="3497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657600" imgH="1200912" progId="Word.Picture.8">
                  <p:embed/>
                </p:oleObj>
              </mc:Choice>
              <mc:Fallback>
                <p:oleObj r:id="rId2" imgW="3657600" imgH="1200912" progId="Word.Picture.8">
                  <p:embed/>
                  <p:pic>
                    <p:nvPicPr>
                      <p:cNvPr id="205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313" y="3031054"/>
                        <a:ext cx="10636724" cy="34972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86493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5383364" cy="6868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The Collection Classes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96" y="1992999"/>
            <a:ext cx="4408830" cy="387541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880" y="1061234"/>
            <a:ext cx="4387058" cy="38373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319" y="5149939"/>
            <a:ext cx="3940732" cy="14369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73172" y="2925138"/>
            <a:ext cx="153118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Just playing</a:t>
            </a:r>
            <a:b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around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LinkedList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Down Arrow 6"/>
          <p:cNvSpPr/>
          <p:nvPr/>
        </p:nvSpPr>
        <p:spPr>
          <a:xfrm>
            <a:off x="7112899" y="4620249"/>
            <a:ext cx="303451" cy="4575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52D4ABA-9CE4-F50A-94C1-EFE500AE4BFB}"/>
              </a:ext>
            </a:extLst>
          </p:cNvPr>
          <p:cNvSpPr txBox="1">
            <a:spLocks/>
          </p:cNvSpPr>
          <p:nvPr/>
        </p:nvSpPr>
        <p:spPr>
          <a:xfrm>
            <a:off x="1917783" y="17539"/>
            <a:ext cx="5982954" cy="35945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“CSEN160_05_Lecture_DataStructursAndGenerics.D_LinkedListTest”</a:t>
            </a:r>
          </a:p>
        </p:txBody>
      </p:sp>
    </p:spTree>
    <p:extLst>
      <p:ext uri="{BB962C8B-B14F-4D97-AF65-F5344CB8AC3E}">
        <p14:creationId xmlns:p14="http://schemas.microsoft.com/office/powerpoint/2010/main" val="2652961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332" y="968785"/>
            <a:ext cx="5177016" cy="39877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/>
              <a:t>The Collection </a:t>
            </a:r>
            <a:r>
              <a:rPr lang="en-US" b="1" dirty="0">
                <a:solidFill>
                  <a:srgbClr val="FF0000"/>
                </a:solidFill>
              </a:rPr>
              <a:t>Interfaces</a:t>
            </a:r>
            <a:r>
              <a:rPr lang="en-US" b="1" dirty="0"/>
              <a:t>:</a:t>
            </a:r>
            <a:endParaRPr lang="en-US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920332" y="1536814"/>
            <a:ext cx="10412564" cy="5102701"/>
          </a:xfrm>
        </p:spPr>
        <p:txBody>
          <a:bodyPr/>
          <a:lstStyle/>
          <a:p>
            <a:pPr eaLnBrk="1" hangingPunct="1"/>
            <a:endParaRPr lang="en-US" altLang="en-US" sz="1600" dirty="0"/>
          </a:p>
          <a:p>
            <a:pPr marL="0" indent="0" eaLnBrk="1" hangingPunct="1">
              <a:buNone/>
            </a:pPr>
            <a:r>
              <a:rPr lang="en-US" altLang="en-US" sz="1600" b="1" dirty="0">
                <a:solidFill>
                  <a:schemeClr val="tx1"/>
                </a:solidFill>
              </a:rPr>
              <a:t>The collections framework defines several interfaces:</a:t>
            </a:r>
          </a:p>
          <a:p>
            <a:pPr eaLnBrk="1" hangingPunct="1"/>
            <a:endParaRPr lang="en-US" altLang="en-US" sz="16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1600" dirty="0">
                <a:solidFill>
                  <a:srgbClr val="C00000"/>
                </a:solidFill>
              </a:rPr>
              <a:t>Collection Interface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enables you to work with groups of objects; it is at the top of the collection's hierarchy. </a:t>
            </a:r>
          </a:p>
          <a:p>
            <a:pPr eaLnBrk="1" hangingPunct="1"/>
            <a:endParaRPr lang="en-US" altLang="en-US" sz="16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1600" dirty="0">
                <a:solidFill>
                  <a:srgbClr val="C00000"/>
                </a:solidFill>
              </a:rPr>
              <a:t>List Interface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extends </a:t>
            </a:r>
            <a:r>
              <a:rPr lang="en-US" altLang="en-US" sz="1600" b="1" dirty="0">
                <a:solidFill>
                  <a:schemeClr val="tx1"/>
                </a:solidFill>
              </a:rPr>
              <a:t>Collection</a:t>
            </a:r>
            <a:r>
              <a:rPr lang="en-US" altLang="en-US" sz="1600" dirty="0">
                <a:solidFill>
                  <a:schemeClr val="tx1"/>
                </a:solidFill>
              </a:rPr>
              <a:t> and an instance of List stores an ordered collection of elements.</a:t>
            </a:r>
          </a:p>
          <a:p>
            <a:pPr eaLnBrk="1" hangingPunct="1"/>
            <a:endParaRPr lang="en-US" altLang="en-US" sz="16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1600" dirty="0">
                <a:solidFill>
                  <a:srgbClr val="C00000"/>
                </a:solidFill>
              </a:rPr>
              <a:t>Set</a:t>
            </a:r>
            <a:br>
              <a:rPr lang="en-US" altLang="en-US" sz="1600" dirty="0">
                <a:solidFill>
                  <a:srgbClr val="C00000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This extends Collection to handle sets, which must contain unique elements</a:t>
            </a:r>
          </a:p>
          <a:p>
            <a:pPr eaLnBrk="1" hangingPunct="1"/>
            <a:endParaRPr lang="en-US" altLang="en-US" sz="16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1600" dirty="0" err="1">
                <a:solidFill>
                  <a:srgbClr val="C00000"/>
                </a:solidFill>
              </a:rPr>
              <a:t>SortedSet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extends Set to handle sorted sets </a:t>
            </a:r>
          </a:p>
        </p:txBody>
      </p:sp>
    </p:spTree>
    <p:extLst>
      <p:ext uri="{BB962C8B-B14F-4D97-AF65-F5344CB8AC3E}">
        <p14:creationId xmlns:p14="http://schemas.microsoft.com/office/powerpoint/2010/main" val="4293335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0332" y="968785"/>
            <a:ext cx="5177016" cy="398770"/>
          </a:xfrm>
        </p:spPr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b="1" dirty="0"/>
              <a:t>The Collection </a:t>
            </a:r>
            <a:r>
              <a:rPr lang="en-US" b="1" dirty="0">
                <a:solidFill>
                  <a:srgbClr val="FF0000"/>
                </a:solidFill>
              </a:rPr>
              <a:t>Interfaces</a:t>
            </a:r>
            <a:r>
              <a:rPr lang="en-US" b="1" dirty="0"/>
              <a:t>:</a:t>
            </a:r>
            <a:endParaRPr lang="en-US" dirty="0"/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920332" y="1536814"/>
            <a:ext cx="10412564" cy="5102701"/>
          </a:xfrm>
        </p:spPr>
        <p:txBody>
          <a:bodyPr/>
          <a:lstStyle/>
          <a:p>
            <a:pPr eaLnBrk="1" hangingPunct="1"/>
            <a:endParaRPr lang="en-US" altLang="en-US" sz="1600" dirty="0">
              <a:solidFill>
                <a:srgbClr val="C00000"/>
              </a:solidFill>
            </a:endParaRPr>
          </a:p>
          <a:p>
            <a:pPr marL="0" indent="0" eaLnBrk="1" hangingPunct="1">
              <a:buNone/>
            </a:pPr>
            <a:endParaRPr lang="en-US" altLang="en-US" sz="16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1600" dirty="0">
                <a:solidFill>
                  <a:srgbClr val="C00000"/>
                </a:solidFill>
              </a:rPr>
              <a:t>Map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maps unique keys to values.</a:t>
            </a:r>
          </a:p>
          <a:p>
            <a:pPr eaLnBrk="1" hangingPunct="1"/>
            <a:endParaRPr lang="en-US" altLang="en-US" sz="16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1600" dirty="0" err="1">
                <a:solidFill>
                  <a:srgbClr val="C00000"/>
                </a:solidFill>
              </a:rPr>
              <a:t>Map.Entry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describes an element (a key/value pair) in a map. This is an inner class of Map. </a:t>
            </a:r>
          </a:p>
          <a:p>
            <a:pPr eaLnBrk="1" hangingPunct="1"/>
            <a:endParaRPr lang="en-US" altLang="en-US" sz="16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1600" dirty="0" err="1">
                <a:solidFill>
                  <a:srgbClr val="C00000"/>
                </a:solidFill>
              </a:rPr>
              <a:t>SortedMap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extends Map so that the keys are maintained in ascending order. </a:t>
            </a:r>
          </a:p>
          <a:p>
            <a:pPr eaLnBrk="1" hangingPunct="1"/>
            <a:endParaRPr lang="en-US" altLang="en-US" sz="1600" dirty="0">
              <a:solidFill>
                <a:srgbClr val="C00000"/>
              </a:solidFill>
            </a:endParaRPr>
          </a:p>
          <a:p>
            <a:pPr eaLnBrk="1" hangingPunct="1"/>
            <a:r>
              <a:rPr lang="en-US" altLang="en-US" sz="1600" dirty="0">
                <a:solidFill>
                  <a:srgbClr val="C00000"/>
                </a:solidFill>
              </a:rPr>
              <a:t>Enumeration</a:t>
            </a:r>
            <a:br>
              <a:rPr lang="en-US" altLang="en-US" sz="1600" dirty="0"/>
            </a:br>
            <a:r>
              <a:rPr lang="en-US" altLang="en-US" sz="1600" dirty="0">
                <a:solidFill>
                  <a:schemeClr val="tx1"/>
                </a:solidFill>
              </a:rPr>
              <a:t>This is </a:t>
            </a:r>
            <a:r>
              <a:rPr lang="en-US" altLang="en-US" sz="1600" b="1" dirty="0">
                <a:solidFill>
                  <a:schemeClr val="tx1"/>
                </a:solidFill>
              </a:rPr>
              <a:t>legacy</a:t>
            </a:r>
            <a:r>
              <a:rPr lang="en-US" altLang="en-US" sz="1600" dirty="0">
                <a:solidFill>
                  <a:schemeClr val="tx1"/>
                </a:solidFill>
              </a:rPr>
              <a:t> interface and defines the methods by which you can enumerate.</a:t>
            </a:r>
            <a:br>
              <a:rPr lang="en-US" altLang="en-US" sz="1600" dirty="0">
                <a:solidFill>
                  <a:schemeClr val="tx1"/>
                </a:solidFill>
              </a:rPr>
            </a:br>
            <a:r>
              <a:rPr lang="en-US" altLang="en-US" sz="1600" dirty="0">
                <a:solidFill>
                  <a:schemeClr val="tx1"/>
                </a:solidFill>
              </a:rPr>
              <a:t>This legacy interface has been replaced by Iterator.</a:t>
            </a:r>
          </a:p>
        </p:txBody>
      </p:sp>
    </p:spTree>
    <p:extLst>
      <p:ext uri="{BB962C8B-B14F-4D97-AF65-F5344CB8AC3E}">
        <p14:creationId xmlns:p14="http://schemas.microsoft.com/office/powerpoint/2010/main" val="116052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5314581" cy="63422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Collections Classes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40562" y="1466682"/>
            <a:ext cx="10388288" cy="5184971"/>
          </a:xfrm>
        </p:spPr>
        <p:txBody>
          <a:bodyPr/>
          <a:lstStyle/>
          <a:p>
            <a:pPr marL="0" indent="0">
              <a:buNone/>
            </a:pPr>
            <a:endParaRPr lang="en-US" altLang="en-US" sz="2000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chemeClr val="tx1"/>
                </a:solidFill>
              </a:rPr>
              <a:t>Map</a:t>
            </a:r>
            <a:r>
              <a:rPr lang="en-US" altLang="en-US" sz="2000" dirty="0">
                <a:solidFill>
                  <a:schemeClr val="tx1"/>
                </a:solidFill>
              </a:rPr>
              <a:t>:</a:t>
            </a:r>
          </a:p>
          <a:p>
            <a:pPr eaLnBrk="1" hangingPunct="1"/>
            <a:endParaRPr lang="en-US" altLang="en-US" sz="20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The framework also defines several </a:t>
            </a:r>
            <a:r>
              <a:rPr lang="en-US" altLang="en-US" sz="2000" b="1" dirty="0">
                <a:solidFill>
                  <a:schemeClr val="tx1"/>
                </a:solidFill>
              </a:rPr>
              <a:t>map</a:t>
            </a:r>
            <a:r>
              <a:rPr lang="en-US" altLang="en-US" sz="2000" dirty="0">
                <a:solidFill>
                  <a:schemeClr val="tx1"/>
                </a:solidFill>
              </a:rPr>
              <a:t> interfaces and classes. </a:t>
            </a:r>
          </a:p>
          <a:p>
            <a:pPr eaLnBrk="1" hangingPunct="1"/>
            <a:endParaRPr lang="en-US" altLang="en-US" sz="20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en-US" sz="2000" dirty="0">
                <a:solidFill>
                  <a:schemeClr val="tx1"/>
                </a:solidFill>
              </a:rPr>
              <a:t>Maps store </a:t>
            </a:r>
            <a:r>
              <a:rPr lang="en-US" altLang="en-US" sz="2000" b="1" dirty="0">
                <a:solidFill>
                  <a:schemeClr val="tx1"/>
                </a:solidFill>
              </a:rPr>
              <a:t>key/value</a:t>
            </a:r>
            <a:r>
              <a:rPr lang="en-US" altLang="en-US" sz="2000" dirty="0">
                <a:solidFill>
                  <a:schemeClr val="tx1"/>
                </a:solidFill>
              </a:rPr>
              <a:t> pairs. Although maps are </a:t>
            </a:r>
            <a:r>
              <a:rPr lang="en-US" altLang="en-US" sz="2000" b="1" dirty="0">
                <a:solidFill>
                  <a:schemeClr val="tx1"/>
                </a:solidFill>
              </a:rPr>
              <a:t>not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  <a:r>
              <a:rPr lang="en-US" altLang="en-US" sz="2000" i="1" dirty="0">
                <a:solidFill>
                  <a:schemeClr val="tx1"/>
                </a:solidFill>
              </a:rPr>
              <a:t>collections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</a:p>
          <a:p>
            <a:pPr eaLnBrk="1" hangingPunct="1"/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5470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16" y="2225155"/>
            <a:ext cx="5149078" cy="2465679"/>
          </a:xfrm>
          <a:prstGeom prst="rect">
            <a:avLst/>
          </a:prstGeom>
        </p:spPr>
      </p:pic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40562" y="757603"/>
            <a:ext cx="5314581" cy="63422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The Collections Classes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0445" y="877163"/>
            <a:ext cx="5039750" cy="50826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7326" y="4441423"/>
            <a:ext cx="4075946" cy="2200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7464903" y="1189529"/>
            <a:ext cx="1282382" cy="19420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182478" y="1189528"/>
            <a:ext cx="1282382" cy="19420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943680" y="3457995"/>
            <a:ext cx="3385169" cy="19420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295051" y="4093220"/>
            <a:ext cx="981834" cy="194209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0119089" y="4779843"/>
            <a:ext cx="1209759" cy="16439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454827" y="4944234"/>
            <a:ext cx="1209759" cy="16439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682079" y="5101281"/>
            <a:ext cx="1209759" cy="164391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ight Arrow 6"/>
          <p:cNvSpPr/>
          <p:nvPr/>
        </p:nvSpPr>
        <p:spPr>
          <a:xfrm rot="8105641">
            <a:off x="6078490" y="3018063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7947F02-3FAE-A2C7-E9B0-FB7043BB7D84}"/>
              </a:ext>
            </a:extLst>
          </p:cNvPr>
          <p:cNvSpPr txBox="1">
            <a:spLocks/>
          </p:cNvSpPr>
          <p:nvPr/>
        </p:nvSpPr>
        <p:spPr>
          <a:xfrm>
            <a:off x="2072420" y="1502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“CSEN160_05_Lecture_DataStructursAndGenerics.C_MapTest”</a:t>
            </a:r>
          </a:p>
        </p:txBody>
      </p:sp>
    </p:spTree>
    <p:extLst>
      <p:ext uri="{BB962C8B-B14F-4D97-AF65-F5344CB8AC3E}">
        <p14:creationId xmlns:p14="http://schemas.microsoft.com/office/powerpoint/2010/main" val="3886890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370592" cy="6868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The Collection Classes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6516" y="1493837"/>
            <a:ext cx="10408518" cy="5133540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AbstractCollection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Implements most of the Collection interface.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AbstractList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AbstractCollection and implements most of the List interface</a:t>
            </a:r>
          </a:p>
          <a:p>
            <a:pPr>
              <a:defRPr/>
            </a:pPr>
            <a:endParaRPr lang="en-US" sz="20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AbstractSequentialList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AbstractList for use by a collection that uses sequential rather than random access of its elements.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LinkedList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Implements a linked list by extending AbstractSequentialList. </a:t>
            </a:r>
          </a:p>
        </p:txBody>
      </p:sp>
    </p:spTree>
    <p:extLst>
      <p:ext uri="{BB962C8B-B14F-4D97-AF65-F5344CB8AC3E}">
        <p14:creationId xmlns:p14="http://schemas.microsoft.com/office/powerpoint/2010/main" val="3816290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803516" cy="6868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The Collection Classes</a:t>
            </a:r>
            <a:endParaRPr lang="en-US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817084" y="1658867"/>
            <a:ext cx="4446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Implementing </a:t>
            </a: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AbstractList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and using it</a:t>
            </a:r>
          </a:p>
        </p:txBody>
      </p:sp>
      <p:sp>
        <p:nvSpPr>
          <p:cNvPr id="7" name="Down Arrow 6"/>
          <p:cNvSpPr/>
          <p:nvPr/>
        </p:nvSpPr>
        <p:spPr>
          <a:xfrm>
            <a:off x="7112899" y="4620249"/>
            <a:ext cx="303451" cy="45750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817" y="1963309"/>
            <a:ext cx="4830587" cy="458120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2168" y="2848933"/>
            <a:ext cx="7094869" cy="162700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6298" y="5222067"/>
            <a:ext cx="3380103" cy="10940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158673" y="3147802"/>
            <a:ext cx="2864580" cy="198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227699" y="3332578"/>
            <a:ext cx="311543" cy="1982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99B359-F267-716D-2189-EB4CF361DA95}"/>
              </a:ext>
            </a:extLst>
          </p:cNvPr>
          <p:cNvSpPr txBox="1">
            <a:spLocks/>
          </p:cNvSpPr>
          <p:nvPr/>
        </p:nvSpPr>
        <p:spPr>
          <a:xfrm>
            <a:off x="1948094" y="13879"/>
            <a:ext cx="5984727" cy="35008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“CSEN160_05_Lecture_DataStructursAndGenerics.E_AbstractList”</a:t>
            </a:r>
          </a:p>
        </p:txBody>
      </p:sp>
    </p:spTree>
    <p:extLst>
      <p:ext uri="{BB962C8B-B14F-4D97-AF65-F5344CB8AC3E}">
        <p14:creationId xmlns:p14="http://schemas.microsoft.com/office/powerpoint/2010/main" val="1881866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937034" cy="6868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The Collection Classes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36516" y="1493837"/>
            <a:ext cx="10408518" cy="5133540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ArrayList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Implements a dynamic array by extending AbstractList.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AbstractSet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AbstractCollection and implements most of the Set interface. </a:t>
            </a:r>
          </a:p>
          <a:p>
            <a:pPr>
              <a:defRPr/>
            </a:pPr>
            <a:endParaRPr lang="en-US" sz="20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HashSet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AbstractSet for use with a hash table.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LinkedHashSet</a:t>
            </a:r>
            <a:r>
              <a:rPr lang="en-US" sz="2000" dirty="0">
                <a:solidFill>
                  <a:srgbClr val="C00000"/>
                </a:solidFill>
                <a:hlinkClick r:id="rId2" action="ppaction://hlinkfile"/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HashSet to allow insertion-order iterations.</a:t>
            </a:r>
          </a:p>
        </p:txBody>
      </p:sp>
    </p:spTree>
    <p:extLst>
      <p:ext uri="{BB962C8B-B14F-4D97-AF65-F5344CB8AC3E}">
        <p14:creationId xmlns:p14="http://schemas.microsoft.com/office/powerpoint/2010/main" val="3410329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750918" cy="686825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/>
              <a:t>The Collection Classes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6516" y="1489791"/>
            <a:ext cx="10392334" cy="5133540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TreeSet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Implements a set stored in a tree. Extends AbstractSet.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AbstractMap</a:t>
            </a:r>
            <a:r>
              <a:rPr lang="en-US" sz="2000" b="1" dirty="0"/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Implements most of the Map interface.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HashMap</a:t>
            </a:r>
            <a:r>
              <a:rPr lang="en-US" sz="2000" b="1" dirty="0">
                <a:solidFill>
                  <a:srgbClr val="C00000"/>
                </a:solidFill>
                <a:hlinkClick r:id="rId2" action="ppaction://hlinkfile"/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AbstractMap to use a hash table.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TreeMap</a:t>
            </a:r>
            <a:r>
              <a:rPr lang="en-US" sz="2000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AbstractMap to use a tree. </a:t>
            </a:r>
          </a:p>
        </p:txBody>
      </p:sp>
    </p:spTree>
    <p:extLst>
      <p:ext uri="{BB962C8B-B14F-4D97-AF65-F5344CB8AC3E}">
        <p14:creationId xmlns:p14="http://schemas.microsoft.com/office/powerpoint/2010/main" val="3599722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36516" y="753557"/>
            <a:ext cx="6779240" cy="686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dirty="0"/>
              <a:t>The Abstract Collection Classes</a:t>
            </a:r>
            <a:endParaRPr lang="en-US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6516" y="1489791"/>
            <a:ext cx="10392334" cy="5133540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WeakHashMap</a:t>
            </a:r>
            <a:r>
              <a:rPr lang="en-US" sz="2000" b="1" dirty="0">
                <a:solidFill>
                  <a:srgbClr val="C00000"/>
                </a:solidFill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AbstractMap to use a hash table with weak keys.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LinkedHashMap</a:t>
            </a:r>
            <a:r>
              <a:rPr lang="en-US" sz="2000" b="1" dirty="0">
                <a:solidFill>
                  <a:srgbClr val="C00000"/>
                </a:solidFill>
                <a:hlinkClick r:id="rId2" action="ppaction://hlinkfile"/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HashMap to allow insertion-order iterations. </a:t>
            </a:r>
          </a:p>
          <a:p>
            <a:pPr>
              <a:defRPr/>
            </a:pPr>
            <a:endParaRPr lang="en-US" sz="2000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sz="2000" b="1" dirty="0" err="1">
                <a:solidFill>
                  <a:srgbClr val="C00000"/>
                </a:solidFill>
              </a:rPr>
              <a:t>IdentityHashMap</a:t>
            </a:r>
            <a:r>
              <a:rPr lang="en-US" sz="2000" b="1" dirty="0">
                <a:solidFill>
                  <a:srgbClr val="C00000"/>
                </a:solidFill>
                <a:hlinkClick r:id="rId3" action="ppaction://hlinkfile"/>
              </a:rPr>
              <a:t> </a:t>
            </a:r>
            <a:br>
              <a:rPr lang="en-US" sz="2000" dirty="0"/>
            </a:br>
            <a:r>
              <a:rPr lang="en-US" sz="2000" dirty="0">
                <a:solidFill>
                  <a:schemeClr val="tx1"/>
                </a:solidFill>
              </a:rPr>
              <a:t>Extends AbstractMap and uses reference equality when comparing documents.</a:t>
            </a:r>
          </a:p>
        </p:txBody>
      </p:sp>
    </p:spTree>
    <p:extLst>
      <p:ext uri="{BB962C8B-B14F-4D97-AF65-F5344CB8AC3E}">
        <p14:creationId xmlns:p14="http://schemas.microsoft.com/office/powerpoint/2010/main" val="2873358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C276A-D131-6C76-2B19-C87F3983A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9A178050-4ADE-DF6A-10AB-3105F46FA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8823" y="1444428"/>
            <a:ext cx="8963546" cy="165503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6000" dirty="0">
                <a:solidFill>
                  <a:srgbClr val="FF0000"/>
                </a:solidFill>
              </a:rPr>
              <a:t>Legacy</a:t>
            </a:r>
            <a:r>
              <a:rPr lang="en-US" altLang="en-US" sz="4400" dirty="0"/>
              <a:t> classes from </a:t>
            </a:r>
            <a:r>
              <a:rPr lang="en-US" altLang="en-US" sz="4400" dirty="0" err="1"/>
              <a:t>java.util</a:t>
            </a:r>
            <a:endParaRPr lang="en-US" alt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819A-413B-5185-C501-46FC98469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3288906"/>
            <a:ext cx="10380196" cy="3290023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No </a:t>
            </a:r>
            <a:r>
              <a:rPr lang="en-US" b="1" dirty="0">
                <a:solidFill>
                  <a:srgbClr val="FF0000"/>
                </a:solidFill>
              </a:rPr>
              <a:t>warning</a:t>
            </a:r>
            <a:r>
              <a:rPr lang="en-US" b="1" dirty="0">
                <a:solidFill>
                  <a:schemeClr val="tx1"/>
                </a:solidFill>
              </a:rPr>
              <a:t> because those are </a:t>
            </a:r>
            <a:r>
              <a:rPr lang="en-US" b="1" dirty="0">
                <a:solidFill>
                  <a:srgbClr val="FF0000"/>
                </a:solidFill>
              </a:rPr>
              <a:t>legacy</a:t>
            </a:r>
            <a:r>
              <a:rPr lang="en-US" b="1" dirty="0">
                <a:solidFill>
                  <a:schemeClr val="tx1"/>
                </a:solidFill>
              </a:rPr>
              <a:t> classes but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b="1" dirty="0">
                <a:solidFill>
                  <a:schemeClr val="tx1"/>
                </a:solidFill>
              </a:rPr>
              <a:t> annotated </a:t>
            </a:r>
            <a:r>
              <a:rPr lang="en-US" b="1" dirty="0">
                <a:solidFill>
                  <a:srgbClr val="FF0000"/>
                </a:solidFill>
              </a:rPr>
              <a:t>@Deprecated</a:t>
            </a:r>
            <a:r>
              <a:rPr lang="en-US" b="1" dirty="0">
                <a:solidFill>
                  <a:schemeClr val="tx1"/>
                </a:solidFill>
              </a:rPr>
              <a:t>. 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</a:rPr>
              <a:t>They </a:t>
            </a:r>
            <a:r>
              <a:rPr lang="en-US" b="1" dirty="0">
                <a:solidFill>
                  <a:srgbClr val="00B050"/>
                </a:solidFill>
              </a:rPr>
              <a:t>remain</a:t>
            </a:r>
            <a:r>
              <a:rPr lang="en-US" b="1" dirty="0">
                <a:solidFill>
                  <a:schemeClr val="tx1"/>
                </a:solidFill>
              </a:rPr>
              <a:t> in the JDK for backward compatibility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 err="1">
                <a:solidFill>
                  <a:schemeClr val="tx1"/>
                </a:solidFill>
              </a:rPr>
              <a:t>javac</a:t>
            </a:r>
            <a:r>
              <a:rPr lang="en-US" b="1" dirty="0">
                <a:solidFill>
                  <a:schemeClr val="tx1"/>
                </a:solidFill>
              </a:rPr>
              <a:t> won't mark them as obsolete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82E5B66-550D-652F-9D85-EFA8727573EF}"/>
              </a:ext>
            </a:extLst>
          </p:cNvPr>
          <p:cNvSpPr txBox="1">
            <a:spLocks/>
          </p:cNvSpPr>
          <p:nvPr/>
        </p:nvSpPr>
        <p:spPr>
          <a:xfrm>
            <a:off x="5361627" y="6267918"/>
            <a:ext cx="5982954" cy="359450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“CSEN160_05_Lecture_DataStructursAndGenerics.D2_Legacy”</a:t>
            </a:r>
          </a:p>
        </p:txBody>
      </p:sp>
    </p:spTree>
    <p:extLst>
      <p:ext uri="{BB962C8B-B14F-4D97-AF65-F5344CB8AC3E}">
        <p14:creationId xmlns:p14="http://schemas.microsoft.com/office/powerpoint/2010/main" val="3576546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90EE2-7F17-A064-C4C2-4C6049AB3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id="{02AE1277-B115-C217-FCE8-F4CA1C90D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850662"/>
            <a:ext cx="6601215" cy="642319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Legacy</a:t>
            </a:r>
            <a:r>
              <a:rPr lang="en-US" altLang="en-US" dirty="0"/>
              <a:t> classes from </a:t>
            </a:r>
            <a:r>
              <a:rPr lang="en-US" altLang="en-US" dirty="0" err="1"/>
              <a:t>java.util</a:t>
            </a:r>
            <a:endParaRPr lang="en-US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97D35-724F-573E-D382-90A6A1376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733239"/>
            <a:ext cx="10380196" cy="4914367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Vector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This implements a dynamic array. It is similar to ArrayList, but with some differences. </a:t>
            </a:r>
          </a:p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Stack 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Stack is a subclass of Vector that implements a standard last-in, first-out stack. </a:t>
            </a:r>
          </a:p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Dictionary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Dictionary is an abstract class that represents a key/value storage repository and operates much like Map. </a:t>
            </a:r>
          </a:p>
        </p:txBody>
      </p:sp>
    </p:spTree>
    <p:extLst>
      <p:ext uri="{BB962C8B-B14F-4D97-AF65-F5344CB8AC3E}">
        <p14:creationId xmlns:p14="http://schemas.microsoft.com/office/powerpoint/2010/main" val="3818599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936516" y="850662"/>
            <a:ext cx="6601215" cy="642319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Legacy</a:t>
            </a:r>
            <a:r>
              <a:rPr lang="en-US" altLang="en-US" dirty="0"/>
              <a:t> classes from </a:t>
            </a:r>
            <a:r>
              <a:rPr lang="en-US" altLang="en-US" dirty="0" err="1"/>
              <a:t>java.util</a:t>
            </a:r>
            <a:endParaRPr lang="en-US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733239"/>
            <a:ext cx="10380196" cy="4914367"/>
          </a:xfrm>
        </p:spPr>
        <p:txBody>
          <a:bodyPr rtlCol="0">
            <a:normAutofit/>
          </a:bodyPr>
          <a:lstStyle/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 err="1">
                <a:solidFill>
                  <a:srgbClr val="C00000"/>
                </a:solidFill>
              </a:rPr>
              <a:t>Hashtable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Hashtable was part of the original java.util and is a concrete implementation of a Dictionary. </a:t>
            </a:r>
          </a:p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Properties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Properties is a subclass of Hashtable. It is used to maintain lists of values in which the key is a String and the value is also a String. </a:t>
            </a:r>
          </a:p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 err="1">
                <a:solidFill>
                  <a:srgbClr val="C00000"/>
                </a:solidFill>
              </a:rPr>
              <a:t>BitSet</a:t>
            </a:r>
            <a:br>
              <a:rPr lang="en-US" dirty="0"/>
            </a:br>
            <a:r>
              <a:rPr lang="en-US" dirty="0">
                <a:solidFill>
                  <a:schemeClr val="tx1"/>
                </a:solidFill>
              </a:rPr>
              <a:t>A BitSet class creates a special type of array that holds bit values. This array can increase in size as needed.</a:t>
            </a:r>
          </a:p>
        </p:txBody>
      </p:sp>
    </p:spTree>
    <p:extLst>
      <p:ext uri="{BB962C8B-B14F-4D97-AF65-F5344CB8AC3E}">
        <p14:creationId xmlns:p14="http://schemas.microsoft.com/office/powerpoint/2010/main" val="18455408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A25F2-3AE0-BDCF-0880-EDD5EEF55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57A2-3A61-C5F8-EEFD-EA29617843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… to here …</a:t>
            </a:r>
          </a:p>
        </p:txBody>
      </p:sp>
    </p:spTree>
    <p:extLst>
      <p:ext uri="{BB962C8B-B14F-4D97-AF65-F5344CB8AC3E}">
        <p14:creationId xmlns:p14="http://schemas.microsoft.com/office/powerpoint/2010/main" val="2815624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Iterators</a:t>
            </a:r>
          </a:p>
        </p:txBody>
      </p:sp>
    </p:spTree>
    <p:extLst>
      <p:ext uri="{BB962C8B-B14F-4D97-AF65-F5344CB8AC3E}">
        <p14:creationId xmlns:p14="http://schemas.microsoft.com/office/powerpoint/2010/main" val="23582472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AEC4F-9324-C6CF-732A-51B5BAED9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134F4D55-99C8-D1FA-4DF2-1345198F8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810201"/>
            <a:ext cx="4557976" cy="682779"/>
          </a:xfrm>
        </p:spPr>
        <p:txBody>
          <a:bodyPr/>
          <a:lstStyle/>
          <a:p>
            <a:pPr eaLnBrk="1" hangingPunct="1"/>
            <a:r>
              <a:rPr lang="en-US" altLang="en-US" dirty="0"/>
              <a:t>What is an iterator?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00C65-E05A-25D2-4322-9A8AE01FF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516" y="1632089"/>
            <a:ext cx="10400426" cy="5003379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Cycle through the elements in a collection: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An object to move </a:t>
            </a:r>
            <a:r>
              <a:rPr lang="en-US" dirty="0">
                <a:solidFill>
                  <a:srgbClr val="0000FF"/>
                </a:solidFill>
              </a:rPr>
              <a:t>sequentially </a:t>
            </a:r>
            <a:r>
              <a:rPr lang="en-US" dirty="0">
                <a:solidFill>
                  <a:schemeClr val="tx1"/>
                </a:solidFill>
              </a:rPr>
              <a:t>through data.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Cycle through plus </a:t>
            </a:r>
            <a:r>
              <a:rPr lang="en-US" b="1" dirty="0">
                <a:solidFill>
                  <a:schemeClr val="tx1"/>
                </a:solidFill>
              </a:rPr>
              <a:t>removing.</a:t>
            </a:r>
            <a:endParaRPr lang="en-US" dirty="0"/>
          </a:p>
          <a:p>
            <a:pPr>
              <a:defRPr/>
            </a:pPr>
            <a:endParaRPr lang="en-US" b="1" dirty="0">
              <a:solidFill>
                <a:srgbClr val="C00000"/>
              </a:solidFill>
            </a:endParaRPr>
          </a:p>
          <a:p>
            <a:pPr>
              <a:defRPr/>
            </a:pPr>
            <a:r>
              <a:rPr lang="en-US" b="1" dirty="0">
                <a:solidFill>
                  <a:srgbClr val="C00000"/>
                </a:solidFill>
              </a:rPr>
              <a:t>Iterator</a:t>
            </a:r>
            <a:r>
              <a:rPr lang="en-US" dirty="0"/>
              <a:t>: </a:t>
            </a:r>
            <a:r>
              <a:rPr lang="en-US" dirty="0">
                <a:solidFill>
                  <a:schemeClr val="tx1"/>
                </a:solidFill>
              </a:rPr>
              <a:t>implement </a:t>
            </a:r>
            <a:r>
              <a:rPr lang="en-US" b="1" dirty="0">
                <a:solidFill>
                  <a:schemeClr val="tx1"/>
                </a:solidFill>
              </a:rPr>
              <a:t>ListIterator</a:t>
            </a:r>
            <a:r>
              <a:rPr lang="en-US" dirty="0">
                <a:solidFill>
                  <a:schemeClr val="tx1"/>
                </a:solidFill>
              </a:rPr>
              <a:t> interface.</a:t>
            </a:r>
            <a:endParaRPr lang="en-US" dirty="0"/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b="1" dirty="0" err="1">
                <a:solidFill>
                  <a:schemeClr val="tx1"/>
                </a:solidFill>
              </a:rPr>
              <a:t>ListIterator</a:t>
            </a:r>
            <a:r>
              <a:rPr lang="en-US" dirty="0">
                <a:solidFill>
                  <a:schemeClr val="tx1"/>
                </a:solidFill>
              </a:rPr>
              <a:t> extends Iterator to allow bidirectional traversal of a list.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Sets and lists provide an iterator,</a:t>
            </a:r>
            <a:r>
              <a:rPr lang="en-US" dirty="0"/>
              <a:t> </a:t>
            </a:r>
            <a:r>
              <a:rPr lang="en-US" b="1" dirty="0">
                <a:solidFill>
                  <a:srgbClr val="FF0000"/>
                </a:solidFill>
              </a:rPr>
              <a:t>whereas maps do not</a:t>
            </a:r>
            <a:r>
              <a:rPr lang="en-US" dirty="0"/>
              <a:t>.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15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282" y="756605"/>
            <a:ext cx="8229600" cy="663547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"/>
                <a:cs typeface="Courier"/>
              </a:rPr>
              <a:t>Iterator</a:t>
            </a:r>
            <a:r>
              <a:rPr lang="en-US" dirty="0"/>
              <a:t> Interface </a:t>
            </a:r>
            <a:r>
              <a:rPr lang="en-US" sz="2400" dirty="0"/>
              <a:t>(Classic)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1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769" y="2282629"/>
            <a:ext cx="7158752" cy="2438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94" y="2245433"/>
            <a:ext cx="3682057" cy="247559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4301" y="3012829"/>
            <a:ext cx="1666963" cy="36964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11194" y="3719534"/>
            <a:ext cx="1507769" cy="21319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6321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052" y="814444"/>
            <a:ext cx="8229600" cy="571500"/>
          </a:xfrm>
        </p:spPr>
        <p:txBody>
          <a:bodyPr>
            <a:normAutofit fontScale="90000"/>
          </a:bodyPr>
          <a:lstStyle/>
          <a:p>
            <a:r>
              <a:rPr lang="en-US" dirty="0"/>
              <a:t>The </a:t>
            </a:r>
            <a:r>
              <a:rPr lang="en-US" dirty="0" err="1">
                <a:latin typeface="Courier"/>
                <a:cs typeface="Courier"/>
              </a:rPr>
              <a:t>ListIterator</a:t>
            </a:r>
            <a:r>
              <a:rPr lang="en-US" dirty="0"/>
              <a:t> Interface </a:t>
            </a:r>
            <a:r>
              <a:rPr lang="en-US" sz="2200" dirty="0"/>
              <a:t>(New)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834" y="1749903"/>
            <a:ext cx="10371292" cy="4885566"/>
          </a:xfrm>
        </p:spPr>
        <p:txBody>
          <a:bodyPr>
            <a:normAutofit/>
          </a:bodyPr>
          <a:lstStyle/>
          <a:p>
            <a:r>
              <a:rPr lang="en-US" sz="2000" dirty="0" err="1">
                <a:latin typeface="Courier"/>
                <a:cs typeface="Courier"/>
              </a:rPr>
              <a:t>ListIterator</a:t>
            </a:r>
            <a:r>
              <a:rPr lang="en-US" sz="2000" dirty="0">
                <a:cs typeface="Courier"/>
              </a:rPr>
              <a:t> (</a:t>
            </a:r>
            <a:r>
              <a:rPr lang="en-US" b="1" dirty="0">
                <a:solidFill>
                  <a:srgbClr val="00B050"/>
                </a:solidFill>
              </a:rPr>
              <a:t>extends</a:t>
            </a:r>
            <a:r>
              <a:rPr lang="en-US" dirty="0"/>
              <a:t> </a:t>
            </a:r>
            <a:r>
              <a:rPr lang="en-US" sz="2000" dirty="0">
                <a:latin typeface="Courier"/>
                <a:cs typeface="Courier"/>
              </a:rPr>
              <a:t>Iterator</a:t>
            </a:r>
            <a:r>
              <a:rPr lang="en-US" dirty="0"/>
              <a:t>) and is used to move in both, </a:t>
            </a:r>
            <a:br>
              <a:rPr lang="en-US" dirty="0"/>
            </a:br>
            <a:r>
              <a:rPr lang="en-US" dirty="0"/>
              <a:t>the forward and backward directions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286" y="3192309"/>
            <a:ext cx="6830785" cy="2667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556" y="2772092"/>
            <a:ext cx="3823914" cy="360038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31732" y="2824121"/>
            <a:ext cx="3685922" cy="18611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31732" y="3769434"/>
            <a:ext cx="3685922" cy="69737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31732" y="4848372"/>
            <a:ext cx="3685922" cy="69737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300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578" y="1610882"/>
            <a:ext cx="5156419" cy="346686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566" y="1610882"/>
            <a:ext cx="5292216" cy="498285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51074" y="1702755"/>
            <a:ext cx="2777229" cy="26361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06566" y="2935389"/>
            <a:ext cx="2821737" cy="1033754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51074" y="4439722"/>
            <a:ext cx="2777229" cy="1018355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052" y="814444"/>
            <a:ext cx="8229600" cy="5715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ourier"/>
                <a:cs typeface="Courier"/>
              </a:rPr>
              <a:t>Iterator </a:t>
            </a:r>
            <a:r>
              <a:rPr lang="en-US" dirty="0"/>
              <a:t>vs </a:t>
            </a:r>
            <a:r>
              <a:rPr lang="en-US" dirty="0" err="1">
                <a:latin typeface="Courier"/>
                <a:cs typeface="Courier"/>
              </a:rPr>
              <a:t>ListIterator</a:t>
            </a:r>
            <a:r>
              <a:rPr lang="en-US" dirty="0"/>
              <a:t> Interface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6360" y="3669721"/>
            <a:ext cx="2821737" cy="29942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016360" y="2667569"/>
            <a:ext cx="2821737" cy="53687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68743" y="5211108"/>
            <a:ext cx="529623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Important: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You get 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ListIterator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from the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interface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But you cannot get the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ListIterator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from the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Collection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interface</a:t>
            </a:r>
          </a:p>
        </p:txBody>
      </p:sp>
    </p:spTree>
    <p:extLst>
      <p:ext uri="{BB962C8B-B14F-4D97-AF65-F5344CB8AC3E}">
        <p14:creationId xmlns:p14="http://schemas.microsoft.com/office/powerpoint/2010/main" val="4171755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98063"/>
            <a:ext cx="10417284" cy="674687"/>
          </a:xfrm>
        </p:spPr>
        <p:txBody>
          <a:bodyPr/>
          <a:lstStyle/>
          <a:p>
            <a:r>
              <a:rPr lang="en-US" dirty="0"/>
              <a:t>Example: Using an Iterator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44227"/>
            <a:ext cx="10417284" cy="499528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You can use an iterator to print and/or delete elements: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2354719"/>
            <a:ext cx="7039675" cy="391256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4755" y="2561075"/>
            <a:ext cx="1991019" cy="3498862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V="1">
            <a:off x="3839671" y="4741933"/>
            <a:ext cx="4911487" cy="16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71AF6B6-28F2-FF8F-CC71-81C306E4F2C4}"/>
              </a:ext>
            </a:extLst>
          </p:cNvPr>
          <p:cNvSpPr txBox="1">
            <a:spLocks/>
          </p:cNvSpPr>
          <p:nvPr/>
        </p:nvSpPr>
        <p:spPr>
          <a:xfrm>
            <a:off x="1479881" y="31502"/>
            <a:ext cx="8498307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S_ListMapSet.MyListIteratorExamples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250A9A-8DC2-FE02-7F81-51FE9E671BCB}"/>
              </a:ext>
            </a:extLst>
          </p:cNvPr>
          <p:cNvSpPr txBox="1"/>
          <p:nvPr/>
        </p:nvSpPr>
        <p:spPr>
          <a:xfrm>
            <a:off x="3538760" y="2907879"/>
            <a:ext cx="2787943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10 numbers 0-10</a:t>
            </a:r>
          </a:p>
        </p:txBody>
      </p:sp>
    </p:spTree>
    <p:extLst>
      <p:ext uri="{BB962C8B-B14F-4D97-AF65-F5344CB8AC3E}">
        <p14:creationId xmlns:p14="http://schemas.microsoft.com/office/powerpoint/2010/main" val="1198318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6516" y="798063"/>
            <a:ext cx="10417284" cy="674687"/>
          </a:xfrm>
        </p:spPr>
        <p:txBody>
          <a:bodyPr/>
          <a:lstStyle/>
          <a:p>
            <a:r>
              <a:rPr lang="en-US" dirty="0"/>
              <a:t>Example: Using a </a:t>
            </a:r>
            <a:r>
              <a:rPr lang="en-US" dirty="0" err="1"/>
              <a:t>ListIterator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516" y="1661372"/>
            <a:ext cx="5617886" cy="47237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3246" y="1661372"/>
            <a:ext cx="2590349" cy="4835722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V="1">
            <a:off x="2767476" y="3046651"/>
            <a:ext cx="4741933" cy="15779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957005" y="3677830"/>
            <a:ext cx="3576680" cy="171955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4062202" y="3859901"/>
            <a:ext cx="3475529" cy="1751926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9520279" y="4062202"/>
            <a:ext cx="335820" cy="1035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9520279" y="5731858"/>
            <a:ext cx="335820" cy="6001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3957005" y="4062202"/>
            <a:ext cx="5563274" cy="42483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3957005" y="4487034"/>
            <a:ext cx="5563274" cy="124482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99074" y="5490787"/>
            <a:ext cx="2364750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Print all items again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73745" y="3316018"/>
            <a:ext cx="3147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 gets a little bit complicated!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5FAAB-4236-90DB-8371-6EA7F6953F7C}"/>
              </a:ext>
            </a:extLst>
          </p:cNvPr>
          <p:cNvSpPr txBox="1">
            <a:spLocks/>
          </p:cNvSpPr>
          <p:nvPr/>
        </p:nvSpPr>
        <p:spPr>
          <a:xfrm>
            <a:off x="1479881" y="31502"/>
            <a:ext cx="9135981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S_ListMapSet.myCollectionsListIterator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ECF2F4-685F-58E1-2DDD-7143D05BF24A}"/>
              </a:ext>
            </a:extLst>
          </p:cNvPr>
          <p:cNvSpPr txBox="1"/>
          <p:nvPr/>
        </p:nvSpPr>
        <p:spPr>
          <a:xfrm>
            <a:off x="4617591" y="1857122"/>
            <a:ext cx="2787943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Create 10 numbers 0-10</a:t>
            </a:r>
          </a:p>
        </p:txBody>
      </p:sp>
    </p:spTree>
    <p:extLst>
      <p:ext uri="{BB962C8B-B14F-4D97-AF65-F5344CB8AC3E}">
        <p14:creationId xmlns:p14="http://schemas.microsoft.com/office/powerpoint/2010/main" val="2506101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Lists</a:t>
            </a:r>
          </a:p>
        </p:txBody>
      </p:sp>
    </p:spTree>
    <p:extLst>
      <p:ext uri="{BB962C8B-B14F-4D97-AF65-F5344CB8AC3E}">
        <p14:creationId xmlns:p14="http://schemas.microsoft.com/office/powerpoint/2010/main" val="1970918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3453413" cy="670641"/>
          </a:xfrm>
        </p:spPr>
        <p:txBody>
          <a:bodyPr/>
          <a:lstStyle/>
          <a:p>
            <a:pPr eaLnBrk="1" hangingPunct="1"/>
            <a:r>
              <a:rPr lang="en-US" altLang="en-US" dirty="0"/>
              <a:t>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6365"/>
            <a:ext cx="10400426" cy="499528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Important: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Lists memorize the sequence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Elements can be double or triple 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List elements:</a:t>
            </a: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java.util.ArrayList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java.util.LinkedList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java.util.concurrent.CopyonWriteArrayList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 err="1">
                <a:solidFill>
                  <a:schemeClr val="tx1"/>
                </a:solidFill>
              </a:rPr>
              <a:t>java.util.Vector</a:t>
            </a: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0636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4873565" cy="670641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ArrayList</a:t>
            </a:r>
            <a:r>
              <a:rPr lang="en-US" altLang="en-US" dirty="0"/>
              <a:t> or </a:t>
            </a:r>
            <a:r>
              <a:rPr lang="en-US" altLang="en-US" dirty="0" err="1"/>
              <a:t>LinkedList</a:t>
            </a:r>
            <a:r>
              <a:rPr lang="en-US" altLang="en-US" dirty="0"/>
              <a:t>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6365"/>
            <a:ext cx="10400426" cy="499528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 err="1">
                <a:solidFill>
                  <a:schemeClr val="tx1"/>
                </a:solidFill>
              </a:rPr>
              <a:t>ArraList</a:t>
            </a:r>
            <a:endParaRPr lang="en-US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Access to an element: </a:t>
            </a:r>
            <a:r>
              <a:rPr lang="en-US" b="1" dirty="0">
                <a:solidFill>
                  <a:srgbClr val="92D050"/>
                </a:solidFill>
              </a:rPr>
              <a:t>fast</a:t>
            </a:r>
            <a:r>
              <a:rPr lang="en-US" dirty="0">
                <a:solidFill>
                  <a:schemeClr val="tx1"/>
                </a:solidFill>
              </a:rPr>
              <a:t> 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Add or delete element in the middle: </a:t>
            </a:r>
            <a:r>
              <a:rPr lang="en-US" b="1" dirty="0">
                <a:solidFill>
                  <a:srgbClr val="FF0000"/>
                </a:solidFill>
              </a:rPr>
              <a:t>slow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Size of an array can be too </a:t>
            </a:r>
            <a:r>
              <a:rPr lang="en-US" b="1" dirty="0">
                <a:solidFill>
                  <a:srgbClr val="FF0000"/>
                </a:solidFill>
              </a:rPr>
              <a:t>small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 err="1">
                <a:solidFill>
                  <a:schemeClr val="tx1"/>
                </a:solidFill>
              </a:rPr>
              <a:t>LinkedList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Access to an element: </a:t>
            </a:r>
            <a:r>
              <a:rPr lang="en-US" b="1" dirty="0">
                <a:solidFill>
                  <a:srgbClr val="FF0000"/>
                </a:solidFill>
              </a:rPr>
              <a:t>slow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Add or delete element in the middle: </a:t>
            </a:r>
            <a:r>
              <a:rPr lang="en-US" b="1" dirty="0">
                <a:solidFill>
                  <a:srgbClr val="92D050"/>
                </a:solidFill>
              </a:rPr>
              <a:t>fast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28028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3453413" cy="670641"/>
          </a:xfrm>
        </p:spPr>
        <p:txBody>
          <a:bodyPr/>
          <a:lstStyle/>
          <a:p>
            <a:pPr eaLnBrk="1" hangingPunct="1"/>
            <a:r>
              <a:rPr lang="en-US" altLang="en-US" dirty="0"/>
              <a:t>Interface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6365"/>
            <a:ext cx="10400426" cy="499528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List: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Use always the interface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when working with lists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List </a:t>
            </a:r>
            <a:r>
              <a:rPr lang="en-US" dirty="0" err="1">
                <a:solidFill>
                  <a:schemeClr val="tx1"/>
                </a:solidFill>
              </a:rPr>
              <a:t>myList</a:t>
            </a:r>
            <a:r>
              <a:rPr lang="en-US" dirty="0">
                <a:solidFill>
                  <a:schemeClr val="tx1"/>
                </a:solidFill>
              </a:rPr>
              <a:t>=new </a:t>
            </a:r>
            <a:r>
              <a:rPr lang="en-US" dirty="0" err="1">
                <a:solidFill>
                  <a:schemeClr val="tx1"/>
                </a:solidFill>
              </a:rPr>
              <a:t>ArrayList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List </a:t>
            </a:r>
            <a:r>
              <a:rPr lang="en-US" dirty="0" err="1">
                <a:solidFill>
                  <a:schemeClr val="tx1"/>
                </a:solidFill>
              </a:rPr>
              <a:t>myList</a:t>
            </a:r>
            <a:r>
              <a:rPr lang="en-US" dirty="0">
                <a:solidFill>
                  <a:schemeClr val="tx1"/>
                </a:solidFill>
              </a:rPr>
              <a:t>=new </a:t>
            </a:r>
            <a:r>
              <a:rPr lang="en-US" dirty="0" err="1">
                <a:solidFill>
                  <a:schemeClr val="tx1"/>
                </a:solidFill>
              </a:rPr>
              <a:t>LinkedList</a:t>
            </a:r>
            <a:r>
              <a:rPr lang="en-US" dirty="0">
                <a:solidFill>
                  <a:schemeClr val="tx1"/>
                </a:solidFill>
              </a:rPr>
              <a:t>();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To switch the list implementation,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rgbClr val="00B050"/>
                </a:solidFill>
              </a:rPr>
              <a:t>only one line needs to be changed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334" y="765695"/>
            <a:ext cx="2880991" cy="582516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643334" y="789473"/>
            <a:ext cx="2880991" cy="60640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643334" y="2111172"/>
            <a:ext cx="2880991" cy="308347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43334" y="2525834"/>
            <a:ext cx="2880991" cy="88495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646031" y="3855377"/>
            <a:ext cx="2880991" cy="141253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000331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1342" y="765695"/>
            <a:ext cx="2880991" cy="5825162"/>
          </a:xfrm>
          <a:prstGeom prst="rect">
            <a:avLst/>
          </a:prstGeom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3453413" cy="155671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Interface List versus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051342" y="789473"/>
            <a:ext cx="2880991" cy="60640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51342" y="2111173"/>
            <a:ext cx="2880991" cy="16673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51342" y="2525834"/>
            <a:ext cx="2880991" cy="88495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54039" y="3855377"/>
            <a:ext cx="2880991" cy="1412538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252" y="765695"/>
            <a:ext cx="2729745" cy="396666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092555" y="765696"/>
            <a:ext cx="2880991" cy="3469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31453" y="2749025"/>
            <a:ext cx="2880991" cy="84383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936516" y="2592360"/>
            <a:ext cx="4040086" cy="399849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Collection interface: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Collection </a:t>
            </a:r>
            <a:r>
              <a:rPr lang="en-US" dirty="0">
                <a:solidFill>
                  <a:srgbClr val="00B050"/>
                </a:solidFill>
              </a:rPr>
              <a:t>includes</a:t>
            </a:r>
            <a:r>
              <a:rPr lang="en-US" dirty="0">
                <a:solidFill>
                  <a:schemeClr val="tx1"/>
                </a:solidFill>
              </a:rPr>
              <a:t> also Set(s)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Index is </a:t>
            </a:r>
            <a:r>
              <a:rPr lang="en-US" b="1" dirty="0">
                <a:solidFill>
                  <a:srgbClr val="FF0000"/>
                </a:solidFill>
              </a:rPr>
              <a:t>missing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Use it when you want to make your container selection even </a:t>
            </a:r>
            <a:r>
              <a:rPr lang="en-US" b="1" dirty="0">
                <a:solidFill>
                  <a:srgbClr val="00B050"/>
                </a:solidFill>
              </a:rPr>
              <a:t>more generic </a:t>
            </a:r>
            <a:r>
              <a:rPr lang="en-US" dirty="0">
                <a:solidFill>
                  <a:schemeClr val="tx1"/>
                </a:solidFill>
              </a:rPr>
              <a:t>as with List</a:t>
            </a:r>
          </a:p>
          <a:p>
            <a:pPr>
              <a:defRPr/>
            </a:pPr>
            <a:r>
              <a:rPr lang="en-US" b="1" dirty="0">
                <a:solidFill>
                  <a:srgbClr val="00B050"/>
                </a:solidFill>
              </a:rPr>
              <a:t>Usually</a:t>
            </a:r>
            <a:r>
              <a:rPr lang="en-US" dirty="0">
                <a:solidFill>
                  <a:schemeClr val="tx1"/>
                </a:solidFill>
              </a:rPr>
              <a:t> you access everything via Iterator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8FF7A-5104-E498-8FC2-DB4EDB362147}"/>
              </a:ext>
            </a:extLst>
          </p:cNvPr>
          <p:cNvSpPr txBox="1"/>
          <p:nvPr/>
        </p:nvSpPr>
        <p:spPr>
          <a:xfrm>
            <a:off x="10530513" y="3429000"/>
            <a:ext cx="18167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 Interface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1D747F-4813-6464-EA6C-3D58528A8D45}"/>
              </a:ext>
            </a:extLst>
          </p:cNvPr>
          <p:cNvSpPr txBox="1"/>
          <p:nvPr/>
        </p:nvSpPr>
        <p:spPr>
          <a:xfrm>
            <a:off x="5131453" y="4732355"/>
            <a:ext cx="25057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Collection Interface</a:t>
            </a:r>
          </a:p>
        </p:txBody>
      </p:sp>
    </p:spTree>
    <p:extLst>
      <p:ext uri="{BB962C8B-B14F-4D97-AF65-F5344CB8AC3E}">
        <p14:creationId xmlns:p14="http://schemas.microsoft.com/office/powerpoint/2010/main" val="38921109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6864206" cy="670641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Interface List versus Collection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955" y="2979404"/>
            <a:ext cx="5475658" cy="267251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027" y="2979404"/>
            <a:ext cx="5502873" cy="26452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92126" y="2045457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 interface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0504" y="2045457"/>
            <a:ext cx="3817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Collection interface 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more generic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)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E0B505D-B249-D771-FDC2-6855557AC887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.B_RocketExample”</a:t>
            </a:r>
          </a:p>
        </p:txBody>
      </p:sp>
    </p:spTree>
    <p:extLst>
      <p:ext uri="{BB962C8B-B14F-4D97-AF65-F5344CB8AC3E}">
        <p14:creationId xmlns:p14="http://schemas.microsoft.com/office/powerpoint/2010/main" val="3858405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CC5A9-6652-C72E-5F29-871CD39C7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718D6AEB-7CA0-39B7-5DC5-3ACEC979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516" y="810202"/>
            <a:ext cx="6864206" cy="670641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Interface List versus Collection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70" y="2545134"/>
            <a:ext cx="5502873" cy="414212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869811" y="5129796"/>
            <a:ext cx="4244386" cy="1341499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46028" y="1946616"/>
            <a:ext cx="1980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Must use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iterator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1521" y="2911231"/>
            <a:ext cx="859218" cy="18568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61521" y="3651779"/>
            <a:ext cx="859218" cy="18568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69613" y="4389248"/>
            <a:ext cx="859218" cy="18568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029363-82D2-587E-48D4-1F687C25664E}"/>
              </a:ext>
            </a:extLst>
          </p:cNvPr>
          <p:cNvSpPr txBox="1"/>
          <p:nvPr/>
        </p:nvSpPr>
        <p:spPr>
          <a:xfrm>
            <a:off x="2310307" y="1584825"/>
            <a:ext cx="228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Collection interface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2684" y="2604568"/>
            <a:ext cx="5606290" cy="3940732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681887" y="5149225"/>
            <a:ext cx="5153524" cy="117561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845185" y="1916802"/>
            <a:ext cx="3082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 use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index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&amp;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iterator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50802" y="2969771"/>
            <a:ext cx="354814" cy="15871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750802" y="3718185"/>
            <a:ext cx="354814" cy="15871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750802" y="4441868"/>
            <a:ext cx="354814" cy="15871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6AF22-A94E-9340-98FB-06CF6116E5B0}"/>
              </a:ext>
            </a:extLst>
          </p:cNvPr>
          <p:cNvSpPr txBox="1"/>
          <p:nvPr/>
        </p:nvSpPr>
        <p:spPr>
          <a:xfrm>
            <a:off x="8552396" y="1566908"/>
            <a:ext cx="1492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 interface</a:t>
            </a:r>
          </a:p>
        </p:txBody>
      </p:sp>
    </p:spTree>
    <p:extLst>
      <p:ext uri="{BB962C8B-B14F-4D97-AF65-F5344CB8AC3E}">
        <p14:creationId xmlns:p14="http://schemas.microsoft.com/office/powerpoint/2010/main" val="15804355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Sets</a:t>
            </a:r>
            <a:br>
              <a:rPr lang="en-US" altLang="en-US" dirty="0"/>
            </a:br>
            <a:r>
              <a:rPr lang="en-US" altLang="en-US" sz="1800" b="0" dirty="0">
                <a:latin typeface="Google Sans"/>
              </a:rPr>
              <a:t>C</a:t>
            </a:r>
            <a:r>
              <a:rPr lang="en-US" sz="1800" b="0" i="0" dirty="0">
                <a:effectLst/>
                <a:latin typeface="Google Sans"/>
              </a:rPr>
              <a:t>ollection of unique elements, with no key-value association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070383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709939"/>
            <a:ext cx="3453413" cy="670641"/>
          </a:xfrm>
        </p:spPr>
        <p:txBody>
          <a:bodyPr/>
          <a:lstStyle/>
          <a:p>
            <a:pPr eaLnBrk="1" hangingPunct="1"/>
            <a:r>
              <a:rPr lang="en-US" altLang="en-US" dirty="0"/>
              <a:t>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891381"/>
            <a:ext cx="5159484" cy="4249240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HashSet</a:t>
            </a:r>
          </a:p>
          <a:p>
            <a:pPr lvl="1">
              <a:defRPr/>
            </a:pPr>
            <a:r>
              <a:rPr lang="en-US" b="1" dirty="0">
                <a:solidFill>
                  <a:srgbClr val="00B050"/>
                </a:solidFill>
              </a:rPr>
              <a:t>Fast</a:t>
            </a:r>
            <a:r>
              <a:rPr lang="en-US" dirty="0">
                <a:solidFill>
                  <a:schemeClr val="tx1"/>
                </a:solidFill>
              </a:rPr>
              <a:t> hash-based set implementation 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add(element) returns true is not already in set</a:t>
            </a: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 err="1">
                <a:solidFill>
                  <a:schemeClr val="tx1"/>
                </a:solidFill>
              </a:rPr>
              <a:t>TreeSet</a:t>
            </a:r>
            <a:endParaRPr lang="en-US" b="1" dirty="0">
              <a:solidFill>
                <a:schemeClr val="tx1"/>
              </a:solidFill>
            </a:endParaRP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Balanced binary trees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Sorting 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Insert new element: </a:t>
            </a:r>
            <a:r>
              <a:rPr lang="en-US" b="1" dirty="0">
                <a:solidFill>
                  <a:srgbClr val="FF0000"/>
                </a:solidFill>
              </a:rPr>
              <a:t>slow</a:t>
            </a: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CE74331-0F9A-470A-490B-BAB08429C675}"/>
              </a:ext>
            </a:extLst>
          </p:cNvPr>
          <p:cNvSpPr txBox="1">
            <a:spLocks/>
          </p:cNvSpPr>
          <p:nvPr/>
        </p:nvSpPr>
        <p:spPr>
          <a:xfrm>
            <a:off x="6456782" y="1891381"/>
            <a:ext cx="5159484" cy="42492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4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LinkedHashSet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 panose="020B0604020202020204" pitchFamily="34" charset="0"/>
              <a:ea typeface="+mn-ea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Combination List and Set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Fast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 set implementation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Hash based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Keeps inserting sequence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3073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High performant</a:t>
            </a:r>
          </a:p>
        </p:txBody>
      </p:sp>
    </p:spTree>
    <p:extLst>
      <p:ext uri="{BB962C8B-B14F-4D97-AF65-F5344CB8AC3E}">
        <p14:creationId xmlns:p14="http://schemas.microsoft.com/office/powerpoint/2010/main" val="9081005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5513" y="2104040"/>
            <a:ext cx="7788932" cy="4381615"/>
          </a:xfrm>
          <a:prstGeom prst="rect">
            <a:avLst/>
          </a:prstGeom>
        </p:spPr>
      </p:pic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619934" cy="634227"/>
          </a:xfrm>
        </p:spPr>
        <p:txBody>
          <a:bodyPr/>
          <a:lstStyle/>
          <a:p>
            <a:pPr eaLnBrk="1" hangingPunct="1"/>
            <a:r>
              <a:rPr lang="en-US" altLang="en-US" dirty="0"/>
              <a:t>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917179" y="2464025"/>
            <a:ext cx="3548357" cy="18207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F0F8432-0156-8D51-851A-5F9056F1E212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P_SetTest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603742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936516" y="749511"/>
            <a:ext cx="2619934" cy="634227"/>
          </a:xfrm>
        </p:spPr>
        <p:txBody>
          <a:bodyPr/>
          <a:lstStyle/>
          <a:p>
            <a:pPr eaLnBrk="1" hangingPunct="1"/>
            <a:r>
              <a:rPr lang="en-US" altLang="en-US" dirty="0"/>
              <a:t>Examples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349" y="1761013"/>
            <a:ext cx="5008567" cy="48865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867" y="1160065"/>
            <a:ext cx="5135318" cy="313999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495" y="4508391"/>
            <a:ext cx="2557030" cy="213921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87150" y="1761013"/>
            <a:ext cx="995321" cy="15275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50021" y="6059409"/>
            <a:ext cx="2473466" cy="41017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739316" y="2487948"/>
            <a:ext cx="4706869" cy="15257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3463391" y="1836892"/>
            <a:ext cx="3236814" cy="36414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3896315" y="1873306"/>
            <a:ext cx="2803890" cy="4341377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0" idx="3"/>
          </p:cNvCxnSpPr>
          <p:nvPr/>
        </p:nvCxnSpPr>
        <p:spPr>
          <a:xfrm flipH="1">
            <a:off x="9949159" y="3250799"/>
            <a:ext cx="1497026" cy="280861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739316" y="1413833"/>
            <a:ext cx="3363590" cy="957133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8593742" y="1836892"/>
            <a:ext cx="1509164" cy="30385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B05ADD-FFBF-BF07-E067-181FB00E4783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Q_TreeSetTest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2606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7240486" cy="6706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Set interface vs Collection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526" y="1656365"/>
            <a:ext cx="3627392" cy="4995287"/>
          </a:xfrm>
        </p:spPr>
        <p:txBody>
          <a:bodyPr rtlCol="0">
            <a:normAutofit/>
          </a:bodyPr>
          <a:lstStyle/>
          <a:p>
            <a:pPr marL="0" indent="0">
              <a:buNone/>
              <a:defRPr/>
            </a:pPr>
            <a:r>
              <a:rPr lang="en-US" b="1" dirty="0">
                <a:solidFill>
                  <a:schemeClr val="tx1"/>
                </a:solidFill>
              </a:rPr>
              <a:t>Why the same?</a:t>
            </a:r>
          </a:p>
          <a:p>
            <a:pPr lvl="1">
              <a:defRPr/>
            </a:pPr>
            <a:r>
              <a:rPr lang="en-US" dirty="0">
                <a:solidFill>
                  <a:schemeClr val="tx1"/>
                </a:solidFill>
              </a:rPr>
              <a:t>Differences, set enforces:</a:t>
            </a:r>
          </a:p>
          <a:p>
            <a:pPr lvl="2">
              <a:defRPr/>
            </a:pPr>
            <a:r>
              <a:rPr lang="en-US" b="1" dirty="0">
                <a:solidFill>
                  <a:srgbClr val="FF0000"/>
                </a:solidFill>
              </a:rPr>
              <a:t>set logic</a:t>
            </a:r>
          </a:p>
          <a:p>
            <a:pPr lvl="2">
              <a:defRPr/>
            </a:pPr>
            <a:r>
              <a:rPr lang="en-US" b="1" dirty="0">
                <a:solidFill>
                  <a:srgbClr val="FF0000"/>
                </a:solidFill>
              </a:rPr>
              <a:t>no duplicates</a:t>
            </a:r>
          </a:p>
          <a:p>
            <a:pPr lvl="2">
              <a:defRPr/>
            </a:pPr>
            <a:r>
              <a:rPr lang="en-US" b="1" dirty="0">
                <a:solidFill>
                  <a:srgbClr val="FF0000"/>
                </a:solidFill>
              </a:rPr>
              <a:t>Unordered</a:t>
            </a:r>
            <a:endParaRPr lang="en-US" b="1" dirty="0">
              <a:solidFill>
                <a:schemeClr val="tx1"/>
              </a:solidFill>
            </a:endParaRPr>
          </a:p>
          <a:p>
            <a:pPr lvl="2"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457200" lvl="1" indent="0">
              <a:buNone/>
              <a:defRPr/>
            </a:pPr>
            <a:r>
              <a:rPr lang="en-US" dirty="0">
                <a:solidFill>
                  <a:schemeClr val="tx1"/>
                </a:solidFill>
              </a:rPr>
              <a:t>While </a:t>
            </a:r>
            <a:r>
              <a:rPr lang="en-US" b="1" dirty="0">
                <a:solidFill>
                  <a:srgbClr val="00B0F0"/>
                </a:solidFill>
              </a:rPr>
              <a:t>Collection does not.</a:t>
            </a:r>
            <a:r>
              <a:rPr lang="en-US" dirty="0">
                <a:solidFill>
                  <a:schemeClr val="tx1"/>
                </a:solidFill>
              </a:rPr>
              <a:t>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you need a Collection and you have no requirement for </a:t>
            </a:r>
            <a:r>
              <a:rPr lang="en-US" b="1" dirty="0">
                <a:solidFill>
                  <a:schemeClr val="tx1"/>
                </a:solidFill>
              </a:rPr>
              <a:t>avoiding duplicates</a:t>
            </a:r>
            <a:r>
              <a:rPr lang="en-US" dirty="0">
                <a:solidFill>
                  <a:schemeClr val="tx1"/>
                </a:solidFill>
              </a:rPr>
              <a:t> then use a Collection. </a:t>
            </a: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If you have the requirement for Set then use Set. </a:t>
            </a:r>
            <a:r>
              <a:rPr lang="en-US" dirty="0">
                <a:solidFill>
                  <a:schemeClr val="tx1"/>
                </a:solidFill>
                <a:hlinkClick r:id="rId2"/>
              </a:rPr>
              <a:t>(Source)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759" y="2089289"/>
            <a:ext cx="2676236" cy="39929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2889" y="2089289"/>
            <a:ext cx="2674328" cy="399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63869" y="1691235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Set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06712" y="1719957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Collection interface</a:t>
            </a:r>
          </a:p>
        </p:txBody>
      </p:sp>
    </p:spTree>
    <p:extLst>
      <p:ext uri="{BB962C8B-B14F-4D97-AF65-F5344CB8AC3E}">
        <p14:creationId xmlns:p14="http://schemas.microsoft.com/office/powerpoint/2010/main" val="14096447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4946394" cy="6706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Sets and Set interface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73" y="4085247"/>
            <a:ext cx="5170850" cy="19485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170" y="4085247"/>
            <a:ext cx="5198065" cy="18941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315" y="1605329"/>
            <a:ext cx="5159964" cy="1883278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9CAA5D68-BE49-9B6C-4584-262045AFFE80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T_Set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139147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6423190" cy="6706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Sets and Collection interface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7546" y="1587675"/>
            <a:ext cx="5208951" cy="19104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900" y="4093339"/>
            <a:ext cx="5187179" cy="189416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744" y="4076937"/>
            <a:ext cx="5219837" cy="19431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E6DEDB-C1EA-2A8C-436A-4F6EF837ACFF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T_Set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4193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Maps</a:t>
            </a:r>
            <a:br>
              <a:rPr lang="en-US" altLang="en-US" dirty="0"/>
            </a:br>
            <a:r>
              <a:rPr lang="en-US" altLang="en-US" sz="2000" b="0" dirty="0">
                <a:latin typeface="Google Sans"/>
              </a:rPr>
              <a:t>D</a:t>
            </a:r>
            <a:r>
              <a:rPr lang="en-US" sz="2000" b="0" i="0" dirty="0">
                <a:effectLst/>
                <a:latin typeface="Google Sans"/>
              </a:rPr>
              <a:t>ata in key-value pairs, where each unique key maps to a specific value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10994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2"/>
            <a:ext cx="5424179" cy="670641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Maps (associative, Keys)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6516" y="1656365"/>
            <a:ext cx="3999626" cy="4995287"/>
          </a:xfrm>
        </p:spPr>
        <p:txBody>
          <a:bodyPr rtlCol="0">
            <a:normAutofit fontScale="92500"/>
          </a:bodyPr>
          <a:lstStyle/>
          <a:p>
            <a:pPr marL="0" indent="0">
              <a:buNone/>
              <a:defRPr/>
            </a:pPr>
            <a:r>
              <a:rPr lang="en-US" b="1" dirty="0" err="1">
                <a:solidFill>
                  <a:schemeClr val="tx1"/>
                </a:solidFill>
              </a:rPr>
              <a:t>HashMap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en-US" b="1" dirty="0">
                <a:solidFill>
                  <a:srgbClr val="00B050"/>
                </a:solidFill>
              </a:rPr>
              <a:t>Fast</a:t>
            </a:r>
            <a:r>
              <a:rPr lang="en-US" dirty="0">
                <a:solidFill>
                  <a:schemeClr val="tx1"/>
                </a:solidFill>
              </a:rPr>
              <a:t> hash-based implementation</a:t>
            </a:r>
          </a:p>
          <a:p>
            <a:pPr marL="228600" lvl="1">
              <a:spcBef>
                <a:spcPts val="10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Keys: </a:t>
            </a:r>
            <a:r>
              <a:rPr lang="en-US" b="1" dirty="0">
                <a:solidFill>
                  <a:srgbClr val="FF0000"/>
                </a:solidFill>
              </a:rPr>
              <a:t>NOT sorted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en-US" b="1" dirty="0" err="1">
                <a:solidFill>
                  <a:schemeClr val="tx1"/>
                </a:solidFill>
              </a:rPr>
              <a:t>TreeMap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Slower </a:t>
            </a:r>
            <a:r>
              <a:rPr lang="en-US" dirty="0">
                <a:solidFill>
                  <a:schemeClr val="tx1"/>
                </a:solidFill>
              </a:rPr>
              <a:t>implementation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Binary Tree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Keys: </a:t>
            </a:r>
            <a:r>
              <a:rPr lang="en-US" b="1" dirty="0">
                <a:solidFill>
                  <a:srgbClr val="92D050"/>
                </a:solidFill>
              </a:rPr>
              <a:t>are sorted</a:t>
            </a:r>
          </a:p>
          <a:p>
            <a:pPr>
              <a:defRPr/>
            </a:pPr>
            <a:endParaRPr lang="en-US" b="1" dirty="0">
              <a:solidFill>
                <a:srgbClr val="92D050"/>
              </a:solidFill>
            </a:endParaRPr>
          </a:p>
          <a:p>
            <a:pPr marL="0" indent="0">
              <a:buNone/>
              <a:defRPr/>
            </a:pPr>
            <a:r>
              <a:rPr lang="en-US" b="1" dirty="0" err="1">
                <a:solidFill>
                  <a:schemeClr val="tx1"/>
                </a:solidFill>
              </a:rPr>
              <a:t>LinkedHashMap</a:t>
            </a:r>
            <a:r>
              <a:rPr lang="en-US" b="1" dirty="0">
                <a:solidFill>
                  <a:schemeClr val="tx1"/>
                </a:solidFill>
              </a:rPr>
              <a:t>:</a:t>
            </a: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Stores key-value pairs in the order in which keys were inserted.</a:t>
            </a:r>
          </a:p>
          <a:p>
            <a:pPr marL="0" indent="0"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942967" y="3026421"/>
            <a:ext cx="43338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 general: &lt;Key, Object&gt; </a:t>
            </a:r>
          </a:p>
        </p:txBody>
      </p:sp>
    </p:spTree>
    <p:extLst>
      <p:ext uri="{BB962C8B-B14F-4D97-AF65-F5344CB8AC3E}">
        <p14:creationId xmlns:p14="http://schemas.microsoft.com/office/powerpoint/2010/main" val="31635445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772" y="810202"/>
            <a:ext cx="2415853" cy="5739416"/>
          </a:xfrm>
          <a:prstGeom prst="rect">
            <a:avLst/>
          </a:prstGeom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3"/>
            <a:ext cx="4994946" cy="561398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HashMap</a:t>
            </a:r>
            <a:endParaRPr lang="en-US" alt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2728" y="1440382"/>
            <a:ext cx="5484842" cy="496541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6016428" y="1654821"/>
            <a:ext cx="1847344" cy="6635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361607" y="3111388"/>
            <a:ext cx="3463391" cy="4976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481720" y="4487034"/>
            <a:ext cx="1382052" cy="335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489812" y="5814127"/>
            <a:ext cx="1335186" cy="242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385790" y="1541533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 not sorted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443" y="2855140"/>
            <a:ext cx="19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sorted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9839" y="4333047"/>
            <a:ext cx="3070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keys from 0 to 10 in map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(because Random)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899880" y="5695207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All values 0 to 10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are in the map</a:t>
            </a:r>
          </a:p>
        </p:txBody>
      </p:sp>
      <p:cxnSp>
        <p:nvCxnSpPr>
          <p:cNvPr id="21" name="Elbow Connector 20"/>
          <p:cNvCxnSpPr>
            <a:stCxn id="18" idx="3"/>
            <a:endCxn id="14" idx="3"/>
          </p:cNvCxnSpPr>
          <p:nvPr/>
        </p:nvCxnSpPr>
        <p:spPr>
          <a:xfrm flipV="1">
            <a:off x="10905557" y="1726199"/>
            <a:ext cx="267902" cy="4292174"/>
          </a:xfrm>
          <a:prstGeom prst="bentConnector3">
            <a:avLst>
              <a:gd name="adj1" fmla="val 185330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459225" y="1140108"/>
            <a:ext cx="483853" cy="11782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4" name="Elbow Connector 23"/>
          <p:cNvCxnSpPr>
            <a:stCxn id="17" idx="3"/>
          </p:cNvCxnSpPr>
          <p:nvPr/>
        </p:nvCxnSpPr>
        <p:spPr>
          <a:xfrm flipH="1" flipV="1">
            <a:off x="8217299" y="1078418"/>
            <a:ext cx="3832611" cy="3547017"/>
          </a:xfrm>
          <a:prstGeom prst="bentConnector3">
            <a:avLst>
              <a:gd name="adj1" fmla="val -596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8211911" y="1137069"/>
            <a:ext cx="94574" cy="1178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BE4DF34-9873-07B6-4FBA-DEDA67CC5BF2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R_MapSet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385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4031" y="741092"/>
            <a:ext cx="2243866" cy="5815525"/>
          </a:xfrm>
          <a:prstGeom prst="rect">
            <a:avLst/>
          </a:prstGeom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3"/>
            <a:ext cx="4994946" cy="561398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TreeMap</a:t>
            </a:r>
            <a:endParaRPr lang="en-US" alt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8995" y="1425973"/>
            <a:ext cx="5516569" cy="497772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5931462" y="1610315"/>
            <a:ext cx="1871909" cy="1128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361607" y="3002145"/>
            <a:ext cx="3441764" cy="776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360340" y="4389929"/>
            <a:ext cx="1443031" cy="436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930828" y="6012382"/>
            <a:ext cx="872543" cy="12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52406" y="1425973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 not sorted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7443" y="2855140"/>
            <a:ext cx="2048381" cy="369332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 ARE sorted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839" y="4333047"/>
            <a:ext cx="3070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keys from 0 to 10 in map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(because Random)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9880" y="5695207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All values 0 to 10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are in the 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87786" y="1044462"/>
            <a:ext cx="483853" cy="11782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40472" y="1041423"/>
            <a:ext cx="119756" cy="1178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3" name="Elbow Connector 22"/>
          <p:cNvCxnSpPr/>
          <p:nvPr/>
        </p:nvCxnSpPr>
        <p:spPr>
          <a:xfrm rot="10800000">
            <a:off x="8282907" y="1004610"/>
            <a:ext cx="3767005" cy="3513104"/>
          </a:xfrm>
          <a:prstGeom prst="bentConnector3">
            <a:avLst>
              <a:gd name="adj1" fmla="val 25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19" idx="3"/>
            <a:endCxn id="15" idx="3"/>
          </p:cNvCxnSpPr>
          <p:nvPr/>
        </p:nvCxnSpPr>
        <p:spPr>
          <a:xfrm flipV="1">
            <a:off x="10905557" y="1610639"/>
            <a:ext cx="334518" cy="4407734"/>
          </a:xfrm>
          <a:prstGeom prst="bentConnector3">
            <a:avLst>
              <a:gd name="adj1" fmla="val 163434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A1AE388-2C82-3951-EAB5-A26C3ECF92EC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R_MapSet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172338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782" y="757039"/>
            <a:ext cx="2455917" cy="584494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516" y="1533402"/>
            <a:ext cx="5460016" cy="5023215"/>
          </a:xfrm>
          <a:prstGeom prst="rect">
            <a:avLst/>
          </a:prstGeom>
        </p:spPr>
      </p:pic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936516" y="810203"/>
            <a:ext cx="4994946" cy="56139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LinkedHashMap</a:t>
            </a:r>
            <a:endParaRPr lang="en-US" altLang="en-US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5551136" y="1610318"/>
            <a:ext cx="2252235" cy="910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4361607" y="3002145"/>
            <a:ext cx="3441764" cy="7768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V="1">
            <a:off x="6360340" y="4389929"/>
            <a:ext cx="1443031" cy="436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930828" y="6012382"/>
            <a:ext cx="872543" cy="121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452406" y="1425973"/>
            <a:ext cx="1787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 not sorted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839" y="4333047"/>
            <a:ext cx="30700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 keys from 0 to 10 in map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(because Random)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9880" y="5695207"/>
            <a:ext cx="20056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All values 0 to 10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are in the 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87786" y="1044462"/>
            <a:ext cx="483853" cy="1178260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40472" y="1041423"/>
            <a:ext cx="119756" cy="1178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23" name="Elbow Connector 22"/>
          <p:cNvCxnSpPr/>
          <p:nvPr/>
        </p:nvCxnSpPr>
        <p:spPr>
          <a:xfrm rot="10800000">
            <a:off x="8282907" y="1004610"/>
            <a:ext cx="3767005" cy="3513104"/>
          </a:xfrm>
          <a:prstGeom prst="bentConnector3">
            <a:avLst>
              <a:gd name="adj1" fmla="val 25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lbow Connector 27"/>
          <p:cNvCxnSpPr>
            <a:stCxn id="19" idx="3"/>
            <a:endCxn id="15" idx="3"/>
          </p:cNvCxnSpPr>
          <p:nvPr/>
        </p:nvCxnSpPr>
        <p:spPr>
          <a:xfrm flipV="1">
            <a:off x="10905557" y="1610639"/>
            <a:ext cx="334518" cy="4407734"/>
          </a:xfrm>
          <a:prstGeom prst="bentConnector3">
            <a:avLst>
              <a:gd name="adj1" fmla="val 163434"/>
            </a:avLst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7443" y="2855140"/>
            <a:ext cx="19502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Keys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sorted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4074" y="2042875"/>
            <a:ext cx="2505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Original insert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sequence is preserved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 flipV="1">
            <a:off x="9054988" y="1602361"/>
            <a:ext cx="306776" cy="4240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8402663" y="2670475"/>
            <a:ext cx="1030785" cy="184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B9062-8684-2E84-002E-002FADDFCBA3}"/>
              </a:ext>
            </a:extLst>
          </p:cNvPr>
          <p:cNvSpPr txBox="1">
            <a:spLocks/>
          </p:cNvSpPr>
          <p:nvPr/>
        </p:nvSpPr>
        <p:spPr>
          <a:xfrm>
            <a:off x="1479882" y="27491"/>
            <a:ext cx="6020822" cy="329884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R_MapSet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19984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B7609-D14C-01A6-8D33-9D76F8AD4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B6CC53ED-36F0-4BC8-0220-859EFE10E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Comparator</a:t>
            </a:r>
          </a:p>
        </p:txBody>
      </p:sp>
    </p:spTree>
    <p:extLst>
      <p:ext uri="{BB962C8B-B14F-4D97-AF65-F5344CB8AC3E}">
        <p14:creationId xmlns:p14="http://schemas.microsoft.com/office/powerpoint/2010/main" val="1952955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810201"/>
            <a:ext cx="3441275" cy="686825"/>
          </a:xfrm>
        </p:spPr>
        <p:txBody>
          <a:bodyPr/>
          <a:lstStyle/>
          <a:p>
            <a:pPr eaLnBrk="1" hangingPunct="1"/>
            <a:r>
              <a:rPr lang="en-US" altLang="en-US" dirty="0"/>
              <a:t>A Comparator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36516" y="1652319"/>
            <a:ext cx="10396380" cy="4987195"/>
          </a:xfrm>
        </p:spPr>
        <p:txBody>
          <a:bodyPr/>
          <a:lstStyle/>
          <a:p>
            <a:pPr marL="0" indent="0">
              <a:buNone/>
            </a:pPr>
            <a:endParaRPr lang="en-US" altLang="en-US" b="1" dirty="0"/>
          </a:p>
          <a:p>
            <a:pPr marL="0" indent="0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Both </a:t>
            </a:r>
            <a:r>
              <a:rPr lang="en-US" altLang="en-US" b="1" dirty="0" err="1">
                <a:solidFill>
                  <a:schemeClr val="tx1"/>
                </a:solidFill>
              </a:rPr>
              <a:t>TreeSet</a:t>
            </a:r>
            <a:r>
              <a:rPr lang="en-US" altLang="en-US" b="1" dirty="0">
                <a:solidFill>
                  <a:schemeClr val="tx1"/>
                </a:solidFill>
              </a:rPr>
              <a:t> and </a:t>
            </a:r>
            <a:r>
              <a:rPr lang="en-US" altLang="en-US" b="1" dirty="0" err="1">
                <a:solidFill>
                  <a:schemeClr val="tx1"/>
                </a:solidFill>
              </a:rPr>
              <a:t>TreeMap</a:t>
            </a:r>
            <a:r>
              <a:rPr lang="en-US" altLang="en-US" b="1" dirty="0">
                <a:solidFill>
                  <a:schemeClr val="tx1"/>
                </a:solidFill>
              </a:rPr>
              <a:t> store elements in sorted order:</a:t>
            </a:r>
          </a:p>
          <a:p>
            <a:endParaRPr lang="en-US" altLang="en-US" dirty="0">
              <a:solidFill>
                <a:schemeClr val="tx1"/>
              </a:solidFill>
            </a:endParaRPr>
          </a:p>
          <a:p>
            <a:r>
              <a:rPr lang="en-US" altLang="en-US" dirty="0">
                <a:solidFill>
                  <a:schemeClr val="tx1"/>
                </a:solidFill>
              </a:rPr>
              <a:t>However, it is the </a:t>
            </a:r>
            <a:r>
              <a:rPr lang="en-US" altLang="en-US" b="1" dirty="0">
                <a:solidFill>
                  <a:schemeClr val="tx1"/>
                </a:solidFill>
              </a:rPr>
              <a:t>comparator </a:t>
            </a:r>
            <a:r>
              <a:rPr lang="en-US" altLang="en-US" dirty="0">
                <a:solidFill>
                  <a:schemeClr val="tx1"/>
                </a:solidFill>
              </a:rPr>
              <a:t>that defines precisely what </a:t>
            </a:r>
            <a:r>
              <a:rPr lang="en-US" altLang="en-US" b="1" i="1" dirty="0">
                <a:solidFill>
                  <a:schemeClr val="tx1"/>
                </a:solidFill>
              </a:rPr>
              <a:t>sorted</a:t>
            </a:r>
            <a:r>
              <a:rPr lang="en-US" altLang="en-US" i="1" dirty="0">
                <a:solidFill>
                  <a:schemeClr val="tx1"/>
                </a:solidFill>
              </a:rPr>
              <a:t> </a:t>
            </a:r>
            <a:r>
              <a:rPr lang="en-US" altLang="en-US" dirty="0">
                <a:solidFill>
                  <a:schemeClr val="tx1"/>
                </a:solidFill>
              </a:rPr>
              <a:t>means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>
                <a:solidFill>
                  <a:schemeClr val="tx1"/>
                </a:solidFill>
              </a:rPr>
              <a:t>This interface </a:t>
            </a:r>
            <a:r>
              <a:rPr lang="en-US" altLang="en-US" b="1" dirty="0">
                <a:solidFill>
                  <a:schemeClr val="tx1"/>
                </a:solidFill>
              </a:rPr>
              <a:t>lets us sort </a:t>
            </a:r>
            <a:r>
              <a:rPr lang="en-US" altLang="en-US" dirty="0">
                <a:solidFill>
                  <a:schemeClr val="tx1"/>
                </a:solidFill>
              </a:rPr>
              <a:t>a given collection in different ways. </a:t>
            </a:r>
          </a:p>
        </p:txBody>
      </p:sp>
    </p:spTree>
    <p:extLst>
      <p:ext uri="{BB962C8B-B14F-4D97-AF65-F5344CB8AC3E}">
        <p14:creationId xmlns:p14="http://schemas.microsoft.com/office/powerpoint/2010/main" val="3847559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668" y="2154482"/>
            <a:ext cx="4169338" cy="4485032"/>
          </a:xfrm>
          <a:prstGeom prst="rect">
            <a:avLst/>
          </a:prstGeom>
        </p:spPr>
      </p:pic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810201"/>
            <a:ext cx="3441275" cy="686825"/>
          </a:xfrm>
        </p:spPr>
        <p:txBody>
          <a:bodyPr/>
          <a:lstStyle/>
          <a:p>
            <a:pPr eaLnBrk="1" hangingPunct="1"/>
            <a:r>
              <a:rPr lang="en-US" altLang="en-US" dirty="0"/>
              <a:t>A Comparator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748" y="1063251"/>
            <a:ext cx="4310856" cy="42945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316" y="4856475"/>
            <a:ext cx="979740" cy="169277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74496" y="3742565"/>
            <a:ext cx="3823486" cy="192995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Down Arrow 7"/>
          <p:cNvSpPr/>
          <p:nvPr/>
        </p:nvSpPr>
        <p:spPr>
          <a:xfrm rot="3033159">
            <a:off x="6910911" y="5115269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3D8B9B-F8CF-A026-005F-9A1A480FBDF6}"/>
              </a:ext>
            </a:extLst>
          </p:cNvPr>
          <p:cNvSpPr txBox="1">
            <a:spLocks/>
          </p:cNvSpPr>
          <p:nvPr/>
        </p:nvSpPr>
        <p:spPr>
          <a:xfrm>
            <a:off x="1843820" y="24771"/>
            <a:ext cx="6289527" cy="33987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.F_ComparisonDemo1”</a:t>
            </a:r>
          </a:p>
        </p:txBody>
      </p:sp>
    </p:spTree>
    <p:extLst>
      <p:ext uri="{BB962C8B-B14F-4D97-AF65-F5344CB8AC3E}">
        <p14:creationId xmlns:p14="http://schemas.microsoft.com/office/powerpoint/2010/main" val="13338032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810201"/>
            <a:ext cx="4670200" cy="6868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 Generic Comparator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000" y="2397052"/>
            <a:ext cx="4446931" cy="33909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1997" y="2524962"/>
            <a:ext cx="4272755" cy="15675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8243" y="4928374"/>
            <a:ext cx="881766" cy="990626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 rot="3615558">
            <a:off x="7969215" y="2898560"/>
            <a:ext cx="288901" cy="343637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219996" y="2397052"/>
            <a:ext cx="1035781" cy="24095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996750" y="4058617"/>
            <a:ext cx="1035781" cy="24095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26D8104-BFA5-C3D9-7C6A-130708316EC1}"/>
              </a:ext>
            </a:extLst>
          </p:cNvPr>
          <p:cNvSpPr txBox="1">
            <a:spLocks/>
          </p:cNvSpPr>
          <p:nvPr/>
        </p:nvSpPr>
        <p:spPr>
          <a:xfrm>
            <a:off x="1843820" y="24771"/>
            <a:ext cx="6289527" cy="33987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.G_ComparisonDemo2”</a:t>
            </a:r>
          </a:p>
        </p:txBody>
      </p:sp>
    </p:spTree>
    <p:extLst>
      <p:ext uri="{BB962C8B-B14F-4D97-AF65-F5344CB8AC3E}">
        <p14:creationId xmlns:p14="http://schemas.microsoft.com/office/powerpoint/2010/main" val="15843465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36516" y="810201"/>
            <a:ext cx="3441275" cy="686825"/>
          </a:xfrm>
        </p:spPr>
        <p:txBody>
          <a:bodyPr/>
          <a:lstStyle/>
          <a:p>
            <a:pPr eaLnBrk="1" hangingPunct="1"/>
            <a:r>
              <a:rPr lang="en-US" altLang="en-US" dirty="0"/>
              <a:t>A Comparator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575" y="1942585"/>
            <a:ext cx="3658334" cy="46402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633" y="951959"/>
            <a:ext cx="5753250" cy="9906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4949" y="1993940"/>
            <a:ext cx="4173801" cy="46293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3321" y="3832313"/>
            <a:ext cx="2122770" cy="2721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31140" y="4535586"/>
            <a:ext cx="3002145" cy="131495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239757" y="5458476"/>
            <a:ext cx="2198994" cy="18976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cxnSp>
        <p:nvCxnSpPr>
          <p:cNvPr id="8" name="Straight Arrow Connector 7"/>
          <p:cNvCxnSpPr>
            <a:stCxn id="10" idx="3"/>
            <a:endCxn id="3" idx="3"/>
          </p:cNvCxnSpPr>
          <p:nvPr/>
        </p:nvCxnSpPr>
        <p:spPr>
          <a:xfrm flipV="1">
            <a:off x="11438751" y="1447272"/>
            <a:ext cx="370132" cy="4106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/>
          <p:cNvCxnSpPr/>
          <p:nvPr/>
        </p:nvCxnSpPr>
        <p:spPr>
          <a:xfrm rot="10800000" flipV="1">
            <a:off x="4333286" y="4288779"/>
            <a:ext cx="4450619" cy="926538"/>
          </a:xfrm>
          <a:prstGeom prst="bentConnector3">
            <a:avLst>
              <a:gd name="adj1" fmla="val 8772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AEF813C-E41E-0E39-8FA4-14D9F04BD2A5}"/>
              </a:ext>
            </a:extLst>
          </p:cNvPr>
          <p:cNvSpPr txBox="1">
            <a:spLocks/>
          </p:cNvSpPr>
          <p:nvPr/>
        </p:nvSpPr>
        <p:spPr>
          <a:xfrm>
            <a:off x="1843820" y="24771"/>
            <a:ext cx="6289527" cy="339871"/>
          </a:xfrm>
          <a:prstGeom prst="rect">
            <a:avLst/>
          </a:prstGeom>
          <a:ln w="28575"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600" b="0" i="0" kern="1200">
                <a:solidFill>
                  <a:srgbClr val="002060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accent2">
                    <a:lumMod val="7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B30738"/>
              </a:buClr>
              <a:buFont typeface="Arial" panose="020B0604020202020204" pitchFamily="34" charset="0"/>
              <a:buChar char="•"/>
              <a:defRPr sz="1600" b="0" i="0" kern="1200">
                <a:solidFill>
                  <a:schemeClr val="tx1">
                    <a:lumMod val="65000"/>
                    <a:lumOff val="35000"/>
                  </a:schemeClr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“</a:t>
            </a:r>
            <a:r>
              <a:rPr lang="en-US" dirty="0">
                <a:solidFill>
                  <a:srgbClr val="C00000"/>
                </a:solidFill>
              </a:rPr>
              <a:t>CSEN160_05_Lecture_DataStructursAndGenerics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 Narrow" panose="020B0604020202020204" pitchFamily="34" charset="0"/>
                <a:ea typeface="+mn-ea"/>
              </a:rPr>
              <a:t>.H_ComparisonDemo3”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72A809-E0CB-70A5-8888-D6D1BC83FCF5}"/>
              </a:ext>
            </a:extLst>
          </p:cNvPr>
          <p:cNvSpPr txBox="1"/>
          <p:nvPr/>
        </p:nvSpPr>
        <p:spPr>
          <a:xfrm rot="16498546">
            <a:off x="10229975" y="3600640"/>
            <a:ext cx="25298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Sort by delivering an object</a:t>
            </a:r>
          </a:p>
        </p:txBody>
      </p:sp>
    </p:spTree>
    <p:extLst>
      <p:ext uri="{BB962C8B-B14F-4D97-AF65-F5344CB8AC3E}">
        <p14:creationId xmlns:p14="http://schemas.microsoft.com/office/powerpoint/2010/main" val="363088474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/>
              <a:t>Done</a:t>
            </a:r>
            <a:endParaRPr lang="en-US" dirty="0"/>
          </a:p>
        </p:txBody>
      </p:sp>
      <p:sp>
        <p:nvSpPr>
          <p:cNvPr id="5123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96222078"/>
      </p:ext>
    </p:extLst>
  </p:cSld>
  <p:clrMapOvr>
    <a:masterClrMapping/>
  </p:clrMapOvr>
</p:sld>
</file>

<file path=ppt/theme/theme1.xml><?xml version="1.0" encoding="utf-8"?>
<a:theme xmlns:a="http://schemas.openxmlformats.org/drawingml/2006/main" name="SCUTemplate">
  <a:themeElements>
    <a:clrScheme name="Santa Clara Powerpoint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96641"/>
      </a:accent1>
      <a:accent2>
        <a:srgbClr val="495764"/>
      </a:accent2>
      <a:accent3>
        <a:srgbClr val="71001B"/>
      </a:accent3>
      <a:accent4>
        <a:srgbClr val="FFC000"/>
      </a:accent4>
      <a:accent5>
        <a:srgbClr val="9D9B7B"/>
      </a:accent5>
      <a:accent6>
        <a:srgbClr val="759C9A"/>
      </a:accent6>
      <a:hlink>
        <a:srgbClr val="9E1B32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F0B77AA3-1BFC-4F21-AA5C-47F762EA0811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N912.pptx" id="{30FD953E-F8CF-43B1-AE2C-113081E30BF0}" vid="{C2E27841-7055-4EC2-8474-90BDE5ACE17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SCUTemplate</Template>
  <TotalTime>1555</TotalTime>
  <Words>1585</Words>
  <Application>Microsoft Office PowerPoint</Application>
  <PresentationFormat>Widescreen</PresentationFormat>
  <Paragraphs>293</Paragraphs>
  <Slides>51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1" baseType="lpstr">
      <vt:lpstr>Arial</vt:lpstr>
      <vt:lpstr>Arial Narrow</vt:lpstr>
      <vt:lpstr>Calibri</vt:lpstr>
      <vt:lpstr>Courier</vt:lpstr>
      <vt:lpstr>Garamond</vt:lpstr>
      <vt:lpstr>Google Sans</vt:lpstr>
      <vt:lpstr>Times New Roman</vt:lpstr>
      <vt:lpstr>SCUTemplate</vt:lpstr>
      <vt:lpstr>Custom Design</vt:lpstr>
      <vt:lpstr>Microsoft Word Picture</vt:lpstr>
      <vt:lpstr>CSEN160</vt:lpstr>
      <vt:lpstr>Collections</vt:lpstr>
      <vt:lpstr>The Collection Classes</vt:lpstr>
      <vt:lpstr>Java Collection Framework hierarchy (Liang, Intro to Java Programming, 5th Edition)</vt:lpstr>
      <vt:lpstr>Java Collection Framework hierarchy (Liang, Intro to Java Programming, 5th Edition)</vt:lpstr>
      <vt:lpstr>The Collection Classes</vt:lpstr>
      <vt:lpstr>The Collection Interfaces:</vt:lpstr>
      <vt:lpstr>The Collection Interfaces:</vt:lpstr>
      <vt:lpstr>The Collections Classes</vt:lpstr>
      <vt:lpstr>The Collections Classes</vt:lpstr>
      <vt:lpstr>The Collection Classes</vt:lpstr>
      <vt:lpstr>The Collection Classes</vt:lpstr>
      <vt:lpstr>The Collection Classes</vt:lpstr>
      <vt:lpstr>The Collection Classes</vt:lpstr>
      <vt:lpstr>The Abstract Collection Classes</vt:lpstr>
      <vt:lpstr>Legacy classes from java.util</vt:lpstr>
      <vt:lpstr>Legacy classes from java.util</vt:lpstr>
      <vt:lpstr>Legacy classes from java.util</vt:lpstr>
      <vt:lpstr>… to here …</vt:lpstr>
      <vt:lpstr>Iterators</vt:lpstr>
      <vt:lpstr>What is an iterator?</vt:lpstr>
      <vt:lpstr>The Iterator Interface (Classic)</vt:lpstr>
      <vt:lpstr>The ListIterator Interface (New)</vt:lpstr>
      <vt:lpstr>Iterator vs ListIterator Interface</vt:lpstr>
      <vt:lpstr>Example: Using an Iterator</vt:lpstr>
      <vt:lpstr>Example: Using a ListIterator</vt:lpstr>
      <vt:lpstr>Lists</vt:lpstr>
      <vt:lpstr>Lists</vt:lpstr>
      <vt:lpstr>ArrayList or LinkedList:</vt:lpstr>
      <vt:lpstr>Interface List</vt:lpstr>
      <vt:lpstr>Interface List versus Collection</vt:lpstr>
      <vt:lpstr>Interface List versus Collection</vt:lpstr>
      <vt:lpstr>Interface List versus Collection</vt:lpstr>
      <vt:lpstr>Sets Collection of unique elements, with no key-value association</vt:lpstr>
      <vt:lpstr>Sets</vt:lpstr>
      <vt:lpstr>Examples</vt:lpstr>
      <vt:lpstr>Examples</vt:lpstr>
      <vt:lpstr>Set interface vs Collection interface</vt:lpstr>
      <vt:lpstr>Sets and Set interface</vt:lpstr>
      <vt:lpstr>Sets and Collection interface</vt:lpstr>
      <vt:lpstr>Maps Data in key-value pairs, where each unique key maps to a specific value</vt:lpstr>
      <vt:lpstr>Maps (associative, Keys)</vt:lpstr>
      <vt:lpstr>HashMap</vt:lpstr>
      <vt:lpstr>TreeMap</vt:lpstr>
      <vt:lpstr>LinkedHashMap</vt:lpstr>
      <vt:lpstr>Comparator</vt:lpstr>
      <vt:lpstr>A Comparator</vt:lpstr>
      <vt:lpstr>A Comparator</vt:lpstr>
      <vt:lpstr>A Generic Comparator</vt:lpstr>
      <vt:lpstr>A Comparator</vt:lpstr>
      <vt:lpstr>Done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</dc:title>
  <dc:creator>Michael Schimpf</dc:creator>
  <cp:lastModifiedBy>Michael Schimpf</cp:lastModifiedBy>
  <cp:revision>242</cp:revision>
  <cp:lastPrinted>2023-09-11T21:46:56Z</cp:lastPrinted>
  <dcterms:created xsi:type="dcterms:W3CDTF">2023-09-09T19:51:41Z</dcterms:created>
  <dcterms:modified xsi:type="dcterms:W3CDTF">2026-10-21T21:02:42Z</dcterms:modified>
</cp:coreProperties>
</file>