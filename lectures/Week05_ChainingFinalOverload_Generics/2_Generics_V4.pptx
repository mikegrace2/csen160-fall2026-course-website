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34"/>
  </p:notesMasterIdLst>
  <p:handoutMasterIdLst>
    <p:handoutMasterId r:id="rId35"/>
  </p:handoutMasterIdLst>
  <p:sldIdLst>
    <p:sldId id="333" r:id="rId3"/>
    <p:sldId id="366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471" r:id="rId13"/>
    <p:sldId id="353" r:id="rId14"/>
    <p:sldId id="355" r:id="rId15"/>
    <p:sldId id="360" r:id="rId16"/>
    <p:sldId id="351" r:id="rId17"/>
    <p:sldId id="385" r:id="rId18"/>
    <p:sldId id="388" r:id="rId19"/>
    <p:sldId id="472" r:id="rId20"/>
    <p:sldId id="404" r:id="rId21"/>
    <p:sldId id="473" r:id="rId22"/>
    <p:sldId id="356" r:id="rId23"/>
    <p:sldId id="396" r:id="rId24"/>
    <p:sldId id="389" r:id="rId25"/>
    <p:sldId id="474" r:id="rId26"/>
    <p:sldId id="357" r:id="rId27"/>
    <p:sldId id="390" r:id="rId28"/>
    <p:sldId id="481" r:id="rId29"/>
    <p:sldId id="354" r:id="rId30"/>
    <p:sldId id="386" r:id="rId31"/>
    <p:sldId id="394" r:id="rId32"/>
    <p:sldId id="509" r:id="rId3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5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289B0-9BEC-4093-861C-76154CD68B5D}" type="datetimeFigureOut">
              <a:rPr lang="en-US"/>
              <a:pPr>
                <a:defRPr/>
              </a:pPr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36E94-7335-4773-A64D-0D46B1CA62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338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81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8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CSEN160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Java Generics simple intro…</a:t>
            </a:r>
          </a:p>
        </p:txBody>
      </p:sp>
    </p:spTree>
    <p:extLst>
      <p:ext uri="{BB962C8B-B14F-4D97-AF65-F5344CB8AC3E}">
        <p14:creationId xmlns:p14="http://schemas.microsoft.com/office/powerpoint/2010/main" val="314917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This works:</a:t>
            </a:r>
            <a:endParaRPr lang="en-US" altLang="en-US" sz="28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16" y="2664402"/>
            <a:ext cx="4223975" cy="1525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304" y="2622018"/>
            <a:ext cx="4153546" cy="1217652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5943600" y="294234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FFBFAB-F6BA-C356-A599-496C0D794B78}"/>
              </a:ext>
            </a:extLst>
          </p:cNvPr>
          <p:cNvSpPr txBox="1">
            <a:spLocks/>
          </p:cNvSpPr>
          <p:nvPr/>
        </p:nvSpPr>
        <p:spPr>
          <a:xfrm>
            <a:off x="5230616" y="6321769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“CSEN160_05_Lecture_DataStructursAndGenerics.A_NoGenericsIssue”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C14C4-C85D-6F09-9851-19232B05069F}"/>
              </a:ext>
            </a:extLst>
          </p:cNvPr>
          <p:cNvSpPr txBox="1"/>
          <p:nvPr/>
        </p:nvSpPr>
        <p:spPr>
          <a:xfrm>
            <a:off x="1084326" y="4689707"/>
            <a:ext cx="7195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Typecasting String reference into an Object reference, but why?</a:t>
            </a:r>
          </a:p>
        </p:txBody>
      </p:sp>
    </p:spTree>
    <p:extLst>
      <p:ext uri="{BB962C8B-B14F-4D97-AF65-F5344CB8AC3E}">
        <p14:creationId xmlns:p14="http://schemas.microsoft.com/office/powerpoint/2010/main" val="256935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3909854" y="1537733"/>
            <a:ext cx="3341178" cy="536097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altLang="en-US" sz="3600" b="1" dirty="0">
                <a:solidFill>
                  <a:srgbClr val="FF0000"/>
                </a:solidFill>
              </a:rPr>
              <a:t>Will this work?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815" y="2636473"/>
            <a:ext cx="6006810" cy="2162103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18F2B0-81FE-5130-1FE4-248184EB1FBF}"/>
              </a:ext>
            </a:extLst>
          </p:cNvPr>
          <p:cNvSpPr txBox="1">
            <a:spLocks/>
          </p:cNvSpPr>
          <p:nvPr/>
        </p:nvSpPr>
        <p:spPr>
          <a:xfrm>
            <a:off x="5230616" y="6321769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“CSEN160_05_Lecture_DataStructursAndGenerics.A_NoGenericsIssue”</a:t>
            </a:r>
          </a:p>
        </p:txBody>
      </p:sp>
    </p:spTree>
    <p:extLst>
      <p:ext uri="{BB962C8B-B14F-4D97-AF65-F5344CB8AC3E}">
        <p14:creationId xmlns:p14="http://schemas.microsoft.com/office/powerpoint/2010/main" val="101003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This will not work!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781759" y="2919306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25" y="5417505"/>
            <a:ext cx="11767230" cy="7036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342" y="2219733"/>
            <a:ext cx="6006810" cy="2162103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5008969" y="4157887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1089D9-8746-BBD0-A91E-64B96FA78651}"/>
              </a:ext>
            </a:extLst>
          </p:cNvPr>
          <p:cNvSpPr txBox="1">
            <a:spLocks/>
          </p:cNvSpPr>
          <p:nvPr/>
        </p:nvSpPr>
        <p:spPr>
          <a:xfrm>
            <a:off x="5230616" y="6321769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“CSEN160_05_Lecture_DataStructursAndGenerics.A_NoGenericsIssue”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842A8-AA8B-B107-B7B7-80E42B94D3DE}"/>
              </a:ext>
            </a:extLst>
          </p:cNvPr>
          <p:cNvSpPr txBox="1"/>
          <p:nvPr/>
        </p:nvSpPr>
        <p:spPr>
          <a:xfrm>
            <a:off x="5971127" y="4224453"/>
            <a:ext cx="563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Typecasting an Integer reference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into an Object reference into a String reference …</a:t>
            </a:r>
          </a:p>
        </p:txBody>
      </p:sp>
    </p:spTree>
    <p:extLst>
      <p:ext uri="{BB962C8B-B14F-4D97-AF65-F5344CB8AC3E}">
        <p14:creationId xmlns:p14="http://schemas.microsoft.com/office/powerpoint/2010/main" val="47344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925890" y="2959664"/>
            <a:ext cx="1677211" cy="697936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4400" b="1" dirty="0">
                <a:solidFill>
                  <a:schemeClr val="tx1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733076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486674" y="2361170"/>
            <a:ext cx="6269440" cy="2331146"/>
          </a:xfrm>
        </p:spPr>
        <p:txBody>
          <a:bodyPr>
            <a:normAutofit fontScale="85000" lnSpcReduction="20000"/>
          </a:bodyPr>
          <a:lstStyle/>
          <a:p>
            <a:pPr marL="0" indent="0" algn="ctr" eaLnBrk="1" hangingPunct="1">
              <a:buNone/>
            </a:pPr>
            <a:r>
              <a:rPr lang="en-US" altLang="en-US" sz="4400" b="1" dirty="0">
                <a:solidFill>
                  <a:srgbClr val="FF0000"/>
                </a:solidFill>
              </a:rPr>
              <a:t>Type error will come up at runtime! </a:t>
            </a:r>
            <a:r>
              <a:rPr lang="en-US" altLang="en-US" sz="4400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</a:p>
          <a:p>
            <a:pPr marL="0" indent="0" algn="ctr" eaLnBrk="1" hangingPunct="1">
              <a:buNone/>
            </a:pPr>
            <a:endParaRPr lang="en-US" altLang="en-US" sz="4400" b="1" dirty="0">
              <a:solidFill>
                <a:srgbClr val="FF0000"/>
              </a:solidFill>
            </a:endParaRPr>
          </a:p>
          <a:p>
            <a:pPr marL="0" indent="0" algn="ctr" eaLnBrk="1" hangingPunct="1">
              <a:buNone/>
            </a:pPr>
            <a:r>
              <a:rPr lang="en-US" altLang="en-US" sz="4400" b="1" dirty="0">
                <a:solidFill>
                  <a:srgbClr val="FF0000"/>
                </a:solidFill>
              </a:rPr>
              <a:t>Which is a problem, how to minimize type errors?</a:t>
            </a:r>
          </a:p>
        </p:txBody>
      </p:sp>
    </p:spTree>
    <p:extLst>
      <p:ext uri="{BB962C8B-B14F-4D97-AF65-F5344CB8AC3E}">
        <p14:creationId xmlns:p14="http://schemas.microsoft.com/office/powerpoint/2010/main" val="129258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636" y="1509315"/>
            <a:ext cx="5998185" cy="38917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Simple example: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985" y="5618131"/>
            <a:ext cx="3418204" cy="816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66087" y="1595020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Nothing special, </a:t>
            </a:r>
          </a:p>
          <a:p>
            <a:r>
              <a:rPr lang="en-US" b="1" dirty="0">
                <a:solidFill>
                  <a:srgbClr val="FF0000"/>
                </a:solidFill>
              </a:rPr>
              <a:t>but could it be better?!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92" y="1902515"/>
            <a:ext cx="3342002" cy="4686423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5F89262-EC5F-B198-F571-525D5CE002CC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“CSEN160_05_Lecture_DataStructursAndGenerics.B_RocketExample”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7CDC8D-AF0C-27DC-791B-046F2AA1570F}"/>
              </a:ext>
            </a:extLst>
          </p:cNvPr>
          <p:cNvSpPr/>
          <p:nvPr/>
        </p:nvSpPr>
        <p:spPr>
          <a:xfrm>
            <a:off x="6962274" y="4265563"/>
            <a:ext cx="477252" cy="404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6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Simple Generic example: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430" y="5806424"/>
            <a:ext cx="3418204" cy="8164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94" y="1950602"/>
            <a:ext cx="2939220" cy="46156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291" y="1817380"/>
            <a:ext cx="6673117" cy="39516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80170" y="1921858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980566" y="2855139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51727" y="3574704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980565" y="4303614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852605" y="2171362"/>
            <a:ext cx="56374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852605" y="2355456"/>
            <a:ext cx="56374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53833" y="3465461"/>
            <a:ext cx="1644032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441340" y="3465461"/>
            <a:ext cx="309385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553833" y="4003537"/>
            <a:ext cx="1644032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472359" y="4016031"/>
            <a:ext cx="309385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057128" y="4619907"/>
            <a:ext cx="2961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No typecasting needed anymore </a:t>
            </a:r>
            <a:r>
              <a:rPr lang="en-US" sz="1400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51458" y="5118212"/>
            <a:ext cx="643317" cy="2427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Elbow Connector 10"/>
          <p:cNvCxnSpPr>
            <a:stCxn id="6" idx="2"/>
          </p:cNvCxnSpPr>
          <p:nvPr/>
        </p:nvCxnSpPr>
        <p:spPr>
          <a:xfrm rot="5400000">
            <a:off x="8260957" y="4148179"/>
            <a:ext cx="999367" cy="34249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9D99F5-DD44-B249-5BC3-FDA752A87227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“CSEN160_05_Lecture_DataStructursAndGenerics.B_RocketExample”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81BBA2-B9C0-03BE-4A20-D8E44D234DB0}"/>
              </a:ext>
            </a:extLst>
          </p:cNvPr>
          <p:cNvSpPr/>
          <p:nvPr/>
        </p:nvSpPr>
        <p:spPr>
          <a:xfrm>
            <a:off x="6368716" y="4587043"/>
            <a:ext cx="84221" cy="40428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3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Generics are used for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collection data types: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798" y="1502765"/>
            <a:ext cx="5630631" cy="51128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69659" y="1895917"/>
            <a:ext cx="837528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9895" y="1895917"/>
            <a:ext cx="837528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069659" y="3525078"/>
            <a:ext cx="748514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297033" y="3525078"/>
            <a:ext cx="748514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069659" y="4935754"/>
            <a:ext cx="748514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031344" y="4921041"/>
            <a:ext cx="186117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001928" y="4860330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Diamond writing style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8468315" y="5030283"/>
            <a:ext cx="44101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B5CE16-33BF-CE80-DEBC-E179623CF8FA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“CSEN160_05_Lecture_DataStructursAndGenerics.B_RocketExample”</a:t>
            </a:r>
          </a:p>
        </p:txBody>
      </p:sp>
    </p:spTree>
    <p:extLst>
      <p:ext uri="{BB962C8B-B14F-4D97-AF65-F5344CB8AC3E}">
        <p14:creationId xmlns:p14="http://schemas.microsoft.com/office/powerpoint/2010/main" val="311739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Generics Methods</a:t>
            </a:r>
          </a:p>
        </p:txBody>
      </p:sp>
    </p:spTree>
    <p:extLst>
      <p:ext uri="{BB962C8B-B14F-4D97-AF65-F5344CB8AC3E}">
        <p14:creationId xmlns:p14="http://schemas.microsoft.com/office/powerpoint/2010/main" val="1551293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936516" y="741420"/>
            <a:ext cx="4926164" cy="751562"/>
          </a:xfrm>
        </p:spPr>
        <p:txBody>
          <a:bodyPr/>
          <a:lstStyle/>
          <a:p>
            <a:pPr eaLnBrk="1" hangingPunct="1"/>
            <a:r>
              <a:rPr lang="en-US" altLang="en-US" dirty="0"/>
              <a:t>Using Generic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0641"/>
            <a:ext cx="10388288" cy="4962919"/>
          </a:xfrm>
        </p:spPr>
        <p:txBody>
          <a:bodyPr rtlCol="0">
            <a:normAutofit/>
          </a:bodyPr>
          <a:lstStyle/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&lt;T&gt; is read, “of T”</a:t>
            </a: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For example: </a:t>
            </a:r>
            <a:r>
              <a:rPr lang="en-US" b="1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Stack&lt;Integer&gt;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is read, “</a:t>
            </a:r>
            <a:r>
              <a:rPr lang="en-US" b="1" dirty="0">
                <a:solidFill>
                  <a:schemeClr val="tx1"/>
                </a:solidFill>
              </a:rPr>
              <a:t>Stack of Integer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marL="320040" indent="-320040">
              <a:buFont typeface="Wingdings"/>
              <a:buChar char="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Type &lt;T&gt; informs the compiler, that all parts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involved should be automatically cast to T</a:t>
            </a:r>
          </a:p>
          <a:p>
            <a:pPr marL="320040" indent="-32004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E - Element (</a:t>
            </a:r>
            <a:r>
              <a:rPr lang="en-US" dirty="0" err="1">
                <a:solidFill>
                  <a:schemeClr val="tx1"/>
                </a:solidFill>
              </a:rPr>
              <a:t>ArrayList</a:t>
            </a:r>
            <a:r>
              <a:rPr lang="en-US" dirty="0">
                <a:solidFill>
                  <a:schemeClr val="tx1"/>
                </a:solidFill>
              </a:rPr>
              <a:t>, Set etc.)</a:t>
            </a:r>
          </a:p>
          <a:p>
            <a:pPr marL="320040" indent="-32004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K - Key (Used in Map)</a:t>
            </a:r>
          </a:p>
        </p:txBody>
      </p:sp>
      <p:sp>
        <p:nvSpPr>
          <p:cNvPr id="2" name="Content Placeholder 2"/>
          <p:cNvSpPr txBox="1">
            <a:spLocks/>
          </p:cNvSpPr>
          <p:nvPr/>
        </p:nvSpPr>
        <p:spPr>
          <a:xfrm>
            <a:off x="6679591" y="1680641"/>
            <a:ext cx="4270270" cy="3722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 – Type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 – Number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V - Value (Used in Map)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S,U,V etc. - 2nd, 3rd, 4th types</a:t>
            </a:r>
          </a:p>
        </p:txBody>
      </p:sp>
    </p:spTree>
    <p:extLst>
      <p:ext uri="{BB962C8B-B14F-4D97-AF65-F5344CB8AC3E}">
        <p14:creationId xmlns:p14="http://schemas.microsoft.com/office/powerpoint/2010/main" val="1158935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16286" y="757603"/>
            <a:ext cx="4125052" cy="605905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285" y="1441732"/>
            <a:ext cx="10667463" cy="5197783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Rules: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It has a type parameter section delimited by angle brackets (&lt; and &gt;),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that precedes the method's </a:t>
            </a:r>
            <a:r>
              <a:rPr lang="en-US" b="1" dirty="0">
                <a:solidFill>
                  <a:schemeClr val="tx1"/>
                </a:solidFill>
              </a:rPr>
              <a:t>return type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Each type parameter (can) contains one or more type parameters.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type parameter </a:t>
            </a:r>
            <a:r>
              <a:rPr lang="en-US" dirty="0">
                <a:solidFill>
                  <a:schemeClr val="tx1"/>
                </a:solidFill>
              </a:rPr>
              <a:t>is an identifier that specifies a </a:t>
            </a:r>
            <a:r>
              <a:rPr lang="en-US" b="1" dirty="0">
                <a:solidFill>
                  <a:schemeClr val="tx1"/>
                </a:solidFill>
              </a:rPr>
              <a:t>generic type name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37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16286" y="757603"/>
            <a:ext cx="4125052" cy="605905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286" y="1441732"/>
            <a:ext cx="10428748" cy="5197783"/>
          </a:xfrm>
        </p:spPr>
        <p:txBody>
          <a:bodyPr rtlCol="0">
            <a:normAutofit lnSpcReduction="10000"/>
          </a:bodyPr>
          <a:lstStyle/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Type parameters </a:t>
            </a:r>
            <a:r>
              <a:rPr lang="en-US" dirty="0">
                <a:solidFill>
                  <a:schemeClr val="tx1"/>
                </a:solidFill>
              </a:rPr>
              <a:t>can be used as </a:t>
            </a:r>
            <a:r>
              <a:rPr lang="en-US" b="1" dirty="0">
                <a:solidFill>
                  <a:schemeClr val="tx1"/>
                </a:solidFill>
              </a:rPr>
              <a:t>return type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generic method's body is declared.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Type parameters can represent only </a:t>
            </a:r>
            <a:r>
              <a:rPr lang="en-US" dirty="0">
                <a:solidFill>
                  <a:srgbClr val="FF0000"/>
                </a:solidFill>
              </a:rPr>
              <a:t>reference types: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String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Box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Integer (int not ok)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…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Not </a:t>
            </a:r>
            <a:r>
              <a:rPr lang="en-US" dirty="0">
                <a:solidFill>
                  <a:srgbClr val="FF0000"/>
                </a:solidFill>
              </a:rPr>
              <a:t>primitive types: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int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long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745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36516" y="951813"/>
            <a:ext cx="7839296" cy="62613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One of my research 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708740"/>
            <a:ext cx="4778954" cy="33583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183" y="2889021"/>
            <a:ext cx="5957420" cy="3428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7494" y="1904380"/>
            <a:ext cx="5237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Before Generic (overloading):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need to implement it, for every datatype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1436" y="3042605"/>
            <a:ext cx="4534033" cy="1331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1436" y="4488577"/>
            <a:ext cx="4534033" cy="1578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09487" y="2809411"/>
            <a:ext cx="5652286" cy="12082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>
            <a:stCxn id="6" idx="2"/>
            <a:endCxn id="9" idx="0"/>
          </p:cNvCxnSpPr>
          <p:nvPr/>
        </p:nvCxnSpPr>
        <p:spPr>
          <a:xfrm>
            <a:off x="6096000" y="2550711"/>
            <a:ext cx="2839630" cy="258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6" idx="2"/>
            <a:endCxn id="2" idx="0"/>
          </p:cNvCxnSpPr>
          <p:nvPr/>
        </p:nvCxnSpPr>
        <p:spPr>
          <a:xfrm flipH="1">
            <a:off x="3448453" y="2550711"/>
            <a:ext cx="2647547" cy="491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6" idx="2"/>
            <a:endCxn id="8" idx="3"/>
          </p:cNvCxnSpPr>
          <p:nvPr/>
        </p:nvCxnSpPr>
        <p:spPr>
          <a:xfrm flipH="1">
            <a:off x="5715469" y="2550711"/>
            <a:ext cx="380531" cy="2727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B1B6-549D-FA9D-9B52-2D3BF8F32607}"/>
              </a:ext>
            </a:extLst>
          </p:cNvPr>
          <p:cNvSpPr txBox="1">
            <a:spLocks/>
          </p:cNvSpPr>
          <p:nvPr/>
        </p:nvSpPr>
        <p:spPr>
          <a:xfrm>
            <a:off x="1835799" y="14718"/>
            <a:ext cx="618124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I_OverloadedMethods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0897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36516" y="951813"/>
            <a:ext cx="6173858" cy="62613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One of my research 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4" y="2381580"/>
            <a:ext cx="5769579" cy="41421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8959" y="1785468"/>
            <a:ext cx="56001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 Generic: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need to implement it only once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94726" y="2548991"/>
            <a:ext cx="4470849" cy="14080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" name="Straight Arrow Connector 5"/>
          <p:cNvCxnSpPr>
            <a:cxnSpLocks/>
            <a:stCxn id="5" idx="2"/>
          </p:cNvCxnSpPr>
          <p:nvPr/>
        </p:nvCxnSpPr>
        <p:spPr>
          <a:xfrm flipH="1">
            <a:off x="5765575" y="2524132"/>
            <a:ext cx="3273478" cy="61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3950AD-6EFB-3A43-D4F4-3139B4E00DC7}"/>
              </a:ext>
            </a:extLst>
          </p:cNvPr>
          <p:cNvSpPr txBox="1">
            <a:spLocks/>
          </p:cNvSpPr>
          <p:nvPr/>
        </p:nvSpPr>
        <p:spPr>
          <a:xfrm>
            <a:off x="1104466" y="24886"/>
            <a:ext cx="6816117" cy="35007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</a:rPr>
              <a:t>J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_</a:t>
            </a:r>
            <a:r>
              <a:rPr kumimoji="0" lang="en-US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ArrayWithGenerics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7876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41" y="1763470"/>
            <a:ext cx="5296039" cy="4844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653" y="3142127"/>
            <a:ext cx="2736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Only one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multiple use cases</a:t>
            </a:r>
          </a:p>
        </p:txBody>
      </p:sp>
      <p:cxnSp>
        <p:nvCxnSpPr>
          <p:cNvPr id="6" name="Straight Arrow Connector 5"/>
          <p:cNvCxnSpPr>
            <a:stCxn id="4" idx="3"/>
          </p:cNvCxnSpPr>
          <p:nvPr/>
        </p:nvCxnSpPr>
        <p:spPr>
          <a:xfrm flipV="1">
            <a:off x="4291300" y="2274378"/>
            <a:ext cx="1518781" cy="1190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3"/>
          </p:cNvCxnSpPr>
          <p:nvPr/>
        </p:nvCxnSpPr>
        <p:spPr>
          <a:xfrm>
            <a:off x="4291300" y="3465293"/>
            <a:ext cx="1835926" cy="1539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09" y="4376163"/>
            <a:ext cx="2569096" cy="2073783"/>
          </a:xfrm>
          <a:prstGeom prst="rect">
            <a:avLst/>
          </a:prstGeom>
        </p:spPr>
      </p:pic>
      <p:cxnSp>
        <p:nvCxnSpPr>
          <p:cNvPr id="14" name="Straight Arrow Connector 13"/>
          <p:cNvCxnSpPr>
            <a:stCxn id="4" idx="3"/>
          </p:cNvCxnSpPr>
          <p:nvPr/>
        </p:nvCxnSpPr>
        <p:spPr>
          <a:xfrm>
            <a:off x="4291300" y="3465293"/>
            <a:ext cx="1882923" cy="2097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4" idx="3"/>
          </p:cNvCxnSpPr>
          <p:nvPr/>
        </p:nvCxnSpPr>
        <p:spPr>
          <a:xfrm>
            <a:off x="4291300" y="3465293"/>
            <a:ext cx="1882923" cy="2685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DE3088-D1BC-3730-701E-C1F21C7E4008}"/>
              </a:ext>
            </a:extLst>
          </p:cNvPr>
          <p:cNvSpPr txBox="1">
            <a:spLocks/>
          </p:cNvSpPr>
          <p:nvPr/>
        </p:nvSpPr>
        <p:spPr>
          <a:xfrm>
            <a:off x="1827609" y="11072"/>
            <a:ext cx="6418033" cy="35789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K_GenericMethodTest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CB3B90-97B2-1487-9A17-41685BCB48C5}"/>
              </a:ext>
            </a:extLst>
          </p:cNvPr>
          <p:cNvSpPr txBox="1">
            <a:spLocks/>
          </p:cNvSpPr>
          <p:nvPr/>
        </p:nvSpPr>
        <p:spPr>
          <a:xfrm>
            <a:off x="936516" y="951813"/>
            <a:ext cx="6173858" cy="626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One of my research examples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8538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Nested Generics</a:t>
            </a:r>
          </a:p>
        </p:txBody>
      </p:sp>
    </p:spTree>
    <p:extLst>
      <p:ext uri="{BB962C8B-B14F-4D97-AF65-F5344CB8AC3E}">
        <p14:creationId xmlns:p14="http://schemas.microsoft.com/office/powerpoint/2010/main" val="1689258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16286" y="757603"/>
            <a:ext cx="4125052" cy="60590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Nested generics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237" y="1651000"/>
            <a:ext cx="2922891" cy="47136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774" y="2472812"/>
            <a:ext cx="7062390" cy="17279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193" y="4936900"/>
            <a:ext cx="3342002" cy="892652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5" idx="0"/>
          </p:cNvCxnSpPr>
          <p:nvPr/>
        </p:nvCxnSpPr>
        <p:spPr>
          <a:xfrm flipH="1">
            <a:off x="7168194" y="3689968"/>
            <a:ext cx="1004762" cy="1246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74779" y="1736662"/>
            <a:ext cx="5190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GenericRocket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has 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GenericRocket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inside!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0559" y="3503851"/>
            <a:ext cx="748514" cy="1861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155C88-AB86-3337-BB86-ACF021A8BC4C}"/>
              </a:ext>
            </a:extLst>
          </p:cNvPr>
          <p:cNvSpPr txBox="1">
            <a:spLocks/>
          </p:cNvSpPr>
          <p:nvPr/>
        </p:nvSpPr>
        <p:spPr>
          <a:xfrm>
            <a:off x="1307501" y="26893"/>
            <a:ext cx="6500546" cy="33545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L_GenericRocket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467E8F-DE50-BD7A-DB42-3E4EBCB929D9}"/>
              </a:ext>
            </a:extLst>
          </p:cNvPr>
          <p:cNvSpPr/>
          <p:nvPr/>
        </p:nvSpPr>
        <p:spPr>
          <a:xfrm>
            <a:off x="5071896" y="2757894"/>
            <a:ext cx="2427788" cy="161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D07A4A-6F81-20C4-AC8A-BEB9C7A78D20}"/>
              </a:ext>
            </a:extLst>
          </p:cNvPr>
          <p:cNvCxnSpPr>
            <a:stCxn id="8" idx="2"/>
            <a:endCxn id="9" idx="3"/>
          </p:cNvCxnSpPr>
          <p:nvPr/>
        </p:nvCxnSpPr>
        <p:spPr>
          <a:xfrm flipH="1">
            <a:off x="7499684" y="2105994"/>
            <a:ext cx="1670229" cy="73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343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Bounded Generics</a:t>
            </a:r>
          </a:p>
        </p:txBody>
      </p:sp>
    </p:spTree>
    <p:extLst>
      <p:ext uri="{BB962C8B-B14F-4D97-AF65-F5344CB8AC3E}">
        <p14:creationId xmlns:p14="http://schemas.microsoft.com/office/powerpoint/2010/main" val="403642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6067141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Type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490479"/>
            <a:ext cx="10392334" cy="5161174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You want to </a:t>
            </a:r>
            <a:r>
              <a:rPr lang="en-US" b="1" dirty="0">
                <a:solidFill>
                  <a:srgbClr val="FF0000"/>
                </a:solidFill>
              </a:rPr>
              <a:t>restrict</a:t>
            </a:r>
            <a:r>
              <a:rPr lang="en-US" b="1" dirty="0">
                <a:solidFill>
                  <a:schemeClr val="tx1"/>
                </a:solidFill>
              </a:rPr>
              <a:t> types: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method on </a:t>
            </a:r>
            <a:r>
              <a:rPr lang="en-US" b="1" dirty="0">
                <a:solidFill>
                  <a:schemeClr val="tx1"/>
                </a:solidFill>
              </a:rPr>
              <a:t>numbers</a:t>
            </a:r>
            <a:r>
              <a:rPr lang="en-US" dirty="0">
                <a:solidFill>
                  <a:schemeClr val="tx1"/>
                </a:solidFill>
              </a:rPr>
              <a:t> might only want to accept </a:t>
            </a:r>
            <a:r>
              <a:rPr lang="en-US" b="1" dirty="0">
                <a:solidFill>
                  <a:schemeClr val="tx1"/>
                </a:solidFill>
              </a:rPr>
              <a:t>instances of Number </a:t>
            </a:r>
            <a:r>
              <a:rPr lang="en-US" sz="1800" dirty="0">
                <a:solidFill>
                  <a:schemeClr val="tx1"/>
                </a:solidFill>
              </a:rPr>
              <a:t>(or its subclasses)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Declare a </a:t>
            </a:r>
            <a:r>
              <a:rPr lang="en-US" dirty="0">
                <a:solidFill>
                  <a:srgbClr val="FF0000"/>
                </a:solidFill>
              </a:rPr>
              <a:t>bounded</a:t>
            </a:r>
            <a:r>
              <a:rPr lang="en-US" dirty="0">
                <a:solidFill>
                  <a:schemeClr val="tx1"/>
                </a:solidFill>
              </a:rPr>
              <a:t> type parameter:</a:t>
            </a:r>
          </a:p>
          <a:p>
            <a:pPr lvl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list the type parameter's name:</a:t>
            </a:r>
          </a:p>
          <a:p>
            <a:pPr lvl="2">
              <a:defRPr/>
            </a:pPr>
            <a:r>
              <a:rPr lang="en-US" dirty="0">
                <a:solidFill>
                  <a:schemeClr val="tx1"/>
                </a:solidFill>
              </a:rPr>
              <a:t>followed by the </a:t>
            </a:r>
            <a:r>
              <a:rPr lang="en-US" b="1" dirty="0">
                <a:solidFill>
                  <a:srgbClr val="FF0000"/>
                </a:solidFill>
              </a:rPr>
              <a:t>extends</a:t>
            </a:r>
            <a:r>
              <a:rPr lang="en-US" dirty="0">
                <a:solidFill>
                  <a:schemeClr val="tx1"/>
                </a:solidFill>
              </a:rPr>
              <a:t> keyword</a:t>
            </a:r>
          </a:p>
          <a:p>
            <a:pPr lvl="2">
              <a:defRPr/>
            </a:pPr>
            <a:r>
              <a:rPr lang="en-US" dirty="0">
                <a:solidFill>
                  <a:schemeClr val="tx1"/>
                </a:solidFill>
              </a:rPr>
              <a:t>followed by its upper bound.</a:t>
            </a:r>
          </a:p>
          <a:p>
            <a:pPr lvl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b="1" dirty="0"/>
              <a:t>public</a:t>
            </a:r>
            <a:r>
              <a:rPr lang="en-US" dirty="0"/>
              <a:t> </a:t>
            </a:r>
            <a:r>
              <a:rPr lang="en-US" b="1" dirty="0"/>
              <a:t>class</a:t>
            </a:r>
            <a:r>
              <a:rPr lang="en-US" dirty="0"/>
              <a:t> Sample &lt;T </a:t>
            </a:r>
            <a:r>
              <a:rPr lang="en-US" b="1" dirty="0">
                <a:solidFill>
                  <a:srgbClr val="FF0000"/>
                </a:solidFill>
              </a:rPr>
              <a:t>extends</a:t>
            </a:r>
            <a:r>
              <a:rPr lang="en-US" dirty="0"/>
              <a:t> Number&gt;” …</a:t>
            </a:r>
          </a:p>
        </p:txBody>
      </p:sp>
    </p:spTree>
    <p:extLst>
      <p:ext uri="{BB962C8B-B14F-4D97-AF65-F5344CB8AC3E}">
        <p14:creationId xmlns:p14="http://schemas.microsoft.com/office/powerpoint/2010/main" val="3247116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880" y="1857795"/>
            <a:ext cx="4855156" cy="27977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636" y="2000612"/>
            <a:ext cx="4778954" cy="1703659"/>
          </a:xfrm>
          <a:prstGeom prst="rect">
            <a:avLst/>
          </a:prstGeom>
        </p:spPr>
      </p:pic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6067141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Type Parameters</a:t>
            </a:r>
          </a:p>
        </p:txBody>
      </p:sp>
      <p:sp>
        <p:nvSpPr>
          <p:cNvPr id="5" name="Down Arrow 4"/>
          <p:cNvSpPr/>
          <p:nvPr/>
        </p:nvSpPr>
        <p:spPr>
          <a:xfrm rot="3395687">
            <a:off x="5729696" y="2633610"/>
            <a:ext cx="484632" cy="21297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72673" y="1972035"/>
            <a:ext cx="1505118" cy="20230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056" y="3676681"/>
            <a:ext cx="2226187" cy="12083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03657" y="3880131"/>
            <a:ext cx="4372685" cy="4612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086" y="5380340"/>
            <a:ext cx="7516127" cy="1171004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8804135" y="4456585"/>
            <a:ext cx="335819" cy="76854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51EB3D-5FD7-D1FE-B2CD-1D52AC82AA94}"/>
              </a:ext>
            </a:extLst>
          </p:cNvPr>
          <p:cNvSpPr txBox="1">
            <a:spLocks/>
          </p:cNvSpPr>
          <p:nvPr/>
        </p:nvSpPr>
        <p:spPr>
          <a:xfrm>
            <a:off x="2000230" y="3952"/>
            <a:ext cx="5498567" cy="351498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M_BoundedTypes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5813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6067141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Type Parameters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27" y="2413712"/>
            <a:ext cx="10798911" cy="38917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017" y="2472118"/>
            <a:ext cx="3663139" cy="1094043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 rot="10800000">
            <a:off x="9179955" y="387038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10276" y="2751292"/>
            <a:ext cx="1869260" cy="20230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86E3FA-7084-95ED-2C4D-5BC2A27743F4}"/>
              </a:ext>
            </a:extLst>
          </p:cNvPr>
          <p:cNvSpPr txBox="1">
            <a:spLocks/>
          </p:cNvSpPr>
          <p:nvPr/>
        </p:nvSpPr>
        <p:spPr>
          <a:xfrm>
            <a:off x="2248883" y="12765"/>
            <a:ext cx="5498567" cy="348182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N_MaximumTest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8158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Generic Classes</a:t>
            </a:r>
          </a:p>
        </p:txBody>
      </p:sp>
    </p:spTree>
    <p:extLst>
      <p:ext uri="{BB962C8B-B14F-4D97-AF65-F5344CB8AC3E}">
        <p14:creationId xmlns:p14="http://schemas.microsoft.com/office/powerpoint/2010/main" val="3770494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36516" y="717143"/>
            <a:ext cx="3785187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62" y="1506663"/>
            <a:ext cx="10400426" cy="5124759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Declaration looks like a non-generic class declaration,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except class name is followed by a type parameter.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b="1" dirty="0">
                <a:solidFill>
                  <a:schemeClr val="tx1"/>
                </a:solidFill>
              </a:rPr>
              <a:t>“public class Sample </a:t>
            </a:r>
            <a:r>
              <a:rPr lang="en-US" b="1" dirty="0">
                <a:solidFill>
                  <a:srgbClr val="FF0000"/>
                </a:solidFill>
              </a:rPr>
              <a:t>&lt;T&gt;</a:t>
            </a:r>
            <a:r>
              <a:rPr lang="en-US" b="1" dirty="0">
                <a:solidFill>
                  <a:schemeClr val="tx1"/>
                </a:solidFill>
              </a:rPr>
              <a:t>”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Type parameter of a generic class, can have one or more type parameters 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Separated by commas. </a:t>
            </a:r>
          </a:p>
        </p:txBody>
      </p:sp>
    </p:spTree>
    <p:extLst>
      <p:ext uri="{BB962C8B-B14F-4D97-AF65-F5344CB8AC3E}">
        <p14:creationId xmlns:p14="http://schemas.microsoft.com/office/powerpoint/2010/main" val="701548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36516" y="717143"/>
            <a:ext cx="3785187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847" y="1572595"/>
            <a:ext cx="6877092" cy="49253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015" y="4414404"/>
            <a:ext cx="2454793" cy="1322649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0800000">
            <a:off x="3754808" y="491995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08814" y="2277908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Nothing special or sophisticated here!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EDBC5E-2B00-0565-77F2-ED9C9DF2EC71}"/>
              </a:ext>
            </a:extLst>
          </p:cNvPr>
          <p:cNvSpPr txBox="1">
            <a:spLocks/>
          </p:cNvSpPr>
          <p:nvPr/>
        </p:nvSpPr>
        <p:spPr>
          <a:xfrm>
            <a:off x="2272946" y="16803"/>
            <a:ext cx="5498567" cy="343293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O_Box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6494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3468-6CE2-F84F-1C22-7468313A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87F16B5-793A-F8D2-DF37-4DDB6D92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Generic Advantages</a:t>
            </a:r>
          </a:p>
        </p:txBody>
      </p:sp>
    </p:spTree>
    <p:extLst>
      <p:ext uri="{BB962C8B-B14F-4D97-AF65-F5344CB8AC3E}">
        <p14:creationId xmlns:p14="http://schemas.microsoft.com/office/powerpoint/2010/main" val="615464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36516" y="745465"/>
            <a:ext cx="5476422" cy="719193"/>
          </a:xfrm>
        </p:spPr>
        <p:txBody>
          <a:bodyPr/>
          <a:lstStyle/>
          <a:p>
            <a:pPr eaLnBrk="1" hangingPunct="1"/>
            <a:r>
              <a:rPr lang="en-US" altLang="en-US" dirty="0"/>
              <a:t>Advantages of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71399"/>
            <a:ext cx="10416610" cy="5064069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With</a:t>
            </a:r>
            <a:r>
              <a:rPr lang="en-US" dirty="0">
                <a:solidFill>
                  <a:schemeClr val="tx1"/>
                </a:solidFill>
              </a:rPr>
              <a:t> generics</a:t>
            </a:r>
            <a:r>
              <a:rPr lang="en-US" dirty="0"/>
              <a:t> </a:t>
            </a:r>
            <a:r>
              <a:rPr lang="en-US" b="1" dirty="0">
                <a:solidFill>
                  <a:srgbClr val="009900"/>
                </a:solidFill>
                <a:latin typeface="Courier New" charset="0"/>
                <a:cs typeface="Courier New" charset="0"/>
                <a:sym typeface="Courier New" charset="0"/>
              </a:rPr>
              <a:t>”Collection&lt;String&gt; c;”</a:t>
            </a:r>
            <a:r>
              <a:rPr lang="en-US" dirty="0"/>
              <a:t>  </a:t>
            </a:r>
            <a:r>
              <a:rPr lang="en-US" dirty="0">
                <a:solidFill>
                  <a:schemeClr val="tx1"/>
                </a:solidFill>
              </a:rPr>
              <a:t>it gives us more information about the variable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(i.e., </a:t>
            </a:r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holds only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Strings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This is true wherever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used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The compiler checks it, and </a:t>
            </a:r>
            <a:r>
              <a:rPr lang="en-US" b="1" dirty="0">
                <a:solidFill>
                  <a:srgbClr val="FF0000"/>
                </a:solidFill>
              </a:rPr>
              <a:t>won’t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compile code that </a:t>
            </a:r>
            <a:r>
              <a:rPr lang="en-US" b="1" dirty="0">
                <a:solidFill>
                  <a:srgbClr val="FF0000"/>
                </a:solidFill>
              </a:rPr>
              <a:t>violates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this!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More type safety in general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Generics in C++ are templates</a:t>
            </a:r>
          </a:p>
        </p:txBody>
      </p:sp>
    </p:spTree>
    <p:extLst>
      <p:ext uri="{BB962C8B-B14F-4D97-AF65-F5344CB8AC3E}">
        <p14:creationId xmlns:p14="http://schemas.microsoft.com/office/powerpoint/2010/main" val="175918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36516" y="745465"/>
            <a:ext cx="5476422" cy="719193"/>
          </a:xfrm>
        </p:spPr>
        <p:txBody>
          <a:bodyPr/>
          <a:lstStyle/>
          <a:p>
            <a:pPr eaLnBrk="1" hangingPunct="1"/>
            <a:r>
              <a:rPr lang="en-US" altLang="en-US" dirty="0"/>
              <a:t>Advantages of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71399"/>
            <a:ext cx="10416610" cy="5064069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Without</a:t>
            </a:r>
            <a:r>
              <a:rPr lang="en-US" dirty="0">
                <a:solidFill>
                  <a:schemeClr val="tx1"/>
                </a:solidFill>
              </a:rPr>
              <a:t> use of generic types, </a:t>
            </a:r>
            <a:r>
              <a:rPr lang="en-US" b="1" dirty="0">
                <a:solidFill>
                  <a:srgbClr val="FF0000"/>
                </a:solidFill>
              </a:rPr>
              <a:t>explicit casting is needed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A cast tells us something the programmer </a:t>
            </a:r>
            <a:r>
              <a:rPr lang="en-US" b="1" dirty="0">
                <a:solidFill>
                  <a:srgbClr val="92D050"/>
                </a:solidFill>
              </a:rPr>
              <a:t>thinks</a:t>
            </a:r>
            <a:r>
              <a:rPr lang="en-US" dirty="0">
                <a:solidFill>
                  <a:schemeClr val="tx1"/>
                </a:solidFill>
              </a:rPr>
              <a:t> is true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The JVM checks whether the programmer </a:t>
            </a:r>
            <a:r>
              <a:rPr lang="en-US" dirty="0">
                <a:solidFill>
                  <a:srgbClr val="FF0000"/>
                </a:solidFill>
              </a:rPr>
              <a:t>thoughts</a:t>
            </a:r>
            <a:r>
              <a:rPr lang="en-US" dirty="0">
                <a:solidFill>
                  <a:schemeClr val="tx1"/>
                </a:solidFill>
              </a:rPr>
              <a:t>, are correct </a:t>
            </a:r>
            <a:r>
              <a:rPr lang="en-US" b="1" dirty="0">
                <a:solidFill>
                  <a:srgbClr val="FF0000"/>
                </a:solidFill>
              </a:rPr>
              <a:t>at runtime</a:t>
            </a:r>
          </a:p>
          <a:p>
            <a:pPr marL="728663" lvl="1" indent="-274320"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728663" lvl="1" indent="-274320">
              <a:defRPr/>
            </a:pPr>
            <a:r>
              <a:rPr lang="en-US" b="1" dirty="0">
                <a:solidFill>
                  <a:srgbClr val="00B050"/>
                </a:solidFill>
              </a:rPr>
              <a:t>Once you got used to it, you never go back! </a:t>
            </a:r>
            <a:r>
              <a:rPr lang="en-US" b="1" dirty="0">
                <a:solidFill>
                  <a:srgbClr val="00B050"/>
                </a:solidFill>
                <a:sym typeface="Wingdings" pitchFamily="2" charset="2"/>
              </a:rPr>
              <a:t></a:t>
            </a:r>
            <a:endParaRPr lang="en-US" b="1" dirty="0">
              <a:solidFill>
                <a:srgbClr val="00B050"/>
              </a:solidFill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42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6222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1577</TotalTime>
  <Words>787</Words>
  <Application>Microsoft Office PowerPoint</Application>
  <PresentationFormat>Widescreen</PresentationFormat>
  <Paragraphs>145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Arial Narrow</vt:lpstr>
      <vt:lpstr>Calibri</vt:lpstr>
      <vt:lpstr>Courier New</vt:lpstr>
      <vt:lpstr>Garamond</vt:lpstr>
      <vt:lpstr>Wingdings</vt:lpstr>
      <vt:lpstr>SCUTemplate</vt:lpstr>
      <vt:lpstr>Custom Design</vt:lpstr>
      <vt:lpstr>CSEN160</vt:lpstr>
      <vt:lpstr>Java Generics simple intro…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Generics Methods</vt:lpstr>
      <vt:lpstr>Using Generic Types</vt:lpstr>
      <vt:lpstr>Generic Methods</vt:lpstr>
      <vt:lpstr>Generic Methods</vt:lpstr>
      <vt:lpstr>One of my research examples</vt:lpstr>
      <vt:lpstr>One of my research examples</vt:lpstr>
      <vt:lpstr>PowerPoint Presentation</vt:lpstr>
      <vt:lpstr>Nested Generics</vt:lpstr>
      <vt:lpstr>Nested generics</vt:lpstr>
      <vt:lpstr>Bounded Generics</vt:lpstr>
      <vt:lpstr>Bounded Type Parameters</vt:lpstr>
      <vt:lpstr>Bounded Type Parameters</vt:lpstr>
      <vt:lpstr>Bounded Type Parameters</vt:lpstr>
      <vt:lpstr>Generic Classes</vt:lpstr>
      <vt:lpstr>Generic Classes</vt:lpstr>
      <vt:lpstr>Generic Classes</vt:lpstr>
      <vt:lpstr>Generic Advantages</vt:lpstr>
      <vt:lpstr>Advantages of Generics</vt:lpstr>
      <vt:lpstr>Advantages of Generics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244</cp:revision>
  <cp:lastPrinted>2023-09-11T21:46:56Z</cp:lastPrinted>
  <dcterms:created xsi:type="dcterms:W3CDTF">2023-09-09T19:51:41Z</dcterms:created>
  <dcterms:modified xsi:type="dcterms:W3CDTF">2026-10-21T20:51:16Z</dcterms:modified>
</cp:coreProperties>
</file>