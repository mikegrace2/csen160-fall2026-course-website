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37"/>
  </p:notesMasterIdLst>
  <p:handoutMasterIdLst>
    <p:handoutMasterId r:id="rId38"/>
  </p:handoutMasterIdLst>
  <p:sldIdLst>
    <p:sldId id="333" r:id="rId3"/>
    <p:sldId id="385" r:id="rId4"/>
    <p:sldId id="389" r:id="rId5"/>
    <p:sldId id="415" r:id="rId6"/>
    <p:sldId id="390" r:id="rId7"/>
    <p:sldId id="392" r:id="rId8"/>
    <p:sldId id="391" r:id="rId9"/>
    <p:sldId id="387" r:id="rId10"/>
    <p:sldId id="388" r:id="rId11"/>
    <p:sldId id="393" r:id="rId12"/>
    <p:sldId id="334" r:id="rId13"/>
    <p:sldId id="346" r:id="rId14"/>
    <p:sldId id="347" r:id="rId15"/>
    <p:sldId id="348" r:id="rId16"/>
    <p:sldId id="349" r:id="rId17"/>
    <p:sldId id="419" r:id="rId18"/>
    <p:sldId id="352" r:id="rId19"/>
    <p:sldId id="416" r:id="rId20"/>
    <p:sldId id="355" r:id="rId21"/>
    <p:sldId id="356" r:id="rId22"/>
    <p:sldId id="417" r:id="rId23"/>
    <p:sldId id="358" r:id="rId24"/>
    <p:sldId id="359" r:id="rId25"/>
    <p:sldId id="360" r:id="rId26"/>
    <p:sldId id="362" r:id="rId27"/>
    <p:sldId id="414" r:id="rId28"/>
    <p:sldId id="363" r:id="rId29"/>
    <p:sldId id="418" r:id="rId30"/>
    <p:sldId id="364" r:id="rId31"/>
    <p:sldId id="365" r:id="rId32"/>
    <p:sldId id="413" r:id="rId33"/>
    <p:sldId id="366" r:id="rId34"/>
    <p:sldId id="335" r:id="rId35"/>
    <p:sldId id="509" r:id="rId3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2127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56F1-AD33-45CA-85C7-DC330226D9FE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7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722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9141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  <p:sldLayoutId id="2147483687" r:id="rId17"/>
    <p:sldLayoutId id="2147483688" r:id="rId18"/>
    <p:sldLayoutId id="2147483691" r:id="rId19"/>
    <p:sldLayoutId id="2147483692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CSEN160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Constructor chaining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166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7" y="891123"/>
            <a:ext cx="5836517" cy="565444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Constructor basics recap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3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43872" y="1909720"/>
            <a:ext cx="538480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Constructor: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Has the same name as a class (no return value)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create an instance of a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Default constructor has no arguments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private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Constructor </a:t>
            </a:r>
            <a:r>
              <a:rPr lang="en-US" b="1" dirty="0">
                <a:solidFill>
                  <a:srgbClr val="FF0000"/>
                </a:solidFill>
              </a:rPr>
              <a:t>cannot</a:t>
            </a:r>
            <a:r>
              <a:rPr lang="en-US" b="1" dirty="0"/>
              <a:t> be: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abstract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synchronized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static</a:t>
            </a:r>
          </a:p>
        </p:txBody>
      </p:sp>
    </p:spTree>
    <p:extLst>
      <p:ext uri="{BB962C8B-B14F-4D97-AF65-F5344CB8AC3E}">
        <p14:creationId xmlns:p14="http://schemas.microsoft.com/office/powerpoint/2010/main" val="1512156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7" y="891123"/>
            <a:ext cx="5108233" cy="565444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Constructor Chaining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4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43872" y="1909720"/>
            <a:ext cx="638508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Java Constructor Chaining: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constructor is calling an other constructor (in a chain)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Useful for setting up parameter/members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“</a:t>
            </a:r>
            <a:r>
              <a:rPr lang="en-US" b="1" dirty="0">
                <a:solidFill>
                  <a:srgbClr val="00B050"/>
                </a:solidFill>
              </a:rPr>
              <a:t>intelligent</a:t>
            </a:r>
            <a:r>
              <a:rPr lang="en-US" dirty="0"/>
              <a:t>” constructor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super()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super(parameter list)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this(parameter list)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Must be the </a:t>
            </a:r>
            <a:r>
              <a:rPr lang="en-US" b="1" dirty="0">
                <a:solidFill>
                  <a:srgbClr val="FF0000"/>
                </a:solidFill>
              </a:rPr>
              <a:t>first line </a:t>
            </a:r>
            <a:r>
              <a:rPr lang="en-US" dirty="0"/>
              <a:t>of the constructor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Cannot create a constructor </a:t>
            </a:r>
            <a:r>
              <a:rPr lang="en-US" b="1" dirty="0">
                <a:solidFill>
                  <a:srgbClr val="FF0000"/>
                </a:solidFill>
              </a:rPr>
              <a:t>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Straight chaining line is preferred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make code a bit </a:t>
            </a:r>
            <a:r>
              <a:rPr lang="en-US" b="1" dirty="0">
                <a:solidFill>
                  <a:srgbClr val="FF0000"/>
                </a:solidFill>
              </a:rPr>
              <a:t>complicated</a:t>
            </a:r>
          </a:p>
        </p:txBody>
      </p:sp>
    </p:spTree>
    <p:extLst>
      <p:ext uri="{BB962C8B-B14F-4D97-AF65-F5344CB8AC3E}">
        <p14:creationId xmlns:p14="http://schemas.microsoft.com/office/powerpoint/2010/main" val="3656336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7" y="891123"/>
            <a:ext cx="5108233" cy="565444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Constructor Chaining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5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84537" y="1541533"/>
            <a:ext cx="29033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Two ways: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 the same class (this)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303" y="1760439"/>
            <a:ext cx="4485032" cy="4131237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3823487" y="2322414"/>
            <a:ext cx="3232768" cy="2294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823487" y="2322414"/>
            <a:ext cx="3321780" cy="3066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 flipV="1">
            <a:off x="8573512" y="3563202"/>
            <a:ext cx="2464024" cy="1081626"/>
          </a:xfrm>
          <a:prstGeom prst="bentConnector3">
            <a:avLst>
              <a:gd name="adj1" fmla="val 1194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flipV="1">
            <a:off x="8553281" y="3564542"/>
            <a:ext cx="2476163" cy="1824754"/>
          </a:xfrm>
          <a:prstGeom prst="bentConnector3">
            <a:avLst>
              <a:gd name="adj1" fmla="val 1196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4B39B30-C572-BB12-3131-D8FA1AF5E9FD}"/>
              </a:ext>
            </a:extLst>
          </p:cNvPr>
          <p:cNvSpPr txBox="1">
            <a:spLocks/>
          </p:cNvSpPr>
          <p:nvPr/>
        </p:nvSpPr>
        <p:spPr>
          <a:xfrm>
            <a:off x="6721268" y="6207567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B_ConstructorChaining.BaseConstructorClass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029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659" y="2003538"/>
            <a:ext cx="3898862" cy="420095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210" y="1369598"/>
            <a:ext cx="5190476" cy="456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7" y="891123"/>
            <a:ext cx="5108233" cy="565444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Constructor Chaining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6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36517" y="1508835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From the base class (super)</a:t>
            </a:r>
          </a:p>
        </p:txBody>
      </p:sp>
      <p:cxnSp>
        <p:nvCxnSpPr>
          <p:cNvPr id="8" name="Straight Arrow Connector 7"/>
          <p:cNvCxnSpPr>
            <a:stCxn id="3" idx="3"/>
          </p:cNvCxnSpPr>
          <p:nvPr/>
        </p:nvCxnSpPr>
        <p:spPr>
          <a:xfrm>
            <a:off x="4250245" y="1693501"/>
            <a:ext cx="2356902" cy="456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" idx="3"/>
          </p:cNvCxnSpPr>
          <p:nvPr/>
        </p:nvCxnSpPr>
        <p:spPr>
          <a:xfrm>
            <a:off x="4250245" y="1693501"/>
            <a:ext cx="2331779" cy="37038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 flipV="1">
            <a:off x="7165594" y="2003538"/>
            <a:ext cx="1276518" cy="1036860"/>
          </a:xfrm>
          <a:prstGeom prst="bentConnector3">
            <a:avLst>
              <a:gd name="adj1" fmla="val 21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91234" y="5364178"/>
            <a:ext cx="2392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Does not work only one allowed!</a:t>
            </a:r>
          </a:p>
        </p:txBody>
      </p:sp>
      <p:cxnSp>
        <p:nvCxnSpPr>
          <p:cNvPr id="37" name="Straight Arrow Connector 36"/>
          <p:cNvCxnSpPr>
            <a:stCxn id="35" idx="1"/>
          </p:cNvCxnSpPr>
          <p:nvPr/>
        </p:nvCxnSpPr>
        <p:spPr>
          <a:xfrm flipH="1" flipV="1">
            <a:off x="9030713" y="5502584"/>
            <a:ext cx="360521" cy="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7125037" y="3787073"/>
            <a:ext cx="3180170" cy="20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10248563" y="2003538"/>
            <a:ext cx="16184" cy="1803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8442112" y="2003538"/>
            <a:ext cx="1814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F09007C-8FCF-9D6A-888F-B8B24767FDCD}"/>
              </a:ext>
            </a:extLst>
          </p:cNvPr>
          <p:cNvSpPr txBox="1">
            <a:spLocks/>
          </p:cNvSpPr>
          <p:nvPr/>
        </p:nvSpPr>
        <p:spPr>
          <a:xfrm>
            <a:off x="6721268" y="6207567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B_ConstructorChaining.ConstructorChaining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6C582A-0EF6-596F-340B-ABD7F92F68AD}"/>
              </a:ext>
            </a:extLst>
          </p:cNvPr>
          <p:cNvCxnSpPr>
            <a:cxnSpLocks/>
          </p:cNvCxnSpPr>
          <p:nvPr/>
        </p:nvCxnSpPr>
        <p:spPr>
          <a:xfrm>
            <a:off x="8244714" y="4360403"/>
            <a:ext cx="16398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3F4157-D94E-1A35-2CA9-9B433F080FBF}"/>
              </a:ext>
            </a:extLst>
          </p:cNvPr>
          <p:cNvCxnSpPr>
            <a:cxnSpLocks/>
          </p:cNvCxnSpPr>
          <p:nvPr/>
        </p:nvCxnSpPr>
        <p:spPr>
          <a:xfrm flipV="1">
            <a:off x="9884588" y="3619815"/>
            <a:ext cx="0" cy="740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937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7" y="891123"/>
            <a:ext cx="5108233" cy="565444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Constructor Chaining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7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36517" y="1693501"/>
            <a:ext cx="33009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Important is the parameter list: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Compiler checks the type </a:t>
            </a:r>
            <a:br>
              <a:rPr lang="en-US" dirty="0"/>
            </a:br>
            <a:r>
              <a:rPr lang="en-US" dirty="0"/>
              <a:t>(general constructor issue)</a:t>
            </a:r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672" y="1693501"/>
            <a:ext cx="3632446" cy="4514066"/>
          </a:xfrm>
          <a:prstGeom prst="rect">
            <a:avLst/>
          </a:prstGeom>
        </p:spPr>
      </p:pic>
      <p:cxnSp>
        <p:nvCxnSpPr>
          <p:cNvPr id="59" name="Straight Arrow Connector 58"/>
          <p:cNvCxnSpPr/>
          <p:nvPr/>
        </p:nvCxnSpPr>
        <p:spPr>
          <a:xfrm>
            <a:off x="4062202" y="2443795"/>
            <a:ext cx="1857122" cy="162649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4062202" y="2443795"/>
            <a:ext cx="1844984" cy="92249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533" y="4212159"/>
            <a:ext cx="3573161" cy="842665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7160" y="844589"/>
            <a:ext cx="3200928" cy="336040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D99E57E-C6C3-A6CD-2A88-369436A02DD3}"/>
              </a:ext>
            </a:extLst>
          </p:cNvPr>
          <p:cNvSpPr txBox="1">
            <a:spLocks/>
          </p:cNvSpPr>
          <p:nvPr/>
        </p:nvSpPr>
        <p:spPr>
          <a:xfrm>
            <a:off x="6721268" y="6207567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B_ConstructorChaining.ConstructorChainingBad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2216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Final methods &amp; </a:t>
            </a:r>
            <a:br>
              <a:rPr lang="en-US" dirty="0"/>
            </a:br>
            <a:r>
              <a:rPr lang="en-US" dirty="0"/>
              <a:t>final classes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3848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7" y="891123"/>
            <a:ext cx="3659759" cy="565444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class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9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03412" y="1598177"/>
            <a:ext cx="358944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Important: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Cannot inherit from base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Cannot change base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 reasons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 password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/>
              <a:t>Other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StringBuilder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Etc.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62" y="1456567"/>
            <a:ext cx="2264288" cy="13008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306" y="4048975"/>
            <a:ext cx="5894768" cy="152948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197865" y="1412060"/>
            <a:ext cx="477431" cy="22253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67006" y="4048975"/>
            <a:ext cx="559698" cy="2225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stCxn id="10" idx="0"/>
          </p:cNvCxnSpPr>
          <p:nvPr/>
        </p:nvCxnSpPr>
        <p:spPr>
          <a:xfrm flipH="1" flipV="1">
            <a:off x="7489179" y="1634591"/>
            <a:ext cx="557676" cy="241438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F8BE5E3-1D25-3732-FB00-610D1EA20ECD}"/>
              </a:ext>
            </a:extLst>
          </p:cNvPr>
          <p:cNvSpPr txBox="1">
            <a:spLocks/>
          </p:cNvSpPr>
          <p:nvPr/>
        </p:nvSpPr>
        <p:spPr>
          <a:xfrm>
            <a:off x="6721268" y="6207567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C_FinalMethodsFinalClasses.Circle</a:t>
            </a:r>
            <a:r>
              <a:rPr lang="en-US" dirty="0">
                <a:solidFill>
                  <a:srgbClr val="C00000"/>
                </a:solidFill>
              </a:rPr>
              <a:t> &amp; Oval”</a:t>
            </a:r>
          </a:p>
        </p:txBody>
      </p:sp>
    </p:spTree>
    <p:extLst>
      <p:ext uri="{BB962C8B-B14F-4D97-AF65-F5344CB8AC3E}">
        <p14:creationId xmlns:p14="http://schemas.microsoft.com/office/powerpoint/2010/main" val="2725792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7" y="891123"/>
            <a:ext cx="3659759" cy="565444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Methods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10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36518" y="1581993"/>
            <a:ext cx="4806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Important: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Cannot be overridden by some child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Protocol issues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618" y="2991579"/>
            <a:ext cx="4577563" cy="31406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132" y="2641428"/>
            <a:ext cx="4425159" cy="33311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1129" y="4464531"/>
            <a:ext cx="2160871" cy="66404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3862" y="941699"/>
            <a:ext cx="1894164" cy="1436952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7642927" y="1660175"/>
            <a:ext cx="2070935" cy="2130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8" idx="1"/>
          </p:cNvCxnSpPr>
          <p:nvPr/>
        </p:nvCxnSpPr>
        <p:spPr>
          <a:xfrm flipH="1" flipV="1">
            <a:off x="9419129" y="4464531"/>
            <a:ext cx="612000" cy="332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DA437AE-E568-1956-DB34-1B246E99EAF5}"/>
              </a:ext>
            </a:extLst>
          </p:cNvPr>
          <p:cNvSpPr txBox="1">
            <a:spLocks/>
          </p:cNvSpPr>
          <p:nvPr/>
        </p:nvSpPr>
        <p:spPr>
          <a:xfrm>
            <a:off x="6721268" y="6207567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C_FinalMethodsFinalClasses.Password</a:t>
            </a:r>
            <a:r>
              <a:rPr lang="en-US" dirty="0">
                <a:solidFill>
                  <a:srgbClr val="C00000"/>
                </a:solidFill>
              </a:rPr>
              <a:t> &amp; </a:t>
            </a:r>
            <a:r>
              <a:rPr lang="en-US" dirty="0" err="1">
                <a:solidFill>
                  <a:srgbClr val="C00000"/>
                </a:solidFill>
              </a:rPr>
              <a:t>PasswordCrack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F90691-944B-389F-799C-2896EFECE56E}"/>
              </a:ext>
            </a:extLst>
          </p:cNvPr>
          <p:cNvSpPr txBox="1"/>
          <p:nvPr/>
        </p:nvSpPr>
        <p:spPr>
          <a:xfrm>
            <a:off x="6275403" y="5720724"/>
            <a:ext cx="5135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But not a real protection -&gt; Java Reflections</a:t>
            </a:r>
          </a:p>
        </p:txBody>
      </p:sp>
    </p:spTree>
    <p:extLst>
      <p:ext uri="{BB962C8B-B14F-4D97-AF65-F5344CB8AC3E}">
        <p14:creationId xmlns:p14="http://schemas.microsoft.com/office/powerpoint/2010/main" val="3309758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Overloading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AA101E-127A-4DAF-B4E5-EFA483F29B1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795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29910" y="921143"/>
            <a:ext cx="2650816" cy="579929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 dirty="0"/>
              <a:t>Overloading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929910" y="2121355"/>
            <a:ext cx="7924800" cy="309857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Two meanings in Java: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Overloading based on </a:t>
            </a:r>
            <a:r>
              <a:rPr lang="en-US" altLang="en-US" b="1" dirty="0">
                <a:solidFill>
                  <a:srgbClr val="0070C0"/>
                </a:solidFill>
              </a:rPr>
              <a:t>Scopes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Overloading based on Type Signatures </a:t>
            </a:r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2CB9FF-C612-4684-9C09-85182581AE63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860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27213" y="957557"/>
            <a:ext cx="7772400" cy="616343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b="1" dirty="0"/>
              <a:t>Overloading Based on Scopes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27213" y="1748891"/>
            <a:ext cx="10417821" cy="488657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>
                <a:solidFill>
                  <a:srgbClr val="00B0F0"/>
                </a:solidFill>
              </a:rPr>
              <a:t>Same name </a:t>
            </a:r>
            <a:r>
              <a:rPr lang="en-US" altLang="en-US" sz="2800" dirty="0">
                <a:solidFill>
                  <a:schemeClr val="tx1"/>
                </a:solidFill>
              </a:rPr>
              <a:t>can appear in </a:t>
            </a:r>
            <a:r>
              <a:rPr lang="en-US" altLang="en-US" sz="2800" b="1" dirty="0">
                <a:solidFill>
                  <a:srgbClr val="FF0000"/>
                </a:solidFill>
              </a:rPr>
              <a:t>different</a:t>
            </a:r>
            <a:r>
              <a:rPr lang="en-US" altLang="en-US" sz="2800" b="1" dirty="0">
                <a:solidFill>
                  <a:schemeClr val="tx1"/>
                </a:solidFill>
              </a:rPr>
              <a:t>:</a:t>
            </a:r>
          </a:p>
          <a:p>
            <a:pPr eaLnBrk="1" hangingPunct="1"/>
            <a:endParaRPr lang="en-US" altLang="en-US" sz="2800" b="1" dirty="0">
              <a:solidFill>
                <a:srgbClr val="800000"/>
              </a:solidFill>
            </a:endParaRPr>
          </a:p>
          <a:p>
            <a:pPr eaLnBrk="1" hangingPunct="1"/>
            <a:r>
              <a:rPr lang="en-US" altLang="en-US" sz="2800" b="1" dirty="0">
                <a:solidFill>
                  <a:schemeClr val="tx1"/>
                </a:solidFill>
              </a:rPr>
              <a:t>Classes</a:t>
            </a:r>
            <a:r>
              <a:rPr lang="en-US" altLang="en-US" sz="2800" dirty="0">
                <a:solidFill>
                  <a:schemeClr val="tx1"/>
                </a:solidFill>
              </a:rPr>
              <a:t> or </a:t>
            </a:r>
            <a:r>
              <a:rPr lang="en-US" altLang="en-US" sz="2800" b="1" dirty="0">
                <a:solidFill>
                  <a:schemeClr val="tx1"/>
                </a:solidFill>
              </a:rPr>
              <a:t>interfaces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</a:p>
          <a:p>
            <a:pPr eaLnBrk="1" hangingPunct="1"/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800" b="1" dirty="0">
                <a:solidFill>
                  <a:schemeClr val="tx1"/>
                </a:solidFill>
              </a:rPr>
              <a:t>Packages</a:t>
            </a:r>
            <a:r>
              <a:rPr lang="en-US" altLang="en-US" sz="2800" dirty="0">
                <a:solidFill>
                  <a:schemeClr val="tx1"/>
                </a:solidFill>
              </a:rPr>
              <a:t> or </a:t>
            </a:r>
            <a:r>
              <a:rPr lang="en-US" altLang="en-US" sz="2800" b="1" dirty="0">
                <a:solidFill>
                  <a:schemeClr val="tx1"/>
                </a:solidFill>
              </a:rPr>
              <a:t>units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</a:p>
          <a:p>
            <a:pPr eaLnBrk="1" hangingPunct="1"/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800" b="1" dirty="0">
                <a:solidFill>
                  <a:schemeClr val="tx1"/>
                </a:solidFill>
              </a:rPr>
              <a:t>Methods</a:t>
            </a: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In some languages, even </a:t>
            </a:r>
            <a:r>
              <a:rPr lang="en-US" altLang="en-US" sz="2800" b="1" dirty="0">
                <a:solidFill>
                  <a:srgbClr val="FF0000"/>
                </a:solidFill>
              </a:rPr>
              <a:t>Blocks</a:t>
            </a:r>
            <a:r>
              <a:rPr lang="en-US" altLang="en-US" sz="2800" dirty="0"/>
              <a:t> </a:t>
            </a:r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437E4F-8DFA-4AF1-B166-4BF19DB50F45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372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976088"/>
            <a:ext cx="6876344" cy="5978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Overloading Based on Scopes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936516" y="1648273"/>
            <a:ext cx="10408518" cy="4995287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The same name can appear in two or more </a:t>
            </a:r>
            <a:r>
              <a:rPr lang="en-US" altLang="en-US" b="1" dirty="0">
                <a:solidFill>
                  <a:srgbClr val="0070C0"/>
                </a:solidFill>
              </a:rPr>
              <a:t>scopes</a:t>
            </a:r>
            <a:r>
              <a:rPr lang="en-US" altLang="en-US" dirty="0">
                <a:solidFill>
                  <a:schemeClr val="tx1"/>
                </a:solidFill>
              </a:rPr>
              <a:t>. 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Two </a:t>
            </a:r>
            <a:r>
              <a:rPr lang="en-US" altLang="en-US" b="1" dirty="0">
                <a:solidFill>
                  <a:srgbClr val="FF0000"/>
                </a:solidFill>
              </a:rPr>
              <a:t>different</a:t>
            </a:r>
            <a:r>
              <a:rPr lang="en-US" altLang="en-US" dirty="0">
                <a:solidFill>
                  <a:schemeClr val="tx1"/>
                </a:solidFill>
              </a:rPr>
              <a:t> classes may have the </a:t>
            </a:r>
            <a:r>
              <a:rPr lang="en-US" altLang="en-US" b="1" dirty="0">
                <a:solidFill>
                  <a:srgbClr val="00B050"/>
                </a:solidFill>
              </a:rPr>
              <a:t>same name </a:t>
            </a:r>
            <a:r>
              <a:rPr lang="en-US" altLang="en-US" dirty="0">
                <a:solidFill>
                  <a:schemeClr val="tx1"/>
                </a:solidFill>
              </a:rPr>
              <a:t>for a method.</a:t>
            </a:r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7824F7-F6F5-4F3A-93EA-DA230456ACA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432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1258" y="783763"/>
            <a:ext cx="7772400" cy="68580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200" dirty="0"/>
              <a:t>Overloading Based on Type Signatures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931258" y="1469563"/>
            <a:ext cx="10425914" cy="5084986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Method overloading allows </a:t>
            </a:r>
            <a:r>
              <a:rPr lang="en-US" altLang="en-US" sz="2400" b="1" dirty="0">
                <a:solidFill>
                  <a:srgbClr val="92D050"/>
                </a:solidFill>
              </a:rPr>
              <a:t>multiple implementations </a:t>
            </a:r>
            <a:r>
              <a:rPr lang="en-US" altLang="en-US" sz="2400" dirty="0">
                <a:solidFill>
                  <a:schemeClr val="tx1"/>
                </a:solidFill>
              </a:rPr>
              <a:t>(same scope) with </a:t>
            </a:r>
            <a:r>
              <a:rPr lang="en-US" altLang="en-US" sz="2400" b="1" dirty="0">
                <a:solidFill>
                  <a:srgbClr val="FF0000"/>
                </a:solidFill>
              </a:rPr>
              <a:t>different types</a:t>
            </a:r>
            <a:r>
              <a:rPr lang="en-US" altLang="en-US" sz="2400" dirty="0"/>
              <a:t>.</a:t>
            </a:r>
            <a:r>
              <a:rPr lang="en-US" altLang="en-US" sz="2800" dirty="0"/>
              <a:t> </a:t>
            </a:r>
          </a:p>
          <a:p>
            <a:pPr eaLnBrk="1" hangingPunct="1">
              <a:buFontTx/>
              <a:buNone/>
            </a:pPr>
            <a:endParaRPr lang="en-US" altLang="en-US" sz="20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class Example { 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	// same name, three different methods 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sum (</a:t>
            </a:r>
            <a:r>
              <a:rPr lang="en-US" altLang="en-US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a) { return a; } 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sum (</a:t>
            </a:r>
            <a:r>
              <a:rPr lang="en-US" altLang="en-US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a, </a:t>
            </a:r>
            <a:r>
              <a:rPr lang="en-US" altLang="en-US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b) { return a + b; } 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sum (</a:t>
            </a:r>
            <a:r>
              <a:rPr lang="en-US" altLang="en-US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a, </a:t>
            </a:r>
            <a:r>
              <a:rPr lang="en-US" altLang="en-US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b, </a:t>
            </a:r>
            <a:r>
              <a:rPr lang="en-US" altLang="en-US" sz="20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 c) { return a + b + c; } 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A type signature is the combination of argument types and return type. </a:t>
            </a:r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01ECC8-0825-4E32-8981-166D9D6C7AFF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CEC2BC-8287-4953-3D66-6F6CBD724A83}"/>
              </a:ext>
            </a:extLst>
          </p:cNvPr>
          <p:cNvSpPr txBox="1"/>
          <p:nvPr/>
        </p:nvSpPr>
        <p:spPr>
          <a:xfrm>
            <a:off x="3579963" y="4873925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Not possible in C</a:t>
            </a:r>
          </a:p>
        </p:txBody>
      </p:sp>
    </p:spTree>
    <p:extLst>
      <p:ext uri="{BB962C8B-B14F-4D97-AF65-F5344CB8AC3E}">
        <p14:creationId xmlns:p14="http://schemas.microsoft.com/office/powerpoint/2010/main" val="2439600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303E2-8347-A23F-D686-2479974AC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305219C-0227-0F00-61AB-6DEC31623F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29910" y="921143"/>
            <a:ext cx="2650816" cy="579929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 dirty="0"/>
              <a:t>Overloading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EAF38C4-24B3-0358-3E43-681E6FFD7D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9910" y="2121355"/>
            <a:ext cx="7924800" cy="4568371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In C and C++: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C </a:t>
            </a:r>
            <a:r>
              <a:rPr lang="en-US" altLang="en-US" b="1" dirty="0">
                <a:solidFill>
                  <a:srgbClr val="FF0000"/>
                </a:solidFill>
              </a:rPr>
              <a:t>no</a:t>
            </a:r>
            <a:r>
              <a:rPr lang="en-US" altLang="en-US" dirty="0">
                <a:solidFill>
                  <a:schemeClr val="tx1"/>
                </a:solidFill>
              </a:rPr>
              <a:t> overloading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C++ overloading </a:t>
            </a:r>
            <a:r>
              <a:rPr lang="en-US" altLang="en-US" b="1" dirty="0">
                <a:solidFill>
                  <a:srgbClr val="00B050"/>
                </a:solidFill>
              </a:rPr>
              <a:t>allowed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buNone/>
            </a:pPr>
            <a:endParaRPr lang="en-US" altLang="en-US" dirty="0"/>
          </a:p>
        </p:txBody>
      </p:sp>
      <p:sp>
        <p:nvSpPr>
          <p:cNvPr id="4100" name="Slide Number Placeholder 5">
            <a:extLst>
              <a:ext uri="{FF2B5EF4-FFF2-40B4-BE49-F238E27FC236}">
                <a16:creationId xmlns:a16="http://schemas.microsoft.com/office/drawing/2014/main" id="{7F0C9D2B-ED9D-42B7-4341-4F438C25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2CB9FF-C612-4684-9C09-85182581AE63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3EBA7E-3788-920D-FCF5-EC5E0787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099" y="1112238"/>
            <a:ext cx="4622909" cy="521236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157011-528D-51F3-5D93-3309ECE53474}"/>
              </a:ext>
            </a:extLst>
          </p:cNvPr>
          <p:cNvSpPr/>
          <p:nvPr/>
        </p:nvSpPr>
        <p:spPr>
          <a:xfrm>
            <a:off x="6584919" y="1672090"/>
            <a:ext cx="1026337" cy="176115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665003-4FD4-4C50-7BB0-010E2DFFDF3B}"/>
              </a:ext>
            </a:extLst>
          </p:cNvPr>
          <p:cNvSpPr/>
          <p:nvPr/>
        </p:nvSpPr>
        <p:spPr>
          <a:xfrm>
            <a:off x="7478419" y="5097852"/>
            <a:ext cx="1026337" cy="176115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CDEBA4-A8EF-35C8-C30F-D6741D91A9AA}"/>
              </a:ext>
            </a:extLst>
          </p:cNvPr>
          <p:cNvSpPr/>
          <p:nvPr/>
        </p:nvSpPr>
        <p:spPr>
          <a:xfrm>
            <a:off x="6584920" y="2551983"/>
            <a:ext cx="1026337" cy="176115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E2123E-DFEE-890D-949C-825335C2C91B}"/>
              </a:ext>
            </a:extLst>
          </p:cNvPr>
          <p:cNvSpPr/>
          <p:nvPr/>
        </p:nvSpPr>
        <p:spPr>
          <a:xfrm>
            <a:off x="7116232" y="3461831"/>
            <a:ext cx="1026337" cy="176115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7C514C-7851-2554-F8CD-BB1A02C0F144}"/>
              </a:ext>
            </a:extLst>
          </p:cNvPr>
          <p:cNvSpPr/>
          <p:nvPr/>
        </p:nvSpPr>
        <p:spPr>
          <a:xfrm>
            <a:off x="6844603" y="5971296"/>
            <a:ext cx="1026337" cy="176115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B58FB5-7857-1BE2-434C-22E28125BD4B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3454400" y="3312543"/>
            <a:ext cx="2636699" cy="405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555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31933" y="949465"/>
            <a:ext cx="2899646" cy="527331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 dirty="0"/>
              <a:t>Redefinition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931930" y="1553671"/>
            <a:ext cx="10409058" cy="5073706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A child class change the type-signature of a method in the parent class:</a:t>
            </a:r>
          </a:p>
          <a:p>
            <a:pPr marL="0" indent="0" eaLnBrk="1" hangingPunct="1"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indent="0" eaLnBrk="1" hangingPunct="1"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Basically: Overloading</a:t>
            </a: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40501B-70AD-4CC2-B821-2CF68E91FF0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97" y="2014206"/>
            <a:ext cx="3282129" cy="9198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096" y="3177886"/>
            <a:ext cx="3238585" cy="9579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96" y="4339889"/>
            <a:ext cx="3238585" cy="9994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0849" y="5484187"/>
            <a:ext cx="3322377" cy="88275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42009" y="2163552"/>
            <a:ext cx="448574" cy="208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11096" y="5925593"/>
            <a:ext cx="724451" cy="2284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4BA0EBA-D41B-8BA5-0302-16B7F9538D09}"/>
              </a:ext>
            </a:extLst>
          </p:cNvPr>
          <p:cNvSpPr txBox="1">
            <a:spLocks/>
          </p:cNvSpPr>
          <p:nvPr/>
        </p:nvSpPr>
        <p:spPr>
          <a:xfrm>
            <a:off x="6721268" y="6207567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C_FinalMethodsFinalClasses.D_Overloading.Foo</a:t>
            </a:r>
            <a:r>
              <a:rPr lang="en-US" dirty="0">
                <a:solidFill>
                  <a:srgbClr val="C00000"/>
                </a:solidFill>
              </a:rPr>
              <a:t> &amp; Bar”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DCEC0-5348-CCEC-0CC7-FE639E4F2119}"/>
              </a:ext>
            </a:extLst>
          </p:cNvPr>
          <p:cNvSpPr/>
          <p:nvPr/>
        </p:nvSpPr>
        <p:spPr>
          <a:xfrm>
            <a:off x="6152161" y="3335401"/>
            <a:ext cx="1007764" cy="208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23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CB00F-53DF-9A96-39AF-A4A48D1FB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034E-A84C-EE8F-0ADB-175355E4D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Overriding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078FBDE3-AA24-6443-D8D8-CA95459741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AA101E-127A-4DAF-B4E5-EFA483F29B1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542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34405" y="864501"/>
            <a:ext cx="2519995" cy="523284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Overriding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34404" y="1521303"/>
            <a:ext cx="10418721" cy="5122258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A derived class </a:t>
            </a:r>
            <a:r>
              <a:rPr lang="en-US" altLang="en-US" sz="2800" b="1" dirty="0">
                <a:solidFill>
                  <a:srgbClr val="92D050"/>
                </a:solidFill>
              </a:rPr>
              <a:t>can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FF0000"/>
                </a:solidFill>
              </a:rPr>
              <a:t>override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information of its base class.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>
                <a:solidFill>
                  <a:schemeClr val="tx1"/>
                </a:solidFill>
              </a:rPr>
              <a:t>When?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Both methods have the </a:t>
            </a:r>
            <a:r>
              <a:rPr lang="en-US" altLang="en-US" b="1" dirty="0">
                <a:solidFill>
                  <a:srgbClr val="92D050"/>
                </a:solidFill>
              </a:rPr>
              <a:t>same signature!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The derived class method can be a </a:t>
            </a:r>
            <a:r>
              <a:rPr lang="en-US" altLang="en-US" b="1" i="1" dirty="0">
                <a:solidFill>
                  <a:srgbClr val="00B0F0"/>
                </a:solidFill>
              </a:rPr>
              <a:t>refinement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of the base class method. </a:t>
            </a:r>
          </a:p>
          <a:p>
            <a:pPr lvl="1" eaLnBrk="1" hangingPunct="1"/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Eg: the </a:t>
            </a:r>
            <a:r>
              <a:rPr lang="en-US" altLang="en-US" dirty="0">
                <a:solidFill>
                  <a:srgbClr val="FF0000"/>
                </a:solidFill>
              </a:rPr>
              <a:t>print()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in classes Circle and Rectangle in </a:t>
            </a:r>
            <a:r>
              <a:rPr lang="en-US" altLang="en-US" b="1" dirty="0">
                <a:solidFill>
                  <a:schemeClr val="tx1"/>
                </a:solidFill>
              </a:rPr>
              <a:t>Shapes</a:t>
            </a:r>
            <a:r>
              <a:rPr lang="en-US" altLang="en-US" dirty="0">
                <a:solidFill>
                  <a:schemeClr val="tx1"/>
                </a:solidFill>
              </a:rPr>
              <a:t> hierarchy.</a:t>
            </a:r>
          </a:p>
          <a:p>
            <a:pPr lvl="1" eaLnBrk="1" hangingPunct="1"/>
            <a:endParaRPr lang="en-US" altLang="en-US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</a:rPr>
              <a:t>The derived class can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7030A0"/>
                </a:solidFill>
              </a:rPr>
              <a:t>re-implement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the inherited method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b="1" dirty="0">
                <a:solidFill>
                  <a:srgbClr val="7030A0"/>
                </a:solidFill>
              </a:rPr>
              <a:t>replacement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for better performance). </a:t>
            </a: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41ADDD-E0EC-4DCE-A2DA-5AFA6F0FA33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31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51489" y="973741"/>
            <a:ext cx="2285325" cy="533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Overriding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951488" y="1749229"/>
            <a:ext cx="10389499" cy="489028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Overriding only occurs in the context of the </a:t>
            </a:r>
            <a:r>
              <a:rPr lang="en-US" altLang="en-US" sz="2800" b="1" dirty="0">
                <a:solidFill>
                  <a:srgbClr val="92D050"/>
                </a:solidFill>
              </a:rPr>
              <a:t>parent/child </a:t>
            </a:r>
            <a:r>
              <a:rPr lang="en-US" altLang="en-US" sz="2800" dirty="0">
                <a:solidFill>
                  <a:schemeClr val="tx1"/>
                </a:solidFill>
              </a:rPr>
              <a:t>relationship.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The type signatures </a:t>
            </a:r>
            <a:r>
              <a:rPr lang="en-US" altLang="en-US" sz="2800" b="1" dirty="0">
                <a:solidFill>
                  <a:srgbClr val="FF0000"/>
                </a:solidFill>
              </a:rPr>
              <a:t>must match!</a:t>
            </a:r>
            <a:r>
              <a:rPr lang="en-US" altLang="en-US" sz="2800" dirty="0">
                <a:solidFill>
                  <a:schemeClr val="tx1"/>
                </a:solidFill>
              </a:rPr>
              <a:t>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Overriding is resolved at </a:t>
            </a:r>
            <a:r>
              <a:rPr lang="en-US" altLang="en-US" sz="2800" b="1" dirty="0">
                <a:solidFill>
                  <a:srgbClr val="FF0000"/>
                </a:solidFill>
              </a:rPr>
              <a:t>run-time</a:t>
            </a:r>
            <a:r>
              <a:rPr lang="en-US" altLang="en-US" sz="2800" dirty="0">
                <a:solidFill>
                  <a:schemeClr val="tx1"/>
                </a:solidFill>
              </a:rPr>
              <a:t>, not at compile time!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Use @Override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17BE5F-9CB0-4ED5-BB7F-C01D459BCC9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679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678A2-3317-0968-39AA-D8C6F61E4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206E5-4593-D017-03CB-3A3F3D8BF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Replacement / Refinement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83445F71-DF15-6FEA-F20A-9E8175A1772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AA101E-127A-4DAF-B4E5-EFA483F29B1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110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33956" y="899565"/>
            <a:ext cx="6652327" cy="609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Replacement and Refinement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933956" y="1604245"/>
            <a:ext cx="10415124" cy="5031224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There are two different overriding ways: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A</a:t>
            </a:r>
            <a:r>
              <a:rPr lang="en-US" altLang="en-US" sz="2800" dirty="0"/>
              <a:t> </a:t>
            </a:r>
            <a:r>
              <a:rPr lang="en-US" altLang="en-US" sz="2800" b="1" i="1" dirty="0">
                <a:solidFill>
                  <a:srgbClr val="7030A0"/>
                </a:solidFill>
              </a:rPr>
              <a:t>replacement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completely replaces the code.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A</a:t>
            </a:r>
            <a:r>
              <a:rPr lang="en-US" altLang="en-US" sz="2800" dirty="0"/>
              <a:t> </a:t>
            </a:r>
            <a:r>
              <a:rPr lang="en-US" altLang="en-US" sz="2800" b="1" i="1" dirty="0">
                <a:solidFill>
                  <a:srgbClr val="00B0F0"/>
                </a:solidFill>
              </a:rPr>
              <a:t>refinement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executes the code in the parent class, 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>
                <a:solidFill>
                  <a:schemeClr val="tx1"/>
                </a:solidFill>
              </a:rPr>
              <a:t>and adds to it the code in the child class.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Constructors, for example, </a:t>
            </a:r>
            <a:r>
              <a:rPr lang="en-US" altLang="en-US" sz="2800" b="1" dirty="0">
                <a:solidFill>
                  <a:srgbClr val="7030A0"/>
                </a:solidFill>
              </a:rPr>
              <a:t>can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use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00B0F0"/>
                </a:solidFill>
              </a:rPr>
              <a:t>refinement </a:t>
            </a:r>
            <a:r>
              <a:rPr lang="en-US" altLang="en-US" sz="2400" dirty="0">
                <a:solidFill>
                  <a:schemeClr val="tx1"/>
                </a:solidFill>
              </a:rPr>
              <a:t>(constructor chaining)</a:t>
            </a:r>
            <a:r>
              <a:rPr lang="en-US" altLang="en-US" sz="28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DFD051-C5F3-4D37-87A3-6F2586935962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004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11028" y="979135"/>
            <a:ext cx="6650979" cy="685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Reasons to use </a:t>
            </a:r>
            <a:r>
              <a:rPr lang="en-US" dirty="0">
                <a:solidFill>
                  <a:srgbClr val="7030A0"/>
                </a:solidFill>
              </a:rPr>
              <a:t>replacement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911028" y="1867911"/>
            <a:ext cx="10442098" cy="4779696"/>
          </a:xfrm>
        </p:spPr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The method in the parent class is </a:t>
            </a:r>
            <a:r>
              <a:rPr lang="en-US" altLang="en-US" b="1" dirty="0">
                <a:solidFill>
                  <a:srgbClr val="FF0000"/>
                </a:solidFill>
              </a:rPr>
              <a:t>abstract</a:t>
            </a:r>
            <a:r>
              <a:rPr lang="en-US" altLang="en-US" dirty="0">
                <a:solidFill>
                  <a:schemeClr val="tx1"/>
                </a:solidFill>
              </a:rPr>
              <a:t> it must be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7030A0"/>
                </a:solidFill>
              </a:rPr>
              <a:t>replaced</a:t>
            </a:r>
            <a:r>
              <a:rPr lang="en-US" altLang="en-US" dirty="0"/>
              <a:t>. </a:t>
            </a:r>
          </a:p>
          <a:p>
            <a:pPr marL="0" indent="0" eaLnBrk="1" hangingPunct="1">
              <a:buNone/>
            </a:pPr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The method in the parent can be </a:t>
            </a:r>
            <a:r>
              <a:rPr lang="en-US" altLang="en-US" b="1" dirty="0">
                <a:solidFill>
                  <a:srgbClr val="92D050"/>
                </a:solidFill>
              </a:rPr>
              <a:t>more efficiently implemented</a:t>
            </a:r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rgbClr val="800000"/>
                </a:solidFill>
              </a:rPr>
              <a:t>Overriding for optimization</a:t>
            </a:r>
            <a:endParaRPr lang="en-US" altLang="en-US" dirty="0"/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6EC4CF-BAB7-4CBC-ABE2-ADA56F0D7236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511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31258" y="875289"/>
            <a:ext cx="8001000" cy="685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Reasons to use </a:t>
            </a:r>
            <a:r>
              <a:rPr lang="en-US" dirty="0">
                <a:solidFill>
                  <a:srgbClr val="7030A0"/>
                </a:solidFill>
              </a:rPr>
              <a:t>replacement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931258" y="1669656"/>
            <a:ext cx="10409730" cy="4965813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Example</a:t>
            </a:r>
            <a:r>
              <a:rPr lang="en-US" altLang="en-US" sz="2800" dirty="0">
                <a:solidFill>
                  <a:schemeClr val="tx1"/>
                </a:solidFill>
              </a:rPr>
              <a:t>: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A superclass, </a:t>
            </a:r>
            <a:r>
              <a:rPr lang="en-US" altLang="en-US" sz="2400" b="1" dirty="0" err="1">
                <a:solidFill>
                  <a:srgbClr val="00B0F0"/>
                </a:solidFill>
              </a:rPr>
              <a:t>IntegerSet</a:t>
            </a:r>
            <a:r>
              <a:rPr lang="en-US" altLang="en-US" sz="2400" dirty="0">
                <a:solidFill>
                  <a:schemeClr val="tx1"/>
                </a:solidFill>
              </a:rPr>
              <a:t> have an operation to find the </a:t>
            </a:r>
            <a:r>
              <a:rPr lang="en-US" altLang="en-US" sz="2400" i="1" dirty="0">
                <a:solidFill>
                  <a:schemeClr val="tx1"/>
                </a:solidFill>
              </a:rPr>
              <a:t>max</a:t>
            </a:r>
            <a:r>
              <a:rPr lang="en-US" altLang="en-US" sz="2400" dirty="0">
                <a:solidFill>
                  <a:schemeClr val="tx1"/>
                </a:solidFill>
              </a:rPr>
              <a:t> integer,  </a:t>
            </a:r>
            <a:br>
              <a:rPr lang="en-US" altLang="en-US" sz="2400" dirty="0">
                <a:solidFill>
                  <a:schemeClr val="tx1"/>
                </a:solidFill>
              </a:rPr>
            </a:br>
            <a:br>
              <a:rPr lang="en-US" altLang="en-US" sz="2400" dirty="0">
                <a:solidFill>
                  <a:schemeClr val="tx1"/>
                </a:solidFill>
              </a:rPr>
            </a:br>
            <a:r>
              <a:rPr lang="en-US" altLang="en-US" sz="2400" dirty="0">
                <a:solidFill>
                  <a:schemeClr val="tx1"/>
                </a:solidFill>
              </a:rPr>
              <a:t>search is implemented as a sequential search.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The subclass, </a:t>
            </a:r>
            <a:r>
              <a:rPr lang="en-US" altLang="en-US" sz="2400" b="1" dirty="0" err="1">
                <a:solidFill>
                  <a:srgbClr val="7030A0"/>
                </a:solidFill>
              </a:rPr>
              <a:t>SortedIntegerSet</a:t>
            </a:r>
            <a:r>
              <a:rPr lang="en-US" altLang="en-US" sz="2400" dirty="0">
                <a:solidFill>
                  <a:schemeClr val="tx1"/>
                </a:solidFill>
              </a:rPr>
              <a:t> implement the </a:t>
            </a:r>
            <a:r>
              <a:rPr lang="en-US" altLang="en-US" sz="2400" i="1" dirty="0">
                <a:solidFill>
                  <a:schemeClr val="tx1"/>
                </a:solidFill>
              </a:rPr>
              <a:t>max integer</a:t>
            </a:r>
            <a:r>
              <a:rPr lang="en-US" altLang="en-US" sz="2400" dirty="0">
                <a:solidFill>
                  <a:schemeClr val="tx1"/>
                </a:solidFill>
              </a:rPr>
              <a:t> operation </a:t>
            </a:r>
            <a:br>
              <a:rPr lang="en-US" altLang="en-US" sz="2400" dirty="0">
                <a:solidFill>
                  <a:schemeClr val="tx1"/>
                </a:solidFill>
              </a:rPr>
            </a:br>
            <a:br>
              <a:rPr lang="en-US" altLang="en-US" sz="2400" dirty="0">
                <a:solidFill>
                  <a:schemeClr val="tx1"/>
                </a:solidFill>
              </a:rPr>
            </a:br>
            <a:r>
              <a:rPr lang="en-US" altLang="en-US" sz="2400" dirty="0">
                <a:solidFill>
                  <a:schemeClr val="tx1"/>
                </a:solidFill>
              </a:rPr>
              <a:t>using a </a:t>
            </a:r>
            <a:r>
              <a:rPr lang="en-US" altLang="en-US" sz="2400" b="1" dirty="0">
                <a:solidFill>
                  <a:srgbClr val="92D050"/>
                </a:solidFill>
              </a:rPr>
              <a:t>more efficient search</a:t>
            </a:r>
            <a:r>
              <a:rPr lang="en-US" altLang="en-US" sz="2400" b="1" dirty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</a:rPr>
              <a:t>(</a:t>
            </a:r>
            <a:r>
              <a:rPr lang="en-US" altLang="en-US" dirty="0">
                <a:solidFill>
                  <a:schemeClr val="tx1"/>
                </a:solidFill>
              </a:rPr>
              <a:t>since the integers are already sorted).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2" eaLnBrk="1" hangingPunct="1">
              <a:lnSpc>
                <a:spcPct val="90000"/>
              </a:lnSpc>
            </a:pPr>
            <a:endParaRPr lang="en-US" altLang="en-US" dirty="0"/>
          </a:p>
          <a:p>
            <a:pPr lvl="2" eaLnBrk="1" hangingPunct="1">
              <a:lnSpc>
                <a:spcPct val="9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dirty="0"/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385E7D-2967-40ED-8471-631EB404351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699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23167" y="1037804"/>
            <a:ext cx="2531233" cy="533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00B0F0"/>
                </a:solidFill>
              </a:rPr>
              <a:t>Refinement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923167" y="1852402"/>
            <a:ext cx="10434005" cy="4763512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b="1" dirty="0">
                <a:solidFill>
                  <a:srgbClr val="00B0F0"/>
                </a:solidFill>
              </a:rPr>
              <a:t>Refinement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is also called “</a:t>
            </a:r>
            <a:r>
              <a:rPr lang="en-US" altLang="en-US" sz="2800" b="1" dirty="0">
                <a:solidFill>
                  <a:schemeClr val="tx1"/>
                </a:solidFill>
              </a:rPr>
              <a:t>Overriding for Extension”: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The “</a:t>
            </a:r>
            <a:r>
              <a:rPr lang="en-US" altLang="en-US" sz="2800" b="1" dirty="0">
                <a:solidFill>
                  <a:srgbClr val="FF0000"/>
                </a:solidFill>
              </a:rPr>
              <a:t>new</a:t>
            </a:r>
            <a:r>
              <a:rPr lang="en-US" altLang="en-US" sz="2800" dirty="0">
                <a:solidFill>
                  <a:schemeClr val="tx1"/>
                </a:solidFill>
              </a:rPr>
              <a:t>” operation in the subclass is basically the same 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>
                <a:solidFill>
                  <a:schemeClr val="tx1"/>
                </a:solidFill>
              </a:rPr>
              <a:t>as the inherited operation.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But it </a:t>
            </a:r>
            <a:r>
              <a:rPr lang="en-US" altLang="en-US" sz="2800" b="1" dirty="0">
                <a:solidFill>
                  <a:srgbClr val="00B0F0"/>
                </a:solidFill>
              </a:rPr>
              <a:t>adds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some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00B0F0"/>
                </a:solidFill>
              </a:rPr>
              <a:t>new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chemeClr val="tx1"/>
                </a:solidFill>
              </a:rPr>
              <a:t>behavior</a:t>
            </a:r>
            <a:r>
              <a:rPr lang="en-US" altLang="en-US" sz="2000" dirty="0">
                <a:solidFill>
                  <a:schemeClr val="tx1"/>
                </a:solidFill>
              </a:rPr>
              <a:t> (constructor chaining).</a:t>
            </a: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Careful, not to create duplicate code fragments!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4E16DA-4D7E-4F14-9CBB-1C8F94508DC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894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23167" y="1037804"/>
            <a:ext cx="2531233" cy="533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00B0F0"/>
                </a:solidFill>
              </a:rPr>
              <a:t>Refinement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923167" y="1852402"/>
            <a:ext cx="10434005" cy="4763512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800" b="1" dirty="0">
                <a:solidFill>
                  <a:schemeClr val="tx1"/>
                </a:solidFill>
              </a:rPr>
              <a:t>Example: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Assume A </a:t>
            </a:r>
            <a:r>
              <a:rPr lang="en-US" altLang="en-US" sz="2400" b="1" dirty="0">
                <a:solidFill>
                  <a:schemeClr val="tx1"/>
                </a:solidFill>
              </a:rPr>
              <a:t>Window</a:t>
            </a:r>
            <a:r>
              <a:rPr lang="en-US" altLang="en-US" sz="2400" dirty="0">
                <a:solidFill>
                  <a:schemeClr val="tx1"/>
                </a:solidFill>
              </a:rPr>
              <a:t> class with an operation </a:t>
            </a:r>
            <a:r>
              <a:rPr lang="en-US" altLang="en-US" sz="2400" i="1" dirty="0">
                <a:solidFill>
                  <a:schemeClr val="tx1"/>
                </a:solidFill>
              </a:rPr>
              <a:t>draw()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1"/>
            <a:r>
              <a:rPr lang="en-US" altLang="en-US" sz="2200" dirty="0">
                <a:solidFill>
                  <a:schemeClr val="tx1"/>
                </a:solidFill>
              </a:rPr>
              <a:t>Which draws the window boundary and contents.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tx1"/>
                </a:solidFill>
              </a:rPr>
              <a:t>The class </a:t>
            </a:r>
            <a:r>
              <a:rPr lang="en-US" altLang="en-US" sz="2400" b="1" dirty="0" err="1">
                <a:solidFill>
                  <a:schemeClr val="tx1"/>
                </a:solidFill>
              </a:rPr>
              <a:t>LabeledWindow</a:t>
            </a:r>
            <a:r>
              <a:rPr lang="en-US" altLang="en-US" sz="2400" dirty="0">
                <a:solidFill>
                  <a:schemeClr val="tx1"/>
                </a:solidFill>
              </a:rPr>
              <a:t> is a subclass, with a </a:t>
            </a:r>
            <a:r>
              <a:rPr lang="en-US" altLang="en-US" sz="2400" i="1" dirty="0">
                <a:solidFill>
                  <a:schemeClr val="tx1"/>
                </a:solidFill>
              </a:rPr>
              <a:t>draw()</a:t>
            </a:r>
            <a:r>
              <a:rPr lang="en-US" altLang="en-US" sz="2400" dirty="0">
                <a:solidFill>
                  <a:schemeClr val="tx1"/>
                </a:solidFill>
              </a:rPr>
              <a:t> operation that draws a window by invoking the superclass draw() method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i="1" dirty="0">
              <a:solidFill>
                <a:schemeClr val="tx1"/>
              </a:solidFill>
            </a:endParaRPr>
          </a:p>
          <a:p>
            <a:pPr lvl="1"/>
            <a:r>
              <a:rPr lang="en-US" altLang="en-US" sz="2200" dirty="0">
                <a:solidFill>
                  <a:schemeClr val="tx1"/>
                </a:solidFill>
              </a:rPr>
              <a:t>But </a:t>
            </a:r>
            <a:r>
              <a:rPr lang="en-US" altLang="en-US" sz="2200" b="1" dirty="0">
                <a:solidFill>
                  <a:schemeClr val="tx1"/>
                </a:solidFill>
              </a:rPr>
              <a:t>adds code to draw label(s)</a:t>
            </a:r>
            <a:r>
              <a:rPr lang="en-US" altLang="en-US" sz="2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4E16DA-4D7E-4F14-9CBB-1C8F94508DC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22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516" y="1093423"/>
            <a:ext cx="6669997" cy="59376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Constructors use </a:t>
            </a:r>
            <a:r>
              <a:rPr lang="en-US" dirty="0">
                <a:solidFill>
                  <a:srgbClr val="00B0F0"/>
                </a:solidFill>
              </a:rPr>
              <a:t>Refinement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936516" y="2145934"/>
            <a:ext cx="10404472" cy="443289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In most languages that have constructors, </a:t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a constructor will use </a:t>
            </a:r>
            <a:r>
              <a:rPr lang="en-US" altLang="en-US" b="1" dirty="0">
                <a:solidFill>
                  <a:srgbClr val="00B0F0"/>
                </a:solidFill>
              </a:rPr>
              <a:t>refinement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(super() this())</a:t>
            </a:r>
          </a:p>
          <a:p>
            <a:pPr marL="0" indent="0" eaLnBrk="1" hangingPunct="1">
              <a:buNone/>
            </a:pPr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This guarantees that the parent initialization will be included as part of the initialization of the child class (if wanted). 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Java does not have </a:t>
            </a:r>
            <a:r>
              <a:rPr lang="en-US" altLang="en-US" b="1" dirty="0">
                <a:solidFill>
                  <a:srgbClr val="00B0F0"/>
                </a:solidFill>
              </a:rPr>
              <a:t>Refinement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/>
                </a:solidFill>
              </a:rPr>
              <a:t>for class/object methods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6D1D05-990D-4173-B733-0AD77E60290F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545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72FE1-72E7-C595-6201-1E4D4A25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98818-31CB-9CA6-C9CF-A03EDCC6A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Overriding vs Shadowing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3021F172-4769-3E28-AD7D-1B1DDC5E408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AA101E-127A-4DAF-B4E5-EFA483F29B1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703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48117" y="843595"/>
            <a:ext cx="6079816" cy="6858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br>
              <a:rPr lang="en-US" b="1" dirty="0"/>
            </a:br>
            <a:r>
              <a:rPr lang="en-US" b="1" dirty="0"/>
              <a:t>Overriding versus </a:t>
            </a:r>
            <a:r>
              <a:rPr lang="en-US" b="1" dirty="0">
                <a:solidFill>
                  <a:srgbClr val="FF0000"/>
                </a:solidFill>
              </a:rPr>
              <a:t>Shadowing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948117" y="1633241"/>
            <a:ext cx="10380733" cy="4998181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It is a common practice to </a:t>
            </a:r>
            <a:r>
              <a:rPr lang="en-US" altLang="en-US" sz="2400" b="1" dirty="0">
                <a:solidFill>
                  <a:srgbClr val="FF0000"/>
                </a:solidFill>
              </a:rPr>
              <a:t>shadow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a previous variable of the same name</a:t>
            </a:r>
            <a:r>
              <a:rPr lang="en-US" altLang="en-US" sz="2400" dirty="0"/>
              <a:t>: </a:t>
            </a: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A78908-E92C-4E66-9A1D-781B24B1E3A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60" y="2156119"/>
            <a:ext cx="3482835" cy="41101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059" y="3611026"/>
            <a:ext cx="6226791" cy="1529483"/>
          </a:xfrm>
          <a:prstGeom prst="rect">
            <a:avLst/>
          </a:prstGeom>
        </p:spPr>
      </p:pic>
      <p:cxnSp>
        <p:nvCxnSpPr>
          <p:cNvPr id="5" name="Straight Arrow Connector 4"/>
          <p:cNvCxnSpPr>
            <a:stCxn id="3" idx="1"/>
          </p:cNvCxnSpPr>
          <p:nvPr/>
        </p:nvCxnSpPr>
        <p:spPr>
          <a:xfrm flipH="1">
            <a:off x="4215950" y="4375768"/>
            <a:ext cx="886109" cy="22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80888" y="5244355"/>
            <a:ext cx="3698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But this type of shadowing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does not work anymore in Java!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023CB8-6794-6D44-4E04-100F3EDCA0DB}"/>
              </a:ext>
            </a:extLst>
          </p:cNvPr>
          <p:cNvSpPr txBox="1">
            <a:spLocks/>
          </p:cNvSpPr>
          <p:nvPr/>
        </p:nvSpPr>
        <p:spPr>
          <a:xfrm>
            <a:off x="6738992" y="6184589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E_OverridingVsShadowing.Silly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4239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40025" y="790996"/>
            <a:ext cx="2753989" cy="76200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b="1" dirty="0"/>
              <a:t>Shadowing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40024" y="1552996"/>
            <a:ext cx="10400963" cy="425507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Java allows instance variables to be redefined, and uses shadowing</a:t>
            </a:r>
            <a:r>
              <a:rPr lang="en-US" altLang="en-US" sz="2800" dirty="0"/>
              <a:t>:</a:t>
            </a:r>
          </a:p>
        </p:txBody>
      </p:sp>
      <p:sp>
        <p:nvSpPr>
          <p:cNvPr id="2355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F85B0A-820C-4A09-8929-905413E2BC97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75" y="2108785"/>
            <a:ext cx="2125533" cy="6705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75" y="3162824"/>
            <a:ext cx="4710664" cy="6591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575" y="4061210"/>
            <a:ext cx="3625038" cy="21989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4250" y="3949283"/>
            <a:ext cx="1876687" cy="1943371"/>
          </a:xfrm>
          <a:prstGeom prst="rect">
            <a:avLst/>
          </a:prstGeom>
        </p:spPr>
      </p:pic>
      <p:cxnSp>
        <p:nvCxnSpPr>
          <p:cNvPr id="8" name="Straight Arrow Connector 7"/>
          <p:cNvCxnSpPr>
            <a:cxnSpLocks/>
            <a:endCxn id="6" idx="1"/>
          </p:cNvCxnSpPr>
          <p:nvPr/>
        </p:nvCxnSpPr>
        <p:spPr>
          <a:xfrm>
            <a:off x="3716771" y="4681242"/>
            <a:ext cx="2507479" cy="239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>
            <a:off x="3757231" y="5227455"/>
            <a:ext cx="24670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</p:cNvCxnSpPr>
          <p:nvPr/>
        </p:nvCxnSpPr>
        <p:spPr>
          <a:xfrm flipV="1">
            <a:off x="3716771" y="5594684"/>
            <a:ext cx="2507479" cy="186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06312D-C333-3F96-6EE8-0982BC1A7BDD}"/>
              </a:ext>
            </a:extLst>
          </p:cNvPr>
          <p:cNvSpPr txBox="1">
            <a:spLocks/>
          </p:cNvSpPr>
          <p:nvPr/>
        </p:nvSpPr>
        <p:spPr>
          <a:xfrm>
            <a:off x="6738992" y="6184589"/>
            <a:ext cx="4633801" cy="44756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CSEN160_04_Lecture_JavaInMoreDetailsPlusExceptions: “</a:t>
            </a:r>
            <a:r>
              <a:rPr lang="en-US" dirty="0" err="1">
                <a:solidFill>
                  <a:srgbClr val="C00000"/>
                </a:solidFill>
              </a:rPr>
              <a:t>F_OverridingVsShadowing.Silly</a:t>
            </a:r>
            <a:r>
              <a:rPr lang="en-US" dirty="0">
                <a:solidFill>
                  <a:srgbClr val="C0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1864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624338" y="3112386"/>
            <a:ext cx="9166391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Question: Shadowing recommended?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7598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911352"/>
            <a:ext cx="6496019" cy="55735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Method signatures in Overriding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936516" y="1664795"/>
            <a:ext cx="10376149" cy="498685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Note the following: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In Java and C++, signature of the overriding method must match </a:t>
            </a:r>
            <a:r>
              <a:rPr lang="en-US" altLang="en-US" b="1" dirty="0">
                <a:solidFill>
                  <a:srgbClr val="00B050"/>
                </a:solidFill>
              </a:rPr>
              <a:t>exactly</a:t>
            </a:r>
            <a:r>
              <a:rPr lang="en-US" altLang="en-US" dirty="0">
                <a:solidFill>
                  <a:schemeClr val="tx1"/>
                </a:solidFill>
              </a:rPr>
              <a:t> the signature of the overridden method.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In Java use always the </a:t>
            </a:r>
            <a:r>
              <a:rPr lang="en-US" altLang="en-US" b="1" dirty="0">
                <a:solidFill>
                  <a:srgbClr val="FF0000"/>
                </a:solidFill>
              </a:rPr>
              <a:t>@Override </a:t>
            </a:r>
            <a:r>
              <a:rPr lang="en-US" altLang="en-US" dirty="0">
                <a:solidFill>
                  <a:schemeClr val="tx1"/>
                </a:solidFill>
              </a:rPr>
              <a:t>annotation</a:t>
            </a:r>
          </a:p>
          <a:p>
            <a:pPr eaLnBrk="1" hangingPunct="1"/>
            <a:endParaRPr lang="en-US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With </a:t>
            </a:r>
            <a:r>
              <a:rPr lang="en-US" altLang="en-US" b="1" dirty="0">
                <a:solidFill>
                  <a:srgbClr val="FF0000"/>
                </a:solidFill>
              </a:rPr>
              <a:t>@Override </a:t>
            </a:r>
            <a:r>
              <a:rPr lang="en-US" altLang="en-US" dirty="0">
                <a:solidFill>
                  <a:schemeClr val="tx1"/>
                </a:solidFill>
              </a:rPr>
              <a:t>the compiler tell you if something is </a:t>
            </a:r>
            <a:r>
              <a:rPr lang="en-US" altLang="en-US" b="1" dirty="0">
                <a:solidFill>
                  <a:srgbClr val="FF0000"/>
                </a:solidFill>
              </a:rPr>
              <a:t>wrong!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1F99B7-AFBE-423D-8E3F-AA72911D6BC8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1148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Done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82285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1511</TotalTime>
  <Words>1079</Words>
  <Application>Microsoft Office PowerPoint</Application>
  <PresentationFormat>Widescreen</PresentationFormat>
  <Paragraphs>252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Arial Narrow</vt:lpstr>
      <vt:lpstr>Calibri</vt:lpstr>
      <vt:lpstr>Courier New</vt:lpstr>
      <vt:lpstr>Garamond</vt:lpstr>
      <vt:lpstr>SCUTemplate</vt:lpstr>
      <vt:lpstr>Custom Design</vt:lpstr>
      <vt:lpstr>CSEN160</vt:lpstr>
      <vt:lpstr>Constructor chaining</vt:lpstr>
      <vt:lpstr>Constructor basics recap</vt:lpstr>
      <vt:lpstr>Constructor Chaining</vt:lpstr>
      <vt:lpstr>Constructor Chaining</vt:lpstr>
      <vt:lpstr>Constructor Chaining</vt:lpstr>
      <vt:lpstr>Constructor Chaining</vt:lpstr>
      <vt:lpstr>Final methods &amp;  final classes</vt:lpstr>
      <vt:lpstr>Final class</vt:lpstr>
      <vt:lpstr>Final Methods</vt:lpstr>
      <vt:lpstr>Overloading</vt:lpstr>
      <vt:lpstr>Overloading</vt:lpstr>
      <vt:lpstr>Overloading Based on Scopes</vt:lpstr>
      <vt:lpstr>Overloading Based on Scopes</vt:lpstr>
      <vt:lpstr>Overloading Based on Type Signatures</vt:lpstr>
      <vt:lpstr>Overloading</vt:lpstr>
      <vt:lpstr>Redefinition</vt:lpstr>
      <vt:lpstr>Overriding</vt:lpstr>
      <vt:lpstr>Overriding</vt:lpstr>
      <vt:lpstr>Overriding</vt:lpstr>
      <vt:lpstr>Replacement / Refinement</vt:lpstr>
      <vt:lpstr>Replacement and Refinement</vt:lpstr>
      <vt:lpstr>Reasons to use replacement</vt:lpstr>
      <vt:lpstr>Reasons to use replacement</vt:lpstr>
      <vt:lpstr>Refinement</vt:lpstr>
      <vt:lpstr>Refinement</vt:lpstr>
      <vt:lpstr>Constructors use Refinement</vt:lpstr>
      <vt:lpstr>Overriding vs Shadowing</vt:lpstr>
      <vt:lpstr> Overriding versus Shadowing </vt:lpstr>
      <vt:lpstr>Shadowing</vt:lpstr>
      <vt:lpstr>Question: Shadowing recommended?</vt:lpstr>
      <vt:lpstr>Method signatures in Overriding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232</cp:revision>
  <cp:lastPrinted>2023-09-11T21:46:56Z</cp:lastPrinted>
  <dcterms:created xsi:type="dcterms:W3CDTF">2023-09-09T19:51:41Z</dcterms:created>
  <dcterms:modified xsi:type="dcterms:W3CDTF">2026-10-21T18:16:25Z</dcterms:modified>
</cp:coreProperties>
</file>