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theme/theme3.xml" ContentType="application/vnd.openxmlformats-officedocument.theme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4" r:id="rId2"/>
    <p:sldMasterId id="2147483687" r:id="rId3"/>
    <p:sldMasterId id="2147483709" r:id="rId4"/>
  </p:sldMasterIdLst>
  <p:notesMasterIdLst>
    <p:notesMasterId r:id="rId51"/>
  </p:notesMasterIdLst>
  <p:handoutMasterIdLst>
    <p:handoutMasterId r:id="rId52"/>
  </p:handoutMasterIdLst>
  <p:sldIdLst>
    <p:sldId id="333" r:id="rId5"/>
    <p:sldId id="390" r:id="rId6"/>
    <p:sldId id="391" r:id="rId7"/>
    <p:sldId id="392" r:id="rId8"/>
    <p:sldId id="393" r:id="rId9"/>
    <p:sldId id="394" r:id="rId10"/>
    <p:sldId id="395" r:id="rId11"/>
    <p:sldId id="396" r:id="rId12"/>
    <p:sldId id="418" r:id="rId13"/>
    <p:sldId id="397" r:id="rId14"/>
    <p:sldId id="398" r:id="rId15"/>
    <p:sldId id="399" r:id="rId16"/>
    <p:sldId id="400" r:id="rId17"/>
    <p:sldId id="401" r:id="rId18"/>
    <p:sldId id="402" r:id="rId19"/>
    <p:sldId id="424" r:id="rId20"/>
    <p:sldId id="422" r:id="rId21"/>
    <p:sldId id="403" r:id="rId22"/>
    <p:sldId id="404" r:id="rId23"/>
    <p:sldId id="423" r:id="rId24"/>
    <p:sldId id="405" r:id="rId25"/>
    <p:sldId id="419" r:id="rId26"/>
    <p:sldId id="406" r:id="rId27"/>
    <p:sldId id="407" r:id="rId28"/>
    <p:sldId id="408" r:id="rId29"/>
    <p:sldId id="409" r:id="rId30"/>
    <p:sldId id="410" r:id="rId31"/>
    <p:sldId id="411" r:id="rId32"/>
    <p:sldId id="412" r:id="rId33"/>
    <p:sldId id="420" r:id="rId34"/>
    <p:sldId id="413" r:id="rId35"/>
    <p:sldId id="421" r:id="rId36"/>
    <p:sldId id="414" r:id="rId37"/>
    <p:sldId id="415" r:id="rId38"/>
    <p:sldId id="416" r:id="rId39"/>
    <p:sldId id="417" r:id="rId40"/>
    <p:sldId id="363" r:id="rId41"/>
    <p:sldId id="364" r:id="rId42"/>
    <p:sldId id="366" r:id="rId43"/>
    <p:sldId id="367" r:id="rId44"/>
    <p:sldId id="368" r:id="rId45"/>
    <p:sldId id="369" r:id="rId46"/>
    <p:sldId id="370" r:id="rId47"/>
    <p:sldId id="371" r:id="rId48"/>
    <p:sldId id="372" r:id="rId49"/>
    <p:sldId id="362" r:id="rId50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196" autoAdjust="0"/>
    <p:restoredTop sz="94660"/>
  </p:normalViewPr>
  <p:slideViewPr>
    <p:cSldViewPr snapToGrid="0">
      <p:cViewPr varScale="1">
        <p:scale>
          <a:sx n="161" d="100"/>
          <a:sy n="161" d="100"/>
        </p:scale>
        <p:origin x="216" y="1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theme" Target="theme/theme1.xml"/><Relationship Id="rId7" Type="http://schemas.openxmlformats.org/officeDocument/2006/relationships/slide" Target="slides/slide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presProps" Target="presProps.xml"/><Relationship Id="rId5" Type="http://schemas.openxmlformats.org/officeDocument/2006/relationships/slide" Target="slides/slid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handoutMaster" Target="handoutMasters/handoutMaster1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tableStyles" Target="tableStyles.xml"/><Relationship Id="rId8" Type="http://schemas.openxmlformats.org/officeDocument/2006/relationships/slide" Target="slides/slide4.xml"/><Relationship Id="rId51" Type="http://schemas.openxmlformats.org/officeDocument/2006/relationships/notesMaster" Target="notesMasters/notesMaster1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8E938536-29D3-49BD-A567-41CAF057586A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B2E2B272-7A3A-4005-B1B0-0F9070B870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79073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71559A16-B3AD-4CE2-9A5E-FAAD3C2C27CA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28C6438F-747C-40FA-8F40-021E653C05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9010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86695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38119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86984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8417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84945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80007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5404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01071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07211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5034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1048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317878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1450464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87506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24800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460084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440867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220731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808917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438280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823552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241233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750592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087416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373805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0212031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026913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967321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690273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790984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613732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54972532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248712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8528100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379917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6672134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600">
                <a:solidFill>
                  <a:srgbClr val="002060"/>
                </a:solidFill>
              </a:defRPr>
            </a:lvl1pPr>
            <a:lvl2pPr>
              <a:defRPr sz="2400">
                <a:solidFill>
                  <a:schemeClr val="accent2">
                    <a:lumMod val="75000"/>
                  </a:schemeClr>
                </a:solidFill>
              </a:defRPr>
            </a:lvl2pPr>
            <a:lvl3pPr>
              <a:defRPr sz="2000"/>
            </a:lvl3pPr>
            <a:lvl4pPr>
              <a:defRPr sz="18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C656F1-AD33-45CA-85C7-DC330226D9FE}" type="datetime1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8/21/2026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09600" y="6324601"/>
            <a:ext cx="2844800" cy="365125"/>
          </a:xfr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81323479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039488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6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4344947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5842630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6736743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4289998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461448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057231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8005913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6388814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9839235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4440252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300876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5303965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7694767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293131748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6526260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6981619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6134782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360275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600">
                <a:solidFill>
                  <a:srgbClr val="002060"/>
                </a:solidFill>
              </a:defRPr>
            </a:lvl1pPr>
            <a:lvl2pPr>
              <a:defRPr sz="2400">
                <a:solidFill>
                  <a:schemeClr val="accent2">
                    <a:lumMod val="75000"/>
                  </a:schemeClr>
                </a:solidFill>
              </a:defRPr>
            </a:lvl2pPr>
            <a:lvl3pPr>
              <a:defRPr sz="2000"/>
            </a:lvl3pPr>
            <a:lvl4pPr>
              <a:defRPr sz="18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C656F1-AD33-45CA-85C7-DC330226D9FE}" type="datetime1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8/21/2026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09600" y="6324601"/>
            <a:ext cx="2844800" cy="365125"/>
          </a:xfr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19547055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CE424D3-C157-4F96-89DF-80820CCC9BB0}" type="slidenum">
              <a: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73110168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8675738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6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3858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9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7.xml"/><Relationship Id="rId13" Type="http://schemas.openxmlformats.org/officeDocument/2006/relationships/slideLayout" Target="../slideLayouts/slideLayout32.xml"/><Relationship Id="rId18" Type="http://schemas.openxmlformats.org/officeDocument/2006/relationships/slideLayout" Target="../slideLayouts/slideLayout37.xml"/><Relationship Id="rId3" Type="http://schemas.openxmlformats.org/officeDocument/2006/relationships/slideLayout" Target="../slideLayouts/slideLayout22.xml"/><Relationship Id="rId21" Type="http://schemas.openxmlformats.org/officeDocument/2006/relationships/theme" Target="../theme/theme3.xml"/><Relationship Id="rId7" Type="http://schemas.openxmlformats.org/officeDocument/2006/relationships/slideLayout" Target="../slideLayouts/slideLayout26.xml"/><Relationship Id="rId12" Type="http://schemas.openxmlformats.org/officeDocument/2006/relationships/slideLayout" Target="../slideLayouts/slideLayout31.xml"/><Relationship Id="rId17" Type="http://schemas.openxmlformats.org/officeDocument/2006/relationships/slideLayout" Target="../slideLayouts/slideLayout36.xml"/><Relationship Id="rId2" Type="http://schemas.openxmlformats.org/officeDocument/2006/relationships/slideLayout" Target="../slideLayouts/slideLayout21.xml"/><Relationship Id="rId16" Type="http://schemas.openxmlformats.org/officeDocument/2006/relationships/slideLayout" Target="../slideLayouts/slideLayout35.xml"/><Relationship Id="rId20" Type="http://schemas.openxmlformats.org/officeDocument/2006/relationships/slideLayout" Target="../slideLayouts/slideLayout39.xml"/><Relationship Id="rId1" Type="http://schemas.openxmlformats.org/officeDocument/2006/relationships/slideLayout" Target="../slideLayouts/slideLayout20.xml"/><Relationship Id="rId6" Type="http://schemas.openxmlformats.org/officeDocument/2006/relationships/slideLayout" Target="../slideLayouts/slideLayout25.xml"/><Relationship Id="rId11" Type="http://schemas.openxmlformats.org/officeDocument/2006/relationships/slideLayout" Target="../slideLayouts/slideLayout30.xml"/><Relationship Id="rId5" Type="http://schemas.openxmlformats.org/officeDocument/2006/relationships/slideLayout" Target="../slideLayouts/slideLayout24.xml"/><Relationship Id="rId15" Type="http://schemas.openxmlformats.org/officeDocument/2006/relationships/slideLayout" Target="../slideLayouts/slideLayout34.xml"/><Relationship Id="rId23" Type="http://schemas.openxmlformats.org/officeDocument/2006/relationships/image" Target="../media/image2.png"/><Relationship Id="rId10" Type="http://schemas.openxmlformats.org/officeDocument/2006/relationships/slideLayout" Target="../slideLayouts/slideLayout29.xml"/><Relationship Id="rId19" Type="http://schemas.openxmlformats.org/officeDocument/2006/relationships/slideLayout" Target="../slideLayouts/slideLayout38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14" Type="http://schemas.openxmlformats.org/officeDocument/2006/relationships/slideLayout" Target="../slideLayouts/slideLayout33.xml"/><Relationship Id="rId22" Type="http://schemas.openxmlformats.org/officeDocument/2006/relationships/image" Target="../media/image1.png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52.xml"/><Relationship Id="rId18" Type="http://schemas.openxmlformats.org/officeDocument/2006/relationships/slideLayout" Target="../slideLayouts/slideLayout57.xml"/><Relationship Id="rId3" Type="http://schemas.openxmlformats.org/officeDocument/2006/relationships/slideLayout" Target="../slideLayouts/slideLayout42.xml"/><Relationship Id="rId21" Type="http://schemas.openxmlformats.org/officeDocument/2006/relationships/slideLayout" Target="../slideLayouts/slideLayout60.xml"/><Relationship Id="rId7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51.xml"/><Relationship Id="rId17" Type="http://schemas.openxmlformats.org/officeDocument/2006/relationships/slideLayout" Target="../slideLayouts/slideLayout56.xml"/><Relationship Id="rId2" Type="http://schemas.openxmlformats.org/officeDocument/2006/relationships/slideLayout" Target="../slideLayouts/slideLayout41.xml"/><Relationship Id="rId16" Type="http://schemas.openxmlformats.org/officeDocument/2006/relationships/slideLayout" Target="../slideLayouts/slideLayout55.xml"/><Relationship Id="rId20" Type="http://schemas.openxmlformats.org/officeDocument/2006/relationships/slideLayout" Target="../slideLayouts/slideLayout59.xml"/><Relationship Id="rId1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50.xml"/><Relationship Id="rId24" Type="http://schemas.openxmlformats.org/officeDocument/2006/relationships/image" Target="../media/image2.png"/><Relationship Id="rId5" Type="http://schemas.openxmlformats.org/officeDocument/2006/relationships/slideLayout" Target="../slideLayouts/slideLayout44.xml"/><Relationship Id="rId15" Type="http://schemas.openxmlformats.org/officeDocument/2006/relationships/slideLayout" Target="../slideLayouts/slideLayout54.xml"/><Relationship Id="rId23" Type="http://schemas.openxmlformats.org/officeDocument/2006/relationships/image" Target="../media/image1.png"/><Relationship Id="rId10" Type="http://schemas.openxmlformats.org/officeDocument/2006/relationships/slideLayout" Target="../slideLayouts/slideLayout49.xml"/><Relationship Id="rId19" Type="http://schemas.openxmlformats.org/officeDocument/2006/relationships/slideLayout" Target="../slideLayouts/slideLayout58.xml"/><Relationship Id="rId4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53.xml"/><Relationship Id="rId22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9243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82" r:id="rId13"/>
    <p:sldLayoutId id="2147483683" r:id="rId14"/>
    <p:sldLayoutId id="2147483685" r:id="rId15"/>
    <p:sldLayoutId id="2147483686" r:id="rId16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B307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5EF7EA9-7F89-AB44-B414-A35A39B88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0015"/>
            <a:ext cx="10515600" cy="6427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D578A8-B26A-4945-96B6-DF5E5BC7DE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697162"/>
            <a:ext cx="10515600" cy="32464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 err="1"/>
              <a:t>Secod</a:t>
            </a:r>
            <a:r>
              <a:rPr lang="en-US" dirty="0"/>
              <a:t>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94CFB0A-34C6-5D42-83C5-6E58C3499080}"/>
              </a:ext>
            </a:extLst>
          </p:cNvPr>
          <p:cNvCxnSpPr>
            <a:cxnSpLocks/>
          </p:cNvCxnSpPr>
          <p:nvPr/>
        </p:nvCxnSpPr>
        <p:spPr>
          <a:xfrm>
            <a:off x="956394" y="730089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306B758-975E-984A-8DF2-F551E50A3FBA}"/>
              </a:ext>
            </a:extLst>
          </p:cNvPr>
          <p:cNvCxnSpPr>
            <a:cxnSpLocks/>
          </p:cNvCxnSpPr>
          <p:nvPr/>
        </p:nvCxnSpPr>
        <p:spPr>
          <a:xfrm>
            <a:off x="956394" y="388502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4BCBDF38-9EC5-8347-AE99-4FA5381A78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0924" y="472981"/>
            <a:ext cx="3880944" cy="17262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A5D1952-D4DE-0B48-9AEC-F81A6CB6ED0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474" y="157274"/>
            <a:ext cx="804042" cy="804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6267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i="0" kern="120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2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833803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  <p:sldLayoutId id="2147483698" r:id="rId11"/>
    <p:sldLayoutId id="2147483699" r:id="rId12"/>
    <p:sldLayoutId id="2147483700" r:id="rId13"/>
    <p:sldLayoutId id="2147483701" r:id="rId14"/>
    <p:sldLayoutId id="2147483702" r:id="rId15"/>
    <p:sldLayoutId id="2147483703" r:id="rId16"/>
    <p:sldLayoutId id="2147483704" r:id="rId17"/>
    <p:sldLayoutId id="2147483705" r:id="rId18"/>
    <p:sldLayoutId id="2147483707" r:id="rId19"/>
    <p:sldLayoutId id="2147483708" r:id="rId2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811836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1" r:id="rId2"/>
    <p:sldLayoutId id="2147483712" r:id="rId3"/>
    <p:sldLayoutId id="2147483713" r:id="rId4"/>
    <p:sldLayoutId id="2147483714" r:id="rId5"/>
    <p:sldLayoutId id="2147483715" r:id="rId6"/>
    <p:sldLayoutId id="2147483716" r:id="rId7"/>
    <p:sldLayoutId id="2147483717" r:id="rId8"/>
    <p:sldLayoutId id="2147483718" r:id="rId9"/>
    <p:sldLayoutId id="2147483719" r:id="rId10"/>
    <p:sldLayoutId id="2147483720" r:id="rId11"/>
    <p:sldLayoutId id="2147483721" r:id="rId12"/>
    <p:sldLayoutId id="2147483722" r:id="rId13"/>
    <p:sldLayoutId id="2147483723" r:id="rId14"/>
    <p:sldLayoutId id="2147483724" r:id="rId15"/>
    <p:sldLayoutId id="2147483725" r:id="rId16"/>
    <p:sldLayoutId id="2147483726" r:id="rId17"/>
    <p:sldLayoutId id="2147483727" r:id="rId18"/>
    <p:sldLayoutId id="2147483728" r:id="rId19"/>
    <p:sldLayoutId id="2147483729" r:id="rId20"/>
    <p:sldLayoutId id="2147483730" r:id="rId2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5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7.xml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5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5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5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5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5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5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5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5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5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5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57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57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57.xml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3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3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3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3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3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3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37.xml"/><Relationship Id="rId4" Type="http://schemas.openxmlformats.org/officeDocument/2006/relationships/hyperlink" Target="https://www.tutorialspoint.com/java/lang/java_lang_errors.htm#:~:text=This%20is%20an%20Error%20is,should%20not%20try%20to%20catch.&amp;text=These%20are%20the%20Signals%20that,occurred%20in%20a%20static%20initializer.&amp;text=This%20is%20Thrown%20when%20an%20incompatible%20class,occurred%20to%20some%20class%20definition." TargetMode="Externa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3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DAF3DE3F-7502-904F-9BAB-B1F5DEA23B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3178902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Fall 2026</a:t>
            </a:r>
          </a:p>
          <a:p>
            <a:r>
              <a:rPr lang="en-US" dirty="0">
                <a:solidFill>
                  <a:schemeClr val="tx1"/>
                </a:solidFill>
              </a:rPr>
              <a:t>Object-Oriented Analysis, Design and Programming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Michael Schimpf, PhD</a:t>
            </a:r>
          </a:p>
          <a:p>
            <a:r>
              <a:rPr lang="en-US" dirty="0">
                <a:solidFill>
                  <a:schemeClr val="tx1"/>
                </a:solidFill>
              </a:rPr>
              <a:t>Department of Computer Science and Engineering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A818BAB-0338-734A-B1E8-2463F3B29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COEN160</a:t>
            </a:r>
          </a:p>
        </p:txBody>
      </p:sp>
    </p:spTree>
    <p:extLst>
      <p:ext uri="{BB962C8B-B14F-4D97-AF65-F5344CB8AC3E}">
        <p14:creationId xmlns:p14="http://schemas.microsoft.com/office/powerpoint/2010/main" val="40520801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Java Exceptions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8281761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>
          <a:xfrm>
            <a:off x="936516" y="1093423"/>
            <a:ext cx="4214065" cy="520938"/>
          </a:xfrm>
        </p:spPr>
        <p:txBody>
          <a:bodyPr>
            <a:normAutofit fontScale="90000"/>
          </a:bodyPr>
          <a:lstStyle/>
          <a:p>
            <a:r>
              <a:rPr lang="en-US" altLang="en-US" dirty="0"/>
              <a:t>Exceptions in Java:</a:t>
            </a:r>
          </a:p>
        </p:txBody>
      </p:sp>
      <p:sp>
        <p:nvSpPr>
          <p:cNvPr id="4099" name="Content Placeholder 2"/>
          <p:cNvSpPr>
            <a:spLocks noGrp="1"/>
          </p:cNvSpPr>
          <p:nvPr>
            <p:ph idx="1"/>
          </p:nvPr>
        </p:nvSpPr>
        <p:spPr>
          <a:xfrm>
            <a:off x="936516" y="1728325"/>
            <a:ext cx="10400426" cy="4903097"/>
          </a:xfrm>
        </p:spPr>
        <p:txBody>
          <a:bodyPr/>
          <a:lstStyle/>
          <a:p>
            <a:pPr eaLnBrk="1" hangingPunct="1"/>
            <a:endParaRPr lang="en-US" altLang="en-US" dirty="0"/>
          </a:p>
          <a:p>
            <a:pPr eaLnBrk="1" hangingPunct="1"/>
            <a:r>
              <a:rPr lang="en-US" altLang="en-US" dirty="0"/>
              <a:t>Throwing exceptions (</a:t>
            </a:r>
            <a:r>
              <a:rPr lang="en-US" altLang="en-US" b="1" dirty="0"/>
              <a:t>throws</a:t>
            </a:r>
            <a:r>
              <a:rPr lang="en-US" altLang="en-US" dirty="0"/>
              <a:t>)</a:t>
            </a:r>
          </a:p>
          <a:p>
            <a:pPr eaLnBrk="1" hangingPunct="1"/>
            <a:endParaRPr lang="en-US" altLang="en-US" dirty="0"/>
          </a:p>
          <a:p>
            <a:pPr eaLnBrk="1" hangingPunct="1"/>
            <a:r>
              <a:rPr lang="en-US" altLang="en-US" dirty="0"/>
              <a:t>Catching and handling exceptions with </a:t>
            </a:r>
            <a:r>
              <a:rPr lang="en-US" altLang="en-US" b="1" dirty="0"/>
              <a:t>try</a:t>
            </a:r>
            <a:r>
              <a:rPr lang="en-US" altLang="en-US" dirty="0"/>
              <a:t> and </a:t>
            </a:r>
            <a:r>
              <a:rPr lang="en-US" altLang="en-US" b="1" dirty="0"/>
              <a:t>catch</a:t>
            </a:r>
          </a:p>
          <a:p>
            <a:pPr eaLnBrk="1" hangingPunct="1"/>
            <a:endParaRPr lang="en-US" altLang="en-US" dirty="0"/>
          </a:p>
          <a:p>
            <a:pPr eaLnBrk="1" hangingPunct="1"/>
            <a:r>
              <a:rPr lang="en-US" altLang="en-US" dirty="0"/>
              <a:t>Multiple catch blocks</a:t>
            </a:r>
          </a:p>
          <a:p>
            <a:pPr eaLnBrk="1" hangingPunct="1"/>
            <a:endParaRPr lang="en-US" altLang="en-US" dirty="0"/>
          </a:p>
          <a:p>
            <a:pPr eaLnBrk="1" hangingPunct="1"/>
            <a:r>
              <a:rPr lang="en-US" altLang="en-US" dirty="0"/>
              <a:t>User-defined exceptions</a:t>
            </a:r>
          </a:p>
        </p:txBody>
      </p:sp>
      <p:sp>
        <p:nvSpPr>
          <p:cNvPr id="4100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30953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5123" name="Rectangle 2"/>
          <p:cNvSpPr>
            <a:spLocks noGrp="1" noChangeArrowheads="1"/>
          </p:cNvSpPr>
          <p:nvPr>
            <p:ph type="title"/>
          </p:nvPr>
        </p:nvSpPr>
        <p:spPr>
          <a:xfrm>
            <a:off x="925190" y="998875"/>
            <a:ext cx="2716226" cy="639762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sz="4000" dirty="0"/>
              <a:t>Exceptions</a:t>
            </a:r>
          </a:p>
        </p:txBody>
      </p:sp>
      <p:sp>
        <p:nvSpPr>
          <p:cNvPr id="512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25190" y="1843635"/>
            <a:ext cx="10427936" cy="4816110"/>
          </a:xfrm>
        </p:spPr>
        <p:txBody>
          <a:bodyPr/>
          <a:lstStyle/>
          <a:p>
            <a:pPr marL="0" indent="0">
              <a:buNone/>
            </a:pPr>
            <a:r>
              <a:rPr lang="en-US" altLang="en-US" dirty="0"/>
              <a:t>An </a:t>
            </a:r>
            <a:r>
              <a:rPr lang="en-US" altLang="en-US" b="1" dirty="0">
                <a:solidFill>
                  <a:srgbClr val="0000FF"/>
                </a:solidFill>
              </a:rPr>
              <a:t>error condition</a:t>
            </a:r>
            <a:r>
              <a:rPr lang="en-US" altLang="en-US" dirty="0"/>
              <a:t> that a program encounter. </a:t>
            </a:r>
          </a:p>
          <a:p>
            <a:pPr lvl="1"/>
            <a:r>
              <a:rPr lang="en-US" altLang="en-US" b="1" dirty="0">
                <a:solidFill>
                  <a:srgbClr val="FF0000"/>
                </a:solidFill>
              </a:rPr>
              <a:t>Division by zero</a:t>
            </a:r>
          </a:p>
          <a:p>
            <a:pPr lvl="1"/>
            <a:r>
              <a:rPr lang="en-US" altLang="en-US" dirty="0"/>
              <a:t>Accessing </a:t>
            </a:r>
            <a:r>
              <a:rPr lang="en-US" altLang="en-US" b="1" dirty="0">
                <a:solidFill>
                  <a:srgbClr val="FF0000"/>
                </a:solidFill>
              </a:rPr>
              <a:t>index out of bounds </a:t>
            </a:r>
            <a:r>
              <a:rPr lang="en-US" altLang="en-US" dirty="0"/>
              <a:t>(array).</a:t>
            </a:r>
          </a:p>
          <a:p>
            <a:pPr lvl="1"/>
            <a:r>
              <a:rPr lang="en-US" altLang="en-US" dirty="0"/>
              <a:t>Etc.</a:t>
            </a:r>
          </a:p>
          <a:p>
            <a:endParaRPr lang="en-US" altLang="en-US" dirty="0">
              <a:solidFill>
                <a:srgbClr val="000099"/>
              </a:solidFill>
            </a:endParaRPr>
          </a:p>
          <a:p>
            <a:pPr marL="0" indent="0">
              <a:buNone/>
            </a:pPr>
            <a:r>
              <a:rPr lang="en-US" altLang="en-US" dirty="0">
                <a:solidFill>
                  <a:srgbClr val="000099"/>
                </a:solidFill>
              </a:rPr>
              <a:t>An</a:t>
            </a:r>
            <a:r>
              <a:rPr lang="en-US" altLang="en-US" dirty="0">
                <a:solidFill>
                  <a:srgbClr val="0000FF"/>
                </a:solidFill>
              </a:rPr>
              <a:t> </a:t>
            </a:r>
            <a:r>
              <a:rPr lang="en-US" altLang="en-US" b="1" dirty="0">
                <a:solidFill>
                  <a:srgbClr val="0000FF"/>
                </a:solidFill>
              </a:rPr>
              <a:t>abnormal condition</a:t>
            </a:r>
            <a:r>
              <a:rPr lang="en-US" altLang="en-US" dirty="0"/>
              <a:t> (logic issue). </a:t>
            </a:r>
          </a:p>
          <a:p>
            <a:pPr lvl="1"/>
            <a:r>
              <a:rPr lang="en-US" altLang="en-US" dirty="0"/>
              <a:t>The balance of a Bank Account </a:t>
            </a:r>
            <a:r>
              <a:rPr lang="en-US" altLang="en-US" b="1" dirty="0">
                <a:solidFill>
                  <a:srgbClr val="FF0000"/>
                </a:solidFill>
              </a:rPr>
              <a:t>below</a:t>
            </a:r>
            <a:r>
              <a:rPr lang="en-US" altLang="en-US" dirty="0"/>
              <a:t> zero. </a:t>
            </a:r>
          </a:p>
          <a:p>
            <a:pPr lvl="1"/>
            <a:r>
              <a:rPr lang="en-US" altLang="en-US" dirty="0"/>
              <a:t>A flight can not be booked</a:t>
            </a:r>
          </a:p>
          <a:p>
            <a:pPr lvl="1"/>
            <a:r>
              <a:rPr lang="en-US" altLang="en-US" dirty="0"/>
              <a:t>A flight can not be canceled</a:t>
            </a:r>
          </a:p>
          <a:p>
            <a:pPr lvl="1"/>
            <a:r>
              <a:rPr lang="en-US" altLang="en-US" dirty="0"/>
              <a:t>Etc.</a:t>
            </a:r>
          </a:p>
          <a:p>
            <a:pPr eaLnBrk="1" hangingPunct="1"/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14960044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FF78B52-A3EB-874A-1777-79337459D7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5567" y="2363160"/>
            <a:ext cx="8746500" cy="1613745"/>
          </a:xfrm>
          <a:prstGeom prst="rect">
            <a:avLst/>
          </a:prstGeom>
        </p:spPr>
      </p:pic>
      <p:sp>
        <p:nvSpPr>
          <p:cNvPr id="512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5123" name="Rectangle 2"/>
          <p:cNvSpPr>
            <a:spLocks noGrp="1" noChangeArrowheads="1"/>
          </p:cNvSpPr>
          <p:nvPr>
            <p:ph type="title"/>
          </p:nvPr>
        </p:nvSpPr>
        <p:spPr>
          <a:xfrm>
            <a:off x="925190" y="998875"/>
            <a:ext cx="2716226" cy="639762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sz="4000" dirty="0"/>
              <a:t>Exceptions</a:t>
            </a:r>
          </a:p>
        </p:txBody>
      </p:sp>
      <p:sp>
        <p:nvSpPr>
          <p:cNvPr id="512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25190" y="1843635"/>
            <a:ext cx="10427936" cy="4816110"/>
          </a:xfrm>
        </p:spPr>
        <p:txBody>
          <a:bodyPr/>
          <a:lstStyle/>
          <a:p>
            <a:pPr marL="0" indent="0" eaLnBrk="1" hangingPunct="1">
              <a:buNone/>
            </a:pPr>
            <a:r>
              <a:rPr lang="en-US" altLang="en-US" dirty="0"/>
              <a:t>Division by Zero:</a:t>
            </a:r>
          </a:p>
        </p:txBody>
      </p:sp>
      <p:sp>
        <p:nvSpPr>
          <p:cNvPr id="4" name="Rectangle 3"/>
          <p:cNvSpPr/>
          <p:nvPr/>
        </p:nvSpPr>
        <p:spPr>
          <a:xfrm>
            <a:off x="8730108" y="3005280"/>
            <a:ext cx="439292" cy="29131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" name="Down Arrow 4"/>
          <p:cNvSpPr/>
          <p:nvPr/>
        </p:nvSpPr>
        <p:spPr>
          <a:xfrm>
            <a:off x="4956094" y="3631402"/>
            <a:ext cx="484632" cy="978408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E817F61-D5F7-2286-AC2D-725D3B0148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0413" y="4803988"/>
            <a:ext cx="8581959" cy="1502082"/>
          </a:xfrm>
          <a:prstGeom prst="rect">
            <a:avLst/>
          </a:prstGeom>
        </p:spPr>
      </p:pic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68F91B11-31FE-7E2C-C51C-145A3A2D4408}"/>
              </a:ext>
            </a:extLst>
          </p:cNvPr>
          <p:cNvSpPr txBox="1">
            <a:spLocks/>
          </p:cNvSpPr>
          <p:nvPr/>
        </p:nvSpPr>
        <p:spPr>
          <a:xfrm>
            <a:off x="7533328" y="750997"/>
            <a:ext cx="4633801" cy="44756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CSEN160_04_Lecture_JavaInMoreDetailsPlusExceptions: “</a:t>
            </a:r>
            <a:r>
              <a:rPr lang="en-US" dirty="0" err="1">
                <a:solidFill>
                  <a:srgbClr val="C00000"/>
                </a:solidFill>
              </a:rPr>
              <a:t>A_Exceptions.A_EasyExceptions.DivisionByZero</a:t>
            </a:r>
            <a:r>
              <a:rPr lang="en-US" dirty="0">
                <a:solidFill>
                  <a:srgbClr val="C00000"/>
                </a:solidFill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2397265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6147" name="Rectangle 2"/>
          <p:cNvSpPr>
            <a:spLocks noGrp="1" noChangeArrowheads="1"/>
          </p:cNvSpPr>
          <p:nvPr>
            <p:ph type="title"/>
          </p:nvPr>
        </p:nvSpPr>
        <p:spPr>
          <a:xfrm>
            <a:off x="945420" y="938185"/>
            <a:ext cx="2700042" cy="639762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sz="4000" dirty="0"/>
              <a:t>Exceptions</a:t>
            </a:r>
          </a:p>
        </p:txBody>
      </p:sp>
      <p:sp>
        <p:nvSpPr>
          <p:cNvPr id="614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45420" y="1732371"/>
            <a:ext cx="10419844" cy="4927374"/>
          </a:xfrm>
        </p:spPr>
        <p:txBody>
          <a:bodyPr/>
          <a:lstStyle/>
          <a:p>
            <a:pPr eaLnBrk="1" hangingPunct="1"/>
            <a:r>
              <a:rPr lang="en-US" altLang="en-US" sz="2800" dirty="0"/>
              <a:t>An </a:t>
            </a:r>
            <a:r>
              <a:rPr lang="en-US" altLang="en-US" sz="2800" b="1" dirty="0">
                <a:solidFill>
                  <a:srgbClr val="0000FF"/>
                </a:solidFill>
              </a:rPr>
              <a:t>exception handler</a:t>
            </a:r>
            <a:r>
              <a:rPr lang="en-US" altLang="en-US" sz="2800" dirty="0"/>
              <a:t> </a:t>
            </a:r>
            <a:r>
              <a:rPr lang="en-US" altLang="en-US" sz="2800" dirty="0">
                <a:solidFill>
                  <a:srgbClr val="0000FF"/>
                </a:solidFill>
              </a:rPr>
              <a:t>handles</a:t>
            </a:r>
            <a:r>
              <a:rPr lang="en-US" altLang="en-US" sz="2800" dirty="0"/>
              <a:t> the exception!</a:t>
            </a:r>
          </a:p>
          <a:p>
            <a:pPr eaLnBrk="1" hangingPunct="1"/>
            <a:endParaRPr lang="en-US" altLang="en-US" sz="2800" b="1" dirty="0">
              <a:solidFill>
                <a:srgbClr val="800000"/>
              </a:solidFill>
            </a:endParaRPr>
          </a:p>
          <a:p>
            <a:pPr eaLnBrk="1" hangingPunct="1"/>
            <a:r>
              <a:rPr lang="en-US" altLang="en-US" sz="2800" b="1" dirty="0">
                <a:solidFill>
                  <a:srgbClr val="800000"/>
                </a:solidFill>
              </a:rPr>
              <a:t>Handling</a:t>
            </a:r>
            <a:r>
              <a:rPr lang="en-US" altLang="en-US" sz="2800" dirty="0"/>
              <a:t> an </a:t>
            </a:r>
            <a:r>
              <a:rPr lang="en-US" altLang="en-US" sz="2800" b="1" dirty="0">
                <a:solidFill>
                  <a:srgbClr val="0000FF"/>
                </a:solidFill>
              </a:rPr>
              <a:t>exception</a:t>
            </a:r>
            <a:r>
              <a:rPr lang="en-US" altLang="en-US" sz="2800" dirty="0"/>
              <a:t> =&gt; taking corrective action.</a:t>
            </a:r>
          </a:p>
          <a:p>
            <a:pPr eaLnBrk="1" hangingPunct="1"/>
            <a:endParaRPr lang="en-US" altLang="en-US" sz="2800" b="1" dirty="0">
              <a:solidFill>
                <a:srgbClr val="800000"/>
              </a:solidFill>
            </a:endParaRPr>
          </a:p>
          <a:p>
            <a:pPr eaLnBrk="1" hangingPunct="1"/>
            <a:r>
              <a:rPr lang="en-US" altLang="en-US" sz="2800" b="1" dirty="0">
                <a:solidFill>
                  <a:srgbClr val="800000"/>
                </a:solidFill>
              </a:rPr>
              <a:t>Raising</a:t>
            </a:r>
            <a:r>
              <a:rPr lang="en-US" altLang="en-US" sz="2800" dirty="0"/>
              <a:t> an </a:t>
            </a:r>
            <a:r>
              <a:rPr lang="en-US" altLang="en-US" sz="2800" b="1" dirty="0">
                <a:solidFill>
                  <a:srgbClr val="0000FF"/>
                </a:solidFill>
              </a:rPr>
              <a:t>exception</a:t>
            </a:r>
            <a:r>
              <a:rPr lang="en-US" altLang="en-US" sz="2800" dirty="0"/>
              <a:t> is</a:t>
            </a:r>
          </a:p>
          <a:p>
            <a:pPr lvl="1" eaLnBrk="1" hangingPunct="1"/>
            <a:r>
              <a:rPr lang="en-US" altLang="en-US" dirty="0"/>
              <a:t>Interrupting the program.</a:t>
            </a:r>
          </a:p>
          <a:p>
            <a:pPr lvl="1" eaLnBrk="1" hangingPunct="1"/>
            <a:r>
              <a:rPr lang="en-US" altLang="en-US" dirty="0"/>
              <a:t>Calling the exception handler.</a:t>
            </a:r>
          </a:p>
          <a:p>
            <a:pPr eaLnBrk="1" hangingPunct="1"/>
            <a:endParaRPr lang="en-US" altLang="en-US" sz="2800" b="1" dirty="0">
              <a:solidFill>
                <a:srgbClr val="800000"/>
              </a:solidFill>
            </a:endParaRPr>
          </a:p>
          <a:p>
            <a:pPr eaLnBrk="1" hangingPunct="1"/>
            <a:r>
              <a:rPr lang="en-US" altLang="en-US" sz="2800" b="1" dirty="0">
                <a:solidFill>
                  <a:srgbClr val="800000"/>
                </a:solidFill>
              </a:rPr>
              <a:t>Propagating</a:t>
            </a:r>
            <a:r>
              <a:rPr lang="en-US" altLang="en-US" sz="2800" dirty="0"/>
              <a:t> an </a:t>
            </a:r>
            <a:r>
              <a:rPr lang="en-US" altLang="en-US" sz="2800" b="1" dirty="0">
                <a:solidFill>
                  <a:srgbClr val="0000FF"/>
                </a:solidFill>
              </a:rPr>
              <a:t>exception</a:t>
            </a:r>
            <a:r>
              <a:rPr lang="en-US" altLang="en-US" sz="2800" dirty="0"/>
              <a:t> is </a:t>
            </a:r>
          </a:p>
          <a:p>
            <a:pPr lvl="1" eaLnBrk="1" hangingPunct="1"/>
            <a:r>
              <a:rPr lang="en-US" altLang="en-US" dirty="0"/>
              <a:t>Passing the responsibility of handling the exception =&gt; to the caller.</a:t>
            </a:r>
          </a:p>
          <a:p>
            <a:pPr eaLnBrk="1" hangingPunct="1"/>
            <a:endParaRPr lang="en-US" altLang="en-US" sz="2800" dirty="0"/>
          </a:p>
        </p:txBody>
      </p:sp>
    </p:spTree>
    <p:extLst>
      <p:ext uri="{BB962C8B-B14F-4D97-AF65-F5344CB8AC3E}">
        <p14:creationId xmlns:p14="http://schemas.microsoft.com/office/powerpoint/2010/main" val="40823087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7171" name="Rectangle 2"/>
          <p:cNvSpPr>
            <a:spLocks noGrp="1" noChangeArrowheads="1"/>
          </p:cNvSpPr>
          <p:nvPr>
            <p:ph type="title"/>
          </p:nvPr>
        </p:nvSpPr>
        <p:spPr>
          <a:xfrm>
            <a:off x="949465" y="942231"/>
            <a:ext cx="2712181" cy="639762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sz="4000" dirty="0"/>
              <a:t>Exceptions</a:t>
            </a:r>
          </a:p>
        </p:txBody>
      </p:sp>
      <p:sp>
        <p:nvSpPr>
          <p:cNvPr id="717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49465" y="2132102"/>
            <a:ext cx="10403661" cy="4302564"/>
          </a:xfrm>
        </p:spPr>
        <p:txBody>
          <a:bodyPr/>
          <a:lstStyle/>
          <a:p>
            <a:pPr marL="0" indent="0" eaLnBrk="1" hangingPunct="1">
              <a:buNone/>
            </a:pPr>
            <a:r>
              <a:rPr lang="en-US" altLang="en-US" b="1" dirty="0">
                <a:solidFill>
                  <a:schemeClr val="tx1"/>
                </a:solidFill>
              </a:rPr>
              <a:t>If an abnormal condition occurs:</a:t>
            </a:r>
          </a:p>
          <a:p>
            <a:pPr lvl="1" eaLnBrk="1" hangingPunct="1"/>
            <a:endParaRPr lang="en-US" altLang="en-US" dirty="0"/>
          </a:p>
          <a:p>
            <a:pPr lvl="1" eaLnBrk="1" hangingPunct="1"/>
            <a:r>
              <a:rPr lang="en-US" altLang="en-US" dirty="0"/>
              <a:t>An exception is raised</a:t>
            </a:r>
          </a:p>
          <a:p>
            <a:pPr lvl="1" eaLnBrk="1" hangingPunct="1"/>
            <a:endParaRPr lang="en-US" altLang="en-US" dirty="0"/>
          </a:p>
          <a:p>
            <a:pPr lvl="1" eaLnBrk="1" hangingPunct="1"/>
            <a:r>
              <a:rPr lang="en-US" altLang="en-US" dirty="0"/>
              <a:t>The program is interrupted</a:t>
            </a:r>
          </a:p>
          <a:p>
            <a:pPr lvl="1" eaLnBrk="1" hangingPunct="1"/>
            <a:endParaRPr lang="en-US" altLang="en-US" dirty="0"/>
          </a:p>
          <a:p>
            <a:pPr lvl="1" eaLnBrk="1" hangingPunct="1"/>
            <a:r>
              <a:rPr lang="en-US" altLang="en-US" dirty="0"/>
              <a:t>Control is transferred to the exception-handler</a:t>
            </a:r>
          </a:p>
          <a:p>
            <a:pPr lvl="1" eaLnBrk="1" hangingPunct="1"/>
            <a:endParaRPr lang="en-US" altLang="en-US" dirty="0"/>
          </a:p>
          <a:p>
            <a:pPr lvl="1" eaLnBrk="1" hangingPunct="1"/>
            <a:r>
              <a:rPr lang="en-US" altLang="en-US" b="1" dirty="0">
                <a:solidFill>
                  <a:srgbClr val="FF0000"/>
                </a:solidFill>
              </a:rPr>
              <a:t>No</a:t>
            </a:r>
            <a:r>
              <a:rPr lang="en-US" altLang="en-US" dirty="0"/>
              <a:t> handler, the program </a:t>
            </a:r>
            <a:r>
              <a:rPr lang="en-US" altLang="en-US" b="1" dirty="0">
                <a:solidFill>
                  <a:srgbClr val="FF0000"/>
                </a:solidFill>
              </a:rPr>
              <a:t>terminates</a:t>
            </a:r>
            <a:r>
              <a:rPr lang="en-US" altLang="en-US" dirty="0"/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29549557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Title 1"/>
          <p:cNvSpPr>
            <a:spLocks noGrp="1"/>
          </p:cNvSpPr>
          <p:nvPr>
            <p:ph type="title"/>
          </p:nvPr>
        </p:nvSpPr>
        <p:spPr>
          <a:xfrm>
            <a:off x="952700" y="955859"/>
            <a:ext cx="3942981" cy="429904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dirty="0"/>
              <a:t>Exceptions in Java</a:t>
            </a:r>
          </a:p>
        </p:txBody>
      </p:sp>
      <p:sp>
        <p:nvSpPr>
          <p:cNvPr id="8195" name="Content Placeholder 2"/>
          <p:cNvSpPr>
            <a:spLocks noGrp="1"/>
          </p:cNvSpPr>
          <p:nvPr>
            <p:ph sz="half" idx="1"/>
          </p:nvPr>
        </p:nvSpPr>
        <p:spPr>
          <a:xfrm>
            <a:off x="952700" y="1531419"/>
            <a:ext cx="4359721" cy="5112142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en-US" dirty="0">
                <a:solidFill>
                  <a:schemeClr val="tx1"/>
                </a:solidFill>
              </a:rPr>
              <a:t>In Java, exceptions are defined as </a:t>
            </a:r>
            <a:r>
              <a:rPr lang="en-US" altLang="en-US" dirty="0">
                <a:solidFill>
                  <a:srgbClr val="C00000"/>
                </a:solidFill>
              </a:rPr>
              <a:t>classes</a:t>
            </a:r>
            <a:r>
              <a:rPr lang="en-US" altLang="en-US" dirty="0">
                <a:solidFill>
                  <a:schemeClr val="tx1"/>
                </a:solidFill>
              </a:rPr>
              <a:t>.</a:t>
            </a:r>
          </a:p>
          <a:p>
            <a:pPr eaLnBrk="1" hangingPunct="1">
              <a:lnSpc>
                <a:spcPct val="90000"/>
              </a:lnSpc>
            </a:pPr>
            <a:endParaRPr lang="en-US" altLang="en-US" dirty="0">
              <a:solidFill>
                <a:schemeClr val="tx1"/>
              </a:solidFill>
            </a:endParaRPr>
          </a:p>
          <a:p>
            <a:pPr eaLnBrk="1" hangingPunct="1">
              <a:lnSpc>
                <a:spcPct val="90000"/>
              </a:lnSpc>
            </a:pPr>
            <a:r>
              <a:rPr lang="en-US" altLang="en-US" dirty="0">
                <a:solidFill>
                  <a:schemeClr val="tx1"/>
                </a:solidFill>
              </a:rPr>
              <a:t>All exceptions are instances of </a:t>
            </a:r>
            <a:r>
              <a:rPr lang="en-US" altLang="en-US" dirty="0" err="1">
                <a:solidFill>
                  <a:srgbClr val="0000FF"/>
                </a:solidFill>
              </a:rPr>
              <a:t>java.lang.Exception</a:t>
            </a:r>
            <a:r>
              <a:rPr lang="en-US" altLang="en-US" dirty="0"/>
              <a:t> </a:t>
            </a:r>
            <a:r>
              <a:rPr lang="en-US" altLang="en-US" dirty="0">
                <a:solidFill>
                  <a:schemeClr val="tx1"/>
                </a:solidFill>
              </a:rPr>
              <a:t>or one of its subclasses.</a:t>
            </a:r>
          </a:p>
          <a:p>
            <a:pPr eaLnBrk="1" hangingPunct="1">
              <a:lnSpc>
                <a:spcPct val="90000"/>
              </a:lnSpc>
            </a:pPr>
            <a:endParaRPr lang="en-US" altLang="en-US" dirty="0">
              <a:solidFill>
                <a:schemeClr val="tx1"/>
              </a:solidFill>
            </a:endParaRPr>
          </a:p>
          <a:p>
            <a:pPr eaLnBrk="1" hangingPunct="1">
              <a:lnSpc>
                <a:spcPct val="90000"/>
              </a:lnSpc>
            </a:pPr>
            <a:r>
              <a:rPr lang="en-US" altLang="en-US" dirty="0">
                <a:solidFill>
                  <a:schemeClr val="tx1"/>
                </a:solidFill>
              </a:rPr>
              <a:t>You can define your own exceptions: </a:t>
            </a:r>
            <a:br>
              <a:rPr lang="en-US" altLang="en-US" dirty="0">
                <a:solidFill>
                  <a:schemeClr val="tx1"/>
                </a:solidFill>
              </a:rPr>
            </a:br>
            <a:r>
              <a:rPr lang="en-US" altLang="en-US" dirty="0">
                <a:solidFill>
                  <a:schemeClr val="tx1"/>
                </a:solidFill>
              </a:rPr>
              <a:t>subclass of </a:t>
            </a:r>
            <a:r>
              <a:rPr lang="en-US" altLang="en-US" dirty="0" err="1">
                <a:solidFill>
                  <a:srgbClr val="0000FF"/>
                </a:solidFill>
              </a:rPr>
              <a:t>java.lang.Exception</a:t>
            </a:r>
            <a:r>
              <a:rPr lang="en-US" altLang="en-US" dirty="0"/>
              <a:t>.</a:t>
            </a:r>
          </a:p>
          <a:p>
            <a:pPr eaLnBrk="1" hangingPunct="1"/>
            <a:endParaRPr lang="en-US" altLang="en-US" dirty="0"/>
          </a:p>
        </p:txBody>
      </p:sp>
      <p:sp>
        <p:nvSpPr>
          <p:cNvPr id="8196" name="Slide Number Placeholder 4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pic>
        <p:nvPicPr>
          <p:cNvPr id="1026" name="Picture 2" descr="https://files.codingninjas.in/article_images/exceptions-in-java-hierarchy-types-and-its-relation-with-errors-part-1-0-1649495587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20595" y="1607780"/>
            <a:ext cx="6215233" cy="41861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124411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75149B-9763-6E79-D994-4D0F883615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B2D9BF-7CA7-695F-C7A7-C98FC0EB03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sz="4800" dirty="0"/>
              <a:t>Checked vs Unchecked Exceptions</a:t>
            </a:r>
          </a:p>
        </p:txBody>
      </p:sp>
      <p:sp>
        <p:nvSpPr>
          <p:cNvPr id="5123" name="Slide Number Placeholder 3">
            <a:extLst>
              <a:ext uri="{FF2B5EF4-FFF2-40B4-BE49-F238E27FC236}">
                <a16:creationId xmlns:a16="http://schemas.microsoft.com/office/drawing/2014/main" id="{8BE85630-88F6-0AA1-AC6B-755DE4531E6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750979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9219" name="Rectangle 2"/>
          <p:cNvSpPr>
            <a:spLocks noGrp="1" noChangeArrowheads="1"/>
          </p:cNvSpPr>
          <p:nvPr>
            <p:ph type="title"/>
          </p:nvPr>
        </p:nvSpPr>
        <p:spPr>
          <a:xfrm>
            <a:off x="913052" y="966507"/>
            <a:ext cx="8458200" cy="715962"/>
          </a:xfrm>
        </p:spPr>
        <p:txBody>
          <a:bodyPr>
            <a:normAutofit/>
          </a:bodyPr>
          <a:lstStyle/>
          <a:p>
            <a:pPr eaLnBrk="1" hangingPunct="1"/>
            <a:r>
              <a:rPr lang="en-US" altLang="en-US" sz="4000" dirty="0">
                <a:solidFill>
                  <a:srgbClr val="FF0000"/>
                </a:solidFill>
              </a:rPr>
              <a:t>Checked</a:t>
            </a:r>
            <a:r>
              <a:rPr lang="en-US" altLang="en-US" sz="4000" dirty="0"/>
              <a:t> Exceptions </a:t>
            </a:r>
            <a:r>
              <a:rPr lang="en-US" altLang="en-US" sz="3100" dirty="0"/>
              <a:t>(Compile Time)</a:t>
            </a:r>
            <a:endParaRPr lang="en-US" altLang="en-US" sz="4000" dirty="0"/>
          </a:p>
        </p:txBody>
      </p:sp>
      <p:sp>
        <p:nvSpPr>
          <p:cNvPr id="922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13052" y="1932649"/>
            <a:ext cx="10436028" cy="4710912"/>
          </a:xfrm>
        </p:spPr>
        <p:txBody>
          <a:bodyPr>
            <a:normAutofit/>
          </a:bodyPr>
          <a:lstStyle/>
          <a:p>
            <a:pPr marL="0" indent="0" eaLnBrk="1" hangingPunct="1">
              <a:buNone/>
            </a:pPr>
            <a:r>
              <a:rPr lang="en-US" altLang="en-US" sz="2800" b="1" dirty="0">
                <a:solidFill>
                  <a:srgbClr val="FF0000"/>
                </a:solidFill>
              </a:rPr>
              <a:t>Checked exceptions:</a:t>
            </a:r>
            <a:r>
              <a:rPr lang="en-US" altLang="en-US" sz="2800" b="1" dirty="0"/>
              <a:t> </a:t>
            </a:r>
          </a:p>
          <a:p>
            <a:pPr lvl="1" eaLnBrk="1" hangingPunct="1"/>
            <a:r>
              <a:rPr lang="en-US" altLang="en-US" dirty="0"/>
              <a:t>Represent abnormal conditions </a:t>
            </a:r>
            <a:r>
              <a:rPr lang="en-US" altLang="en-US" b="1" dirty="0">
                <a:solidFill>
                  <a:srgbClr val="FF0000"/>
                </a:solidFill>
              </a:rPr>
              <a:t>must</a:t>
            </a:r>
            <a:r>
              <a:rPr lang="en-US" altLang="en-US" dirty="0"/>
              <a:t> be handled (by you            )</a:t>
            </a:r>
          </a:p>
          <a:p>
            <a:pPr lvl="1" eaLnBrk="1" hangingPunct="1"/>
            <a:endParaRPr lang="en-US" altLang="en-US" dirty="0"/>
          </a:p>
          <a:p>
            <a:pPr lvl="1" eaLnBrk="1" hangingPunct="1"/>
            <a:r>
              <a:rPr lang="en-US" altLang="en-US" dirty="0"/>
              <a:t>Examples</a:t>
            </a:r>
            <a:r>
              <a:rPr lang="en-US" altLang="en-US" i="1" dirty="0"/>
              <a:t>:</a:t>
            </a:r>
          </a:p>
          <a:p>
            <a:pPr lvl="2"/>
            <a:r>
              <a:rPr lang="en-US" altLang="en-US" dirty="0">
                <a:solidFill>
                  <a:schemeClr val="tx1"/>
                </a:solidFill>
              </a:rPr>
              <a:t>invalid user input</a:t>
            </a:r>
          </a:p>
          <a:p>
            <a:pPr lvl="2"/>
            <a:r>
              <a:rPr lang="en-US" altLang="en-US" dirty="0">
                <a:solidFill>
                  <a:schemeClr val="tx1"/>
                </a:solidFill>
              </a:rPr>
              <a:t>accessing non-existing files</a:t>
            </a:r>
          </a:p>
          <a:p>
            <a:pPr lvl="2"/>
            <a:r>
              <a:rPr lang="en-US" altLang="en-US" dirty="0">
                <a:solidFill>
                  <a:schemeClr val="tx1"/>
                </a:solidFill>
              </a:rPr>
              <a:t>etc.</a:t>
            </a:r>
          </a:p>
          <a:p>
            <a:pPr lvl="1" eaLnBrk="1" hangingPunct="1"/>
            <a:endParaRPr lang="en-US" altLang="en-US" dirty="0"/>
          </a:p>
          <a:p>
            <a:pPr lvl="1" eaLnBrk="1" hangingPunct="1"/>
            <a:r>
              <a:rPr lang="en-US" altLang="en-US" dirty="0"/>
              <a:t>These are subclasses of class </a:t>
            </a:r>
            <a:r>
              <a:rPr lang="en-US" altLang="en-US" dirty="0" err="1">
                <a:solidFill>
                  <a:srgbClr val="C00000"/>
                </a:solidFill>
              </a:rPr>
              <a:t>java.lang.Exception</a:t>
            </a:r>
            <a:r>
              <a:rPr lang="en-US" altLang="en-US" dirty="0">
                <a:solidFill>
                  <a:srgbClr val="C00000"/>
                </a:solidFill>
              </a:rPr>
              <a:t>.</a:t>
            </a:r>
          </a:p>
          <a:p>
            <a:pPr lvl="1" eaLnBrk="1" hangingPunct="1"/>
            <a:r>
              <a:rPr lang="en-US" altLang="en-US" dirty="0"/>
              <a:t>Checked exceptions must be </a:t>
            </a:r>
            <a:r>
              <a:rPr lang="en-US" altLang="en-US" b="1" dirty="0">
                <a:solidFill>
                  <a:srgbClr val="FF0000"/>
                </a:solidFill>
              </a:rPr>
              <a:t>explicitly caught or propagated</a:t>
            </a:r>
            <a:r>
              <a:rPr lang="en-US" altLang="en-US" dirty="0"/>
              <a:t>. </a:t>
            </a:r>
            <a:endParaRPr lang="en-US" altLang="en-US" dirty="0">
              <a:solidFill>
                <a:srgbClr val="0000FF"/>
              </a:solidFill>
            </a:endParaRPr>
          </a:p>
          <a:p>
            <a:pPr marL="0" indent="0" eaLnBrk="1" hangingPunct="1">
              <a:buNone/>
            </a:pPr>
            <a:endParaRPr lang="en-US" altLang="en-US" dirty="0"/>
          </a:p>
        </p:txBody>
      </p:sp>
      <p:pic>
        <p:nvPicPr>
          <p:cNvPr id="1026" name="Picture 2" descr="Finger Pointing At You Vector Art, Icons, and Graphics for ...">
            <a:extLst>
              <a:ext uri="{FF2B5EF4-FFF2-40B4-BE49-F238E27FC236}">
                <a16:creationId xmlns:a16="http://schemas.microsoft.com/office/drawing/2014/main" id="{81CAEB6F-B990-9071-63D0-6069DB877E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8734" y="2176198"/>
            <a:ext cx="804069" cy="8040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005179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4AFBD814-EA9C-1492-E60B-ABBDB6CE95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0720" y="2136348"/>
            <a:ext cx="4063269" cy="1789523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9298" y="1692401"/>
            <a:ext cx="6098171" cy="2475567"/>
          </a:xfrm>
          <a:prstGeom prst="rect">
            <a:avLst/>
          </a:prstGeom>
        </p:spPr>
      </p:pic>
      <p:sp>
        <p:nvSpPr>
          <p:cNvPr id="9218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9219" name="Rectangle 2"/>
          <p:cNvSpPr>
            <a:spLocks noGrp="1" noChangeArrowheads="1"/>
          </p:cNvSpPr>
          <p:nvPr>
            <p:ph type="title"/>
          </p:nvPr>
        </p:nvSpPr>
        <p:spPr>
          <a:xfrm>
            <a:off x="936408" y="966506"/>
            <a:ext cx="8458200" cy="715962"/>
          </a:xfrm>
        </p:spPr>
        <p:txBody>
          <a:bodyPr>
            <a:normAutofit/>
          </a:bodyPr>
          <a:lstStyle/>
          <a:p>
            <a:r>
              <a:rPr lang="en-US" altLang="en-US" sz="4000" dirty="0">
                <a:solidFill>
                  <a:srgbClr val="FF0000"/>
                </a:solidFill>
              </a:rPr>
              <a:t>Checked</a:t>
            </a:r>
            <a:r>
              <a:rPr lang="en-US" altLang="en-US" sz="4000" dirty="0"/>
              <a:t> </a:t>
            </a:r>
            <a:r>
              <a:rPr lang="en-US" altLang="en-US" sz="4000" b="0" dirty="0"/>
              <a:t>Exceptions </a:t>
            </a:r>
            <a:r>
              <a:rPr lang="en-US" altLang="en-US" sz="2400" dirty="0"/>
              <a:t>(Compile Time)</a:t>
            </a:r>
            <a:endParaRPr lang="en-US" altLang="en-US" sz="4000" b="0" dirty="0"/>
          </a:p>
        </p:txBody>
      </p:sp>
      <p:sp>
        <p:nvSpPr>
          <p:cNvPr id="922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13052" y="1682468"/>
            <a:ext cx="10436028" cy="4960257"/>
          </a:xfrm>
        </p:spPr>
        <p:txBody>
          <a:bodyPr>
            <a:normAutofit/>
          </a:bodyPr>
          <a:lstStyle/>
          <a:p>
            <a:pPr marL="0" indent="0" eaLnBrk="1" hangingPunct="1">
              <a:buNone/>
            </a:pPr>
            <a:r>
              <a:rPr lang="en-US" altLang="en-US" sz="2800" b="1" dirty="0">
                <a:solidFill>
                  <a:srgbClr val="FF0000"/>
                </a:solidFill>
              </a:rPr>
              <a:t>Checked </a:t>
            </a:r>
            <a:r>
              <a:rPr lang="en-US" altLang="en-US" sz="2800" dirty="0">
                <a:solidFill>
                  <a:schemeClr val="tx1"/>
                </a:solidFill>
              </a:rPr>
              <a:t>exceptions</a:t>
            </a:r>
            <a:r>
              <a:rPr lang="en-US" altLang="en-US" sz="2800" b="1" dirty="0">
                <a:solidFill>
                  <a:srgbClr val="0000FF"/>
                </a:solidFill>
              </a:rPr>
              <a:t>:</a:t>
            </a:r>
            <a:r>
              <a:rPr lang="en-US" altLang="en-US" sz="2800" b="1" dirty="0"/>
              <a:t> 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2625" y="4502042"/>
            <a:ext cx="9296508" cy="180660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843484" y="1782812"/>
            <a:ext cx="1605315" cy="118177"/>
          </a:xfrm>
          <a:prstGeom prst="rect">
            <a:avLst/>
          </a:prstGeom>
          <a:noFill/>
          <a:ln w="1905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472353" y="2508830"/>
            <a:ext cx="295313" cy="22657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3767666" y="2910204"/>
            <a:ext cx="1538835" cy="22657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" name="Down Arrow 7"/>
          <p:cNvSpPr/>
          <p:nvPr/>
        </p:nvSpPr>
        <p:spPr>
          <a:xfrm>
            <a:off x="3091840" y="3843180"/>
            <a:ext cx="397414" cy="607769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0BCF7962-0885-364A-4ABA-6F3EF4CF2B88}"/>
              </a:ext>
            </a:extLst>
          </p:cNvPr>
          <p:cNvSpPr txBox="1">
            <a:spLocks/>
          </p:cNvSpPr>
          <p:nvPr/>
        </p:nvSpPr>
        <p:spPr>
          <a:xfrm>
            <a:off x="7558199" y="747067"/>
            <a:ext cx="4633801" cy="44756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CSEN160_04_Lecture_JavaInMoreDetailsPlusExceptions: “</a:t>
            </a:r>
            <a:r>
              <a:rPr lang="en-US" dirty="0" err="1">
                <a:solidFill>
                  <a:srgbClr val="C00000"/>
                </a:solidFill>
              </a:rPr>
              <a:t>A_Exceptions.A_EasyExceptions.CheckedException</a:t>
            </a:r>
            <a:r>
              <a:rPr lang="en-US" dirty="0">
                <a:solidFill>
                  <a:srgbClr val="C00000"/>
                </a:solidFill>
              </a:rPr>
              <a:t>.”</a:t>
            </a:r>
          </a:p>
        </p:txBody>
      </p:sp>
    </p:spTree>
    <p:extLst>
      <p:ext uri="{BB962C8B-B14F-4D97-AF65-F5344CB8AC3E}">
        <p14:creationId xmlns:p14="http://schemas.microsoft.com/office/powerpoint/2010/main" val="30529263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10243" name="Rectangle 2"/>
          <p:cNvSpPr>
            <a:spLocks noGrp="1" noChangeArrowheads="1"/>
          </p:cNvSpPr>
          <p:nvPr>
            <p:ph type="title"/>
          </p:nvPr>
        </p:nvSpPr>
        <p:spPr>
          <a:xfrm>
            <a:off x="925189" y="994829"/>
            <a:ext cx="8458200" cy="715962"/>
          </a:xfrm>
        </p:spPr>
        <p:txBody>
          <a:bodyPr>
            <a:normAutofit/>
          </a:bodyPr>
          <a:lstStyle/>
          <a:p>
            <a:r>
              <a:rPr lang="en-US" altLang="en-US" sz="4000" dirty="0">
                <a:solidFill>
                  <a:srgbClr val="0000FF"/>
                </a:solidFill>
              </a:rPr>
              <a:t>Unchecked </a:t>
            </a:r>
            <a:r>
              <a:rPr lang="en-US" altLang="en-US" sz="4000" b="0" dirty="0"/>
              <a:t>Exceptions </a:t>
            </a:r>
            <a:r>
              <a:rPr lang="en-US" altLang="en-US" sz="2800" dirty="0"/>
              <a:t>(Run Time)</a:t>
            </a:r>
            <a:endParaRPr lang="en-US" altLang="en-US" sz="2800" b="0" dirty="0"/>
          </a:p>
        </p:txBody>
      </p:sp>
      <p:sp>
        <p:nvSpPr>
          <p:cNvPr id="1024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25188" y="1928603"/>
            <a:ext cx="10415799" cy="4723050"/>
          </a:xfrm>
        </p:spPr>
        <p:txBody>
          <a:bodyPr/>
          <a:lstStyle/>
          <a:p>
            <a:pPr marL="0" indent="0" eaLnBrk="1" hangingPunct="1">
              <a:buNone/>
            </a:pPr>
            <a:r>
              <a:rPr lang="en-US" altLang="en-US" sz="3200" b="1" dirty="0">
                <a:solidFill>
                  <a:srgbClr val="0000FF"/>
                </a:solidFill>
              </a:rPr>
              <a:t>Unchecked </a:t>
            </a:r>
            <a:r>
              <a:rPr lang="en-US" altLang="en-US" sz="3200" dirty="0">
                <a:solidFill>
                  <a:schemeClr val="tx1"/>
                </a:solidFill>
              </a:rPr>
              <a:t>exceptions</a:t>
            </a:r>
            <a:r>
              <a:rPr lang="en-US" altLang="en-US" sz="3200" b="1" dirty="0">
                <a:solidFill>
                  <a:schemeClr val="tx1"/>
                </a:solidFill>
              </a:rPr>
              <a:t> </a:t>
            </a:r>
          </a:p>
          <a:p>
            <a:pPr lvl="1" eaLnBrk="1" hangingPunct="1"/>
            <a:r>
              <a:rPr lang="en-US" altLang="en-US" sz="3200" dirty="0">
                <a:solidFill>
                  <a:schemeClr val="tx1"/>
                </a:solidFill>
              </a:rPr>
              <a:t>Represent program defects like:</a:t>
            </a:r>
          </a:p>
          <a:p>
            <a:pPr lvl="2"/>
            <a:r>
              <a:rPr lang="en-US" altLang="en-US" sz="2800" dirty="0">
                <a:solidFill>
                  <a:schemeClr val="tx1"/>
                </a:solidFill>
              </a:rPr>
              <a:t>accessing a </a:t>
            </a:r>
            <a:r>
              <a:rPr lang="en-US" altLang="en-US" sz="2800" b="1" dirty="0">
                <a:solidFill>
                  <a:srgbClr val="FF0000"/>
                </a:solidFill>
              </a:rPr>
              <a:t>null pointer</a:t>
            </a:r>
          </a:p>
          <a:p>
            <a:pPr lvl="2"/>
            <a:r>
              <a:rPr lang="en-US" altLang="en-US" sz="2800" dirty="0">
                <a:solidFill>
                  <a:schemeClr val="tx1"/>
                </a:solidFill>
              </a:rPr>
              <a:t>accessing an </a:t>
            </a:r>
            <a:r>
              <a:rPr lang="en-US" altLang="en-US" sz="2800" b="1" dirty="0">
                <a:solidFill>
                  <a:srgbClr val="FF0000"/>
                </a:solidFill>
              </a:rPr>
              <a:t>index out of bounds</a:t>
            </a:r>
          </a:p>
          <a:p>
            <a:pPr lvl="1" eaLnBrk="1" hangingPunct="1"/>
            <a:endParaRPr lang="en-US" altLang="en-US" sz="3200" dirty="0"/>
          </a:p>
          <a:p>
            <a:pPr lvl="1" eaLnBrk="1" hangingPunct="1"/>
            <a:r>
              <a:rPr lang="en-US" altLang="en-US" sz="3200" dirty="0">
                <a:solidFill>
                  <a:schemeClr val="tx1"/>
                </a:solidFill>
              </a:rPr>
              <a:t>They are subclasses of </a:t>
            </a:r>
            <a:r>
              <a:rPr lang="en-US" altLang="en-US" sz="3200" dirty="0" err="1">
                <a:solidFill>
                  <a:srgbClr val="C00000"/>
                </a:solidFill>
              </a:rPr>
              <a:t>java.lang.RuntimeException</a:t>
            </a:r>
            <a:r>
              <a:rPr lang="en-US" altLang="en-US" sz="3200" dirty="0">
                <a:solidFill>
                  <a:srgbClr val="C00000"/>
                </a:solidFill>
              </a:rPr>
              <a:t>.</a:t>
            </a:r>
          </a:p>
          <a:p>
            <a:pPr lvl="1" eaLnBrk="1" hangingPunct="1"/>
            <a:endParaRPr lang="en-US" altLang="en-US" sz="3200" dirty="0"/>
          </a:p>
          <a:p>
            <a:pPr lvl="1" eaLnBrk="1" hangingPunct="1"/>
            <a:r>
              <a:rPr lang="en-US" altLang="en-US" sz="3200" b="1" dirty="0">
                <a:solidFill>
                  <a:srgbClr val="0000FF"/>
                </a:solidFill>
              </a:rPr>
              <a:t>Unchecked </a:t>
            </a:r>
            <a:r>
              <a:rPr lang="en-US" altLang="en-US" sz="3200" dirty="0">
                <a:solidFill>
                  <a:schemeClr val="tx1"/>
                </a:solidFill>
              </a:rPr>
              <a:t>exceptions</a:t>
            </a:r>
            <a:r>
              <a:rPr lang="en-US" altLang="en-US" sz="3200" b="1" dirty="0">
                <a:solidFill>
                  <a:schemeClr val="tx1"/>
                </a:solidFill>
              </a:rPr>
              <a:t> don't</a:t>
            </a:r>
            <a:r>
              <a:rPr lang="en-US" altLang="en-US" sz="3200" dirty="0">
                <a:solidFill>
                  <a:schemeClr val="tx1"/>
                </a:solidFill>
              </a:rPr>
              <a:t> have to be caught or thrown.</a:t>
            </a:r>
          </a:p>
          <a:p>
            <a:pPr eaLnBrk="1" hangingPunct="1"/>
            <a:endParaRPr lang="en-US" altLang="en-US" dirty="0">
              <a:solidFill>
                <a:schemeClr val="tx1"/>
              </a:solidFill>
            </a:endParaRPr>
          </a:p>
          <a:p>
            <a:pPr eaLnBrk="1" hangingPunct="1"/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37169190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4767" y="2332138"/>
            <a:ext cx="5540346" cy="233925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218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9219" name="Rectangle 2"/>
          <p:cNvSpPr>
            <a:spLocks noGrp="1" noChangeArrowheads="1"/>
          </p:cNvSpPr>
          <p:nvPr>
            <p:ph type="title"/>
          </p:nvPr>
        </p:nvSpPr>
        <p:spPr>
          <a:xfrm>
            <a:off x="913052" y="966507"/>
            <a:ext cx="8458200" cy="715962"/>
          </a:xfrm>
        </p:spPr>
        <p:txBody>
          <a:bodyPr>
            <a:normAutofit/>
          </a:bodyPr>
          <a:lstStyle/>
          <a:p>
            <a:r>
              <a:rPr lang="en-US" altLang="en-US" sz="4000" dirty="0">
                <a:solidFill>
                  <a:srgbClr val="0000FF"/>
                </a:solidFill>
              </a:rPr>
              <a:t>Unchecked</a:t>
            </a:r>
            <a:r>
              <a:rPr lang="en-US" altLang="en-US" sz="4000" dirty="0"/>
              <a:t> </a:t>
            </a:r>
            <a:r>
              <a:rPr lang="en-US" altLang="en-US" sz="4000" b="0" dirty="0"/>
              <a:t>Exceptions </a:t>
            </a:r>
            <a:r>
              <a:rPr lang="en-US" altLang="en-US" sz="2400" dirty="0"/>
              <a:t>(Run Time)</a:t>
            </a:r>
            <a:endParaRPr lang="en-US" altLang="en-US" sz="2400" b="0" dirty="0"/>
          </a:p>
        </p:txBody>
      </p:sp>
      <p:sp>
        <p:nvSpPr>
          <p:cNvPr id="922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13052" y="1682468"/>
            <a:ext cx="10436028" cy="4960257"/>
          </a:xfrm>
        </p:spPr>
        <p:txBody>
          <a:bodyPr>
            <a:normAutofit/>
          </a:bodyPr>
          <a:lstStyle/>
          <a:p>
            <a:pPr marL="0" indent="0" eaLnBrk="1" hangingPunct="1">
              <a:buNone/>
            </a:pPr>
            <a:r>
              <a:rPr lang="en-US" altLang="en-US" sz="2800" b="1" dirty="0">
                <a:solidFill>
                  <a:srgbClr val="0000FF"/>
                </a:solidFill>
              </a:rPr>
              <a:t>Unchecked </a:t>
            </a:r>
            <a:r>
              <a:rPr lang="en-US" altLang="en-US" sz="2800" dirty="0">
                <a:solidFill>
                  <a:schemeClr val="tx1"/>
                </a:solidFill>
              </a:rPr>
              <a:t>exceptions</a:t>
            </a:r>
            <a:r>
              <a:rPr lang="en-US" altLang="en-US" sz="2800" b="1" dirty="0">
                <a:solidFill>
                  <a:srgbClr val="0000FF"/>
                </a:solidFill>
              </a:rPr>
              <a:t>:</a:t>
            </a:r>
            <a:r>
              <a:rPr lang="en-US" altLang="en-US" sz="2800" b="1" dirty="0"/>
              <a:t> 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14940" y="3500324"/>
            <a:ext cx="643655" cy="22657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994" y="5257425"/>
            <a:ext cx="10330813" cy="996069"/>
          </a:xfrm>
          <a:prstGeom prst="rect">
            <a:avLst/>
          </a:prstGeom>
        </p:spPr>
      </p:pic>
      <p:sp>
        <p:nvSpPr>
          <p:cNvPr id="13" name="Down Arrow 12"/>
          <p:cNvSpPr/>
          <p:nvPr/>
        </p:nvSpPr>
        <p:spPr>
          <a:xfrm>
            <a:off x="5460322" y="4506515"/>
            <a:ext cx="397414" cy="814549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ACE62A3-E5E6-4222-CEBE-CF8A216BEAE4}"/>
              </a:ext>
            </a:extLst>
          </p:cNvPr>
          <p:cNvSpPr txBox="1">
            <a:spLocks/>
          </p:cNvSpPr>
          <p:nvPr/>
        </p:nvSpPr>
        <p:spPr>
          <a:xfrm>
            <a:off x="7533328" y="750997"/>
            <a:ext cx="4633801" cy="44756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CSEN160_04_Lecture_JavaInMoreDetailsPlusExceptions: “</a:t>
            </a:r>
            <a:r>
              <a:rPr lang="en-US" dirty="0" err="1">
                <a:solidFill>
                  <a:srgbClr val="C00000"/>
                </a:solidFill>
              </a:rPr>
              <a:t>A_Exceptions</a:t>
            </a:r>
            <a:r>
              <a:rPr lang="en-US" dirty="0">
                <a:solidFill>
                  <a:srgbClr val="C00000"/>
                </a:solidFill>
              </a:rPr>
              <a:t> .</a:t>
            </a:r>
            <a:r>
              <a:rPr lang="en-US" dirty="0" err="1">
                <a:solidFill>
                  <a:srgbClr val="C00000"/>
                </a:solidFill>
              </a:rPr>
              <a:t>A_EasyExceptions.UncheckedException</a:t>
            </a:r>
            <a:r>
              <a:rPr lang="en-US" dirty="0">
                <a:solidFill>
                  <a:srgbClr val="C00000"/>
                </a:solidFill>
              </a:rPr>
              <a:t>.”</a:t>
            </a:r>
          </a:p>
        </p:txBody>
      </p:sp>
    </p:spTree>
    <p:extLst>
      <p:ext uri="{BB962C8B-B14F-4D97-AF65-F5344CB8AC3E}">
        <p14:creationId xmlns:p14="http://schemas.microsoft.com/office/powerpoint/2010/main" val="32669798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922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13052" y="1932649"/>
            <a:ext cx="10436028" cy="4710912"/>
          </a:xfrm>
        </p:spPr>
        <p:txBody>
          <a:bodyPr>
            <a:normAutofit/>
          </a:bodyPr>
          <a:lstStyle/>
          <a:p>
            <a:pPr marL="0" indent="0" algn="ctr" eaLnBrk="1" hangingPunct="1">
              <a:buNone/>
            </a:pPr>
            <a:endParaRPr lang="en-US" altLang="en-US" sz="2800" b="1" dirty="0">
              <a:solidFill>
                <a:srgbClr val="0000FF"/>
              </a:solidFill>
            </a:endParaRPr>
          </a:p>
          <a:p>
            <a:pPr marL="0" indent="0" algn="ctr" eaLnBrk="1" hangingPunct="1">
              <a:buNone/>
            </a:pPr>
            <a:r>
              <a:rPr lang="en-US" altLang="en-US" sz="4800" b="1" dirty="0">
                <a:solidFill>
                  <a:srgbClr val="FF0000"/>
                </a:solidFill>
              </a:rPr>
              <a:t>Checked </a:t>
            </a:r>
            <a:r>
              <a:rPr lang="en-US" altLang="en-US" sz="4800" dirty="0">
                <a:solidFill>
                  <a:schemeClr val="tx1"/>
                </a:solidFill>
              </a:rPr>
              <a:t>exceptions</a:t>
            </a:r>
            <a:r>
              <a:rPr lang="en-US" altLang="en-US" sz="4800" b="1" dirty="0">
                <a:solidFill>
                  <a:srgbClr val="0000FF"/>
                </a:solidFill>
              </a:rPr>
              <a:t>:</a:t>
            </a:r>
            <a:r>
              <a:rPr lang="en-US" altLang="en-US" sz="4800" b="1" dirty="0"/>
              <a:t> </a:t>
            </a:r>
            <a:br>
              <a:rPr lang="en-US" altLang="en-US" sz="4800" b="1" dirty="0"/>
            </a:br>
            <a:r>
              <a:rPr lang="en-US" altLang="en-US" sz="4400" dirty="0"/>
              <a:t>abnormal conditions </a:t>
            </a:r>
            <a:r>
              <a:rPr lang="en-US" altLang="en-US" sz="4400" b="1" dirty="0">
                <a:solidFill>
                  <a:srgbClr val="FF0000"/>
                </a:solidFill>
              </a:rPr>
              <a:t>must</a:t>
            </a:r>
            <a:r>
              <a:rPr lang="en-US" altLang="en-US" sz="4400" dirty="0"/>
              <a:t> be handled!</a:t>
            </a:r>
            <a:br>
              <a:rPr lang="en-US" altLang="en-US" sz="4400" dirty="0"/>
            </a:br>
            <a:r>
              <a:rPr lang="en-US" altLang="en-US" sz="4400" dirty="0"/>
              <a:t>i.e. </a:t>
            </a:r>
            <a:r>
              <a:rPr lang="en-US" altLang="en-US" sz="3600" dirty="0" err="1"/>
              <a:t>NumberFormatException</a:t>
            </a:r>
            <a:endParaRPr lang="en-US" altLang="en-US" sz="3600" dirty="0"/>
          </a:p>
          <a:p>
            <a:pPr marL="0" indent="0" algn="ctr">
              <a:buNone/>
            </a:pPr>
            <a:r>
              <a:rPr lang="en-US" altLang="en-US" sz="3600" b="1" dirty="0"/>
              <a:t>(Compile Time)</a:t>
            </a:r>
            <a:endParaRPr lang="en-US" altLang="en-US" sz="3600" dirty="0"/>
          </a:p>
        </p:txBody>
      </p:sp>
      <p:pic>
        <p:nvPicPr>
          <p:cNvPr id="2" name="Picture 2" descr="Finger Pointing At You Vector Art, Icons, and Graphics for ...">
            <a:extLst>
              <a:ext uri="{FF2B5EF4-FFF2-40B4-BE49-F238E27FC236}">
                <a16:creationId xmlns:a16="http://schemas.microsoft.com/office/drawing/2014/main" id="{312283DE-234B-F731-2C4E-69B0EB47A2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88601" y="2764367"/>
            <a:ext cx="1329266" cy="13292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503490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922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13052" y="1932649"/>
            <a:ext cx="10436028" cy="4710912"/>
          </a:xfrm>
        </p:spPr>
        <p:txBody>
          <a:bodyPr>
            <a:normAutofit/>
          </a:bodyPr>
          <a:lstStyle/>
          <a:p>
            <a:pPr marL="0" indent="0" algn="ctr" eaLnBrk="1" hangingPunct="1">
              <a:buNone/>
            </a:pPr>
            <a:endParaRPr lang="en-US" altLang="en-US" sz="2800" b="1" dirty="0">
              <a:solidFill>
                <a:srgbClr val="0000FF"/>
              </a:solidFill>
            </a:endParaRPr>
          </a:p>
          <a:p>
            <a:pPr marL="0" indent="0" algn="ctr">
              <a:buNone/>
            </a:pPr>
            <a:r>
              <a:rPr lang="en-US" altLang="en-US" sz="4800" b="1" dirty="0">
                <a:solidFill>
                  <a:srgbClr val="0000FF"/>
                </a:solidFill>
              </a:rPr>
              <a:t>Unchecked </a:t>
            </a:r>
            <a:r>
              <a:rPr lang="en-US" altLang="en-US" sz="4800" dirty="0">
                <a:solidFill>
                  <a:schemeClr val="tx1"/>
                </a:solidFill>
              </a:rPr>
              <a:t>exceptions</a:t>
            </a:r>
            <a:r>
              <a:rPr lang="en-US" altLang="en-US" sz="4800" b="1" dirty="0">
                <a:solidFill>
                  <a:srgbClr val="0000FF"/>
                </a:solidFill>
              </a:rPr>
              <a:t>:</a:t>
            </a:r>
            <a:r>
              <a:rPr lang="en-US" altLang="en-US" sz="4800" b="1" dirty="0"/>
              <a:t> </a:t>
            </a:r>
            <a:br>
              <a:rPr lang="en-US" altLang="en-US" sz="4800" b="1" dirty="0"/>
            </a:br>
            <a:r>
              <a:rPr lang="en-US" altLang="en-US" sz="4400" dirty="0"/>
              <a:t>program defects!</a:t>
            </a:r>
            <a:br>
              <a:rPr lang="en-US" altLang="en-US" sz="4400" dirty="0"/>
            </a:br>
            <a:r>
              <a:rPr lang="en-US" altLang="en-US" sz="4400" dirty="0"/>
              <a:t>i.e. </a:t>
            </a:r>
            <a:r>
              <a:rPr lang="en-US" altLang="en-US" sz="3600" b="1" dirty="0" err="1">
                <a:solidFill>
                  <a:srgbClr val="FF0000"/>
                </a:solidFill>
              </a:rPr>
              <a:t>NullPointerException</a:t>
            </a:r>
            <a:br>
              <a:rPr lang="en-US" altLang="en-US" sz="3600" b="1" dirty="0">
                <a:solidFill>
                  <a:srgbClr val="FF0000"/>
                </a:solidFill>
              </a:rPr>
            </a:br>
            <a:r>
              <a:rPr lang="en-US" altLang="en-US" sz="4800" b="1" dirty="0"/>
              <a:t> </a:t>
            </a:r>
            <a:r>
              <a:rPr lang="en-US" altLang="en-US" sz="3600" b="1" dirty="0"/>
              <a:t>(Run Time)</a:t>
            </a:r>
            <a:endParaRPr lang="en-US" altLang="en-US" sz="4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361364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E3FD4D-FB2C-A407-5324-539EC61355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Slide Number Placeholder 3">
            <a:extLst>
              <a:ext uri="{FF2B5EF4-FFF2-40B4-BE49-F238E27FC236}">
                <a16:creationId xmlns:a16="http://schemas.microsoft.com/office/drawing/2014/main" id="{09A80542-3EEB-16F0-70B7-48ADB3DFA99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9220" name="Rectangle 3">
            <a:extLst>
              <a:ext uri="{FF2B5EF4-FFF2-40B4-BE49-F238E27FC236}">
                <a16:creationId xmlns:a16="http://schemas.microsoft.com/office/drawing/2014/main" id="{8C5A2109-D937-ADA5-0F24-CD5EDBCE849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52466" y="773883"/>
            <a:ext cx="10436028" cy="5823986"/>
          </a:xfrm>
        </p:spPr>
        <p:txBody>
          <a:bodyPr>
            <a:normAutofit fontScale="40000" lnSpcReduction="20000"/>
          </a:bodyPr>
          <a:lstStyle/>
          <a:p>
            <a:pPr marL="0" indent="0" algn="ctr">
              <a:buNone/>
            </a:pPr>
            <a:r>
              <a:rPr lang="en-US" altLang="en-US" sz="7000" b="1" dirty="0">
                <a:solidFill>
                  <a:srgbClr val="0000FF"/>
                </a:solidFill>
              </a:rPr>
              <a:t>Summary</a:t>
            </a:r>
          </a:p>
          <a:p>
            <a:pPr marL="0" indent="0">
              <a:buNone/>
            </a:pPr>
            <a:r>
              <a:rPr lang="en-US" altLang="en-US" sz="5100" b="1" dirty="0">
                <a:solidFill>
                  <a:schemeClr val="tx1"/>
                </a:solidFill>
              </a:rPr>
              <a:t>Checked exceptions</a:t>
            </a:r>
          </a:p>
          <a:p>
            <a:r>
              <a:rPr lang="en-US" altLang="en-US" sz="4400" b="1" dirty="0">
                <a:solidFill>
                  <a:schemeClr val="tx1"/>
                </a:solidFill>
              </a:rPr>
              <a:t>Compile-time</a:t>
            </a:r>
            <a:r>
              <a:rPr lang="en-US" altLang="en-US" sz="4400" dirty="0">
                <a:solidFill>
                  <a:schemeClr val="tx1"/>
                </a:solidFill>
              </a:rPr>
              <a:t>: </a:t>
            </a:r>
            <a:br>
              <a:rPr lang="en-US" altLang="en-US" sz="4400" dirty="0">
                <a:solidFill>
                  <a:schemeClr val="tx1"/>
                </a:solidFill>
              </a:rPr>
            </a:br>
            <a:r>
              <a:rPr lang="en-US" altLang="en-US" sz="4400" dirty="0">
                <a:solidFill>
                  <a:schemeClr val="tx1"/>
                </a:solidFill>
              </a:rPr>
              <a:t>compiler requires you to catch the exception in a try-catch block or use the throws keyword.</a:t>
            </a:r>
          </a:p>
          <a:p>
            <a:r>
              <a:rPr lang="en-US" altLang="en-US" sz="4400" b="1" dirty="0">
                <a:solidFill>
                  <a:schemeClr val="tx1"/>
                </a:solidFill>
              </a:rPr>
              <a:t>Cause</a:t>
            </a:r>
            <a:r>
              <a:rPr lang="en-US" altLang="en-US" sz="4400" dirty="0">
                <a:solidFill>
                  <a:schemeClr val="tx1"/>
                </a:solidFill>
              </a:rPr>
              <a:t>: </a:t>
            </a:r>
            <a:br>
              <a:rPr lang="en-US" altLang="en-US" sz="4400" dirty="0">
                <a:solidFill>
                  <a:schemeClr val="tx1"/>
                </a:solidFill>
              </a:rPr>
            </a:br>
            <a:r>
              <a:rPr lang="en-US" altLang="en-US" sz="4400" dirty="0">
                <a:solidFill>
                  <a:schemeClr val="tx1"/>
                </a:solidFill>
              </a:rPr>
              <a:t>They are foreseeable problems, but from which the program can recover. </a:t>
            </a:r>
          </a:p>
          <a:p>
            <a:r>
              <a:rPr lang="en-US" altLang="en-US" sz="4400" b="1" dirty="0">
                <a:solidFill>
                  <a:schemeClr val="tx1"/>
                </a:solidFill>
              </a:rPr>
              <a:t>Inheritance</a:t>
            </a:r>
            <a:r>
              <a:rPr lang="en-US" altLang="en-US" sz="4400" dirty="0">
                <a:solidFill>
                  <a:schemeClr val="tx1"/>
                </a:solidFill>
              </a:rPr>
              <a:t>: </a:t>
            </a:r>
            <a:br>
              <a:rPr lang="en-US" altLang="en-US" sz="4400" dirty="0">
                <a:solidFill>
                  <a:schemeClr val="tx1"/>
                </a:solidFill>
              </a:rPr>
            </a:br>
            <a:r>
              <a:rPr lang="en-US" altLang="en-US" sz="4400" dirty="0">
                <a:solidFill>
                  <a:schemeClr val="tx1"/>
                </a:solidFill>
              </a:rPr>
              <a:t>Subclasses of the </a:t>
            </a:r>
            <a:r>
              <a:rPr lang="en-US" altLang="en-US" sz="4400" dirty="0" err="1">
                <a:solidFill>
                  <a:schemeClr val="tx1"/>
                </a:solidFill>
              </a:rPr>
              <a:t>java.lang.</a:t>
            </a:r>
            <a:r>
              <a:rPr lang="en-US" altLang="en-US" sz="4400" b="1" dirty="0" err="1">
                <a:solidFill>
                  <a:srgbClr val="0000FF"/>
                </a:solidFill>
              </a:rPr>
              <a:t>Exception</a:t>
            </a:r>
            <a:r>
              <a:rPr lang="en-US" altLang="en-US" sz="4400" dirty="0">
                <a:solidFill>
                  <a:schemeClr val="tx1"/>
                </a:solidFill>
              </a:rPr>
              <a:t>.</a:t>
            </a:r>
          </a:p>
          <a:p>
            <a:r>
              <a:rPr lang="en-US" altLang="en-US" sz="4400" dirty="0">
                <a:solidFill>
                  <a:schemeClr val="tx1"/>
                </a:solidFill>
              </a:rPr>
              <a:t>Examples: </a:t>
            </a:r>
            <a:r>
              <a:rPr lang="en-US" altLang="en-US" sz="4400" b="1" dirty="0" err="1">
                <a:solidFill>
                  <a:srgbClr val="0000FF"/>
                </a:solidFill>
              </a:rPr>
              <a:t>IOException</a:t>
            </a:r>
            <a:r>
              <a:rPr lang="en-US" altLang="en-US" sz="4400" dirty="0">
                <a:solidFill>
                  <a:schemeClr val="tx1"/>
                </a:solidFill>
              </a:rPr>
              <a:t>, </a:t>
            </a:r>
            <a:r>
              <a:rPr lang="en-US" altLang="en-US" sz="4400" dirty="0" err="1">
                <a:solidFill>
                  <a:schemeClr val="tx1"/>
                </a:solidFill>
              </a:rPr>
              <a:t>FileNotFoundException</a:t>
            </a:r>
            <a:r>
              <a:rPr lang="en-US" altLang="en-US" sz="4400" dirty="0">
                <a:solidFill>
                  <a:schemeClr val="tx1"/>
                </a:solidFill>
              </a:rPr>
              <a:t>, and </a:t>
            </a:r>
            <a:r>
              <a:rPr lang="en-US" altLang="en-US" sz="4400" dirty="0" err="1">
                <a:solidFill>
                  <a:schemeClr val="tx1"/>
                </a:solidFill>
              </a:rPr>
              <a:t>SQLException</a:t>
            </a:r>
            <a:r>
              <a:rPr lang="en-US" altLang="en-US" sz="4400" dirty="0">
                <a:solidFill>
                  <a:schemeClr val="tx1"/>
                </a:solidFill>
              </a:rPr>
              <a:t>. </a:t>
            </a:r>
          </a:p>
          <a:p>
            <a:pPr marL="0" indent="0">
              <a:buNone/>
            </a:pPr>
            <a:endParaRPr lang="en-US" altLang="en-US" sz="4400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altLang="en-US" sz="5100" b="1" dirty="0">
                <a:solidFill>
                  <a:schemeClr val="tx1"/>
                </a:solidFill>
              </a:rPr>
              <a:t>Unchecked exceptions</a:t>
            </a:r>
          </a:p>
          <a:p>
            <a:r>
              <a:rPr lang="en-US" altLang="en-US" sz="4400" b="1" dirty="0">
                <a:solidFill>
                  <a:schemeClr val="tx1"/>
                </a:solidFill>
              </a:rPr>
              <a:t>Run-Time:</a:t>
            </a:r>
            <a:r>
              <a:rPr lang="en-US" altLang="en-US" sz="4400" dirty="0">
                <a:solidFill>
                  <a:schemeClr val="tx1"/>
                </a:solidFill>
              </a:rPr>
              <a:t> </a:t>
            </a:r>
            <a:br>
              <a:rPr lang="en-US" altLang="en-US" sz="4400" dirty="0">
                <a:solidFill>
                  <a:schemeClr val="tx1"/>
                </a:solidFill>
              </a:rPr>
            </a:br>
            <a:r>
              <a:rPr lang="en-US" altLang="en-US" sz="4400" dirty="0">
                <a:solidFill>
                  <a:schemeClr val="tx1"/>
                </a:solidFill>
              </a:rPr>
              <a:t>Compiler does not check these exceptions. You are not forced to handle them.</a:t>
            </a:r>
          </a:p>
          <a:p>
            <a:r>
              <a:rPr lang="en-US" altLang="en-US" sz="4400" b="1" dirty="0">
                <a:solidFill>
                  <a:schemeClr val="tx1"/>
                </a:solidFill>
              </a:rPr>
              <a:t>Cause: </a:t>
            </a:r>
            <a:br>
              <a:rPr lang="en-US" altLang="en-US" sz="4400" dirty="0">
                <a:solidFill>
                  <a:schemeClr val="tx1"/>
                </a:solidFill>
              </a:rPr>
            </a:br>
            <a:r>
              <a:rPr lang="en-US" altLang="en-US" sz="4400" dirty="0">
                <a:solidFill>
                  <a:schemeClr val="tx1"/>
                </a:solidFill>
              </a:rPr>
              <a:t>They indicate a programming mistake or a logical error. </a:t>
            </a:r>
            <a:br>
              <a:rPr lang="en-US" altLang="en-US" sz="4400" dirty="0">
                <a:solidFill>
                  <a:schemeClr val="tx1"/>
                </a:solidFill>
              </a:rPr>
            </a:br>
            <a:r>
              <a:rPr lang="en-US" altLang="en-US" sz="4400" dirty="0">
                <a:solidFill>
                  <a:schemeClr val="tx1"/>
                </a:solidFill>
              </a:rPr>
              <a:t>Best is to fix the bug rather than adding exception handling.</a:t>
            </a:r>
          </a:p>
          <a:p>
            <a:r>
              <a:rPr lang="en-US" altLang="en-US" sz="4400" b="1" dirty="0">
                <a:solidFill>
                  <a:schemeClr val="tx1"/>
                </a:solidFill>
              </a:rPr>
              <a:t>Inheritance</a:t>
            </a:r>
            <a:r>
              <a:rPr lang="en-US" altLang="en-US" sz="4400" dirty="0">
                <a:solidFill>
                  <a:schemeClr val="tx1"/>
                </a:solidFill>
              </a:rPr>
              <a:t>: Unchecked exceptions are subclasses of </a:t>
            </a:r>
            <a:r>
              <a:rPr lang="en-US" altLang="en-US" sz="4400" dirty="0" err="1">
                <a:solidFill>
                  <a:schemeClr val="tx1"/>
                </a:solidFill>
              </a:rPr>
              <a:t>java.lang.</a:t>
            </a:r>
            <a:r>
              <a:rPr lang="en-US" altLang="en-US" sz="4400" b="1" dirty="0" err="1">
                <a:solidFill>
                  <a:srgbClr val="FF0000"/>
                </a:solidFill>
              </a:rPr>
              <a:t>RuntimeException</a:t>
            </a:r>
            <a:r>
              <a:rPr lang="en-US" altLang="en-US" sz="4400" dirty="0">
                <a:solidFill>
                  <a:schemeClr val="tx1"/>
                </a:solidFill>
              </a:rPr>
              <a:t> or </a:t>
            </a:r>
            <a:r>
              <a:rPr lang="en-US" altLang="en-US" sz="4400" dirty="0" err="1">
                <a:solidFill>
                  <a:schemeClr val="tx1"/>
                </a:solidFill>
              </a:rPr>
              <a:t>java.lang.</a:t>
            </a:r>
            <a:r>
              <a:rPr lang="en-US" altLang="en-US" sz="4400" b="1" dirty="0" err="1">
                <a:solidFill>
                  <a:srgbClr val="7030A0"/>
                </a:solidFill>
              </a:rPr>
              <a:t>Error</a:t>
            </a:r>
            <a:r>
              <a:rPr lang="en-US" altLang="en-US" sz="4400" dirty="0">
                <a:solidFill>
                  <a:schemeClr val="tx1"/>
                </a:solidFill>
              </a:rPr>
              <a:t>.</a:t>
            </a:r>
          </a:p>
          <a:p>
            <a:r>
              <a:rPr lang="en-US" altLang="en-US" sz="4400" b="1" dirty="0">
                <a:solidFill>
                  <a:schemeClr val="tx1"/>
                </a:solidFill>
              </a:rPr>
              <a:t>Examples</a:t>
            </a:r>
            <a:r>
              <a:rPr lang="en-US" altLang="en-US" sz="4400" dirty="0">
                <a:solidFill>
                  <a:schemeClr val="tx1"/>
                </a:solidFill>
              </a:rPr>
              <a:t>: </a:t>
            </a:r>
            <a:r>
              <a:rPr lang="en-US" altLang="en-US" sz="4400" b="1" dirty="0" err="1">
                <a:solidFill>
                  <a:srgbClr val="FF0000"/>
                </a:solidFill>
              </a:rPr>
              <a:t>NullPointerException</a:t>
            </a:r>
            <a:r>
              <a:rPr lang="en-US" altLang="en-US" sz="4400" dirty="0">
                <a:solidFill>
                  <a:schemeClr val="tx1"/>
                </a:solidFill>
              </a:rPr>
              <a:t>, </a:t>
            </a:r>
            <a:r>
              <a:rPr lang="en-US" altLang="en-US" sz="4400" dirty="0" err="1">
                <a:solidFill>
                  <a:schemeClr val="tx1"/>
                </a:solidFill>
              </a:rPr>
              <a:t>ArrayIndexOutOfBoundsException</a:t>
            </a:r>
            <a:r>
              <a:rPr lang="en-US" altLang="en-US" sz="4400" dirty="0">
                <a:solidFill>
                  <a:schemeClr val="tx1"/>
                </a:solidFill>
              </a:rPr>
              <a:t>, and </a:t>
            </a:r>
            <a:r>
              <a:rPr lang="en-US" altLang="en-US" sz="4400" dirty="0" err="1">
                <a:solidFill>
                  <a:schemeClr val="tx1"/>
                </a:solidFill>
              </a:rPr>
              <a:t>ArithmeticException</a:t>
            </a:r>
            <a:r>
              <a:rPr lang="en-US" altLang="en-US" sz="4400" b="1" dirty="0">
                <a:solidFill>
                  <a:srgbClr val="FF0000"/>
                </a:solidFill>
              </a:rPr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5271836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F5DF04-EB8F-3C90-7B11-130071E408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2A613C-EDB8-B841-14D4-4B3E8BA87A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sz="4800" dirty="0"/>
              <a:t>Catching Exceptions</a:t>
            </a:r>
          </a:p>
        </p:txBody>
      </p:sp>
      <p:sp>
        <p:nvSpPr>
          <p:cNvPr id="5123" name="Slide Number Placeholder 3">
            <a:extLst>
              <a:ext uri="{FF2B5EF4-FFF2-40B4-BE49-F238E27FC236}">
                <a16:creationId xmlns:a16="http://schemas.microsoft.com/office/drawing/2014/main" id="{DAD06979-3B96-1B42-69E4-B89D778A807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6444909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Title 1"/>
          <p:cNvSpPr>
            <a:spLocks noGrp="1"/>
          </p:cNvSpPr>
          <p:nvPr>
            <p:ph type="title"/>
          </p:nvPr>
        </p:nvSpPr>
        <p:spPr>
          <a:xfrm>
            <a:off x="944608" y="1028686"/>
            <a:ext cx="4982808" cy="646365"/>
          </a:xfrm>
        </p:spPr>
        <p:txBody>
          <a:bodyPr/>
          <a:lstStyle/>
          <a:p>
            <a:pPr eaLnBrk="1" hangingPunct="1"/>
            <a:r>
              <a:rPr lang="en-US" altLang="en-US" dirty="0"/>
              <a:t>Catching Exceptions</a:t>
            </a:r>
          </a:p>
        </p:txBody>
      </p:sp>
      <p:sp>
        <p:nvSpPr>
          <p:cNvPr id="11268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2796" y="1771877"/>
            <a:ext cx="6520713" cy="295010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0386" y="5419878"/>
            <a:ext cx="4513889" cy="1180009"/>
          </a:xfrm>
          <a:prstGeom prst="rect">
            <a:avLst/>
          </a:prstGeom>
        </p:spPr>
      </p:pic>
      <p:sp>
        <p:nvSpPr>
          <p:cNvPr id="4" name="Down Arrow 3"/>
          <p:cNvSpPr/>
          <p:nvPr/>
        </p:nvSpPr>
        <p:spPr>
          <a:xfrm>
            <a:off x="3882768" y="4478074"/>
            <a:ext cx="380384" cy="941804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197232" y="4187628"/>
            <a:ext cx="29631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Finally, is always executed!</a:t>
            </a:r>
          </a:p>
        </p:txBody>
      </p:sp>
      <p:cxnSp>
        <p:nvCxnSpPr>
          <p:cNvPr id="7" name="Straight Arrow Connector 6"/>
          <p:cNvCxnSpPr/>
          <p:nvPr/>
        </p:nvCxnSpPr>
        <p:spPr>
          <a:xfrm flipH="1" flipV="1">
            <a:off x="4576046" y="4082432"/>
            <a:ext cx="3536219" cy="3074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2B59EF8C-7BAC-871D-B26A-63A75DB0137B}"/>
              </a:ext>
            </a:extLst>
          </p:cNvPr>
          <p:cNvSpPr/>
          <p:nvPr/>
        </p:nvSpPr>
        <p:spPr>
          <a:xfrm>
            <a:off x="4978845" y="2259657"/>
            <a:ext cx="1281587" cy="22657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955828F3-C3D7-C9A4-42F1-7637CC60A0CF}"/>
              </a:ext>
            </a:extLst>
          </p:cNvPr>
          <p:cNvSpPr txBox="1">
            <a:spLocks/>
          </p:cNvSpPr>
          <p:nvPr/>
        </p:nvSpPr>
        <p:spPr>
          <a:xfrm>
            <a:off x="7558199" y="756693"/>
            <a:ext cx="4633801" cy="44756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5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CSEN160_04_Lecture_JavaInMoreDetailsPlusExceptions: “</a:t>
            </a:r>
            <a:r>
              <a:rPr lang="en-US" dirty="0" err="1">
                <a:solidFill>
                  <a:srgbClr val="C00000"/>
                </a:solidFill>
              </a:rPr>
              <a:t>A_Exceptions</a:t>
            </a:r>
            <a:r>
              <a:rPr lang="en-US" dirty="0">
                <a:solidFill>
                  <a:srgbClr val="C00000"/>
                </a:solidFill>
              </a:rPr>
              <a:t> .</a:t>
            </a:r>
            <a:r>
              <a:rPr lang="en-US" dirty="0" err="1">
                <a:solidFill>
                  <a:srgbClr val="C00000"/>
                </a:solidFill>
              </a:rPr>
              <a:t>A_EasyExceptions</a:t>
            </a:r>
            <a:r>
              <a:rPr lang="en-US" dirty="0">
                <a:solidFill>
                  <a:srgbClr val="C00000"/>
                </a:solidFill>
              </a:rPr>
              <a:t>. </a:t>
            </a:r>
            <a:r>
              <a:rPr lang="en-US" dirty="0" err="1">
                <a:solidFill>
                  <a:srgbClr val="C00000"/>
                </a:solidFill>
              </a:rPr>
              <a:t>DivisionByZero_TryCatch</a:t>
            </a:r>
            <a:r>
              <a:rPr lang="en-US" dirty="0">
                <a:solidFill>
                  <a:srgbClr val="C00000"/>
                </a:solidFill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7166695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608" y="1847281"/>
            <a:ext cx="6618687" cy="297732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1266" name="Title 1"/>
          <p:cNvSpPr>
            <a:spLocks noGrp="1"/>
          </p:cNvSpPr>
          <p:nvPr>
            <p:ph type="title"/>
          </p:nvPr>
        </p:nvSpPr>
        <p:spPr>
          <a:xfrm>
            <a:off x="944608" y="1028686"/>
            <a:ext cx="4982808" cy="646365"/>
          </a:xfrm>
        </p:spPr>
        <p:txBody>
          <a:bodyPr/>
          <a:lstStyle/>
          <a:p>
            <a:pPr eaLnBrk="1" hangingPunct="1"/>
            <a:r>
              <a:rPr lang="en-US" altLang="en-US" dirty="0"/>
              <a:t>Catching Exceptions</a:t>
            </a:r>
          </a:p>
        </p:txBody>
      </p:sp>
      <p:sp>
        <p:nvSpPr>
          <p:cNvPr id="11268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4" name="Down Arrow 3"/>
          <p:cNvSpPr/>
          <p:nvPr/>
        </p:nvSpPr>
        <p:spPr>
          <a:xfrm>
            <a:off x="3960993" y="4664831"/>
            <a:ext cx="380384" cy="941804"/>
          </a:xfrm>
          <a:prstGeom prst="downArrow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6755" y="5606635"/>
            <a:ext cx="3380103" cy="101784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980537" y="4987296"/>
            <a:ext cx="29631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Finally, is always executed!</a:t>
            </a:r>
          </a:p>
        </p:txBody>
      </p:sp>
      <p:cxnSp>
        <p:nvCxnSpPr>
          <p:cNvPr id="12" name="Straight Arrow Connector 11"/>
          <p:cNvCxnSpPr>
            <a:stCxn id="11" idx="0"/>
          </p:cNvCxnSpPr>
          <p:nvPr/>
        </p:nvCxnSpPr>
        <p:spPr>
          <a:xfrm flipH="1" flipV="1">
            <a:off x="4488796" y="4163352"/>
            <a:ext cx="1973333" cy="8239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370545" y="4295499"/>
            <a:ext cx="17491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No error case!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6368E9E-7385-DB73-0A6D-466ADE5F99D3}"/>
              </a:ext>
            </a:extLst>
          </p:cNvPr>
          <p:cNvSpPr/>
          <p:nvPr/>
        </p:nvSpPr>
        <p:spPr>
          <a:xfrm>
            <a:off x="4858529" y="2384825"/>
            <a:ext cx="1237471" cy="193943"/>
          </a:xfrm>
          <a:prstGeom prst="rect">
            <a:avLst/>
          </a:prstGeom>
          <a:noFill/>
          <a:ln w="1905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A4E2D54-6CBF-1B72-3EF1-CEB17003B321}"/>
              </a:ext>
            </a:extLst>
          </p:cNvPr>
          <p:cNvSpPr/>
          <p:nvPr/>
        </p:nvSpPr>
        <p:spPr>
          <a:xfrm>
            <a:off x="3438070" y="4345884"/>
            <a:ext cx="1542467" cy="272080"/>
          </a:xfrm>
          <a:prstGeom prst="rect">
            <a:avLst/>
          </a:prstGeom>
          <a:noFill/>
          <a:ln w="1905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1FE1CA2-3D63-A108-02D9-5AED7AB3B28B}"/>
              </a:ext>
            </a:extLst>
          </p:cNvPr>
          <p:cNvSpPr txBox="1">
            <a:spLocks/>
          </p:cNvSpPr>
          <p:nvPr/>
        </p:nvSpPr>
        <p:spPr>
          <a:xfrm>
            <a:off x="7558199" y="756693"/>
            <a:ext cx="4633801" cy="44756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5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CSEN160_04_Lecture_JavaInMoreDetailsPlusExceptions: “</a:t>
            </a:r>
            <a:r>
              <a:rPr lang="en-US" dirty="0" err="1">
                <a:solidFill>
                  <a:srgbClr val="C00000"/>
                </a:solidFill>
              </a:rPr>
              <a:t>A_Exceptions</a:t>
            </a:r>
            <a:r>
              <a:rPr lang="en-US" dirty="0">
                <a:solidFill>
                  <a:srgbClr val="C00000"/>
                </a:solidFill>
              </a:rPr>
              <a:t> .</a:t>
            </a:r>
            <a:r>
              <a:rPr lang="en-US" dirty="0" err="1">
                <a:solidFill>
                  <a:srgbClr val="C00000"/>
                </a:solidFill>
              </a:rPr>
              <a:t>A_EasyExceptions</a:t>
            </a:r>
            <a:r>
              <a:rPr lang="en-US" dirty="0">
                <a:solidFill>
                  <a:srgbClr val="C00000"/>
                </a:solidFill>
              </a:rPr>
              <a:t>. </a:t>
            </a:r>
            <a:r>
              <a:rPr lang="en-US" dirty="0" err="1">
                <a:solidFill>
                  <a:srgbClr val="C00000"/>
                </a:solidFill>
              </a:rPr>
              <a:t>DivisionByZero_TryCatch</a:t>
            </a:r>
            <a:r>
              <a:rPr lang="en-US" dirty="0">
                <a:solidFill>
                  <a:srgbClr val="C00000"/>
                </a:solidFill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5253684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9B13DB-1C2F-9CA8-485D-8C36813AAC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0978D0-0C60-2867-667C-7607BEFC60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sz="4800" dirty="0"/>
              <a:t>Wrapping Exceptions</a:t>
            </a:r>
          </a:p>
        </p:txBody>
      </p:sp>
      <p:sp>
        <p:nvSpPr>
          <p:cNvPr id="5123" name="Slide Number Placeholder 3">
            <a:extLst>
              <a:ext uri="{FF2B5EF4-FFF2-40B4-BE49-F238E27FC236}">
                <a16:creationId xmlns:a16="http://schemas.microsoft.com/office/drawing/2014/main" id="{7AFA492B-25C7-AE05-7918-C7DF3642BA5B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26396599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24378" y="1061055"/>
            <a:ext cx="4942348" cy="593767"/>
          </a:xfrm>
        </p:spPr>
        <p:txBody>
          <a:bodyPr/>
          <a:lstStyle/>
          <a:p>
            <a:r>
              <a:rPr lang="en-US" altLang="en-US" dirty="0"/>
              <a:t>Wrapping Exceptions</a:t>
            </a:r>
          </a:p>
        </p:txBody>
      </p:sp>
      <p:sp>
        <p:nvSpPr>
          <p:cNvPr id="12291" name="Content Placeholder 2"/>
          <p:cNvSpPr>
            <a:spLocks noGrp="1"/>
          </p:cNvSpPr>
          <p:nvPr>
            <p:ph idx="1"/>
          </p:nvPr>
        </p:nvSpPr>
        <p:spPr>
          <a:xfrm>
            <a:off x="924378" y="1798457"/>
            <a:ext cx="10404472" cy="4837012"/>
          </a:xfrm>
        </p:spPr>
        <p:txBody>
          <a:bodyPr/>
          <a:lstStyle/>
          <a:p>
            <a:r>
              <a:rPr lang="en-US" altLang="en-US" sz="2800" dirty="0">
                <a:solidFill>
                  <a:schemeClr val="tx1"/>
                </a:solidFill>
                <a:latin typeface="Helvetica" panose="020B0604020202020204" pitchFamily="34" charset="0"/>
              </a:rPr>
              <a:t>You catch an exception</a:t>
            </a:r>
          </a:p>
          <a:p>
            <a:r>
              <a:rPr lang="en-US" altLang="en-US" sz="2800" dirty="0">
                <a:solidFill>
                  <a:schemeClr val="tx1"/>
                </a:solidFill>
                <a:latin typeface="Helvetica" panose="020B0604020202020204" pitchFamily="34" charset="0"/>
              </a:rPr>
              <a:t>wrap it in a different exception </a:t>
            </a:r>
          </a:p>
          <a:p>
            <a:r>
              <a:rPr lang="en-US" altLang="en-US" sz="2800" dirty="0">
                <a:solidFill>
                  <a:schemeClr val="tx1"/>
                </a:solidFill>
                <a:latin typeface="Helvetica" panose="020B0604020202020204" pitchFamily="34" charset="0"/>
              </a:rPr>
              <a:t>and throw that exception</a:t>
            </a:r>
          </a:p>
          <a:p>
            <a:endParaRPr lang="en-US" altLang="en-US" sz="2800" dirty="0">
              <a:solidFill>
                <a:schemeClr val="tx1"/>
              </a:solidFill>
            </a:endParaRPr>
          </a:p>
          <a:p>
            <a:r>
              <a:rPr lang="en-US" altLang="en-US" sz="2800" dirty="0">
                <a:solidFill>
                  <a:schemeClr val="tx1"/>
                </a:solidFill>
              </a:rPr>
              <a:t>To prevent the code further up the call stack, </a:t>
            </a:r>
            <a:br>
              <a:rPr lang="en-US" altLang="en-US" sz="2800" dirty="0">
                <a:solidFill>
                  <a:schemeClr val="tx1"/>
                </a:solidFill>
              </a:rPr>
            </a:br>
            <a:r>
              <a:rPr lang="en-US" altLang="en-US" sz="2800" dirty="0">
                <a:solidFill>
                  <a:schemeClr val="tx1"/>
                </a:solidFill>
              </a:rPr>
              <a:t>from having to know low-level exception</a:t>
            </a:r>
          </a:p>
          <a:p>
            <a:endParaRPr lang="en-US" altLang="en-US" sz="2800" dirty="0">
              <a:solidFill>
                <a:schemeClr val="tx1"/>
              </a:solidFill>
            </a:endParaRPr>
          </a:p>
          <a:p>
            <a:r>
              <a:rPr lang="en-US" altLang="en-US" sz="2800" dirty="0">
                <a:solidFill>
                  <a:schemeClr val="tx1"/>
                </a:solidFill>
              </a:rPr>
              <a:t>See the example in</a:t>
            </a:r>
            <a:br>
              <a:rPr lang="en-US" altLang="en-US" sz="2800" dirty="0">
                <a:solidFill>
                  <a:schemeClr val="tx1"/>
                </a:solidFill>
              </a:rPr>
            </a:br>
            <a:r>
              <a:rPr lang="en-US" altLang="en-US" sz="2800" dirty="0">
                <a:solidFill>
                  <a:schemeClr val="tx1"/>
                </a:solidFill>
              </a:rPr>
              <a:t>(</a:t>
            </a:r>
            <a:r>
              <a:rPr lang="en-US" altLang="en-US" sz="1800" dirty="0" err="1">
                <a:solidFill>
                  <a:schemeClr val="tx1"/>
                </a:solidFill>
              </a:rPr>
              <a:t>IllegalArgumentException</a:t>
            </a:r>
            <a:r>
              <a:rPr lang="en-US" altLang="en-US" sz="1800" dirty="0">
                <a:solidFill>
                  <a:schemeClr val="tx1"/>
                </a:solidFill>
              </a:rPr>
              <a:t> is thrown and </a:t>
            </a:r>
            <a:r>
              <a:rPr lang="en-US" altLang="en-US" sz="1800" dirty="0" err="1">
                <a:solidFill>
                  <a:schemeClr val="tx1"/>
                </a:solidFill>
              </a:rPr>
              <a:t>catched</a:t>
            </a:r>
            <a:r>
              <a:rPr lang="en-US" altLang="en-US" sz="1800" dirty="0">
                <a:solidFill>
                  <a:schemeClr val="tx1"/>
                </a:solidFill>
              </a:rPr>
              <a:t> and changed into </a:t>
            </a:r>
            <a:r>
              <a:rPr lang="en-US" altLang="en-US" sz="1800" dirty="0" err="1">
                <a:solidFill>
                  <a:schemeClr val="tx1"/>
                </a:solidFill>
              </a:rPr>
              <a:t>MyException</a:t>
            </a:r>
            <a:r>
              <a:rPr lang="en-US" altLang="en-US" sz="1800" dirty="0">
                <a:solidFill>
                  <a:schemeClr val="tx1"/>
                </a:solidFill>
              </a:rPr>
              <a:t>)</a:t>
            </a:r>
            <a:endParaRPr lang="en-US" altLang="en-US" sz="2800" dirty="0">
              <a:solidFill>
                <a:srgbClr val="C00000"/>
              </a:solidFill>
            </a:endParaRP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9D7CB0-8DC8-BD64-E0F9-B4F7072B3594}"/>
              </a:ext>
            </a:extLst>
          </p:cNvPr>
          <p:cNvSpPr txBox="1">
            <a:spLocks/>
          </p:cNvSpPr>
          <p:nvPr/>
        </p:nvSpPr>
        <p:spPr>
          <a:xfrm>
            <a:off x="7558199" y="756693"/>
            <a:ext cx="4633801" cy="44756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CSEN160_04_Lecture_JavaInMoreDetailsPlusExceptions: “</a:t>
            </a:r>
            <a:r>
              <a:rPr lang="en-US" dirty="0" err="1">
                <a:solidFill>
                  <a:srgbClr val="C00000"/>
                </a:solidFill>
              </a:rPr>
              <a:t>A_ExceptionsB_WrapperExceptions.Counter</a:t>
            </a:r>
            <a:r>
              <a:rPr lang="en-US" dirty="0">
                <a:solidFill>
                  <a:srgbClr val="C00000"/>
                </a:solidFill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4349937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BB6ED6-7C00-1F9C-317B-31CE1EA001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2CB90B-5396-FC10-F9E1-7CDBD625FD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sz="4800" dirty="0"/>
              <a:t>Hierarchy</a:t>
            </a:r>
          </a:p>
        </p:txBody>
      </p:sp>
      <p:sp>
        <p:nvSpPr>
          <p:cNvPr id="5123" name="Slide Number Placeholder 3">
            <a:extLst>
              <a:ext uri="{FF2B5EF4-FFF2-40B4-BE49-F238E27FC236}">
                <a16:creationId xmlns:a16="http://schemas.microsoft.com/office/drawing/2014/main" id="{15AC9F39-B5E6-4FAA-9732-8C421E052B7D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4236292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24378" y="996318"/>
            <a:ext cx="4942348" cy="593767"/>
          </a:xfrm>
        </p:spPr>
        <p:txBody>
          <a:bodyPr/>
          <a:lstStyle/>
          <a:p>
            <a:r>
              <a:rPr lang="en-US" altLang="en-US" dirty="0"/>
              <a:t>Exception Hierarchy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4378" y="1834213"/>
            <a:ext cx="5526798" cy="2179436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1810" y="3572241"/>
            <a:ext cx="5719177" cy="3052567"/>
          </a:xfrm>
          <a:prstGeom prst="rect">
            <a:avLst/>
          </a:prstGeom>
        </p:spPr>
      </p:pic>
      <p:cxnSp>
        <p:nvCxnSpPr>
          <p:cNvPr id="6" name="Straight Arrow Connector 5"/>
          <p:cNvCxnSpPr>
            <a:cxnSpLocks/>
          </p:cNvCxnSpPr>
          <p:nvPr/>
        </p:nvCxnSpPr>
        <p:spPr>
          <a:xfrm>
            <a:off x="2431657" y="3629278"/>
            <a:ext cx="3190153" cy="18019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3CBCD5D5-11A1-40E5-E860-7384C0F91314}"/>
              </a:ext>
            </a:extLst>
          </p:cNvPr>
          <p:cNvSpPr txBox="1">
            <a:spLocks/>
          </p:cNvSpPr>
          <p:nvPr/>
        </p:nvSpPr>
        <p:spPr>
          <a:xfrm>
            <a:off x="7558199" y="756693"/>
            <a:ext cx="4633801" cy="44756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CSEN160_04_Lecture_JavaInMoreDetailsPlusExceptions: “</a:t>
            </a:r>
            <a:r>
              <a:rPr lang="en-US" dirty="0" err="1">
                <a:solidFill>
                  <a:srgbClr val="C00000"/>
                </a:solidFill>
              </a:rPr>
              <a:t>A_Exceptions.C_UUWriterExceptions</a:t>
            </a:r>
            <a:r>
              <a:rPr lang="en-US" dirty="0">
                <a:solidFill>
                  <a:srgbClr val="C00000"/>
                </a:solidFill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1658384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24378" y="1061055"/>
            <a:ext cx="4942348" cy="593767"/>
          </a:xfrm>
        </p:spPr>
        <p:txBody>
          <a:bodyPr/>
          <a:lstStyle/>
          <a:p>
            <a:r>
              <a:rPr lang="en-US" altLang="en-US" dirty="0"/>
              <a:t>Exception Hierarchy</a:t>
            </a:r>
          </a:p>
        </p:txBody>
      </p:sp>
      <p:sp>
        <p:nvSpPr>
          <p:cNvPr id="12291" name="Content Placeholder 2"/>
          <p:cNvSpPr>
            <a:spLocks noGrp="1"/>
          </p:cNvSpPr>
          <p:nvPr>
            <p:ph idx="1"/>
          </p:nvPr>
        </p:nvSpPr>
        <p:spPr>
          <a:xfrm>
            <a:off x="924378" y="1798457"/>
            <a:ext cx="10404472" cy="4837012"/>
          </a:xfrm>
        </p:spPr>
        <p:txBody>
          <a:bodyPr/>
          <a:lstStyle/>
          <a:p>
            <a:pPr marL="0" indent="0">
              <a:buNone/>
            </a:pPr>
            <a:r>
              <a:rPr lang="en-US" altLang="en-US" sz="2800" dirty="0">
                <a:solidFill>
                  <a:srgbClr val="333333"/>
                </a:solidFill>
                <a:latin typeface="Helvetica" panose="020B0604020202020204" pitchFamily="34" charset="0"/>
              </a:rPr>
              <a:t>Option 1: </a:t>
            </a:r>
            <a:r>
              <a:rPr lang="en-US" altLang="en-US" sz="1800" b="1" dirty="0">
                <a:solidFill>
                  <a:srgbClr val="92D050"/>
                </a:solidFill>
                <a:latin typeface="Helvetica" panose="020B0604020202020204" pitchFamily="34" charset="0"/>
              </a:rPr>
              <a:t>Optimal, catch exception …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26743" y="2291030"/>
            <a:ext cx="6842924" cy="2293108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6526" y="4979047"/>
            <a:ext cx="6865109" cy="1494581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0D79C0B-2045-8319-2445-5218E2891A96}"/>
              </a:ext>
            </a:extLst>
          </p:cNvPr>
          <p:cNvSpPr txBox="1">
            <a:spLocks/>
          </p:cNvSpPr>
          <p:nvPr/>
        </p:nvSpPr>
        <p:spPr>
          <a:xfrm>
            <a:off x="7558199" y="756693"/>
            <a:ext cx="4633801" cy="44756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CSEN160_04_Lecture_JavaInMoreDetailsPlusExceptions: “</a:t>
            </a:r>
            <a:r>
              <a:rPr lang="en-US" dirty="0" err="1">
                <a:solidFill>
                  <a:srgbClr val="C00000"/>
                </a:solidFill>
              </a:rPr>
              <a:t>A_Exceptions.C_UUWriterExceptions</a:t>
            </a:r>
            <a:r>
              <a:rPr lang="en-US" dirty="0">
                <a:solidFill>
                  <a:srgbClr val="C00000"/>
                </a:solidFill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22760288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24378" y="1061055"/>
            <a:ext cx="4942348" cy="593767"/>
          </a:xfrm>
        </p:spPr>
        <p:txBody>
          <a:bodyPr/>
          <a:lstStyle/>
          <a:p>
            <a:r>
              <a:rPr lang="en-US" altLang="en-US" dirty="0"/>
              <a:t>Exception Hierarchy</a:t>
            </a:r>
          </a:p>
        </p:txBody>
      </p:sp>
      <p:sp>
        <p:nvSpPr>
          <p:cNvPr id="12291" name="Content Placeholder 2"/>
          <p:cNvSpPr>
            <a:spLocks noGrp="1"/>
          </p:cNvSpPr>
          <p:nvPr>
            <p:ph idx="1"/>
          </p:nvPr>
        </p:nvSpPr>
        <p:spPr>
          <a:xfrm>
            <a:off x="924378" y="1798457"/>
            <a:ext cx="10404472" cy="4837012"/>
          </a:xfrm>
        </p:spPr>
        <p:txBody>
          <a:bodyPr/>
          <a:lstStyle/>
          <a:p>
            <a:pPr marL="0" indent="0">
              <a:buNone/>
            </a:pPr>
            <a:r>
              <a:rPr lang="en-US" altLang="en-US" sz="2800" dirty="0">
                <a:solidFill>
                  <a:srgbClr val="333333"/>
                </a:solidFill>
                <a:latin typeface="Helvetica" panose="020B0604020202020204" pitchFamily="34" charset="0"/>
              </a:rPr>
              <a:t>Option 2: </a:t>
            </a:r>
            <a:r>
              <a:rPr lang="en-US" altLang="en-US" sz="2000" b="1" dirty="0">
                <a:solidFill>
                  <a:srgbClr val="FFC000"/>
                </a:solidFill>
                <a:latin typeface="Helvetica" panose="020B0604020202020204" pitchFamily="34" charset="0"/>
              </a:rPr>
              <a:t>Semi optimal: throw away exception to the caller …</a:t>
            </a:r>
          </a:p>
          <a:p>
            <a:pPr marL="0" indent="0">
              <a:buNone/>
            </a:pPr>
            <a:endParaRPr lang="en-US" altLang="en-US" sz="2800" dirty="0">
              <a:solidFill>
                <a:srgbClr val="333333"/>
              </a:solidFill>
              <a:latin typeface="Helvetica" panose="020B0604020202020204" pitchFamily="34" charset="0"/>
            </a:endParaRP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088" y="2218850"/>
            <a:ext cx="9035233" cy="2333603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9371" y="4586424"/>
            <a:ext cx="6874710" cy="2015073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DE53786-D6F7-F49C-311F-4CB1BBBE45FB}"/>
              </a:ext>
            </a:extLst>
          </p:cNvPr>
          <p:cNvSpPr/>
          <p:nvPr/>
        </p:nvSpPr>
        <p:spPr>
          <a:xfrm>
            <a:off x="7900249" y="2797821"/>
            <a:ext cx="2414825" cy="272080"/>
          </a:xfrm>
          <a:prstGeom prst="rect">
            <a:avLst/>
          </a:prstGeom>
          <a:noFill/>
          <a:ln w="19050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AE47AFD0-200D-03E7-FF5D-AF9980B4C854}"/>
              </a:ext>
            </a:extLst>
          </p:cNvPr>
          <p:cNvSpPr txBox="1">
            <a:spLocks/>
          </p:cNvSpPr>
          <p:nvPr/>
        </p:nvSpPr>
        <p:spPr>
          <a:xfrm>
            <a:off x="7558199" y="756693"/>
            <a:ext cx="4633801" cy="44756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CSEN160_04_Lecture_JavaInMoreDetailsPlusExceptions: “</a:t>
            </a:r>
            <a:r>
              <a:rPr lang="en-US" dirty="0" err="1">
                <a:solidFill>
                  <a:srgbClr val="C00000"/>
                </a:solidFill>
              </a:rPr>
              <a:t>A_Exceptions.C_UUWriterExceptions</a:t>
            </a:r>
            <a:r>
              <a:rPr lang="en-US" dirty="0">
                <a:solidFill>
                  <a:srgbClr val="C00000"/>
                </a:solidFill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7535450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24378" y="1061055"/>
            <a:ext cx="4942348" cy="593767"/>
          </a:xfrm>
        </p:spPr>
        <p:txBody>
          <a:bodyPr/>
          <a:lstStyle/>
          <a:p>
            <a:r>
              <a:rPr lang="en-US" altLang="en-US" dirty="0"/>
              <a:t>Exception Hierarchy</a:t>
            </a:r>
          </a:p>
        </p:txBody>
      </p:sp>
      <p:sp>
        <p:nvSpPr>
          <p:cNvPr id="12291" name="Content Placeholder 2"/>
          <p:cNvSpPr>
            <a:spLocks noGrp="1"/>
          </p:cNvSpPr>
          <p:nvPr>
            <p:ph idx="1"/>
          </p:nvPr>
        </p:nvSpPr>
        <p:spPr>
          <a:xfrm>
            <a:off x="924378" y="1798457"/>
            <a:ext cx="10404472" cy="4837012"/>
          </a:xfrm>
        </p:spPr>
        <p:txBody>
          <a:bodyPr/>
          <a:lstStyle/>
          <a:p>
            <a:pPr marL="0" indent="0">
              <a:buNone/>
            </a:pPr>
            <a:r>
              <a:rPr lang="en-US" altLang="en-US" sz="2800" dirty="0">
                <a:solidFill>
                  <a:srgbClr val="333333"/>
                </a:solidFill>
                <a:latin typeface="Helvetica" panose="020B0604020202020204" pitchFamily="34" charset="0"/>
              </a:rPr>
              <a:t>Option 3: </a:t>
            </a:r>
            <a:r>
              <a:rPr lang="en-US" altLang="en-US" sz="2000" b="1" dirty="0">
                <a:solidFill>
                  <a:srgbClr val="FF0000"/>
                </a:solidFill>
                <a:latin typeface="Helvetica" panose="020B0604020202020204" pitchFamily="34" charset="0"/>
              </a:rPr>
              <a:t>I don’t care version! Not recommended …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3817" y="2334627"/>
            <a:ext cx="6058058" cy="1654672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0757" y="4324885"/>
            <a:ext cx="6591937" cy="190193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178903" y="3435069"/>
            <a:ext cx="271083" cy="17802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C1C1F2B-EDA4-883B-AC6D-27CEDCAD3F70}"/>
              </a:ext>
            </a:extLst>
          </p:cNvPr>
          <p:cNvSpPr txBox="1">
            <a:spLocks/>
          </p:cNvSpPr>
          <p:nvPr/>
        </p:nvSpPr>
        <p:spPr>
          <a:xfrm>
            <a:off x="7558199" y="756693"/>
            <a:ext cx="4633801" cy="44756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CSEN160_04_Lecture_JavaInMoreDetailsPlusExceptions: “</a:t>
            </a:r>
            <a:r>
              <a:rPr lang="en-US" dirty="0" err="1">
                <a:solidFill>
                  <a:srgbClr val="C00000"/>
                </a:solidFill>
              </a:rPr>
              <a:t>A_Exceptions.C_UUWriterExceptions</a:t>
            </a:r>
            <a:r>
              <a:rPr lang="en-US" dirty="0">
                <a:solidFill>
                  <a:srgbClr val="C00000"/>
                </a:solidFill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21003718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24378" y="1061055"/>
            <a:ext cx="4942348" cy="593767"/>
          </a:xfrm>
        </p:spPr>
        <p:txBody>
          <a:bodyPr/>
          <a:lstStyle/>
          <a:p>
            <a:r>
              <a:rPr lang="en-US" altLang="en-US" dirty="0"/>
              <a:t>Exception Hierarchy</a:t>
            </a:r>
          </a:p>
        </p:txBody>
      </p:sp>
      <p:sp>
        <p:nvSpPr>
          <p:cNvPr id="12291" name="Content Placeholder 2"/>
          <p:cNvSpPr>
            <a:spLocks noGrp="1"/>
          </p:cNvSpPr>
          <p:nvPr>
            <p:ph idx="1"/>
          </p:nvPr>
        </p:nvSpPr>
        <p:spPr>
          <a:xfrm>
            <a:off x="924378" y="1798457"/>
            <a:ext cx="10404472" cy="4837012"/>
          </a:xfrm>
        </p:spPr>
        <p:txBody>
          <a:bodyPr/>
          <a:lstStyle/>
          <a:p>
            <a:pPr marL="0" indent="0">
              <a:buNone/>
            </a:pPr>
            <a:endParaRPr lang="en-US" altLang="en-US" sz="2800" b="1" dirty="0">
              <a:solidFill>
                <a:srgbClr val="333333"/>
              </a:solidFill>
              <a:latin typeface="Helvetica" panose="020B0604020202020204" pitchFamily="34" charset="0"/>
            </a:endParaRPr>
          </a:p>
          <a:p>
            <a:pPr marL="0" indent="0">
              <a:buNone/>
            </a:pPr>
            <a:r>
              <a:rPr lang="en-US" altLang="en-US" sz="2800" b="1" dirty="0">
                <a:solidFill>
                  <a:schemeClr val="tx1"/>
                </a:solidFill>
                <a:latin typeface="Helvetica" panose="020B0604020202020204" pitchFamily="34" charset="0"/>
              </a:rPr>
              <a:t>For option 1:</a:t>
            </a:r>
          </a:p>
          <a:p>
            <a:endParaRPr lang="en-US" altLang="en-US" sz="2800" dirty="0">
              <a:solidFill>
                <a:schemeClr val="tx1"/>
              </a:solidFill>
              <a:latin typeface="Helvetica" panose="020B0604020202020204" pitchFamily="34" charset="0"/>
            </a:endParaRPr>
          </a:p>
          <a:p>
            <a:r>
              <a:rPr lang="en-US" altLang="en-US" sz="2800" dirty="0">
                <a:solidFill>
                  <a:schemeClr val="tx1"/>
                </a:solidFill>
                <a:latin typeface="Helvetica" panose="020B0604020202020204" pitchFamily="34" charset="0"/>
              </a:rPr>
              <a:t>Inheritance of the exceptions are important</a:t>
            </a:r>
          </a:p>
          <a:p>
            <a:r>
              <a:rPr lang="en-US" altLang="en-US" sz="2800" dirty="0">
                <a:solidFill>
                  <a:schemeClr val="tx1"/>
                </a:solidFill>
                <a:latin typeface="Helvetica" panose="020B0604020202020204" pitchFamily="34" charset="0"/>
              </a:rPr>
              <a:t>Option1 actually throws “</a:t>
            </a:r>
            <a:r>
              <a:rPr lang="en-US" altLang="en-US" sz="2800" b="1" dirty="0" err="1">
                <a:solidFill>
                  <a:schemeClr val="tx1"/>
                </a:solidFill>
                <a:latin typeface="Helvetica" panose="020B0604020202020204" pitchFamily="34" charset="0"/>
              </a:rPr>
              <a:t>java.nio.file.NoSuchFileException</a:t>
            </a:r>
            <a:r>
              <a:rPr lang="en-US" altLang="en-US" sz="2800" dirty="0">
                <a:solidFill>
                  <a:schemeClr val="tx1"/>
                </a:solidFill>
                <a:latin typeface="Helvetica" panose="020B0604020202020204" pitchFamily="34" charset="0"/>
              </a:rPr>
              <a:t>”</a:t>
            </a:r>
          </a:p>
          <a:p>
            <a:r>
              <a:rPr lang="en-US" altLang="en-US" sz="2800" dirty="0">
                <a:solidFill>
                  <a:schemeClr val="tx1"/>
                </a:solidFill>
                <a:latin typeface="Helvetica" panose="020B0604020202020204" pitchFamily="34" charset="0"/>
              </a:rPr>
              <a:t>Which is a child class of “</a:t>
            </a:r>
            <a:r>
              <a:rPr lang="en-US" altLang="en-US" sz="2800" b="1" dirty="0" err="1">
                <a:solidFill>
                  <a:schemeClr val="tx1"/>
                </a:solidFill>
                <a:latin typeface="Helvetica" panose="020B0604020202020204" pitchFamily="34" charset="0"/>
              </a:rPr>
              <a:t>java.io.IOException</a:t>
            </a:r>
            <a:r>
              <a:rPr lang="en-US" altLang="en-US" sz="2800" dirty="0">
                <a:solidFill>
                  <a:schemeClr val="tx1"/>
                </a:solidFill>
                <a:latin typeface="Helvetica" panose="020B0604020202020204" pitchFamily="34" charset="0"/>
              </a:rPr>
              <a:t>”</a:t>
            </a:r>
          </a:p>
          <a:p>
            <a:r>
              <a:rPr lang="en-US" altLang="en-US" sz="2800" dirty="0">
                <a:solidFill>
                  <a:schemeClr val="tx1"/>
                </a:solidFill>
                <a:latin typeface="Helvetica" panose="020B0604020202020204" pitchFamily="34" charset="0"/>
              </a:rPr>
              <a:t>If you catch the</a:t>
            </a:r>
            <a:r>
              <a:rPr lang="en-US" altLang="en-US" sz="2800" dirty="0">
                <a:solidFill>
                  <a:srgbClr val="333333"/>
                </a:solidFill>
                <a:latin typeface="Helvetica" panose="020B0604020202020204" pitchFamily="34" charset="0"/>
              </a:rPr>
              <a:t> </a:t>
            </a:r>
            <a:r>
              <a:rPr lang="en-US" altLang="en-US" sz="2800" b="1" dirty="0">
                <a:solidFill>
                  <a:srgbClr val="92D050"/>
                </a:solidFill>
                <a:latin typeface="Helvetica" panose="020B0604020202020204" pitchFamily="34" charset="0"/>
              </a:rPr>
              <a:t>parent</a:t>
            </a:r>
            <a:r>
              <a:rPr lang="en-US" altLang="en-US" sz="2800" dirty="0">
                <a:solidFill>
                  <a:srgbClr val="333333"/>
                </a:solidFill>
                <a:latin typeface="Helvetica" panose="020B0604020202020204" pitchFamily="34" charset="0"/>
              </a:rPr>
              <a:t> </a:t>
            </a:r>
            <a:r>
              <a:rPr lang="en-US" altLang="en-US" sz="2800" dirty="0">
                <a:solidFill>
                  <a:schemeClr val="tx1"/>
                </a:solidFill>
                <a:latin typeface="Helvetica" panose="020B0604020202020204" pitchFamily="34" charset="0"/>
              </a:rPr>
              <a:t>class first</a:t>
            </a:r>
          </a:p>
          <a:p>
            <a:r>
              <a:rPr lang="en-US" altLang="en-US" sz="2800" dirty="0">
                <a:solidFill>
                  <a:schemeClr val="tx1"/>
                </a:solidFill>
                <a:latin typeface="Helvetica" panose="020B0604020202020204" pitchFamily="34" charset="0"/>
              </a:rPr>
              <a:t>You never catch the</a:t>
            </a:r>
            <a:r>
              <a:rPr lang="en-US" altLang="en-US" sz="2800" dirty="0">
                <a:solidFill>
                  <a:srgbClr val="333333"/>
                </a:solidFill>
                <a:latin typeface="Helvetica" panose="020B0604020202020204" pitchFamily="34" charset="0"/>
              </a:rPr>
              <a:t> </a:t>
            </a:r>
            <a:r>
              <a:rPr lang="en-US" altLang="en-US" sz="2800" b="1" dirty="0">
                <a:solidFill>
                  <a:srgbClr val="FF0000"/>
                </a:solidFill>
                <a:latin typeface="Helvetica" panose="020B0604020202020204" pitchFamily="34" charset="0"/>
              </a:rPr>
              <a:t>child</a:t>
            </a:r>
            <a:r>
              <a:rPr lang="en-US" altLang="en-US" sz="2800" dirty="0">
                <a:solidFill>
                  <a:srgbClr val="333333"/>
                </a:solidFill>
                <a:latin typeface="Helvetica" panose="020B0604020202020204" pitchFamily="34" charset="0"/>
              </a:rPr>
              <a:t> </a:t>
            </a:r>
            <a:r>
              <a:rPr lang="en-US" altLang="en-US" sz="2800" dirty="0">
                <a:solidFill>
                  <a:schemeClr val="tx1"/>
                </a:solidFill>
                <a:latin typeface="Helvetica" panose="020B0604020202020204" pitchFamily="34" charset="0"/>
              </a:rPr>
              <a:t>exception</a:t>
            </a:r>
          </a:p>
          <a:p>
            <a:pPr marL="0" indent="0">
              <a:buNone/>
            </a:pPr>
            <a:endParaRPr lang="en-US" altLang="en-US" sz="2800" dirty="0">
              <a:solidFill>
                <a:srgbClr val="333333"/>
              </a:solidFill>
              <a:latin typeface="Helvetica" panose="020B0604020202020204" pitchFamily="34" charset="0"/>
            </a:endParaRP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29491327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24378" y="1061055"/>
            <a:ext cx="4942348" cy="593767"/>
          </a:xfrm>
        </p:spPr>
        <p:txBody>
          <a:bodyPr/>
          <a:lstStyle/>
          <a:p>
            <a:r>
              <a:rPr lang="en-US" altLang="en-US" dirty="0"/>
              <a:t>Exception Hierarchy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439" y="2276188"/>
            <a:ext cx="10072178" cy="2825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17457" y="3102528"/>
            <a:ext cx="42883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First the specialized exception (child)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70763" y="3689027"/>
            <a:ext cx="47243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Then the more general exception (parent)</a:t>
            </a:r>
          </a:p>
        </p:txBody>
      </p:sp>
      <p:cxnSp>
        <p:nvCxnSpPr>
          <p:cNvPr id="7" name="Straight Arrow Connector 6"/>
          <p:cNvCxnSpPr>
            <a:stCxn id="5" idx="1"/>
          </p:cNvCxnSpPr>
          <p:nvPr/>
        </p:nvCxnSpPr>
        <p:spPr>
          <a:xfrm flipH="1">
            <a:off x="4928739" y="3287194"/>
            <a:ext cx="1988718" cy="54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/>
          <p:nvPr/>
        </p:nvCxnSpPr>
        <p:spPr>
          <a:xfrm flipH="1">
            <a:off x="4194759" y="3883125"/>
            <a:ext cx="2722698" cy="328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718ED648-10C6-88DD-2D4A-B6206F723EDF}"/>
              </a:ext>
            </a:extLst>
          </p:cNvPr>
          <p:cNvSpPr txBox="1">
            <a:spLocks/>
          </p:cNvSpPr>
          <p:nvPr/>
        </p:nvSpPr>
        <p:spPr>
          <a:xfrm>
            <a:off x="7558199" y="756693"/>
            <a:ext cx="4633801" cy="44756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CSEN160_04_Lecture_JavaInMoreDetailsPlusExceptions: “</a:t>
            </a:r>
            <a:r>
              <a:rPr lang="en-US" dirty="0" err="1">
                <a:solidFill>
                  <a:srgbClr val="C00000"/>
                </a:solidFill>
              </a:rPr>
              <a:t>A_Exceptions.C_UUWriterExceptions</a:t>
            </a:r>
            <a:r>
              <a:rPr lang="en-US" dirty="0">
                <a:solidFill>
                  <a:srgbClr val="C00000"/>
                </a:solidFill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12630183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7739" y="2215211"/>
            <a:ext cx="8496522" cy="2427578"/>
          </a:xfrm>
          <a:prstGeom prst="rect">
            <a:avLst/>
          </a:prstGeom>
        </p:spPr>
      </p:pic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24378" y="1061055"/>
            <a:ext cx="4942348" cy="593767"/>
          </a:xfrm>
        </p:spPr>
        <p:txBody>
          <a:bodyPr/>
          <a:lstStyle/>
          <a:p>
            <a:r>
              <a:rPr lang="en-US" altLang="en-US" dirty="0"/>
              <a:t>Exception Hierarchy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17457" y="3686792"/>
            <a:ext cx="39805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The specialized exception second!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89469" y="2915461"/>
            <a:ext cx="34547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The general exception is first!</a:t>
            </a:r>
          </a:p>
        </p:txBody>
      </p:sp>
      <p:cxnSp>
        <p:nvCxnSpPr>
          <p:cNvPr id="7" name="Straight Arrow Connector 6"/>
          <p:cNvCxnSpPr>
            <a:stCxn id="9" idx="1"/>
          </p:cNvCxnSpPr>
          <p:nvPr/>
        </p:nvCxnSpPr>
        <p:spPr>
          <a:xfrm flipH="1" flipV="1">
            <a:off x="4454665" y="3010237"/>
            <a:ext cx="2434804" cy="898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/>
          <p:nvPr/>
        </p:nvCxnSpPr>
        <p:spPr>
          <a:xfrm flipH="1">
            <a:off x="4515356" y="3883125"/>
            <a:ext cx="2402101" cy="642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847739" y="4813955"/>
            <a:ext cx="875962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Problem is: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sng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NoSuchFileException</a:t>
            </a:r>
            <a:r>
              <a:rPr kumimoji="0" lang="en-US" sz="18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cannot be reached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Eclipse helps in this example, but don’t trust it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Issue could be, you have a sophisticated exception handling, but it is not working!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ED3EAA1-FFF3-E3A7-55F7-9AC1E034C050}"/>
              </a:ext>
            </a:extLst>
          </p:cNvPr>
          <p:cNvSpPr txBox="1">
            <a:spLocks/>
          </p:cNvSpPr>
          <p:nvPr/>
        </p:nvSpPr>
        <p:spPr>
          <a:xfrm>
            <a:off x="7558199" y="756693"/>
            <a:ext cx="4633801" cy="44756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CSEN160_04_Lecture_JavaInMoreDetailsPlusExceptions: “</a:t>
            </a:r>
            <a:r>
              <a:rPr lang="en-US" dirty="0" err="1">
                <a:solidFill>
                  <a:srgbClr val="C00000"/>
                </a:solidFill>
              </a:rPr>
              <a:t>A_Exceptions.C_UUWriterExceptions</a:t>
            </a:r>
            <a:r>
              <a:rPr lang="en-US" dirty="0">
                <a:solidFill>
                  <a:srgbClr val="C00000"/>
                </a:solidFill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06444424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CC64AE-99A7-A865-F7EB-6EAD00B87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C7FF62-B17D-C70B-AB83-8538E4E80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sz="4800" dirty="0"/>
              <a:t>Multi Catch</a:t>
            </a:r>
          </a:p>
        </p:txBody>
      </p:sp>
      <p:sp>
        <p:nvSpPr>
          <p:cNvPr id="5123" name="Slide Number Placeholder 3">
            <a:extLst>
              <a:ext uri="{FF2B5EF4-FFF2-40B4-BE49-F238E27FC236}">
                <a16:creationId xmlns:a16="http://schemas.microsoft.com/office/drawing/2014/main" id="{DBD7EB59-ED61-3AC1-5217-49B18733195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78999766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Title 1"/>
          <p:cNvSpPr>
            <a:spLocks noGrp="1"/>
          </p:cNvSpPr>
          <p:nvPr>
            <p:ph type="title"/>
          </p:nvPr>
        </p:nvSpPr>
        <p:spPr>
          <a:xfrm>
            <a:off x="936516" y="1028687"/>
            <a:ext cx="4290939" cy="581629"/>
          </a:xfrm>
        </p:spPr>
        <p:txBody>
          <a:bodyPr>
            <a:normAutofit fontScale="90000"/>
          </a:bodyPr>
          <a:lstStyle/>
          <a:p>
            <a:r>
              <a:rPr lang="en-US" altLang="en-US" dirty="0"/>
              <a:t>Multi catch</a:t>
            </a:r>
          </a:p>
        </p:txBody>
      </p:sp>
      <p:sp>
        <p:nvSpPr>
          <p:cNvPr id="13316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7088" y="1767210"/>
            <a:ext cx="8496522" cy="2482008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3587" y="3812246"/>
            <a:ext cx="8704603" cy="269779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2322414" y="2488301"/>
            <a:ext cx="5425709" cy="214439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67BBBCA1-96A2-8713-E34D-F4D1FDC44FE2}"/>
              </a:ext>
            </a:extLst>
          </p:cNvPr>
          <p:cNvSpPr txBox="1">
            <a:spLocks/>
          </p:cNvSpPr>
          <p:nvPr/>
        </p:nvSpPr>
        <p:spPr>
          <a:xfrm>
            <a:off x="7558199" y="756693"/>
            <a:ext cx="4633801" cy="44756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CSEN160_04_Lecture_JavaInMoreDetailsPlusExceptions: “</a:t>
            </a:r>
            <a:r>
              <a:rPr lang="en-US" dirty="0" err="1">
                <a:solidFill>
                  <a:srgbClr val="C00000"/>
                </a:solidFill>
              </a:rPr>
              <a:t>A_Exceptions.C_UUWriterExceptions</a:t>
            </a:r>
            <a:r>
              <a:rPr lang="en-US" dirty="0">
                <a:solidFill>
                  <a:srgbClr val="C00000"/>
                </a:solidFill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41619068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101A4E-076D-A739-F775-E436E2E18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A8DA7D-E020-453D-DEC0-CB52E15DE6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sz="4800" dirty="0"/>
              <a:t>Own Exceptions</a:t>
            </a:r>
          </a:p>
        </p:txBody>
      </p:sp>
      <p:sp>
        <p:nvSpPr>
          <p:cNvPr id="5123" name="Slide Number Placeholder 3">
            <a:extLst>
              <a:ext uri="{FF2B5EF4-FFF2-40B4-BE49-F238E27FC236}">
                <a16:creationId xmlns:a16="http://schemas.microsoft.com/office/drawing/2014/main" id="{B35936DB-0DF3-6A17-031D-A4D7FB4E85D7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00420697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1624338" y="3112386"/>
            <a:ext cx="9166391" cy="593767"/>
          </a:xfrm>
        </p:spPr>
        <p:txBody>
          <a:bodyPr>
            <a:normAutofit fontScale="90000"/>
          </a:bodyPr>
          <a:lstStyle/>
          <a:p>
            <a:r>
              <a:rPr lang="en-US" altLang="en-US" dirty="0"/>
              <a:t>Question: Why create your own exception?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18017354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24377" y="1061055"/>
            <a:ext cx="6249211" cy="593767"/>
          </a:xfrm>
        </p:spPr>
        <p:txBody>
          <a:bodyPr>
            <a:normAutofit/>
          </a:bodyPr>
          <a:lstStyle/>
          <a:p>
            <a:r>
              <a:rPr lang="en-US" altLang="en-US" dirty="0"/>
              <a:t>Create your Own Exception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24377" y="1654822"/>
            <a:ext cx="6635150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Why?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Can be helpful for your kind of errors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For my: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JPegJavaDecoder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: Created some stupid exceptions …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3873" y="3457112"/>
            <a:ext cx="7320834" cy="1262776"/>
          </a:xfrm>
          <a:prstGeom prst="rect">
            <a:avLst/>
          </a:prstGeom>
          <a:solidFill>
            <a:schemeClr val="tx1"/>
          </a:solidFill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7446" y="5203673"/>
            <a:ext cx="4153009" cy="123556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3317" y="4894141"/>
            <a:ext cx="3929846" cy="171454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43821" y="1869158"/>
            <a:ext cx="3253308" cy="1448578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14" name="Straight Arrow Connector 13"/>
          <p:cNvCxnSpPr>
            <a:endCxn id="10" idx="1"/>
          </p:cNvCxnSpPr>
          <p:nvPr/>
        </p:nvCxnSpPr>
        <p:spPr>
          <a:xfrm flipV="1">
            <a:off x="3095204" y="2593447"/>
            <a:ext cx="5448617" cy="21553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816AAB94-93FE-B238-342A-4CD247DCF30C}"/>
              </a:ext>
            </a:extLst>
          </p:cNvPr>
          <p:cNvSpPr txBox="1">
            <a:spLocks/>
          </p:cNvSpPr>
          <p:nvPr/>
        </p:nvSpPr>
        <p:spPr>
          <a:xfrm>
            <a:off x="8464132" y="728500"/>
            <a:ext cx="3727868" cy="44756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“</a:t>
            </a:r>
            <a:r>
              <a:rPr lang="en-US" dirty="0" err="1">
                <a:solidFill>
                  <a:srgbClr val="C00000"/>
                </a:solidFill>
              </a:rPr>
              <a:t>JPegJavaDecoder</a:t>
            </a:r>
            <a:r>
              <a:rPr lang="en-US" dirty="0">
                <a:solidFill>
                  <a:srgbClr val="C00000"/>
                </a:solidFill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07737429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Title 1"/>
          <p:cNvSpPr>
            <a:spLocks noGrp="1"/>
          </p:cNvSpPr>
          <p:nvPr>
            <p:ph type="title"/>
          </p:nvPr>
        </p:nvSpPr>
        <p:spPr>
          <a:xfrm>
            <a:off x="936516" y="861977"/>
            <a:ext cx="4290939" cy="581629"/>
          </a:xfrm>
        </p:spPr>
        <p:txBody>
          <a:bodyPr>
            <a:normAutofit fontScale="90000"/>
          </a:bodyPr>
          <a:lstStyle/>
          <a:p>
            <a:r>
              <a:rPr lang="en-US" altLang="en-US" dirty="0"/>
              <a:t>Handling Exceptions</a:t>
            </a:r>
          </a:p>
        </p:txBody>
      </p:sp>
      <p:sp>
        <p:nvSpPr>
          <p:cNvPr id="13315" name="Content Placeholder 2"/>
          <p:cNvSpPr>
            <a:spLocks noGrp="1"/>
          </p:cNvSpPr>
          <p:nvPr>
            <p:ph idx="1"/>
          </p:nvPr>
        </p:nvSpPr>
        <p:spPr>
          <a:xfrm>
            <a:off x="936516" y="1567353"/>
            <a:ext cx="10384242" cy="5060023"/>
          </a:xfrm>
        </p:spPr>
        <p:txBody>
          <a:bodyPr/>
          <a:lstStyle/>
          <a:p>
            <a:r>
              <a:rPr lang="en-US" altLang="en-US" dirty="0">
                <a:solidFill>
                  <a:schemeClr val="tx1"/>
                </a:solidFill>
              </a:rPr>
              <a:t>Handling Exceptions:</a:t>
            </a:r>
          </a:p>
        </p:txBody>
      </p:sp>
      <p:sp>
        <p:nvSpPr>
          <p:cNvPr id="13316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140" y="2251817"/>
            <a:ext cx="6350733" cy="4375560"/>
          </a:xfrm>
          <a:prstGeom prst="rect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</a:ln>
        </p:spPr>
      </p:pic>
      <p:sp>
        <p:nvSpPr>
          <p:cNvPr id="3" name="Rectangle 2"/>
          <p:cNvSpPr/>
          <p:nvPr/>
        </p:nvSpPr>
        <p:spPr>
          <a:xfrm>
            <a:off x="3730436" y="3641416"/>
            <a:ext cx="2035147" cy="141611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1645388" y="3955753"/>
            <a:ext cx="5552485" cy="146909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3528135" y="4870057"/>
            <a:ext cx="1274495" cy="163189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1645388" y="5201830"/>
            <a:ext cx="3776283" cy="142960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5830" y="1996993"/>
            <a:ext cx="4029828" cy="167298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1" name="Rectangle 10"/>
          <p:cNvSpPr/>
          <p:nvPr/>
        </p:nvSpPr>
        <p:spPr>
          <a:xfrm>
            <a:off x="9726628" y="1996992"/>
            <a:ext cx="1161207" cy="123121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7762961" y="2392153"/>
            <a:ext cx="3812697" cy="577624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7560" y="4156578"/>
            <a:ext cx="4359843" cy="243846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580092" y="3793729"/>
            <a:ext cx="19030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Launcher Class</a:t>
            </a: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89384" y="5654607"/>
            <a:ext cx="3303901" cy="87632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6508FBB-2563-6938-4484-862A411975B3}"/>
              </a:ext>
            </a:extLst>
          </p:cNvPr>
          <p:cNvSpPr txBox="1">
            <a:spLocks/>
          </p:cNvSpPr>
          <p:nvPr/>
        </p:nvSpPr>
        <p:spPr>
          <a:xfrm>
            <a:off x="7558199" y="756693"/>
            <a:ext cx="4633801" cy="44756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CSEN160_04_Lecture_JavaInMoreDetailsPlusExceptions: “</a:t>
            </a:r>
            <a:r>
              <a:rPr lang="en-US" dirty="0" err="1">
                <a:solidFill>
                  <a:srgbClr val="C00000"/>
                </a:solidFill>
              </a:rPr>
              <a:t>A_Exceptions.D_BankExampleExceptions</a:t>
            </a:r>
            <a:r>
              <a:rPr lang="en-US" dirty="0">
                <a:solidFill>
                  <a:srgbClr val="C00000"/>
                </a:solidFill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1570230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E2C9A4A1-7872-93D3-A9A8-B4118B7FCB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4756" y="1081446"/>
            <a:ext cx="6112958" cy="517542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615ED24-BAF1-AF3D-577F-D84E3C0669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4581" y="1949492"/>
            <a:ext cx="4663172" cy="2021375"/>
          </a:xfrm>
          <a:prstGeom prst="rect">
            <a:avLst/>
          </a:prstGeom>
        </p:spPr>
      </p:pic>
      <p:sp>
        <p:nvSpPr>
          <p:cNvPr id="13314" name="Title 1"/>
          <p:cNvSpPr>
            <a:spLocks noGrp="1"/>
          </p:cNvSpPr>
          <p:nvPr>
            <p:ph type="title"/>
          </p:nvPr>
        </p:nvSpPr>
        <p:spPr>
          <a:xfrm>
            <a:off x="936516" y="834479"/>
            <a:ext cx="4290939" cy="581629"/>
          </a:xfrm>
        </p:spPr>
        <p:txBody>
          <a:bodyPr>
            <a:normAutofit fontScale="90000"/>
          </a:bodyPr>
          <a:lstStyle/>
          <a:p>
            <a:r>
              <a:rPr lang="en-US" altLang="en-US" dirty="0"/>
              <a:t>Handling Exceptions</a:t>
            </a:r>
          </a:p>
        </p:txBody>
      </p:sp>
      <p:sp>
        <p:nvSpPr>
          <p:cNvPr id="13315" name="Content Placeholder 2"/>
          <p:cNvSpPr>
            <a:spLocks noGrp="1"/>
          </p:cNvSpPr>
          <p:nvPr>
            <p:ph idx="1"/>
          </p:nvPr>
        </p:nvSpPr>
        <p:spPr>
          <a:xfrm>
            <a:off x="936516" y="1336731"/>
            <a:ext cx="10384242" cy="5274462"/>
          </a:xfrm>
        </p:spPr>
        <p:txBody>
          <a:bodyPr/>
          <a:lstStyle/>
          <a:p>
            <a:r>
              <a:rPr lang="en-US" altLang="en-US" sz="2000" dirty="0">
                <a:solidFill>
                  <a:srgbClr val="000000"/>
                </a:solidFill>
              </a:rPr>
              <a:t>Exception Wrapping: </a:t>
            </a:r>
            <a:br>
              <a:rPr lang="en-US" altLang="en-US" sz="2000" dirty="0">
                <a:solidFill>
                  <a:srgbClr val="000000"/>
                </a:solidFill>
              </a:rPr>
            </a:br>
            <a:r>
              <a:rPr lang="en-US" altLang="en-US" sz="2000" dirty="0">
                <a:solidFill>
                  <a:srgbClr val="000000"/>
                </a:solidFill>
              </a:rPr>
              <a:t>See eclipse </a:t>
            </a:r>
            <a:r>
              <a:rPr lang="en-US" altLang="en-US" sz="2000" dirty="0">
                <a:solidFill>
                  <a:srgbClr val="0000FF"/>
                </a:solidFill>
              </a:rPr>
              <a:t>ExceptionsDemo2.java</a:t>
            </a:r>
          </a:p>
          <a:p>
            <a:endParaRPr lang="en-US" altLang="en-US" dirty="0">
              <a:solidFill>
                <a:srgbClr val="0000FF"/>
              </a:solidFill>
            </a:endParaRPr>
          </a:p>
        </p:txBody>
      </p:sp>
      <p:sp>
        <p:nvSpPr>
          <p:cNvPr id="13316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9251" y="4101340"/>
            <a:ext cx="3674025" cy="1665558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502" y="5766496"/>
            <a:ext cx="5847050" cy="84509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Rectangle 8"/>
          <p:cNvSpPr/>
          <p:nvPr/>
        </p:nvSpPr>
        <p:spPr>
          <a:xfrm>
            <a:off x="8905286" y="2320029"/>
            <a:ext cx="2213171" cy="127167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853955" y="2602535"/>
            <a:ext cx="4762019" cy="175719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1386436" y="3513041"/>
            <a:ext cx="4322495" cy="140653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Down Arrow 5"/>
          <p:cNvSpPr/>
          <p:nvPr/>
        </p:nvSpPr>
        <p:spPr>
          <a:xfrm rot="15478274">
            <a:off x="4709139" y="2835458"/>
            <a:ext cx="170743" cy="3125301"/>
          </a:xfrm>
          <a:prstGeom prst="downArrow">
            <a:avLst>
              <a:gd name="adj1" fmla="val 3202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250227" y="4724036"/>
            <a:ext cx="1885186" cy="188954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853955" y="5187822"/>
            <a:ext cx="3924112" cy="184784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117762" y="3135091"/>
            <a:ext cx="3180679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1.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IllegalArgumentException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is thrown</a:t>
            </a:r>
          </a:p>
        </p:txBody>
      </p:sp>
      <p:cxnSp>
        <p:nvCxnSpPr>
          <p:cNvPr id="12" name="Straight Arrow Connector 11"/>
          <p:cNvCxnSpPr>
            <a:stCxn id="7" idx="0"/>
            <a:endCxn id="10" idx="2"/>
          </p:cNvCxnSpPr>
          <p:nvPr/>
        </p:nvCxnSpPr>
        <p:spPr>
          <a:xfrm flipH="1" flipV="1">
            <a:off x="9234965" y="2778254"/>
            <a:ext cx="473137" cy="35683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9057000" y="4382409"/>
            <a:ext cx="3270447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2.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IllegalArgumentException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is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catched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cxnSp>
        <p:nvCxnSpPr>
          <p:cNvPr id="16" name="Straight Arrow Connector 15"/>
          <p:cNvCxnSpPr/>
          <p:nvPr/>
        </p:nvCxnSpPr>
        <p:spPr>
          <a:xfrm flipH="1">
            <a:off x="8905286" y="4698635"/>
            <a:ext cx="1714875" cy="2354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104344" y="6090540"/>
            <a:ext cx="2393604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3. wrapped to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MyException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cxnSp>
        <p:nvCxnSpPr>
          <p:cNvPr id="19" name="Straight Arrow Connector 18"/>
          <p:cNvCxnSpPr>
            <a:cxnSpLocks/>
            <a:stCxn id="22" idx="0"/>
          </p:cNvCxnSpPr>
          <p:nvPr/>
        </p:nvCxnSpPr>
        <p:spPr>
          <a:xfrm flipH="1" flipV="1">
            <a:off x="8382000" y="5410626"/>
            <a:ext cx="919146" cy="6799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A70B9400-6BF3-F130-28CA-74CA30AF4251}"/>
              </a:ext>
            </a:extLst>
          </p:cNvPr>
          <p:cNvSpPr txBox="1">
            <a:spLocks/>
          </p:cNvSpPr>
          <p:nvPr/>
        </p:nvSpPr>
        <p:spPr>
          <a:xfrm>
            <a:off x="7558199" y="756693"/>
            <a:ext cx="4633801" cy="44756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CSEN160_04_Lecture_JavaInMoreDetailsPlusExceptions: “</a:t>
            </a:r>
            <a:r>
              <a:rPr lang="en-US" dirty="0" err="1">
                <a:solidFill>
                  <a:srgbClr val="C00000"/>
                </a:solidFill>
              </a:rPr>
              <a:t>A_Exceptions.B_WrapperExceptions</a:t>
            </a:r>
            <a:r>
              <a:rPr lang="en-US" dirty="0">
                <a:solidFill>
                  <a:srgbClr val="C00000"/>
                </a:solidFill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93067167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24377" y="1061055"/>
            <a:ext cx="6144015" cy="593767"/>
          </a:xfrm>
        </p:spPr>
        <p:txBody>
          <a:bodyPr>
            <a:normAutofit fontScale="90000"/>
          </a:bodyPr>
          <a:lstStyle/>
          <a:p>
            <a:r>
              <a:rPr lang="en-US" altLang="en-US" dirty="0"/>
              <a:t>Re-throw everything to main()</a:t>
            </a:r>
          </a:p>
        </p:txBody>
      </p:sp>
      <p:pic>
        <p:nvPicPr>
          <p:cNvPr id="2" name="Content Placeholder 1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42204" y="2392684"/>
            <a:ext cx="7098055" cy="1347635"/>
          </a:xfrm>
          <a:prstGeom prst="rect">
            <a:avLst/>
          </a:prstGeom>
        </p:spPr>
      </p:pic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086" y="4330872"/>
            <a:ext cx="7121414" cy="183930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37336" y="1704388"/>
            <a:ext cx="3313728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Re-throw everything, is lazy!</a:t>
            </a:r>
          </a:p>
        </p:txBody>
      </p:sp>
      <p:cxnSp>
        <p:nvCxnSpPr>
          <p:cNvPr id="5" name="Straight Arrow Connector 4"/>
          <p:cNvCxnSpPr>
            <a:stCxn id="3" idx="2"/>
          </p:cNvCxnSpPr>
          <p:nvPr/>
        </p:nvCxnSpPr>
        <p:spPr>
          <a:xfrm flipH="1">
            <a:off x="7211684" y="2073720"/>
            <a:ext cx="2182516" cy="59280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102825" y="4146206"/>
            <a:ext cx="29931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 throw away </a:t>
            </a:r>
            <a:r>
              <a:rPr lang="en-US" dirty="0" err="1"/>
              <a:t>IOException</a:t>
            </a:r>
            <a:endParaRPr lang="en-US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E985F7B-CBAC-D5B3-D7AA-A30C185176B7}"/>
              </a:ext>
            </a:extLst>
          </p:cNvPr>
          <p:cNvCxnSpPr>
            <a:cxnSpLocks/>
            <a:stCxn id="10" idx="1"/>
          </p:cNvCxnSpPr>
          <p:nvPr/>
        </p:nvCxnSpPr>
        <p:spPr>
          <a:xfrm flipH="1">
            <a:off x="6212617" y="4330872"/>
            <a:ext cx="1890208" cy="4081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364E959E-0B6D-ECDB-D23F-0F0C7A1BC909}"/>
              </a:ext>
            </a:extLst>
          </p:cNvPr>
          <p:cNvSpPr txBox="1">
            <a:spLocks/>
          </p:cNvSpPr>
          <p:nvPr/>
        </p:nvSpPr>
        <p:spPr>
          <a:xfrm>
            <a:off x="7558199" y="756693"/>
            <a:ext cx="4633801" cy="44756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CSEN160_04_Lecture_JavaInMoreDetailsPlusExceptions: “</a:t>
            </a:r>
            <a:r>
              <a:rPr lang="en-US" dirty="0" err="1">
                <a:solidFill>
                  <a:srgbClr val="C00000"/>
                </a:solidFill>
              </a:rPr>
              <a:t>A_Exceptions.C_UUWriterExceptions</a:t>
            </a:r>
            <a:r>
              <a:rPr lang="en-US" dirty="0">
                <a:solidFill>
                  <a:srgbClr val="C00000"/>
                </a:solidFill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79058264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24377" y="1061055"/>
            <a:ext cx="6144015" cy="593767"/>
          </a:xfrm>
        </p:spPr>
        <p:txBody>
          <a:bodyPr>
            <a:normAutofit fontScale="90000"/>
          </a:bodyPr>
          <a:lstStyle/>
          <a:p>
            <a:r>
              <a:rPr lang="en-US" altLang="en-US" dirty="0"/>
              <a:t>Catch unchecked exceptions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6267" y="2159138"/>
            <a:ext cx="5681570" cy="17287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77093" y="4102662"/>
            <a:ext cx="682109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Unchecked exceptions: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Are programming errors/defects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92D050"/>
                </a:solidFill>
              </a:rPr>
              <a:t>Would not occur when your program is correct!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For debugging, catch immediately and figure out the problem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Later, for production, better not!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18CCADE-2009-21FD-A16E-F7865D390F7C}"/>
              </a:ext>
            </a:extLst>
          </p:cNvPr>
          <p:cNvSpPr txBox="1">
            <a:spLocks/>
          </p:cNvSpPr>
          <p:nvPr/>
        </p:nvSpPr>
        <p:spPr>
          <a:xfrm>
            <a:off x="7558199" y="756693"/>
            <a:ext cx="4633801" cy="44756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CSEN160_04_Lecture_JavaInMoreDetailsPlusExceptions: “</a:t>
            </a:r>
            <a:r>
              <a:rPr lang="en-US" dirty="0" err="1">
                <a:solidFill>
                  <a:srgbClr val="C00000"/>
                </a:solidFill>
              </a:rPr>
              <a:t>A_Exceptions.E_MoreExceptions.NullPointer</a:t>
            </a:r>
            <a:r>
              <a:rPr lang="en-US" dirty="0">
                <a:solidFill>
                  <a:srgbClr val="C00000"/>
                </a:solidFill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02392822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24377" y="1061055"/>
            <a:ext cx="6144015" cy="593767"/>
          </a:xfrm>
        </p:spPr>
        <p:txBody>
          <a:bodyPr>
            <a:normAutofit fontScale="90000"/>
          </a:bodyPr>
          <a:lstStyle/>
          <a:p>
            <a:r>
              <a:rPr lang="en-US" altLang="en-US" dirty="0"/>
              <a:t>Try without catch, but finally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0353" y="4899727"/>
            <a:ext cx="41601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Useful? For releasing resources …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998" y="2158738"/>
            <a:ext cx="5121863" cy="2237073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6730BA2-2AF0-EE92-CC27-4DEFFFF1A426}"/>
              </a:ext>
            </a:extLst>
          </p:cNvPr>
          <p:cNvSpPr txBox="1">
            <a:spLocks/>
          </p:cNvSpPr>
          <p:nvPr/>
        </p:nvSpPr>
        <p:spPr>
          <a:xfrm>
            <a:off x="7558199" y="756693"/>
            <a:ext cx="4633801" cy="44756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CSEN160_04_Lecture_JavaInMoreDetailsPlusExceptions: “</a:t>
            </a:r>
            <a:r>
              <a:rPr lang="en-US" dirty="0" err="1">
                <a:solidFill>
                  <a:srgbClr val="C00000"/>
                </a:solidFill>
              </a:rPr>
              <a:t>A_Exceptions.E_MoreExceptions.NoCatch</a:t>
            </a:r>
            <a:r>
              <a:rPr lang="en-US" dirty="0">
                <a:solidFill>
                  <a:srgbClr val="C00000"/>
                </a:solidFill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13681753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24377" y="1061055"/>
            <a:ext cx="6144015" cy="593767"/>
          </a:xfrm>
        </p:spPr>
        <p:txBody>
          <a:bodyPr>
            <a:normAutofit/>
          </a:bodyPr>
          <a:lstStyle/>
          <a:p>
            <a:r>
              <a:rPr lang="en-US" altLang="en-US" dirty="0"/>
              <a:t>Try with resources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0353" y="4899727"/>
            <a:ext cx="784702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b="1" dirty="0"/>
              <a:t>In must be outside the try block</a:t>
            </a:r>
          </a:p>
          <a:p>
            <a:pPr marL="342900" indent="-342900">
              <a:buFont typeface="+mj-lt"/>
              <a:buAutoNum type="arabicPeriod"/>
            </a:pPr>
            <a:r>
              <a:rPr lang="en-US" b="1" dirty="0"/>
              <a:t>Closing “in”, basically needs another try catch</a:t>
            </a:r>
          </a:p>
          <a:p>
            <a:pPr marL="342900" indent="-342900">
              <a:buFont typeface="+mj-lt"/>
              <a:buAutoNum type="arabicPeriod"/>
            </a:pPr>
            <a:r>
              <a:rPr lang="en-US" b="1" dirty="0"/>
              <a:t>If in finally an exception occurs, it overshadows the try exception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998" y="2158738"/>
            <a:ext cx="5121863" cy="2237073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B93E60A-0D0C-97E0-D50D-A3153331392F}"/>
              </a:ext>
            </a:extLst>
          </p:cNvPr>
          <p:cNvSpPr txBox="1">
            <a:spLocks/>
          </p:cNvSpPr>
          <p:nvPr/>
        </p:nvSpPr>
        <p:spPr>
          <a:xfrm>
            <a:off x="7558199" y="756693"/>
            <a:ext cx="4633801" cy="44756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CSEN160_04_Lecture_JavaInMoreDetailsPlusExceptions: “</a:t>
            </a:r>
            <a:r>
              <a:rPr lang="en-US" dirty="0" err="1">
                <a:solidFill>
                  <a:srgbClr val="C00000"/>
                </a:solidFill>
              </a:rPr>
              <a:t>A_Exceptions.E_MoreExceptions.NoCatch</a:t>
            </a:r>
            <a:r>
              <a:rPr lang="en-US" dirty="0">
                <a:solidFill>
                  <a:srgbClr val="C00000"/>
                </a:solidFill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62015539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855366" y="1298255"/>
            <a:ext cx="8276267" cy="593767"/>
          </a:xfrm>
        </p:spPr>
        <p:txBody>
          <a:bodyPr>
            <a:normAutofit/>
          </a:bodyPr>
          <a:lstStyle/>
          <a:p>
            <a:r>
              <a:rPr lang="en-US" altLang="en-US" dirty="0"/>
              <a:t>Throws and overriding in interface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37451" y="5666449"/>
            <a:ext cx="292259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Possible: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FF0000"/>
                </a:solidFill>
              </a:rPr>
              <a:t>But not recommended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6991" y="2620608"/>
            <a:ext cx="5452833" cy="808392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7451" y="4008631"/>
            <a:ext cx="6248330" cy="1399187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48DB1DEA-E80F-0CED-5FB7-2BD49DC8470E}"/>
              </a:ext>
            </a:extLst>
          </p:cNvPr>
          <p:cNvSpPr/>
          <p:nvPr/>
        </p:nvSpPr>
        <p:spPr>
          <a:xfrm>
            <a:off x="5454921" y="4438556"/>
            <a:ext cx="311039" cy="269669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9723AAB-C822-D9F7-72C1-21089C8E022D}"/>
              </a:ext>
            </a:extLst>
          </p:cNvPr>
          <p:cNvSpPr/>
          <p:nvPr/>
        </p:nvSpPr>
        <p:spPr>
          <a:xfrm>
            <a:off x="5996062" y="2889969"/>
            <a:ext cx="2053761" cy="269669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D0FBB5A-0E0C-4168-D2E6-D7514E558A5B}"/>
              </a:ext>
            </a:extLst>
          </p:cNvPr>
          <p:cNvSpPr txBox="1">
            <a:spLocks/>
          </p:cNvSpPr>
          <p:nvPr/>
        </p:nvSpPr>
        <p:spPr>
          <a:xfrm>
            <a:off x="7558199" y="756693"/>
            <a:ext cx="4633801" cy="44756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CSEN160_04_Lecture_JavaInMoreDetailsPlusExceptions: “</a:t>
            </a:r>
            <a:r>
              <a:rPr lang="en-US" dirty="0" err="1">
                <a:solidFill>
                  <a:srgbClr val="C00000"/>
                </a:solidFill>
              </a:rPr>
              <a:t>A_Exceptions.E_MoreExceptions.InterfaceWithException</a:t>
            </a:r>
            <a:r>
              <a:rPr lang="en-US" dirty="0">
                <a:solidFill>
                  <a:srgbClr val="C00000"/>
                </a:solidFill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29788714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24377" y="1061055"/>
            <a:ext cx="8276267" cy="593767"/>
          </a:xfrm>
        </p:spPr>
        <p:txBody>
          <a:bodyPr>
            <a:normAutofit/>
          </a:bodyPr>
          <a:lstStyle/>
          <a:p>
            <a:r>
              <a:rPr lang="en-US" altLang="en-US" dirty="0"/>
              <a:t>Excessive throws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88090" y="4717657"/>
            <a:ext cx="682109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Problem: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Too common exceptions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Be as precise and specialized as possible</a:t>
            </a:r>
            <a:br>
              <a:rPr lang="en-US" dirty="0"/>
            </a:br>
            <a:r>
              <a:rPr lang="en-US" dirty="0"/>
              <a:t>(if you use throws)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Do not annoy implementer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Implementer use maybe does not care “catch (Exception e) </a:t>
            </a:r>
            <a:r>
              <a:rPr lang="en-US" b="1" dirty="0">
                <a:solidFill>
                  <a:srgbClr val="FF0000"/>
                </a:solidFill>
              </a:rPr>
              <a:t>{}</a:t>
            </a:r>
            <a:r>
              <a:rPr lang="en-US" dirty="0"/>
              <a:t>”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7545" y="2254089"/>
            <a:ext cx="9585584" cy="235027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887588" y="2968633"/>
            <a:ext cx="25571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OK because </a:t>
            </a:r>
            <a:r>
              <a:rPr lang="en-US" dirty="0" err="1"/>
              <a:t>openFile</a:t>
            </a:r>
            <a:r>
              <a:rPr lang="en-US" dirty="0"/>
              <a:t>()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13773" y="4117245"/>
            <a:ext cx="34804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Checked exception, not good!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07824" y="2715311"/>
            <a:ext cx="15056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Too common</a:t>
            </a:r>
          </a:p>
        </p:txBody>
      </p:sp>
      <p:cxnSp>
        <p:nvCxnSpPr>
          <p:cNvPr id="7" name="Straight Arrow Connector 6"/>
          <p:cNvCxnSpPr/>
          <p:nvPr/>
        </p:nvCxnSpPr>
        <p:spPr>
          <a:xfrm flipH="1">
            <a:off x="8063713" y="3111388"/>
            <a:ext cx="1011505" cy="5178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/>
          <p:nvPr/>
        </p:nvCxnSpPr>
        <p:spPr>
          <a:xfrm>
            <a:off x="6145901" y="3370333"/>
            <a:ext cx="28322" cy="2589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>
            <a:stCxn id="9" idx="0"/>
          </p:cNvCxnSpPr>
          <p:nvPr/>
        </p:nvCxnSpPr>
        <p:spPr>
          <a:xfrm flipH="1" flipV="1">
            <a:off x="9884421" y="3847763"/>
            <a:ext cx="569572" cy="2694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F484539-D74B-C82C-7EE7-F0D55879D9E4}"/>
              </a:ext>
            </a:extLst>
          </p:cNvPr>
          <p:cNvSpPr txBox="1">
            <a:spLocks/>
          </p:cNvSpPr>
          <p:nvPr/>
        </p:nvSpPr>
        <p:spPr>
          <a:xfrm>
            <a:off x="7558199" y="756693"/>
            <a:ext cx="4633801" cy="44756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CSEN160_04_Lecture_JavaInMoreDetailsPlusExceptions: “</a:t>
            </a:r>
            <a:r>
              <a:rPr lang="en-US" dirty="0" err="1">
                <a:solidFill>
                  <a:srgbClr val="C00000"/>
                </a:solidFill>
              </a:rPr>
              <a:t>A_Exceptions.E_MoreExceptions.InterfaceWithException</a:t>
            </a:r>
            <a:r>
              <a:rPr lang="en-US" dirty="0">
                <a:solidFill>
                  <a:srgbClr val="C00000"/>
                </a:solidFill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58558782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Hard Errors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979184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24377" y="1061055"/>
            <a:ext cx="11015421" cy="593767"/>
          </a:xfrm>
        </p:spPr>
        <p:txBody>
          <a:bodyPr>
            <a:normAutofit/>
          </a:bodyPr>
          <a:lstStyle/>
          <a:p>
            <a:r>
              <a:rPr lang="en-US" altLang="en-US" dirty="0"/>
              <a:t>Hard errors: </a:t>
            </a:r>
            <a:r>
              <a:rPr lang="en-US" altLang="en-US" dirty="0" err="1"/>
              <a:t>java.lang.Error</a:t>
            </a:r>
            <a:r>
              <a:rPr lang="en-US" altLang="en-US" dirty="0"/>
              <a:t>: JVM issues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115" y="1654822"/>
            <a:ext cx="5156715" cy="4794386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1868" y="1863052"/>
            <a:ext cx="4566399" cy="463485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652920" y="6620666"/>
            <a:ext cx="297068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Source: </a:t>
            </a:r>
            <a:r>
              <a:rPr lang="en-US" sz="1100" dirty="0" err="1">
                <a:hlinkClick r:id="rId4"/>
              </a:rPr>
              <a:t>Java.lang.Errors</a:t>
            </a:r>
            <a:r>
              <a:rPr lang="en-US" sz="1100" dirty="0">
                <a:hlinkClick r:id="rId4"/>
              </a:rPr>
              <a:t> (tutorialspoint.com)</a:t>
            </a:r>
            <a:endParaRPr lang="en-US" sz="1100" dirty="0"/>
          </a:p>
        </p:txBody>
      </p:sp>
      <p:sp>
        <p:nvSpPr>
          <p:cNvPr id="11" name="Rectangle 10"/>
          <p:cNvSpPr/>
          <p:nvPr/>
        </p:nvSpPr>
        <p:spPr>
          <a:xfrm>
            <a:off x="6586917" y="3649508"/>
            <a:ext cx="3722336" cy="315589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1240615" y="4363669"/>
            <a:ext cx="4692734" cy="491262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619151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24377" y="1061055"/>
            <a:ext cx="11015421" cy="593767"/>
          </a:xfrm>
        </p:spPr>
        <p:txBody>
          <a:bodyPr>
            <a:normAutofit/>
          </a:bodyPr>
          <a:lstStyle/>
          <a:p>
            <a:r>
              <a:rPr lang="en-US" altLang="en-US" dirty="0"/>
              <a:t>Hard errors: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004610" y="2305753"/>
            <a:ext cx="7564891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java.lang.Errors</a:t>
            </a:r>
            <a:r>
              <a:rPr lang="en-US" dirty="0"/>
              <a:t>: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Are unchecked exceptions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Do nothing (in general)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Or what could you do?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Program terminates 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r>
              <a:rPr lang="en-US" b="1" dirty="0"/>
              <a:t>Maybe: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>
                <a:solidFill>
                  <a:srgbClr val="FF0000"/>
                </a:solidFill>
              </a:rPr>
              <a:t>OutOfMemoryError</a:t>
            </a:r>
            <a:r>
              <a:rPr lang="en-US" dirty="0"/>
              <a:t> manual call garbage collector with </a:t>
            </a:r>
            <a:r>
              <a:rPr lang="en-US" b="1" dirty="0" err="1"/>
              <a:t>System.gc</a:t>
            </a:r>
            <a:r>
              <a:rPr lang="en-US" b="1" dirty="0"/>
              <a:t>();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C112A43-7439-0462-6D16-7A0085763E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6982" y="1535452"/>
            <a:ext cx="7652816" cy="298518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BF5DFF7-82D5-961C-5970-AF56E649EE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9128" y="4837769"/>
            <a:ext cx="4713638" cy="674932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A84F5D3F-B4AB-FF35-3899-8ABAE83A43C4}"/>
              </a:ext>
            </a:extLst>
          </p:cNvPr>
          <p:cNvSpPr/>
          <p:nvPr/>
        </p:nvSpPr>
        <p:spPr>
          <a:xfrm>
            <a:off x="5201848" y="3824530"/>
            <a:ext cx="909918" cy="197504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F48ACBB-E5E5-1ABC-1D98-A211B19E7C28}"/>
              </a:ext>
            </a:extLst>
          </p:cNvPr>
          <p:cNvSpPr txBox="1">
            <a:spLocks/>
          </p:cNvSpPr>
          <p:nvPr/>
        </p:nvSpPr>
        <p:spPr>
          <a:xfrm>
            <a:off x="7558199" y="756693"/>
            <a:ext cx="4633801" cy="44756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CSEN160_04_Lecture_JavaInMoreDetailsPlusExceptions: “</a:t>
            </a:r>
            <a:r>
              <a:rPr lang="en-US" dirty="0" err="1">
                <a:solidFill>
                  <a:srgbClr val="C00000"/>
                </a:solidFill>
              </a:rPr>
              <a:t>A_Exceptions.E_MoreExceptions.OutOfMemoryExample</a:t>
            </a:r>
            <a:r>
              <a:rPr lang="en-US" dirty="0">
                <a:solidFill>
                  <a:srgbClr val="C00000"/>
                </a:solidFill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86267440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/>
              <a:t>Done</a:t>
            </a:r>
            <a:endParaRPr lang="en-US" dirty="0"/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10725377"/>
      </p:ext>
    </p:extLst>
  </p:cSld>
  <p:clrMapOvr>
    <a:masterClrMapping/>
  </p:clrMapOvr>
</p:sld>
</file>

<file path=ppt/theme/theme1.xml><?xml version="1.0" encoding="utf-8"?>
<a:theme xmlns:a="http://schemas.openxmlformats.org/drawingml/2006/main" name="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C2E27841-7055-4EC2-8474-90BDE5ACE175}"/>
    </a:ext>
  </a:extLst>
</a:theme>
</file>

<file path=ppt/theme/theme3.xml><?xml version="1.0" encoding="utf-8"?>
<a:theme xmlns:a="http://schemas.openxmlformats.org/drawingml/2006/main" name="1_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4.xml><?xml version="1.0" encoding="utf-8"?>
<a:theme xmlns:a="http://schemas.openxmlformats.org/drawingml/2006/main" name="2_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SCUTemplate</Template>
  <TotalTime>1165</TotalTime>
  <Words>1429</Words>
  <Application>Microsoft Office PowerPoint</Application>
  <PresentationFormat>Widescreen</PresentationFormat>
  <Paragraphs>273</Paragraphs>
  <Slides>46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46</vt:i4>
      </vt:variant>
    </vt:vector>
  </HeadingPairs>
  <TitlesOfParts>
    <vt:vector size="55" baseType="lpstr">
      <vt:lpstr>Arial</vt:lpstr>
      <vt:lpstr>Arial Narrow</vt:lpstr>
      <vt:lpstr>Calibri</vt:lpstr>
      <vt:lpstr>Garamond</vt:lpstr>
      <vt:lpstr>Helvetica</vt:lpstr>
      <vt:lpstr>SCUTemplate</vt:lpstr>
      <vt:lpstr>Custom Design</vt:lpstr>
      <vt:lpstr>1_SCUTemplate</vt:lpstr>
      <vt:lpstr>2_SCUTemplate</vt:lpstr>
      <vt:lpstr>COEN160</vt:lpstr>
      <vt:lpstr>Java Exceptions</vt:lpstr>
      <vt:lpstr>Exceptions in Java:</vt:lpstr>
      <vt:lpstr>Exceptions</vt:lpstr>
      <vt:lpstr>Exceptions</vt:lpstr>
      <vt:lpstr>Exceptions</vt:lpstr>
      <vt:lpstr>Exceptions</vt:lpstr>
      <vt:lpstr>Exceptions in Java</vt:lpstr>
      <vt:lpstr>Checked vs Unchecked Exceptions</vt:lpstr>
      <vt:lpstr>Checked Exceptions (Compile Time)</vt:lpstr>
      <vt:lpstr>Checked Exceptions (Compile Time)</vt:lpstr>
      <vt:lpstr>Unchecked Exceptions (Run Time)</vt:lpstr>
      <vt:lpstr>Unchecked Exceptions (Run Time)</vt:lpstr>
      <vt:lpstr>PowerPoint Presentation</vt:lpstr>
      <vt:lpstr>PowerPoint Presentation</vt:lpstr>
      <vt:lpstr>PowerPoint Presentation</vt:lpstr>
      <vt:lpstr>Catching Exceptions</vt:lpstr>
      <vt:lpstr>Catching Exceptions</vt:lpstr>
      <vt:lpstr>Catching Exceptions</vt:lpstr>
      <vt:lpstr>Wrapping Exceptions</vt:lpstr>
      <vt:lpstr>Wrapping Exceptions</vt:lpstr>
      <vt:lpstr>Hierarchy</vt:lpstr>
      <vt:lpstr>Exception Hierarchy</vt:lpstr>
      <vt:lpstr>Exception Hierarchy</vt:lpstr>
      <vt:lpstr>Exception Hierarchy</vt:lpstr>
      <vt:lpstr>Exception Hierarchy</vt:lpstr>
      <vt:lpstr>Exception Hierarchy</vt:lpstr>
      <vt:lpstr>Exception Hierarchy</vt:lpstr>
      <vt:lpstr>Exception Hierarchy</vt:lpstr>
      <vt:lpstr>Multi Catch</vt:lpstr>
      <vt:lpstr>Multi catch</vt:lpstr>
      <vt:lpstr>Own Exceptions</vt:lpstr>
      <vt:lpstr>Question: Why create your own exception?</vt:lpstr>
      <vt:lpstr>Create your Own Exception</vt:lpstr>
      <vt:lpstr>Handling Exceptions</vt:lpstr>
      <vt:lpstr>Handling Exceptions</vt:lpstr>
      <vt:lpstr>Re-throw everything to main()</vt:lpstr>
      <vt:lpstr>Catch unchecked exceptions</vt:lpstr>
      <vt:lpstr>Try without catch, but finally</vt:lpstr>
      <vt:lpstr>Try with resources</vt:lpstr>
      <vt:lpstr>Throws and overriding in interface</vt:lpstr>
      <vt:lpstr>Excessive throws</vt:lpstr>
      <vt:lpstr>Hard Errors</vt:lpstr>
      <vt:lpstr>Hard errors: java.lang.Error: JVM issues</vt:lpstr>
      <vt:lpstr>Hard errors:</vt:lpstr>
      <vt:lpstr>Done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Outline</dc:title>
  <dc:creator>Michael Schimpf</dc:creator>
  <cp:lastModifiedBy>Michael Schimpf</cp:lastModifiedBy>
  <cp:revision>208</cp:revision>
  <cp:lastPrinted>2023-09-11T21:46:56Z</cp:lastPrinted>
  <dcterms:created xsi:type="dcterms:W3CDTF">2023-09-09T19:51:41Z</dcterms:created>
  <dcterms:modified xsi:type="dcterms:W3CDTF">2026-08-21T22:24:20Z</dcterms:modified>
</cp:coreProperties>
</file>