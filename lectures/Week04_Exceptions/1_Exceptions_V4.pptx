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9" r:id="rId4"/>
  </p:sldMasterIdLst>
  <p:notesMasterIdLst>
    <p:notesMasterId r:id="rId52"/>
  </p:notesMasterIdLst>
  <p:handoutMasterIdLst>
    <p:handoutMasterId r:id="rId53"/>
  </p:handoutMasterIdLst>
  <p:sldIdLst>
    <p:sldId id="333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418" r:id="rId13"/>
    <p:sldId id="397" r:id="rId14"/>
    <p:sldId id="398" r:id="rId15"/>
    <p:sldId id="399" r:id="rId16"/>
    <p:sldId id="400" r:id="rId17"/>
    <p:sldId id="401" r:id="rId18"/>
    <p:sldId id="402" r:id="rId19"/>
    <p:sldId id="424" r:id="rId20"/>
    <p:sldId id="422" r:id="rId21"/>
    <p:sldId id="403" r:id="rId22"/>
    <p:sldId id="404" r:id="rId23"/>
    <p:sldId id="423" r:id="rId24"/>
    <p:sldId id="405" r:id="rId25"/>
    <p:sldId id="419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20" r:id="rId34"/>
    <p:sldId id="413" r:id="rId35"/>
    <p:sldId id="421" r:id="rId36"/>
    <p:sldId id="414" r:id="rId37"/>
    <p:sldId id="415" r:id="rId38"/>
    <p:sldId id="416" r:id="rId39"/>
    <p:sldId id="417" r:id="rId40"/>
    <p:sldId id="363" r:id="rId41"/>
    <p:sldId id="364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62" r:id="rId50"/>
    <p:sldId id="509" r:id="rId5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382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35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12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05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741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380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12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2691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732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02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098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373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9725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87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281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7991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721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656F1-AD33-45CA-85C7-DC330226D9F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3234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94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44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426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736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899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14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2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059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888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3923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402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08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039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6947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31317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5262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816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347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027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656F1-AD33-45CA-85C7-DC330226D9F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5470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E424D3-C157-4F96-89DF-80820CCC9BB0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1101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6757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8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60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38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7" r:id="rId19"/>
    <p:sldLayoutId id="214748370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18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7.xml"/><Relationship Id="rId4" Type="http://schemas.openxmlformats.org/officeDocument/2006/relationships/hyperlink" Target="https://www.tutorialspoint.com/java/lang/java_lang_errors.htm#:~:text=This%20is%20an%20Error%20is,should%20not%20try%20to%20catch.&amp;text=These%20are%20the%20Signals%20that,occurred%20in%20a%20static%20initializer.&amp;text=This%20is%20Thrown%20when%20an%20incompatible%20class,occurred%20to%20some%20class%20definition.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Java Exceptions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817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093423"/>
            <a:ext cx="4214065" cy="520938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Exceptions in Java: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1728325"/>
            <a:ext cx="10400426" cy="4903097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Throwing exceptions (</a:t>
            </a:r>
            <a:r>
              <a:rPr lang="en-US" altLang="en-US" b="1" dirty="0"/>
              <a:t>throws</a:t>
            </a:r>
            <a:r>
              <a:rPr lang="en-US" altLang="en-US" dirty="0"/>
              <a:t>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Catching and handling exceptions with </a:t>
            </a:r>
            <a:r>
              <a:rPr lang="en-US" altLang="en-US" b="1" dirty="0"/>
              <a:t>try</a:t>
            </a:r>
            <a:r>
              <a:rPr lang="en-US" altLang="en-US" dirty="0"/>
              <a:t> and </a:t>
            </a:r>
            <a:r>
              <a:rPr lang="en-US" altLang="en-US" b="1" dirty="0"/>
              <a:t>catch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Multiple catch blocks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User-defined exceptions</a:t>
            </a: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095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925190" y="998875"/>
            <a:ext cx="2716226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Exceptions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190" y="1843635"/>
            <a:ext cx="10427936" cy="481611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00FF"/>
                </a:solidFill>
              </a:rPr>
              <a:t>error condition</a:t>
            </a:r>
            <a:r>
              <a:rPr lang="en-US" altLang="en-US" dirty="0"/>
              <a:t> that a program encounter. 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Division by zero</a:t>
            </a:r>
          </a:p>
          <a:p>
            <a:pPr lvl="1"/>
            <a:r>
              <a:rPr lang="en-US" altLang="en-US" dirty="0"/>
              <a:t>Accessing </a:t>
            </a:r>
            <a:r>
              <a:rPr lang="en-US" altLang="en-US" b="1" dirty="0">
                <a:solidFill>
                  <a:srgbClr val="FF0000"/>
                </a:solidFill>
              </a:rPr>
              <a:t>index out of bounds </a:t>
            </a:r>
            <a:r>
              <a:rPr lang="en-US" altLang="en-US" dirty="0"/>
              <a:t>(array).</a:t>
            </a:r>
          </a:p>
          <a:p>
            <a:pPr lvl="1"/>
            <a:r>
              <a:rPr lang="en-US" altLang="en-US" dirty="0"/>
              <a:t>Etc.</a:t>
            </a:r>
          </a:p>
          <a:p>
            <a:endParaRPr lang="en-US" altLang="en-US" dirty="0">
              <a:solidFill>
                <a:srgbClr val="000099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99"/>
                </a:solidFill>
              </a:rPr>
              <a:t>An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abnormal condition</a:t>
            </a:r>
            <a:r>
              <a:rPr lang="en-US" altLang="en-US" dirty="0"/>
              <a:t> (logic issue). </a:t>
            </a:r>
          </a:p>
          <a:p>
            <a:pPr lvl="1"/>
            <a:r>
              <a:rPr lang="en-US" altLang="en-US" dirty="0"/>
              <a:t>The balance of a Bank Account </a:t>
            </a:r>
            <a:r>
              <a:rPr lang="en-US" altLang="en-US" b="1" dirty="0">
                <a:solidFill>
                  <a:srgbClr val="FF0000"/>
                </a:solidFill>
              </a:rPr>
              <a:t>below</a:t>
            </a:r>
            <a:r>
              <a:rPr lang="en-US" altLang="en-US" dirty="0"/>
              <a:t> zero. </a:t>
            </a:r>
          </a:p>
          <a:p>
            <a:pPr lvl="1"/>
            <a:r>
              <a:rPr lang="en-US" altLang="en-US" dirty="0"/>
              <a:t>A flight can not be booked</a:t>
            </a:r>
          </a:p>
          <a:p>
            <a:pPr lvl="1"/>
            <a:r>
              <a:rPr lang="en-US" altLang="en-US" dirty="0"/>
              <a:t>A flight can not be canceled</a:t>
            </a:r>
          </a:p>
          <a:p>
            <a:pPr lvl="1"/>
            <a:r>
              <a:rPr lang="en-US" altLang="en-US" dirty="0"/>
              <a:t>Etc.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600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F78B52-A3EB-874A-1777-79337459D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67" y="2363160"/>
            <a:ext cx="8746500" cy="1613745"/>
          </a:xfrm>
          <a:prstGeom prst="rect">
            <a:avLst/>
          </a:prstGeom>
        </p:spPr>
      </p:pic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925190" y="998875"/>
            <a:ext cx="2716226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Exceptions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190" y="1843635"/>
            <a:ext cx="10427936" cy="481611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Division by Zero:</a:t>
            </a:r>
          </a:p>
        </p:txBody>
      </p:sp>
      <p:sp>
        <p:nvSpPr>
          <p:cNvPr id="4" name="Rectangle 3"/>
          <p:cNvSpPr/>
          <p:nvPr/>
        </p:nvSpPr>
        <p:spPr>
          <a:xfrm>
            <a:off x="8730108" y="3005280"/>
            <a:ext cx="439292" cy="291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4956094" y="3631402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817F61-D5F7-2286-AC2D-725D3B014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413" y="4803988"/>
            <a:ext cx="8581959" cy="150208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F91B11-31FE-7E2C-C51C-145A3A2D4408}"/>
              </a:ext>
            </a:extLst>
          </p:cNvPr>
          <p:cNvSpPr txBox="1">
            <a:spLocks/>
          </p:cNvSpPr>
          <p:nvPr/>
        </p:nvSpPr>
        <p:spPr>
          <a:xfrm>
            <a:off x="7533328" y="75099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A_Exceptions.A_EasyExceptions.DivisionByZero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726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945420" y="938185"/>
            <a:ext cx="2700042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Exceptions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420" y="1732371"/>
            <a:ext cx="10419844" cy="4927374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An </a:t>
            </a:r>
            <a:r>
              <a:rPr lang="en-US" altLang="en-US" sz="2800" b="1" dirty="0">
                <a:solidFill>
                  <a:srgbClr val="0000FF"/>
                </a:solidFill>
              </a:rPr>
              <a:t>exception handler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0000FF"/>
                </a:solidFill>
              </a:rPr>
              <a:t>handles</a:t>
            </a:r>
            <a:r>
              <a:rPr lang="en-US" altLang="en-US" sz="2800" dirty="0"/>
              <a:t> the exception!</a:t>
            </a:r>
          </a:p>
          <a:p>
            <a:pPr eaLnBrk="1" hangingPunct="1"/>
            <a:endParaRPr lang="en-US" altLang="en-US" sz="2800" b="1" dirty="0">
              <a:solidFill>
                <a:srgbClr val="800000"/>
              </a:solidFill>
            </a:endParaRPr>
          </a:p>
          <a:p>
            <a:pPr eaLnBrk="1" hangingPunct="1"/>
            <a:r>
              <a:rPr lang="en-US" altLang="en-US" sz="2800" b="1" dirty="0">
                <a:solidFill>
                  <a:srgbClr val="800000"/>
                </a:solidFill>
              </a:rPr>
              <a:t>Handling</a:t>
            </a:r>
            <a:r>
              <a:rPr lang="en-US" altLang="en-US" sz="2800" dirty="0"/>
              <a:t> an </a:t>
            </a:r>
            <a:r>
              <a:rPr lang="en-US" altLang="en-US" sz="2800" b="1" dirty="0">
                <a:solidFill>
                  <a:srgbClr val="0000FF"/>
                </a:solidFill>
              </a:rPr>
              <a:t>exception</a:t>
            </a:r>
            <a:r>
              <a:rPr lang="en-US" altLang="en-US" sz="2800" dirty="0"/>
              <a:t> =&gt; taking corrective action.</a:t>
            </a:r>
          </a:p>
          <a:p>
            <a:pPr eaLnBrk="1" hangingPunct="1"/>
            <a:endParaRPr lang="en-US" altLang="en-US" sz="2800" b="1" dirty="0">
              <a:solidFill>
                <a:srgbClr val="800000"/>
              </a:solidFill>
            </a:endParaRPr>
          </a:p>
          <a:p>
            <a:pPr eaLnBrk="1" hangingPunct="1"/>
            <a:r>
              <a:rPr lang="en-US" altLang="en-US" sz="2800" b="1" dirty="0">
                <a:solidFill>
                  <a:srgbClr val="800000"/>
                </a:solidFill>
              </a:rPr>
              <a:t>Raising</a:t>
            </a:r>
            <a:r>
              <a:rPr lang="en-US" altLang="en-US" sz="2800" dirty="0"/>
              <a:t> an </a:t>
            </a:r>
            <a:r>
              <a:rPr lang="en-US" altLang="en-US" sz="2800" b="1" dirty="0">
                <a:solidFill>
                  <a:srgbClr val="0000FF"/>
                </a:solidFill>
              </a:rPr>
              <a:t>exception</a:t>
            </a:r>
            <a:r>
              <a:rPr lang="en-US" altLang="en-US" sz="2800" dirty="0"/>
              <a:t> is</a:t>
            </a:r>
          </a:p>
          <a:p>
            <a:pPr lvl="1" eaLnBrk="1" hangingPunct="1"/>
            <a:r>
              <a:rPr lang="en-US" altLang="en-US" dirty="0"/>
              <a:t>Interrupting the program.</a:t>
            </a:r>
          </a:p>
          <a:p>
            <a:pPr lvl="1" eaLnBrk="1" hangingPunct="1"/>
            <a:r>
              <a:rPr lang="en-US" altLang="en-US" dirty="0"/>
              <a:t>Calling the exception handler.</a:t>
            </a:r>
          </a:p>
          <a:p>
            <a:pPr eaLnBrk="1" hangingPunct="1"/>
            <a:endParaRPr lang="en-US" altLang="en-US" sz="2800" b="1" dirty="0">
              <a:solidFill>
                <a:srgbClr val="800000"/>
              </a:solidFill>
            </a:endParaRPr>
          </a:p>
          <a:p>
            <a:pPr eaLnBrk="1" hangingPunct="1"/>
            <a:r>
              <a:rPr lang="en-US" altLang="en-US" sz="2800" b="1" dirty="0">
                <a:solidFill>
                  <a:srgbClr val="800000"/>
                </a:solidFill>
              </a:rPr>
              <a:t>Propagating</a:t>
            </a:r>
            <a:r>
              <a:rPr lang="en-US" altLang="en-US" sz="2800" dirty="0"/>
              <a:t> an </a:t>
            </a:r>
            <a:r>
              <a:rPr lang="en-US" altLang="en-US" sz="2800" b="1" dirty="0">
                <a:solidFill>
                  <a:srgbClr val="0000FF"/>
                </a:solidFill>
              </a:rPr>
              <a:t>exception</a:t>
            </a:r>
            <a:r>
              <a:rPr lang="en-US" altLang="en-US" sz="2800" dirty="0"/>
              <a:t> is </a:t>
            </a:r>
          </a:p>
          <a:p>
            <a:pPr lvl="1" eaLnBrk="1" hangingPunct="1"/>
            <a:r>
              <a:rPr lang="en-US" altLang="en-US" dirty="0"/>
              <a:t>Passing the responsibility of handling the exception =&gt; to the caller.</a:t>
            </a:r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8230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949465" y="942231"/>
            <a:ext cx="2712181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Exceptions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465" y="2132102"/>
            <a:ext cx="10403661" cy="430256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If an abnormal condition occurs: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An exception is raised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The program is interrupted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Control is transferred to the exception-handler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b="1" dirty="0">
                <a:solidFill>
                  <a:srgbClr val="FF0000"/>
                </a:solidFill>
              </a:rPr>
              <a:t>No</a:t>
            </a:r>
            <a:r>
              <a:rPr lang="en-US" altLang="en-US" dirty="0"/>
              <a:t> handler, the program </a:t>
            </a:r>
            <a:r>
              <a:rPr lang="en-US" altLang="en-US" b="1" dirty="0">
                <a:solidFill>
                  <a:srgbClr val="FF0000"/>
                </a:solidFill>
              </a:rPr>
              <a:t>terminates</a:t>
            </a:r>
            <a:r>
              <a:rPr lang="en-US" alt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5495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52700" y="955859"/>
            <a:ext cx="3942981" cy="4299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Exceptions in Java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sz="half" idx="1"/>
          </p:nvPr>
        </p:nvSpPr>
        <p:spPr>
          <a:xfrm>
            <a:off x="952700" y="1531419"/>
            <a:ext cx="4359721" cy="511214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In Java, exceptions are defined as </a:t>
            </a:r>
            <a:r>
              <a:rPr lang="en-US" altLang="en-US" dirty="0">
                <a:solidFill>
                  <a:srgbClr val="C00000"/>
                </a:solidFill>
              </a:rPr>
              <a:t>classes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All exceptions are instances of </a:t>
            </a:r>
            <a:r>
              <a:rPr lang="en-US" altLang="en-US" dirty="0" err="1">
                <a:solidFill>
                  <a:srgbClr val="0000FF"/>
                </a:solidFill>
              </a:rPr>
              <a:t>java.lang.Exception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or one of its subclasses.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You can define your own exceptions: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subclass of </a:t>
            </a:r>
            <a:r>
              <a:rPr lang="en-US" altLang="en-US" dirty="0" err="1">
                <a:solidFill>
                  <a:srgbClr val="0000FF"/>
                </a:solidFill>
              </a:rPr>
              <a:t>java.lang.Exception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1026" name="Picture 2" descr="https://files.codingninjas.in/article_images/exceptions-in-java-hierarchy-types-and-its-relation-with-errors-part-1-0-164949558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595" y="1607780"/>
            <a:ext cx="6215233" cy="418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44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149B-9763-6E79-D994-4D0F8836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D9BF-7CA7-695F-C7A7-C98FC0EB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800" dirty="0"/>
              <a:t>Checked vs Unchecked Exceptions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8BE85630-88F6-0AA1-AC6B-755DE4531E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509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913052" y="966507"/>
            <a:ext cx="84582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FF0000"/>
                </a:solidFill>
              </a:rPr>
              <a:t>Checked</a:t>
            </a:r>
            <a:r>
              <a:rPr lang="en-US" altLang="en-US" sz="4000" dirty="0"/>
              <a:t> Exceptions </a:t>
            </a:r>
            <a:r>
              <a:rPr lang="en-US" altLang="en-US" sz="3100" dirty="0"/>
              <a:t>(Compile Time)</a:t>
            </a:r>
            <a:endParaRPr lang="en-US" altLang="en-US" sz="400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052" y="1932649"/>
            <a:ext cx="10436028" cy="4710912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Checked exceptions:</a:t>
            </a:r>
            <a:r>
              <a:rPr lang="en-US" altLang="en-US" sz="2800" b="1" dirty="0"/>
              <a:t> </a:t>
            </a:r>
          </a:p>
          <a:p>
            <a:pPr lvl="1" eaLnBrk="1" hangingPunct="1"/>
            <a:r>
              <a:rPr lang="en-US" altLang="en-US" dirty="0"/>
              <a:t>Represent abnormal conditions </a:t>
            </a:r>
            <a:r>
              <a:rPr lang="en-US" altLang="en-US" b="1" dirty="0">
                <a:solidFill>
                  <a:srgbClr val="FF0000"/>
                </a:solidFill>
              </a:rPr>
              <a:t>must</a:t>
            </a:r>
            <a:r>
              <a:rPr lang="en-US" altLang="en-US" dirty="0"/>
              <a:t> be handled (by you            )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Examples</a:t>
            </a:r>
            <a:r>
              <a:rPr lang="en-US" altLang="en-US" i="1" dirty="0"/>
              <a:t>: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invalid user input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accessing non-existing files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etc.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These are subclasses of class </a:t>
            </a:r>
            <a:r>
              <a:rPr lang="en-US" altLang="en-US" dirty="0" err="1">
                <a:solidFill>
                  <a:srgbClr val="C00000"/>
                </a:solidFill>
              </a:rPr>
              <a:t>java.lang.Exception</a:t>
            </a:r>
            <a:r>
              <a:rPr lang="en-US" altLang="en-US" dirty="0">
                <a:solidFill>
                  <a:srgbClr val="C00000"/>
                </a:solidFill>
              </a:rPr>
              <a:t>.</a:t>
            </a:r>
          </a:p>
          <a:p>
            <a:pPr lvl="1" eaLnBrk="1" hangingPunct="1"/>
            <a:r>
              <a:rPr lang="en-US" altLang="en-US" dirty="0"/>
              <a:t>Checked exceptions must be </a:t>
            </a:r>
            <a:r>
              <a:rPr lang="en-US" altLang="en-US" b="1" dirty="0">
                <a:solidFill>
                  <a:srgbClr val="FF0000"/>
                </a:solidFill>
              </a:rPr>
              <a:t>explicitly caught or propagated</a:t>
            </a:r>
            <a:r>
              <a:rPr lang="en-US" altLang="en-US" dirty="0"/>
              <a:t>. </a:t>
            </a:r>
            <a:endParaRPr lang="en-US" altLang="en-US" dirty="0">
              <a:solidFill>
                <a:srgbClr val="0000FF"/>
              </a:solidFill>
            </a:endParaRPr>
          </a:p>
          <a:p>
            <a:pPr marL="0" indent="0" eaLnBrk="1" hangingPunct="1">
              <a:buNone/>
            </a:pPr>
            <a:endParaRPr lang="en-US" altLang="en-US" dirty="0"/>
          </a:p>
        </p:txBody>
      </p:sp>
      <p:pic>
        <p:nvPicPr>
          <p:cNvPr id="1026" name="Picture 2" descr="Finger Pointing At You Vector Art, Icons, and Graphics for ...">
            <a:extLst>
              <a:ext uri="{FF2B5EF4-FFF2-40B4-BE49-F238E27FC236}">
                <a16:creationId xmlns:a16="http://schemas.microsoft.com/office/drawing/2014/main" id="{81CAEB6F-B990-9071-63D0-6069DB877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734" y="2176198"/>
            <a:ext cx="804069" cy="80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51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AFBD814-EA9C-1492-E60B-ABBDB6CE9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20" y="2136348"/>
            <a:ext cx="4063269" cy="17895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298" y="1692401"/>
            <a:ext cx="6098171" cy="2475567"/>
          </a:xfrm>
          <a:prstGeom prst="rect">
            <a:avLst/>
          </a:prstGeom>
        </p:spPr>
      </p:pic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936408" y="966506"/>
            <a:ext cx="8458200" cy="715962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</a:rPr>
              <a:t>Checked</a:t>
            </a:r>
            <a:r>
              <a:rPr lang="en-US" altLang="en-US" sz="4000" dirty="0"/>
              <a:t> </a:t>
            </a:r>
            <a:r>
              <a:rPr lang="en-US" altLang="en-US" sz="4000" b="0" dirty="0"/>
              <a:t>Exceptions </a:t>
            </a:r>
            <a:r>
              <a:rPr lang="en-US" altLang="en-US" sz="2400" dirty="0"/>
              <a:t>(Compile Time)</a:t>
            </a:r>
            <a:endParaRPr lang="en-US" altLang="en-US" sz="4000" b="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052" y="1682468"/>
            <a:ext cx="10436028" cy="496025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Checked </a:t>
            </a:r>
            <a:r>
              <a:rPr lang="en-US" altLang="en-US" sz="2800" dirty="0">
                <a:solidFill>
                  <a:schemeClr val="tx1"/>
                </a:solidFill>
              </a:rPr>
              <a:t>exceptions</a:t>
            </a:r>
            <a:r>
              <a:rPr lang="en-US" altLang="en-US" sz="2800" b="1" dirty="0">
                <a:solidFill>
                  <a:srgbClr val="0000FF"/>
                </a:solidFill>
              </a:rPr>
              <a:t>:</a:t>
            </a:r>
            <a:r>
              <a:rPr lang="en-US" altLang="en-US" sz="2800" b="1" dirty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625" y="4502042"/>
            <a:ext cx="9296508" cy="18066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43484" y="1782812"/>
            <a:ext cx="1605315" cy="118177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72353" y="2508830"/>
            <a:ext cx="295313" cy="2265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67666" y="2910204"/>
            <a:ext cx="1538835" cy="2265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3091840" y="3843180"/>
            <a:ext cx="397414" cy="60776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BCF7962-0885-364A-4ABA-6F3EF4CF2B88}"/>
              </a:ext>
            </a:extLst>
          </p:cNvPr>
          <p:cNvSpPr txBox="1">
            <a:spLocks/>
          </p:cNvSpPr>
          <p:nvPr/>
        </p:nvSpPr>
        <p:spPr>
          <a:xfrm>
            <a:off x="7558199" y="7470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A_Exceptions.A_EasyExceptions.CheckedException</a:t>
            </a:r>
            <a:r>
              <a:rPr lang="en-US" dirty="0">
                <a:solidFill>
                  <a:srgbClr val="C00000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052926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925189" y="994829"/>
            <a:ext cx="8458200" cy="715962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00FF"/>
                </a:solidFill>
              </a:rPr>
              <a:t>Unchecked </a:t>
            </a:r>
            <a:r>
              <a:rPr lang="en-US" altLang="en-US" sz="4000" b="0" dirty="0"/>
              <a:t>Exceptions </a:t>
            </a:r>
            <a:r>
              <a:rPr lang="en-US" altLang="en-US" sz="2800" dirty="0"/>
              <a:t>(Run Time)</a:t>
            </a:r>
            <a:endParaRPr lang="en-US" altLang="en-US" sz="2800" b="0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188" y="1928603"/>
            <a:ext cx="10415799" cy="47230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3200" b="1" dirty="0">
                <a:solidFill>
                  <a:srgbClr val="0000FF"/>
                </a:solidFill>
              </a:rPr>
              <a:t>Unchecked </a:t>
            </a:r>
            <a:r>
              <a:rPr lang="en-US" altLang="en-US" sz="3200" dirty="0">
                <a:solidFill>
                  <a:schemeClr val="tx1"/>
                </a:solidFill>
              </a:rPr>
              <a:t>exceptions</a:t>
            </a:r>
            <a:r>
              <a:rPr lang="en-US" altLang="en-US" sz="3200" b="1" dirty="0">
                <a:solidFill>
                  <a:schemeClr val="tx1"/>
                </a:solidFill>
              </a:rPr>
              <a:t> </a:t>
            </a:r>
          </a:p>
          <a:p>
            <a:pPr lvl="1" eaLnBrk="1" hangingPunct="1"/>
            <a:r>
              <a:rPr lang="en-US" altLang="en-US" sz="3200" dirty="0">
                <a:solidFill>
                  <a:schemeClr val="tx1"/>
                </a:solidFill>
              </a:rPr>
              <a:t>Represent program defects like:</a:t>
            </a:r>
          </a:p>
          <a:p>
            <a:pPr lvl="2"/>
            <a:r>
              <a:rPr lang="en-US" altLang="en-US" sz="2800" dirty="0">
                <a:solidFill>
                  <a:schemeClr val="tx1"/>
                </a:solidFill>
              </a:rPr>
              <a:t>accessing a </a:t>
            </a:r>
            <a:r>
              <a:rPr lang="en-US" altLang="en-US" sz="2800" b="1" dirty="0">
                <a:solidFill>
                  <a:srgbClr val="FF0000"/>
                </a:solidFill>
              </a:rPr>
              <a:t>null pointer</a:t>
            </a:r>
          </a:p>
          <a:p>
            <a:pPr lvl="2"/>
            <a:r>
              <a:rPr lang="en-US" altLang="en-US" sz="2800" dirty="0">
                <a:solidFill>
                  <a:schemeClr val="tx1"/>
                </a:solidFill>
              </a:rPr>
              <a:t>accessing an </a:t>
            </a:r>
            <a:r>
              <a:rPr lang="en-US" altLang="en-US" sz="2800" b="1" dirty="0">
                <a:solidFill>
                  <a:srgbClr val="FF0000"/>
                </a:solidFill>
              </a:rPr>
              <a:t>index out of bounds</a:t>
            </a:r>
          </a:p>
          <a:p>
            <a:pPr lvl="1" eaLnBrk="1" hangingPunct="1"/>
            <a:endParaRPr lang="en-US" altLang="en-US" sz="3200" dirty="0"/>
          </a:p>
          <a:p>
            <a:pPr lvl="1" eaLnBrk="1" hangingPunct="1"/>
            <a:r>
              <a:rPr lang="en-US" altLang="en-US" sz="3200" dirty="0">
                <a:solidFill>
                  <a:schemeClr val="tx1"/>
                </a:solidFill>
              </a:rPr>
              <a:t>They are subclasses of </a:t>
            </a:r>
            <a:r>
              <a:rPr lang="en-US" altLang="en-US" sz="3200" dirty="0" err="1">
                <a:solidFill>
                  <a:srgbClr val="C00000"/>
                </a:solidFill>
              </a:rPr>
              <a:t>java.lang.RuntimeException</a:t>
            </a:r>
            <a:r>
              <a:rPr lang="en-US" altLang="en-US" sz="3200" dirty="0">
                <a:solidFill>
                  <a:srgbClr val="C00000"/>
                </a:solidFill>
              </a:rPr>
              <a:t>.</a:t>
            </a:r>
          </a:p>
          <a:p>
            <a:pPr lvl="1" eaLnBrk="1" hangingPunct="1"/>
            <a:endParaRPr lang="en-US" altLang="en-US" sz="3200" dirty="0"/>
          </a:p>
          <a:p>
            <a:pPr lvl="1" eaLnBrk="1" hangingPunct="1"/>
            <a:r>
              <a:rPr lang="en-US" altLang="en-US" sz="3200" b="1" dirty="0">
                <a:solidFill>
                  <a:srgbClr val="0000FF"/>
                </a:solidFill>
              </a:rPr>
              <a:t>Unchecked </a:t>
            </a:r>
            <a:r>
              <a:rPr lang="en-US" altLang="en-US" sz="3200" dirty="0">
                <a:solidFill>
                  <a:schemeClr val="tx1"/>
                </a:solidFill>
              </a:rPr>
              <a:t>exceptions</a:t>
            </a:r>
            <a:r>
              <a:rPr lang="en-US" altLang="en-US" sz="3200" b="1" dirty="0">
                <a:solidFill>
                  <a:schemeClr val="tx1"/>
                </a:solidFill>
              </a:rPr>
              <a:t> don't</a:t>
            </a:r>
            <a:r>
              <a:rPr lang="en-US" altLang="en-US" sz="3200" dirty="0">
                <a:solidFill>
                  <a:schemeClr val="tx1"/>
                </a:solidFill>
              </a:rPr>
              <a:t> have to be caught or thrown.</a:t>
            </a:r>
          </a:p>
          <a:p>
            <a:pPr lvl="1" eaLnBrk="1" hangingPunct="1"/>
            <a:r>
              <a:rPr lang="en-US" altLang="en-US" sz="3200" dirty="0">
                <a:solidFill>
                  <a:schemeClr val="tx1"/>
                </a:solidFill>
              </a:rPr>
              <a:t>Needs to </a:t>
            </a:r>
            <a:r>
              <a:rPr lang="en-US" altLang="en-US" sz="3200">
                <a:solidFill>
                  <a:schemeClr val="tx1"/>
                </a:solidFill>
              </a:rPr>
              <a:t>be fixed: </a:t>
            </a:r>
            <a:r>
              <a:rPr lang="en-US" altLang="en-US" sz="3200" dirty="0">
                <a:solidFill>
                  <a:schemeClr val="tx1"/>
                </a:solidFill>
              </a:rPr>
              <a:t>programmer's error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327BB1-2764-2699-3236-1319C7A37AEE}"/>
              </a:ext>
            </a:extLst>
          </p:cNvPr>
          <p:cNvSpPr txBox="1"/>
          <p:nvPr/>
        </p:nvSpPr>
        <p:spPr>
          <a:xfrm>
            <a:off x="7315200" y="2599606"/>
            <a:ext cx="4623759" cy="120032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NullPointerException</a:t>
            </a:r>
            <a:endParaRPr lang="en-US" dirty="0"/>
          </a:p>
          <a:p>
            <a:pPr algn="ctr"/>
            <a:r>
              <a:rPr lang="en-US" dirty="0" err="1"/>
              <a:t>ArithmeticException</a:t>
            </a:r>
            <a:r>
              <a:rPr lang="en-US" dirty="0"/>
              <a:t> (5/0)</a:t>
            </a:r>
          </a:p>
          <a:p>
            <a:pPr algn="ctr"/>
            <a:r>
              <a:rPr lang="en-US" dirty="0" err="1"/>
              <a:t>IllegalArgumentException</a:t>
            </a:r>
            <a:r>
              <a:rPr lang="en-US" dirty="0"/>
              <a:t> (parameters)</a:t>
            </a:r>
          </a:p>
          <a:p>
            <a:pPr algn="ctr"/>
            <a:r>
              <a:rPr lang="en-US" dirty="0" err="1"/>
              <a:t>IndexOutOfBoundsException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1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767" y="2332138"/>
            <a:ext cx="5540346" cy="23392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913052" y="966507"/>
            <a:ext cx="8458200" cy="715962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00FF"/>
                </a:solidFill>
              </a:rPr>
              <a:t>Unchecked</a:t>
            </a:r>
            <a:r>
              <a:rPr lang="en-US" altLang="en-US" sz="4000" dirty="0"/>
              <a:t> </a:t>
            </a:r>
            <a:r>
              <a:rPr lang="en-US" altLang="en-US" sz="4000" b="0" dirty="0"/>
              <a:t>Exceptions </a:t>
            </a:r>
            <a:r>
              <a:rPr lang="en-US" altLang="en-US" sz="2400" dirty="0"/>
              <a:t>(Run Time)</a:t>
            </a:r>
            <a:endParaRPr lang="en-US" altLang="en-US" sz="2400" b="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052" y="1682468"/>
            <a:ext cx="10436028" cy="496025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0000FF"/>
                </a:solidFill>
              </a:rPr>
              <a:t>Unchecked </a:t>
            </a:r>
            <a:r>
              <a:rPr lang="en-US" altLang="en-US" sz="2800" dirty="0">
                <a:solidFill>
                  <a:schemeClr val="tx1"/>
                </a:solidFill>
              </a:rPr>
              <a:t>exceptions</a:t>
            </a:r>
            <a:r>
              <a:rPr lang="en-US" altLang="en-US" sz="2800" b="1" dirty="0">
                <a:solidFill>
                  <a:srgbClr val="0000FF"/>
                </a:solidFill>
              </a:rPr>
              <a:t>:</a:t>
            </a:r>
            <a:r>
              <a:rPr lang="en-US" altLang="en-US" sz="2800" b="1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14940" y="3500324"/>
            <a:ext cx="643655" cy="2265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94" y="5257425"/>
            <a:ext cx="10330813" cy="996069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5460322" y="4506515"/>
            <a:ext cx="397414" cy="81454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CE62A3-E5E6-4222-CEBE-CF8A216BEAE4}"/>
              </a:ext>
            </a:extLst>
          </p:cNvPr>
          <p:cNvSpPr txBox="1">
            <a:spLocks/>
          </p:cNvSpPr>
          <p:nvPr/>
        </p:nvSpPr>
        <p:spPr>
          <a:xfrm>
            <a:off x="7533328" y="75099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</a:t>
            </a:r>
            <a:r>
              <a:rPr lang="en-US" dirty="0">
                <a:solidFill>
                  <a:srgbClr val="C00000"/>
                </a:solidFill>
              </a:rPr>
              <a:t> .</a:t>
            </a:r>
            <a:r>
              <a:rPr lang="en-US" dirty="0" err="1">
                <a:solidFill>
                  <a:srgbClr val="C00000"/>
                </a:solidFill>
              </a:rPr>
              <a:t>A_EasyExceptions.UncheckedException</a:t>
            </a:r>
            <a:r>
              <a:rPr lang="en-US" dirty="0">
                <a:solidFill>
                  <a:srgbClr val="C00000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266979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052" y="1932649"/>
            <a:ext cx="10436028" cy="4710912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endParaRPr lang="en-US" altLang="en-US" sz="2800" b="1" dirty="0">
              <a:solidFill>
                <a:srgbClr val="0000FF"/>
              </a:solidFill>
            </a:endParaRPr>
          </a:p>
          <a:p>
            <a:pPr marL="0" indent="0" algn="ctr" eaLnBrk="1" hangingPunct="1">
              <a:buNone/>
            </a:pPr>
            <a:r>
              <a:rPr lang="en-US" altLang="en-US" sz="4800" b="1" dirty="0">
                <a:solidFill>
                  <a:srgbClr val="FF0000"/>
                </a:solidFill>
              </a:rPr>
              <a:t>Checked </a:t>
            </a:r>
            <a:r>
              <a:rPr lang="en-US" altLang="en-US" sz="4800" dirty="0">
                <a:solidFill>
                  <a:schemeClr val="tx1"/>
                </a:solidFill>
              </a:rPr>
              <a:t>exceptions</a:t>
            </a:r>
            <a:r>
              <a:rPr lang="en-US" altLang="en-US" sz="4800" b="1" dirty="0">
                <a:solidFill>
                  <a:srgbClr val="0000FF"/>
                </a:solidFill>
              </a:rPr>
              <a:t>:</a:t>
            </a:r>
            <a:r>
              <a:rPr lang="en-US" altLang="en-US" sz="4800" b="1" dirty="0"/>
              <a:t> </a:t>
            </a:r>
            <a:br>
              <a:rPr lang="en-US" altLang="en-US" sz="4800" b="1" dirty="0"/>
            </a:br>
            <a:r>
              <a:rPr lang="en-US" altLang="en-US" sz="4400" dirty="0"/>
              <a:t>abnormal conditions </a:t>
            </a:r>
            <a:r>
              <a:rPr lang="en-US" altLang="en-US" sz="4400" b="1" dirty="0">
                <a:solidFill>
                  <a:srgbClr val="FF0000"/>
                </a:solidFill>
              </a:rPr>
              <a:t>must</a:t>
            </a:r>
            <a:r>
              <a:rPr lang="en-US" altLang="en-US" sz="4400" dirty="0"/>
              <a:t> be handled!</a:t>
            </a:r>
            <a:br>
              <a:rPr lang="en-US" altLang="en-US" sz="4400" dirty="0"/>
            </a:br>
            <a:r>
              <a:rPr lang="en-US" altLang="en-US" sz="4400" dirty="0"/>
              <a:t>i.e. </a:t>
            </a:r>
            <a:r>
              <a:rPr lang="en-US" altLang="en-US" sz="3600" dirty="0" err="1"/>
              <a:t>NumberFormatException</a:t>
            </a:r>
            <a:endParaRPr lang="en-US" altLang="en-US" sz="3600" dirty="0"/>
          </a:p>
          <a:p>
            <a:pPr marL="0" indent="0" algn="ctr">
              <a:buNone/>
            </a:pPr>
            <a:r>
              <a:rPr lang="en-US" altLang="en-US" sz="3600" b="1" dirty="0"/>
              <a:t>(Compile Time)</a:t>
            </a:r>
            <a:endParaRPr lang="en-US" altLang="en-US" sz="3600" dirty="0"/>
          </a:p>
        </p:txBody>
      </p:sp>
      <p:pic>
        <p:nvPicPr>
          <p:cNvPr id="2" name="Picture 2" descr="Finger Pointing At You Vector Art, Icons, and Graphics for ...">
            <a:extLst>
              <a:ext uri="{FF2B5EF4-FFF2-40B4-BE49-F238E27FC236}">
                <a16:creationId xmlns:a16="http://schemas.microsoft.com/office/drawing/2014/main" id="{312283DE-234B-F731-2C4E-69B0EB47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1" y="2764367"/>
            <a:ext cx="1329266" cy="132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349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052" y="1932649"/>
            <a:ext cx="10436028" cy="4710912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endParaRPr lang="en-US" altLang="en-US" sz="2800" b="1" dirty="0">
              <a:solidFill>
                <a:srgbClr val="0000FF"/>
              </a:solidFill>
            </a:endParaRPr>
          </a:p>
          <a:p>
            <a:pPr marL="0" indent="0" algn="ctr">
              <a:buNone/>
            </a:pPr>
            <a:r>
              <a:rPr lang="en-US" altLang="en-US" sz="4800" b="1" dirty="0">
                <a:solidFill>
                  <a:srgbClr val="0000FF"/>
                </a:solidFill>
              </a:rPr>
              <a:t>Unchecked </a:t>
            </a:r>
            <a:r>
              <a:rPr lang="en-US" altLang="en-US" sz="4800" dirty="0">
                <a:solidFill>
                  <a:schemeClr val="tx1"/>
                </a:solidFill>
              </a:rPr>
              <a:t>exceptions</a:t>
            </a:r>
            <a:r>
              <a:rPr lang="en-US" altLang="en-US" sz="4800" b="1" dirty="0">
                <a:solidFill>
                  <a:srgbClr val="0000FF"/>
                </a:solidFill>
              </a:rPr>
              <a:t>:</a:t>
            </a:r>
            <a:r>
              <a:rPr lang="en-US" altLang="en-US" sz="4800" b="1" dirty="0"/>
              <a:t> </a:t>
            </a:r>
            <a:br>
              <a:rPr lang="en-US" altLang="en-US" sz="4800" b="1" dirty="0"/>
            </a:br>
            <a:r>
              <a:rPr lang="en-US" altLang="en-US" sz="4400" dirty="0"/>
              <a:t>program defects!</a:t>
            </a:r>
            <a:br>
              <a:rPr lang="en-US" altLang="en-US" sz="4400" dirty="0"/>
            </a:br>
            <a:r>
              <a:rPr lang="en-US" altLang="en-US" sz="4400" dirty="0"/>
              <a:t>i.e. </a:t>
            </a:r>
            <a:r>
              <a:rPr lang="en-US" altLang="en-US" sz="3600" b="1" dirty="0" err="1">
                <a:solidFill>
                  <a:srgbClr val="FF0000"/>
                </a:solidFill>
              </a:rPr>
              <a:t>NullPointerException</a:t>
            </a:r>
            <a:br>
              <a:rPr lang="en-US" altLang="en-US" sz="3600" b="1" dirty="0">
                <a:solidFill>
                  <a:srgbClr val="FF0000"/>
                </a:solidFill>
              </a:rPr>
            </a:br>
            <a:r>
              <a:rPr lang="en-US" altLang="en-US" sz="4800" b="1" dirty="0"/>
              <a:t> </a:t>
            </a:r>
            <a:r>
              <a:rPr lang="en-US" altLang="en-US" sz="3600" b="1" dirty="0"/>
              <a:t>(Run Time)</a:t>
            </a:r>
            <a:endParaRPr lang="en-US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136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3FD4D-FB2C-A407-5324-539EC613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09A80542-3EEB-16F0-70B7-48ADB3DFA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C5A2109-D937-ADA5-0F24-CD5EDBCE8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2466" y="773883"/>
            <a:ext cx="10436028" cy="582398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altLang="en-US" sz="7000" b="1" dirty="0">
                <a:solidFill>
                  <a:srgbClr val="0000FF"/>
                </a:solidFill>
              </a:rPr>
              <a:t>Summary</a:t>
            </a:r>
          </a:p>
          <a:p>
            <a:pPr marL="0" indent="0">
              <a:buNone/>
            </a:pPr>
            <a:r>
              <a:rPr lang="en-US" altLang="en-US" sz="5100" b="1" dirty="0">
                <a:solidFill>
                  <a:schemeClr val="tx1"/>
                </a:solidFill>
              </a:rPr>
              <a:t>Checked exceptions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Compile-time</a:t>
            </a:r>
            <a:r>
              <a:rPr lang="en-US" altLang="en-US" sz="4400" dirty="0">
                <a:solidFill>
                  <a:schemeClr val="tx1"/>
                </a:solidFill>
              </a:rPr>
              <a:t>: </a:t>
            </a:r>
            <a:br>
              <a:rPr lang="en-US" altLang="en-US" sz="4400" dirty="0">
                <a:solidFill>
                  <a:schemeClr val="tx1"/>
                </a:solidFill>
              </a:rPr>
            </a:br>
            <a:r>
              <a:rPr lang="en-US" altLang="en-US" sz="4400" dirty="0">
                <a:solidFill>
                  <a:schemeClr val="tx1"/>
                </a:solidFill>
              </a:rPr>
              <a:t>compiler requires you to catch the exception in a try-catch block or use the throws keyword.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Cause</a:t>
            </a:r>
            <a:r>
              <a:rPr lang="en-US" altLang="en-US" sz="4400" dirty="0">
                <a:solidFill>
                  <a:schemeClr val="tx1"/>
                </a:solidFill>
              </a:rPr>
              <a:t>: </a:t>
            </a:r>
            <a:br>
              <a:rPr lang="en-US" altLang="en-US" sz="4400" dirty="0">
                <a:solidFill>
                  <a:schemeClr val="tx1"/>
                </a:solidFill>
              </a:rPr>
            </a:br>
            <a:r>
              <a:rPr lang="en-US" altLang="en-US" sz="4400" dirty="0">
                <a:solidFill>
                  <a:schemeClr val="tx1"/>
                </a:solidFill>
              </a:rPr>
              <a:t>They are foreseeable problems, but from which the program can recover. 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Inheritance</a:t>
            </a:r>
            <a:r>
              <a:rPr lang="en-US" altLang="en-US" sz="4400" dirty="0">
                <a:solidFill>
                  <a:schemeClr val="tx1"/>
                </a:solidFill>
              </a:rPr>
              <a:t>: </a:t>
            </a:r>
            <a:br>
              <a:rPr lang="en-US" altLang="en-US" sz="4400" dirty="0">
                <a:solidFill>
                  <a:schemeClr val="tx1"/>
                </a:solidFill>
              </a:rPr>
            </a:br>
            <a:r>
              <a:rPr lang="en-US" altLang="en-US" sz="4400" dirty="0">
                <a:solidFill>
                  <a:schemeClr val="tx1"/>
                </a:solidFill>
              </a:rPr>
              <a:t>Subclasses of the </a:t>
            </a:r>
            <a:r>
              <a:rPr lang="en-US" altLang="en-US" sz="4400" dirty="0" err="1">
                <a:solidFill>
                  <a:schemeClr val="tx1"/>
                </a:solidFill>
              </a:rPr>
              <a:t>java.lang.</a:t>
            </a:r>
            <a:r>
              <a:rPr lang="en-US" altLang="en-US" sz="4400" b="1" dirty="0" err="1">
                <a:solidFill>
                  <a:srgbClr val="0000FF"/>
                </a:solidFill>
              </a:rPr>
              <a:t>Exception</a:t>
            </a:r>
            <a:r>
              <a:rPr lang="en-US" altLang="en-US" sz="44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en-US" sz="4400" dirty="0">
                <a:solidFill>
                  <a:schemeClr val="tx1"/>
                </a:solidFill>
              </a:rPr>
              <a:t>Examples: </a:t>
            </a:r>
            <a:r>
              <a:rPr lang="en-US" altLang="en-US" sz="4400" b="1" dirty="0" err="1">
                <a:solidFill>
                  <a:srgbClr val="0000FF"/>
                </a:solidFill>
              </a:rPr>
              <a:t>IOException</a:t>
            </a:r>
            <a:r>
              <a:rPr lang="en-US" altLang="en-US" sz="4400" dirty="0">
                <a:solidFill>
                  <a:schemeClr val="tx1"/>
                </a:solidFill>
              </a:rPr>
              <a:t>, </a:t>
            </a:r>
            <a:r>
              <a:rPr lang="en-US" altLang="en-US" sz="4400" dirty="0" err="1">
                <a:solidFill>
                  <a:schemeClr val="tx1"/>
                </a:solidFill>
              </a:rPr>
              <a:t>FileNotFoundException</a:t>
            </a:r>
            <a:r>
              <a:rPr lang="en-US" altLang="en-US" sz="4400" dirty="0">
                <a:solidFill>
                  <a:schemeClr val="tx1"/>
                </a:solidFill>
              </a:rPr>
              <a:t>, and </a:t>
            </a:r>
            <a:r>
              <a:rPr lang="en-US" altLang="en-US" sz="4400" dirty="0" err="1">
                <a:solidFill>
                  <a:schemeClr val="tx1"/>
                </a:solidFill>
              </a:rPr>
              <a:t>SQLException</a:t>
            </a:r>
            <a:r>
              <a:rPr lang="en-US" altLang="en-US" sz="440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endParaRPr lang="en-US" altLang="en-US" sz="4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5100" b="1" dirty="0">
                <a:solidFill>
                  <a:schemeClr val="tx1"/>
                </a:solidFill>
              </a:rPr>
              <a:t>Unchecked exceptions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Run-Time:</a:t>
            </a:r>
            <a:r>
              <a:rPr lang="en-US" altLang="en-US" sz="4400" dirty="0">
                <a:solidFill>
                  <a:schemeClr val="tx1"/>
                </a:solidFill>
              </a:rPr>
              <a:t> </a:t>
            </a:r>
            <a:br>
              <a:rPr lang="en-US" altLang="en-US" sz="4400" dirty="0">
                <a:solidFill>
                  <a:schemeClr val="tx1"/>
                </a:solidFill>
              </a:rPr>
            </a:br>
            <a:r>
              <a:rPr lang="en-US" altLang="en-US" sz="4400" dirty="0">
                <a:solidFill>
                  <a:schemeClr val="tx1"/>
                </a:solidFill>
              </a:rPr>
              <a:t>Compiler does not check these exceptions. You are not forced to handle them.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Cause: </a:t>
            </a:r>
            <a:br>
              <a:rPr lang="en-US" altLang="en-US" sz="4400" dirty="0">
                <a:solidFill>
                  <a:schemeClr val="tx1"/>
                </a:solidFill>
              </a:rPr>
            </a:br>
            <a:r>
              <a:rPr lang="en-US" altLang="en-US" sz="4400" dirty="0">
                <a:solidFill>
                  <a:schemeClr val="tx1"/>
                </a:solidFill>
              </a:rPr>
              <a:t>They indicate a programming mistake or a logical error. </a:t>
            </a:r>
            <a:br>
              <a:rPr lang="en-US" altLang="en-US" sz="4400" dirty="0">
                <a:solidFill>
                  <a:schemeClr val="tx1"/>
                </a:solidFill>
              </a:rPr>
            </a:br>
            <a:r>
              <a:rPr lang="en-US" altLang="en-US" sz="4400" dirty="0">
                <a:solidFill>
                  <a:schemeClr val="tx1"/>
                </a:solidFill>
              </a:rPr>
              <a:t>Best is to fix the bug rather than adding exception handling.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Inheritance</a:t>
            </a:r>
            <a:r>
              <a:rPr lang="en-US" altLang="en-US" sz="4400" dirty="0">
                <a:solidFill>
                  <a:schemeClr val="tx1"/>
                </a:solidFill>
              </a:rPr>
              <a:t>: Unchecked exceptions are subclasses of </a:t>
            </a:r>
            <a:r>
              <a:rPr lang="en-US" altLang="en-US" sz="4400" dirty="0" err="1">
                <a:solidFill>
                  <a:schemeClr val="tx1"/>
                </a:solidFill>
              </a:rPr>
              <a:t>java.lang.</a:t>
            </a:r>
            <a:r>
              <a:rPr lang="en-US" altLang="en-US" sz="4400" b="1" dirty="0" err="1">
                <a:solidFill>
                  <a:srgbClr val="FF0000"/>
                </a:solidFill>
              </a:rPr>
              <a:t>RuntimeException</a:t>
            </a:r>
            <a:r>
              <a:rPr lang="en-US" altLang="en-US" sz="4400" dirty="0">
                <a:solidFill>
                  <a:schemeClr val="tx1"/>
                </a:solidFill>
              </a:rPr>
              <a:t> or </a:t>
            </a:r>
            <a:r>
              <a:rPr lang="en-US" altLang="en-US" sz="4400" dirty="0" err="1">
                <a:solidFill>
                  <a:schemeClr val="tx1"/>
                </a:solidFill>
              </a:rPr>
              <a:t>java.lang.</a:t>
            </a:r>
            <a:r>
              <a:rPr lang="en-US" altLang="en-US" sz="4400" b="1" dirty="0" err="1">
                <a:solidFill>
                  <a:srgbClr val="7030A0"/>
                </a:solidFill>
              </a:rPr>
              <a:t>Error</a:t>
            </a:r>
            <a:r>
              <a:rPr lang="en-US" altLang="en-US" sz="44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en-US" sz="4400" b="1" dirty="0">
                <a:solidFill>
                  <a:schemeClr val="tx1"/>
                </a:solidFill>
              </a:rPr>
              <a:t>Examples</a:t>
            </a:r>
            <a:r>
              <a:rPr lang="en-US" altLang="en-US" sz="4400" dirty="0">
                <a:solidFill>
                  <a:schemeClr val="tx1"/>
                </a:solidFill>
              </a:rPr>
              <a:t>: </a:t>
            </a:r>
            <a:r>
              <a:rPr lang="en-US" altLang="en-US" sz="4400" b="1" dirty="0" err="1">
                <a:solidFill>
                  <a:srgbClr val="FF0000"/>
                </a:solidFill>
              </a:rPr>
              <a:t>NullPointerException</a:t>
            </a:r>
            <a:r>
              <a:rPr lang="en-US" altLang="en-US" sz="4400" dirty="0">
                <a:solidFill>
                  <a:schemeClr val="tx1"/>
                </a:solidFill>
              </a:rPr>
              <a:t>, </a:t>
            </a:r>
            <a:r>
              <a:rPr lang="en-US" altLang="en-US" sz="4400" dirty="0" err="1">
                <a:solidFill>
                  <a:schemeClr val="tx1"/>
                </a:solidFill>
              </a:rPr>
              <a:t>ArrayIndexOutOfBoundsException</a:t>
            </a:r>
            <a:r>
              <a:rPr lang="en-US" altLang="en-US" sz="4400" dirty="0">
                <a:solidFill>
                  <a:schemeClr val="tx1"/>
                </a:solidFill>
              </a:rPr>
              <a:t>, and </a:t>
            </a:r>
            <a:r>
              <a:rPr lang="en-US" altLang="en-US" sz="4400" dirty="0" err="1">
                <a:solidFill>
                  <a:schemeClr val="tx1"/>
                </a:solidFill>
              </a:rPr>
              <a:t>ArithmeticException</a:t>
            </a:r>
            <a:r>
              <a:rPr lang="en-US" altLang="en-US" sz="4400" b="1" dirty="0">
                <a:solidFill>
                  <a:srgbClr val="FF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27183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5DF04-EB8F-3C90-7B11-130071E4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613C-EDB8-B841-14D4-4B3E8BA8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800" dirty="0"/>
              <a:t>Catching Exceptions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DAD06979-3B96-1B42-69E4-B89D778A80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4490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44608" y="1028686"/>
            <a:ext cx="4982808" cy="646365"/>
          </a:xfrm>
        </p:spPr>
        <p:txBody>
          <a:bodyPr/>
          <a:lstStyle/>
          <a:p>
            <a:pPr eaLnBrk="1" hangingPunct="1"/>
            <a:r>
              <a:rPr lang="en-US" altLang="en-US" dirty="0"/>
              <a:t>Catching Exceptions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6" y="1771877"/>
            <a:ext cx="6520713" cy="2950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386" y="5419878"/>
            <a:ext cx="4513889" cy="1180009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3882768" y="4478074"/>
            <a:ext cx="380384" cy="94180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97232" y="4187628"/>
            <a:ext cx="2963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Finally, is always executed!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576046" y="4082432"/>
            <a:ext cx="3536219" cy="307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B59EF8C-7BAC-871D-B26A-63A75DB0137B}"/>
              </a:ext>
            </a:extLst>
          </p:cNvPr>
          <p:cNvSpPr/>
          <p:nvPr/>
        </p:nvSpPr>
        <p:spPr>
          <a:xfrm>
            <a:off x="4978845" y="2259657"/>
            <a:ext cx="1281587" cy="2265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5828F3-C3D7-C9A4-42F1-7637CC60A0CF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</a:t>
            </a:r>
            <a:r>
              <a:rPr lang="en-US" dirty="0">
                <a:solidFill>
                  <a:srgbClr val="C00000"/>
                </a:solidFill>
              </a:rPr>
              <a:t> .</a:t>
            </a:r>
            <a:r>
              <a:rPr lang="en-US" dirty="0" err="1">
                <a:solidFill>
                  <a:srgbClr val="C00000"/>
                </a:solidFill>
              </a:rPr>
              <a:t>A_EasyExceptions</a:t>
            </a:r>
            <a:r>
              <a:rPr lang="en-US" dirty="0">
                <a:solidFill>
                  <a:srgbClr val="C00000"/>
                </a:solidFill>
              </a:rPr>
              <a:t>. </a:t>
            </a:r>
            <a:r>
              <a:rPr lang="en-US" dirty="0" err="1">
                <a:solidFill>
                  <a:srgbClr val="C00000"/>
                </a:solidFill>
              </a:rPr>
              <a:t>DivisionByZero_TryCatch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6669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08" y="1847281"/>
            <a:ext cx="6618687" cy="29773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44608" y="1028686"/>
            <a:ext cx="4982808" cy="646365"/>
          </a:xfrm>
        </p:spPr>
        <p:txBody>
          <a:bodyPr/>
          <a:lstStyle/>
          <a:p>
            <a:pPr eaLnBrk="1" hangingPunct="1"/>
            <a:r>
              <a:rPr lang="en-US" altLang="en-US" dirty="0"/>
              <a:t>Catching Exceptions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4" name="Down Arrow 3"/>
          <p:cNvSpPr/>
          <p:nvPr/>
        </p:nvSpPr>
        <p:spPr>
          <a:xfrm>
            <a:off x="3960993" y="4664831"/>
            <a:ext cx="380384" cy="94180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755" y="5606635"/>
            <a:ext cx="3380103" cy="1017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0537" y="4987296"/>
            <a:ext cx="2963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Finally, is always executed!</a:t>
            </a:r>
          </a:p>
        </p:txBody>
      </p:sp>
      <p:cxnSp>
        <p:nvCxnSpPr>
          <p:cNvPr id="12" name="Straight Arrow Connector 11"/>
          <p:cNvCxnSpPr>
            <a:stCxn id="11" idx="0"/>
          </p:cNvCxnSpPr>
          <p:nvPr/>
        </p:nvCxnSpPr>
        <p:spPr>
          <a:xfrm flipH="1" flipV="1">
            <a:off x="4488796" y="4163352"/>
            <a:ext cx="1973333" cy="823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70545" y="4295499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error case!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68E9E-7385-DB73-0A6D-466ADE5F99D3}"/>
              </a:ext>
            </a:extLst>
          </p:cNvPr>
          <p:cNvSpPr/>
          <p:nvPr/>
        </p:nvSpPr>
        <p:spPr>
          <a:xfrm>
            <a:off x="4858529" y="2384825"/>
            <a:ext cx="1237471" cy="19394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E2D54-6CBF-1B72-3EF1-CEB17003B321}"/>
              </a:ext>
            </a:extLst>
          </p:cNvPr>
          <p:cNvSpPr/>
          <p:nvPr/>
        </p:nvSpPr>
        <p:spPr>
          <a:xfrm>
            <a:off x="3438070" y="4345884"/>
            <a:ext cx="1542467" cy="27208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FE1CA2-3D63-A108-02D9-5AED7AB3B28B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</a:t>
            </a:r>
            <a:r>
              <a:rPr lang="en-US" dirty="0">
                <a:solidFill>
                  <a:srgbClr val="C00000"/>
                </a:solidFill>
              </a:rPr>
              <a:t> .</a:t>
            </a:r>
            <a:r>
              <a:rPr lang="en-US" dirty="0" err="1">
                <a:solidFill>
                  <a:srgbClr val="C00000"/>
                </a:solidFill>
              </a:rPr>
              <a:t>A_EasyExceptions</a:t>
            </a:r>
            <a:r>
              <a:rPr lang="en-US" dirty="0">
                <a:solidFill>
                  <a:srgbClr val="C00000"/>
                </a:solidFill>
              </a:rPr>
              <a:t>. </a:t>
            </a:r>
            <a:r>
              <a:rPr lang="en-US" dirty="0" err="1">
                <a:solidFill>
                  <a:srgbClr val="C00000"/>
                </a:solidFill>
              </a:rPr>
              <a:t>DivisionByZero_TryCatch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5368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B13DB-1C2F-9CA8-485D-8C36813A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78D0-0C60-2867-667C-7607BEFC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800" dirty="0"/>
              <a:t>Wrapping Exceptions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7AFA492B-25C7-AE05-7918-C7DF3642BA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3965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Wrapping Exceptions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24378" y="1798457"/>
            <a:ext cx="10404472" cy="4837012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You catch an exception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wrap it in a different exception 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and throw that exception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r>
              <a:rPr lang="en-US" altLang="en-US" sz="2800" dirty="0">
                <a:solidFill>
                  <a:schemeClr val="tx1"/>
                </a:solidFill>
              </a:rPr>
              <a:t>To prevent the code further up the call stack,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from having to know low-level exception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r>
              <a:rPr lang="en-US" altLang="en-US" sz="2800" dirty="0">
                <a:solidFill>
                  <a:schemeClr val="tx1"/>
                </a:solidFill>
              </a:rPr>
              <a:t>See the example in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</a:rPr>
              <a:t>IllegalArgumentException</a:t>
            </a:r>
            <a:r>
              <a:rPr lang="en-US" altLang="en-US" sz="1800" dirty="0">
                <a:solidFill>
                  <a:schemeClr val="tx1"/>
                </a:solidFill>
              </a:rPr>
              <a:t> is thrown and </a:t>
            </a:r>
            <a:r>
              <a:rPr lang="en-US" altLang="en-US" sz="1800" dirty="0" err="1">
                <a:solidFill>
                  <a:schemeClr val="tx1"/>
                </a:solidFill>
              </a:rPr>
              <a:t>catched</a:t>
            </a:r>
            <a:r>
              <a:rPr lang="en-US" altLang="en-US" sz="1800" dirty="0">
                <a:solidFill>
                  <a:schemeClr val="tx1"/>
                </a:solidFill>
              </a:rPr>
              <a:t> and changed into </a:t>
            </a:r>
            <a:r>
              <a:rPr lang="en-US" altLang="en-US" sz="1800" dirty="0" err="1">
                <a:solidFill>
                  <a:schemeClr val="tx1"/>
                </a:solidFill>
              </a:rPr>
              <a:t>MyException</a:t>
            </a:r>
            <a:r>
              <a:rPr lang="en-US" altLang="en-US" sz="1800" dirty="0">
                <a:solidFill>
                  <a:schemeClr val="tx1"/>
                </a:solidFill>
              </a:rPr>
              <a:t>)</a:t>
            </a:r>
            <a:endParaRPr lang="en-US" altLang="en-US" sz="2800" dirty="0">
              <a:solidFill>
                <a:srgbClr val="C00000"/>
              </a:solidFill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D7CB0-8DC8-BD64-E0F9-B4F7072B3594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A_ExceptionsB_WrapperExceptions.Counter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4993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6ED6-7C00-1F9C-317B-31CE1EA00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B90B-5396-FC10-F9E1-7CDBD625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800" dirty="0"/>
              <a:t>Hierarchy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5AC9F39-B5E6-4FAA-9732-8C421E052B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2362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996318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78" y="1834213"/>
            <a:ext cx="5526798" cy="21794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810" y="3572241"/>
            <a:ext cx="5719177" cy="3052567"/>
          </a:xfrm>
          <a:prstGeom prst="rect">
            <a:avLst/>
          </a:prstGeom>
        </p:spPr>
      </p:pic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2431657" y="3629278"/>
            <a:ext cx="3190153" cy="180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BCD5D5-11A1-40E5-E860-7384C0F91314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6583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24378" y="1798457"/>
            <a:ext cx="10404472" cy="48370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Option 1: </a:t>
            </a:r>
            <a:r>
              <a:rPr lang="en-US" altLang="en-US" sz="1800" b="1" dirty="0">
                <a:solidFill>
                  <a:srgbClr val="92D050"/>
                </a:solidFill>
                <a:latin typeface="Helvetica" panose="020B0604020202020204" pitchFamily="34" charset="0"/>
              </a:rPr>
              <a:t>Optimal, catch exception …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743" y="2291030"/>
            <a:ext cx="6842924" cy="22931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526" y="4979047"/>
            <a:ext cx="6865109" cy="149458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D79C0B-2045-8319-2445-5218E2891A96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7602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24378" y="1798457"/>
            <a:ext cx="10404472" cy="48370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Option 2: </a:t>
            </a:r>
            <a:r>
              <a:rPr lang="en-US" altLang="en-US" sz="2000" b="1" dirty="0">
                <a:solidFill>
                  <a:srgbClr val="FFC000"/>
                </a:solidFill>
                <a:latin typeface="Helvetica" panose="020B0604020202020204" pitchFamily="34" charset="0"/>
              </a:rPr>
              <a:t>Semi optimal: throw away exception to the caller …</a:t>
            </a:r>
          </a:p>
          <a:p>
            <a:pPr marL="0" indent="0">
              <a:buNone/>
            </a:pPr>
            <a:endParaRPr lang="en-US" altLang="en-US" sz="2800" dirty="0">
              <a:solidFill>
                <a:srgbClr val="333333"/>
              </a:solidFill>
              <a:latin typeface="Helvetica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88" y="2218850"/>
            <a:ext cx="9035233" cy="23336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371" y="4586424"/>
            <a:ext cx="6874710" cy="20150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53786-D6F7-F49C-311F-4CB1BBBE45FB}"/>
              </a:ext>
            </a:extLst>
          </p:cNvPr>
          <p:cNvSpPr/>
          <p:nvPr/>
        </p:nvSpPr>
        <p:spPr>
          <a:xfrm>
            <a:off x="7900249" y="2797821"/>
            <a:ext cx="2414825" cy="272080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47AFD0-200D-03E7-FF5D-AF9980B4C854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354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24378" y="1798457"/>
            <a:ext cx="10404472" cy="48370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Option 3: </a:t>
            </a:r>
            <a:r>
              <a:rPr lang="en-US" altLang="en-US" sz="2000" b="1" dirty="0">
                <a:solidFill>
                  <a:srgbClr val="FF0000"/>
                </a:solidFill>
                <a:latin typeface="Helvetica" panose="020B0604020202020204" pitchFamily="34" charset="0"/>
              </a:rPr>
              <a:t>I don’t care version! Not recommended …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817" y="2334627"/>
            <a:ext cx="6058058" cy="16546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757" y="4324885"/>
            <a:ext cx="6591937" cy="1901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78903" y="3435069"/>
            <a:ext cx="271083" cy="178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1C1F2B-EDA4-883B-AC6D-27CEDCAD3F70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0037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24378" y="1798457"/>
            <a:ext cx="10404472" cy="4837012"/>
          </a:xfrm>
        </p:spPr>
        <p:txBody>
          <a:bodyPr/>
          <a:lstStyle/>
          <a:p>
            <a:pPr marL="0" indent="0">
              <a:buNone/>
            </a:pPr>
            <a:endParaRPr lang="en-US" altLang="en-US" sz="2800" b="1" dirty="0">
              <a:solidFill>
                <a:srgbClr val="333333"/>
              </a:solidFill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Helvetica" panose="020B0604020202020204" pitchFamily="34" charset="0"/>
              </a:rPr>
              <a:t>For option 1:</a:t>
            </a:r>
          </a:p>
          <a:p>
            <a:endParaRPr lang="en-US" altLang="en-US" sz="28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Inheritance of the exceptions are important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Option1 actually throws “</a:t>
            </a:r>
            <a:r>
              <a:rPr lang="en-US" altLang="en-US" sz="2800" b="1" dirty="0" err="1">
                <a:solidFill>
                  <a:schemeClr val="tx1"/>
                </a:solidFill>
                <a:latin typeface="Helvetica" panose="020B0604020202020204" pitchFamily="34" charset="0"/>
              </a:rPr>
              <a:t>java.nio.file.NoSuchFileException</a:t>
            </a:r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”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Which is a child class of “</a:t>
            </a:r>
            <a:r>
              <a:rPr lang="en-US" altLang="en-US" sz="2800" b="1" dirty="0" err="1">
                <a:solidFill>
                  <a:schemeClr val="tx1"/>
                </a:solidFill>
                <a:latin typeface="Helvetica" panose="020B0604020202020204" pitchFamily="34" charset="0"/>
              </a:rPr>
              <a:t>java.io.IOException</a:t>
            </a:r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”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If you catch the</a:t>
            </a: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92D050"/>
                </a:solidFill>
                <a:latin typeface="Helvetica" panose="020B0604020202020204" pitchFamily="34" charset="0"/>
              </a:rPr>
              <a:t>parent</a:t>
            </a: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class first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You never catch the</a:t>
            </a: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Helvetica" panose="020B0604020202020204" pitchFamily="34" charset="0"/>
              </a:rPr>
              <a:t>child</a:t>
            </a:r>
            <a:r>
              <a:rPr lang="en-US" altLang="en-US" sz="2800" dirty="0">
                <a:solidFill>
                  <a:srgbClr val="333333"/>
                </a:solidFill>
                <a:latin typeface="Helvetica" panose="020B0604020202020204" pitchFamily="34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Helvetica" panose="020B0604020202020204" pitchFamily="34" charset="0"/>
              </a:rPr>
              <a:t>exception</a:t>
            </a:r>
          </a:p>
          <a:p>
            <a:pPr marL="0" indent="0">
              <a:buNone/>
            </a:pPr>
            <a:endParaRPr lang="en-US" altLang="en-US" sz="2800" dirty="0">
              <a:solidFill>
                <a:srgbClr val="333333"/>
              </a:solidFill>
              <a:latin typeface="Helvetica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4913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39" y="2276188"/>
            <a:ext cx="10072178" cy="2825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17457" y="310252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First the specialized exception (child)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0763" y="3689027"/>
            <a:ext cx="472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Then the more general exception (parent)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928739" y="3287194"/>
            <a:ext cx="1988718" cy="5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194759" y="3883125"/>
            <a:ext cx="2722698" cy="32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8ED648-10C6-88DD-2D4A-B6206F723EDF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6301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39" y="2215211"/>
            <a:ext cx="8496522" cy="2427578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8" y="1061055"/>
            <a:ext cx="4942348" cy="593767"/>
          </a:xfrm>
        </p:spPr>
        <p:txBody>
          <a:bodyPr/>
          <a:lstStyle/>
          <a:p>
            <a:r>
              <a:rPr lang="en-US" altLang="en-US" dirty="0"/>
              <a:t>Exception Hierarchy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7457" y="3686792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specialized exception second!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9469" y="2915461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general exception is first!</a:t>
            </a:r>
          </a:p>
        </p:txBody>
      </p:sp>
      <p:cxnSp>
        <p:nvCxnSpPr>
          <p:cNvPr id="7" name="Straight Arrow Connector 6"/>
          <p:cNvCxnSpPr>
            <a:stCxn id="9" idx="1"/>
          </p:cNvCxnSpPr>
          <p:nvPr/>
        </p:nvCxnSpPr>
        <p:spPr>
          <a:xfrm flipH="1" flipV="1">
            <a:off x="4454665" y="3010237"/>
            <a:ext cx="2434804" cy="8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515356" y="3883125"/>
            <a:ext cx="2402101" cy="64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47739" y="4813955"/>
            <a:ext cx="87596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Problem is: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NoSuchFileException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cannot be reached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Eclipse helps in this example, but don’t trust 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Issue could be, you have a sophisticated exception handling, but it is not working!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D3EAA1-FFF3-E3A7-55F7-9AC1E034C050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4444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64AE-99A7-A865-F7EB-6EAD00B8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FF62-B17D-C70B-AB83-8538E4E80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800" dirty="0"/>
              <a:t>Multi Catch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DBD7EB59-ED61-3AC1-5217-49B1873319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9997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1028687"/>
            <a:ext cx="4290939" cy="581629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Multi catch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88" y="1767210"/>
            <a:ext cx="8496522" cy="24820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87" y="3812246"/>
            <a:ext cx="8704603" cy="2697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22414" y="2488301"/>
            <a:ext cx="5425709" cy="21443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BBBCA1-96A2-8713-E34D-F4D1FDC44FE2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6190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01A4E-076D-A739-F775-E436E2E1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DA7D-E020-453D-DEC0-CB52E15D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800" dirty="0"/>
              <a:t>Own Exceptions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35936DB-0DF3-6A17-031D-A4D7FB4E85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4206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624338" y="3112386"/>
            <a:ext cx="9166391" cy="59376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Question: Why create your own exception?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0173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6249211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Create your Own Exception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4377" y="1654822"/>
            <a:ext cx="66351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Why?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be helpful for your kind of errors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my: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JPegJavaDecoder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Created some stupid exceptions 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73" y="3457112"/>
            <a:ext cx="7320834" cy="126277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446" y="5203673"/>
            <a:ext cx="4153009" cy="12355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317" y="4894141"/>
            <a:ext cx="3929846" cy="17145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821" y="1869158"/>
            <a:ext cx="3253308" cy="14485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/>
          <p:cNvCxnSpPr>
            <a:endCxn id="10" idx="1"/>
          </p:cNvCxnSpPr>
          <p:nvPr/>
        </p:nvCxnSpPr>
        <p:spPr>
          <a:xfrm flipV="1">
            <a:off x="3095204" y="2593447"/>
            <a:ext cx="5448617" cy="215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6AAB94-93FE-B238-342A-4CD247DCF30C}"/>
              </a:ext>
            </a:extLst>
          </p:cNvPr>
          <p:cNvSpPr txBox="1">
            <a:spLocks/>
          </p:cNvSpPr>
          <p:nvPr/>
        </p:nvSpPr>
        <p:spPr>
          <a:xfrm>
            <a:off x="8464132" y="728500"/>
            <a:ext cx="3727868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dirty="0" err="1">
                <a:solidFill>
                  <a:srgbClr val="C00000"/>
                </a:solidFill>
              </a:rPr>
              <a:t>JPegJavaDecoder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7374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861977"/>
            <a:ext cx="4290939" cy="581629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Handling Exceptions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36516" y="1567353"/>
            <a:ext cx="10384242" cy="5060023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Handling Exceptions: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40" y="2251817"/>
            <a:ext cx="6350733" cy="4375560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3730436" y="3641416"/>
            <a:ext cx="2035147" cy="14161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5388" y="3955753"/>
            <a:ext cx="5552485" cy="14690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28135" y="4870057"/>
            <a:ext cx="1274495" cy="16318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45388" y="5201830"/>
            <a:ext cx="3776283" cy="14296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30" y="1996993"/>
            <a:ext cx="4029828" cy="16729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9726628" y="1996992"/>
            <a:ext cx="1161207" cy="12312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62961" y="2392153"/>
            <a:ext cx="3812697" cy="57762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60" y="4156578"/>
            <a:ext cx="4359843" cy="24384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580092" y="3793729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Launcher Class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384" y="5654607"/>
            <a:ext cx="3303901" cy="876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6508FBB-2563-6938-4484-862A411975B3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A_Exceptions.D_BankExampleExceptions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702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2C9A4A1-7872-93D3-A9A8-B4118B7F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756" y="1081446"/>
            <a:ext cx="6112958" cy="5175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15ED24-BAF1-AF3D-577F-D84E3C06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581" y="1949492"/>
            <a:ext cx="4663172" cy="2021375"/>
          </a:xfrm>
          <a:prstGeom prst="rect">
            <a:avLst/>
          </a:prstGeom>
        </p:spPr>
      </p:pic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834479"/>
            <a:ext cx="4290939" cy="581629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Handling Exceptions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36516" y="1336731"/>
            <a:ext cx="10384242" cy="5274462"/>
          </a:xfrm>
        </p:spPr>
        <p:txBody>
          <a:bodyPr/>
          <a:lstStyle/>
          <a:p>
            <a:r>
              <a:rPr lang="en-US" altLang="en-US" sz="2000" dirty="0">
                <a:solidFill>
                  <a:srgbClr val="000000"/>
                </a:solidFill>
              </a:rPr>
              <a:t>Exception Wrapping: </a:t>
            </a:r>
            <a:br>
              <a:rPr lang="en-US" altLang="en-US" sz="2000" dirty="0">
                <a:solidFill>
                  <a:srgbClr val="000000"/>
                </a:solidFill>
              </a:rPr>
            </a:br>
            <a:r>
              <a:rPr lang="en-US" altLang="en-US" sz="2000" dirty="0">
                <a:solidFill>
                  <a:srgbClr val="000000"/>
                </a:solidFill>
              </a:rPr>
              <a:t>See eclipse </a:t>
            </a:r>
            <a:r>
              <a:rPr lang="en-US" altLang="en-US" sz="2000" dirty="0">
                <a:solidFill>
                  <a:srgbClr val="0000FF"/>
                </a:solidFill>
              </a:rPr>
              <a:t>ExceptionsDemo2.java</a:t>
            </a:r>
          </a:p>
          <a:p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51" y="4101340"/>
            <a:ext cx="3674025" cy="1665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02" y="5766496"/>
            <a:ext cx="5847050" cy="8450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905286" y="2320029"/>
            <a:ext cx="2213171" cy="12716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3955" y="2602535"/>
            <a:ext cx="4762019" cy="1757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86436" y="3513041"/>
            <a:ext cx="4322495" cy="14065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Down Arrow 5"/>
          <p:cNvSpPr/>
          <p:nvPr/>
        </p:nvSpPr>
        <p:spPr>
          <a:xfrm rot="15478274">
            <a:off x="4709139" y="2835458"/>
            <a:ext cx="170743" cy="3125301"/>
          </a:xfrm>
          <a:prstGeom prst="downArrow">
            <a:avLst>
              <a:gd name="adj1" fmla="val 3202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50227" y="4724036"/>
            <a:ext cx="1885186" cy="188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3955" y="5187822"/>
            <a:ext cx="3924112" cy="1847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17762" y="3135091"/>
            <a:ext cx="318067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IllegalArgumentException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thrown</a:t>
            </a:r>
          </a:p>
        </p:txBody>
      </p:sp>
      <p:cxnSp>
        <p:nvCxnSpPr>
          <p:cNvPr id="12" name="Straight Arrow Connector 11"/>
          <p:cNvCxnSpPr>
            <a:stCxn id="7" idx="0"/>
            <a:endCxn id="10" idx="2"/>
          </p:cNvCxnSpPr>
          <p:nvPr/>
        </p:nvCxnSpPr>
        <p:spPr>
          <a:xfrm flipH="1" flipV="1">
            <a:off x="9234965" y="2778254"/>
            <a:ext cx="473137" cy="356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57000" y="4382409"/>
            <a:ext cx="327044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IllegalArgumentException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catched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905286" y="4698635"/>
            <a:ext cx="1714875" cy="235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04344" y="6090540"/>
            <a:ext cx="23936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 wrapped to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MyException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9" name="Straight Arrow Connector 18"/>
          <p:cNvCxnSpPr>
            <a:cxnSpLocks/>
            <a:stCxn id="22" idx="0"/>
          </p:cNvCxnSpPr>
          <p:nvPr/>
        </p:nvCxnSpPr>
        <p:spPr>
          <a:xfrm flipH="1" flipV="1">
            <a:off x="8382000" y="5410626"/>
            <a:ext cx="919146" cy="679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70B9400-6BF3-F130-28CA-74CA30AF4251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A_Exceptions.B_WrapperExceptions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671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6144015" cy="59376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Re-throw everything to main()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2204" y="2392684"/>
            <a:ext cx="7098055" cy="1347635"/>
          </a:xfrm>
          <a:prstGeom prst="rect">
            <a:avLst/>
          </a:prstGeom>
        </p:spPr>
      </p:pic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86" y="4330872"/>
            <a:ext cx="7121414" cy="18393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37336" y="1704388"/>
            <a:ext cx="331372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Re-throw everything, is lazy!</a:t>
            </a:r>
          </a:p>
        </p:txBody>
      </p:sp>
      <p:cxnSp>
        <p:nvCxnSpPr>
          <p:cNvPr id="5" name="Straight Arrow Connector 4"/>
          <p:cNvCxnSpPr>
            <a:stCxn id="3" idx="2"/>
          </p:cNvCxnSpPr>
          <p:nvPr/>
        </p:nvCxnSpPr>
        <p:spPr>
          <a:xfrm flipH="1">
            <a:off x="7211684" y="2073720"/>
            <a:ext cx="2182516" cy="592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02825" y="4146206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 throw away </a:t>
            </a:r>
            <a:r>
              <a:rPr lang="en-US" dirty="0" err="1"/>
              <a:t>IOException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985F7B-CBAC-D5B3-D7AA-A30C185176B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212617" y="4330872"/>
            <a:ext cx="1890208" cy="40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4E959E-0B6D-ECDB-D23F-0F0C7A1BC909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A_Exceptions.C_UUWriterExceptions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0582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6144015" cy="59376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Catch unchecked exceptions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67" y="2159138"/>
            <a:ext cx="5681570" cy="1728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7093" y="4102662"/>
            <a:ext cx="68210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Unchecked exceptions: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programming errors/defects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Would not occur when your program is correct!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debugging, catch immediately and figure out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Later, for production, better not!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8CCADE-2009-21FD-A16E-F7865D390F7C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A_Exceptions.E_MoreExceptions.NullPointer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3928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6144015" cy="59376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Try without catch, but finally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353" y="4899727"/>
            <a:ext cx="416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Useful? For releasing resources …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98" y="2158738"/>
            <a:ext cx="5121863" cy="223707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730BA2-2AF0-EE92-CC27-4DEFFFF1A426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A_Exceptions.E_MoreExceptions.NoCatch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6817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6144015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Try with resources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353" y="4899727"/>
            <a:ext cx="78470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In must be outside the try block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Closing “in”, basically needs another try catch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If in finally an exception occurs, it overshadows the try exception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98" y="2158738"/>
            <a:ext cx="5121863" cy="223707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93E60A-0D0C-97E0-D50D-A3153331392F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A_Exceptions.E_MoreExceptions.NoCatch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155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855366" y="1298255"/>
            <a:ext cx="8276267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Throws and overriding in interface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7451" y="5666449"/>
            <a:ext cx="2922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Possible: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But not recommended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91" y="2620608"/>
            <a:ext cx="5452833" cy="8083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451" y="4008631"/>
            <a:ext cx="6248330" cy="13991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DB1DEA-E80F-0CED-5FB7-2BD49DC8470E}"/>
              </a:ext>
            </a:extLst>
          </p:cNvPr>
          <p:cNvSpPr/>
          <p:nvPr/>
        </p:nvSpPr>
        <p:spPr>
          <a:xfrm>
            <a:off x="5454921" y="4438556"/>
            <a:ext cx="311039" cy="2696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723AAB-C822-D9F7-72C1-21089C8E022D}"/>
              </a:ext>
            </a:extLst>
          </p:cNvPr>
          <p:cNvSpPr/>
          <p:nvPr/>
        </p:nvSpPr>
        <p:spPr>
          <a:xfrm>
            <a:off x="5996062" y="2889969"/>
            <a:ext cx="2053761" cy="2696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0FBB5A-0E0C-4168-D2E6-D7514E558A5B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A_Exceptions.E_MoreExceptions.InterfaceWithException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7887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8276267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Excessive throws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8090" y="4717657"/>
            <a:ext cx="68210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 common exceptions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as precise and specialized as possible</a:t>
            </a:r>
            <a:br>
              <a:rPr lang="en-US" dirty="0"/>
            </a:br>
            <a:r>
              <a:rPr lang="en-US" dirty="0"/>
              <a:t>(if you use throws)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not annoy implementer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Implementer use maybe does not care “catch (Exception e) </a:t>
            </a:r>
            <a:r>
              <a:rPr lang="en-US" b="1" dirty="0">
                <a:solidFill>
                  <a:srgbClr val="FF0000"/>
                </a:solidFill>
              </a:rPr>
              <a:t>{}</a:t>
            </a:r>
            <a:r>
              <a:rPr lang="en-US" dirty="0"/>
              <a:t>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45" y="2254089"/>
            <a:ext cx="9585584" cy="23502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87588" y="296863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 because </a:t>
            </a:r>
            <a:r>
              <a:rPr lang="en-US" dirty="0" err="1"/>
              <a:t>openFile</a:t>
            </a:r>
            <a:r>
              <a:rPr lang="en-US" dirty="0"/>
              <a:t>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3773" y="4117245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Checked exception, not good!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7824" y="2715311"/>
            <a:ext cx="150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common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8063713" y="3111388"/>
            <a:ext cx="1011505" cy="517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145901" y="3370333"/>
            <a:ext cx="28322" cy="258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0"/>
          </p:cNvCxnSpPr>
          <p:nvPr/>
        </p:nvCxnSpPr>
        <p:spPr>
          <a:xfrm flipH="1" flipV="1">
            <a:off x="9884421" y="3847763"/>
            <a:ext cx="569572" cy="269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484539-D74B-C82C-7EE7-F0D55879D9E4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A_Exceptions.E_MoreExceptions.InterfaceWithException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5587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Hard Errors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791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11015421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Hard errors: </a:t>
            </a:r>
            <a:r>
              <a:rPr lang="en-US" altLang="en-US" dirty="0" err="1"/>
              <a:t>java.lang.Error</a:t>
            </a:r>
            <a:r>
              <a:rPr lang="en-US" altLang="en-US" dirty="0"/>
              <a:t>: JVM issues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5" y="1654822"/>
            <a:ext cx="5156715" cy="47943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868" y="1863052"/>
            <a:ext cx="4566399" cy="4634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52920" y="6620666"/>
            <a:ext cx="29706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>
                <a:hlinkClick r:id="rId4"/>
              </a:rPr>
              <a:t>Java.lang.Errors</a:t>
            </a:r>
            <a:r>
              <a:rPr lang="en-US" sz="1100" dirty="0">
                <a:hlinkClick r:id="rId4"/>
              </a:rPr>
              <a:t> (tutorialspoint.com)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6586917" y="3649508"/>
            <a:ext cx="3722336" cy="31558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240615" y="4363669"/>
            <a:ext cx="4692734" cy="49126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915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1061055"/>
            <a:ext cx="11015421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Hard errors: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305753"/>
            <a:ext cx="756489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java.lang.Errors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unchecked exceptions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nothing (in general)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what could you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 terminates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Maybe: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</a:rPr>
              <a:t>OutOfMemoryError</a:t>
            </a:r>
            <a:r>
              <a:rPr lang="en-US" dirty="0"/>
              <a:t> manual call garbage collector with </a:t>
            </a:r>
            <a:r>
              <a:rPr lang="en-US" b="1" dirty="0" err="1"/>
              <a:t>System.gc</a:t>
            </a:r>
            <a:r>
              <a:rPr lang="en-US" b="1" dirty="0"/>
              <a:t>();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12A43-7439-0462-6D16-7A0085763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82" y="1535452"/>
            <a:ext cx="7652816" cy="29851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F5DFF7-82D5-961C-5970-AF56E649E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28" y="4837769"/>
            <a:ext cx="4713638" cy="6749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4F5D3F-B4AB-FF35-3899-8ABAE83A43C4}"/>
              </a:ext>
            </a:extLst>
          </p:cNvPr>
          <p:cNvSpPr/>
          <p:nvPr/>
        </p:nvSpPr>
        <p:spPr>
          <a:xfrm>
            <a:off x="5201848" y="3824530"/>
            <a:ext cx="909918" cy="19750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48ACBB-E5E5-1ABC-1D98-A211B19E7C28}"/>
              </a:ext>
            </a:extLst>
          </p:cNvPr>
          <p:cNvSpPr txBox="1">
            <a:spLocks/>
          </p:cNvSpPr>
          <p:nvPr/>
        </p:nvSpPr>
        <p:spPr>
          <a:xfrm>
            <a:off x="7558199" y="756693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A_Exceptions.E_MoreExceptions.OutOfMemoryExample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26744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0725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1230</TotalTime>
  <Words>1450</Words>
  <Application>Microsoft Office PowerPoint</Application>
  <PresentationFormat>Widescreen</PresentationFormat>
  <Paragraphs>279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Arial Narrow</vt:lpstr>
      <vt:lpstr>Calibri</vt:lpstr>
      <vt:lpstr>Garamond</vt:lpstr>
      <vt:lpstr>Helvetica</vt:lpstr>
      <vt:lpstr>SCUTemplate</vt:lpstr>
      <vt:lpstr>Custom Design</vt:lpstr>
      <vt:lpstr>1_SCUTemplate</vt:lpstr>
      <vt:lpstr>2_SCUTemplate</vt:lpstr>
      <vt:lpstr>CSEN160</vt:lpstr>
      <vt:lpstr>Java Exceptions</vt:lpstr>
      <vt:lpstr>Exceptions in Java:</vt:lpstr>
      <vt:lpstr>Exceptions</vt:lpstr>
      <vt:lpstr>Exceptions</vt:lpstr>
      <vt:lpstr>Exceptions</vt:lpstr>
      <vt:lpstr>Exceptions</vt:lpstr>
      <vt:lpstr>Exceptions in Java</vt:lpstr>
      <vt:lpstr>Checked vs Unchecked Exceptions</vt:lpstr>
      <vt:lpstr>Checked Exceptions (Compile Time)</vt:lpstr>
      <vt:lpstr>Checked Exceptions (Compile Time)</vt:lpstr>
      <vt:lpstr>Unchecked Exceptions (Run Time)</vt:lpstr>
      <vt:lpstr>Unchecked Exceptions (Run Time)</vt:lpstr>
      <vt:lpstr>PowerPoint Presentation</vt:lpstr>
      <vt:lpstr>PowerPoint Presentation</vt:lpstr>
      <vt:lpstr>PowerPoint Presentation</vt:lpstr>
      <vt:lpstr>Catching Exceptions</vt:lpstr>
      <vt:lpstr>Catching Exceptions</vt:lpstr>
      <vt:lpstr>Catching Exceptions</vt:lpstr>
      <vt:lpstr>Wrapping Exceptions</vt:lpstr>
      <vt:lpstr>Wrapping Exceptions</vt:lpstr>
      <vt:lpstr>Hierarchy</vt:lpstr>
      <vt:lpstr>Exception Hierarchy</vt:lpstr>
      <vt:lpstr>Exception Hierarchy</vt:lpstr>
      <vt:lpstr>Exception Hierarchy</vt:lpstr>
      <vt:lpstr>Exception Hierarchy</vt:lpstr>
      <vt:lpstr>Exception Hierarchy</vt:lpstr>
      <vt:lpstr>Exception Hierarchy</vt:lpstr>
      <vt:lpstr>Exception Hierarchy</vt:lpstr>
      <vt:lpstr>Multi Catch</vt:lpstr>
      <vt:lpstr>Multi catch</vt:lpstr>
      <vt:lpstr>Own Exceptions</vt:lpstr>
      <vt:lpstr>Question: Why create your own exception?</vt:lpstr>
      <vt:lpstr>Create your Own Exception</vt:lpstr>
      <vt:lpstr>Handling Exceptions</vt:lpstr>
      <vt:lpstr>Handling Exceptions</vt:lpstr>
      <vt:lpstr>Re-throw everything to main()</vt:lpstr>
      <vt:lpstr>Catch unchecked exceptions</vt:lpstr>
      <vt:lpstr>Try without catch, but finally</vt:lpstr>
      <vt:lpstr>Try with resources</vt:lpstr>
      <vt:lpstr>Throws and overriding in interface</vt:lpstr>
      <vt:lpstr>Excessive throws</vt:lpstr>
      <vt:lpstr>Hard Errors</vt:lpstr>
      <vt:lpstr>Hard errors: java.lang.Error: JVM issues</vt:lpstr>
      <vt:lpstr>Hard errors: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212</cp:revision>
  <cp:lastPrinted>2023-09-11T21:46:56Z</cp:lastPrinted>
  <dcterms:created xsi:type="dcterms:W3CDTF">2023-09-09T19:51:41Z</dcterms:created>
  <dcterms:modified xsi:type="dcterms:W3CDTF">2026-10-19T18:25:40Z</dcterms:modified>
</cp:coreProperties>
</file>