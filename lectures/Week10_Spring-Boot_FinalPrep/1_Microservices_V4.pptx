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9"/>
  </p:notesMasterIdLst>
  <p:handoutMasterIdLst>
    <p:handoutMasterId r:id="rId60"/>
  </p:handoutMasterIdLst>
  <p:sldIdLst>
    <p:sldId id="463" r:id="rId4"/>
    <p:sldId id="446" r:id="rId5"/>
    <p:sldId id="262" r:id="rId6"/>
    <p:sldId id="264" r:id="rId7"/>
    <p:sldId id="265" r:id="rId8"/>
    <p:sldId id="258" r:id="rId9"/>
    <p:sldId id="523" r:id="rId10"/>
    <p:sldId id="376" r:id="rId11"/>
    <p:sldId id="377" r:id="rId12"/>
    <p:sldId id="437" r:id="rId13"/>
    <p:sldId id="379" r:id="rId14"/>
    <p:sldId id="472" r:id="rId15"/>
    <p:sldId id="268" r:id="rId16"/>
    <p:sldId id="471" r:id="rId17"/>
    <p:sldId id="473" r:id="rId18"/>
    <p:sldId id="388" r:id="rId19"/>
    <p:sldId id="474" r:id="rId20"/>
    <p:sldId id="427" r:id="rId21"/>
    <p:sldId id="466" r:id="rId22"/>
    <p:sldId id="447" r:id="rId23"/>
    <p:sldId id="385" r:id="rId24"/>
    <p:sldId id="430" r:id="rId25"/>
    <p:sldId id="456" r:id="rId26"/>
    <p:sldId id="451" r:id="rId27"/>
    <p:sldId id="395" r:id="rId28"/>
    <p:sldId id="440" r:id="rId29"/>
    <p:sldId id="461" r:id="rId30"/>
    <p:sldId id="277" r:id="rId31"/>
    <p:sldId id="257" r:id="rId32"/>
    <p:sldId id="408" r:id="rId33"/>
    <p:sldId id="443" r:id="rId34"/>
    <p:sldId id="281" r:id="rId35"/>
    <p:sldId id="272" r:id="rId36"/>
    <p:sldId id="270" r:id="rId37"/>
    <p:sldId id="467" r:id="rId38"/>
    <p:sldId id="261" r:id="rId39"/>
    <p:sldId id="282" r:id="rId40"/>
    <p:sldId id="409" r:id="rId41"/>
    <p:sldId id="468" r:id="rId42"/>
    <p:sldId id="278" r:id="rId43"/>
    <p:sldId id="445" r:id="rId44"/>
    <p:sldId id="410" r:id="rId45"/>
    <p:sldId id="469" r:id="rId46"/>
    <p:sldId id="520" r:id="rId47"/>
    <p:sldId id="444" r:id="rId48"/>
    <p:sldId id="464" r:id="rId49"/>
    <p:sldId id="416" r:id="rId50"/>
    <p:sldId id="284" r:id="rId51"/>
    <p:sldId id="417" r:id="rId52"/>
    <p:sldId id="522" r:id="rId53"/>
    <p:sldId id="521" r:id="rId54"/>
    <p:sldId id="271" r:id="rId55"/>
    <p:sldId id="269" r:id="rId56"/>
    <p:sldId id="336" r:id="rId57"/>
    <p:sldId id="509" r:id="rId5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03D7782-D2BE-3318-04C8-809C075B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>
            <a:extLst>
              <a:ext uri="{FF2B5EF4-FFF2-40B4-BE49-F238E27FC236}">
                <a16:creationId xmlns:a16="http://schemas.microsoft.com/office/drawing/2014/main" id="{569BEDFB-CEA1-0B5C-9356-BEE7287EA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>
            <a:extLst>
              <a:ext uri="{FF2B5EF4-FFF2-40B4-BE49-F238E27FC236}">
                <a16:creationId xmlns:a16="http://schemas.microsoft.com/office/drawing/2014/main" id="{CFC870F6-ED3C-B777-0285-12C470E45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48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4df32ab6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4df32ab6f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534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4df32ab6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4df32ab6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96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38f74e24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38f74e24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24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9ffab06d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9ffab06d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1ABDA5-0E29-9DA2-FC57-02AF84A5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9ffab06d9_0_54:notes">
            <a:extLst>
              <a:ext uri="{FF2B5EF4-FFF2-40B4-BE49-F238E27FC236}">
                <a16:creationId xmlns:a16="http://schemas.microsoft.com/office/drawing/2014/main" id="{9B1AE690-C006-544F-EBAD-568C8E68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9ffab06d9_0_54:notes">
            <a:extLst>
              <a:ext uri="{FF2B5EF4-FFF2-40B4-BE49-F238E27FC236}">
                <a16:creationId xmlns:a16="http://schemas.microsoft.com/office/drawing/2014/main" id="{05BBA770-20AF-4A8D-C3A0-C1CF1013A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04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4A22C4-7B84-B6F3-633E-11DBE4AF8D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4F829-7394-4D69-A9FC-75FE43D74DD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45" name="Rectangle 1">
            <a:extLst>
              <a:ext uri="{FF2B5EF4-FFF2-40B4-BE49-F238E27FC236}">
                <a16:creationId xmlns:a16="http://schemas.microsoft.com/office/drawing/2014/main" id="{B300F87F-B6F4-6F2B-151A-37690E34918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04349B31-6D1A-DC48-FB0F-B301748B3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this is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6643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9ED12F-1490-CD9A-841F-84B71D8B0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8E00D-5C9B-438A-B815-057E39C0FC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4A7F941-B4E7-F859-DA6E-AA75F1DAF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E9DF0E5-36DD-7AD4-1285-B161331FA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57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2698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077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5E2B9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8411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238576" y="2278954"/>
            <a:ext cx="9714849" cy="757140"/>
          </a:xfrm>
          <a:prstGeom prst="rect">
            <a:avLst/>
          </a:prstGeom>
        </p:spPr>
        <p:txBody>
          <a:bodyPr anchor="b"/>
          <a:lstStyle>
            <a:lvl1pPr>
              <a:defRPr sz="3937"/>
            </a:lvl1pPr>
          </a:lstStyle>
          <a:p>
            <a:r>
              <a:t>Title Text</a:t>
            </a:r>
          </a:p>
        </p:txBody>
      </p:sp>
      <p:sp>
        <p:nvSpPr>
          <p:cNvPr id="14" name="© Ian Sommerville 2018"/>
          <p:cNvSpPr txBox="1"/>
          <p:nvPr/>
        </p:nvSpPr>
        <p:spPr>
          <a:xfrm>
            <a:off x="5259191" y="6465574"/>
            <a:ext cx="1849866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 © Ian Sommerville 2018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23970" y="6500813"/>
            <a:ext cx="266078" cy="19645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892425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95E-0B55-127B-5937-050A490C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FD92-D8D4-1442-4320-DC6D86B98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329BB-9A8D-FF92-BA8F-3AA319D3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E7A9B-11A7-A5DD-2943-910BDDD5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E0329-6F56-840A-0D49-149B3F85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472CF-283B-45AA-B4EB-1A6ADDAA12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350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B396-3EB6-745A-755E-29152A18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54FFB-8A88-56D9-91A7-3D67D2BD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88EBA-2201-DAB6-31E7-540216BB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5FE9C-F8EF-5875-20EA-080EBFBC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51666-5211-48A6-9FC9-91D65605EE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5691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705" r:id="rId17"/>
    <p:sldLayoutId id="2147483706" r:id="rId18"/>
    <p:sldLayoutId id="2147483710" r:id="rId19"/>
    <p:sldLayoutId id="2147483712" r:id="rId20"/>
    <p:sldLayoutId id="2147483714" r:id="rId21"/>
    <p:sldLayoutId id="214748371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books/ISBN-0011" TargetMode="External"/><Relationship Id="rId7" Type="http://schemas.openxmlformats.org/officeDocument/2006/relationships/hyperlink" Target="http://localhost/classes/cs2650/students" TargetMode="External"/><Relationship Id="rId2" Type="http://schemas.openxmlformats.org/officeDocument/2006/relationships/hyperlink" Target="http://localhost/books/" TargetMode="Externa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://localhost/classes/cs2650" TargetMode="External"/><Relationship Id="rId5" Type="http://schemas.openxmlformats.org/officeDocument/2006/relationships/hyperlink" Target="http://localhost/classes" TargetMode="External"/><Relationship Id="rId4" Type="http://schemas.openxmlformats.org/officeDocument/2006/relationships/hyperlink" Target="http://localhost/books/ISBN-0011/authors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books/ISBN-0011021" TargetMode="External"/><Relationship Id="rId2" Type="http://schemas.openxmlformats.org/officeDocument/2006/relationships/hyperlink" Target="http://localhost/books" TargetMode="Externa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://localhost/books/ISBN-0011021/authors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books/isbn-111" TargetMode="Externa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books/" TargetMode="Externa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books/ISBN-0011" TargetMode="Externa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19845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9D3D412-6E54-741F-D90C-1E55AD66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81BFA6D2-6D65-85BD-3017-442074E6C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113" y="2751220"/>
            <a:ext cx="10515600" cy="1067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Microservices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974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937035" y="766166"/>
            <a:ext cx="317398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Rule of twos</a:t>
            </a:r>
            <a:endParaRPr dirty="0"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937035" y="1680215"/>
            <a:ext cx="10345603" cy="494729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It should be </a:t>
            </a:r>
            <a:r>
              <a:rPr lang="en" b="1" dirty="0">
                <a:solidFill>
                  <a:srgbClr val="00B050"/>
                </a:solidFill>
              </a:rPr>
              <a:t>possible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for a</a:t>
            </a:r>
            <a:r>
              <a:rPr lang="en" dirty="0"/>
              <a:t> </a:t>
            </a:r>
            <a:r>
              <a:rPr lang="en" b="1" dirty="0">
                <a:solidFill>
                  <a:srgbClr val="00B0F0"/>
                </a:solidFill>
              </a:rPr>
              <a:t>microservice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to be developed in </a:t>
            </a:r>
            <a:r>
              <a:rPr lang="en" b="1" dirty="0">
                <a:solidFill>
                  <a:srgbClr val="00B050"/>
                </a:solidFill>
              </a:rPr>
              <a:t>two weeks</a:t>
            </a:r>
            <a:endParaRPr b="1" dirty="0">
              <a:solidFill>
                <a:srgbClr val="00B050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r>
              <a:rPr lang="en" dirty="0"/>
              <a:t>A </a:t>
            </a:r>
            <a:r>
              <a:rPr lang="en" b="1" dirty="0">
                <a:solidFill>
                  <a:srgbClr val="00B0F0"/>
                </a:solidFill>
              </a:rPr>
              <a:t>microservice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development team should be </a:t>
            </a:r>
            <a:r>
              <a:rPr lang="en" b="1" dirty="0">
                <a:solidFill>
                  <a:srgbClr val="00B050"/>
                </a:solidFill>
              </a:rPr>
              <a:t>small enough</a:t>
            </a:r>
            <a:r>
              <a:rPr lang="en" dirty="0"/>
              <a:t>,</a:t>
            </a:r>
            <a:br>
              <a:rPr lang="en" dirty="0"/>
            </a:br>
            <a:br>
              <a:rPr lang="en" dirty="0"/>
            </a:br>
            <a:r>
              <a:rPr lang="en" dirty="0">
                <a:solidFill>
                  <a:schemeClr val="tx1"/>
                </a:solidFill>
              </a:rPr>
              <a:t>that it can be </a:t>
            </a:r>
            <a:r>
              <a:rPr lang="en" b="1" dirty="0">
                <a:solidFill>
                  <a:srgbClr val="00B050"/>
                </a:solidFill>
              </a:rPr>
              <a:t>fed using two large pizzas</a:t>
            </a:r>
            <a:endParaRPr b="1" dirty="0">
              <a:solidFill>
                <a:srgbClr val="00B050"/>
              </a:solidFill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35" y="3833343"/>
            <a:ext cx="4965701" cy="2794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6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953011" y="773033"/>
            <a:ext cx="96147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solidFill>
                  <a:srgbClr val="00B050"/>
                </a:solidFill>
              </a:rPr>
              <a:t>Advantages</a:t>
            </a:r>
            <a:r>
              <a:rPr lang="en" dirty="0"/>
              <a:t> of a microservice architecture</a:t>
            </a:r>
            <a:endParaRPr dirty="0"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953011" y="1769244"/>
            <a:ext cx="10380736" cy="48882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AutoNum type="arabicPeriod"/>
            </a:pPr>
            <a:endParaRPr lang="en" b="1" dirty="0">
              <a:solidFill>
                <a:srgbClr val="00B0F0"/>
              </a:solidFill>
            </a:endParaRPr>
          </a:p>
          <a:p>
            <a:pPr>
              <a:buAutoNum type="arabicPeriod"/>
            </a:pPr>
            <a:r>
              <a:rPr lang="en" b="1" dirty="0">
                <a:solidFill>
                  <a:srgbClr val="00B0F0"/>
                </a:solidFill>
              </a:rPr>
              <a:t>Microservice</a:t>
            </a:r>
            <a:r>
              <a:rPr lang="en" dirty="0"/>
              <a:t> </a:t>
            </a:r>
            <a:r>
              <a:rPr lang="en" b="1" dirty="0">
                <a:solidFill>
                  <a:srgbClr val="00B050"/>
                </a:solidFill>
              </a:rPr>
              <a:t>developement</a:t>
            </a:r>
            <a:r>
              <a:rPr lang="en" dirty="0"/>
              <a:t> can use </a:t>
            </a:r>
            <a:r>
              <a:rPr lang="en" b="1" dirty="0">
                <a:solidFill>
                  <a:srgbClr val="00B050"/>
                </a:solidFill>
              </a:rPr>
              <a:t>any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language </a:t>
            </a:r>
            <a:r>
              <a:rPr lang="en" sz="2000" dirty="0">
                <a:solidFill>
                  <a:schemeClr val="tx1"/>
                </a:solidFill>
              </a:rPr>
              <a:t>(or framework)</a:t>
            </a:r>
            <a:endParaRPr dirty="0">
              <a:solidFill>
                <a:schemeClr val="tx1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endParaRPr lang="en" dirty="0">
              <a:solidFill>
                <a:schemeClr val="tx1"/>
              </a:solidFill>
            </a:endParaRPr>
          </a:p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Only what have been </a:t>
            </a:r>
            <a:r>
              <a:rPr lang="en" b="1" dirty="0">
                <a:solidFill>
                  <a:srgbClr val="FF0000"/>
                </a:solidFill>
              </a:rPr>
              <a:t>changed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need to be </a:t>
            </a:r>
            <a:r>
              <a:rPr lang="en" b="1" dirty="0">
                <a:solidFill>
                  <a:srgbClr val="FF0000"/>
                </a:solidFill>
              </a:rPr>
              <a:t>re-tested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and</a:t>
            </a:r>
            <a:r>
              <a:rPr lang="en" dirty="0"/>
              <a:t> </a:t>
            </a:r>
            <a:r>
              <a:rPr lang="en" b="1" dirty="0">
                <a:solidFill>
                  <a:srgbClr val="FF0000"/>
                </a:solidFill>
              </a:rPr>
              <a:t>redeployed</a:t>
            </a:r>
            <a:endParaRPr b="1" dirty="0">
              <a:solidFill>
                <a:srgbClr val="FF0000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endParaRPr lang="en" dirty="0">
              <a:solidFill>
                <a:schemeClr val="tx1"/>
              </a:solidFill>
            </a:endParaRPr>
          </a:p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Not</a:t>
            </a:r>
            <a:r>
              <a:rPr lang="en" dirty="0"/>
              <a:t> </a:t>
            </a:r>
            <a:r>
              <a:rPr lang="en" b="1" dirty="0">
                <a:solidFill>
                  <a:srgbClr val="FF0000"/>
                </a:solidFill>
              </a:rPr>
              <a:t>necessary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to</a:t>
            </a:r>
            <a:r>
              <a:rPr lang="en" dirty="0"/>
              <a:t> </a:t>
            </a:r>
            <a:r>
              <a:rPr lang="en" b="1" dirty="0">
                <a:solidFill>
                  <a:srgbClr val="00B050"/>
                </a:solidFill>
              </a:rPr>
              <a:t>scale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the whole system when demand </a:t>
            </a:r>
            <a:r>
              <a:rPr lang="en" b="1" dirty="0">
                <a:solidFill>
                  <a:srgbClr val="00B050"/>
                </a:solidFill>
              </a:rPr>
              <a:t>on one part </a:t>
            </a:r>
            <a:r>
              <a:rPr lang="en" dirty="0">
                <a:solidFill>
                  <a:schemeClr val="tx1"/>
                </a:solidFill>
              </a:rPr>
              <a:t>increases</a:t>
            </a:r>
            <a:endParaRPr dirty="0">
              <a:solidFill>
                <a:schemeClr val="tx1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endParaRPr lang="en" b="1" dirty="0">
              <a:solidFill>
                <a:srgbClr val="00B050"/>
              </a:solidFill>
            </a:endParaRPr>
          </a:p>
          <a:p>
            <a:pPr>
              <a:buAutoNum type="arabicPeriod"/>
            </a:pPr>
            <a:r>
              <a:rPr lang="en" b="1" dirty="0">
                <a:solidFill>
                  <a:srgbClr val="00B050"/>
                </a:solidFill>
              </a:rPr>
              <a:t>Reduces cost </a:t>
            </a:r>
            <a:r>
              <a:rPr lang="en" dirty="0">
                <a:solidFill>
                  <a:schemeClr val="tx1"/>
                </a:solidFill>
              </a:rPr>
              <a:t>of collaboration between teams within an organization </a:t>
            </a:r>
            <a:br>
              <a:rPr lang="e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8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953010" y="766167"/>
            <a:ext cx="7641548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Characteristics of a microservice</a:t>
            </a:r>
            <a:endParaRPr dirty="0"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953010" y="1624864"/>
            <a:ext cx="10392769" cy="50045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endParaRPr lang="en" dirty="0"/>
          </a:p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Self-contained</a:t>
            </a:r>
            <a:endParaRPr dirty="0">
              <a:solidFill>
                <a:schemeClr val="tx1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r>
              <a:rPr lang="en" b="1" dirty="0">
                <a:solidFill>
                  <a:srgbClr val="00B050"/>
                </a:solidFill>
              </a:rPr>
              <a:t>Lightweight</a:t>
            </a:r>
            <a:endParaRPr b="1" dirty="0">
              <a:solidFill>
                <a:srgbClr val="00B050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Implementation-</a:t>
            </a:r>
            <a:r>
              <a:rPr lang="en" b="1" dirty="0">
                <a:solidFill>
                  <a:srgbClr val="00B050"/>
                </a:solidFill>
              </a:rPr>
              <a:t>independent</a:t>
            </a:r>
            <a:endParaRPr b="1" dirty="0">
              <a:solidFill>
                <a:srgbClr val="00B050"/>
              </a:solidFill>
            </a:endParaRPr>
          </a:p>
          <a:p>
            <a:pPr>
              <a:buAutoNum type="arabicPeriod"/>
            </a:pPr>
            <a:endParaRPr lang="en" dirty="0"/>
          </a:p>
          <a:p>
            <a:pPr>
              <a:buAutoNum type="arabicPeriod"/>
            </a:pPr>
            <a:r>
              <a:rPr lang="en" b="1" dirty="0">
                <a:solidFill>
                  <a:srgbClr val="00B050"/>
                </a:solidFill>
              </a:rPr>
              <a:t>Independently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deployable</a:t>
            </a:r>
            <a:endParaRPr dirty="0">
              <a:solidFill>
                <a:schemeClr val="tx1"/>
              </a:solidFill>
            </a:endParaRPr>
          </a:p>
          <a:p>
            <a:pPr>
              <a:buAutoNum type="arabicPeriod"/>
            </a:pPr>
            <a:endParaRPr lang="en" dirty="0">
              <a:solidFill>
                <a:schemeClr val="tx1"/>
              </a:solidFill>
            </a:endParaRPr>
          </a:p>
          <a:p>
            <a:pPr>
              <a:buAutoNum type="arabicPeriod"/>
            </a:pPr>
            <a:r>
              <a:rPr lang="en" dirty="0">
                <a:solidFill>
                  <a:schemeClr val="tx1"/>
                </a:solidFill>
              </a:rPr>
              <a:t>Business-oriented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0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928947" y="773033"/>
            <a:ext cx="9017158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Monolith vs. </a:t>
            </a:r>
            <a:r>
              <a:rPr lang="en" dirty="0">
                <a:solidFill>
                  <a:srgbClr val="00B0F0"/>
                </a:solidFill>
              </a:rPr>
              <a:t>Microservices</a:t>
            </a:r>
            <a:r>
              <a:rPr lang="en" dirty="0"/>
              <a:t> Architecture</a:t>
            </a:r>
            <a:endParaRPr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928947" y="1893569"/>
            <a:ext cx="53332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FF0000"/>
                </a:solidFill>
              </a:rPr>
              <a:t>MONOLITH (3-Tier, etc.)</a:t>
            </a:r>
            <a:endParaRPr b="1" dirty="0">
              <a:solidFill>
                <a:srgbClr val="FF0000"/>
              </a:solidFill>
            </a:endParaRPr>
          </a:p>
          <a:p>
            <a:pPr>
              <a:spcBef>
                <a:spcPts val="2133"/>
              </a:spcBef>
            </a:pPr>
            <a:endParaRPr lang="en" dirty="0">
              <a:solidFill>
                <a:schemeClr val="tx1"/>
              </a:solidFill>
            </a:endParaRPr>
          </a:p>
          <a:p>
            <a:pPr>
              <a:spcBef>
                <a:spcPts val="2133"/>
              </a:spcBef>
            </a:pPr>
            <a:r>
              <a:rPr lang="en" dirty="0">
                <a:solidFill>
                  <a:schemeClr val="tx1"/>
                </a:solidFill>
              </a:rPr>
              <a:t>Server-side system based on </a:t>
            </a:r>
            <a:r>
              <a:rPr lang="en" b="1" dirty="0">
                <a:solidFill>
                  <a:srgbClr val="FF0000"/>
                </a:solidFill>
              </a:rPr>
              <a:t>single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application</a:t>
            </a:r>
            <a:endParaRPr dirty="0">
              <a:solidFill>
                <a:schemeClr val="tx1"/>
              </a:solidFill>
            </a:endParaRPr>
          </a:p>
          <a:p>
            <a:endParaRPr lang="en" dirty="0"/>
          </a:p>
          <a:p>
            <a:endParaRPr lang="en" b="1" dirty="0">
              <a:solidFill>
                <a:srgbClr val="00B050"/>
              </a:solidFill>
            </a:endParaRPr>
          </a:p>
          <a:p>
            <a:r>
              <a:rPr lang="en" b="1" dirty="0">
                <a:solidFill>
                  <a:srgbClr val="00B050"/>
                </a:solidFill>
              </a:rPr>
              <a:t>Easy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to develop, deploy, manage</a:t>
            </a:r>
          </a:p>
          <a:p>
            <a:endParaRPr lang="en" dirty="0">
              <a:solidFill>
                <a:schemeClr val="tx1"/>
              </a:solidFill>
            </a:endParaRPr>
          </a:p>
          <a:p>
            <a:endParaRPr lang="en" dirty="0">
              <a:solidFill>
                <a:schemeClr val="tx1"/>
              </a:solidFill>
            </a:endParaRPr>
          </a:p>
          <a:p>
            <a:r>
              <a:rPr lang="en" dirty="0">
                <a:solidFill>
                  <a:schemeClr val="tx1"/>
                </a:solidFill>
              </a:rPr>
              <a:t>Classic 3-Tier web application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2"/>
          </p:nvPr>
        </p:nvSpPr>
        <p:spPr>
          <a:xfrm>
            <a:off x="6298821" y="1893568"/>
            <a:ext cx="5014874" cy="472379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00B0F0"/>
                </a:solidFill>
              </a:rPr>
              <a:t>MICROSERVICES</a:t>
            </a:r>
            <a:endParaRPr b="1" dirty="0">
              <a:solidFill>
                <a:srgbClr val="00B0F0"/>
              </a:solidFill>
            </a:endParaRPr>
          </a:p>
          <a:p>
            <a:pPr>
              <a:spcBef>
                <a:spcPts val="2133"/>
              </a:spcBef>
            </a:pPr>
            <a:endParaRPr lang="en" b="1" dirty="0">
              <a:solidFill>
                <a:srgbClr val="00B050"/>
              </a:solidFill>
            </a:endParaRPr>
          </a:p>
          <a:p>
            <a:pPr>
              <a:spcBef>
                <a:spcPts val="2133"/>
              </a:spcBef>
            </a:pPr>
            <a:r>
              <a:rPr lang="en" b="1" dirty="0">
                <a:solidFill>
                  <a:srgbClr val="00B050"/>
                </a:solidFill>
              </a:rPr>
              <a:t>Every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app function is its </a:t>
            </a:r>
            <a:r>
              <a:rPr lang="en" b="1" dirty="0">
                <a:solidFill>
                  <a:srgbClr val="00B050"/>
                </a:solidFill>
              </a:rPr>
              <a:t>own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service</a:t>
            </a:r>
            <a:endParaRPr dirty="0">
              <a:solidFill>
                <a:schemeClr val="tx1"/>
              </a:solidFill>
            </a:endParaRPr>
          </a:p>
          <a:p>
            <a:endParaRPr lang="en" dirty="0"/>
          </a:p>
          <a:p>
            <a:endParaRPr lang="en" b="1" dirty="0">
              <a:solidFill>
                <a:srgbClr val="00B050"/>
              </a:solidFill>
            </a:endParaRPr>
          </a:p>
          <a:p>
            <a:r>
              <a:rPr lang="en" b="1" dirty="0">
                <a:solidFill>
                  <a:srgbClr val="00B050"/>
                </a:solidFill>
              </a:rPr>
              <a:t>Own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container</a:t>
            </a:r>
            <a:endParaRPr dirty="0">
              <a:solidFill>
                <a:schemeClr val="tx1"/>
              </a:solidFill>
            </a:endParaRPr>
          </a:p>
          <a:p>
            <a:endParaRPr lang="en" dirty="0"/>
          </a:p>
          <a:p>
            <a:endParaRPr lang="en" b="1" dirty="0">
              <a:solidFill>
                <a:srgbClr val="00B050"/>
              </a:solidFill>
            </a:endParaRPr>
          </a:p>
          <a:p>
            <a:r>
              <a:rPr lang="en" b="1" dirty="0">
                <a:solidFill>
                  <a:srgbClr val="00B050"/>
                </a:solidFill>
              </a:rPr>
              <a:t>Communicates</a:t>
            </a:r>
            <a:r>
              <a:rPr lang="en" dirty="0"/>
              <a:t> </a:t>
            </a:r>
            <a:r>
              <a:rPr lang="en" dirty="0">
                <a:solidFill>
                  <a:schemeClr val="tx1"/>
                </a:solidFill>
              </a:rPr>
              <a:t>via APIs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6407C99-44E7-4910-148E-1D346F4C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>
            <a:extLst>
              <a:ext uri="{FF2B5EF4-FFF2-40B4-BE49-F238E27FC236}">
                <a16:creationId xmlns:a16="http://schemas.microsoft.com/office/drawing/2014/main" id="{ECECBAFE-B3BD-DED7-6404-0294ED21DE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946" y="773033"/>
            <a:ext cx="9672917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SOA/SOAP vs. </a:t>
            </a:r>
            <a:r>
              <a:rPr lang="en" dirty="0">
                <a:solidFill>
                  <a:srgbClr val="00B0F0"/>
                </a:solidFill>
              </a:rPr>
              <a:t>Microservices</a:t>
            </a:r>
            <a:r>
              <a:rPr lang="en" dirty="0"/>
              <a:t> Architecture</a:t>
            </a:r>
            <a:endParaRPr dirty="0"/>
          </a:p>
        </p:txBody>
      </p:sp>
      <p:sp>
        <p:nvSpPr>
          <p:cNvPr id="90" name="Google Shape;90;p18">
            <a:extLst>
              <a:ext uri="{FF2B5EF4-FFF2-40B4-BE49-F238E27FC236}">
                <a16:creationId xmlns:a16="http://schemas.microsoft.com/office/drawing/2014/main" id="{3455A77C-FC5F-F147-5E1A-69A0D0384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0" y="1850436"/>
            <a:ext cx="53332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FF0000"/>
                </a:solidFill>
              </a:rPr>
              <a:t>Service Oriented Architecture (SOA)</a:t>
            </a:r>
            <a:endParaRPr lang="en" dirty="0">
              <a:solidFill>
                <a:schemeClr val="tx1"/>
              </a:solidFill>
            </a:endParaRP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Large, coarse-grained services; often uses SOAP/ESB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Heavy standards (XML, WSDL)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Shared databases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Centralized architecture</a:t>
            </a:r>
          </a:p>
        </p:txBody>
      </p:sp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D11056CA-504E-4D31-49D3-CB92132F6D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5620" y="1850436"/>
            <a:ext cx="5014874" cy="472379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solidFill>
                  <a:srgbClr val="00B0F0"/>
                </a:solidFill>
              </a:rPr>
              <a:t>MICROSERVICES</a:t>
            </a:r>
            <a:endParaRPr lang="en" b="1" dirty="0">
              <a:solidFill>
                <a:srgbClr val="00B050"/>
              </a:solidFill>
            </a:endParaRP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Small, independently deployable services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Lightweight (REST, JSON, </a:t>
            </a:r>
            <a:r>
              <a:rPr lang="en-US" dirty="0" err="1">
                <a:solidFill>
                  <a:schemeClr val="tx1"/>
                </a:solidFill>
              </a:rPr>
              <a:t>gRPC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Each service owns its own DB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Decentralized</a:t>
            </a:r>
          </a:p>
          <a:p>
            <a:pPr>
              <a:spcBef>
                <a:spcPts val="2133"/>
              </a:spcBef>
            </a:pPr>
            <a:r>
              <a:rPr lang="en-US" dirty="0">
                <a:solidFill>
                  <a:schemeClr val="tx1"/>
                </a:solidFill>
              </a:rPr>
              <a:t>Cloud-native</a:t>
            </a:r>
          </a:p>
        </p:txBody>
      </p:sp>
    </p:spTree>
    <p:extLst>
      <p:ext uri="{BB962C8B-B14F-4D97-AF65-F5344CB8AC3E}">
        <p14:creationId xmlns:p14="http://schemas.microsoft.com/office/powerpoint/2010/main" val="214971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hapter 6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Microservices</a:t>
            </a:r>
            <a:r>
              <a:rPr dirty="0"/>
              <a:t>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 software service is a software component that can be accessed from remote computers over the Internet. Given an input, a service produces a corresponding output, without side effects.…"/>
          <p:cNvSpPr txBox="1">
            <a:spLocks noGrp="1"/>
          </p:cNvSpPr>
          <p:nvPr>
            <p:ph type="body" idx="1"/>
          </p:nvPr>
        </p:nvSpPr>
        <p:spPr>
          <a:xfrm>
            <a:off x="962342" y="1538388"/>
            <a:ext cx="10363384" cy="510304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oftware service is a component </a:t>
            </a:r>
            <a:r>
              <a:rPr b="1" dirty="0">
                <a:solidFill>
                  <a:srgbClr val="00B050"/>
                </a:solidFill>
              </a:rPr>
              <a:t>accessed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from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remote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ervice is </a:t>
            </a:r>
            <a:r>
              <a:rPr b="1" dirty="0">
                <a:solidFill>
                  <a:srgbClr val="00B050"/>
                </a:solidFill>
              </a:rPr>
              <a:t>accessed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through its </a:t>
            </a:r>
            <a:r>
              <a:rPr b="1" dirty="0">
                <a:solidFill>
                  <a:srgbClr val="00B050"/>
                </a:solidFill>
              </a:rPr>
              <a:t>interface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ll </a:t>
            </a:r>
            <a:r>
              <a:rPr b="1" dirty="0">
                <a:solidFill>
                  <a:srgbClr val="00B050"/>
                </a:solidFill>
              </a:rPr>
              <a:t>details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of the implementation are </a:t>
            </a:r>
            <a:r>
              <a:rPr b="1" dirty="0">
                <a:solidFill>
                  <a:srgbClr val="FF0000"/>
                </a:solidFill>
              </a:rPr>
              <a:t>hidden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</a:t>
            </a:r>
            <a:r>
              <a:rPr dirty="0">
                <a:solidFill>
                  <a:schemeClr val="tx1"/>
                </a:solidFill>
              </a:rPr>
              <a:t>o </a:t>
            </a:r>
            <a:r>
              <a:rPr b="1" dirty="0">
                <a:solidFill>
                  <a:srgbClr val="FF0000"/>
                </a:solidFill>
              </a:rPr>
              <a:t>not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maintain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any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internal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state</a:t>
            </a:r>
            <a:r>
              <a:rPr dirty="0">
                <a:solidFill>
                  <a:schemeClr val="tx1"/>
                </a:solidFill>
              </a:rPr>
              <a:t>.</a:t>
            </a:r>
            <a:r>
              <a:rPr dirty="0"/>
              <a:t> </a:t>
            </a:r>
            <a:endParaRPr lang="en-US" dirty="0"/>
          </a:p>
          <a:p>
            <a:pPr lvl="1"/>
            <a:r>
              <a:rPr b="1" dirty="0">
                <a:solidFill>
                  <a:srgbClr val="FF0000"/>
                </a:solidFill>
              </a:rPr>
              <a:t>State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information is stored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n a database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M</a:t>
            </a:r>
            <a:r>
              <a:rPr dirty="0">
                <a:solidFill>
                  <a:schemeClr val="tx1"/>
                </a:solidFill>
              </a:rPr>
              <a:t>aintained by the service requestor</a:t>
            </a:r>
          </a:p>
        </p:txBody>
      </p:sp>
      <p:sp>
        <p:nvSpPr>
          <p:cNvPr id="66" name="Software services"/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4387700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Software services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7077-AE2A-7512-FA99-537481AB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 software service is a software component that can be accessed from remote computers over the Internet. Given an input, a service produces a corresponding output, without side effects.…">
            <a:extLst>
              <a:ext uri="{FF2B5EF4-FFF2-40B4-BE49-F238E27FC236}">
                <a16:creationId xmlns:a16="http://schemas.microsoft.com/office/drawing/2014/main" id="{004369F4-DC9B-228F-3271-E8F40CF3E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529766"/>
            <a:ext cx="10383437" cy="5131717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dirty="0"/>
          </a:p>
          <a:p>
            <a:endParaRPr lang="en-US" dirty="0"/>
          </a:p>
          <a:p>
            <a:r>
              <a:rPr dirty="0">
                <a:solidFill>
                  <a:schemeClr val="tx1"/>
                </a:solidFill>
              </a:rPr>
              <a:t>When a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service request </a:t>
            </a:r>
            <a:r>
              <a:rPr dirty="0">
                <a:solidFill>
                  <a:schemeClr val="tx1"/>
                </a:solidFill>
              </a:rPr>
              <a:t>is made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</a:t>
            </a:r>
            <a:r>
              <a:rPr dirty="0">
                <a:solidFill>
                  <a:schemeClr val="tx1"/>
                </a:solidFill>
              </a:rPr>
              <a:t>he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state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information may be </a:t>
            </a:r>
            <a:r>
              <a:rPr b="1" dirty="0">
                <a:solidFill>
                  <a:srgbClr val="FF0000"/>
                </a:solidFill>
              </a:rPr>
              <a:t>included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as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part of the request 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</a:t>
            </a:r>
            <a:r>
              <a:rPr dirty="0">
                <a:solidFill>
                  <a:schemeClr val="tx1"/>
                </a:solidFill>
              </a:rPr>
              <a:t>he </a:t>
            </a:r>
            <a:r>
              <a:rPr b="1" dirty="0">
                <a:solidFill>
                  <a:srgbClr val="00B050"/>
                </a:solidFill>
              </a:rPr>
              <a:t>updated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state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information is </a:t>
            </a:r>
            <a:r>
              <a:rPr b="1" dirty="0">
                <a:solidFill>
                  <a:srgbClr val="FF0000"/>
                </a:solidFill>
              </a:rPr>
              <a:t>returned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as part of the </a:t>
            </a:r>
            <a:r>
              <a:rPr b="1" dirty="0">
                <a:solidFill>
                  <a:srgbClr val="FF0000"/>
                </a:solidFill>
              </a:rPr>
              <a:t>service </a:t>
            </a:r>
            <a:r>
              <a:rPr lang="en-US" b="1" dirty="0">
                <a:solidFill>
                  <a:srgbClr val="FF0000"/>
                </a:solidFill>
              </a:rPr>
              <a:t>response</a:t>
            </a:r>
            <a:endParaRPr b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b="1" dirty="0">
                <a:solidFill>
                  <a:srgbClr val="FF0000"/>
                </a:solidFill>
              </a:rPr>
              <a:t>o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local state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ervices can be dynamically </a:t>
            </a:r>
            <a:r>
              <a:rPr b="1" dirty="0">
                <a:solidFill>
                  <a:srgbClr val="FF0000"/>
                </a:solidFill>
              </a:rPr>
              <a:t>reallocated</a:t>
            </a:r>
            <a:r>
              <a:rPr dirty="0"/>
              <a:t> </a:t>
            </a:r>
            <a:r>
              <a:rPr lang="en-US" sz="1800" dirty="0"/>
              <a:t>(</a:t>
            </a:r>
            <a:r>
              <a:rPr sz="1800" dirty="0">
                <a:solidFill>
                  <a:schemeClr val="tx1"/>
                </a:solidFill>
              </a:rPr>
              <a:t>from one virtual server to another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</a:t>
            </a:r>
            <a:r>
              <a:rPr dirty="0">
                <a:solidFill>
                  <a:schemeClr val="tx1"/>
                </a:solidFill>
              </a:rPr>
              <a:t>eplicated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across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several servers</a:t>
            </a:r>
          </a:p>
        </p:txBody>
      </p:sp>
      <p:sp>
        <p:nvSpPr>
          <p:cNvPr id="66" name="Software services">
            <a:extLst>
              <a:ext uri="{FF2B5EF4-FFF2-40B4-BE49-F238E27FC236}">
                <a16:creationId xmlns:a16="http://schemas.microsoft.com/office/drawing/2014/main" id="{32A0A0DC-66A4-58D2-4EF4-0E331ACEE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4387700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Software services</a:t>
            </a:r>
          </a:p>
        </p:txBody>
      </p:sp>
      <p:sp>
        <p:nvSpPr>
          <p:cNvPr id="67" name="Slide Number">
            <a:extLst>
              <a:ext uri="{FF2B5EF4-FFF2-40B4-BE49-F238E27FC236}">
                <a16:creationId xmlns:a16="http://schemas.microsoft.com/office/drawing/2014/main" id="{15037D2B-E3CA-0ED2-AC47-18600BA0B6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235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Microservices are small-scale, stateless, services that have a single responsibility. They are combined to create applications.…"/>
          <p:cNvSpPr txBox="1">
            <a:spLocks noGrp="1"/>
          </p:cNvSpPr>
          <p:nvPr>
            <p:ph type="body" idx="1"/>
          </p:nvPr>
        </p:nvSpPr>
        <p:spPr>
          <a:xfrm>
            <a:off x="962342" y="1528611"/>
            <a:ext cx="10379426" cy="5120841"/>
          </a:xfrm>
          <a:prstGeom prst="rect">
            <a:avLst/>
          </a:prstGeom>
        </p:spPr>
        <p:txBody>
          <a:bodyPr/>
          <a:lstStyle/>
          <a:p>
            <a:endParaRPr lang="en-US" b="1" dirty="0">
              <a:solidFill>
                <a:srgbClr val="00B0F0"/>
              </a:solidFill>
            </a:endParaRPr>
          </a:p>
          <a:p>
            <a:r>
              <a:rPr b="1" dirty="0">
                <a:solidFill>
                  <a:srgbClr val="00B0F0"/>
                </a:solidFill>
              </a:rPr>
              <a:t>Microservices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are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</a:t>
            </a:r>
            <a:r>
              <a:rPr b="1" dirty="0">
                <a:solidFill>
                  <a:srgbClr val="00B050"/>
                </a:solidFill>
              </a:rPr>
              <a:t>mall</a:t>
            </a:r>
            <a:r>
              <a:rPr dirty="0">
                <a:solidFill>
                  <a:schemeClr val="tx1"/>
                </a:solidFill>
              </a:rPr>
              <a:t>-scale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b="1" dirty="0">
                <a:solidFill>
                  <a:srgbClr val="FF0000"/>
                </a:solidFill>
              </a:rPr>
              <a:t>tateless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H</a:t>
            </a:r>
            <a:r>
              <a:rPr dirty="0">
                <a:solidFill>
                  <a:schemeClr val="tx1"/>
                </a:solidFill>
              </a:rPr>
              <a:t>ave a </a:t>
            </a:r>
            <a:r>
              <a:rPr b="1" dirty="0">
                <a:solidFill>
                  <a:srgbClr val="FF0000"/>
                </a:solidFill>
              </a:rPr>
              <a:t>single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responsibility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They are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b="1" dirty="0">
                <a:solidFill>
                  <a:srgbClr val="00B050"/>
                </a:solidFill>
              </a:rPr>
              <a:t>ombined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to create </a:t>
            </a:r>
            <a:r>
              <a:rPr lang="en-US" dirty="0">
                <a:solidFill>
                  <a:schemeClr val="tx1"/>
                </a:solidFill>
              </a:rPr>
              <a:t>an </a:t>
            </a:r>
            <a:r>
              <a:rPr b="1" dirty="0">
                <a:solidFill>
                  <a:srgbClr val="00B050"/>
                </a:solidFill>
              </a:rPr>
              <a:t>applications</a:t>
            </a:r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74" name="Microservices"/>
          <p:cNvSpPr txBox="1">
            <a:spLocks noGrp="1"/>
          </p:cNvSpPr>
          <p:nvPr>
            <p:ph type="title"/>
          </p:nvPr>
        </p:nvSpPr>
        <p:spPr>
          <a:xfrm>
            <a:off x="962342" y="717693"/>
            <a:ext cx="356955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Microservices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FC61-D107-5F5D-61A3-8571A1C1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Microservices are small-scale, stateless, services that have a single responsibility. They are combined to create applications.…">
            <a:extLst>
              <a:ext uri="{FF2B5EF4-FFF2-40B4-BE49-F238E27FC236}">
                <a16:creationId xmlns:a16="http://schemas.microsoft.com/office/drawing/2014/main" id="{C85AC4A6-5F6C-3F04-4CC7-18768517F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528611"/>
            <a:ext cx="10379426" cy="5120841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They are completely </a:t>
            </a:r>
            <a:r>
              <a:rPr b="1" dirty="0">
                <a:solidFill>
                  <a:srgbClr val="FF0000"/>
                </a:solidFill>
              </a:rPr>
              <a:t>independent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sz="2800" b="1" dirty="0">
                <a:solidFill>
                  <a:srgbClr val="00B050"/>
                </a:solidFill>
              </a:rPr>
              <a:t>O</a:t>
            </a:r>
            <a:r>
              <a:rPr sz="2800" b="1" dirty="0">
                <a:solidFill>
                  <a:srgbClr val="00B050"/>
                </a:solidFill>
              </a:rPr>
              <a:t>wn</a:t>
            </a:r>
            <a:r>
              <a:rPr sz="2800" dirty="0"/>
              <a:t> </a:t>
            </a:r>
            <a:r>
              <a:rPr sz="2800" dirty="0">
                <a:solidFill>
                  <a:schemeClr val="tx1"/>
                </a:solidFill>
              </a:rPr>
              <a:t>database</a:t>
            </a:r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UI management code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React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Angular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Vue.js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Next.js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Etc.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4" name="Microservices">
            <a:extLst>
              <a:ext uri="{FF2B5EF4-FFF2-40B4-BE49-F238E27FC236}">
                <a16:creationId xmlns:a16="http://schemas.microsoft.com/office/drawing/2014/main" id="{CC7C1028-16C6-CB14-95CB-E6D4286B0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17693"/>
            <a:ext cx="356955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Microservices</a:t>
            </a:r>
          </a:p>
        </p:txBody>
      </p:sp>
      <p:sp>
        <p:nvSpPr>
          <p:cNvPr id="75" name="Slide Number">
            <a:extLst>
              <a:ext uri="{FF2B5EF4-FFF2-40B4-BE49-F238E27FC236}">
                <a16:creationId xmlns:a16="http://schemas.microsoft.com/office/drawing/2014/main" id="{167E58E8-FF39-9656-9533-283DE8758EC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12</a:t>
            </a:fld>
            <a:endParaRPr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11A59E4-A3D8-3F5D-C1DB-987D42D9D7CA}"/>
              </a:ext>
            </a:extLst>
          </p:cNvPr>
          <p:cNvSpPr/>
          <p:nvPr/>
        </p:nvSpPr>
        <p:spPr>
          <a:xfrm rot="10800000">
            <a:off x="4903988" y="2471394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2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 microservices architecture is an architectural style –  a tried and tested way of implementing a logical software architecture.…"/>
          <p:cNvSpPr txBox="1">
            <a:spLocks noGrp="1"/>
          </p:cNvSpPr>
          <p:nvPr>
            <p:ph type="body" idx="1"/>
          </p:nvPr>
        </p:nvSpPr>
        <p:spPr>
          <a:xfrm>
            <a:off x="962342" y="1636895"/>
            <a:ext cx="10387447" cy="499651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</a:t>
            </a:r>
            <a:r>
              <a:rPr dirty="0"/>
              <a:t> </a:t>
            </a:r>
            <a:r>
              <a:rPr b="1" dirty="0">
                <a:solidFill>
                  <a:srgbClr val="00B0F0"/>
                </a:solidFill>
              </a:rPr>
              <a:t>microservices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architecture is an </a:t>
            </a:r>
            <a:r>
              <a:rPr i="1" dirty="0">
                <a:solidFill>
                  <a:schemeClr val="tx1"/>
                </a:solidFill>
              </a:rPr>
              <a:t>architectural style</a:t>
            </a:r>
            <a:endParaRPr lang="en-US" i="1" dirty="0">
              <a:solidFill>
                <a:schemeClr val="tx1"/>
              </a:solidFill>
            </a:endParaRPr>
          </a:p>
          <a:p>
            <a:endParaRPr lang="en-US" i="1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sz="3200" b="1" dirty="0">
              <a:solidFill>
                <a:srgbClr val="00B050"/>
              </a:solidFill>
            </a:endParaRPr>
          </a:p>
          <a:p>
            <a:r>
              <a:rPr lang="en-US" sz="3200" b="1" dirty="0">
                <a:solidFill>
                  <a:srgbClr val="00B050"/>
                </a:solidFill>
              </a:rPr>
              <a:t>It ad</a:t>
            </a:r>
            <a:r>
              <a:rPr sz="3200" b="1" dirty="0">
                <a:solidFill>
                  <a:srgbClr val="00B050"/>
                </a:solidFill>
              </a:rPr>
              <a:t>dresses</a:t>
            </a:r>
            <a:r>
              <a:rPr sz="3200" dirty="0"/>
              <a:t> </a:t>
            </a:r>
            <a:r>
              <a:rPr sz="3200" b="1" dirty="0">
                <a:solidFill>
                  <a:srgbClr val="FF0000"/>
                </a:solidFill>
              </a:rPr>
              <a:t>two problems </a:t>
            </a:r>
            <a:r>
              <a:rPr lang="en-US" sz="3200" dirty="0">
                <a:solidFill>
                  <a:schemeClr val="tx1"/>
                </a:solidFill>
              </a:rPr>
              <a:t>of</a:t>
            </a:r>
            <a:r>
              <a:rPr sz="3200" dirty="0">
                <a:solidFill>
                  <a:schemeClr val="tx1"/>
                </a:solidFill>
              </a:rPr>
              <a:t> monolithic applications</a:t>
            </a:r>
            <a:r>
              <a:rPr lang="en-US" sz="3200" dirty="0">
                <a:solidFill>
                  <a:schemeClr val="tx1"/>
                </a:solidFill>
              </a:rPr>
              <a:t>: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10" name="Microservices architecture"/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6248584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Microservices architecture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50548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A49A-36CE-DA5B-8859-6B39E268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 microservices architecture is an architectural style –  a tried and tested way of implementing a logical software architecture.…">
            <a:extLst>
              <a:ext uri="{FF2B5EF4-FFF2-40B4-BE49-F238E27FC236}">
                <a16:creationId xmlns:a16="http://schemas.microsoft.com/office/drawing/2014/main" id="{61BB640D-FD4F-13E4-C568-0F03CBEB4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636895"/>
            <a:ext cx="10387447" cy="4996515"/>
          </a:xfrm>
          <a:prstGeom prst="rect">
            <a:avLst/>
          </a:prstGeom>
        </p:spPr>
        <p:txBody>
          <a:bodyPr/>
          <a:lstStyle/>
          <a:p>
            <a:pPr lvl="1"/>
            <a:r>
              <a:rPr lang="en-US" b="1" dirty="0">
                <a:solidFill>
                  <a:schemeClr val="tx1"/>
                </a:solidFill>
              </a:rPr>
              <a:t>1. </a:t>
            </a:r>
            <a:r>
              <a:rPr lang="en-US" dirty="0">
                <a:solidFill>
                  <a:schemeClr val="tx1"/>
                </a:solidFill>
              </a:rPr>
              <a:t>When a change is made to the </a:t>
            </a:r>
            <a:r>
              <a:rPr lang="en-US" sz="1600" dirty="0">
                <a:solidFill>
                  <a:schemeClr val="tx1"/>
                </a:solidFill>
              </a:rPr>
              <a:t>(mono) </a:t>
            </a:r>
            <a:r>
              <a:rPr lang="en-US" dirty="0">
                <a:solidFill>
                  <a:schemeClr val="tx1"/>
                </a:solidFill>
              </a:rPr>
              <a:t>system has to be:</a:t>
            </a:r>
            <a:r>
              <a:rPr lang="en-US" dirty="0"/>
              <a:t> </a:t>
            </a:r>
          </a:p>
          <a:p>
            <a:pPr lvl="2"/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Rebuilt</a:t>
            </a:r>
            <a:endParaRPr lang="en-US" b="1" dirty="0">
              <a:solidFill>
                <a:schemeClr val="tx1"/>
              </a:solidFill>
            </a:endParaRP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Re-tested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Re-deployed</a:t>
            </a:r>
            <a:endParaRPr lang="en-US" dirty="0">
              <a:solidFill>
                <a:schemeClr val="tx1"/>
              </a:solidFill>
            </a:endParaRPr>
          </a:p>
          <a:p>
            <a:pPr marL="1405431" lvl="2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1405431" lvl="2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Slow process </a:t>
            </a:r>
            <a:r>
              <a:rPr lang="en-US" dirty="0">
                <a:solidFill>
                  <a:schemeClr val="tx1"/>
                </a:solidFill>
              </a:rPr>
              <a:t>(as changes to one part of the system </a:t>
            </a:r>
            <a:r>
              <a:rPr lang="en-US" b="1" dirty="0">
                <a:solidFill>
                  <a:srgbClr val="FF0000"/>
                </a:solidFill>
              </a:rPr>
              <a:t>affect other components)</a:t>
            </a:r>
            <a:r>
              <a:rPr lang="en-US" sz="2000" dirty="0">
                <a:solidFill>
                  <a:schemeClr val="tx1"/>
                </a:solidFill>
              </a:rPr>
              <a:t>.  </a:t>
            </a:r>
          </a:p>
        </p:txBody>
      </p:sp>
      <p:sp>
        <p:nvSpPr>
          <p:cNvPr id="110" name="Microservices architecture">
            <a:extLst>
              <a:ext uri="{FF2B5EF4-FFF2-40B4-BE49-F238E27FC236}">
                <a16:creationId xmlns:a16="http://schemas.microsoft.com/office/drawing/2014/main" id="{3208FD44-05F5-1DDD-8D1D-4EF0BADC2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6248584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Microservices architecture</a:t>
            </a:r>
          </a:p>
        </p:txBody>
      </p:sp>
      <p:sp>
        <p:nvSpPr>
          <p:cNvPr id="111" name="Slide Number">
            <a:extLst>
              <a:ext uri="{FF2B5EF4-FFF2-40B4-BE49-F238E27FC236}">
                <a16:creationId xmlns:a16="http://schemas.microsoft.com/office/drawing/2014/main" id="{4597B20D-C7FD-7ADD-889F-E0B52CE8A49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86367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0C44-B732-F149-3BE3-5BA4B103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A microservices architecture is an architectural style –  a tried and tested way of implementing a logical software architecture.…">
            <a:extLst>
              <a:ext uri="{FF2B5EF4-FFF2-40B4-BE49-F238E27FC236}">
                <a16:creationId xmlns:a16="http://schemas.microsoft.com/office/drawing/2014/main" id="{976CFB7B-CD64-610A-D2B4-AC3FCC0FF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636895"/>
            <a:ext cx="10387447" cy="4996515"/>
          </a:xfrm>
          <a:prstGeom prst="rect">
            <a:avLst/>
          </a:prstGeom>
        </p:spPr>
        <p:txBody>
          <a:bodyPr/>
          <a:lstStyle/>
          <a:p>
            <a:pPr lvl="1"/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dirty="0">
                <a:solidFill>
                  <a:schemeClr val="tx1"/>
                </a:solidFill>
              </a:rPr>
              <a:t>As the </a:t>
            </a:r>
            <a:r>
              <a:rPr b="1" dirty="0">
                <a:solidFill>
                  <a:srgbClr val="00B050"/>
                </a:solidFill>
              </a:rPr>
              <a:t>demand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on the </a:t>
            </a:r>
            <a:r>
              <a:rPr lang="en-US" sz="1600" dirty="0">
                <a:solidFill>
                  <a:schemeClr val="tx1"/>
                </a:solidFill>
              </a:rPr>
              <a:t>(mono) </a:t>
            </a:r>
            <a:r>
              <a:rPr dirty="0">
                <a:solidFill>
                  <a:schemeClr val="tx1"/>
                </a:solidFill>
              </a:rPr>
              <a:t>system </a:t>
            </a:r>
            <a:r>
              <a:rPr b="1" dirty="0">
                <a:solidFill>
                  <a:srgbClr val="FF0000"/>
                </a:solidFill>
              </a:rPr>
              <a:t>increases</a:t>
            </a:r>
            <a:r>
              <a:rPr dirty="0">
                <a:solidFill>
                  <a:schemeClr val="tx1"/>
                </a:solidFill>
              </a:rPr>
              <a:t>, the system has to be </a:t>
            </a:r>
            <a:r>
              <a:rPr b="1" dirty="0">
                <a:solidFill>
                  <a:srgbClr val="FF0000"/>
                </a:solidFill>
              </a:rPr>
              <a:t>scaled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</a:t>
            </a:r>
            <a:r>
              <a:rPr dirty="0">
                <a:solidFill>
                  <a:schemeClr val="tx1"/>
                </a:solidFill>
              </a:rPr>
              <a:t>ven if the </a:t>
            </a:r>
            <a:r>
              <a:rPr b="1" dirty="0">
                <a:solidFill>
                  <a:srgbClr val="00B050"/>
                </a:solidFill>
              </a:rPr>
              <a:t>demand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is </a:t>
            </a:r>
            <a:r>
              <a:rPr lang="en-US" dirty="0">
                <a:solidFill>
                  <a:schemeClr val="tx1"/>
                </a:solidFill>
              </a:rPr>
              <a:t>limited</a:t>
            </a:r>
            <a:r>
              <a:rPr dirty="0">
                <a:solidFill>
                  <a:schemeClr val="tx1"/>
                </a:solidFill>
              </a:rPr>
              <a:t> to a </a:t>
            </a:r>
            <a:r>
              <a:rPr b="1" dirty="0">
                <a:solidFill>
                  <a:srgbClr val="FF0000"/>
                </a:solidFill>
              </a:rPr>
              <a:t>small </a:t>
            </a:r>
            <a:r>
              <a:rPr lang="en-US" b="1" dirty="0">
                <a:solidFill>
                  <a:srgbClr val="FF0000"/>
                </a:solidFill>
              </a:rPr>
              <a:t>#</a:t>
            </a:r>
            <a:r>
              <a:rPr b="1" dirty="0">
                <a:solidFill>
                  <a:srgbClr val="FF0000"/>
                </a:solidFill>
              </a:rPr>
              <a:t> of components</a:t>
            </a:r>
            <a:r>
              <a:rPr dirty="0">
                <a:solidFill>
                  <a:schemeClr val="tx1"/>
                </a:solidFill>
              </a:rPr>
              <a:t>.</a:t>
            </a:r>
            <a:r>
              <a:rPr dirty="0"/>
              <a:t> </a:t>
            </a:r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Microservices: ‘scaling-out’ of a </a:t>
            </a:r>
            <a:r>
              <a:rPr lang="en-US" sz="1400" dirty="0"/>
              <a:t>(one) </a:t>
            </a:r>
            <a:r>
              <a:rPr lang="en-US" dirty="0"/>
              <a:t>service is easy:</a:t>
            </a:r>
          </a:p>
          <a:p>
            <a:pPr lvl="3"/>
            <a:endParaRPr lang="en-US" dirty="0"/>
          </a:p>
          <a:p>
            <a:pPr lvl="3"/>
            <a:r>
              <a:rPr lang="en-US" dirty="0"/>
              <a:t>This is typically, much cheaper than ’scaling-up’ </a:t>
            </a:r>
            <a:r>
              <a:rPr lang="en-US" sz="1200" dirty="0"/>
              <a:t>(whole mono system)</a:t>
            </a:r>
            <a:r>
              <a:rPr lang="en-US" dirty="0"/>
              <a:t>.</a:t>
            </a:r>
          </a:p>
          <a:p>
            <a:pPr lvl="2"/>
            <a:endParaRPr dirty="0"/>
          </a:p>
        </p:txBody>
      </p:sp>
      <p:sp>
        <p:nvSpPr>
          <p:cNvPr id="110" name="Microservices architecture">
            <a:extLst>
              <a:ext uri="{FF2B5EF4-FFF2-40B4-BE49-F238E27FC236}">
                <a16:creationId xmlns:a16="http://schemas.microsoft.com/office/drawing/2014/main" id="{9F357497-5776-752C-F664-A538DC5AD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6248584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Microservices architecture</a:t>
            </a:r>
          </a:p>
        </p:txBody>
      </p:sp>
      <p:sp>
        <p:nvSpPr>
          <p:cNvPr id="111" name="Slide Number">
            <a:extLst>
              <a:ext uri="{FF2B5EF4-FFF2-40B4-BE49-F238E27FC236}">
                <a16:creationId xmlns:a16="http://schemas.microsoft.com/office/drawing/2014/main" id="{9FA671A8-A722-B292-14D1-4C59B12176D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5942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Microservices are self-contained and run in separate processes.…"/>
          <p:cNvSpPr txBox="1">
            <a:spLocks noGrp="1"/>
          </p:cNvSpPr>
          <p:nvPr>
            <p:ph type="body" idx="1"/>
          </p:nvPr>
        </p:nvSpPr>
        <p:spPr>
          <a:xfrm>
            <a:off x="962342" y="1542399"/>
            <a:ext cx="10407500" cy="510705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endParaRPr lang="en-US" b="1" dirty="0">
              <a:solidFill>
                <a:srgbClr val="00B0F0"/>
              </a:solidFill>
            </a:endParaRPr>
          </a:p>
          <a:p>
            <a:r>
              <a:rPr b="1" dirty="0">
                <a:solidFill>
                  <a:srgbClr val="00B0F0"/>
                </a:solidFill>
              </a:rPr>
              <a:t>Microservices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are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self-contained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and run in </a:t>
            </a:r>
            <a:r>
              <a:rPr b="1" dirty="0">
                <a:solidFill>
                  <a:srgbClr val="00B050"/>
                </a:solidFill>
              </a:rPr>
              <a:t>separate processes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E</a:t>
            </a:r>
            <a:r>
              <a:rPr dirty="0">
                <a:solidFill>
                  <a:schemeClr val="tx1"/>
                </a:solidFill>
              </a:rPr>
              <a:t>ach microservice may be </a:t>
            </a:r>
            <a:r>
              <a:rPr b="1" dirty="0">
                <a:solidFill>
                  <a:srgbClr val="FF0000"/>
                </a:solidFill>
              </a:rPr>
              <a:t>deployed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 its </a:t>
            </a:r>
            <a:r>
              <a:rPr b="1" dirty="0">
                <a:solidFill>
                  <a:srgbClr val="00B050"/>
                </a:solidFill>
              </a:rPr>
              <a:t>own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container. 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Multiple Tomcat war’s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Multiple Tomcats</a:t>
            </a: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14" name="Benefits of microservices architecture"/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873912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Benefits of microservices architecture</a:t>
            </a:r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4793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5B29-DDB7-46C5-08AF-7B6EB3977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Microservices are self-contained and run in separate processes.…">
            <a:extLst>
              <a:ext uri="{FF2B5EF4-FFF2-40B4-BE49-F238E27FC236}">
                <a16:creationId xmlns:a16="http://schemas.microsoft.com/office/drawing/2014/main" id="{A3E11062-432E-1CEE-92B2-AD0763195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542399"/>
            <a:ext cx="10407500" cy="5107053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rgbClr val="00B0F0"/>
                </a:solidFill>
              </a:rPr>
              <a:t>microservice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can be </a:t>
            </a:r>
            <a:r>
              <a:rPr b="1" dirty="0">
                <a:solidFill>
                  <a:srgbClr val="FF0000"/>
                </a:solidFill>
              </a:rPr>
              <a:t>stopped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restarted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without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affecting other parts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If demand on a service </a:t>
            </a:r>
            <a:r>
              <a:rPr b="1" dirty="0">
                <a:solidFill>
                  <a:srgbClr val="FF0000"/>
                </a:solidFill>
              </a:rPr>
              <a:t>increases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more </a:t>
            </a:r>
            <a:r>
              <a:rPr dirty="0">
                <a:solidFill>
                  <a:schemeClr val="tx1"/>
                </a:solidFill>
              </a:rPr>
              <a:t>service can be </a:t>
            </a:r>
            <a:r>
              <a:rPr b="1" dirty="0">
                <a:solidFill>
                  <a:srgbClr val="00B050"/>
                </a:solidFill>
              </a:rPr>
              <a:t>quickly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created and </a:t>
            </a:r>
            <a:r>
              <a:rPr b="1" dirty="0">
                <a:solidFill>
                  <a:srgbClr val="00B050"/>
                </a:solidFill>
              </a:rPr>
              <a:t>deployed</a:t>
            </a:r>
            <a:r>
              <a:rPr dirty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114" name="Benefits of microservices architecture">
            <a:extLst>
              <a:ext uri="{FF2B5EF4-FFF2-40B4-BE49-F238E27FC236}">
                <a16:creationId xmlns:a16="http://schemas.microsoft.com/office/drawing/2014/main" id="{A5C1F0B0-F58B-2F29-6BCF-8909B07DB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873912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Benefits of microservices architecture</a:t>
            </a:r>
          </a:p>
        </p:txBody>
      </p:sp>
      <p:sp>
        <p:nvSpPr>
          <p:cNvPr id="115" name="Slide Number">
            <a:extLst>
              <a:ext uri="{FF2B5EF4-FFF2-40B4-BE49-F238E27FC236}">
                <a16:creationId xmlns:a16="http://schemas.microsoft.com/office/drawing/2014/main" id="{A5B8B4A5-33DB-B44F-7FFC-4A82058745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07748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E2A2-BF4F-8E2B-57B5-59F7A62D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elf-contained Microservices do not have external dependencies. They manage their own data and implement their own user interface.…">
            <a:extLst>
              <a:ext uri="{FF2B5EF4-FFF2-40B4-BE49-F238E27FC236}">
                <a16:creationId xmlns:a16="http://schemas.microsoft.com/office/drawing/2014/main" id="{236573D1-0CB0-5F49-0B6A-D9FA440F1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6633"/>
            <a:ext cx="10374282" cy="5100788"/>
          </a:xfrm>
          <a:prstGeom prst="rect">
            <a:avLst/>
          </a:prstGeom>
        </p:spPr>
        <p:txBody>
          <a:bodyPr/>
          <a:lstStyle/>
          <a:p>
            <a:pPr defTabSz="394320">
              <a:spcBef>
                <a:spcPts val="1969"/>
              </a:spcBef>
              <a:defRPr sz="2304"/>
            </a:pPr>
            <a:r>
              <a:rPr lang="en-US" b="1" dirty="0">
                <a:solidFill>
                  <a:srgbClr val="00B050"/>
                </a:solidFill>
              </a:rPr>
              <a:t>Implementation-independent</a:t>
            </a:r>
            <a:endParaRPr lang="en-US" b="1" dirty="0">
              <a:solidFill>
                <a:srgbClr val="00B0F0"/>
              </a:solidFill>
            </a:endParaRPr>
          </a:p>
          <a:p>
            <a:pPr lvl="1" defTabSz="394320">
              <a:spcBef>
                <a:spcPts val="1969"/>
              </a:spcBef>
              <a:defRPr sz="2304"/>
            </a:pPr>
            <a:r>
              <a:rPr lang="en-US" b="1" dirty="0">
                <a:solidFill>
                  <a:srgbClr val="00B0F0"/>
                </a:solidFill>
              </a:rPr>
              <a:t>Microservices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may be implemented using </a:t>
            </a:r>
            <a:r>
              <a:rPr lang="en-US" b="1" dirty="0">
                <a:solidFill>
                  <a:srgbClr val="FF0000"/>
                </a:solidFill>
              </a:rPr>
              <a:t>different programming languages:</a:t>
            </a:r>
          </a:p>
          <a:p>
            <a:pPr lvl="2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Java (Spring Boot / Micronaut / </a:t>
            </a:r>
            <a:r>
              <a:rPr lang="en-US" dirty="0" err="1">
                <a:solidFill>
                  <a:schemeClr val="tx1"/>
                </a:solidFill>
              </a:rPr>
              <a:t>Quarkus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JavaScript  (Node.js / </a:t>
            </a:r>
            <a:r>
              <a:rPr lang="en-US" dirty="0" err="1">
                <a:solidFill>
                  <a:schemeClr val="tx1"/>
                </a:solidFill>
              </a:rPr>
              <a:t>NesUS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Espress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Python (</a:t>
            </a:r>
            <a:r>
              <a:rPr lang="en-US" dirty="0" err="1">
                <a:solidFill>
                  <a:schemeClr val="tx1"/>
                </a:solidFill>
              </a:rPr>
              <a:t>FastAPI</a:t>
            </a:r>
            <a:r>
              <a:rPr lang="en-US" dirty="0">
                <a:solidFill>
                  <a:schemeClr val="tx1"/>
                </a:solidFill>
              </a:rPr>
              <a:t> / Flask / Django REST)</a:t>
            </a:r>
          </a:p>
          <a:p>
            <a:pPr lvl="2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Etc.</a:t>
            </a:r>
          </a:p>
          <a:p>
            <a:pPr lvl="1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May use </a:t>
            </a:r>
            <a:r>
              <a:rPr lang="en-US" b="1" dirty="0">
                <a:solidFill>
                  <a:srgbClr val="FF0000"/>
                </a:solidFill>
              </a:rPr>
              <a:t>different technologies:</a:t>
            </a:r>
          </a:p>
          <a:p>
            <a:pPr lvl="2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Different types of database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90" name="Table 6.1 Characteristics of microservices">
            <a:extLst>
              <a:ext uri="{FF2B5EF4-FFF2-40B4-BE49-F238E27FC236}">
                <a16:creationId xmlns:a16="http://schemas.microsoft.com/office/drawing/2014/main" id="{2C893307-BE5E-EEE3-558B-BEDAA6A48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945587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Characteristics of microservices</a:t>
            </a:r>
          </a:p>
        </p:txBody>
      </p:sp>
      <p:sp>
        <p:nvSpPr>
          <p:cNvPr id="91" name="Slide Number">
            <a:extLst>
              <a:ext uri="{FF2B5EF4-FFF2-40B4-BE49-F238E27FC236}">
                <a16:creationId xmlns:a16="http://schemas.microsoft.com/office/drawing/2014/main" id="{4768280F-8F63-FFC6-C610-F7DC839BDE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3794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6D67-76DA-E4C8-C0D7-A4450581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elf-contained Microservices do not have external dependencies. They manage their own data and implement their own user interface.…">
            <a:extLst>
              <a:ext uri="{FF2B5EF4-FFF2-40B4-BE49-F238E27FC236}">
                <a16:creationId xmlns:a16="http://schemas.microsoft.com/office/drawing/2014/main" id="{A39840E5-9049-16DA-3813-9EF84B418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6633"/>
            <a:ext cx="10374282" cy="5100788"/>
          </a:xfrm>
          <a:prstGeom prst="rect">
            <a:avLst/>
          </a:prstGeom>
        </p:spPr>
        <p:txBody>
          <a:bodyPr/>
          <a:lstStyle/>
          <a:p>
            <a:pPr defTabSz="394320">
              <a:spcBef>
                <a:spcPts val="1969"/>
              </a:spcBef>
              <a:defRPr sz="2304"/>
            </a:pPr>
            <a:r>
              <a:rPr b="1" dirty="0">
                <a:solidFill>
                  <a:srgbClr val="00B050"/>
                </a:solidFill>
              </a:rPr>
              <a:t>Independently deployable</a:t>
            </a:r>
            <a:endParaRPr lang="en-US" b="1" dirty="0">
              <a:solidFill>
                <a:srgbClr val="00B050"/>
              </a:solidFill>
            </a:endParaRPr>
          </a:p>
          <a:p>
            <a:pPr lvl="1" defTabSz="394320">
              <a:spcBef>
                <a:spcPts val="1969"/>
              </a:spcBef>
              <a:defRPr sz="2304"/>
            </a:pPr>
            <a:endParaRPr lang="en-US" dirty="0">
              <a:solidFill>
                <a:schemeClr val="tx1"/>
              </a:solidFill>
            </a:endParaRPr>
          </a:p>
          <a:p>
            <a:pPr lvl="1" defTabSz="394320">
              <a:spcBef>
                <a:spcPts val="1969"/>
              </a:spcBef>
              <a:defRPr sz="2304"/>
            </a:pPr>
            <a:r>
              <a:rPr dirty="0">
                <a:solidFill>
                  <a:schemeClr val="tx1"/>
                </a:solidFill>
              </a:rPr>
              <a:t>Each</a:t>
            </a:r>
            <a:r>
              <a:rPr dirty="0"/>
              <a:t> </a:t>
            </a:r>
            <a:r>
              <a:rPr b="1" dirty="0">
                <a:solidFill>
                  <a:srgbClr val="00B0F0"/>
                </a:solidFill>
              </a:rPr>
              <a:t>microservice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runs in its </a:t>
            </a:r>
            <a:r>
              <a:rPr b="1" dirty="0">
                <a:solidFill>
                  <a:srgbClr val="00B050"/>
                </a:solidFill>
              </a:rPr>
              <a:t>own process</a:t>
            </a:r>
            <a:endParaRPr lang="en-US" b="1" dirty="0">
              <a:solidFill>
                <a:srgbClr val="00B050"/>
              </a:solidFill>
            </a:endParaRPr>
          </a:p>
          <a:p>
            <a:pPr lvl="1" defTabSz="394320">
              <a:spcBef>
                <a:spcPts val="1969"/>
              </a:spcBef>
              <a:defRPr sz="2304"/>
            </a:pPr>
            <a:endParaRPr lang="en-US" dirty="0">
              <a:solidFill>
                <a:schemeClr val="tx1"/>
              </a:solidFill>
            </a:endParaRPr>
          </a:p>
          <a:p>
            <a:pPr lvl="1" defTabSz="394320">
              <a:spcBef>
                <a:spcPts val="1969"/>
              </a:spcBef>
              <a:defRPr sz="2304"/>
            </a:pPr>
            <a:r>
              <a:rPr lang="en-US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s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independently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deployable</a:t>
            </a:r>
          </a:p>
        </p:txBody>
      </p:sp>
      <p:sp>
        <p:nvSpPr>
          <p:cNvPr id="90" name="Table 6.1 Characteristics of microservices">
            <a:extLst>
              <a:ext uri="{FF2B5EF4-FFF2-40B4-BE49-F238E27FC236}">
                <a16:creationId xmlns:a16="http://schemas.microsoft.com/office/drawing/2014/main" id="{AC299226-4DF5-FC0F-F915-91BCF0622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945587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Characteristics of microservices</a:t>
            </a:r>
          </a:p>
        </p:txBody>
      </p:sp>
      <p:sp>
        <p:nvSpPr>
          <p:cNvPr id="91" name="Slide Number">
            <a:extLst>
              <a:ext uri="{FF2B5EF4-FFF2-40B4-BE49-F238E27FC236}">
                <a16:creationId xmlns:a16="http://schemas.microsoft.com/office/drawing/2014/main" id="{6EFE4BEE-A332-9AD4-0141-480E082D32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684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57AA1-1C5A-61B8-0717-4DA0EC74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elf-contained Microservices do not have external dependencies. They manage their own data and implement their own user interface.…">
            <a:extLst>
              <a:ext uri="{FF2B5EF4-FFF2-40B4-BE49-F238E27FC236}">
                <a16:creationId xmlns:a16="http://schemas.microsoft.com/office/drawing/2014/main" id="{1E9F8A4C-241C-96D6-B74A-607675166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6633"/>
            <a:ext cx="10374282" cy="5100788"/>
          </a:xfrm>
          <a:prstGeom prst="rect">
            <a:avLst/>
          </a:prstGeom>
        </p:spPr>
        <p:txBody>
          <a:bodyPr/>
          <a:lstStyle/>
          <a:p>
            <a:pPr defTabSz="394320">
              <a:spcBef>
                <a:spcPts val="1969"/>
              </a:spcBef>
              <a:defRPr sz="2304" b="1" i="1"/>
            </a:pPr>
            <a:r>
              <a:rPr dirty="0">
                <a:solidFill>
                  <a:srgbClr val="00B050"/>
                </a:solidFill>
              </a:rPr>
              <a:t>Business-oriented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  <a:p>
            <a:pPr lvl="1" defTabSz="394320">
              <a:spcBef>
                <a:spcPts val="1969"/>
              </a:spcBef>
              <a:defRPr sz="2304" b="1" i="1"/>
            </a:pPr>
            <a:r>
              <a:rPr b="1" i="0" dirty="0">
                <a:solidFill>
                  <a:srgbClr val="00B0F0"/>
                </a:solidFill>
              </a:rPr>
              <a:t>Microservices</a:t>
            </a:r>
            <a:r>
              <a:rPr b="0" i="0" dirty="0"/>
              <a:t> </a:t>
            </a:r>
            <a:r>
              <a:rPr b="0" i="0" dirty="0">
                <a:solidFill>
                  <a:schemeClr val="tx1"/>
                </a:solidFill>
              </a:rPr>
              <a:t>should implement </a:t>
            </a:r>
            <a:r>
              <a:rPr b="1" i="0" dirty="0">
                <a:solidFill>
                  <a:srgbClr val="00B050"/>
                </a:solidFill>
              </a:rPr>
              <a:t>business </a:t>
            </a:r>
            <a:r>
              <a:rPr lang="en-US" b="1" i="0" dirty="0">
                <a:solidFill>
                  <a:srgbClr val="00B050"/>
                </a:solidFill>
              </a:rPr>
              <a:t>functions</a:t>
            </a:r>
            <a:endParaRPr lang="en-US" b="0" i="0" dirty="0"/>
          </a:p>
          <a:p>
            <a:pPr lvl="1" defTabSz="394320">
              <a:spcBef>
                <a:spcPts val="1969"/>
              </a:spcBef>
              <a:defRPr sz="2304" b="1" i="1"/>
            </a:pPr>
            <a:endParaRPr lang="en-US" b="0" i="0" dirty="0">
              <a:solidFill>
                <a:schemeClr val="tx1"/>
              </a:solidFill>
            </a:endParaRPr>
          </a:p>
          <a:p>
            <a:pPr lvl="1" defTabSz="394320">
              <a:spcBef>
                <a:spcPts val="1969"/>
              </a:spcBef>
              <a:defRPr sz="2304" b="1" i="1"/>
            </a:pPr>
            <a:r>
              <a:rPr lang="en-US" b="0" i="0" dirty="0">
                <a:solidFill>
                  <a:schemeClr val="tx1"/>
                </a:solidFill>
              </a:rPr>
              <a:t>R</a:t>
            </a:r>
            <a:r>
              <a:rPr b="0" i="0" dirty="0">
                <a:solidFill>
                  <a:schemeClr val="tx1"/>
                </a:solidFill>
              </a:rPr>
              <a:t>ather than simply provide a </a:t>
            </a:r>
            <a:r>
              <a:rPr b="1" i="0" dirty="0">
                <a:solidFill>
                  <a:srgbClr val="FF0000"/>
                </a:solidFill>
              </a:rPr>
              <a:t>technical service</a:t>
            </a:r>
            <a:r>
              <a:rPr b="0" i="0" dirty="0"/>
              <a:t>.</a:t>
            </a:r>
          </a:p>
        </p:txBody>
      </p:sp>
      <p:sp>
        <p:nvSpPr>
          <p:cNvPr id="90" name="Table 6.1 Characteristics of microservices">
            <a:extLst>
              <a:ext uri="{FF2B5EF4-FFF2-40B4-BE49-F238E27FC236}">
                <a16:creationId xmlns:a16="http://schemas.microsoft.com/office/drawing/2014/main" id="{67E095AA-3011-B2F6-0934-8739F460D3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945587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Characteristics of microservices</a:t>
            </a:r>
          </a:p>
        </p:txBody>
      </p:sp>
      <p:sp>
        <p:nvSpPr>
          <p:cNvPr id="91" name="Slide Number">
            <a:extLst>
              <a:ext uri="{FF2B5EF4-FFF2-40B4-BE49-F238E27FC236}">
                <a16:creationId xmlns:a16="http://schemas.microsoft.com/office/drawing/2014/main" id="{90DDBBC3-FD16-2A33-F83C-18DA61290A3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907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 well-designed microservice should have high cohesion and low coupling.…"/>
          <p:cNvSpPr txBox="1">
            <a:spLocks noGrp="1"/>
          </p:cNvSpPr>
          <p:nvPr>
            <p:ph type="body" idx="1"/>
          </p:nvPr>
        </p:nvSpPr>
        <p:spPr>
          <a:xfrm>
            <a:off x="962342" y="1656274"/>
            <a:ext cx="10426094" cy="49712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dirty="0">
                <a:solidFill>
                  <a:schemeClr val="tx1"/>
                </a:solidFill>
              </a:rPr>
              <a:t>A well-designed </a:t>
            </a:r>
            <a:r>
              <a:rPr b="1" dirty="0">
                <a:solidFill>
                  <a:srgbClr val="00B0F0"/>
                </a:solidFill>
              </a:rPr>
              <a:t>microservice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should have </a:t>
            </a:r>
            <a:r>
              <a:rPr b="1" dirty="0">
                <a:solidFill>
                  <a:srgbClr val="00B050"/>
                </a:solidFill>
              </a:rPr>
              <a:t>high cohesion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low coupling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b="1" dirty="0">
                <a:solidFill>
                  <a:srgbClr val="00B050"/>
                </a:solidFill>
              </a:rPr>
              <a:t>Cohesion</a:t>
            </a:r>
            <a:r>
              <a:rPr lang="en-US" b="1" dirty="0">
                <a:solidFill>
                  <a:srgbClr val="00B050"/>
                </a:solidFill>
              </a:rPr>
              <a:t>: </a:t>
            </a:r>
            <a:r>
              <a:rPr dirty="0">
                <a:solidFill>
                  <a:schemeClr val="tx1"/>
                </a:solidFill>
              </a:rPr>
              <a:t>number of </a:t>
            </a:r>
            <a:r>
              <a:rPr b="1" dirty="0">
                <a:solidFill>
                  <a:srgbClr val="FF0000"/>
                </a:solidFill>
              </a:rPr>
              <a:t>relationships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with each other. 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b="1" dirty="0">
                <a:solidFill>
                  <a:srgbClr val="00B050"/>
                </a:solidFill>
              </a:rPr>
              <a:t>High cohesion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everything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needed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to deliver a </a:t>
            </a:r>
            <a:r>
              <a:rPr lang="en-US" b="1" dirty="0">
                <a:solidFill>
                  <a:srgbClr val="00B0F0"/>
                </a:solidFill>
              </a:rPr>
              <a:t>response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dirty="0">
                <a:solidFill>
                  <a:schemeClr val="tx1"/>
                </a:solidFill>
              </a:rPr>
              <a:t>included in the component</a:t>
            </a:r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b="1" dirty="0">
                <a:solidFill>
                  <a:srgbClr val="00B050"/>
                </a:solidFill>
              </a:rPr>
              <a:t>Coupling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dirty="0">
                <a:solidFill>
                  <a:schemeClr val="tx1"/>
                </a:solidFill>
              </a:rPr>
              <a:t>number of </a:t>
            </a:r>
            <a:r>
              <a:rPr b="1" dirty="0">
                <a:solidFill>
                  <a:srgbClr val="FF0000"/>
                </a:solidFill>
              </a:rPr>
              <a:t>relationships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that one component has with </a:t>
            </a:r>
            <a:r>
              <a:rPr b="1" dirty="0">
                <a:solidFill>
                  <a:srgbClr val="FF0000"/>
                </a:solidFill>
              </a:rPr>
              <a:t>other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components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dirty="0"/>
              <a:t> </a:t>
            </a:r>
            <a:endParaRPr lang="en-US" dirty="0"/>
          </a:p>
          <a:p>
            <a:pPr lvl="2"/>
            <a:r>
              <a:rPr b="1" dirty="0">
                <a:solidFill>
                  <a:srgbClr val="00B050"/>
                </a:solidFill>
              </a:rPr>
              <a:t>Low coupling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components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do not </a:t>
            </a:r>
            <a:r>
              <a:rPr dirty="0">
                <a:solidFill>
                  <a:schemeClr val="tx1"/>
                </a:solidFill>
              </a:rPr>
              <a:t>have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many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relationships with other components</a:t>
            </a:r>
          </a:p>
        </p:txBody>
      </p:sp>
      <p:sp>
        <p:nvSpPr>
          <p:cNvPr id="98" name="Microservice characteristics"/>
          <p:cNvSpPr txBox="1">
            <a:spLocks noGrp="1"/>
          </p:cNvSpPr>
          <p:nvPr>
            <p:ph type="title"/>
          </p:nvPr>
        </p:nvSpPr>
        <p:spPr>
          <a:xfrm>
            <a:off x="962342" y="775711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Microservice characteristics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6CC96-8844-0F38-9549-9BCAD545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 well-designed microservice should have high cohesion and low coupling.…">
            <a:extLst>
              <a:ext uri="{FF2B5EF4-FFF2-40B4-BE49-F238E27FC236}">
                <a16:creationId xmlns:a16="http://schemas.microsoft.com/office/drawing/2014/main" id="{BE59F0CD-7528-1C5E-CA8B-F55F5569D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656274"/>
            <a:ext cx="10426094" cy="4971237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dirty="0"/>
          </a:p>
          <a:p>
            <a:r>
              <a:rPr dirty="0">
                <a:solidFill>
                  <a:schemeClr val="tx1"/>
                </a:solidFill>
              </a:rPr>
              <a:t>Each</a:t>
            </a:r>
            <a:r>
              <a:rPr dirty="0"/>
              <a:t> </a:t>
            </a:r>
            <a:r>
              <a:rPr b="1" dirty="0">
                <a:solidFill>
                  <a:srgbClr val="00B0F0"/>
                </a:solidFill>
              </a:rPr>
              <a:t>microservice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should have a </a:t>
            </a:r>
            <a:r>
              <a:rPr b="1" dirty="0">
                <a:solidFill>
                  <a:srgbClr val="FF0000"/>
                </a:solidFill>
              </a:rPr>
              <a:t>single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responsibility</a:t>
            </a:r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t should do </a:t>
            </a:r>
            <a:r>
              <a:rPr b="1" dirty="0">
                <a:solidFill>
                  <a:srgbClr val="FF0000"/>
                </a:solidFill>
              </a:rPr>
              <a:t>one thing only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dirty="0"/>
              <a:t>  </a:t>
            </a:r>
          </a:p>
          <a:p>
            <a:pPr marL="795847" lvl="1" indent="0">
              <a:buNone/>
            </a:pPr>
            <a:endParaRPr lang="en-US" dirty="0"/>
          </a:p>
          <a:p>
            <a:pPr lvl="1"/>
            <a:r>
              <a:rPr dirty="0">
                <a:solidFill>
                  <a:schemeClr val="tx1"/>
                </a:solidFill>
              </a:rPr>
              <a:t>‘</a:t>
            </a:r>
            <a:r>
              <a:rPr b="1" dirty="0">
                <a:solidFill>
                  <a:srgbClr val="FF0000"/>
                </a:solidFill>
              </a:rPr>
              <a:t>one thing only</a:t>
            </a:r>
            <a:r>
              <a:rPr dirty="0">
                <a:solidFill>
                  <a:schemeClr val="tx1"/>
                </a:solidFill>
              </a:rPr>
              <a:t>’ is </a:t>
            </a:r>
            <a:r>
              <a:rPr b="1" dirty="0">
                <a:solidFill>
                  <a:srgbClr val="FF0000"/>
                </a:solidFill>
              </a:rPr>
              <a:t>difficult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to </a:t>
            </a:r>
            <a:r>
              <a:rPr lang="en-US" dirty="0">
                <a:solidFill>
                  <a:schemeClr val="tx1"/>
                </a:solidFill>
              </a:rPr>
              <a:t>do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/>
          </a:p>
          <a:p>
            <a:pPr lvl="1"/>
            <a:r>
              <a:rPr b="1" dirty="0">
                <a:solidFill>
                  <a:srgbClr val="FF0000"/>
                </a:solidFill>
              </a:rPr>
              <a:t>Responsibility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does not always mean </a:t>
            </a:r>
            <a:r>
              <a:rPr b="1" dirty="0">
                <a:solidFill>
                  <a:srgbClr val="FF0000"/>
                </a:solidFill>
              </a:rPr>
              <a:t>a single</a:t>
            </a:r>
            <a:r>
              <a:rPr dirty="0">
                <a:solidFill>
                  <a:schemeClr val="tx1"/>
                </a:solidFill>
              </a:rPr>
              <a:t>, functional activity. </a:t>
            </a:r>
          </a:p>
        </p:txBody>
      </p:sp>
      <p:sp>
        <p:nvSpPr>
          <p:cNvPr id="98" name="Microservice characteristics">
            <a:extLst>
              <a:ext uri="{FF2B5EF4-FFF2-40B4-BE49-F238E27FC236}">
                <a16:creationId xmlns:a16="http://schemas.microsoft.com/office/drawing/2014/main" id="{36879317-26DB-568D-D887-7A25D69EC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75711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Microservice</a:t>
            </a:r>
            <a:r>
              <a:rPr dirty="0"/>
              <a:t> characteristics</a:t>
            </a:r>
          </a:p>
        </p:txBody>
      </p:sp>
      <p:sp>
        <p:nvSpPr>
          <p:cNvPr id="99" name="Slide Number">
            <a:extLst>
              <a:ext uri="{FF2B5EF4-FFF2-40B4-BE49-F238E27FC236}">
                <a16:creationId xmlns:a16="http://schemas.microsoft.com/office/drawing/2014/main" id="{38AA2B50-D39D-627B-7614-5A32622006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7279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5631-9DCC-F085-C09D-6AD6891D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hapter 6…">
            <a:extLst>
              <a:ext uri="{FF2B5EF4-FFF2-40B4-BE49-F238E27FC236}">
                <a16:creationId xmlns:a16="http://schemas.microsoft.com/office/drawing/2014/main" id="{DBB7BB5C-E4C0-2A4C-B170-BCC76281D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Microservices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/>
              <a:t>Communication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2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FA93A-3321-9E2B-6E5F-4DEAA5D1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ervices communicate by exchanging messages that include  information about the originator of the message, as well as the data that is the input to or output from the request.…">
            <a:extLst>
              <a:ext uri="{FF2B5EF4-FFF2-40B4-BE49-F238E27FC236}">
                <a16:creationId xmlns:a16="http://schemas.microsoft.com/office/drawing/2014/main" id="{85BA2135-6057-370B-5EE7-CD7B92C31B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616843"/>
            <a:ext cx="10403490" cy="49764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pPr marL="152396" indent="0">
              <a:buNone/>
            </a:pPr>
            <a:r>
              <a:rPr dirty="0">
                <a:solidFill>
                  <a:schemeClr val="tx1"/>
                </a:solidFill>
              </a:rPr>
              <a:t>When designing a </a:t>
            </a:r>
            <a:r>
              <a:rPr b="1" dirty="0">
                <a:solidFill>
                  <a:srgbClr val="00B0F0"/>
                </a:solidFill>
              </a:rPr>
              <a:t>microservices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architecture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Create</a:t>
            </a:r>
            <a:r>
              <a:rPr dirty="0">
                <a:solidFill>
                  <a:schemeClr val="tx1"/>
                </a:solidFill>
              </a:rPr>
              <a:t> a </a:t>
            </a:r>
            <a:r>
              <a:rPr b="1" dirty="0">
                <a:solidFill>
                  <a:srgbClr val="00B0F0"/>
                </a:solidFill>
              </a:rPr>
              <a:t>standard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for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communications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that all </a:t>
            </a:r>
            <a:r>
              <a:rPr b="1" dirty="0">
                <a:solidFill>
                  <a:srgbClr val="00B0F0"/>
                </a:solidFill>
              </a:rPr>
              <a:t>microservices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follow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b="1" dirty="0">
                <a:solidFill>
                  <a:srgbClr val="FF0000"/>
                </a:solidFill>
              </a:rPr>
              <a:t>key decisions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hould interaction be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synchronous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or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asynchronous</a:t>
            </a:r>
            <a:r>
              <a:rPr dirty="0"/>
              <a:t>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</a:t>
            </a:r>
            <a:r>
              <a:rPr dirty="0">
                <a:solidFill>
                  <a:schemeClr val="tx1"/>
                </a:solidFill>
              </a:rPr>
              <a:t>hould communicate </a:t>
            </a:r>
            <a:r>
              <a:rPr b="1" dirty="0">
                <a:solidFill>
                  <a:srgbClr val="00B050"/>
                </a:solidFill>
              </a:rPr>
              <a:t>directly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or via </a:t>
            </a:r>
            <a:r>
              <a:rPr b="1" dirty="0">
                <a:solidFill>
                  <a:srgbClr val="FF0000"/>
                </a:solidFill>
              </a:rPr>
              <a:t>message broker middleware</a:t>
            </a:r>
            <a:r>
              <a:rPr dirty="0"/>
              <a:t>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</a:t>
            </a:r>
            <a:r>
              <a:rPr dirty="0">
                <a:solidFill>
                  <a:schemeClr val="tx1"/>
                </a:solidFill>
              </a:rPr>
              <a:t>hat protocol should be used for </a:t>
            </a:r>
            <a:r>
              <a:rPr b="1" dirty="0">
                <a:solidFill>
                  <a:srgbClr val="FF0000"/>
                </a:solidFill>
              </a:rPr>
              <a:t>messages exchanged</a:t>
            </a:r>
            <a:r>
              <a:rPr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4" name="Service communications">
            <a:extLst>
              <a:ext uri="{FF2B5EF4-FFF2-40B4-BE49-F238E27FC236}">
                <a16:creationId xmlns:a16="http://schemas.microsoft.com/office/drawing/2014/main" id="{FFA31633-852F-2947-0CC6-E6639C98D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585956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Service communications</a:t>
            </a:r>
          </a:p>
        </p:txBody>
      </p:sp>
      <p:sp>
        <p:nvSpPr>
          <p:cNvPr id="135" name="Slide Number">
            <a:extLst>
              <a:ext uri="{FF2B5EF4-FFF2-40B4-BE49-F238E27FC236}">
                <a16:creationId xmlns:a16="http://schemas.microsoft.com/office/drawing/2014/main" id="{BCD871B7-EE50-C006-2E62-D326BE04F7D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49368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In a synchronous interaction, service A issues a request to service B. Service A then suspends processing while B is processing the request.…"/>
          <p:cNvSpPr txBox="1">
            <a:spLocks noGrp="1"/>
          </p:cNvSpPr>
          <p:nvPr>
            <p:ph type="body" idx="1"/>
          </p:nvPr>
        </p:nvSpPr>
        <p:spPr>
          <a:xfrm>
            <a:off x="962342" y="1554432"/>
            <a:ext cx="10419532" cy="51030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dirty="0">
                <a:solidFill>
                  <a:schemeClr val="tx1"/>
                </a:solidFill>
              </a:rPr>
              <a:t>In a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synchronous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interaction, service A issues a request to service B. 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Service A </a:t>
            </a:r>
            <a:r>
              <a:rPr lang="en-US" dirty="0">
                <a:solidFill>
                  <a:schemeClr val="tx1"/>
                </a:solidFill>
              </a:rPr>
              <a:t>waits for Service B 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sz="1600" dirty="0">
                <a:solidFill>
                  <a:schemeClr val="tx1"/>
                </a:solidFill>
              </a:rPr>
              <a:t>while B is processing the request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r>
              <a:rPr dirty="0">
                <a:solidFill>
                  <a:schemeClr val="tx1"/>
                </a:solidFill>
              </a:rPr>
              <a:t>. </a:t>
            </a: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It </a:t>
            </a:r>
            <a:r>
              <a:rPr b="1" dirty="0">
                <a:solidFill>
                  <a:srgbClr val="00B050"/>
                </a:solidFill>
              </a:rPr>
              <a:t>waits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until service B has </a:t>
            </a:r>
            <a:r>
              <a:rPr b="1" dirty="0">
                <a:solidFill>
                  <a:srgbClr val="00B050"/>
                </a:solidFill>
              </a:rPr>
              <a:t>returned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142" name="Synchronous and asynchronous interaction"/>
          <p:cNvSpPr txBox="1">
            <a:spLocks noGrp="1"/>
          </p:cNvSpPr>
          <p:nvPr>
            <p:ph type="title"/>
          </p:nvPr>
        </p:nvSpPr>
        <p:spPr>
          <a:xfrm>
            <a:off x="962342" y="721704"/>
            <a:ext cx="9954311" cy="7636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B050"/>
                </a:solidFill>
              </a:rPr>
              <a:t>Synchronous</a:t>
            </a:r>
            <a:r>
              <a:rPr dirty="0"/>
              <a:t> and </a:t>
            </a:r>
            <a:r>
              <a:rPr dirty="0">
                <a:solidFill>
                  <a:srgbClr val="FF0000"/>
                </a:solidFill>
              </a:rPr>
              <a:t>asynchronous</a:t>
            </a:r>
            <a:r>
              <a:rPr dirty="0"/>
              <a:t> interaction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22480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8FC0-3949-2FE7-48D3-C3A68C33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In a synchronous interaction, service A issues a request to service B. Service A then suspends processing while B is processing the request.…">
            <a:extLst>
              <a:ext uri="{FF2B5EF4-FFF2-40B4-BE49-F238E27FC236}">
                <a16:creationId xmlns:a16="http://schemas.microsoft.com/office/drawing/2014/main" id="{B0BABE39-287F-6DDA-F530-99ED8CA0F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554432"/>
            <a:ext cx="10419532" cy="510304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Asynchronous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interaction: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Service A issues the request that is </a:t>
            </a:r>
            <a:r>
              <a:rPr lang="en-US" b="1" dirty="0">
                <a:solidFill>
                  <a:srgbClr val="FF0000"/>
                </a:solidFill>
              </a:rPr>
              <a:t>queued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for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processing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by service B.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then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continues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processing without </a:t>
            </a:r>
            <a:r>
              <a:rPr lang="en-US" b="1" dirty="0">
                <a:solidFill>
                  <a:srgbClr val="FF0000"/>
                </a:solidFill>
              </a:rPr>
              <a:t>waiting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for B to finish its computations. </a:t>
            </a: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</a:t>
            </a:r>
            <a:r>
              <a:rPr dirty="0">
                <a:solidFill>
                  <a:schemeClr val="tx1"/>
                </a:solidFill>
              </a:rPr>
              <a:t>ater, service B completes the request from service A and queues the result.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Service A, has to </a:t>
            </a:r>
            <a:r>
              <a:rPr b="1" dirty="0">
                <a:solidFill>
                  <a:srgbClr val="00B050"/>
                </a:solidFill>
              </a:rPr>
              <a:t>check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its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queue periodically </a:t>
            </a:r>
            <a:r>
              <a:rPr dirty="0">
                <a:solidFill>
                  <a:schemeClr val="tx1"/>
                </a:solidFill>
              </a:rPr>
              <a:t>to see if a </a:t>
            </a:r>
            <a:r>
              <a:rPr b="1" dirty="0">
                <a:solidFill>
                  <a:srgbClr val="00B050"/>
                </a:solidFill>
              </a:rPr>
              <a:t>result is available</a:t>
            </a:r>
            <a:r>
              <a:rPr dirty="0"/>
              <a:t>.</a:t>
            </a:r>
          </a:p>
        </p:txBody>
      </p:sp>
      <p:sp>
        <p:nvSpPr>
          <p:cNvPr id="142" name="Synchronous and asynchronous interaction">
            <a:extLst>
              <a:ext uri="{FF2B5EF4-FFF2-40B4-BE49-F238E27FC236}">
                <a16:creationId xmlns:a16="http://schemas.microsoft.com/office/drawing/2014/main" id="{8440D0F1-4291-9B9C-A377-44C795466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21704"/>
            <a:ext cx="995431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Synchronous and asynchronous interaction</a:t>
            </a:r>
          </a:p>
        </p:txBody>
      </p:sp>
      <p:sp>
        <p:nvSpPr>
          <p:cNvPr id="143" name="Slide Number">
            <a:extLst>
              <a:ext uri="{FF2B5EF4-FFF2-40B4-BE49-F238E27FC236}">
                <a16:creationId xmlns:a16="http://schemas.microsoft.com/office/drawing/2014/main" id="{C584489F-F7E6-A352-4AB2-9FC1B18DBD5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37187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8A7A-080F-7866-A42D-B5FC65F2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hapter 6…">
            <a:extLst>
              <a:ext uri="{FF2B5EF4-FFF2-40B4-BE49-F238E27FC236}">
                <a16:creationId xmlns:a16="http://schemas.microsoft.com/office/drawing/2014/main" id="{4BFF0148-6042-EB33-B620-FEC577CC4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Microservices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/>
              <a:t>RESTful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033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66F9D5-5AEB-32FB-38E8-1BD8A093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226306" name="Rectangle 2">
            <a:extLst>
              <a:ext uri="{FF2B5EF4-FFF2-40B4-BE49-F238E27FC236}">
                <a16:creationId xmlns:a16="http://schemas.microsoft.com/office/drawing/2014/main" id="{E51F45BA-FC2A-4991-ACF6-C9AD9463B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938" y="746848"/>
            <a:ext cx="8061392" cy="646523"/>
          </a:xfrm>
        </p:spPr>
        <p:txBody>
          <a:bodyPr/>
          <a:lstStyle/>
          <a:p>
            <a:r>
              <a:rPr lang="en-US" altLang="en-US" dirty="0"/>
              <a:t>Hypertext Transfer Protocol (HTTP)</a:t>
            </a:r>
          </a:p>
        </p:txBody>
      </p:sp>
      <p:sp>
        <p:nvSpPr>
          <p:cNvPr id="226310" name="Rectangle 6">
            <a:extLst>
              <a:ext uri="{FF2B5EF4-FFF2-40B4-BE49-F238E27FC236}">
                <a16:creationId xmlns:a16="http://schemas.microsoft.com/office/drawing/2014/main" id="{A6694939-8EEC-A5BC-7B7F-ED6204EE0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938" y="1721033"/>
            <a:ext cx="10408748" cy="490144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A communications protocol</a:t>
            </a:r>
          </a:p>
          <a:p>
            <a:pPr>
              <a:lnSpc>
                <a:spcPct val="8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Allows retrieving inter-linked text documents (hypertext) </a:t>
            </a:r>
          </a:p>
          <a:p>
            <a:pPr lvl="1">
              <a:lnSpc>
                <a:spcPct val="8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World Wide Web.</a:t>
            </a:r>
          </a:p>
          <a:p>
            <a:pPr lvl="1">
              <a:lnSpc>
                <a:spcPct val="8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HTTP Verbs</a:t>
            </a:r>
          </a:p>
          <a:p>
            <a:pPr>
              <a:lnSpc>
                <a:spcPct val="8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HEAD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solidFill>
                  <a:schemeClr val="tx1"/>
                </a:solidFill>
              </a:rPr>
              <a:t>GET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solidFill>
                  <a:schemeClr val="tx1"/>
                </a:solidFill>
              </a:rPr>
              <a:t>POST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PUT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DELETE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TRACE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OPTIONS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CONNECT</a:t>
            </a:r>
          </a:p>
          <a:p>
            <a:pPr>
              <a:lnSpc>
                <a:spcPct val="80000"/>
              </a:lnSpc>
            </a:pPr>
            <a:endParaRPr lang="en-US" altLang="en-US" sz="2520" dirty="0"/>
          </a:p>
        </p:txBody>
      </p:sp>
      <p:sp>
        <p:nvSpPr>
          <p:cNvPr id="226311" name="Text Box 7">
            <a:extLst>
              <a:ext uri="{FF2B5EF4-FFF2-40B4-BE49-F238E27FC236}">
                <a16:creationId xmlns:a16="http://schemas.microsoft.com/office/drawing/2014/main" id="{75EBA820-0984-841E-C512-E542BBEB7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3909060"/>
            <a:ext cx="1097280" cy="8586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2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Browser</a:t>
            </a:r>
          </a:p>
        </p:txBody>
      </p:sp>
      <p:sp>
        <p:nvSpPr>
          <p:cNvPr id="226312" name="Text Box 8">
            <a:extLst>
              <a:ext uri="{FF2B5EF4-FFF2-40B4-BE49-F238E27FC236}">
                <a16:creationId xmlns:a16="http://schemas.microsoft.com/office/drawing/2014/main" id="{69BF278C-F131-16F7-FA4B-08E713E4F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3909060"/>
            <a:ext cx="1251585" cy="8229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2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Web Server</a:t>
            </a:r>
          </a:p>
        </p:txBody>
      </p:sp>
      <p:sp>
        <p:nvSpPr>
          <p:cNvPr id="226313" name="Line 9">
            <a:extLst>
              <a:ext uri="{FF2B5EF4-FFF2-40B4-BE49-F238E27FC236}">
                <a16:creationId xmlns:a16="http://schemas.microsoft.com/office/drawing/2014/main" id="{99F8D1A5-95B4-3967-15D6-1A9994B75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4580" y="4046220"/>
            <a:ext cx="26746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314" name="Text Box 10">
            <a:extLst>
              <a:ext uri="{FF2B5EF4-FFF2-40B4-BE49-F238E27FC236}">
                <a16:creationId xmlns:a16="http://schemas.microsoft.com/office/drawing/2014/main" id="{8917638C-0D90-5193-62A6-17BDE0C2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320" y="3566160"/>
            <a:ext cx="219456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 /index.html HTTP/1.1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Host: www.pitt.edu</a:t>
            </a:r>
          </a:p>
        </p:txBody>
      </p:sp>
      <p:sp>
        <p:nvSpPr>
          <p:cNvPr id="226315" name="Line 11">
            <a:extLst>
              <a:ext uri="{FF2B5EF4-FFF2-40B4-BE49-F238E27FC236}">
                <a16:creationId xmlns:a16="http://schemas.microsoft.com/office/drawing/2014/main" id="{F42C764E-EEC6-C464-8FFD-B35F0B9F48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64580" y="4457700"/>
            <a:ext cx="26746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316" name="Text Box 12">
            <a:extLst>
              <a:ext uri="{FF2B5EF4-FFF2-40B4-BE49-F238E27FC236}">
                <a16:creationId xmlns:a16="http://schemas.microsoft.com/office/drawing/2014/main" id="{93F99C3D-31F2-47F0-6F1F-1ACB74965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481" y="4526280"/>
            <a:ext cx="1854097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HTTP/1.1 200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Content-Type: text/html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6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6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&lt;html&gt;&lt;head&gt;…</a:t>
            </a:r>
          </a:p>
        </p:txBody>
      </p:sp>
    </p:spTree>
    <p:extLst>
      <p:ext uri="{BB962C8B-B14F-4D97-AF65-F5344CB8AC3E}">
        <p14:creationId xmlns:p14="http://schemas.microsoft.com/office/powerpoint/2010/main" val="1160507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9CB3C05-5AFC-4C40-8B97-8DB88DEC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4BC20EA-2842-7683-B377-25102B8F6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38826"/>
            <a:ext cx="7914559" cy="682255"/>
          </a:xfrm>
        </p:spPr>
        <p:txBody>
          <a:bodyPr/>
          <a:lstStyle/>
          <a:p>
            <a:r>
              <a:rPr lang="en-US" altLang="en-US" sz="3240" dirty="0"/>
              <a:t>Representational State Transfer (REST)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88F3A9A1-71DB-A4FC-AE13-9AED302CE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5" y="1586445"/>
            <a:ext cx="10424211" cy="5059777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A software architecture for distributed hypermedia systems. 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Introduced in the doctoral dissertation of Roy Fielding</a:t>
            </a:r>
          </a:p>
          <a:p>
            <a:pPr lvl="1">
              <a:lnSpc>
                <a:spcPct val="90000"/>
              </a:lnSpc>
            </a:pP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</a:rPr>
              <a:t>One of the principal authors of the HTTP specification.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A collection of network architecture principles which outline how resources are defined and addressed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520" dirty="0"/>
          </a:p>
        </p:txBody>
      </p:sp>
    </p:spTree>
    <p:extLst>
      <p:ext uri="{BB962C8B-B14F-4D97-AF65-F5344CB8AC3E}">
        <p14:creationId xmlns:p14="http://schemas.microsoft.com/office/powerpoint/2010/main" val="46696283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he REST (REpresentational State Transfer) architectural style is based on the idea of transferring representations of digital resources from a server to a client.…"/>
          <p:cNvSpPr txBox="1">
            <a:spLocks noGrp="1"/>
          </p:cNvSpPr>
          <p:nvPr>
            <p:ph type="body" idx="1"/>
          </p:nvPr>
        </p:nvSpPr>
        <p:spPr>
          <a:xfrm>
            <a:off x="962342" y="1539310"/>
            <a:ext cx="10365638" cy="5141099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52396" indent="0">
              <a:buNone/>
            </a:pPr>
            <a:r>
              <a:rPr dirty="0">
                <a:solidFill>
                  <a:schemeClr val="tx1"/>
                </a:solidFill>
              </a:rPr>
              <a:t>The REST (</a:t>
            </a:r>
            <a:r>
              <a:rPr dirty="0" err="1">
                <a:solidFill>
                  <a:schemeClr val="tx1"/>
                </a:solidFill>
              </a:rPr>
              <a:t>REpresentational</a:t>
            </a:r>
            <a:r>
              <a:rPr dirty="0">
                <a:solidFill>
                  <a:schemeClr val="tx1"/>
                </a:solidFill>
              </a:rPr>
              <a:t> State Transfer) architectural style </a:t>
            </a:r>
            <a:endParaRPr lang="en-US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</a:t>
            </a:r>
            <a:r>
              <a:rPr dirty="0">
                <a:solidFill>
                  <a:schemeClr val="tx1"/>
                </a:solidFill>
              </a:rPr>
              <a:t>hink of </a:t>
            </a:r>
            <a:r>
              <a:rPr lang="en-US" dirty="0">
                <a:solidFill>
                  <a:schemeClr val="tx1"/>
                </a:solidFill>
              </a:rPr>
              <a:t>it </a:t>
            </a:r>
            <a:r>
              <a:rPr dirty="0">
                <a:solidFill>
                  <a:schemeClr val="tx1"/>
                </a:solidFill>
              </a:rPr>
              <a:t>as </a:t>
            </a:r>
            <a:r>
              <a:rPr b="1" dirty="0">
                <a:solidFill>
                  <a:srgbClr val="00B050"/>
                </a:solidFill>
              </a:rPr>
              <a:t>any chunk of data</a:t>
            </a:r>
            <a:r>
              <a:rPr lang="en-US" b="1" dirty="0">
                <a:solidFill>
                  <a:srgbClr val="00B050"/>
                </a:solidFill>
              </a:rPr>
              <a:t>: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b="1" dirty="0">
                <a:solidFill>
                  <a:srgbClr val="00B050"/>
                </a:solidFill>
              </a:rPr>
              <a:t>redit card details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I</a:t>
            </a:r>
            <a:r>
              <a:rPr b="1" dirty="0">
                <a:solidFill>
                  <a:srgbClr val="00B050"/>
                </a:solidFill>
              </a:rPr>
              <a:t>ndividual’s medical record</a:t>
            </a:r>
            <a:endParaRPr lang="en-US" b="1" dirty="0">
              <a:solidFill>
                <a:srgbClr val="00B050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M</a:t>
            </a:r>
            <a:r>
              <a:rPr dirty="0">
                <a:solidFill>
                  <a:schemeClr val="tx1"/>
                </a:solidFill>
              </a:rPr>
              <a:t>agazine or newspaper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library catalogue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Etc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dirty="0">
                <a:solidFill>
                  <a:schemeClr val="tx1"/>
                </a:solidFill>
              </a:rPr>
              <a:t>Resources are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accessed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via their </a:t>
            </a:r>
            <a:r>
              <a:rPr b="1" dirty="0">
                <a:solidFill>
                  <a:srgbClr val="00B050"/>
                </a:solidFill>
              </a:rPr>
              <a:t>unique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URI</a:t>
            </a: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194" name="RESTful services"/>
          <p:cNvSpPr txBox="1">
            <a:spLocks noGrp="1"/>
          </p:cNvSpPr>
          <p:nvPr>
            <p:ph type="title"/>
          </p:nvPr>
        </p:nvSpPr>
        <p:spPr>
          <a:xfrm>
            <a:off x="962342" y="775711"/>
            <a:ext cx="4274676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RESTful services</a:t>
            </a:r>
          </a:p>
        </p:txBody>
      </p:sp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5451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D76E-5279-2F0F-A70C-C884CA34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he REST (REpresentational State Transfer) architectural style is based on the idea of transferring representations of digital resources from a server to a client.…">
            <a:extLst>
              <a:ext uri="{FF2B5EF4-FFF2-40B4-BE49-F238E27FC236}">
                <a16:creationId xmlns:a16="http://schemas.microsoft.com/office/drawing/2014/main" id="{36677353-1FDE-ECF9-2FA8-4B994B80B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2342" y="1539310"/>
            <a:ext cx="10365638" cy="5141099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dirty="0"/>
          </a:p>
          <a:p>
            <a:r>
              <a:rPr dirty="0">
                <a:solidFill>
                  <a:schemeClr val="tx1"/>
                </a:solidFill>
              </a:rPr>
              <a:t>This is the approach used in the </a:t>
            </a:r>
            <a:r>
              <a:rPr b="1" dirty="0">
                <a:solidFill>
                  <a:srgbClr val="00B050"/>
                </a:solidFill>
              </a:rPr>
              <a:t>web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where the </a:t>
            </a:r>
            <a:r>
              <a:rPr b="1" dirty="0">
                <a:solidFill>
                  <a:srgbClr val="00B050"/>
                </a:solidFill>
              </a:rPr>
              <a:t>resource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An HTML </a:t>
            </a:r>
            <a:r>
              <a:rPr lang="en-US" dirty="0">
                <a:solidFill>
                  <a:schemeClr val="tx1"/>
                </a:solidFill>
              </a:rPr>
              <a:t>page </a:t>
            </a:r>
            <a:r>
              <a:rPr dirty="0">
                <a:solidFill>
                  <a:schemeClr val="tx1"/>
                </a:solidFill>
              </a:rPr>
              <a:t>is </a:t>
            </a:r>
            <a:r>
              <a:rPr b="1" dirty="0">
                <a:solidFill>
                  <a:srgbClr val="00B050"/>
                </a:solidFill>
              </a:rPr>
              <a:t>generated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by the server in </a:t>
            </a:r>
            <a:r>
              <a:rPr b="1" dirty="0">
                <a:solidFill>
                  <a:srgbClr val="00B050"/>
                </a:solidFill>
              </a:rPr>
              <a:t>response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to an HTTP GET request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</a:t>
            </a:r>
            <a:r>
              <a:rPr dirty="0">
                <a:solidFill>
                  <a:schemeClr val="tx1"/>
                </a:solidFill>
              </a:rPr>
              <a:t>s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transferred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to the </a:t>
            </a:r>
            <a:r>
              <a:rPr b="1" dirty="0">
                <a:solidFill>
                  <a:srgbClr val="00B050"/>
                </a:solidFill>
              </a:rPr>
              <a:t>client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for display by a browser.</a:t>
            </a:r>
          </a:p>
        </p:txBody>
      </p:sp>
      <p:sp>
        <p:nvSpPr>
          <p:cNvPr id="194" name="RESTful services">
            <a:extLst>
              <a:ext uri="{FF2B5EF4-FFF2-40B4-BE49-F238E27FC236}">
                <a16:creationId xmlns:a16="http://schemas.microsoft.com/office/drawing/2014/main" id="{E5F71D20-1403-C989-CB97-4F5C97AA5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342" y="775711"/>
            <a:ext cx="4274676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RESTful services</a:t>
            </a:r>
          </a:p>
        </p:txBody>
      </p:sp>
      <p:sp>
        <p:nvSpPr>
          <p:cNvPr id="195" name="Slide Number">
            <a:extLst>
              <a:ext uri="{FF2B5EF4-FFF2-40B4-BE49-F238E27FC236}">
                <a16:creationId xmlns:a16="http://schemas.microsoft.com/office/drawing/2014/main" id="{1CA55C4B-FACB-63A2-32C3-7C3E8C8E93B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5671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F64040-A8F6-5F5F-8EFE-805F65FF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233474" name="Rectangle 2">
            <a:extLst>
              <a:ext uri="{FF2B5EF4-FFF2-40B4-BE49-F238E27FC236}">
                <a16:creationId xmlns:a16="http://schemas.microsoft.com/office/drawing/2014/main" id="{CD1C8AD9-5A95-38BF-0F6F-71143C836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50703"/>
            <a:ext cx="3853198" cy="630794"/>
          </a:xfrm>
        </p:spPr>
        <p:txBody>
          <a:bodyPr/>
          <a:lstStyle/>
          <a:p>
            <a:r>
              <a:rPr lang="en-US" altLang="en-US" dirty="0"/>
              <a:t>REST and HTTP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CFCB9DF0-4C60-2D7B-64A6-C9465631A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5" y="1558737"/>
            <a:ext cx="10436087" cy="5087486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The motivation for REST was to capture the characteristics of the Web. 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</a:rPr>
              <a:t>URI Addressable resources</a:t>
            </a: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</a:rPr>
              <a:t>HTTP Protocol</a:t>
            </a: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</a:rPr>
              <a:t>Make a Request – Receive Response – Display Response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Exploits the use of the HTTP protocol beyond HTTP POST and HTTP GET</a:t>
            </a:r>
          </a:p>
          <a:p>
            <a:pPr lvl="1"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HTTP PUT</a:t>
            </a:r>
          </a:p>
          <a:p>
            <a:pPr lvl="1"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HTTP DELETE</a:t>
            </a:r>
          </a:p>
          <a:p>
            <a:pPr lvl="1">
              <a:lnSpc>
                <a:spcPct val="90000"/>
              </a:lnSpc>
            </a:pPr>
            <a:endParaRPr lang="en-US" altLang="en-US" sz="2520" dirty="0"/>
          </a:p>
          <a:p>
            <a:pPr>
              <a:lnSpc>
                <a:spcPct val="90000"/>
              </a:lnSpc>
            </a:pPr>
            <a:endParaRPr lang="en-US" altLang="en-US" sz="2520" dirty="0"/>
          </a:p>
        </p:txBody>
      </p:sp>
    </p:spTree>
    <p:extLst>
      <p:ext uri="{BB962C8B-B14F-4D97-AF65-F5344CB8AC3E}">
        <p14:creationId xmlns:p14="http://schemas.microsoft.com/office/powerpoint/2010/main" val="2795904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3F866B-3DB0-25FF-1499-21CC1270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C385BEF0-356B-0796-7C1C-5FD3CC5C4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26951"/>
            <a:ext cx="5313863" cy="721839"/>
          </a:xfrm>
        </p:spPr>
        <p:txBody>
          <a:bodyPr/>
          <a:lstStyle/>
          <a:p>
            <a:r>
              <a:rPr lang="en-US" altLang="en-US" dirty="0"/>
              <a:t>REST - not a Standard</a:t>
            </a:r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3029F248-3322-D4DC-588B-B430B3465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598320"/>
            <a:ext cx="10432128" cy="5039985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REST is not a standard</a:t>
            </a:r>
          </a:p>
          <a:p>
            <a:pPr lvl="1">
              <a:lnSpc>
                <a:spcPct val="90000"/>
              </a:lnSpc>
            </a:pP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</a:rPr>
              <a:t>JSR 311: JAX-RS: The Java</a:t>
            </a:r>
            <a:r>
              <a:rPr lang="en-US" altLang="en-US" sz="1980" baseline="30000" dirty="0">
                <a:solidFill>
                  <a:schemeClr val="tx1"/>
                </a:solidFill>
              </a:rPr>
              <a:t>TM</a:t>
            </a:r>
            <a:r>
              <a:rPr lang="en-US" altLang="en-US" sz="1980" dirty="0">
                <a:solidFill>
                  <a:schemeClr val="tx1"/>
                </a:solidFill>
              </a:rPr>
              <a:t> API for RESTful Web Services</a:t>
            </a:r>
            <a:endParaRPr lang="en-US" altLang="en-US" sz="162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But it uses several standards:</a:t>
            </a:r>
          </a:p>
          <a:p>
            <a:pPr lvl="1"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HTTP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URL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XML/HTML/GIF/JPEG/</a:t>
            </a:r>
            <a:r>
              <a:rPr lang="en-US" altLang="en-US" sz="1800" dirty="0" err="1">
                <a:solidFill>
                  <a:schemeClr val="tx1"/>
                </a:solidFill>
              </a:rPr>
              <a:t>etc</a:t>
            </a:r>
            <a:r>
              <a:rPr lang="en-US" altLang="en-US" sz="1800" dirty="0">
                <a:solidFill>
                  <a:schemeClr val="tx1"/>
                </a:solidFill>
              </a:rPr>
              <a:t> (Resource Representations)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text/xml, text/html, image/gif, image/jpeg, </a:t>
            </a:r>
            <a:r>
              <a:rPr lang="en-US" altLang="en-US" sz="1800" dirty="0" err="1">
                <a:solidFill>
                  <a:schemeClr val="tx1"/>
                </a:solidFill>
              </a:rPr>
              <a:t>etc</a:t>
            </a:r>
            <a:r>
              <a:rPr lang="en-US" altLang="en-US" sz="1800" dirty="0">
                <a:solidFill>
                  <a:schemeClr val="tx1"/>
                </a:solidFill>
              </a:rPr>
              <a:t>  (Resource Types, MIME Types)</a:t>
            </a:r>
          </a:p>
        </p:txBody>
      </p:sp>
    </p:spTree>
    <p:extLst>
      <p:ext uri="{BB962C8B-B14F-4D97-AF65-F5344CB8AC3E}">
        <p14:creationId xmlns:p14="http://schemas.microsoft.com/office/powerpoint/2010/main" val="161323922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3730033-29A5-E8D5-DBC0-C8B460C3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8EC69D50-8535-E974-CDAF-1682A1512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599" y="730910"/>
            <a:ext cx="3686944" cy="745589"/>
          </a:xfrm>
        </p:spPr>
        <p:txBody>
          <a:bodyPr/>
          <a:lstStyle/>
          <a:p>
            <a:r>
              <a:rPr lang="en-US" altLang="en-US"/>
              <a:t>Main Concepts</a:t>
            </a:r>
          </a:p>
        </p:txBody>
      </p:sp>
      <p:sp>
        <p:nvSpPr>
          <p:cNvPr id="19459" name="AutoShape 3">
            <a:extLst>
              <a:ext uri="{FF2B5EF4-FFF2-40B4-BE49-F238E27FC236}">
                <a16:creationId xmlns:a16="http://schemas.microsoft.com/office/drawing/2014/main" id="{88FD38EE-798E-954D-68B3-B3D44CE5C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820" y="2700338"/>
            <a:ext cx="3040380" cy="25117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 anchor="ctr"/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10160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495764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11D7B4E8-840E-69C0-E96E-CC416A106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5925"/>
            <a:ext cx="4879856" cy="100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10160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49576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Nouns (Resources)</a:t>
            </a:r>
            <a:br>
              <a:rPr kumimoji="0" lang="en-US" altLang="en-US" sz="1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unconstrained</a:t>
            </a:r>
            <a:br>
              <a:rPr kumimoji="0" lang="en-US" altLang="en-US" sz="19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i.e., http://example.com/employees/12345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87E82F2F-E576-9611-03C1-E584F84DF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480" y="5074920"/>
            <a:ext cx="1495916" cy="100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10160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49576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98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Verbs</a:t>
            </a:r>
            <a:br>
              <a:rPr kumimoji="0" lang="en-US" altLang="en-US" sz="198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constrained</a:t>
            </a:r>
            <a:br>
              <a:rPr kumimoji="0" lang="en-US" altLang="en-US" sz="19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i.e., GET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788D86DD-F3D4-4A83-8C86-37F95796A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5074920"/>
            <a:ext cx="2175590" cy="100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10160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49576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98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Representations</a:t>
            </a:r>
            <a:br>
              <a:rPr kumimoji="0" lang="en-US" altLang="en-US" sz="198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constrained</a:t>
            </a:r>
            <a:br>
              <a:rPr kumimoji="0" lang="en-US" altLang="en-US" sz="198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en-US" sz="19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i.e., XML</a:t>
            </a:r>
          </a:p>
        </p:txBody>
      </p:sp>
      <p:sp>
        <p:nvSpPr>
          <p:cNvPr id="19474" name="Text Box 18">
            <a:extLst>
              <a:ext uri="{FF2B5EF4-FFF2-40B4-BE49-F238E27FC236}">
                <a16:creationId xmlns:a16="http://schemas.microsoft.com/office/drawing/2014/main" id="{2492A1DD-B2B0-5219-1B4D-144D3D8EA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940" y="3909060"/>
            <a:ext cx="117051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8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25854189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A6CE-649F-DCDD-8BC9-4B686AE7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Use HTTP verbs The basic methods defined in the HTTP protocol (GET, PUT,  POST,  DELETE) must be used to access the operations made available by the service.…">
            <a:extLst>
              <a:ext uri="{FF2B5EF4-FFF2-40B4-BE49-F238E27FC236}">
                <a16:creationId xmlns:a16="http://schemas.microsoft.com/office/drawing/2014/main" id="{FD4C698F-81AF-2631-A839-570B12197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657545"/>
            <a:ext cx="10342761" cy="4985080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endParaRPr lang="en-US" b="1" i="1" dirty="0">
              <a:solidFill>
                <a:schemeClr val="tx1"/>
              </a:solidFill>
            </a:endParaRPr>
          </a:p>
          <a:p>
            <a:r>
              <a:rPr b="1" i="1" dirty="0">
                <a:solidFill>
                  <a:schemeClr val="tx1"/>
                </a:solidFill>
              </a:rPr>
              <a:t>Stateless services</a:t>
            </a:r>
            <a:endParaRPr lang="en-US" b="1" i="1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Services must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never maintain </a:t>
            </a:r>
            <a:r>
              <a:rPr dirty="0">
                <a:solidFill>
                  <a:schemeClr val="tx1"/>
                </a:solidFill>
              </a:rPr>
              <a:t>internal state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b="1" dirty="0">
              <a:solidFill>
                <a:srgbClr val="00B0F0"/>
              </a:solidFill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M</a:t>
            </a:r>
            <a:r>
              <a:rPr b="1" dirty="0">
                <a:solidFill>
                  <a:srgbClr val="00B0F0"/>
                </a:solidFill>
              </a:rPr>
              <a:t>icroservices </a:t>
            </a:r>
            <a:r>
              <a:rPr dirty="0">
                <a:solidFill>
                  <a:schemeClr val="tx1"/>
                </a:solidFill>
              </a:rPr>
              <a:t>are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stateless</a:t>
            </a:r>
            <a:endParaRPr dirty="0"/>
          </a:p>
        </p:txBody>
      </p:sp>
      <p:sp>
        <p:nvSpPr>
          <p:cNvPr id="198" name="Table 6.4 RESTful service principles">
            <a:extLst>
              <a:ext uri="{FF2B5EF4-FFF2-40B4-BE49-F238E27FC236}">
                <a16:creationId xmlns:a16="http://schemas.microsoft.com/office/drawing/2014/main" id="{A316819D-0160-9FE7-DF8C-C46394B35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37532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RESTful service principles</a:t>
            </a:r>
          </a:p>
        </p:txBody>
      </p:sp>
      <p:sp>
        <p:nvSpPr>
          <p:cNvPr id="199" name="Slide Number">
            <a:extLst>
              <a:ext uri="{FF2B5EF4-FFF2-40B4-BE49-F238E27FC236}">
                <a16:creationId xmlns:a16="http://schemas.microsoft.com/office/drawing/2014/main" id="{32FBDAB5-4ED1-5FD2-55D5-24B0A5DEA57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3970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AD5C320-2459-ED35-ABF0-AF25FA6E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B1CF86CA-3C4F-A6C4-7BC9-1F54176FA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42786"/>
            <a:ext cx="2911089" cy="626836"/>
          </a:xfrm>
        </p:spPr>
        <p:txBody>
          <a:bodyPr/>
          <a:lstStyle/>
          <a:p>
            <a:r>
              <a:rPr lang="en-US" altLang="en-US" dirty="0"/>
              <a:t>Resources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09E8F1C4-F39B-CF1E-B5D3-31EAF9304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511100"/>
            <a:ext cx="10451920" cy="51232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The key in REST is a resource.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A resource is a conceptual mapping to a set of entities</a:t>
            </a:r>
          </a:p>
          <a:p>
            <a:pPr lvl="1">
              <a:lnSpc>
                <a:spcPct val="90000"/>
              </a:lnSpc>
            </a:pPr>
            <a:endParaRPr lang="en-US" altLang="en-US" sz="216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160" dirty="0">
                <a:solidFill>
                  <a:schemeClr val="tx1"/>
                </a:solidFill>
              </a:rPr>
              <a:t>Any information that can be named can be a resource: </a:t>
            </a:r>
          </a:p>
          <a:p>
            <a:pPr lvl="2"/>
            <a:endParaRPr lang="en-US" altLang="en-US" sz="1960" dirty="0">
              <a:solidFill>
                <a:schemeClr val="tx1"/>
              </a:solidFill>
            </a:endParaRP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Document</a:t>
            </a: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Image</a:t>
            </a: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Temporal service (e.g. "today's weather in Los Angeles")</a:t>
            </a: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Collection of other resources</a:t>
            </a: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Non-virtual object (e.g. a person)</a:t>
            </a: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7763739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9A2366-6412-543E-8F20-E2DFE520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D225DDA3-3708-F63D-C4C1-87F8AA886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70495"/>
            <a:ext cx="4633011" cy="773297"/>
          </a:xfrm>
        </p:spPr>
        <p:txBody>
          <a:bodyPr/>
          <a:lstStyle/>
          <a:p>
            <a:r>
              <a:rPr lang="en-US" altLang="en-US" dirty="0"/>
              <a:t>Naming Resources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41CA45C3-1823-22C4-414B-E9C2ABE43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5" y="1748742"/>
            <a:ext cx="10424211" cy="49172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REST uses URI to identify resources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</a:t>
            </a: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http://localhost/books/ISBN-0011</a:t>
            </a: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http://localhost/books/ISBN-0011/authors</a:t>
            </a: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http://localhost/classes</a:t>
            </a: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http://localhost/classes/cs2650</a:t>
            </a:r>
            <a:endParaRPr lang="en-US" altLang="en-US" sz="198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980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http://localhost/classes/cs2650/students</a:t>
            </a:r>
            <a:endParaRPr lang="en-US" altLang="en-US" sz="198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654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Use HTTP verbs The basic methods defined in the HTTP protocol (GET, PUT,  POST,  DELETE) must be used to access the operations made available by the service.…"/>
          <p:cNvSpPr txBox="1">
            <a:spLocks noGrp="1"/>
          </p:cNvSpPr>
          <p:nvPr>
            <p:ph type="body" idx="1"/>
          </p:nvPr>
        </p:nvSpPr>
        <p:spPr>
          <a:xfrm>
            <a:off x="947434" y="1657545"/>
            <a:ext cx="10342761" cy="4985080"/>
          </a:xfrm>
          <a:prstGeom prst="rect">
            <a:avLst/>
          </a:prstGeom>
        </p:spPr>
        <p:txBody>
          <a:bodyPr/>
          <a:lstStyle/>
          <a:p>
            <a:endParaRPr lang="en-US" b="1" i="1" dirty="0"/>
          </a:p>
          <a:p>
            <a:r>
              <a:rPr b="1" i="1" dirty="0">
                <a:solidFill>
                  <a:schemeClr val="tx1"/>
                </a:solidFill>
              </a:rPr>
              <a:t>Use HTTP verbs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The basic methods defined in the HTTP protocol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HTTP </a:t>
            </a:r>
            <a:r>
              <a:rPr dirty="0">
                <a:solidFill>
                  <a:schemeClr val="tx1"/>
                </a:solidFill>
              </a:rPr>
              <a:t>GET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HTTP </a:t>
            </a:r>
            <a:r>
              <a:rPr dirty="0">
                <a:solidFill>
                  <a:schemeClr val="tx1"/>
                </a:solidFill>
              </a:rPr>
              <a:t>PUT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HTTP </a:t>
            </a:r>
            <a:r>
              <a:rPr dirty="0">
                <a:solidFill>
                  <a:schemeClr val="tx1"/>
                </a:solidFill>
              </a:rPr>
              <a:t>POST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HTTP </a:t>
            </a:r>
            <a:r>
              <a:rPr dirty="0">
                <a:solidFill>
                  <a:schemeClr val="tx1"/>
                </a:solidFill>
              </a:rPr>
              <a:t>DELETE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8" name="Table 6.4 RESTful service principles"/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37532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RESTful service principles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279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DDF0-3867-FF4B-5AA0-87D326C8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reate Implemented using HTTP POST, which creates the resource with the given URI. If the resource has already been created, an error is returned.…">
            <a:extLst>
              <a:ext uri="{FF2B5EF4-FFF2-40B4-BE49-F238E27FC236}">
                <a16:creationId xmlns:a16="http://schemas.microsoft.com/office/drawing/2014/main" id="{D9F0D4C9-7A67-9339-6FB1-7F83DE92CF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9880"/>
            <a:ext cx="10395660" cy="5080073"/>
          </a:xfrm>
          <a:prstGeom prst="rect">
            <a:avLst/>
          </a:prstGeom>
        </p:spPr>
        <p:txBody>
          <a:bodyPr/>
          <a:lstStyle/>
          <a:p>
            <a:pPr defTabSz="386106">
              <a:spcBef>
                <a:spcPts val="1969"/>
              </a:spcBef>
              <a:defRPr sz="2256"/>
            </a:pPr>
            <a:r>
              <a:rPr b="1" i="1" dirty="0">
                <a:solidFill>
                  <a:schemeClr val="tx1"/>
                </a:solidFill>
              </a:rPr>
              <a:t>Read</a:t>
            </a:r>
            <a:endParaRPr lang="en-US" b="1" i="1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Implemented using HTTP GET, which </a:t>
            </a:r>
            <a:r>
              <a:rPr b="1" dirty="0">
                <a:solidFill>
                  <a:srgbClr val="00B050"/>
                </a:solidFill>
              </a:rPr>
              <a:t>reads the resource </a:t>
            </a:r>
            <a:r>
              <a:rPr dirty="0">
                <a:solidFill>
                  <a:schemeClr val="tx1"/>
                </a:solidFill>
              </a:rPr>
              <a:t>and returns its </a:t>
            </a:r>
            <a:r>
              <a:rPr b="1" dirty="0">
                <a:solidFill>
                  <a:srgbClr val="00B050"/>
                </a:solidFill>
              </a:rPr>
              <a:t>value</a:t>
            </a:r>
            <a:r>
              <a:rPr dirty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GET operations should </a:t>
            </a:r>
            <a:r>
              <a:rPr b="1" dirty="0">
                <a:solidFill>
                  <a:srgbClr val="FF0000"/>
                </a:solidFill>
              </a:rPr>
              <a:t>never update a resource </a:t>
            </a:r>
            <a:endParaRPr lang="en-US" b="1" dirty="0">
              <a:solidFill>
                <a:srgbClr val="FF0000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lang="en-US" dirty="0">
                <a:solidFill>
                  <a:schemeClr val="tx1"/>
                </a:solidFill>
              </a:rPr>
              <a:t>So,</a:t>
            </a:r>
            <a:r>
              <a:rPr dirty="0">
                <a:solidFill>
                  <a:schemeClr val="tx1"/>
                </a:solidFill>
              </a:rPr>
              <a:t> that </a:t>
            </a:r>
            <a:r>
              <a:rPr b="1" dirty="0">
                <a:solidFill>
                  <a:srgbClr val="00B050"/>
                </a:solidFill>
              </a:rPr>
              <a:t>successive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GET operations with </a:t>
            </a:r>
            <a:r>
              <a:rPr b="1" dirty="0">
                <a:solidFill>
                  <a:srgbClr val="FF0000"/>
                </a:solidFill>
              </a:rPr>
              <a:t>no intervening </a:t>
            </a:r>
            <a:r>
              <a:rPr dirty="0">
                <a:solidFill>
                  <a:schemeClr val="tx1"/>
                </a:solidFill>
              </a:rPr>
              <a:t>PUT operations always return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the same value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3" name="Slide Number">
            <a:extLst>
              <a:ext uri="{FF2B5EF4-FFF2-40B4-BE49-F238E27FC236}">
                <a16:creationId xmlns:a16="http://schemas.microsoft.com/office/drawing/2014/main" id="{8EB213AB-01DA-3A0B-D5BC-766258382E6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39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38C659-E150-F5E6-C972-6ABC14438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58619"/>
            <a:ext cx="2760668" cy="658503"/>
          </a:xfrm>
        </p:spPr>
        <p:txBody>
          <a:bodyPr/>
          <a:lstStyle/>
          <a:p>
            <a:r>
              <a:rPr lang="en-US" altLang="en-US" dirty="0"/>
              <a:t>HTTP GET</a:t>
            </a:r>
          </a:p>
        </p:txBody>
      </p:sp>
    </p:spTree>
    <p:extLst>
      <p:ext uri="{BB962C8B-B14F-4D97-AF65-F5344CB8AC3E}">
        <p14:creationId xmlns:p14="http://schemas.microsoft.com/office/powerpoint/2010/main" val="1427691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7EEEA61-203B-B3B5-C3A9-FB00655C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2D06B644-FCC4-A9D5-91FD-D45267EE0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58619"/>
            <a:ext cx="2760668" cy="658503"/>
          </a:xfrm>
        </p:spPr>
        <p:txBody>
          <a:bodyPr/>
          <a:lstStyle/>
          <a:p>
            <a:r>
              <a:rPr lang="en-US" altLang="en-US" dirty="0"/>
              <a:t>HTTP GET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E3F9AB3B-5DDE-B3B5-9BF8-85033B038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5" y="1546861"/>
            <a:ext cx="10471713" cy="50993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How clients ask for the information they seek.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Issuing a GET request transfers the data from the server to the client in some representation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GET </a:t>
            </a:r>
            <a:r>
              <a:rPr lang="en-US" altLang="en-US" sz="1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710" dirty="0">
                <a:solidFill>
                  <a:schemeClr val="tx1"/>
                </a:solidFill>
              </a:rPr>
              <a:t>Retrieve all books</a:t>
            </a:r>
          </a:p>
          <a:p>
            <a:pPr lvl="1">
              <a:lnSpc>
                <a:spcPct val="90000"/>
              </a:lnSpc>
            </a:pPr>
            <a:endParaRPr lang="en-US" altLang="en-US" sz="171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GET </a:t>
            </a:r>
            <a:r>
              <a:rPr lang="en-US" altLang="en-US" sz="18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http://localhost/books/ISBN-0011021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710" dirty="0">
                <a:solidFill>
                  <a:schemeClr val="tx1"/>
                </a:solidFill>
              </a:rPr>
              <a:t>Retrieve book identified with ISBN-0011021</a:t>
            </a:r>
          </a:p>
          <a:p>
            <a:pPr lvl="1">
              <a:lnSpc>
                <a:spcPct val="90000"/>
              </a:lnSpc>
            </a:pPr>
            <a:endParaRPr lang="en-US" altLang="en-US" sz="171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GET </a:t>
            </a:r>
            <a:r>
              <a:rPr lang="en-US" altLang="en-US" sz="18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http://localhost/books/ISBN-0011021/authors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710" dirty="0">
                <a:solidFill>
                  <a:schemeClr val="tx1"/>
                </a:solidFill>
              </a:rPr>
              <a:t>Retrieve authors for book identified with ISBN-0011021</a:t>
            </a:r>
          </a:p>
        </p:txBody>
      </p:sp>
    </p:spTree>
    <p:extLst>
      <p:ext uri="{BB962C8B-B14F-4D97-AF65-F5344CB8AC3E}">
        <p14:creationId xmlns:p14="http://schemas.microsoft.com/office/powerpoint/2010/main" val="2930194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F661-CB3D-FFD0-4A8A-CDBDFE7E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reate Implemented using HTTP POST, which creates the resource with the given URI. If the resource has already been created, an error is returned.…">
            <a:extLst>
              <a:ext uri="{FF2B5EF4-FFF2-40B4-BE49-F238E27FC236}">
                <a16:creationId xmlns:a16="http://schemas.microsoft.com/office/drawing/2014/main" id="{56DD3223-6617-4C30-BBDE-E0F938E2C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9880"/>
            <a:ext cx="10395660" cy="5080073"/>
          </a:xfrm>
          <a:prstGeom prst="rect">
            <a:avLst/>
          </a:prstGeom>
        </p:spPr>
        <p:txBody>
          <a:bodyPr/>
          <a:lstStyle/>
          <a:p>
            <a:pPr defTabSz="386106">
              <a:spcBef>
                <a:spcPts val="1969"/>
              </a:spcBef>
              <a:defRPr sz="2256"/>
            </a:pPr>
            <a:r>
              <a:rPr lang="en-US" b="1" i="1" dirty="0">
                <a:solidFill>
                  <a:schemeClr val="tx1"/>
                </a:solidFill>
              </a:rPr>
              <a:t>Update</a:t>
            </a:r>
          </a:p>
          <a:p>
            <a:pPr lvl="1" defTabSz="386106">
              <a:spcBef>
                <a:spcPts val="1969"/>
              </a:spcBef>
              <a:defRPr sz="2256"/>
            </a:pPr>
            <a:r>
              <a:rPr lang="en-US" dirty="0">
                <a:solidFill>
                  <a:schemeClr val="tx1"/>
                </a:solidFill>
              </a:rPr>
              <a:t>Implemented using HTTP PUT, which </a:t>
            </a:r>
            <a:r>
              <a:rPr lang="en-US" b="1" dirty="0">
                <a:solidFill>
                  <a:srgbClr val="FF0000"/>
                </a:solidFill>
              </a:rPr>
              <a:t>modifies an existing resource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1" defTabSz="386106">
              <a:spcBef>
                <a:spcPts val="1969"/>
              </a:spcBef>
              <a:defRPr sz="2256"/>
            </a:pPr>
            <a:r>
              <a:rPr lang="en-US" dirty="0">
                <a:solidFill>
                  <a:schemeClr val="tx1"/>
                </a:solidFill>
              </a:rPr>
              <a:t>PUT should </a:t>
            </a:r>
            <a:r>
              <a:rPr lang="en-US" b="1" dirty="0">
                <a:solidFill>
                  <a:srgbClr val="FF0000"/>
                </a:solidFill>
              </a:rPr>
              <a:t>not be used </a:t>
            </a:r>
            <a:r>
              <a:rPr lang="en-US" dirty="0">
                <a:solidFill>
                  <a:schemeClr val="tx1"/>
                </a:solidFill>
              </a:rPr>
              <a:t>for resource </a:t>
            </a:r>
            <a:r>
              <a:rPr lang="en-US" b="1" dirty="0">
                <a:solidFill>
                  <a:srgbClr val="00B050"/>
                </a:solidFill>
              </a:rPr>
              <a:t>creation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HTTP PUT updates a resource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PUT </a:t>
            </a:r>
            <a:r>
              <a:rPr lang="en-US" altLang="en-US" sz="212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http://localhost/books/isbn-111</a:t>
            </a:r>
            <a:r>
              <a:rPr lang="en-US" altLang="en-US" sz="2120" dirty="0">
                <a:solidFill>
                  <a:schemeClr val="tx1"/>
                </a:solidFill>
              </a:rPr>
              <a:t> </a:t>
            </a:r>
          </a:p>
          <a:p>
            <a:pPr lvl="2"/>
            <a:r>
              <a:rPr lang="en-US" altLang="en-US" sz="1600" dirty="0">
                <a:solidFill>
                  <a:schemeClr val="tx1"/>
                </a:solidFill>
              </a:rPr>
              <a:t>Content: {</a:t>
            </a:r>
            <a:r>
              <a:rPr lang="en-US" altLang="en-US" sz="1600" dirty="0" err="1">
                <a:solidFill>
                  <a:schemeClr val="tx1"/>
                </a:solidFill>
              </a:rPr>
              <a:t>isbn</a:t>
            </a:r>
            <a:r>
              <a:rPr lang="en-US" altLang="en-US" sz="1600" dirty="0">
                <a:solidFill>
                  <a:schemeClr val="tx1"/>
                </a:solidFill>
              </a:rPr>
              <a:t>, title, authors[], …}</a:t>
            </a:r>
          </a:p>
          <a:p>
            <a:pPr lvl="2"/>
            <a:r>
              <a:rPr lang="en-US" altLang="en-US" sz="1600" dirty="0">
                <a:solidFill>
                  <a:schemeClr val="tx1"/>
                </a:solidFill>
              </a:rPr>
              <a:t>Updates book identified by isbn-111 with submitted properties</a:t>
            </a:r>
            <a:endParaRPr lang="en-US" dirty="0">
              <a:solidFill>
                <a:schemeClr val="tx1"/>
              </a:solidFill>
            </a:endParaRPr>
          </a:p>
          <a:p>
            <a:pPr marL="186262" indent="0" defTabSz="386106">
              <a:spcBef>
                <a:spcPts val="1969"/>
              </a:spcBef>
              <a:buNone/>
              <a:defRPr sz="2256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3" name="Slide Number">
            <a:extLst>
              <a:ext uri="{FF2B5EF4-FFF2-40B4-BE49-F238E27FC236}">
                <a16:creationId xmlns:a16="http://schemas.microsoft.com/office/drawing/2014/main" id="{04AB2D4B-83C0-DF65-FA7F-5302359E716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41</a:t>
            </a:fld>
            <a:endParaRPr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088A506-8AE6-E7D4-5022-9E20786A4E03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42786"/>
            <a:ext cx="5484076" cy="75746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en-US"/>
              <a:t>HTTP PUT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5630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reate Implemented using HTTP POST, which creates the resource with the given URI. If the resource has already been created, an error is returned.…"/>
          <p:cNvSpPr txBox="1">
            <a:spLocks noGrp="1"/>
          </p:cNvSpPr>
          <p:nvPr>
            <p:ph type="body" idx="1"/>
          </p:nvPr>
        </p:nvSpPr>
        <p:spPr>
          <a:xfrm>
            <a:off x="947434" y="1539880"/>
            <a:ext cx="10395660" cy="5080073"/>
          </a:xfrm>
          <a:prstGeom prst="rect">
            <a:avLst/>
          </a:prstGeom>
        </p:spPr>
        <p:txBody>
          <a:bodyPr/>
          <a:lstStyle/>
          <a:p>
            <a:pPr defTabSz="386106">
              <a:spcBef>
                <a:spcPts val="1969"/>
              </a:spcBef>
              <a:defRPr sz="2256"/>
            </a:pPr>
            <a:r>
              <a:rPr b="1" i="1" dirty="0">
                <a:solidFill>
                  <a:schemeClr val="tx1"/>
                </a:solidFill>
              </a:rPr>
              <a:t>Create</a:t>
            </a:r>
            <a:endParaRPr lang="en-US" b="1" i="1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Implemented using HTTP POST, which creates </a:t>
            </a:r>
            <a:r>
              <a:rPr b="1" dirty="0">
                <a:solidFill>
                  <a:srgbClr val="00B050"/>
                </a:solidFill>
              </a:rPr>
              <a:t>the resource </a:t>
            </a:r>
            <a:r>
              <a:rPr dirty="0">
                <a:solidFill>
                  <a:schemeClr val="tx1"/>
                </a:solidFill>
              </a:rPr>
              <a:t>with the given </a:t>
            </a:r>
            <a:r>
              <a:rPr b="1" dirty="0">
                <a:solidFill>
                  <a:srgbClr val="00B050"/>
                </a:solidFill>
              </a:rPr>
              <a:t>URI</a:t>
            </a:r>
            <a:r>
              <a:rPr dirty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If the resource has already been created, </a:t>
            </a:r>
            <a:r>
              <a:rPr b="1" dirty="0">
                <a:solidFill>
                  <a:srgbClr val="FF0000"/>
                </a:solidFill>
              </a:rPr>
              <a:t>an error is returned</a:t>
            </a:r>
            <a:r>
              <a:rPr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HTTP POST creates a resource</a:t>
            </a:r>
            <a:endParaRPr lang="en-US" altLang="en-US" sz="2520" dirty="0">
              <a:solidFill>
                <a:schemeClr val="tx1"/>
              </a:solidFill>
            </a:endParaRP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POST </a:t>
            </a:r>
            <a:r>
              <a:rPr lang="en-US" altLang="en-US" sz="212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</a:t>
            </a:r>
            <a:r>
              <a:rPr lang="en-US" altLang="en-US" sz="2120" dirty="0">
                <a:solidFill>
                  <a:schemeClr val="tx1"/>
                </a:solidFill>
              </a:rPr>
              <a:t>  </a:t>
            </a:r>
          </a:p>
          <a:p>
            <a:pPr lvl="2"/>
            <a:r>
              <a:rPr lang="en-US" altLang="en-US" sz="1600" dirty="0">
                <a:solidFill>
                  <a:schemeClr val="tx1"/>
                </a:solidFill>
              </a:rPr>
              <a:t>Content: {title, authors[], …}</a:t>
            </a:r>
          </a:p>
          <a:p>
            <a:pPr lvl="2"/>
            <a:r>
              <a:rPr lang="en-US" altLang="en-US" sz="1600" dirty="0">
                <a:solidFill>
                  <a:schemeClr val="tx1"/>
                </a:solidFill>
              </a:rPr>
              <a:t>Creates a new book with given properties</a:t>
            </a:r>
          </a:p>
          <a:p>
            <a:pPr lvl="1" defTabSz="386106">
              <a:spcBef>
                <a:spcPts val="1969"/>
              </a:spcBef>
              <a:defRPr sz="2256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2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42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8AFAEB-BC36-5DC1-38A0-AF64E3A2482E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42786"/>
            <a:ext cx="5484076" cy="75746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en-US"/>
              <a:t>HTTP POST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4105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CEEC-F91D-0D0A-B8BD-BEA566A8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reate Implemented using HTTP POST, which creates the resource with the given URI. If the resource has already been created, an error is returned.…">
            <a:extLst>
              <a:ext uri="{FF2B5EF4-FFF2-40B4-BE49-F238E27FC236}">
                <a16:creationId xmlns:a16="http://schemas.microsoft.com/office/drawing/2014/main" id="{0D8F9653-E8E2-8630-B41F-DF7CAF18E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539880"/>
            <a:ext cx="10395660" cy="5080073"/>
          </a:xfrm>
          <a:prstGeom prst="rect">
            <a:avLst/>
          </a:prstGeom>
        </p:spPr>
        <p:txBody>
          <a:bodyPr/>
          <a:lstStyle/>
          <a:p>
            <a:pPr defTabSz="386106">
              <a:spcBef>
                <a:spcPts val="1969"/>
              </a:spcBef>
              <a:defRPr sz="2256"/>
            </a:pPr>
            <a:r>
              <a:rPr b="1" i="1" dirty="0">
                <a:solidFill>
                  <a:schemeClr val="tx1"/>
                </a:solidFill>
              </a:rPr>
              <a:t>Delete</a:t>
            </a:r>
            <a:endParaRPr lang="en-US" b="1" i="1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Implemented using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HTTP DELETE</a:t>
            </a:r>
            <a:r>
              <a:rPr dirty="0">
                <a:solidFill>
                  <a:schemeClr val="tx1"/>
                </a:solidFill>
              </a:rPr>
              <a:t>, which makes the resource </a:t>
            </a:r>
            <a:r>
              <a:rPr b="1" dirty="0">
                <a:solidFill>
                  <a:srgbClr val="FF0000"/>
                </a:solidFill>
              </a:rPr>
              <a:t>inaccessible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using the specified URI. </a:t>
            </a:r>
            <a:endParaRPr lang="en-US" dirty="0">
              <a:solidFill>
                <a:schemeClr val="tx1"/>
              </a:solidFill>
            </a:endParaRPr>
          </a:p>
          <a:p>
            <a:pPr lvl="1" defTabSz="386106">
              <a:spcBef>
                <a:spcPts val="1969"/>
              </a:spcBef>
              <a:defRPr sz="2256"/>
            </a:pPr>
            <a:r>
              <a:rPr dirty="0">
                <a:solidFill>
                  <a:schemeClr val="tx1"/>
                </a:solidFill>
              </a:rPr>
              <a:t>The resource </a:t>
            </a:r>
            <a:r>
              <a:rPr b="1" dirty="0">
                <a:solidFill>
                  <a:srgbClr val="FF0000"/>
                </a:solidFill>
              </a:rPr>
              <a:t>may or may not </a:t>
            </a:r>
            <a:r>
              <a:rPr dirty="0">
                <a:solidFill>
                  <a:schemeClr val="tx1"/>
                </a:solidFill>
              </a:rPr>
              <a:t>be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physically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deleted.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Removes the resource identified by the URI</a:t>
            </a:r>
            <a:endParaRPr lang="en-US" altLang="en-US" sz="2520" dirty="0">
              <a:solidFill>
                <a:schemeClr val="tx1"/>
              </a:solidFill>
            </a:endParaRPr>
          </a:p>
          <a:p>
            <a:pPr lvl="1"/>
            <a:r>
              <a:rPr lang="en-US" altLang="en-US" sz="2120" dirty="0">
                <a:solidFill>
                  <a:schemeClr val="tx1"/>
                </a:solidFill>
              </a:rPr>
              <a:t>DELETE </a:t>
            </a:r>
            <a:r>
              <a:rPr lang="en-US" altLang="en-US" sz="212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http://localhost/books/ISBN-0011</a:t>
            </a:r>
            <a:endParaRPr lang="en-US" altLang="en-US" sz="2120" dirty="0">
              <a:solidFill>
                <a:schemeClr val="tx1"/>
              </a:solidFill>
            </a:endParaRPr>
          </a:p>
          <a:p>
            <a:pPr lvl="2"/>
            <a:r>
              <a:rPr lang="en-US" altLang="en-US" sz="1960" dirty="0">
                <a:solidFill>
                  <a:schemeClr val="tx1"/>
                </a:solidFill>
              </a:rPr>
              <a:t>Delete book identified by ISBN-0011</a:t>
            </a:r>
          </a:p>
          <a:p>
            <a:pPr lvl="1" defTabSz="386106">
              <a:spcBef>
                <a:spcPts val="1969"/>
              </a:spcBef>
              <a:defRPr sz="2256"/>
            </a:pPr>
            <a:endParaRPr dirty="0">
              <a:solidFill>
                <a:schemeClr val="tx1"/>
              </a:solidFill>
            </a:endParaRPr>
          </a:p>
          <a:p>
            <a:pPr defTabSz="386106">
              <a:spcBef>
                <a:spcPts val="1969"/>
              </a:spcBef>
              <a:defRPr sz="2256"/>
            </a:pPr>
            <a:endParaRPr dirty="0"/>
          </a:p>
        </p:txBody>
      </p:sp>
      <p:sp>
        <p:nvSpPr>
          <p:cNvPr id="203" name="Slide Number">
            <a:extLst>
              <a:ext uri="{FF2B5EF4-FFF2-40B4-BE49-F238E27FC236}">
                <a16:creationId xmlns:a16="http://schemas.microsoft.com/office/drawing/2014/main" id="{BEB611D5-7975-F6E0-55AB-7262FFC97BF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43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D70B29-BAA2-5197-02D9-3051C2309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70494"/>
            <a:ext cx="3659235" cy="658503"/>
          </a:xfrm>
        </p:spPr>
        <p:txBody>
          <a:bodyPr/>
          <a:lstStyle/>
          <a:p>
            <a:r>
              <a:rPr lang="en-US" altLang="en-US" dirty="0"/>
              <a:t>HTTP DELETE</a:t>
            </a:r>
          </a:p>
        </p:txBody>
      </p:sp>
    </p:spTree>
    <p:extLst>
      <p:ext uri="{BB962C8B-B14F-4D97-AF65-F5344CB8AC3E}">
        <p14:creationId xmlns:p14="http://schemas.microsoft.com/office/powerpoint/2010/main" val="12101179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58" y="806721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Controllers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0863" y="0"/>
            <a:ext cx="8095678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CSEN160_10_PostgreSQL_JPA_SpringBoot_MicroServices_V1.0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C670F6-6C50-8595-44A8-8FE553157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1748221"/>
            <a:ext cx="11469701" cy="48107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0F30BF-E4FD-4AED-5349-90018F096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040" y="1016858"/>
            <a:ext cx="3019846" cy="2305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8551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60FC-6418-24DB-E653-D8B9EAE3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Use HTTP verbs The basic methods defined in the HTTP protocol (GET, PUT,  POST,  DELETE) must be used to access the operations made available by the service.…">
            <a:extLst>
              <a:ext uri="{FF2B5EF4-FFF2-40B4-BE49-F238E27FC236}">
                <a16:creationId xmlns:a16="http://schemas.microsoft.com/office/drawing/2014/main" id="{B9444CC4-96A2-7FA1-99BB-C2A15C486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7434" y="1657545"/>
            <a:ext cx="10342761" cy="4985080"/>
          </a:xfrm>
          <a:prstGeom prst="rect">
            <a:avLst/>
          </a:prstGeom>
        </p:spPr>
        <p:txBody>
          <a:bodyPr/>
          <a:lstStyle/>
          <a:p>
            <a:endParaRPr lang="en-US" b="1" i="1" dirty="0"/>
          </a:p>
          <a:p>
            <a:r>
              <a:rPr b="1" i="1" dirty="0">
                <a:solidFill>
                  <a:schemeClr val="tx1"/>
                </a:solidFill>
              </a:rPr>
              <a:t>URI addressable</a:t>
            </a:r>
            <a:endParaRPr lang="en-US" b="1" i="1" dirty="0">
              <a:solidFill>
                <a:schemeClr val="tx1"/>
              </a:solidFill>
            </a:endParaRPr>
          </a:p>
          <a:p>
            <a:pPr lvl="1"/>
            <a:r>
              <a:rPr b="1" dirty="0">
                <a:solidFill>
                  <a:srgbClr val="00B050"/>
                </a:solidFill>
              </a:rPr>
              <a:t>All resources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must have a URI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W</a:t>
            </a:r>
            <a:r>
              <a:rPr dirty="0">
                <a:solidFill>
                  <a:schemeClr val="tx1"/>
                </a:solidFill>
              </a:rPr>
              <a:t>ith a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hierarchical structure</a:t>
            </a:r>
            <a:r>
              <a:rPr dirty="0">
                <a:solidFill>
                  <a:schemeClr val="tx1"/>
                </a:solidFill>
              </a:rPr>
              <a:t>, that is used to access </a:t>
            </a:r>
            <a:r>
              <a:rPr b="1" dirty="0">
                <a:solidFill>
                  <a:schemeClr val="tx1"/>
                </a:solidFill>
              </a:rPr>
              <a:t>sub-resources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b="1" i="1" dirty="0">
              <a:solidFill>
                <a:schemeClr val="tx1"/>
              </a:solidFill>
            </a:endParaRPr>
          </a:p>
          <a:p>
            <a:r>
              <a:rPr b="1" i="1" dirty="0">
                <a:solidFill>
                  <a:schemeClr val="tx1"/>
                </a:solidFill>
              </a:rPr>
              <a:t>Use XML or JSON</a:t>
            </a:r>
            <a:endParaRPr lang="en-US" b="1" i="1"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Resources should normally be represented in </a:t>
            </a:r>
            <a:r>
              <a:rPr b="1" dirty="0">
                <a:solidFill>
                  <a:srgbClr val="00B050"/>
                </a:solidFill>
              </a:rPr>
              <a:t>JSON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or</a:t>
            </a:r>
            <a:r>
              <a:rPr dirty="0"/>
              <a:t> </a:t>
            </a:r>
            <a:r>
              <a:rPr b="1" dirty="0">
                <a:solidFill>
                  <a:srgbClr val="FF0000"/>
                </a:solidFill>
              </a:rPr>
              <a:t>XML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or both. 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b="1" dirty="0">
                <a:solidFill>
                  <a:srgbClr val="FF0000"/>
                </a:solidFill>
              </a:rPr>
              <a:t>Other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representations, such as </a:t>
            </a:r>
            <a:r>
              <a:rPr b="1" dirty="0">
                <a:solidFill>
                  <a:srgbClr val="00B050"/>
                </a:solidFill>
              </a:rPr>
              <a:t>audio</a:t>
            </a: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dirty="0"/>
              <a:t> </a:t>
            </a:r>
            <a:r>
              <a:rPr b="1" dirty="0">
                <a:solidFill>
                  <a:srgbClr val="00B050"/>
                </a:solidFill>
              </a:rPr>
              <a:t>video</a:t>
            </a:r>
            <a:r>
              <a:rPr dirty="0">
                <a:solidFill>
                  <a:schemeClr val="tx1"/>
                </a:solidFill>
              </a:rPr>
              <a:t>, may be used if appropriate.</a:t>
            </a:r>
          </a:p>
        </p:txBody>
      </p:sp>
      <p:sp>
        <p:nvSpPr>
          <p:cNvPr id="198" name="Table 6.4 RESTful service principles">
            <a:extLst>
              <a:ext uri="{FF2B5EF4-FFF2-40B4-BE49-F238E27FC236}">
                <a16:creationId xmlns:a16="http://schemas.microsoft.com/office/drawing/2014/main" id="{83F39E3A-714C-7069-DFBE-F6D0F9806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375323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RESTful service principles</a:t>
            </a:r>
          </a:p>
        </p:txBody>
      </p:sp>
      <p:sp>
        <p:nvSpPr>
          <p:cNvPr id="199" name="Slide Number">
            <a:extLst>
              <a:ext uri="{FF2B5EF4-FFF2-40B4-BE49-F238E27FC236}">
                <a16:creationId xmlns:a16="http://schemas.microsoft.com/office/drawing/2014/main" id="{83CED6D2-C03D-CD53-E91E-CD475A69C85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0139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C43DB9-957F-22C0-8622-FB6466E6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E93F9185-1302-912F-FDBA-0A0AB5406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34870"/>
            <a:ext cx="4003619" cy="650586"/>
          </a:xfrm>
        </p:spPr>
        <p:txBody>
          <a:bodyPr/>
          <a:lstStyle/>
          <a:p>
            <a:r>
              <a:rPr lang="en-US" altLang="en-US" dirty="0"/>
              <a:t>Representations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189B0546-949D-4C27-5997-9784A1F0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5" y="1562694"/>
            <a:ext cx="10440045" cy="50716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How data is represented or returned to the client for presentation.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Two main formats: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JavaScript Object Notation (JSON)</a:t>
            </a:r>
          </a:p>
          <a:p>
            <a:pPr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XML</a:t>
            </a:r>
          </a:p>
          <a:p>
            <a:pPr lvl="1">
              <a:lnSpc>
                <a:spcPct val="90000"/>
              </a:lnSpc>
            </a:pPr>
            <a:endParaRPr lang="en-US" altLang="en-US" sz="252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520" dirty="0">
                <a:solidFill>
                  <a:schemeClr val="tx1"/>
                </a:solidFill>
              </a:rPr>
              <a:t>It is common to have multiple representations of the same data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JSON…"/>
          <p:cNvSpPr txBox="1">
            <a:spLocks noGrp="1"/>
          </p:cNvSpPr>
          <p:nvPr>
            <p:ph type="body" idx="1"/>
          </p:nvPr>
        </p:nvSpPr>
        <p:spPr>
          <a:xfrm>
            <a:off x="947434" y="1657545"/>
            <a:ext cx="10388103" cy="4954852"/>
          </a:xfrm>
          <a:prstGeom prst="rect">
            <a:avLst/>
          </a:prstGeom>
        </p:spPr>
        <p:txBody>
          <a:bodyPr/>
          <a:lstStyle/>
          <a:p>
            <a:pPr>
              <a:defRPr b="1" i="1"/>
            </a:pPr>
            <a:r>
              <a:rPr dirty="0">
                <a:solidFill>
                  <a:schemeClr val="tx1"/>
                </a:solidFill>
              </a:rPr>
              <a:t>JSON</a:t>
            </a:r>
          </a:p>
          <a:p>
            <a:r>
              <a:rPr dirty="0">
                <a:solidFill>
                  <a:schemeClr val="tx1"/>
                </a:solidFill>
              </a:rPr>
              <a:t>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id: “A90N17061714391”,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“date”: “20170617”,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“time”: “1437”,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</a:t>
            </a:r>
            <a:r>
              <a:rPr dirty="0" err="1">
                <a:solidFill>
                  <a:schemeClr val="tx1"/>
                </a:solidFill>
              </a:rPr>
              <a:t>road_id</a:t>
            </a:r>
            <a:r>
              <a:rPr dirty="0">
                <a:solidFill>
                  <a:schemeClr val="tx1"/>
                </a:solidFill>
              </a:rPr>
              <a:t>”: “A90”,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“place”: “Stonehaven”,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“direction”: “north”,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“severity”: “significant”,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“description”: “Broken-down bus on north carriageway. One lane closed. Expect delays of up to 30 minutes.”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26" name="Table 6.7 XML and JSON descriptions"/>
          <p:cNvSpPr txBox="1">
            <a:spLocks noGrp="1"/>
          </p:cNvSpPr>
          <p:nvPr>
            <p:ph type="title"/>
          </p:nvPr>
        </p:nvSpPr>
        <p:spPr>
          <a:xfrm>
            <a:off x="947434" y="773033"/>
            <a:ext cx="6715389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XML and JSON descriptions</a:t>
            </a:r>
          </a:p>
        </p:txBody>
      </p:sp>
      <p:sp>
        <p:nvSpPr>
          <p:cNvPr id="2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C781FA-CC5E-8FF6-F784-356C923D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240642" name="Rectangle 2">
            <a:extLst>
              <a:ext uri="{FF2B5EF4-FFF2-40B4-BE49-F238E27FC236}">
                <a16:creationId xmlns:a16="http://schemas.microsoft.com/office/drawing/2014/main" id="{1AA74458-7115-58FE-BA8D-653D266BF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516" y="719036"/>
            <a:ext cx="3872990" cy="725796"/>
          </a:xfrm>
        </p:spPr>
        <p:txBody>
          <a:bodyPr/>
          <a:lstStyle/>
          <a:p>
            <a:r>
              <a:rPr lang="en-US" altLang="en-US" dirty="0"/>
              <a:t>Representations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51D76B3F-1CFA-ED19-A455-90655B2CC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516" y="1626030"/>
            <a:ext cx="5274504" cy="4584989"/>
          </a:xfrm>
        </p:spPr>
        <p:txBody>
          <a:bodyPr>
            <a:normAutofit/>
          </a:bodyPr>
          <a:lstStyle/>
          <a:p>
            <a:r>
              <a:rPr lang="en-US" altLang="en-US" sz="2520" dirty="0">
                <a:solidFill>
                  <a:schemeClr val="tx1"/>
                </a:solidFill>
              </a:rPr>
              <a:t>XML</a:t>
            </a:r>
          </a:p>
          <a:p>
            <a:endParaRPr lang="en-US" altLang="en-US" sz="1440" dirty="0">
              <a:solidFill>
                <a:schemeClr val="tx1"/>
              </a:solidFill>
            </a:endParaRPr>
          </a:p>
          <a:p>
            <a:pPr lvl="1"/>
            <a:r>
              <a:rPr lang="en-US" altLang="en-US" sz="1620" dirty="0">
                <a:solidFill>
                  <a:schemeClr val="tx1"/>
                </a:solidFill>
              </a:rPr>
              <a:t>&lt;COURSE&gt;</a:t>
            </a:r>
          </a:p>
          <a:p>
            <a:pPr lvl="2"/>
            <a:r>
              <a:rPr lang="en-US" altLang="en-US" sz="1620" dirty="0">
                <a:solidFill>
                  <a:schemeClr val="tx1"/>
                </a:solidFill>
              </a:rPr>
              <a:t>&lt;ID&gt;CS2650&lt;/ID&gt;</a:t>
            </a:r>
          </a:p>
          <a:p>
            <a:pPr lvl="2"/>
            <a:r>
              <a:rPr lang="en-US" altLang="en-US" sz="1620" dirty="0">
                <a:solidFill>
                  <a:schemeClr val="tx1"/>
                </a:solidFill>
              </a:rPr>
              <a:t>&lt;NAME&gt;Distributed Multimedia Software&lt;/NAME&gt;</a:t>
            </a:r>
          </a:p>
          <a:p>
            <a:pPr lvl="1"/>
            <a:r>
              <a:rPr lang="en-US" altLang="en-US" sz="1620" dirty="0">
                <a:solidFill>
                  <a:schemeClr val="tx1"/>
                </a:solidFill>
              </a:rPr>
              <a:t>&lt;/COURSE&gt;</a:t>
            </a:r>
          </a:p>
          <a:p>
            <a:pPr lvl="1"/>
            <a:endParaRPr lang="en-US" altLang="en-US" sz="1260" dirty="0">
              <a:solidFill>
                <a:schemeClr val="tx1"/>
              </a:solidFill>
            </a:endParaRPr>
          </a:p>
          <a:p>
            <a:r>
              <a:rPr lang="en-US" altLang="en-US" sz="2520" dirty="0">
                <a:solidFill>
                  <a:schemeClr val="tx1"/>
                </a:solidFill>
              </a:rPr>
              <a:t>JSON</a:t>
            </a:r>
          </a:p>
          <a:p>
            <a:endParaRPr lang="en-US" altLang="en-US" sz="2520" dirty="0">
              <a:solidFill>
                <a:schemeClr val="tx1"/>
              </a:solidFill>
            </a:endParaRPr>
          </a:p>
          <a:p>
            <a:pPr lvl="1"/>
            <a:r>
              <a:rPr lang="en-US" altLang="en-US" sz="1620" dirty="0">
                <a:solidFill>
                  <a:schemeClr val="tx1"/>
                </a:solidFill>
              </a:rPr>
              <a:t>{course</a:t>
            </a:r>
          </a:p>
          <a:p>
            <a:pPr lvl="2"/>
            <a:r>
              <a:rPr lang="en-US" altLang="en-US" sz="1620" dirty="0">
                <a:solidFill>
                  <a:schemeClr val="tx1"/>
                </a:solidFill>
              </a:rPr>
              <a:t>{id: CS2650}</a:t>
            </a:r>
          </a:p>
          <a:p>
            <a:pPr lvl="2"/>
            <a:r>
              <a:rPr lang="en-US" altLang="en-US" sz="1620" dirty="0">
                <a:solidFill>
                  <a:schemeClr val="tx1"/>
                </a:solidFill>
              </a:rPr>
              <a:t>{name: Distributed Multimedia </a:t>
            </a:r>
            <a:r>
              <a:rPr lang="en-US" altLang="en-US" sz="1620" dirty="0" err="1">
                <a:solidFill>
                  <a:schemeClr val="tx1"/>
                </a:solidFill>
              </a:rPr>
              <a:t>Sofware</a:t>
            </a:r>
            <a:r>
              <a:rPr lang="en-US" altLang="en-US" sz="1620" dirty="0">
                <a:solidFill>
                  <a:schemeClr val="tx1"/>
                </a:solidFill>
              </a:rPr>
              <a:t>}</a:t>
            </a:r>
          </a:p>
          <a:p>
            <a:pPr lvl="1"/>
            <a:r>
              <a:rPr lang="en-US" altLang="en-US" sz="162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XML…"/>
          <p:cNvSpPr txBox="1">
            <a:spLocks noGrp="1"/>
          </p:cNvSpPr>
          <p:nvPr>
            <p:ph type="body" idx="1"/>
          </p:nvPr>
        </p:nvSpPr>
        <p:spPr>
          <a:xfrm>
            <a:off x="947434" y="1536633"/>
            <a:ext cx="10388103" cy="5075764"/>
          </a:xfrm>
          <a:prstGeom prst="rect">
            <a:avLst/>
          </a:prstGeom>
        </p:spPr>
        <p:txBody>
          <a:bodyPr/>
          <a:lstStyle/>
          <a:p>
            <a:pPr>
              <a:defRPr b="1" i="1"/>
            </a:pPr>
            <a:r>
              <a:rPr dirty="0">
                <a:solidFill>
                  <a:schemeClr val="tx1"/>
                </a:solidFill>
              </a:rPr>
              <a:t>XML</a:t>
            </a:r>
          </a:p>
          <a:p>
            <a:r>
              <a:rPr dirty="0">
                <a:solidFill>
                  <a:schemeClr val="tx1"/>
                </a:solidFill>
              </a:rPr>
              <a:t>&lt;id&gt;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dirty="0">
                <a:solidFill>
                  <a:schemeClr val="tx1"/>
                </a:solidFill>
              </a:rPr>
              <a:t>A90N17061714391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&lt;/id&gt;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&lt;date&gt;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dirty="0">
                <a:solidFill>
                  <a:schemeClr val="tx1"/>
                </a:solidFill>
              </a:rPr>
              <a:t>20170617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&lt;/date&gt;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&lt;time&gt;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dirty="0">
                <a:solidFill>
                  <a:schemeClr val="tx1"/>
                </a:solidFill>
              </a:rPr>
              <a:t>1437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&lt;/time&gt;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…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&lt;description&gt;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dirty="0">
                <a:solidFill>
                  <a:schemeClr val="tx1"/>
                </a:solidFill>
              </a:rPr>
              <a:t>Broken-down bus on north carriageway. Expect delays of up to 30 minutes.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&lt;/description&gt;</a:t>
            </a:r>
          </a:p>
        </p:txBody>
      </p:sp>
      <p:sp>
        <p:nvSpPr>
          <p:cNvPr id="230" name="Table 6.7 XML and JSON descriptions"/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564249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XML and JSON descriptions</a:t>
            </a:r>
          </a:p>
        </p:txBody>
      </p:sp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3931-C85B-AB2A-B0FF-923832A6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able 6.7 XML and JSON descriptions">
            <a:extLst>
              <a:ext uri="{FF2B5EF4-FFF2-40B4-BE49-F238E27FC236}">
                <a16:creationId xmlns:a16="http://schemas.microsoft.com/office/drawing/2014/main" id="{F7BD1DC1-8B76-4483-3965-4F6DBA8C3D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564249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XML and JSON descriptions</a:t>
            </a:r>
          </a:p>
        </p:txBody>
      </p:sp>
      <p:sp>
        <p:nvSpPr>
          <p:cNvPr id="231" name="Slide Number">
            <a:extLst>
              <a:ext uri="{FF2B5EF4-FFF2-40B4-BE49-F238E27FC236}">
                <a16:creationId xmlns:a16="http://schemas.microsoft.com/office/drawing/2014/main" id="{E3CD08E2-E677-38AE-F195-08177CFC883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50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488E7-C343-0643-9FF1-C96855F4D7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8" b="26204"/>
          <a:stretch/>
        </p:blipFill>
        <p:spPr>
          <a:xfrm>
            <a:off x="2407110" y="1341976"/>
            <a:ext cx="6282669" cy="5379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24F312-C239-9930-2AF2-2BD88C2B1A15}"/>
              </a:ext>
            </a:extLst>
          </p:cNvPr>
          <p:cNvSpPr txBox="1"/>
          <p:nvPr/>
        </p:nvSpPr>
        <p:spPr>
          <a:xfrm>
            <a:off x="5923879" y="6352229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Ian Sommerville</a:t>
            </a:r>
          </a:p>
        </p:txBody>
      </p:sp>
    </p:spTree>
    <p:extLst>
      <p:ext uri="{BB962C8B-B14F-4D97-AF65-F5344CB8AC3E}">
        <p14:creationId xmlns:p14="http://schemas.microsoft.com/office/powerpoint/2010/main" val="3949359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0BBE-9A3D-AA47-FD34-9EF188C1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able 6.7 XML and JSON descriptions">
            <a:extLst>
              <a:ext uri="{FF2B5EF4-FFF2-40B4-BE49-F238E27FC236}">
                <a16:creationId xmlns:a16="http://schemas.microsoft.com/office/drawing/2014/main" id="{D1108DD2-711D-672B-B5D6-DE0DE868E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434" y="766167"/>
            <a:ext cx="6564249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Postman</a:t>
            </a:r>
            <a:endParaRPr dirty="0"/>
          </a:p>
        </p:txBody>
      </p:sp>
      <p:sp>
        <p:nvSpPr>
          <p:cNvPr id="231" name="Slide Number">
            <a:extLst>
              <a:ext uri="{FF2B5EF4-FFF2-40B4-BE49-F238E27FC236}">
                <a16:creationId xmlns:a16="http://schemas.microsoft.com/office/drawing/2014/main" id="{35C22106-740B-96DE-0EAF-BB5F4FE4CAE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08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fld id="{86CB4B4D-7CA3-9044-876B-883B54F8677D}" type="slidenum">
              <a:rPr lang="en-US" smtClean="0"/>
              <a:pPr/>
              <a:t>51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CBC88-E390-CDCE-6E82-393D190DB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772" y="766167"/>
            <a:ext cx="7073687" cy="58589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5419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97F6CFF-AF64-93B0-36C3-022F76D8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D00F9422-C260-2205-DD4E-DD17746CE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0223" y="756088"/>
            <a:ext cx="9357560" cy="804108"/>
          </a:xfrm>
        </p:spPr>
        <p:txBody>
          <a:bodyPr/>
          <a:lstStyle/>
          <a:p>
            <a:r>
              <a:rPr lang="en-US" altLang="en-US" dirty="0"/>
              <a:t>Why: "Representational State Transfer"?</a:t>
            </a:r>
          </a:p>
        </p:txBody>
      </p:sp>
      <p:sp>
        <p:nvSpPr>
          <p:cNvPr id="99331" name="Oval 3">
            <a:extLst>
              <a:ext uri="{FF2B5EF4-FFF2-40B4-BE49-F238E27FC236}">
                <a16:creationId xmlns:a16="http://schemas.microsoft.com/office/drawing/2014/main" id="{AA9C4167-DFBD-2C2B-672F-BB6E908A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504" y="1328821"/>
            <a:ext cx="1558766" cy="14716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9" tIns="45719" rIns="91439" bIns="45719" anchor="ctr"/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/>
            <a:r>
              <a:rPr lang="en-US" altLang="en-US" sz="1800"/>
              <a:t>Resource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88BBE02F-9184-BF23-E64E-25F4E5BFD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88" y="1571709"/>
            <a:ext cx="1284447" cy="10258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9" tIns="45719" rIns="91439" bIns="45719" anchor="ctr"/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/>
            <a:r>
              <a:rPr lang="en-US" altLang="en-US" sz="1800"/>
              <a:t>Client</a:t>
            </a:r>
          </a:p>
        </p:txBody>
      </p:sp>
      <p:sp>
        <p:nvSpPr>
          <p:cNvPr id="99333" name="Line 5">
            <a:extLst>
              <a:ext uri="{FF2B5EF4-FFF2-40B4-BE49-F238E27FC236}">
                <a16:creationId xmlns:a16="http://schemas.microsoft.com/office/drawing/2014/main" id="{25DAF787-14D4-4B4A-ADB5-409152EBC0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5735" y="2018907"/>
            <a:ext cx="3796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34" name="Text Box 6">
            <a:extLst>
              <a:ext uri="{FF2B5EF4-FFF2-40B4-BE49-F238E27FC236}">
                <a16:creationId xmlns:a16="http://schemas.microsoft.com/office/drawing/2014/main" id="{6406A5A4-08D3-4A03-F434-9E904952F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464" y="1667435"/>
            <a:ext cx="3503906" cy="36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9" tIns="45719" rIns="91439" bIns="45719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800"/>
              <a:t>http://www.boeing.com/aircraft/747</a:t>
            </a:r>
          </a:p>
        </p:txBody>
      </p:sp>
      <p:sp>
        <p:nvSpPr>
          <p:cNvPr id="99335" name="Line 7">
            <a:extLst>
              <a:ext uri="{FF2B5EF4-FFF2-40B4-BE49-F238E27FC236}">
                <a16:creationId xmlns:a16="http://schemas.microsoft.com/office/drawing/2014/main" id="{03635C90-64FC-6691-EF4C-ABF4ADB153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5738" y="2178927"/>
            <a:ext cx="38233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36" name="Line 8">
            <a:extLst>
              <a:ext uri="{FF2B5EF4-FFF2-40B4-BE49-F238E27FC236}">
                <a16:creationId xmlns:a16="http://schemas.microsoft.com/office/drawing/2014/main" id="{916E9D9C-2AC3-A4AA-D7AC-7C57F934C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7289" y="2210360"/>
            <a:ext cx="0" cy="1037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37" name="Line 9">
            <a:extLst>
              <a:ext uri="{FF2B5EF4-FFF2-40B4-BE49-F238E27FC236}">
                <a16:creationId xmlns:a16="http://schemas.microsoft.com/office/drawing/2014/main" id="{44DBB16E-5CCA-3375-5330-32690D02B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224" y="2361807"/>
            <a:ext cx="0" cy="10387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38" name="Text Box 10">
            <a:extLst>
              <a:ext uri="{FF2B5EF4-FFF2-40B4-BE49-F238E27FC236}">
                <a16:creationId xmlns:a16="http://schemas.microsoft.com/office/drawing/2014/main" id="{82885AC2-A442-54F4-9525-5F0341B94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145" y="3399080"/>
            <a:ext cx="1678663" cy="36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9" tIns="45719" rIns="91439" bIns="45719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800"/>
              <a:t>Boeing747.html</a:t>
            </a:r>
          </a:p>
        </p:txBody>
      </p:sp>
      <p:sp>
        <p:nvSpPr>
          <p:cNvPr id="99339" name="Freeform 11">
            <a:extLst>
              <a:ext uri="{FF2B5EF4-FFF2-40B4-BE49-F238E27FC236}">
                <a16:creationId xmlns:a16="http://schemas.microsoft.com/office/drawing/2014/main" id="{EF8D159D-EFB7-84F2-CFCC-7E747B652D1C}"/>
              </a:ext>
            </a:extLst>
          </p:cNvPr>
          <p:cNvSpPr>
            <a:spLocks/>
          </p:cNvSpPr>
          <p:nvPr/>
        </p:nvSpPr>
        <p:spPr bwMode="auto">
          <a:xfrm>
            <a:off x="4870133" y="2174642"/>
            <a:ext cx="1851660" cy="252888"/>
          </a:xfrm>
          <a:custGeom>
            <a:avLst/>
            <a:gdLst>
              <a:gd name="T0" fmla="*/ 76 w 1166"/>
              <a:gd name="T1" fmla="*/ 22 h 159"/>
              <a:gd name="T2" fmla="*/ 148 w 1166"/>
              <a:gd name="T3" fmla="*/ 49 h 159"/>
              <a:gd name="T4" fmla="*/ 312 w 1166"/>
              <a:gd name="T5" fmla="*/ 76 h 159"/>
              <a:gd name="T6" fmla="*/ 376 w 1166"/>
              <a:gd name="T7" fmla="*/ 67 h 159"/>
              <a:gd name="T8" fmla="*/ 385 w 1166"/>
              <a:gd name="T9" fmla="*/ 94 h 159"/>
              <a:gd name="T10" fmla="*/ 467 w 1166"/>
              <a:gd name="T11" fmla="*/ 113 h 159"/>
              <a:gd name="T12" fmla="*/ 603 w 1166"/>
              <a:gd name="T13" fmla="*/ 149 h 159"/>
              <a:gd name="T14" fmla="*/ 821 w 1166"/>
              <a:gd name="T15" fmla="*/ 122 h 159"/>
              <a:gd name="T16" fmla="*/ 1103 w 1166"/>
              <a:gd name="T17" fmla="*/ 149 h 159"/>
              <a:gd name="T18" fmla="*/ 1166 w 1166"/>
              <a:gd name="T19" fmla="*/ 131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66" h="159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40" name="Freeform 12">
            <a:extLst>
              <a:ext uri="{FF2B5EF4-FFF2-40B4-BE49-F238E27FC236}">
                <a16:creationId xmlns:a16="http://schemas.microsoft.com/office/drawing/2014/main" id="{3B4BBD41-2456-F8D8-2087-FB76E142B63D}"/>
              </a:ext>
            </a:extLst>
          </p:cNvPr>
          <p:cNvSpPr>
            <a:spLocks/>
          </p:cNvSpPr>
          <p:nvPr/>
        </p:nvSpPr>
        <p:spPr bwMode="auto">
          <a:xfrm>
            <a:off x="4864418" y="3207627"/>
            <a:ext cx="1850232" cy="251460"/>
          </a:xfrm>
          <a:custGeom>
            <a:avLst/>
            <a:gdLst>
              <a:gd name="T0" fmla="*/ 76 w 1166"/>
              <a:gd name="T1" fmla="*/ 22 h 159"/>
              <a:gd name="T2" fmla="*/ 148 w 1166"/>
              <a:gd name="T3" fmla="*/ 49 h 159"/>
              <a:gd name="T4" fmla="*/ 312 w 1166"/>
              <a:gd name="T5" fmla="*/ 76 h 159"/>
              <a:gd name="T6" fmla="*/ 376 w 1166"/>
              <a:gd name="T7" fmla="*/ 67 h 159"/>
              <a:gd name="T8" fmla="*/ 385 w 1166"/>
              <a:gd name="T9" fmla="*/ 94 h 159"/>
              <a:gd name="T10" fmla="*/ 467 w 1166"/>
              <a:gd name="T11" fmla="*/ 113 h 159"/>
              <a:gd name="T12" fmla="*/ 603 w 1166"/>
              <a:gd name="T13" fmla="*/ 149 h 159"/>
              <a:gd name="T14" fmla="*/ 821 w 1166"/>
              <a:gd name="T15" fmla="*/ 122 h 159"/>
              <a:gd name="T16" fmla="*/ 1103 w 1166"/>
              <a:gd name="T17" fmla="*/ 149 h 159"/>
              <a:gd name="T18" fmla="*/ 1166 w 1166"/>
              <a:gd name="T19" fmla="*/ 131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66" h="159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99341" name="Text Box 13">
            <a:extLst>
              <a:ext uri="{FF2B5EF4-FFF2-40B4-BE49-F238E27FC236}">
                <a16:creationId xmlns:a16="http://schemas.microsoft.com/office/drawing/2014/main" id="{AD087DC6-46EA-720B-C221-48E3A6386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090" y="3984867"/>
            <a:ext cx="7829550" cy="20867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9" tIns="45719" rIns="91439" bIns="45719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 dirty="0"/>
              <a:t>The Client references a Web</a:t>
            </a:r>
            <a:r>
              <a:rPr lang="en-US" altLang="en-US" sz="1440" b="1" dirty="0"/>
              <a:t> </a:t>
            </a:r>
            <a:r>
              <a:rPr lang="en-US" altLang="en-US" sz="1440" dirty="0"/>
              <a:t>resource using a URL.  </a:t>
            </a:r>
          </a:p>
          <a:p>
            <a:pPr eaLnBrk="0" hangingPunct="0"/>
            <a:br>
              <a:rPr lang="en-US" altLang="en-US" sz="1440" dirty="0"/>
            </a:br>
            <a:r>
              <a:rPr lang="en-US" altLang="en-US" sz="1440" dirty="0"/>
              <a:t>A </a:t>
            </a:r>
            <a:r>
              <a:rPr lang="en-US" altLang="en-US" sz="1440" b="1" dirty="0"/>
              <a:t>representation</a:t>
            </a:r>
            <a:r>
              <a:rPr lang="en-US" altLang="en-US" sz="1440" dirty="0"/>
              <a:t> of the resource is returned (in this case as an HTML document).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 altLang="en-US" sz="1440" dirty="0"/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sz="1440" dirty="0"/>
              <a:t>The representation (e.g., Boeing747.html) places the client application in a </a:t>
            </a:r>
            <a:r>
              <a:rPr lang="en-US" altLang="en-US" sz="1440" b="1" dirty="0"/>
              <a:t>state</a:t>
            </a:r>
            <a:r>
              <a:rPr lang="en-US" altLang="en-US" sz="1440" dirty="0"/>
              <a:t>. 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sz="1440" dirty="0"/>
              <a:t>The result of the client traversing a hyperlink in Boeing747.html is another resource accessed. 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sz="1440" dirty="0"/>
              <a:t>The new representation places the client application into yet another state.  </a:t>
            </a: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sz="1440" dirty="0"/>
              <a:t>Thus, the client application changes (</a:t>
            </a:r>
            <a:r>
              <a:rPr lang="en-US" altLang="en-US" sz="1440" b="1" dirty="0"/>
              <a:t>transfer</a:t>
            </a:r>
            <a:r>
              <a:rPr lang="en-US" altLang="en-US" sz="1440" dirty="0"/>
              <a:t>s) state with each resource representation --&gt; Representation State Transfer!</a:t>
            </a:r>
          </a:p>
        </p:txBody>
      </p:sp>
      <p:sp>
        <p:nvSpPr>
          <p:cNvPr id="99342" name="Text Box 14">
            <a:extLst>
              <a:ext uri="{FF2B5EF4-FFF2-40B4-BE49-F238E27FC236}">
                <a16:creationId xmlns:a16="http://schemas.microsoft.com/office/drawing/2014/main" id="{AE6FD8EA-E259-7CEE-E9B7-32D03A1F2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721" y="2501825"/>
            <a:ext cx="1832551" cy="757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9" tIns="45719" rIns="91439" bIns="45719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 u="sng">
                <a:solidFill>
                  <a:schemeClr val="accent2"/>
                </a:solidFill>
              </a:rPr>
              <a:t>Fuel requirements</a:t>
            </a:r>
          </a:p>
          <a:p>
            <a:pPr eaLnBrk="0" hangingPunct="0"/>
            <a:r>
              <a:rPr lang="en-US" altLang="en-US" sz="1440" u="sng">
                <a:solidFill>
                  <a:schemeClr val="accent2"/>
                </a:solidFill>
              </a:rPr>
              <a:t>Maintenance schedule</a:t>
            </a:r>
            <a:endParaRPr lang="en-US" altLang="en-US" sz="1440"/>
          </a:p>
          <a:p>
            <a:pPr eaLnBrk="0" hangingPunct="0"/>
            <a:r>
              <a:rPr lang="en-US" altLang="en-US" sz="1440"/>
              <a:t>...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D4EAF62-B2B5-3C51-AE68-9DB5EB71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6BE5A5E-E3E4-D1C9-C8AE-2E2F71BDD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7179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7" rIns="91437" bIns="45717" anchor="ctr"/>
          <a:lstStyle>
            <a:lvl1pPr defTabSz="1016000"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1016000"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1016000"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1016000"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1016000"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defTabSz="10160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defTabSz="10160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defTabSz="10160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defTabSz="10160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D1D7C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3600"/>
          </a:p>
        </p:txBody>
      </p:sp>
      <p:grpSp>
        <p:nvGrpSpPr>
          <p:cNvPr id="18435" name="Group 3">
            <a:extLst>
              <a:ext uri="{FF2B5EF4-FFF2-40B4-BE49-F238E27FC236}">
                <a16:creationId xmlns:a16="http://schemas.microsoft.com/office/drawing/2014/main" id="{CD49E9B1-A9D4-C092-BABB-98716B5FC949}"/>
              </a:ext>
            </a:extLst>
          </p:cNvPr>
          <p:cNvGrpSpPr>
            <a:grpSpLocks/>
          </p:cNvGrpSpPr>
          <p:nvPr/>
        </p:nvGrpSpPr>
        <p:grpSpPr bwMode="auto">
          <a:xfrm>
            <a:off x="2598420" y="1920240"/>
            <a:ext cx="897255" cy="407194"/>
            <a:chOff x="363" y="1476"/>
            <a:chExt cx="477" cy="257"/>
          </a:xfrm>
        </p:grpSpPr>
        <p:sp>
          <p:nvSpPr>
            <p:cNvPr id="18436" name="Rectangle 4">
              <a:extLst>
                <a:ext uri="{FF2B5EF4-FFF2-40B4-BE49-F238E27FC236}">
                  <a16:creationId xmlns:a16="http://schemas.microsoft.com/office/drawing/2014/main" id="{91F9CD57-7BA6-7025-2B52-CC8FFADDC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437" name="Text Box 5">
              <a:extLst>
                <a:ext uri="{FF2B5EF4-FFF2-40B4-BE49-F238E27FC236}">
                  <a16:creationId xmlns:a16="http://schemas.microsoft.com/office/drawing/2014/main" id="{2AFAFE85-8C96-68FC-7021-248057CD0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" y="1478"/>
              <a:ext cx="47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Request</a:t>
              </a:r>
            </a:p>
            <a:p>
              <a:pPr algn="ctr" eaLnBrk="0" hangingPunct="0"/>
              <a:r>
                <a:rPr lang="en-US" altLang="en-US" sz="990"/>
                <a:t>(XML doc)</a:t>
              </a:r>
              <a:endParaRPr lang="en-US" altLang="en-US" sz="1980"/>
            </a:p>
          </p:txBody>
        </p:sp>
      </p:grpSp>
      <p:sp>
        <p:nvSpPr>
          <p:cNvPr id="18445" name="Line 13">
            <a:extLst>
              <a:ext uri="{FF2B5EF4-FFF2-40B4-BE49-F238E27FC236}">
                <a16:creationId xmlns:a16="http://schemas.microsoft.com/office/drawing/2014/main" id="{20DE2128-70E0-9FAE-FF7D-AED4782C9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7495" y="2288858"/>
            <a:ext cx="104155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B465520B-7561-9232-A362-5CF0B20FD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210" y="2668905"/>
            <a:ext cx="104155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grpSp>
        <p:nvGrpSpPr>
          <p:cNvPr id="18466" name="Group 34">
            <a:extLst>
              <a:ext uri="{FF2B5EF4-FFF2-40B4-BE49-F238E27FC236}">
                <a16:creationId xmlns:a16="http://schemas.microsoft.com/office/drawing/2014/main" id="{5F07C5AD-EF47-AEFE-FF37-61398BC1248A}"/>
              </a:ext>
            </a:extLst>
          </p:cNvPr>
          <p:cNvGrpSpPr>
            <a:grpSpLocks/>
          </p:cNvGrpSpPr>
          <p:nvPr/>
        </p:nvGrpSpPr>
        <p:grpSpPr bwMode="auto">
          <a:xfrm>
            <a:off x="2653258" y="2537460"/>
            <a:ext cx="787581" cy="408623"/>
            <a:chOff x="392" y="1476"/>
            <a:chExt cx="421" cy="257"/>
          </a:xfrm>
        </p:grpSpPr>
        <p:sp>
          <p:nvSpPr>
            <p:cNvPr id="18467" name="Rectangle 35">
              <a:extLst>
                <a:ext uri="{FF2B5EF4-FFF2-40B4-BE49-F238E27FC236}">
                  <a16:creationId xmlns:a16="http://schemas.microsoft.com/office/drawing/2014/main" id="{A50D3E31-BECE-4B8D-AE5C-874370674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468" name="Text Box 36">
              <a:extLst>
                <a:ext uri="{FF2B5EF4-FFF2-40B4-BE49-F238E27FC236}">
                  <a16:creationId xmlns:a16="http://schemas.microsoft.com/office/drawing/2014/main" id="{6932E7BF-7592-9771-AA83-F709E431D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" y="1478"/>
              <a:ext cx="4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Response</a:t>
              </a:r>
            </a:p>
            <a:p>
              <a:pPr algn="ctr" eaLnBrk="0" hangingPunct="0"/>
              <a:r>
                <a:rPr lang="en-US" altLang="en-US" sz="990"/>
                <a:t>(</a:t>
              </a:r>
              <a:r>
                <a:rPr lang="en-US" altLang="en-US" sz="990" b="1"/>
                <a:t>XML doc</a:t>
              </a:r>
              <a:r>
                <a:rPr lang="en-US" altLang="en-US" sz="990"/>
                <a:t>)</a:t>
              </a:r>
              <a:endParaRPr lang="en-US" altLang="en-US" sz="1980"/>
            </a:p>
          </p:txBody>
        </p:sp>
      </p:grpSp>
      <p:grpSp>
        <p:nvGrpSpPr>
          <p:cNvPr id="18469" name="Group 37">
            <a:extLst>
              <a:ext uri="{FF2B5EF4-FFF2-40B4-BE49-F238E27FC236}">
                <a16:creationId xmlns:a16="http://schemas.microsoft.com/office/drawing/2014/main" id="{D140A2A6-6FFC-397F-E3EC-954CE7A8ACDE}"/>
              </a:ext>
            </a:extLst>
          </p:cNvPr>
          <p:cNvGrpSpPr>
            <a:grpSpLocks/>
          </p:cNvGrpSpPr>
          <p:nvPr/>
        </p:nvGrpSpPr>
        <p:grpSpPr bwMode="auto">
          <a:xfrm>
            <a:off x="5857399" y="1975962"/>
            <a:ext cx="758666" cy="3777615"/>
            <a:chOff x="2778" y="1755"/>
            <a:chExt cx="478" cy="1156"/>
          </a:xfrm>
        </p:grpSpPr>
        <p:sp>
          <p:nvSpPr>
            <p:cNvPr id="18470" name="Rectangle 38">
              <a:extLst>
                <a:ext uri="{FF2B5EF4-FFF2-40B4-BE49-F238E27FC236}">
                  <a16:creationId xmlns:a16="http://schemas.microsoft.com/office/drawing/2014/main" id="{F9C99EC7-8060-763E-A42E-DAB07ECCE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755"/>
              <a:ext cx="478" cy="11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471" name="Text Box 39">
              <a:extLst>
                <a:ext uri="{FF2B5EF4-FFF2-40B4-BE49-F238E27FC236}">
                  <a16:creationId xmlns:a16="http://schemas.microsoft.com/office/drawing/2014/main" id="{964FB0D8-4B57-65C7-4E6E-D7C0E265A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97" y="2221"/>
              <a:ext cx="7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hangingPunct="0"/>
              <a:r>
                <a:rPr lang="en-US" altLang="en-US" sz="1980"/>
                <a:t>        Web/Proxy Server</a:t>
              </a:r>
            </a:p>
          </p:txBody>
        </p:sp>
      </p:grpSp>
      <p:grpSp>
        <p:nvGrpSpPr>
          <p:cNvPr id="18472" name="Group 40">
            <a:extLst>
              <a:ext uri="{FF2B5EF4-FFF2-40B4-BE49-F238E27FC236}">
                <a16:creationId xmlns:a16="http://schemas.microsoft.com/office/drawing/2014/main" id="{1AF0778E-A731-5234-E49C-F271569DF79F}"/>
              </a:ext>
            </a:extLst>
          </p:cNvPr>
          <p:cNvGrpSpPr>
            <a:grpSpLocks/>
          </p:cNvGrpSpPr>
          <p:nvPr/>
        </p:nvGrpSpPr>
        <p:grpSpPr bwMode="auto">
          <a:xfrm>
            <a:off x="7673340" y="2004537"/>
            <a:ext cx="1678782" cy="3739038"/>
            <a:chOff x="3634" y="2055"/>
            <a:chExt cx="1056" cy="489"/>
          </a:xfrm>
        </p:grpSpPr>
        <p:sp>
          <p:nvSpPr>
            <p:cNvPr id="18473" name="Rectangle 41">
              <a:extLst>
                <a:ext uri="{FF2B5EF4-FFF2-40B4-BE49-F238E27FC236}">
                  <a16:creationId xmlns:a16="http://schemas.microsoft.com/office/drawing/2014/main" id="{7E5A5F58-7442-4A83-6DFC-B92E2447A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055"/>
              <a:ext cx="1056" cy="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474" name="Text Box 42">
              <a:extLst>
                <a:ext uri="{FF2B5EF4-FFF2-40B4-BE49-F238E27FC236}">
                  <a16:creationId xmlns:a16="http://schemas.microsoft.com/office/drawing/2014/main" id="{1A514F2D-789B-A8D5-239E-E7C535AA4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" y="2136"/>
              <a:ext cx="116" cy="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endParaRPr lang="en-US" altLang="en-US" sz="1980"/>
            </a:p>
          </p:txBody>
        </p:sp>
      </p:grpSp>
      <p:sp>
        <p:nvSpPr>
          <p:cNvPr id="18476" name="Text Box 44">
            <a:extLst>
              <a:ext uri="{FF2B5EF4-FFF2-40B4-BE49-F238E27FC236}">
                <a16:creationId xmlns:a16="http://schemas.microsoft.com/office/drawing/2014/main" id="{0808852F-3EA3-E459-CFBE-9006781DF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960" y="1955959"/>
            <a:ext cx="888379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GET</a:t>
            </a:r>
          </a:p>
        </p:txBody>
      </p:sp>
      <p:sp>
        <p:nvSpPr>
          <p:cNvPr id="18479" name="Text Box 47">
            <a:extLst>
              <a:ext uri="{FF2B5EF4-FFF2-40B4-BE49-F238E27FC236}">
                <a16:creationId xmlns:a16="http://schemas.microsoft.com/office/drawing/2014/main" id="{23506543-3276-4032-D4ED-37455C119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5816" y="2068830"/>
            <a:ext cx="685951" cy="313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URL 1</a:t>
            </a:r>
          </a:p>
        </p:txBody>
      </p:sp>
      <p:sp>
        <p:nvSpPr>
          <p:cNvPr id="18480" name="Line 48">
            <a:extLst>
              <a:ext uri="{FF2B5EF4-FFF2-40B4-BE49-F238E27FC236}">
                <a16:creationId xmlns:a16="http://schemas.microsoft.com/office/drawing/2014/main" id="{6A235B24-2324-1A8A-1408-1A1EB44DB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1617" y="2228850"/>
            <a:ext cx="55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481" name="Text Box 49">
            <a:extLst>
              <a:ext uri="{FF2B5EF4-FFF2-40B4-BE49-F238E27FC236}">
                <a16:creationId xmlns:a16="http://schemas.microsoft.com/office/drawing/2014/main" id="{29D76FB1-4980-8880-E4CF-9B9CEE55F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255" y="2577465"/>
            <a:ext cx="1172110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Response</a:t>
            </a:r>
          </a:p>
        </p:txBody>
      </p:sp>
      <p:sp>
        <p:nvSpPr>
          <p:cNvPr id="18482" name="Line 50">
            <a:extLst>
              <a:ext uri="{FF2B5EF4-FFF2-40B4-BE49-F238E27FC236}">
                <a16:creationId xmlns:a16="http://schemas.microsoft.com/office/drawing/2014/main" id="{0B4B3A46-57A6-B50B-B994-C13A3D3FF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125" y="2268855"/>
            <a:ext cx="2128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483" name="Rectangle 51">
            <a:extLst>
              <a:ext uri="{FF2B5EF4-FFF2-40B4-BE49-F238E27FC236}">
                <a16:creationId xmlns:a16="http://schemas.microsoft.com/office/drawing/2014/main" id="{66893379-315C-CC6C-8F1C-029155CAB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3572" y="2097405"/>
            <a:ext cx="758535" cy="31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doGet()</a:t>
            </a:r>
          </a:p>
        </p:txBody>
      </p:sp>
      <p:grpSp>
        <p:nvGrpSpPr>
          <p:cNvPr id="18484" name="Group 52">
            <a:extLst>
              <a:ext uri="{FF2B5EF4-FFF2-40B4-BE49-F238E27FC236}">
                <a16:creationId xmlns:a16="http://schemas.microsoft.com/office/drawing/2014/main" id="{6751F735-2812-117A-E6C3-1B0C402F0A1D}"/>
              </a:ext>
            </a:extLst>
          </p:cNvPr>
          <p:cNvGrpSpPr>
            <a:grpSpLocks/>
          </p:cNvGrpSpPr>
          <p:nvPr/>
        </p:nvGrpSpPr>
        <p:grpSpPr bwMode="auto">
          <a:xfrm>
            <a:off x="2639232" y="3223260"/>
            <a:ext cx="765626" cy="408623"/>
            <a:chOff x="381" y="1476"/>
            <a:chExt cx="440" cy="257"/>
          </a:xfrm>
        </p:grpSpPr>
        <p:sp>
          <p:nvSpPr>
            <p:cNvPr id="18485" name="Rectangle 53">
              <a:extLst>
                <a:ext uri="{FF2B5EF4-FFF2-40B4-BE49-F238E27FC236}">
                  <a16:creationId xmlns:a16="http://schemas.microsoft.com/office/drawing/2014/main" id="{7B35DC28-45A6-B954-7DC6-632B6AA2B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486" name="Text Box 54">
              <a:extLst>
                <a:ext uri="{FF2B5EF4-FFF2-40B4-BE49-F238E27FC236}">
                  <a16:creationId xmlns:a16="http://schemas.microsoft.com/office/drawing/2014/main" id="{DD332CC2-1E12-E87C-CCD0-5ECEC333C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" y="1478"/>
              <a:ext cx="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Request</a:t>
              </a:r>
            </a:p>
            <a:p>
              <a:pPr algn="ctr" eaLnBrk="0" hangingPunct="0"/>
              <a:r>
                <a:rPr lang="en-US" altLang="en-US" sz="990"/>
                <a:t>(XML doc)</a:t>
              </a:r>
              <a:endParaRPr lang="en-US" altLang="en-US" sz="1980"/>
            </a:p>
          </p:txBody>
        </p:sp>
      </p:grpSp>
      <p:grpSp>
        <p:nvGrpSpPr>
          <p:cNvPr id="18499" name="Group 67">
            <a:extLst>
              <a:ext uri="{FF2B5EF4-FFF2-40B4-BE49-F238E27FC236}">
                <a16:creationId xmlns:a16="http://schemas.microsoft.com/office/drawing/2014/main" id="{5A934B5D-7821-4B04-790B-C49DCE3DF3C8}"/>
              </a:ext>
            </a:extLst>
          </p:cNvPr>
          <p:cNvGrpSpPr>
            <a:grpSpLocks/>
          </p:cNvGrpSpPr>
          <p:nvPr/>
        </p:nvGrpSpPr>
        <p:grpSpPr bwMode="auto">
          <a:xfrm>
            <a:off x="2579955" y="3840480"/>
            <a:ext cx="816586" cy="408623"/>
            <a:chOff x="384" y="1476"/>
            <a:chExt cx="437" cy="257"/>
          </a:xfrm>
        </p:grpSpPr>
        <p:sp>
          <p:nvSpPr>
            <p:cNvPr id="18500" name="Rectangle 68">
              <a:extLst>
                <a:ext uri="{FF2B5EF4-FFF2-40B4-BE49-F238E27FC236}">
                  <a16:creationId xmlns:a16="http://schemas.microsoft.com/office/drawing/2014/main" id="{49E0B841-3FEA-90CC-E2FB-829987C8C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501" name="Text Box 69">
              <a:extLst>
                <a:ext uri="{FF2B5EF4-FFF2-40B4-BE49-F238E27FC236}">
                  <a16:creationId xmlns:a16="http://schemas.microsoft.com/office/drawing/2014/main" id="{1DCB7FD3-B8E5-54DD-6439-28E64E609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478"/>
              <a:ext cx="4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Response</a:t>
              </a:r>
            </a:p>
            <a:p>
              <a:pPr algn="ctr" eaLnBrk="0" hangingPunct="0"/>
              <a:r>
                <a:rPr lang="en-US" altLang="en-US" sz="990"/>
                <a:t>(</a:t>
              </a:r>
              <a:r>
                <a:rPr lang="en-US" altLang="en-US" sz="990" b="1"/>
                <a:t>JSON doc</a:t>
              </a:r>
              <a:r>
                <a:rPr lang="en-US" altLang="en-US" sz="990"/>
                <a:t>)</a:t>
              </a:r>
              <a:endParaRPr lang="en-US" altLang="en-US" sz="1980"/>
            </a:p>
          </p:txBody>
        </p:sp>
      </p:grpSp>
      <p:sp>
        <p:nvSpPr>
          <p:cNvPr id="18502" name="Line 70">
            <a:extLst>
              <a:ext uri="{FF2B5EF4-FFF2-40B4-BE49-F238E27FC236}">
                <a16:creationId xmlns:a16="http://schemas.microsoft.com/office/drawing/2014/main" id="{55D58A40-0E33-59AC-AA48-140883252D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3491865"/>
            <a:ext cx="1254443" cy="57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03" name="Line 71">
            <a:extLst>
              <a:ext uri="{FF2B5EF4-FFF2-40B4-BE49-F238E27FC236}">
                <a16:creationId xmlns:a16="http://schemas.microsoft.com/office/drawing/2014/main" id="{32450850-C765-FAB2-A658-BF9C598F4D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3977640"/>
            <a:ext cx="1414463" cy="1000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04" name="Text Box 72">
            <a:extLst>
              <a:ext uri="{FF2B5EF4-FFF2-40B4-BE49-F238E27FC236}">
                <a16:creationId xmlns:a16="http://schemas.microsoft.com/office/drawing/2014/main" id="{0BF91A10-D39E-F87C-B922-FA207620C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959" y="3223260"/>
            <a:ext cx="963719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POST</a:t>
            </a:r>
          </a:p>
        </p:txBody>
      </p:sp>
      <p:sp>
        <p:nvSpPr>
          <p:cNvPr id="18507" name="Text Box 75">
            <a:extLst>
              <a:ext uri="{FF2B5EF4-FFF2-40B4-BE49-F238E27FC236}">
                <a16:creationId xmlns:a16="http://schemas.microsoft.com/office/drawing/2014/main" id="{0FE0C296-FF3E-3849-70C5-623A239F5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5816" y="3334703"/>
            <a:ext cx="685951" cy="313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URL 1</a:t>
            </a:r>
          </a:p>
        </p:txBody>
      </p:sp>
      <p:sp>
        <p:nvSpPr>
          <p:cNvPr id="18508" name="Line 76">
            <a:extLst>
              <a:ext uri="{FF2B5EF4-FFF2-40B4-BE49-F238E27FC236}">
                <a16:creationId xmlns:a16="http://schemas.microsoft.com/office/drawing/2014/main" id="{B6FBA004-DFF7-CB04-1C03-DB03C167C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5" y="3496152"/>
            <a:ext cx="542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09" name="Text Box 77">
            <a:extLst>
              <a:ext uri="{FF2B5EF4-FFF2-40B4-BE49-F238E27FC236}">
                <a16:creationId xmlns:a16="http://schemas.microsoft.com/office/drawing/2014/main" id="{D8ADB38E-7F74-193D-AC7D-2891AA48A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255" y="3844767"/>
            <a:ext cx="1172110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Response</a:t>
            </a:r>
          </a:p>
        </p:txBody>
      </p:sp>
      <p:sp>
        <p:nvSpPr>
          <p:cNvPr id="18510" name="Line 78">
            <a:extLst>
              <a:ext uri="{FF2B5EF4-FFF2-40B4-BE49-F238E27FC236}">
                <a16:creationId xmlns:a16="http://schemas.microsoft.com/office/drawing/2014/main" id="{BEACFA6C-F005-CF69-E6F3-7CBF7B0F4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3553" y="3188970"/>
            <a:ext cx="2128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11" name="Rectangle 79">
            <a:extLst>
              <a:ext uri="{FF2B5EF4-FFF2-40B4-BE49-F238E27FC236}">
                <a16:creationId xmlns:a16="http://schemas.microsoft.com/office/drawing/2014/main" id="{E654B1C0-B9D4-D48C-C545-E8C0B5C31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3017520"/>
            <a:ext cx="955705" cy="31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doPost(id)</a:t>
            </a:r>
          </a:p>
        </p:txBody>
      </p:sp>
      <p:sp>
        <p:nvSpPr>
          <p:cNvPr id="18513" name="Line 81">
            <a:extLst>
              <a:ext uri="{FF2B5EF4-FFF2-40B4-BE49-F238E27FC236}">
                <a16:creationId xmlns:a16="http://schemas.microsoft.com/office/drawing/2014/main" id="{7A8512DA-9406-36DF-F254-6A619C57D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7498" y="3556159"/>
            <a:ext cx="104013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21" name="Line 89">
            <a:extLst>
              <a:ext uri="{FF2B5EF4-FFF2-40B4-BE49-F238E27FC236}">
                <a16:creationId xmlns:a16="http://schemas.microsoft.com/office/drawing/2014/main" id="{9B0664A8-204B-2177-645C-94E965B8A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1783" y="3934778"/>
            <a:ext cx="104155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28" name="Text Box 96">
            <a:extLst>
              <a:ext uri="{FF2B5EF4-FFF2-40B4-BE49-F238E27FC236}">
                <a16:creationId xmlns:a16="http://schemas.microsoft.com/office/drawing/2014/main" id="{E9C67369-438D-AA17-1404-355DB0EEC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355" y="3223260"/>
            <a:ext cx="1457325" cy="114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800"/>
              <a:t>REST Engine</a:t>
            </a:r>
          </a:p>
          <a:p>
            <a:pPr eaLnBrk="0" hangingPunct="0"/>
            <a:r>
              <a:rPr lang="en-US" altLang="en-US" sz="1800"/>
              <a:t>(</a:t>
            </a:r>
            <a:r>
              <a:rPr lang="en-US" altLang="en-US" sz="1440"/>
              <a:t>locate resource and generate response</a:t>
            </a:r>
            <a:r>
              <a:rPr lang="en-US" altLang="en-US" sz="1800"/>
              <a:t>)</a:t>
            </a:r>
          </a:p>
        </p:txBody>
      </p:sp>
      <p:grpSp>
        <p:nvGrpSpPr>
          <p:cNvPr id="18530" name="Group 98">
            <a:extLst>
              <a:ext uri="{FF2B5EF4-FFF2-40B4-BE49-F238E27FC236}">
                <a16:creationId xmlns:a16="http://schemas.microsoft.com/office/drawing/2014/main" id="{0B054E13-01FE-CAB3-22C5-0866077B9890}"/>
              </a:ext>
            </a:extLst>
          </p:cNvPr>
          <p:cNvGrpSpPr>
            <a:grpSpLocks/>
          </p:cNvGrpSpPr>
          <p:nvPr/>
        </p:nvGrpSpPr>
        <p:grpSpPr bwMode="auto">
          <a:xfrm>
            <a:off x="2596098" y="4526280"/>
            <a:ext cx="765186" cy="408623"/>
            <a:chOff x="398" y="1476"/>
            <a:chExt cx="408" cy="257"/>
          </a:xfrm>
        </p:grpSpPr>
        <p:sp>
          <p:nvSpPr>
            <p:cNvPr id="18531" name="Rectangle 99">
              <a:extLst>
                <a:ext uri="{FF2B5EF4-FFF2-40B4-BE49-F238E27FC236}">
                  <a16:creationId xmlns:a16="http://schemas.microsoft.com/office/drawing/2014/main" id="{D8D43839-53D1-E226-8296-CDB59AABA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532" name="Text Box 100">
              <a:extLst>
                <a:ext uri="{FF2B5EF4-FFF2-40B4-BE49-F238E27FC236}">
                  <a16:creationId xmlns:a16="http://schemas.microsoft.com/office/drawing/2014/main" id="{8B3DF22D-5967-DCDF-7EF3-7FDB6D015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1478"/>
              <a:ext cx="4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PO</a:t>
              </a:r>
            </a:p>
            <a:p>
              <a:pPr algn="ctr" eaLnBrk="0" hangingPunct="0"/>
              <a:r>
                <a:rPr lang="en-US" altLang="en-US" sz="990"/>
                <a:t>(XML doc)</a:t>
              </a:r>
              <a:endParaRPr lang="en-US" altLang="en-US" sz="1980"/>
            </a:p>
          </p:txBody>
        </p:sp>
      </p:grpSp>
      <p:sp>
        <p:nvSpPr>
          <p:cNvPr id="18539" name="Line 107">
            <a:extLst>
              <a:ext uri="{FF2B5EF4-FFF2-40B4-BE49-F238E27FC236}">
                <a16:creationId xmlns:a16="http://schemas.microsoft.com/office/drawing/2014/main" id="{E9524ECF-4C05-0216-96D4-FB5485BC0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383" y="4770597"/>
            <a:ext cx="1160145" cy="28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40" name="Text Box 108">
            <a:extLst>
              <a:ext uri="{FF2B5EF4-FFF2-40B4-BE49-F238E27FC236}">
                <a16:creationId xmlns:a16="http://schemas.microsoft.com/office/drawing/2014/main" id="{D275F666-E3DB-525E-EBCF-6AEFDD61E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673" y="4503420"/>
            <a:ext cx="1162492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DELETE</a:t>
            </a:r>
          </a:p>
        </p:txBody>
      </p:sp>
      <p:sp>
        <p:nvSpPr>
          <p:cNvPr id="18542" name="Text Box 110">
            <a:extLst>
              <a:ext uri="{FF2B5EF4-FFF2-40B4-BE49-F238E27FC236}">
                <a16:creationId xmlns:a16="http://schemas.microsoft.com/office/drawing/2014/main" id="{E24357FB-92B3-3F44-BF31-8A640660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530" y="4616292"/>
            <a:ext cx="685951" cy="313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URL 1</a:t>
            </a:r>
          </a:p>
        </p:txBody>
      </p:sp>
      <p:sp>
        <p:nvSpPr>
          <p:cNvPr id="18543" name="Line 111">
            <a:extLst>
              <a:ext uri="{FF2B5EF4-FFF2-40B4-BE49-F238E27FC236}">
                <a16:creationId xmlns:a16="http://schemas.microsoft.com/office/drawing/2014/main" id="{8FF07133-40FE-33EF-389E-936379670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0189" y="4776312"/>
            <a:ext cx="542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45" name="Line 113">
            <a:extLst>
              <a:ext uri="{FF2B5EF4-FFF2-40B4-BE49-F238E27FC236}">
                <a16:creationId xmlns:a16="http://schemas.microsoft.com/office/drawing/2014/main" id="{215F71BF-E6EE-189B-694D-D357DDA59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1783" y="4807744"/>
            <a:ext cx="104155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52" name="Line 120">
            <a:extLst>
              <a:ext uri="{FF2B5EF4-FFF2-40B4-BE49-F238E27FC236}">
                <a16:creationId xmlns:a16="http://schemas.microsoft.com/office/drawing/2014/main" id="{3C07A090-F9C6-FB8C-69D7-D597942BE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7840" y="4183380"/>
            <a:ext cx="2128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53" name="Rectangle 121">
            <a:extLst>
              <a:ext uri="{FF2B5EF4-FFF2-40B4-BE49-F238E27FC236}">
                <a16:creationId xmlns:a16="http://schemas.microsoft.com/office/drawing/2014/main" id="{9D698662-B1D6-77B4-3387-0EBE2D721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3977640"/>
            <a:ext cx="973337" cy="31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40"/>
              <a:t>doDelete()</a:t>
            </a:r>
          </a:p>
        </p:txBody>
      </p:sp>
      <p:grpSp>
        <p:nvGrpSpPr>
          <p:cNvPr id="18560" name="Group 128">
            <a:extLst>
              <a:ext uri="{FF2B5EF4-FFF2-40B4-BE49-F238E27FC236}">
                <a16:creationId xmlns:a16="http://schemas.microsoft.com/office/drawing/2014/main" id="{AE47004F-E028-80DD-FB2F-87C2A3347158}"/>
              </a:ext>
            </a:extLst>
          </p:cNvPr>
          <p:cNvGrpSpPr>
            <a:grpSpLocks/>
          </p:cNvGrpSpPr>
          <p:nvPr/>
        </p:nvGrpSpPr>
        <p:grpSpPr bwMode="auto">
          <a:xfrm>
            <a:off x="2582985" y="5143500"/>
            <a:ext cx="837262" cy="407194"/>
            <a:chOff x="393" y="1476"/>
            <a:chExt cx="418" cy="257"/>
          </a:xfrm>
        </p:grpSpPr>
        <p:sp>
          <p:nvSpPr>
            <p:cNvPr id="18561" name="Rectangle 129">
              <a:extLst>
                <a:ext uri="{FF2B5EF4-FFF2-40B4-BE49-F238E27FC236}">
                  <a16:creationId xmlns:a16="http://schemas.microsoft.com/office/drawing/2014/main" id="{564194F9-50A0-10CB-236F-989686F5E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476"/>
              <a:ext cx="384" cy="25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20"/>
            </a:p>
          </p:txBody>
        </p:sp>
        <p:sp>
          <p:nvSpPr>
            <p:cNvPr id="18562" name="Text Box 130">
              <a:extLst>
                <a:ext uri="{FF2B5EF4-FFF2-40B4-BE49-F238E27FC236}">
                  <a16:creationId xmlns:a16="http://schemas.microsoft.com/office/drawing/2014/main" id="{95F2023E-5815-C029-076B-B5EA3B4CC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" y="1478"/>
              <a:ext cx="418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7" tIns="45717" rIns="91437" bIns="45717">
              <a:spAutoFit/>
            </a:bodyPr>
            <a:lstStyle>
              <a:lvl1pPr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08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016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24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32000" defTabSz="1016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892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464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036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60800" defTabSz="10160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/>
              <a:r>
                <a:rPr lang="en-US" altLang="en-US" sz="990"/>
                <a:t>Response</a:t>
              </a:r>
            </a:p>
            <a:p>
              <a:pPr algn="ctr" eaLnBrk="0" hangingPunct="0"/>
              <a:r>
                <a:rPr lang="en-US" altLang="en-US" sz="990"/>
                <a:t>(</a:t>
              </a:r>
              <a:r>
                <a:rPr lang="en-US" altLang="en-US" sz="990" b="1"/>
                <a:t>TEXT doc</a:t>
              </a:r>
              <a:r>
                <a:rPr lang="en-US" altLang="en-US" sz="990"/>
                <a:t>)</a:t>
              </a:r>
              <a:endParaRPr lang="en-US" altLang="en-US" sz="1980"/>
            </a:p>
          </p:txBody>
        </p:sp>
      </p:grpSp>
      <p:sp>
        <p:nvSpPr>
          <p:cNvPr id="18563" name="Line 131">
            <a:extLst>
              <a:ext uri="{FF2B5EF4-FFF2-40B4-BE49-F238E27FC236}">
                <a16:creationId xmlns:a16="http://schemas.microsoft.com/office/drawing/2014/main" id="{06E83B5D-14C7-3023-E84D-54AE1D29B6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04235" y="5294948"/>
            <a:ext cx="1337310" cy="142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65" name="Text Box 133">
            <a:extLst>
              <a:ext uri="{FF2B5EF4-FFF2-40B4-BE49-F238E27FC236}">
                <a16:creationId xmlns:a16="http://schemas.microsoft.com/office/drawing/2014/main" id="{8A9025B2-F9F5-5334-AEA4-A84ACE47A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1538" y="5153502"/>
            <a:ext cx="1172110" cy="27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7" tIns="45717" rIns="91437" bIns="45717">
            <a:spAutoFit/>
          </a:bodyPr>
          <a:lstStyle>
            <a:lvl1pPr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8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16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24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2000" defTabSz="1016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92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464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036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60800" defTabSz="1016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170"/>
              <a:t>HTTP Response</a:t>
            </a:r>
          </a:p>
        </p:txBody>
      </p:sp>
      <p:sp>
        <p:nvSpPr>
          <p:cNvPr id="18567" name="Line 135">
            <a:extLst>
              <a:ext uri="{FF2B5EF4-FFF2-40B4-BE49-F238E27FC236}">
                <a16:creationId xmlns:a16="http://schemas.microsoft.com/office/drawing/2014/main" id="{B6A8898D-E91B-B333-EC77-FEEC4B9F4D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6065" y="5243513"/>
            <a:ext cx="104155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74" name="Line 142">
            <a:extLst>
              <a:ext uri="{FF2B5EF4-FFF2-40B4-BE49-F238E27FC236}">
                <a16:creationId xmlns:a16="http://schemas.microsoft.com/office/drawing/2014/main" id="{0C6F5B1D-0E10-9D15-B42F-BC6D987937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95663" y="2696052"/>
            <a:ext cx="1338739" cy="14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75" name="Line 143">
            <a:extLst>
              <a:ext uri="{FF2B5EF4-FFF2-40B4-BE49-F238E27FC236}">
                <a16:creationId xmlns:a16="http://schemas.microsoft.com/office/drawing/2014/main" id="{B7412A21-2C86-DFAC-B4DD-09602B15B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7097" y="2208848"/>
            <a:ext cx="1160145" cy="28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78" name="Rectangle 146">
            <a:extLst>
              <a:ext uri="{FF2B5EF4-FFF2-40B4-BE49-F238E27FC236}">
                <a16:creationId xmlns:a16="http://schemas.microsoft.com/office/drawing/2014/main" id="{1C8D4FC8-DC67-6FA3-709E-75524CC0D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432" y="765638"/>
            <a:ext cx="4272794" cy="665969"/>
          </a:xfrm>
        </p:spPr>
        <p:txBody>
          <a:bodyPr/>
          <a:lstStyle/>
          <a:p>
            <a:r>
              <a:rPr lang="en-US" altLang="en-US" dirty="0"/>
              <a:t>Architecture Style</a:t>
            </a:r>
          </a:p>
        </p:txBody>
      </p:sp>
      <p:sp>
        <p:nvSpPr>
          <p:cNvPr id="18579" name="AutoShape 147">
            <a:extLst>
              <a:ext uri="{FF2B5EF4-FFF2-40B4-BE49-F238E27FC236}">
                <a16:creationId xmlns:a16="http://schemas.microsoft.com/office/drawing/2014/main" id="{956C64C3-F547-331D-E983-8593B99AB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7900" y="4869180"/>
            <a:ext cx="480060" cy="61722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80" name="AutoShape 148">
            <a:extLst>
              <a:ext uri="{FF2B5EF4-FFF2-40B4-BE49-F238E27FC236}">
                <a16:creationId xmlns:a16="http://schemas.microsoft.com/office/drawing/2014/main" id="{D670A3A8-D96E-DA4F-2E41-C3C33E31B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3640" y="5143500"/>
            <a:ext cx="480060" cy="617220"/>
          </a:xfrm>
          <a:prstGeom prst="can">
            <a:avLst>
              <a:gd name="adj" fmla="val 3214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20"/>
          </a:p>
        </p:txBody>
      </p:sp>
      <p:sp>
        <p:nvSpPr>
          <p:cNvPr id="18581" name="Line 149">
            <a:extLst>
              <a:ext uri="{FF2B5EF4-FFF2-40B4-BE49-F238E27FC236}">
                <a16:creationId xmlns:a16="http://schemas.microsoft.com/office/drawing/2014/main" id="{0B517526-B151-B35B-0A25-2B07F2DC07F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9260" y="5074920"/>
            <a:ext cx="5486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620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1179</TotalTime>
  <Words>2210</Words>
  <Application>Microsoft Office PowerPoint</Application>
  <PresentationFormat>Widescreen</PresentationFormat>
  <Paragraphs>510</Paragraphs>
  <Slides>55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Arial Narrow</vt:lpstr>
      <vt:lpstr>Calibri</vt:lpstr>
      <vt:lpstr>Garamond</vt:lpstr>
      <vt:lpstr>Trebuchet MS</vt:lpstr>
      <vt:lpstr>Wingdings</vt:lpstr>
      <vt:lpstr>SCUTemplate</vt:lpstr>
      <vt:lpstr>Custom Design</vt:lpstr>
      <vt:lpstr>1_SCUTemplate</vt:lpstr>
      <vt:lpstr>CSEN160</vt:lpstr>
      <vt:lpstr>Microservices</vt:lpstr>
      <vt:lpstr>Rule of twos</vt:lpstr>
      <vt:lpstr>Advantages of a microservice architecture</vt:lpstr>
      <vt:lpstr>Characteristics of a microservice</vt:lpstr>
      <vt:lpstr>Monolith vs. Microservices Architecture</vt:lpstr>
      <vt:lpstr>SOA/SOAP vs. Microservices Architecture</vt:lpstr>
      <vt:lpstr>Microservices architecture</vt:lpstr>
      <vt:lpstr>Software services</vt:lpstr>
      <vt:lpstr>Software services</vt:lpstr>
      <vt:lpstr>Microservices</vt:lpstr>
      <vt:lpstr>Microservices</vt:lpstr>
      <vt:lpstr>Microservices architecture</vt:lpstr>
      <vt:lpstr>Microservices architecture</vt:lpstr>
      <vt:lpstr>Microservices architecture</vt:lpstr>
      <vt:lpstr>Benefits of microservices architecture</vt:lpstr>
      <vt:lpstr>Benefits of microservices architecture</vt:lpstr>
      <vt:lpstr>Characteristics of microservices</vt:lpstr>
      <vt:lpstr>Characteristics of microservices</vt:lpstr>
      <vt:lpstr>Characteristics of microservices</vt:lpstr>
      <vt:lpstr>Microservice characteristics</vt:lpstr>
      <vt:lpstr>Microservice characteristics</vt:lpstr>
      <vt:lpstr>Microservices Communication</vt:lpstr>
      <vt:lpstr>Service communications</vt:lpstr>
      <vt:lpstr>Synchronous and asynchronous interaction</vt:lpstr>
      <vt:lpstr>Synchronous and asynchronous interaction</vt:lpstr>
      <vt:lpstr>Microservices RESTful</vt:lpstr>
      <vt:lpstr>Hypertext Transfer Protocol (HTTP)</vt:lpstr>
      <vt:lpstr>Representational State Transfer (REST)</vt:lpstr>
      <vt:lpstr>RESTful services</vt:lpstr>
      <vt:lpstr>RESTful services</vt:lpstr>
      <vt:lpstr>REST and HTTP</vt:lpstr>
      <vt:lpstr>REST - not a Standard</vt:lpstr>
      <vt:lpstr>Main Concepts</vt:lpstr>
      <vt:lpstr>RESTful service principles</vt:lpstr>
      <vt:lpstr>Resources</vt:lpstr>
      <vt:lpstr>Naming Resources</vt:lpstr>
      <vt:lpstr>RESTful service principles</vt:lpstr>
      <vt:lpstr>HTTP GET</vt:lpstr>
      <vt:lpstr>HTTP GET</vt:lpstr>
      <vt:lpstr>PowerPoint Presentation</vt:lpstr>
      <vt:lpstr>PowerPoint Presentation</vt:lpstr>
      <vt:lpstr>HTTP DELETE</vt:lpstr>
      <vt:lpstr>Controllers</vt:lpstr>
      <vt:lpstr>RESTful service principles</vt:lpstr>
      <vt:lpstr>Representations</vt:lpstr>
      <vt:lpstr>XML and JSON descriptions</vt:lpstr>
      <vt:lpstr>Representations</vt:lpstr>
      <vt:lpstr>XML and JSON descriptions</vt:lpstr>
      <vt:lpstr>XML and JSON descriptions</vt:lpstr>
      <vt:lpstr>Postman</vt:lpstr>
      <vt:lpstr>Why: "Representational State Transfer"?</vt:lpstr>
      <vt:lpstr>Architecture Style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195</cp:revision>
  <cp:lastPrinted>2023-09-11T21:46:56Z</cp:lastPrinted>
  <dcterms:created xsi:type="dcterms:W3CDTF">2023-09-09T19:51:41Z</dcterms:created>
  <dcterms:modified xsi:type="dcterms:W3CDTF">2026-09-22T20:29:04Z</dcterms:modified>
</cp:coreProperties>
</file>