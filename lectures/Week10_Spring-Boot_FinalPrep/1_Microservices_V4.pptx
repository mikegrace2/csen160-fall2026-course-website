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58"/>
  </p:notesMasterIdLst>
  <p:handoutMasterIdLst>
    <p:handoutMasterId r:id="rId59"/>
  </p:handoutMasterIdLst>
  <p:sldIdLst>
    <p:sldId id="463" r:id="rId4"/>
    <p:sldId id="446" r:id="rId5"/>
    <p:sldId id="262" r:id="rId6"/>
    <p:sldId id="264" r:id="rId7"/>
    <p:sldId id="265" r:id="rId8"/>
    <p:sldId id="258" r:id="rId9"/>
    <p:sldId id="523" r:id="rId10"/>
    <p:sldId id="376" r:id="rId11"/>
    <p:sldId id="377" r:id="rId12"/>
    <p:sldId id="437" r:id="rId13"/>
    <p:sldId id="379" r:id="rId14"/>
    <p:sldId id="472" r:id="rId15"/>
    <p:sldId id="268" r:id="rId16"/>
    <p:sldId id="471" r:id="rId17"/>
    <p:sldId id="473" r:id="rId18"/>
    <p:sldId id="388" r:id="rId19"/>
    <p:sldId id="474" r:id="rId20"/>
    <p:sldId id="427" r:id="rId21"/>
    <p:sldId id="466" r:id="rId22"/>
    <p:sldId id="447" r:id="rId23"/>
    <p:sldId id="385" r:id="rId24"/>
    <p:sldId id="430" r:id="rId25"/>
    <p:sldId id="456" r:id="rId26"/>
    <p:sldId id="451" r:id="rId27"/>
    <p:sldId id="395" r:id="rId28"/>
    <p:sldId id="440" r:id="rId29"/>
    <p:sldId id="461" r:id="rId30"/>
    <p:sldId id="277" r:id="rId31"/>
    <p:sldId id="257" r:id="rId32"/>
    <p:sldId id="408" r:id="rId33"/>
    <p:sldId id="443" r:id="rId34"/>
    <p:sldId id="281" r:id="rId35"/>
    <p:sldId id="272" r:id="rId36"/>
    <p:sldId id="270" r:id="rId37"/>
    <p:sldId id="467" r:id="rId38"/>
    <p:sldId id="261" r:id="rId39"/>
    <p:sldId id="282" r:id="rId40"/>
    <p:sldId id="409" r:id="rId41"/>
    <p:sldId id="468" r:id="rId42"/>
    <p:sldId id="278" r:id="rId43"/>
    <p:sldId id="445" r:id="rId44"/>
    <p:sldId id="410" r:id="rId45"/>
    <p:sldId id="469" r:id="rId46"/>
    <p:sldId id="520" r:id="rId47"/>
    <p:sldId id="444" r:id="rId48"/>
    <p:sldId id="464" r:id="rId49"/>
    <p:sldId id="416" r:id="rId50"/>
    <p:sldId id="284" r:id="rId51"/>
    <p:sldId id="417" r:id="rId52"/>
    <p:sldId id="522" r:id="rId53"/>
    <p:sldId id="521" r:id="rId54"/>
    <p:sldId id="271" r:id="rId55"/>
    <p:sldId id="269" r:id="rId56"/>
    <p:sldId id="336" r:id="rId57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1" Type="http://schemas.openxmlformats.org/officeDocument/2006/relationships/viewProps" Target="viewProps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>
          <a:extLst>
            <a:ext uri="{FF2B5EF4-FFF2-40B4-BE49-F238E27FC236}">
              <a16:creationId xmlns:a16="http://schemas.microsoft.com/office/drawing/2014/main" id="{503D7782-D2BE-3318-04C8-809C075B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:notes">
            <a:extLst>
              <a:ext uri="{FF2B5EF4-FFF2-40B4-BE49-F238E27FC236}">
                <a16:creationId xmlns:a16="http://schemas.microsoft.com/office/drawing/2014/main" id="{569BEDFB-CEA1-0B5C-9356-BEE7287EA1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p:notes">
            <a:extLst>
              <a:ext uri="{FF2B5EF4-FFF2-40B4-BE49-F238E27FC236}">
                <a16:creationId xmlns:a16="http://schemas.microsoft.com/office/drawing/2014/main" id="{CFC870F6-ED3C-B777-0285-12C470E456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94849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14df32ab6f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14df32ab6f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3534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14df32ab6f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14df32ab6f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17969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938f74e24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938f74e24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4241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d9ffab06d9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d9ffab06d9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1ABDA5-0E29-9DA2-FC57-02AF84A5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d9ffab06d9_0_54:notes">
            <a:extLst>
              <a:ext uri="{FF2B5EF4-FFF2-40B4-BE49-F238E27FC236}">
                <a16:creationId xmlns:a16="http://schemas.microsoft.com/office/drawing/2014/main" id="{9B1AE690-C006-544F-EBAD-568C8E680C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d9ffab06d9_0_54:notes">
            <a:extLst>
              <a:ext uri="{FF2B5EF4-FFF2-40B4-BE49-F238E27FC236}">
                <a16:creationId xmlns:a16="http://schemas.microsoft.com/office/drawing/2014/main" id="{05BBA770-20AF-4A8D-C3A0-C1CF1013A0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00486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9D4A22C4-7B84-B6F3-633E-11DBE4AF8D1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694F829-7394-4D69-A9FC-75FE43D74DD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45" name="Rectangle 1">
            <a:extLst>
              <a:ext uri="{FF2B5EF4-FFF2-40B4-BE49-F238E27FC236}">
                <a16:creationId xmlns:a16="http://schemas.microsoft.com/office/drawing/2014/main" id="{B300F87F-B6F4-6F2B-151A-37690E349186}"/>
              </a:ext>
            </a:extLst>
          </p:cNvPr>
          <p:cNvSpPr>
            <a:spLocks noGrp="1" noRot="1" noChangeAspect="1" noChangeArrowheads="1"/>
          </p:cNvSpPr>
          <p:nvPr>
            <p:ph type="sldImg"/>
          </p:nvPr>
        </p:nvSpPr>
        <p:spPr>
          <a:ln/>
        </p:spPr>
      </p:sp>
      <p:sp>
        <p:nvSpPr>
          <p:cNvPr id="6146" name="Rectangle 2">
            <a:extLst>
              <a:ext uri="{FF2B5EF4-FFF2-40B4-BE49-F238E27FC236}">
                <a16:creationId xmlns:a16="http://schemas.microsoft.com/office/drawing/2014/main" id="{04349B31-6D1A-DC48-FB0F-B301748B3C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 lIns="0" tIns="0" rIns="0" bIns="0"/>
          <a:lstStyle/>
          <a:p>
            <a:pPr>
              <a:lnSpc>
                <a:spcPct val="95000"/>
              </a:lnSpc>
              <a:spcBef>
                <a:spcPct val="0"/>
              </a:spcBef>
            </a:pPr>
            <a:r>
              <a:rPr lang="en-US" altLang="en-US" sz="1600">
                <a:solidFill>
                  <a:srgbClr val="000000"/>
                </a:solidFill>
                <a:latin typeface="Arial" panose="020B0604020202020204" pitchFamily="34" charset="0"/>
              </a:rPr>
              <a:t>this is the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664341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E69ED12F-1490-CD9A-841F-84B71D8B08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A8E00D-5C9B-438A-B815-057E39C0FCDF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82" name="Rectangle 2">
            <a:extLst>
              <a:ext uri="{FF2B5EF4-FFF2-40B4-BE49-F238E27FC236}">
                <a16:creationId xmlns:a16="http://schemas.microsoft.com/office/drawing/2014/main" id="{54A7F941-B4E7-F859-DA6E-AA75F1DAF80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3" name="Rectangle 3">
            <a:extLst>
              <a:ext uri="{FF2B5EF4-FFF2-40B4-BE49-F238E27FC236}">
                <a16:creationId xmlns:a16="http://schemas.microsoft.com/office/drawing/2014/main" id="{9E9DF0E5-36DD-7AD4-1285-B161331FA1D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865781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11306211" y="-11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3426983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306211" y="-11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50770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4_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9143999" y="5143499"/>
                </a:moveTo>
                <a:lnTo>
                  <a:pt x="0" y="5143499"/>
                </a:lnTo>
                <a:lnTo>
                  <a:pt x="0" y="0"/>
                </a:lnTo>
                <a:lnTo>
                  <a:pt x="9143999" y="0"/>
                </a:lnTo>
                <a:lnTo>
                  <a:pt x="9143999" y="5143499"/>
                </a:lnTo>
                <a:close/>
              </a:path>
            </a:pathLst>
          </a:custGeom>
          <a:solidFill>
            <a:srgbClr val="5E2B97"/>
          </a:solidFill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784110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238576" y="2278954"/>
            <a:ext cx="9714849" cy="757140"/>
          </a:xfrm>
          <a:prstGeom prst="rect">
            <a:avLst/>
          </a:prstGeom>
        </p:spPr>
        <p:txBody>
          <a:bodyPr anchor="b"/>
          <a:lstStyle>
            <a:lvl1pPr>
              <a:defRPr sz="3937"/>
            </a:lvl1pPr>
          </a:lstStyle>
          <a:p>
            <a:r>
              <a:t>Title Text</a:t>
            </a:r>
          </a:p>
        </p:txBody>
      </p:sp>
      <p:sp>
        <p:nvSpPr>
          <p:cNvPr id="14" name="© Ian Sommerville 2018"/>
          <p:cNvSpPr txBox="1"/>
          <p:nvPr/>
        </p:nvSpPr>
        <p:spPr>
          <a:xfrm>
            <a:off x="5259191" y="6465574"/>
            <a:ext cx="1849866" cy="26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/>
              <a:t> © Ian Sommerville 2018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5823970" y="6500813"/>
            <a:ext cx="266078" cy="19645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8924252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0B95E-0B55-127B-5937-050A490C3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1FD92-D8D4-1442-4320-DC6D86B98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329BB-9A8D-FF92-BA8F-3AA319D35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BE7A9B-11A7-A5DD-2943-910BDDD56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E0329-6F56-840A-0D49-149B3F859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D472CF-283B-45AA-B4EB-1A6ADDAA121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33506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1B396-3EB6-745A-755E-29152A18A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54FFB-8A88-56D9-91A7-3D67D2BD5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D88EBA-2201-DAB6-31E7-540216BB5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15FE9C-F8EF-5875-20EA-080EBFBC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351666-5211-48A6-9FC9-91D65605EE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56911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8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17" Type="http://schemas.openxmlformats.org/officeDocument/2006/relationships/slideLayout" Target="../slideLayouts/slideLayout42.xml"/><Relationship Id="rId2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41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5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06" r:id="rId18"/>
    <p:sldLayoutId id="2147483710" r:id="rId19"/>
    <p:sldLayoutId id="2147483712" r:id="rId20"/>
    <p:sldLayoutId id="2147483714" r:id="rId21"/>
    <p:sldLayoutId id="2147483715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books/ISBN-0011" TargetMode="External"/><Relationship Id="rId7" Type="http://schemas.openxmlformats.org/officeDocument/2006/relationships/hyperlink" Target="http://localhost/classes/cs2650/students" TargetMode="External"/><Relationship Id="rId2" Type="http://schemas.openxmlformats.org/officeDocument/2006/relationships/hyperlink" Target="http://localhost/books/" TargetMode="External"/><Relationship Id="rId1" Type="http://schemas.openxmlformats.org/officeDocument/2006/relationships/slideLayout" Target="../slideLayouts/slideLayout21.xml"/><Relationship Id="rId6" Type="http://schemas.openxmlformats.org/officeDocument/2006/relationships/hyperlink" Target="http://localhost/classes/cs2650" TargetMode="External"/><Relationship Id="rId5" Type="http://schemas.openxmlformats.org/officeDocument/2006/relationships/hyperlink" Target="http://localhost/classes" TargetMode="External"/><Relationship Id="rId4" Type="http://schemas.openxmlformats.org/officeDocument/2006/relationships/hyperlink" Target="http://localhost/books/ISBN-0011/authors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books/ISBN-0011021" TargetMode="External"/><Relationship Id="rId2" Type="http://schemas.openxmlformats.org/officeDocument/2006/relationships/hyperlink" Target="http://localhost/books" TargetMode="Externa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://localhost/books/ISBN-0011021/authors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/books/isbn-111" TargetMode="Externa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/books/" TargetMode="External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/books/ISBN-0011" TargetMode="Externa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198451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>
          <a:extLst>
            <a:ext uri="{FF2B5EF4-FFF2-40B4-BE49-F238E27FC236}">
              <a16:creationId xmlns:a16="http://schemas.microsoft.com/office/drawing/2014/main" id="{F9D3D412-6E54-741F-D90C-1E55AD660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>
            <a:extLst>
              <a:ext uri="{FF2B5EF4-FFF2-40B4-BE49-F238E27FC236}">
                <a16:creationId xmlns:a16="http://schemas.microsoft.com/office/drawing/2014/main" id="{81BFA6D2-6D65-85BD-3017-442074E6C3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2113" y="2751220"/>
            <a:ext cx="10515600" cy="106714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b" anchorCtr="0">
            <a:noAutofit/>
          </a:bodyPr>
          <a:lstStyle/>
          <a:p>
            <a:pPr>
              <a:spcBef>
                <a:spcPts val="0"/>
              </a:spcBef>
            </a:pPr>
            <a:r>
              <a:rPr lang="en" dirty="0"/>
              <a:t>Microservices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9745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>
            <a:spLocks noGrp="1"/>
          </p:cNvSpPr>
          <p:nvPr>
            <p:ph type="title"/>
          </p:nvPr>
        </p:nvSpPr>
        <p:spPr>
          <a:xfrm>
            <a:off x="937035" y="766166"/>
            <a:ext cx="3173986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Rule of twos</a:t>
            </a:r>
            <a:endParaRPr dirty="0"/>
          </a:p>
        </p:txBody>
      </p:sp>
      <p:sp>
        <p:nvSpPr>
          <p:cNvPr id="153" name="Google Shape;153;p22"/>
          <p:cNvSpPr txBox="1">
            <a:spLocks noGrp="1"/>
          </p:cNvSpPr>
          <p:nvPr>
            <p:ph type="body" idx="1"/>
          </p:nvPr>
        </p:nvSpPr>
        <p:spPr>
          <a:xfrm>
            <a:off x="937035" y="1680215"/>
            <a:ext cx="10345603" cy="4947295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It should be </a:t>
            </a:r>
            <a:r>
              <a:rPr lang="en" b="1" dirty="0">
                <a:solidFill>
                  <a:srgbClr val="00B050"/>
                </a:solidFill>
              </a:rPr>
              <a:t>possible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for a</a:t>
            </a:r>
            <a:r>
              <a:rPr lang="en" dirty="0"/>
              <a:t> </a:t>
            </a:r>
            <a:r>
              <a:rPr lang="en" b="1" dirty="0">
                <a:solidFill>
                  <a:srgbClr val="00B0F0"/>
                </a:solidFill>
              </a:rPr>
              <a:t>microservice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to be developed in </a:t>
            </a:r>
            <a:r>
              <a:rPr lang="en" b="1" dirty="0">
                <a:solidFill>
                  <a:srgbClr val="00B050"/>
                </a:solidFill>
              </a:rPr>
              <a:t>two weeks</a:t>
            </a:r>
            <a:endParaRPr b="1" dirty="0">
              <a:solidFill>
                <a:srgbClr val="00B050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r>
              <a:rPr lang="en" dirty="0"/>
              <a:t>A </a:t>
            </a:r>
            <a:r>
              <a:rPr lang="en" b="1" dirty="0">
                <a:solidFill>
                  <a:srgbClr val="00B0F0"/>
                </a:solidFill>
              </a:rPr>
              <a:t>microservice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development team should be </a:t>
            </a:r>
            <a:r>
              <a:rPr lang="en" b="1" dirty="0">
                <a:solidFill>
                  <a:srgbClr val="00B050"/>
                </a:solidFill>
              </a:rPr>
              <a:t>small enough</a:t>
            </a:r>
            <a:r>
              <a:rPr lang="en" dirty="0"/>
              <a:t>,</a:t>
            </a:r>
            <a:br>
              <a:rPr lang="en" dirty="0"/>
            </a:br>
            <a:br>
              <a:rPr lang="en" dirty="0"/>
            </a:br>
            <a:r>
              <a:rPr lang="en" dirty="0">
                <a:solidFill>
                  <a:schemeClr val="tx1"/>
                </a:solidFill>
              </a:rPr>
              <a:t>that it can be </a:t>
            </a:r>
            <a:r>
              <a:rPr lang="en" b="1" dirty="0">
                <a:solidFill>
                  <a:srgbClr val="00B050"/>
                </a:solidFill>
              </a:rPr>
              <a:t>fed using two large pizzas</a:t>
            </a:r>
            <a:endParaRPr b="1" dirty="0">
              <a:solidFill>
                <a:srgbClr val="00B050"/>
              </a:solidFill>
            </a:endParaRPr>
          </a:p>
        </p:txBody>
      </p:sp>
      <p:pic>
        <p:nvPicPr>
          <p:cNvPr id="154" name="Google Shape;15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035" y="3833343"/>
            <a:ext cx="4965701" cy="27941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064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>
            <a:spLocks noGrp="1"/>
          </p:cNvSpPr>
          <p:nvPr>
            <p:ph type="title"/>
          </p:nvPr>
        </p:nvSpPr>
        <p:spPr>
          <a:xfrm>
            <a:off x="953011" y="773033"/>
            <a:ext cx="9614726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>
                <a:solidFill>
                  <a:srgbClr val="00B050"/>
                </a:solidFill>
              </a:rPr>
              <a:t>Advantages</a:t>
            </a:r>
            <a:r>
              <a:rPr lang="en" dirty="0"/>
              <a:t> of a microservice architecture</a:t>
            </a:r>
            <a:endParaRPr dirty="0"/>
          </a:p>
        </p:txBody>
      </p:sp>
      <p:sp>
        <p:nvSpPr>
          <p:cNvPr id="166" name="Google Shape;166;p24"/>
          <p:cNvSpPr txBox="1">
            <a:spLocks noGrp="1"/>
          </p:cNvSpPr>
          <p:nvPr>
            <p:ph type="body" idx="1"/>
          </p:nvPr>
        </p:nvSpPr>
        <p:spPr>
          <a:xfrm>
            <a:off x="953011" y="1769244"/>
            <a:ext cx="10380736" cy="488823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>
              <a:buAutoNum type="arabicPeriod"/>
            </a:pPr>
            <a:endParaRPr lang="en" b="1" dirty="0">
              <a:solidFill>
                <a:srgbClr val="00B0F0"/>
              </a:solidFill>
            </a:endParaRPr>
          </a:p>
          <a:p>
            <a:pPr>
              <a:buAutoNum type="arabicPeriod"/>
            </a:pPr>
            <a:r>
              <a:rPr lang="en" b="1" dirty="0">
                <a:solidFill>
                  <a:srgbClr val="00B0F0"/>
                </a:solidFill>
              </a:rPr>
              <a:t>Microservice</a:t>
            </a:r>
            <a:r>
              <a:rPr lang="en" dirty="0"/>
              <a:t> </a:t>
            </a:r>
            <a:r>
              <a:rPr lang="en" b="1" dirty="0">
                <a:solidFill>
                  <a:srgbClr val="00B050"/>
                </a:solidFill>
              </a:rPr>
              <a:t>developement</a:t>
            </a:r>
            <a:r>
              <a:rPr lang="en" dirty="0"/>
              <a:t> can use </a:t>
            </a:r>
            <a:r>
              <a:rPr lang="en" b="1" dirty="0">
                <a:solidFill>
                  <a:srgbClr val="00B050"/>
                </a:solidFill>
              </a:rPr>
              <a:t>any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language </a:t>
            </a:r>
            <a:r>
              <a:rPr lang="en" sz="2000" dirty="0">
                <a:solidFill>
                  <a:schemeClr val="tx1"/>
                </a:solidFill>
              </a:rPr>
              <a:t>(or framework)</a:t>
            </a:r>
            <a:endParaRPr dirty="0">
              <a:solidFill>
                <a:schemeClr val="tx1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endParaRPr lang="en" dirty="0">
              <a:solidFill>
                <a:schemeClr val="tx1"/>
              </a:solidFill>
            </a:endParaRPr>
          </a:p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Only what have been </a:t>
            </a:r>
            <a:r>
              <a:rPr lang="en" b="1" dirty="0">
                <a:solidFill>
                  <a:srgbClr val="FF0000"/>
                </a:solidFill>
              </a:rPr>
              <a:t>changed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need to be </a:t>
            </a:r>
            <a:r>
              <a:rPr lang="en" b="1" dirty="0">
                <a:solidFill>
                  <a:srgbClr val="FF0000"/>
                </a:solidFill>
              </a:rPr>
              <a:t>re-tested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and</a:t>
            </a:r>
            <a:r>
              <a:rPr lang="en" dirty="0"/>
              <a:t> </a:t>
            </a:r>
            <a:r>
              <a:rPr lang="en" b="1" dirty="0">
                <a:solidFill>
                  <a:srgbClr val="FF0000"/>
                </a:solidFill>
              </a:rPr>
              <a:t>redeployed</a:t>
            </a:r>
            <a:endParaRPr b="1" dirty="0">
              <a:solidFill>
                <a:srgbClr val="FF0000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endParaRPr lang="en" dirty="0">
              <a:solidFill>
                <a:schemeClr val="tx1"/>
              </a:solidFill>
            </a:endParaRPr>
          </a:p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Not</a:t>
            </a:r>
            <a:r>
              <a:rPr lang="en" dirty="0"/>
              <a:t> </a:t>
            </a:r>
            <a:r>
              <a:rPr lang="en" b="1" dirty="0">
                <a:solidFill>
                  <a:srgbClr val="FF0000"/>
                </a:solidFill>
              </a:rPr>
              <a:t>necessary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to</a:t>
            </a:r>
            <a:r>
              <a:rPr lang="en" dirty="0"/>
              <a:t> </a:t>
            </a:r>
            <a:r>
              <a:rPr lang="en" b="1" dirty="0">
                <a:solidFill>
                  <a:srgbClr val="00B050"/>
                </a:solidFill>
              </a:rPr>
              <a:t>scale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the whole system when demand </a:t>
            </a:r>
            <a:r>
              <a:rPr lang="en" b="1" dirty="0">
                <a:solidFill>
                  <a:srgbClr val="00B050"/>
                </a:solidFill>
              </a:rPr>
              <a:t>on one part </a:t>
            </a:r>
            <a:r>
              <a:rPr lang="en" dirty="0">
                <a:solidFill>
                  <a:schemeClr val="tx1"/>
                </a:solidFill>
              </a:rPr>
              <a:t>increases</a:t>
            </a:r>
            <a:endParaRPr dirty="0">
              <a:solidFill>
                <a:schemeClr val="tx1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endParaRPr lang="en" b="1" dirty="0">
              <a:solidFill>
                <a:srgbClr val="00B050"/>
              </a:solidFill>
            </a:endParaRPr>
          </a:p>
          <a:p>
            <a:pPr>
              <a:buAutoNum type="arabicPeriod"/>
            </a:pPr>
            <a:r>
              <a:rPr lang="en" b="1" dirty="0">
                <a:solidFill>
                  <a:srgbClr val="00B050"/>
                </a:solidFill>
              </a:rPr>
              <a:t>Reduces cost </a:t>
            </a:r>
            <a:r>
              <a:rPr lang="en" dirty="0">
                <a:solidFill>
                  <a:schemeClr val="tx1"/>
                </a:solidFill>
              </a:rPr>
              <a:t>of collaboration between teams within an organization </a:t>
            </a:r>
            <a:br>
              <a:rPr lang="en" dirty="0">
                <a:solidFill>
                  <a:schemeClr val="tx1"/>
                </a:solidFill>
              </a:rPr>
            </a:b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688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 txBox="1">
            <a:spLocks noGrp="1"/>
          </p:cNvSpPr>
          <p:nvPr>
            <p:ph type="title"/>
          </p:nvPr>
        </p:nvSpPr>
        <p:spPr>
          <a:xfrm>
            <a:off x="953010" y="766167"/>
            <a:ext cx="7641548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Characteristics of a microservice</a:t>
            </a:r>
            <a:endParaRPr dirty="0"/>
          </a:p>
        </p:txBody>
      </p:sp>
      <p:sp>
        <p:nvSpPr>
          <p:cNvPr id="172" name="Google Shape;172;p25"/>
          <p:cNvSpPr txBox="1">
            <a:spLocks noGrp="1"/>
          </p:cNvSpPr>
          <p:nvPr>
            <p:ph type="body" idx="1"/>
          </p:nvPr>
        </p:nvSpPr>
        <p:spPr>
          <a:xfrm>
            <a:off x="953010" y="1624864"/>
            <a:ext cx="10392769" cy="5004536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152396" indent="0">
              <a:buNone/>
            </a:pPr>
            <a:endParaRPr lang="en" dirty="0"/>
          </a:p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Self-contained</a:t>
            </a:r>
            <a:endParaRPr dirty="0">
              <a:solidFill>
                <a:schemeClr val="tx1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r>
              <a:rPr lang="en" b="1" dirty="0">
                <a:solidFill>
                  <a:srgbClr val="00B050"/>
                </a:solidFill>
              </a:rPr>
              <a:t>Lightweight</a:t>
            </a:r>
            <a:endParaRPr b="1" dirty="0">
              <a:solidFill>
                <a:srgbClr val="00B050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Implementation-</a:t>
            </a:r>
            <a:r>
              <a:rPr lang="en" b="1" dirty="0">
                <a:solidFill>
                  <a:srgbClr val="00B050"/>
                </a:solidFill>
              </a:rPr>
              <a:t>independent</a:t>
            </a:r>
            <a:endParaRPr b="1" dirty="0">
              <a:solidFill>
                <a:srgbClr val="00B050"/>
              </a:solidFill>
            </a:endParaRPr>
          </a:p>
          <a:p>
            <a:pPr>
              <a:buAutoNum type="arabicPeriod"/>
            </a:pPr>
            <a:endParaRPr lang="en" dirty="0"/>
          </a:p>
          <a:p>
            <a:pPr>
              <a:buAutoNum type="arabicPeriod"/>
            </a:pPr>
            <a:r>
              <a:rPr lang="en" b="1" dirty="0">
                <a:solidFill>
                  <a:srgbClr val="00B050"/>
                </a:solidFill>
              </a:rPr>
              <a:t>Independently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deployable</a:t>
            </a:r>
            <a:endParaRPr dirty="0">
              <a:solidFill>
                <a:schemeClr val="tx1"/>
              </a:solidFill>
            </a:endParaRPr>
          </a:p>
          <a:p>
            <a:pPr>
              <a:buAutoNum type="arabicPeriod"/>
            </a:pPr>
            <a:endParaRPr lang="en" dirty="0">
              <a:solidFill>
                <a:schemeClr val="tx1"/>
              </a:solidFill>
            </a:endParaRPr>
          </a:p>
          <a:p>
            <a:pPr>
              <a:buAutoNum type="arabicPeriod"/>
            </a:pPr>
            <a:r>
              <a:rPr lang="en" dirty="0">
                <a:solidFill>
                  <a:schemeClr val="tx1"/>
                </a:solidFill>
              </a:rPr>
              <a:t>Business-oriented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303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928947" y="773033"/>
            <a:ext cx="9017158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Monolith vs. </a:t>
            </a:r>
            <a:r>
              <a:rPr lang="en" dirty="0">
                <a:solidFill>
                  <a:srgbClr val="00B0F0"/>
                </a:solidFill>
              </a:rPr>
              <a:t>Microservices</a:t>
            </a:r>
            <a:r>
              <a:rPr lang="en" dirty="0"/>
              <a:t> Architecture</a:t>
            </a:r>
            <a:endParaRPr dirty="0"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928947" y="1893569"/>
            <a:ext cx="53332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" b="1" dirty="0">
                <a:solidFill>
                  <a:srgbClr val="FF0000"/>
                </a:solidFill>
              </a:rPr>
              <a:t>MONOLITH (3-Tier, etc.)</a:t>
            </a:r>
            <a:endParaRPr b="1" dirty="0">
              <a:solidFill>
                <a:srgbClr val="FF0000"/>
              </a:solidFill>
            </a:endParaRPr>
          </a:p>
          <a:p>
            <a:pPr>
              <a:spcBef>
                <a:spcPts val="2133"/>
              </a:spcBef>
            </a:pPr>
            <a:endParaRPr lang="en" dirty="0">
              <a:solidFill>
                <a:schemeClr val="tx1"/>
              </a:solidFill>
            </a:endParaRPr>
          </a:p>
          <a:p>
            <a:pPr>
              <a:spcBef>
                <a:spcPts val="2133"/>
              </a:spcBef>
            </a:pPr>
            <a:r>
              <a:rPr lang="en" dirty="0">
                <a:solidFill>
                  <a:schemeClr val="tx1"/>
                </a:solidFill>
              </a:rPr>
              <a:t>Server-side system based on </a:t>
            </a:r>
            <a:r>
              <a:rPr lang="en" b="1" dirty="0">
                <a:solidFill>
                  <a:srgbClr val="FF0000"/>
                </a:solidFill>
              </a:rPr>
              <a:t>single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application</a:t>
            </a:r>
            <a:endParaRPr dirty="0">
              <a:solidFill>
                <a:schemeClr val="tx1"/>
              </a:solidFill>
            </a:endParaRPr>
          </a:p>
          <a:p>
            <a:endParaRPr lang="en" dirty="0"/>
          </a:p>
          <a:p>
            <a:endParaRPr lang="en" b="1" dirty="0">
              <a:solidFill>
                <a:srgbClr val="00B050"/>
              </a:solidFill>
            </a:endParaRPr>
          </a:p>
          <a:p>
            <a:r>
              <a:rPr lang="en" b="1" dirty="0">
                <a:solidFill>
                  <a:srgbClr val="00B050"/>
                </a:solidFill>
              </a:rPr>
              <a:t>Easy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to develop, deploy, manage</a:t>
            </a:r>
          </a:p>
          <a:p>
            <a:endParaRPr lang="en" dirty="0">
              <a:solidFill>
                <a:schemeClr val="tx1"/>
              </a:solidFill>
            </a:endParaRPr>
          </a:p>
          <a:p>
            <a:endParaRPr lang="en" dirty="0">
              <a:solidFill>
                <a:schemeClr val="tx1"/>
              </a:solidFill>
            </a:endParaRPr>
          </a:p>
          <a:p>
            <a:r>
              <a:rPr lang="en" dirty="0">
                <a:solidFill>
                  <a:schemeClr val="tx1"/>
                </a:solidFill>
              </a:rPr>
              <a:t>Classic 3-Tier web application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91" name="Google Shape;91;p18"/>
          <p:cNvSpPr txBox="1">
            <a:spLocks noGrp="1"/>
          </p:cNvSpPr>
          <p:nvPr>
            <p:ph type="body" idx="2"/>
          </p:nvPr>
        </p:nvSpPr>
        <p:spPr>
          <a:xfrm>
            <a:off x="6298821" y="1893568"/>
            <a:ext cx="5014874" cy="472379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" b="1" dirty="0">
                <a:solidFill>
                  <a:srgbClr val="00B0F0"/>
                </a:solidFill>
              </a:rPr>
              <a:t>MICROSERVICES</a:t>
            </a:r>
            <a:endParaRPr b="1" dirty="0">
              <a:solidFill>
                <a:srgbClr val="00B0F0"/>
              </a:solidFill>
            </a:endParaRPr>
          </a:p>
          <a:p>
            <a:pPr>
              <a:spcBef>
                <a:spcPts val="2133"/>
              </a:spcBef>
            </a:pPr>
            <a:endParaRPr lang="en" b="1" dirty="0">
              <a:solidFill>
                <a:srgbClr val="00B050"/>
              </a:solidFill>
            </a:endParaRPr>
          </a:p>
          <a:p>
            <a:pPr>
              <a:spcBef>
                <a:spcPts val="2133"/>
              </a:spcBef>
            </a:pPr>
            <a:r>
              <a:rPr lang="en" b="1" dirty="0">
                <a:solidFill>
                  <a:srgbClr val="00B050"/>
                </a:solidFill>
              </a:rPr>
              <a:t>Every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app function is its </a:t>
            </a:r>
            <a:r>
              <a:rPr lang="en" b="1" dirty="0">
                <a:solidFill>
                  <a:srgbClr val="00B050"/>
                </a:solidFill>
              </a:rPr>
              <a:t>own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service</a:t>
            </a:r>
            <a:endParaRPr dirty="0">
              <a:solidFill>
                <a:schemeClr val="tx1"/>
              </a:solidFill>
            </a:endParaRPr>
          </a:p>
          <a:p>
            <a:endParaRPr lang="en" dirty="0"/>
          </a:p>
          <a:p>
            <a:endParaRPr lang="en" b="1" dirty="0">
              <a:solidFill>
                <a:srgbClr val="00B050"/>
              </a:solidFill>
            </a:endParaRPr>
          </a:p>
          <a:p>
            <a:r>
              <a:rPr lang="en" b="1" dirty="0">
                <a:solidFill>
                  <a:srgbClr val="00B050"/>
                </a:solidFill>
              </a:rPr>
              <a:t>Own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container</a:t>
            </a:r>
            <a:endParaRPr dirty="0">
              <a:solidFill>
                <a:schemeClr val="tx1"/>
              </a:solidFill>
            </a:endParaRPr>
          </a:p>
          <a:p>
            <a:endParaRPr lang="en" dirty="0"/>
          </a:p>
          <a:p>
            <a:endParaRPr lang="en" b="1" dirty="0">
              <a:solidFill>
                <a:srgbClr val="00B050"/>
              </a:solidFill>
            </a:endParaRPr>
          </a:p>
          <a:p>
            <a:r>
              <a:rPr lang="en" b="1" dirty="0">
                <a:solidFill>
                  <a:srgbClr val="00B050"/>
                </a:solidFill>
              </a:rPr>
              <a:t>Communicates</a:t>
            </a:r>
            <a:r>
              <a:rPr lang="en" dirty="0"/>
              <a:t> </a:t>
            </a:r>
            <a:r>
              <a:rPr lang="en" dirty="0">
                <a:solidFill>
                  <a:schemeClr val="tx1"/>
                </a:solidFill>
              </a:rPr>
              <a:t>via APIs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86407C99-44E7-4910-148E-1D346F4C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>
            <a:extLst>
              <a:ext uri="{FF2B5EF4-FFF2-40B4-BE49-F238E27FC236}">
                <a16:creationId xmlns:a16="http://schemas.microsoft.com/office/drawing/2014/main" id="{ECECBAFE-B3BD-DED7-6404-0294ED21DE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28946" y="773033"/>
            <a:ext cx="9672917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SOA/SOAP vs. </a:t>
            </a:r>
            <a:r>
              <a:rPr lang="en" dirty="0">
                <a:solidFill>
                  <a:srgbClr val="00B0F0"/>
                </a:solidFill>
              </a:rPr>
              <a:t>Microservices</a:t>
            </a:r>
            <a:r>
              <a:rPr lang="en" dirty="0"/>
              <a:t> Architecture</a:t>
            </a:r>
            <a:endParaRPr dirty="0"/>
          </a:p>
        </p:txBody>
      </p:sp>
      <p:sp>
        <p:nvSpPr>
          <p:cNvPr id="90" name="Google Shape;90;p18">
            <a:extLst>
              <a:ext uri="{FF2B5EF4-FFF2-40B4-BE49-F238E27FC236}">
                <a16:creationId xmlns:a16="http://schemas.microsoft.com/office/drawing/2014/main" id="{3455A77C-FC5F-F147-5E1A-69A0D0384A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00" y="1850436"/>
            <a:ext cx="5333200" cy="4555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" b="1" dirty="0">
                <a:solidFill>
                  <a:srgbClr val="FF0000"/>
                </a:solidFill>
              </a:rPr>
              <a:t>Service Oriented Architecture (SOA)</a:t>
            </a:r>
            <a:endParaRPr lang="en" dirty="0">
              <a:solidFill>
                <a:schemeClr val="tx1"/>
              </a:solidFill>
            </a:endParaRP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Large, coarse-grained services; often uses SOAP/ESB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Heavy standards (XML, WSDL)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Shared databases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Centralized architecture</a:t>
            </a:r>
          </a:p>
        </p:txBody>
      </p:sp>
      <p:sp>
        <p:nvSpPr>
          <p:cNvPr id="91" name="Google Shape;91;p18">
            <a:extLst>
              <a:ext uri="{FF2B5EF4-FFF2-40B4-BE49-F238E27FC236}">
                <a16:creationId xmlns:a16="http://schemas.microsoft.com/office/drawing/2014/main" id="{D11056CA-504E-4D31-49D3-CB92132F6D8C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5620" y="1850436"/>
            <a:ext cx="5014874" cy="4723799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marL="0" indent="0">
              <a:buNone/>
            </a:pPr>
            <a:r>
              <a:rPr lang="en" b="1" dirty="0">
                <a:solidFill>
                  <a:srgbClr val="00B0F0"/>
                </a:solidFill>
              </a:rPr>
              <a:t>MICROSERVICES</a:t>
            </a:r>
            <a:endParaRPr lang="en" b="1" dirty="0">
              <a:solidFill>
                <a:srgbClr val="00B050"/>
              </a:solidFill>
            </a:endParaRP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Small, independently deployable services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Lightweight (REST, JSON, </a:t>
            </a:r>
            <a:r>
              <a:rPr lang="en-US" dirty="0" err="1">
                <a:solidFill>
                  <a:schemeClr val="tx1"/>
                </a:solidFill>
              </a:rPr>
              <a:t>gRPC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Each service owns its own DB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Decentralized</a:t>
            </a:r>
          </a:p>
          <a:p>
            <a:pPr>
              <a:spcBef>
                <a:spcPts val="2133"/>
              </a:spcBef>
            </a:pPr>
            <a:r>
              <a:rPr lang="en-US" dirty="0">
                <a:solidFill>
                  <a:schemeClr val="tx1"/>
                </a:solidFill>
              </a:rPr>
              <a:t>Cloud-native</a:t>
            </a:r>
          </a:p>
        </p:txBody>
      </p:sp>
    </p:spTree>
    <p:extLst>
      <p:ext uri="{BB962C8B-B14F-4D97-AF65-F5344CB8AC3E}">
        <p14:creationId xmlns:p14="http://schemas.microsoft.com/office/powerpoint/2010/main" val="21497146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hapter 6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B0F0"/>
                </a:solidFill>
              </a:rPr>
              <a:t>Microservices</a:t>
            </a:r>
            <a:r>
              <a:rPr dirty="0"/>
              <a:t> architecture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 software service is a software component that can be accessed from remote computers over the Internet. Given an input, a service produces a corresponding output, without side effects.…"/>
          <p:cNvSpPr txBox="1">
            <a:spLocks noGrp="1"/>
          </p:cNvSpPr>
          <p:nvPr>
            <p:ph type="body" idx="1"/>
          </p:nvPr>
        </p:nvSpPr>
        <p:spPr>
          <a:xfrm>
            <a:off x="962342" y="1538388"/>
            <a:ext cx="10363384" cy="5103043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S</a:t>
            </a:r>
            <a:r>
              <a:rPr dirty="0">
                <a:solidFill>
                  <a:schemeClr val="tx1"/>
                </a:solidFill>
              </a:rPr>
              <a:t>oftware service is a component </a:t>
            </a:r>
            <a:r>
              <a:rPr b="1" dirty="0">
                <a:solidFill>
                  <a:srgbClr val="00B050"/>
                </a:solidFill>
              </a:rPr>
              <a:t>accessed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from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remote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</a:t>
            </a:r>
            <a:r>
              <a:rPr dirty="0">
                <a:solidFill>
                  <a:schemeClr val="tx1"/>
                </a:solidFill>
              </a:rPr>
              <a:t>ervice is </a:t>
            </a:r>
            <a:r>
              <a:rPr b="1" dirty="0">
                <a:solidFill>
                  <a:srgbClr val="00B050"/>
                </a:solidFill>
              </a:rPr>
              <a:t>accessed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through its </a:t>
            </a:r>
            <a:r>
              <a:rPr b="1" dirty="0">
                <a:solidFill>
                  <a:srgbClr val="00B050"/>
                </a:solidFill>
              </a:rPr>
              <a:t>interface</a:t>
            </a:r>
            <a:endParaRPr lang="en-US" b="1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A</a:t>
            </a:r>
            <a:r>
              <a:rPr dirty="0">
                <a:solidFill>
                  <a:schemeClr val="tx1"/>
                </a:solidFill>
              </a:rPr>
              <a:t>ll </a:t>
            </a:r>
            <a:r>
              <a:rPr b="1" dirty="0">
                <a:solidFill>
                  <a:srgbClr val="00B050"/>
                </a:solidFill>
              </a:rPr>
              <a:t>details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of the implementation are </a:t>
            </a:r>
            <a:r>
              <a:rPr b="1" dirty="0">
                <a:solidFill>
                  <a:srgbClr val="FF0000"/>
                </a:solidFill>
              </a:rPr>
              <a:t>hidden</a:t>
            </a:r>
            <a:endParaRPr lang="en-US" b="1" dirty="0">
              <a:solidFill>
                <a:srgbClr val="FF0000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D</a:t>
            </a:r>
            <a:r>
              <a:rPr dirty="0">
                <a:solidFill>
                  <a:schemeClr val="tx1"/>
                </a:solidFill>
              </a:rPr>
              <a:t>o </a:t>
            </a:r>
            <a:r>
              <a:rPr b="1" dirty="0">
                <a:solidFill>
                  <a:srgbClr val="FF0000"/>
                </a:solidFill>
              </a:rPr>
              <a:t>not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maintain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any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internal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state</a:t>
            </a:r>
            <a:r>
              <a:rPr dirty="0">
                <a:solidFill>
                  <a:schemeClr val="tx1"/>
                </a:solidFill>
              </a:rPr>
              <a:t>.</a:t>
            </a:r>
            <a:r>
              <a:rPr dirty="0"/>
              <a:t> </a:t>
            </a:r>
            <a:endParaRPr lang="en-US" dirty="0"/>
          </a:p>
          <a:p>
            <a:pPr lvl="1"/>
            <a:r>
              <a:rPr b="1" dirty="0">
                <a:solidFill>
                  <a:srgbClr val="FF0000"/>
                </a:solidFill>
              </a:rPr>
              <a:t>State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information is stored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I</a:t>
            </a:r>
            <a:r>
              <a:rPr dirty="0">
                <a:solidFill>
                  <a:schemeClr val="tx1"/>
                </a:solidFill>
              </a:rPr>
              <a:t>n a database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M</a:t>
            </a:r>
            <a:r>
              <a:rPr dirty="0">
                <a:solidFill>
                  <a:schemeClr val="tx1"/>
                </a:solidFill>
              </a:rPr>
              <a:t>aintained by the service requestor</a:t>
            </a:r>
          </a:p>
        </p:txBody>
      </p:sp>
      <p:sp>
        <p:nvSpPr>
          <p:cNvPr id="66" name="Software services"/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4387700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Software services</a:t>
            </a:r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C7077-AE2A-7512-FA99-537481AB9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A software service is a software component that can be accessed from remote computers over the Internet. Given an input, a service produces a corresponding output, without side effects.…">
            <a:extLst>
              <a:ext uri="{FF2B5EF4-FFF2-40B4-BE49-F238E27FC236}">
                <a16:creationId xmlns:a16="http://schemas.microsoft.com/office/drawing/2014/main" id="{004369F4-DC9B-228F-3271-E8F40CF3E8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529766"/>
            <a:ext cx="10383437" cy="5131717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r>
              <a:rPr dirty="0">
                <a:solidFill>
                  <a:schemeClr val="tx1"/>
                </a:solidFill>
              </a:rPr>
              <a:t>When a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service request </a:t>
            </a:r>
            <a:r>
              <a:rPr dirty="0">
                <a:solidFill>
                  <a:schemeClr val="tx1"/>
                </a:solidFill>
              </a:rPr>
              <a:t>is made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T</a:t>
            </a:r>
            <a:r>
              <a:rPr dirty="0">
                <a:solidFill>
                  <a:schemeClr val="tx1"/>
                </a:solidFill>
              </a:rPr>
              <a:t>he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state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information may be </a:t>
            </a:r>
            <a:r>
              <a:rPr b="1" dirty="0">
                <a:solidFill>
                  <a:srgbClr val="FF0000"/>
                </a:solidFill>
              </a:rPr>
              <a:t>included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as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part of the request </a:t>
            </a:r>
            <a:endParaRPr lang="en-US" b="1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</a:t>
            </a:r>
            <a:r>
              <a:rPr dirty="0">
                <a:solidFill>
                  <a:schemeClr val="tx1"/>
                </a:solidFill>
              </a:rPr>
              <a:t>he </a:t>
            </a:r>
            <a:r>
              <a:rPr b="1" dirty="0">
                <a:solidFill>
                  <a:srgbClr val="00B050"/>
                </a:solidFill>
              </a:rPr>
              <a:t>updated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state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information is </a:t>
            </a:r>
            <a:r>
              <a:rPr b="1" dirty="0">
                <a:solidFill>
                  <a:srgbClr val="FF0000"/>
                </a:solidFill>
              </a:rPr>
              <a:t>returned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as part of the </a:t>
            </a:r>
            <a:r>
              <a:rPr b="1" dirty="0">
                <a:solidFill>
                  <a:srgbClr val="FF0000"/>
                </a:solidFill>
              </a:rPr>
              <a:t>service </a:t>
            </a:r>
            <a:r>
              <a:rPr lang="en-US" b="1" dirty="0">
                <a:solidFill>
                  <a:srgbClr val="FF0000"/>
                </a:solidFill>
              </a:rPr>
              <a:t>response</a:t>
            </a:r>
            <a:endParaRPr b="1" dirty="0">
              <a:solidFill>
                <a:srgbClr val="FF0000"/>
              </a:solidFill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N</a:t>
            </a:r>
            <a:r>
              <a:rPr b="1" dirty="0">
                <a:solidFill>
                  <a:srgbClr val="FF0000"/>
                </a:solidFill>
              </a:rPr>
              <a:t>o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local state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</a:t>
            </a:r>
            <a:r>
              <a:rPr dirty="0">
                <a:solidFill>
                  <a:schemeClr val="tx1"/>
                </a:solidFill>
              </a:rPr>
              <a:t>ervices can be dynamically </a:t>
            </a:r>
            <a:r>
              <a:rPr b="1" dirty="0">
                <a:solidFill>
                  <a:srgbClr val="FF0000"/>
                </a:solidFill>
              </a:rPr>
              <a:t>reallocated</a:t>
            </a:r>
            <a:r>
              <a:rPr dirty="0"/>
              <a:t> </a:t>
            </a:r>
            <a:r>
              <a:rPr lang="en-US" sz="1800" dirty="0"/>
              <a:t>(</a:t>
            </a:r>
            <a:r>
              <a:rPr sz="1800" dirty="0">
                <a:solidFill>
                  <a:schemeClr val="tx1"/>
                </a:solidFill>
              </a:rPr>
              <a:t>from one virtual server to another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r>
              <a:rPr dirty="0">
                <a:solidFill>
                  <a:schemeClr val="tx1"/>
                </a:solidFill>
              </a:rPr>
              <a:t> 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R</a:t>
            </a:r>
            <a:r>
              <a:rPr dirty="0">
                <a:solidFill>
                  <a:schemeClr val="tx1"/>
                </a:solidFill>
              </a:rPr>
              <a:t>eplicated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across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several servers</a:t>
            </a:r>
          </a:p>
        </p:txBody>
      </p:sp>
      <p:sp>
        <p:nvSpPr>
          <p:cNvPr id="66" name="Software services">
            <a:extLst>
              <a:ext uri="{FF2B5EF4-FFF2-40B4-BE49-F238E27FC236}">
                <a16:creationId xmlns:a16="http://schemas.microsoft.com/office/drawing/2014/main" id="{32A0A0DC-66A4-58D2-4EF4-0E331ACEEE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4387700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Software services</a:t>
            </a:r>
          </a:p>
        </p:txBody>
      </p:sp>
      <p:sp>
        <p:nvSpPr>
          <p:cNvPr id="67" name="Slide Number">
            <a:extLst>
              <a:ext uri="{FF2B5EF4-FFF2-40B4-BE49-F238E27FC236}">
                <a16:creationId xmlns:a16="http://schemas.microsoft.com/office/drawing/2014/main" id="{15037D2B-E3CA-0ED2-AC47-18600BA0B6AA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2354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icroservices are small-scale, stateless, services that have a single responsibility. They are combined to create applications.…"/>
          <p:cNvSpPr txBox="1">
            <a:spLocks noGrp="1"/>
          </p:cNvSpPr>
          <p:nvPr>
            <p:ph type="body" idx="1"/>
          </p:nvPr>
        </p:nvSpPr>
        <p:spPr>
          <a:xfrm>
            <a:off x="962342" y="1528611"/>
            <a:ext cx="10379426" cy="5120841"/>
          </a:xfrm>
          <a:prstGeom prst="rect">
            <a:avLst/>
          </a:prstGeom>
        </p:spPr>
        <p:txBody>
          <a:bodyPr/>
          <a:lstStyle/>
          <a:p>
            <a:endParaRPr lang="en-US" b="1" dirty="0">
              <a:solidFill>
                <a:srgbClr val="00B0F0"/>
              </a:solidFill>
            </a:endParaRPr>
          </a:p>
          <a:p>
            <a:r>
              <a:rPr b="1" dirty="0">
                <a:solidFill>
                  <a:srgbClr val="00B0F0"/>
                </a:solidFill>
              </a:rPr>
              <a:t>Microservices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00B050"/>
                </a:solidFill>
              </a:rPr>
              <a:t>S</a:t>
            </a:r>
            <a:r>
              <a:rPr b="1" dirty="0">
                <a:solidFill>
                  <a:srgbClr val="00B050"/>
                </a:solidFill>
              </a:rPr>
              <a:t>mall</a:t>
            </a:r>
            <a:r>
              <a:rPr dirty="0">
                <a:solidFill>
                  <a:schemeClr val="tx1"/>
                </a:solidFill>
              </a:rPr>
              <a:t>-scale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b="1" dirty="0">
                <a:solidFill>
                  <a:srgbClr val="FF0000"/>
                </a:solidFill>
              </a:rPr>
              <a:t>tateless</a:t>
            </a:r>
            <a:endParaRPr lang="en-US" b="1" dirty="0">
              <a:solidFill>
                <a:srgbClr val="FF0000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H</a:t>
            </a:r>
            <a:r>
              <a:rPr dirty="0">
                <a:solidFill>
                  <a:schemeClr val="tx1"/>
                </a:solidFill>
              </a:rPr>
              <a:t>ave a </a:t>
            </a:r>
            <a:r>
              <a:rPr b="1" dirty="0">
                <a:solidFill>
                  <a:srgbClr val="FF0000"/>
                </a:solidFill>
              </a:rPr>
              <a:t>single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responsibility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They are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b="1" dirty="0">
                <a:solidFill>
                  <a:srgbClr val="00B050"/>
                </a:solidFill>
              </a:rPr>
              <a:t>ombined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to create </a:t>
            </a:r>
            <a:r>
              <a:rPr lang="en-US" dirty="0">
                <a:solidFill>
                  <a:schemeClr val="tx1"/>
                </a:solidFill>
              </a:rPr>
              <a:t>an </a:t>
            </a:r>
            <a:r>
              <a:rPr b="1" dirty="0">
                <a:solidFill>
                  <a:srgbClr val="00B050"/>
                </a:solidFill>
              </a:rPr>
              <a:t>applications</a:t>
            </a:r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74" name="Microservices"/>
          <p:cNvSpPr txBox="1">
            <a:spLocks noGrp="1"/>
          </p:cNvSpPr>
          <p:nvPr>
            <p:ph type="title"/>
          </p:nvPr>
        </p:nvSpPr>
        <p:spPr>
          <a:xfrm>
            <a:off x="962342" y="717693"/>
            <a:ext cx="356955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Microservices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6FC61-D107-5F5D-61A3-8571A1C1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icroservices are small-scale, stateless, services that have a single responsibility. They are combined to create applications.…">
            <a:extLst>
              <a:ext uri="{FF2B5EF4-FFF2-40B4-BE49-F238E27FC236}">
                <a16:creationId xmlns:a16="http://schemas.microsoft.com/office/drawing/2014/main" id="{C85AC4A6-5F6C-3F04-4CC7-18768517F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528611"/>
            <a:ext cx="10379426" cy="5120841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They are completely </a:t>
            </a:r>
            <a:r>
              <a:rPr b="1" dirty="0">
                <a:solidFill>
                  <a:srgbClr val="FF0000"/>
                </a:solidFill>
              </a:rPr>
              <a:t>independent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r>
              <a:rPr lang="en-US" sz="2800" b="1" dirty="0">
                <a:solidFill>
                  <a:srgbClr val="00B050"/>
                </a:solidFill>
              </a:rPr>
              <a:t>O</a:t>
            </a:r>
            <a:r>
              <a:rPr sz="2800" b="1" dirty="0">
                <a:solidFill>
                  <a:srgbClr val="00B050"/>
                </a:solidFill>
              </a:rPr>
              <a:t>wn</a:t>
            </a:r>
            <a:r>
              <a:rPr sz="2800" dirty="0"/>
              <a:t> </a:t>
            </a:r>
            <a:r>
              <a:rPr sz="2800" dirty="0">
                <a:solidFill>
                  <a:schemeClr val="tx1"/>
                </a:solidFill>
              </a:rPr>
              <a:t>database</a:t>
            </a:r>
            <a:endParaRPr lang="en-US" sz="2800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UI management code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React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Angular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Vue.js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Next.js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Etc.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74" name="Microservices">
            <a:extLst>
              <a:ext uri="{FF2B5EF4-FFF2-40B4-BE49-F238E27FC236}">
                <a16:creationId xmlns:a16="http://schemas.microsoft.com/office/drawing/2014/main" id="{CC7C1028-16C6-CB14-95CB-E6D4286B0D5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17693"/>
            <a:ext cx="356955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Microservices</a:t>
            </a:r>
          </a:p>
        </p:txBody>
      </p:sp>
      <p:sp>
        <p:nvSpPr>
          <p:cNvPr id="75" name="Slide Number">
            <a:extLst>
              <a:ext uri="{FF2B5EF4-FFF2-40B4-BE49-F238E27FC236}">
                <a16:creationId xmlns:a16="http://schemas.microsoft.com/office/drawing/2014/main" id="{167E58E8-FF39-9656-9533-283DE8758ECC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12</a:t>
            </a:fld>
            <a:endParaRPr/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311A59E4-A3D8-3F5D-C1DB-987D42D9D7CA}"/>
              </a:ext>
            </a:extLst>
          </p:cNvPr>
          <p:cNvSpPr/>
          <p:nvPr/>
        </p:nvSpPr>
        <p:spPr>
          <a:xfrm rot="10800000">
            <a:off x="4903988" y="2471394"/>
            <a:ext cx="978408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428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A microservices architecture is an architectural style –  a tried and tested way of implementing a logical software architecture.…"/>
          <p:cNvSpPr txBox="1">
            <a:spLocks noGrp="1"/>
          </p:cNvSpPr>
          <p:nvPr>
            <p:ph type="body" idx="1"/>
          </p:nvPr>
        </p:nvSpPr>
        <p:spPr>
          <a:xfrm>
            <a:off x="962342" y="1636895"/>
            <a:ext cx="10387447" cy="4996515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A</a:t>
            </a:r>
            <a:r>
              <a:rPr dirty="0"/>
              <a:t> </a:t>
            </a:r>
            <a:r>
              <a:rPr b="1" dirty="0">
                <a:solidFill>
                  <a:srgbClr val="00B0F0"/>
                </a:solidFill>
              </a:rPr>
              <a:t>microservices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architecture is an </a:t>
            </a:r>
            <a:r>
              <a:rPr i="1" dirty="0">
                <a:solidFill>
                  <a:schemeClr val="tx1"/>
                </a:solidFill>
              </a:rPr>
              <a:t>architectural style</a:t>
            </a:r>
            <a:endParaRPr lang="en-US" i="1" dirty="0">
              <a:solidFill>
                <a:schemeClr val="tx1"/>
              </a:solidFill>
            </a:endParaRPr>
          </a:p>
          <a:p>
            <a:endParaRPr lang="en-US" i="1" dirty="0">
              <a:solidFill>
                <a:schemeClr val="tx1"/>
              </a:solidFill>
            </a:endParaRPr>
          </a:p>
          <a:p>
            <a:endParaRPr lang="en-US" b="1" dirty="0">
              <a:solidFill>
                <a:srgbClr val="00B050"/>
              </a:solidFill>
            </a:endParaRPr>
          </a:p>
          <a:p>
            <a:endParaRPr lang="en-US" b="1" dirty="0">
              <a:solidFill>
                <a:srgbClr val="00B050"/>
              </a:solidFill>
            </a:endParaRPr>
          </a:p>
          <a:p>
            <a:endParaRPr lang="en-US" sz="3200" b="1" dirty="0">
              <a:solidFill>
                <a:srgbClr val="00B050"/>
              </a:solidFill>
            </a:endParaRPr>
          </a:p>
          <a:p>
            <a:r>
              <a:rPr lang="en-US" sz="3200" b="1" dirty="0">
                <a:solidFill>
                  <a:srgbClr val="00B050"/>
                </a:solidFill>
              </a:rPr>
              <a:t>It ad</a:t>
            </a:r>
            <a:r>
              <a:rPr sz="3200" b="1" dirty="0">
                <a:solidFill>
                  <a:srgbClr val="00B050"/>
                </a:solidFill>
              </a:rPr>
              <a:t>dresses</a:t>
            </a:r>
            <a:r>
              <a:rPr sz="3200" dirty="0"/>
              <a:t> </a:t>
            </a:r>
            <a:r>
              <a:rPr sz="3200" b="1" dirty="0">
                <a:solidFill>
                  <a:srgbClr val="FF0000"/>
                </a:solidFill>
              </a:rPr>
              <a:t>two problems </a:t>
            </a:r>
            <a:r>
              <a:rPr lang="en-US" sz="3200" dirty="0">
                <a:solidFill>
                  <a:schemeClr val="tx1"/>
                </a:solidFill>
              </a:rPr>
              <a:t>of</a:t>
            </a:r>
            <a:r>
              <a:rPr sz="3200" dirty="0">
                <a:solidFill>
                  <a:schemeClr val="tx1"/>
                </a:solidFill>
              </a:rPr>
              <a:t> monolithic applications</a:t>
            </a:r>
            <a:r>
              <a:rPr lang="en-US" sz="3200" dirty="0">
                <a:solidFill>
                  <a:schemeClr val="tx1"/>
                </a:solidFill>
              </a:rPr>
              <a:t>: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110" name="Microservices architecture"/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6248584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Microservices architecture</a:t>
            </a:r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150548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1A49A-36CE-DA5B-8859-6B39E2684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A microservices architecture is an architectural style –  a tried and tested way of implementing a logical software architecture.…">
            <a:extLst>
              <a:ext uri="{FF2B5EF4-FFF2-40B4-BE49-F238E27FC236}">
                <a16:creationId xmlns:a16="http://schemas.microsoft.com/office/drawing/2014/main" id="{61BB640D-FD4F-13E4-C568-0F03CBEB4D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636895"/>
            <a:ext cx="10387447" cy="4996515"/>
          </a:xfrm>
          <a:prstGeom prst="rect">
            <a:avLst/>
          </a:prstGeom>
        </p:spPr>
        <p:txBody>
          <a:bodyPr/>
          <a:lstStyle/>
          <a:p>
            <a:pPr lvl="1"/>
            <a:r>
              <a:rPr lang="en-US" b="1" dirty="0">
                <a:solidFill>
                  <a:schemeClr val="tx1"/>
                </a:solidFill>
              </a:rPr>
              <a:t>1. </a:t>
            </a:r>
            <a:r>
              <a:rPr lang="en-US" dirty="0">
                <a:solidFill>
                  <a:schemeClr val="tx1"/>
                </a:solidFill>
              </a:rPr>
              <a:t>When a change is made to the </a:t>
            </a:r>
            <a:r>
              <a:rPr lang="en-US" sz="1600" dirty="0">
                <a:solidFill>
                  <a:schemeClr val="tx1"/>
                </a:solidFill>
              </a:rPr>
              <a:t>(mono) </a:t>
            </a:r>
            <a:r>
              <a:rPr lang="en-US" dirty="0">
                <a:solidFill>
                  <a:schemeClr val="tx1"/>
                </a:solidFill>
              </a:rPr>
              <a:t>system has to be:</a:t>
            </a:r>
            <a:r>
              <a:rPr lang="en-US" dirty="0"/>
              <a:t> </a:t>
            </a:r>
          </a:p>
          <a:p>
            <a:pPr lvl="2"/>
            <a:endParaRPr lang="en-US" b="1" dirty="0">
              <a:solidFill>
                <a:srgbClr val="FF0000"/>
              </a:solidFill>
            </a:endParaRP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Rebuilt</a:t>
            </a:r>
            <a:endParaRPr lang="en-US" b="1" dirty="0">
              <a:solidFill>
                <a:schemeClr val="tx1"/>
              </a:solidFill>
            </a:endParaRP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Re-tested</a:t>
            </a:r>
          </a:p>
          <a:p>
            <a:pPr lvl="2"/>
            <a:r>
              <a:rPr lang="en-US" b="1" dirty="0">
                <a:solidFill>
                  <a:srgbClr val="FF0000"/>
                </a:solidFill>
              </a:rPr>
              <a:t>Re-deployed</a:t>
            </a:r>
            <a:endParaRPr lang="en-US" dirty="0">
              <a:solidFill>
                <a:schemeClr val="tx1"/>
              </a:solidFill>
            </a:endParaRPr>
          </a:p>
          <a:p>
            <a:pPr marL="1405431" lvl="2" indent="0">
              <a:buNone/>
            </a:pPr>
            <a:endParaRPr lang="en-US" b="1" dirty="0">
              <a:solidFill>
                <a:srgbClr val="FF0000"/>
              </a:solidFill>
            </a:endParaRPr>
          </a:p>
          <a:p>
            <a:pPr marL="1405431" lvl="2" indent="0">
              <a:buNone/>
            </a:pPr>
            <a:r>
              <a:rPr lang="en-US" sz="2000" b="1" dirty="0">
                <a:solidFill>
                  <a:srgbClr val="FF0000"/>
                </a:solidFill>
              </a:rPr>
              <a:t>Slow process </a:t>
            </a:r>
            <a:r>
              <a:rPr lang="en-US" dirty="0">
                <a:solidFill>
                  <a:schemeClr val="tx1"/>
                </a:solidFill>
              </a:rPr>
              <a:t>(as changes to one part of the system </a:t>
            </a:r>
            <a:r>
              <a:rPr lang="en-US" b="1" dirty="0">
                <a:solidFill>
                  <a:srgbClr val="FF0000"/>
                </a:solidFill>
              </a:rPr>
              <a:t>affect other components)</a:t>
            </a:r>
            <a:r>
              <a:rPr lang="en-US" sz="2000" dirty="0">
                <a:solidFill>
                  <a:schemeClr val="tx1"/>
                </a:solidFill>
              </a:rPr>
              <a:t>.  </a:t>
            </a:r>
          </a:p>
        </p:txBody>
      </p:sp>
      <p:sp>
        <p:nvSpPr>
          <p:cNvPr id="110" name="Microservices architecture">
            <a:extLst>
              <a:ext uri="{FF2B5EF4-FFF2-40B4-BE49-F238E27FC236}">
                <a16:creationId xmlns:a16="http://schemas.microsoft.com/office/drawing/2014/main" id="{3208FD44-05F5-1DDD-8D1D-4EF0BADC2E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6248584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Microservices architecture</a:t>
            </a:r>
          </a:p>
        </p:txBody>
      </p:sp>
      <p:sp>
        <p:nvSpPr>
          <p:cNvPr id="111" name="Slide Number">
            <a:extLst>
              <a:ext uri="{FF2B5EF4-FFF2-40B4-BE49-F238E27FC236}">
                <a16:creationId xmlns:a16="http://schemas.microsoft.com/office/drawing/2014/main" id="{4597B20D-C7FD-7ADD-889F-E0B52CE8A49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786367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30C44-B732-F149-3BE3-5BA4B103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A microservices architecture is an architectural style –  a tried and tested way of implementing a logical software architecture.…">
            <a:extLst>
              <a:ext uri="{FF2B5EF4-FFF2-40B4-BE49-F238E27FC236}">
                <a16:creationId xmlns:a16="http://schemas.microsoft.com/office/drawing/2014/main" id="{976CFB7B-CD64-610A-D2B4-AC3FCC0FF0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636895"/>
            <a:ext cx="10387447" cy="4996515"/>
          </a:xfrm>
          <a:prstGeom prst="rect">
            <a:avLst/>
          </a:prstGeom>
        </p:spPr>
        <p:txBody>
          <a:bodyPr/>
          <a:lstStyle/>
          <a:p>
            <a:pPr lvl="1"/>
            <a:r>
              <a:rPr lang="en-US" b="1" dirty="0">
                <a:solidFill>
                  <a:schemeClr val="tx1"/>
                </a:solidFill>
              </a:rPr>
              <a:t>2. </a:t>
            </a:r>
            <a:r>
              <a:rPr dirty="0">
                <a:solidFill>
                  <a:schemeClr val="tx1"/>
                </a:solidFill>
              </a:rPr>
              <a:t>As the </a:t>
            </a:r>
            <a:r>
              <a:rPr b="1" dirty="0">
                <a:solidFill>
                  <a:srgbClr val="00B050"/>
                </a:solidFill>
              </a:rPr>
              <a:t>demand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on the </a:t>
            </a:r>
            <a:r>
              <a:rPr lang="en-US" sz="1600" dirty="0">
                <a:solidFill>
                  <a:schemeClr val="tx1"/>
                </a:solidFill>
              </a:rPr>
              <a:t>(mono) </a:t>
            </a:r>
            <a:r>
              <a:rPr dirty="0">
                <a:solidFill>
                  <a:schemeClr val="tx1"/>
                </a:solidFill>
              </a:rPr>
              <a:t>system </a:t>
            </a:r>
            <a:r>
              <a:rPr b="1" dirty="0">
                <a:solidFill>
                  <a:srgbClr val="FF0000"/>
                </a:solidFill>
              </a:rPr>
              <a:t>increases</a:t>
            </a:r>
            <a:r>
              <a:rPr dirty="0">
                <a:solidFill>
                  <a:schemeClr val="tx1"/>
                </a:solidFill>
              </a:rPr>
              <a:t>, the system has to be </a:t>
            </a:r>
            <a:r>
              <a:rPr b="1" dirty="0">
                <a:solidFill>
                  <a:srgbClr val="FF0000"/>
                </a:solidFill>
              </a:rPr>
              <a:t>scaled</a:t>
            </a:r>
            <a:r>
              <a:rPr lang="en-US" b="1" dirty="0">
                <a:solidFill>
                  <a:srgbClr val="FF0000"/>
                </a:solidFill>
              </a:rPr>
              <a:t>:</a:t>
            </a:r>
          </a:p>
          <a:p>
            <a:pPr lvl="2"/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E</a:t>
            </a:r>
            <a:r>
              <a:rPr dirty="0">
                <a:solidFill>
                  <a:schemeClr val="tx1"/>
                </a:solidFill>
              </a:rPr>
              <a:t>ven if the </a:t>
            </a:r>
            <a:r>
              <a:rPr b="1" dirty="0">
                <a:solidFill>
                  <a:srgbClr val="00B050"/>
                </a:solidFill>
              </a:rPr>
              <a:t>demand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is </a:t>
            </a:r>
            <a:r>
              <a:rPr lang="en-US" dirty="0">
                <a:solidFill>
                  <a:schemeClr val="tx1"/>
                </a:solidFill>
              </a:rPr>
              <a:t>limited</a:t>
            </a:r>
            <a:r>
              <a:rPr dirty="0">
                <a:solidFill>
                  <a:schemeClr val="tx1"/>
                </a:solidFill>
              </a:rPr>
              <a:t> to a </a:t>
            </a:r>
            <a:r>
              <a:rPr b="1" dirty="0">
                <a:solidFill>
                  <a:srgbClr val="FF0000"/>
                </a:solidFill>
              </a:rPr>
              <a:t>small </a:t>
            </a:r>
            <a:r>
              <a:rPr lang="en-US" b="1" dirty="0">
                <a:solidFill>
                  <a:srgbClr val="FF0000"/>
                </a:solidFill>
              </a:rPr>
              <a:t>#</a:t>
            </a:r>
            <a:r>
              <a:rPr b="1" dirty="0">
                <a:solidFill>
                  <a:srgbClr val="FF0000"/>
                </a:solidFill>
              </a:rPr>
              <a:t> of components</a:t>
            </a:r>
            <a:r>
              <a:rPr dirty="0">
                <a:solidFill>
                  <a:schemeClr val="tx1"/>
                </a:solidFill>
              </a:rPr>
              <a:t>.</a:t>
            </a:r>
            <a:r>
              <a:rPr dirty="0"/>
              <a:t> </a:t>
            </a:r>
            <a:endParaRPr lang="en-US" dirty="0"/>
          </a:p>
          <a:p>
            <a:pPr lvl="2"/>
            <a:endParaRPr lang="en-US" dirty="0"/>
          </a:p>
          <a:p>
            <a:pPr lvl="2"/>
            <a:r>
              <a:rPr lang="en-US" dirty="0"/>
              <a:t>Microservices: ‘scaling-out’ of a </a:t>
            </a:r>
            <a:r>
              <a:rPr lang="en-US" sz="1400" dirty="0"/>
              <a:t>(one) </a:t>
            </a:r>
            <a:r>
              <a:rPr lang="en-US" dirty="0"/>
              <a:t>service is easy:</a:t>
            </a:r>
          </a:p>
          <a:p>
            <a:pPr lvl="3"/>
            <a:endParaRPr lang="en-US" dirty="0"/>
          </a:p>
          <a:p>
            <a:pPr lvl="3"/>
            <a:r>
              <a:rPr lang="en-US" dirty="0"/>
              <a:t>This is typically, much cheaper than ’scaling-up’ </a:t>
            </a:r>
            <a:r>
              <a:rPr lang="en-US" sz="1200" dirty="0"/>
              <a:t>(whole mono system)</a:t>
            </a:r>
            <a:r>
              <a:rPr lang="en-US" dirty="0"/>
              <a:t>.</a:t>
            </a:r>
          </a:p>
          <a:p>
            <a:pPr lvl="2"/>
            <a:endParaRPr dirty="0"/>
          </a:p>
        </p:txBody>
      </p:sp>
      <p:sp>
        <p:nvSpPr>
          <p:cNvPr id="110" name="Microservices architecture">
            <a:extLst>
              <a:ext uri="{FF2B5EF4-FFF2-40B4-BE49-F238E27FC236}">
                <a16:creationId xmlns:a16="http://schemas.microsoft.com/office/drawing/2014/main" id="{9F357497-5776-752C-F664-A538DC5AD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6248584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Microservices architecture</a:t>
            </a:r>
          </a:p>
        </p:txBody>
      </p:sp>
      <p:sp>
        <p:nvSpPr>
          <p:cNvPr id="111" name="Slide Number">
            <a:extLst>
              <a:ext uri="{FF2B5EF4-FFF2-40B4-BE49-F238E27FC236}">
                <a16:creationId xmlns:a16="http://schemas.microsoft.com/office/drawing/2014/main" id="{9FA671A8-A722-B292-14D1-4C59B12176D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59423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Microservices are self-contained and run in separate processes.…"/>
          <p:cNvSpPr txBox="1">
            <a:spLocks noGrp="1"/>
          </p:cNvSpPr>
          <p:nvPr>
            <p:ph type="body" idx="1"/>
          </p:nvPr>
        </p:nvSpPr>
        <p:spPr>
          <a:xfrm>
            <a:off x="962342" y="1542399"/>
            <a:ext cx="10407500" cy="5107053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endParaRPr lang="en-US" b="1" dirty="0">
              <a:solidFill>
                <a:srgbClr val="00B0F0"/>
              </a:solidFill>
            </a:endParaRPr>
          </a:p>
          <a:p>
            <a:r>
              <a:rPr b="1" dirty="0">
                <a:solidFill>
                  <a:srgbClr val="00B0F0"/>
                </a:solidFill>
              </a:rPr>
              <a:t>Microservices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are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self-contained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and run in </a:t>
            </a:r>
            <a:r>
              <a:rPr b="1" dirty="0">
                <a:solidFill>
                  <a:srgbClr val="00B050"/>
                </a:solidFill>
              </a:rPr>
              <a:t>separate processes</a:t>
            </a:r>
            <a:r>
              <a:rPr lang="en-US" b="1" dirty="0">
                <a:solidFill>
                  <a:srgbClr val="00B050"/>
                </a:solidFill>
              </a:rPr>
              <a:t>: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>
                <a:solidFill>
                  <a:schemeClr val="tx1"/>
                </a:solidFill>
              </a:rPr>
              <a:t>E</a:t>
            </a:r>
            <a:r>
              <a:rPr dirty="0">
                <a:solidFill>
                  <a:schemeClr val="tx1"/>
                </a:solidFill>
              </a:rPr>
              <a:t>ach microservice may be </a:t>
            </a:r>
            <a:r>
              <a:rPr b="1" dirty="0">
                <a:solidFill>
                  <a:srgbClr val="FF0000"/>
                </a:solidFill>
              </a:rPr>
              <a:t>deployed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 its </a:t>
            </a:r>
            <a:r>
              <a:rPr b="1" dirty="0">
                <a:solidFill>
                  <a:srgbClr val="00B050"/>
                </a:solidFill>
              </a:rPr>
              <a:t>own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container. 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Multiple Tomcat war’s</a:t>
            </a:r>
          </a:p>
          <a:p>
            <a:pPr lvl="2"/>
            <a:r>
              <a:rPr lang="en-US" dirty="0">
                <a:solidFill>
                  <a:schemeClr val="tx1"/>
                </a:solidFill>
              </a:rPr>
              <a:t>Multiple Tomcats</a:t>
            </a:r>
          </a:p>
          <a:p>
            <a:pPr marL="152396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endParaRPr dirty="0">
              <a:solidFill>
                <a:schemeClr val="tx1"/>
              </a:solidFill>
            </a:endParaRPr>
          </a:p>
        </p:txBody>
      </p:sp>
      <p:sp>
        <p:nvSpPr>
          <p:cNvPr id="114" name="Benefits of microservices architecture"/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873912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Benefits of microservices architecture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147936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75B29-DDB7-46C5-08AF-7B6EB397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Microservices are self-contained and run in separate processes.…">
            <a:extLst>
              <a:ext uri="{FF2B5EF4-FFF2-40B4-BE49-F238E27FC236}">
                <a16:creationId xmlns:a16="http://schemas.microsoft.com/office/drawing/2014/main" id="{A3E11062-432E-1CEE-92B2-AD0763195D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542399"/>
            <a:ext cx="10407500" cy="5107053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A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b="1" dirty="0">
                <a:solidFill>
                  <a:srgbClr val="00B0F0"/>
                </a:solidFill>
              </a:rPr>
              <a:t>microservice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can be </a:t>
            </a:r>
            <a:r>
              <a:rPr b="1" dirty="0">
                <a:solidFill>
                  <a:srgbClr val="FF0000"/>
                </a:solidFill>
              </a:rPr>
              <a:t>stopped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and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restarted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without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affecting other parts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dirty="0">
                <a:solidFill>
                  <a:schemeClr val="tx1"/>
                </a:solidFill>
              </a:rPr>
              <a:t> 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If demand on a service </a:t>
            </a:r>
            <a:r>
              <a:rPr b="1" dirty="0">
                <a:solidFill>
                  <a:srgbClr val="FF0000"/>
                </a:solidFill>
              </a:rPr>
              <a:t>increases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lang="en-US" dirty="0">
                <a:solidFill>
                  <a:schemeClr val="tx1"/>
                </a:solidFill>
              </a:rPr>
              <a:t>more </a:t>
            </a:r>
            <a:r>
              <a:rPr dirty="0">
                <a:solidFill>
                  <a:schemeClr val="tx1"/>
                </a:solidFill>
              </a:rPr>
              <a:t>service can be </a:t>
            </a:r>
            <a:r>
              <a:rPr b="1" dirty="0">
                <a:solidFill>
                  <a:srgbClr val="00B050"/>
                </a:solidFill>
              </a:rPr>
              <a:t>quickly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created and </a:t>
            </a:r>
            <a:r>
              <a:rPr b="1" dirty="0">
                <a:solidFill>
                  <a:srgbClr val="00B050"/>
                </a:solidFill>
              </a:rPr>
              <a:t>deployed</a:t>
            </a:r>
            <a:r>
              <a:rPr dirty="0">
                <a:solidFill>
                  <a:schemeClr val="tx1"/>
                </a:solidFill>
              </a:rPr>
              <a:t>. 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dirty="0">
              <a:solidFill>
                <a:schemeClr val="tx1"/>
              </a:solidFill>
            </a:endParaRPr>
          </a:p>
        </p:txBody>
      </p:sp>
      <p:sp>
        <p:nvSpPr>
          <p:cNvPr id="114" name="Benefits of microservices architecture">
            <a:extLst>
              <a:ext uri="{FF2B5EF4-FFF2-40B4-BE49-F238E27FC236}">
                <a16:creationId xmlns:a16="http://schemas.microsoft.com/office/drawing/2014/main" id="{A5C1F0B0-F58B-2F29-6BCF-8909B07DB4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873912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Benefits of microservices architecture</a:t>
            </a:r>
          </a:p>
        </p:txBody>
      </p:sp>
      <p:sp>
        <p:nvSpPr>
          <p:cNvPr id="115" name="Slide Number">
            <a:extLst>
              <a:ext uri="{FF2B5EF4-FFF2-40B4-BE49-F238E27FC236}">
                <a16:creationId xmlns:a16="http://schemas.microsoft.com/office/drawing/2014/main" id="{A5B8B4A5-33DB-B44F-7FFC-4A82058745B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307748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E2A2-BF4F-8E2B-57B5-59F7A62D7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elf-contained Microservices do not have external dependencies. They manage their own data and implement their own user interface.…">
            <a:extLst>
              <a:ext uri="{FF2B5EF4-FFF2-40B4-BE49-F238E27FC236}">
                <a16:creationId xmlns:a16="http://schemas.microsoft.com/office/drawing/2014/main" id="{236573D1-0CB0-5F49-0B6A-D9FA440F18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6633"/>
            <a:ext cx="10374282" cy="5100788"/>
          </a:xfrm>
          <a:prstGeom prst="rect">
            <a:avLst/>
          </a:prstGeom>
        </p:spPr>
        <p:txBody>
          <a:bodyPr/>
          <a:lstStyle/>
          <a:p>
            <a:pPr defTabSz="394320">
              <a:spcBef>
                <a:spcPts val="1969"/>
              </a:spcBef>
              <a:defRPr sz="2304"/>
            </a:pPr>
            <a:r>
              <a:rPr lang="en-US" b="1" dirty="0">
                <a:solidFill>
                  <a:srgbClr val="00B050"/>
                </a:solidFill>
              </a:rPr>
              <a:t>Implementation-independent</a:t>
            </a:r>
            <a:endParaRPr lang="en-US" b="1" dirty="0">
              <a:solidFill>
                <a:srgbClr val="00B0F0"/>
              </a:solidFill>
            </a:endParaRPr>
          </a:p>
          <a:p>
            <a:pPr lvl="1" defTabSz="394320">
              <a:spcBef>
                <a:spcPts val="1969"/>
              </a:spcBef>
              <a:defRPr sz="2304"/>
            </a:pPr>
            <a:r>
              <a:rPr lang="en-US" b="1" dirty="0">
                <a:solidFill>
                  <a:srgbClr val="00B0F0"/>
                </a:solidFill>
              </a:rPr>
              <a:t>Microservices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may be implemented using </a:t>
            </a:r>
            <a:r>
              <a:rPr lang="en-US" b="1" dirty="0">
                <a:solidFill>
                  <a:srgbClr val="FF0000"/>
                </a:solidFill>
              </a:rPr>
              <a:t>different programming languages:</a:t>
            </a:r>
          </a:p>
          <a:p>
            <a:pPr lvl="2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Java (Spring Boot / Micronaut / </a:t>
            </a:r>
            <a:r>
              <a:rPr lang="en-US" dirty="0" err="1">
                <a:solidFill>
                  <a:schemeClr val="tx1"/>
                </a:solidFill>
              </a:rPr>
              <a:t>Quarkus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2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JavaScript  (Node.js / </a:t>
            </a:r>
            <a:r>
              <a:rPr lang="en-US" dirty="0" err="1">
                <a:solidFill>
                  <a:schemeClr val="tx1"/>
                </a:solidFill>
              </a:rPr>
              <a:t>NesUS</a:t>
            </a:r>
            <a:r>
              <a:rPr lang="en-US" dirty="0">
                <a:solidFill>
                  <a:schemeClr val="tx1"/>
                </a:solidFill>
              </a:rPr>
              <a:t> / </a:t>
            </a:r>
            <a:r>
              <a:rPr lang="en-US" dirty="0" err="1">
                <a:solidFill>
                  <a:schemeClr val="tx1"/>
                </a:solidFill>
              </a:rPr>
              <a:t>Espress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2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Python (</a:t>
            </a:r>
            <a:r>
              <a:rPr lang="en-US" dirty="0" err="1">
                <a:solidFill>
                  <a:schemeClr val="tx1"/>
                </a:solidFill>
              </a:rPr>
              <a:t>FastAPI</a:t>
            </a:r>
            <a:r>
              <a:rPr lang="en-US" dirty="0">
                <a:solidFill>
                  <a:schemeClr val="tx1"/>
                </a:solidFill>
              </a:rPr>
              <a:t> / Flask / Django REST)</a:t>
            </a:r>
          </a:p>
          <a:p>
            <a:pPr lvl="2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Etc.</a:t>
            </a:r>
          </a:p>
          <a:p>
            <a:pPr lvl="1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May use </a:t>
            </a:r>
            <a:r>
              <a:rPr lang="en-US" b="1" dirty="0">
                <a:solidFill>
                  <a:srgbClr val="FF0000"/>
                </a:solidFill>
              </a:rPr>
              <a:t>different technologies:</a:t>
            </a:r>
          </a:p>
          <a:p>
            <a:pPr lvl="2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Different types of database</a:t>
            </a:r>
            <a:endParaRPr lang="en-US" b="1" i="1" dirty="0">
              <a:solidFill>
                <a:schemeClr val="tx1"/>
              </a:solidFill>
            </a:endParaRPr>
          </a:p>
        </p:txBody>
      </p:sp>
      <p:sp>
        <p:nvSpPr>
          <p:cNvPr id="90" name="Table 6.1 Characteristics of microservices">
            <a:extLst>
              <a:ext uri="{FF2B5EF4-FFF2-40B4-BE49-F238E27FC236}">
                <a16:creationId xmlns:a16="http://schemas.microsoft.com/office/drawing/2014/main" id="{2C893307-BE5E-EEE3-558B-BEDAA6A481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945587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Characteristics of microservices</a:t>
            </a:r>
          </a:p>
        </p:txBody>
      </p:sp>
      <p:sp>
        <p:nvSpPr>
          <p:cNvPr id="91" name="Slide Number">
            <a:extLst>
              <a:ext uri="{FF2B5EF4-FFF2-40B4-BE49-F238E27FC236}">
                <a16:creationId xmlns:a16="http://schemas.microsoft.com/office/drawing/2014/main" id="{4768280F-8F63-FFC6-C610-F7DC839BDE7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3794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86D67-76DA-E4C8-C0D7-A4450581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elf-contained Microservices do not have external dependencies. They manage their own data and implement their own user interface.…">
            <a:extLst>
              <a:ext uri="{FF2B5EF4-FFF2-40B4-BE49-F238E27FC236}">
                <a16:creationId xmlns:a16="http://schemas.microsoft.com/office/drawing/2014/main" id="{A39840E5-9049-16DA-3813-9EF84B4185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6633"/>
            <a:ext cx="10374282" cy="5100788"/>
          </a:xfrm>
          <a:prstGeom prst="rect">
            <a:avLst/>
          </a:prstGeom>
        </p:spPr>
        <p:txBody>
          <a:bodyPr/>
          <a:lstStyle/>
          <a:p>
            <a:pPr defTabSz="394320">
              <a:spcBef>
                <a:spcPts val="1969"/>
              </a:spcBef>
              <a:defRPr sz="2304"/>
            </a:pPr>
            <a:r>
              <a:rPr b="1" dirty="0">
                <a:solidFill>
                  <a:srgbClr val="00B050"/>
                </a:solidFill>
              </a:rPr>
              <a:t>Independently deployable</a:t>
            </a:r>
            <a:endParaRPr lang="en-US" b="1" dirty="0">
              <a:solidFill>
                <a:srgbClr val="00B050"/>
              </a:solidFill>
            </a:endParaRPr>
          </a:p>
          <a:p>
            <a:pPr lvl="1" defTabSz="394320">
              <a:spcBef>
                <a:spcPts val="1969"/>
              </a:spcBef>
              <a:defRPr sz="2304"/>
            </a:pPr>
            <a:endParaRPr lang="en-US" dirty="0">
              <a:solidFill>
                <a:schemeClr val="tx1"/>
              </a:solidFill>
            </a:endParaRPr>
          </a:p>
          <a:p>
            <a:pPr lvl="1" defTabSz="394320">
              <a:spcBef>
                <a:spcPts val="1969"/>
              </a:spcBef>
              <a:defRPr sz="2304"/>
            </a:pPr>
            <a:r>
              <a:rPr dirty="0">
                <a:solidFill>
                  <a:schemeClr val="tx1"/>
                </a:solidFill>
              </a:rPr>
              <a:t>Each</a:t>
            </a:r>
            <a:r>
              <a:rPr dirty="0"/>
              <a:t> </a:t>
            </a:r>
            <a:r>
              <a:rPr b="1" dirty="0">
                <a:solidFill>
                  <a:srgbClr val="00B0F0"/>
                </a:solidFill>
              </a:rPr>
              <a:t>microservice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runs in its </a:t>
            </a:r>
            <a:r>
              <a:rPr b="1" dirty="0">
                <a:solidFill>
                  <a:srgbClr val="00B050"/>
                </a:solidFill>
              </a:rPr>
              <a:t>own process</a:t>
            </a:r>
            <a:endParaRPr lang="en-US" b="1" dirty="0">
              <a:solidFill>
                <a:srgbClr val="00B050"/>
              </a:solidFill>
            </a:endParaRPr>
          </a:p>
          <a:p>
            <a:pPr lvl="1" defTabSz="394320">
              <a:spcBef>
                <a:spcPts val="1969"/>
              </a:spcBef>
              <a:defRPr sz="2304"/>
            </a:pPr>
            <a:endParaRPr lang="en-US" dirty="0">
              <a:solidFill>
                <a:schemeClr val="tx1"/>
              </a:solidFill>
            </a:endParaRPr>
          </a:p>
          <a:p>
            <a:pPr lvl="1" defTabSz="394320">
              <a:spcBef>
                <a:spcPts val="1969"/>
              </a:spcBef>
              <a:defRPr sz="2304"/>
            </a:pPr>
            <a:r>
              <a:rPr lang="en-US" dirty="0">
                <a:solidFill>
                  <a:schemeClr val="tx1"/>
                </a:solidFill>
              </a:rPr>
              <a:t>I</a:t>
            </a:r>
            <a:r>
              <a:rPr dirty="0">
                <a:solidFill>
                  <a:schemeClr val="tx1"/>
                </a:solidFill>
              </a:rPr>
              <a:t>s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independently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deployable</a:t>
            </a:r>
          </a:p>
        </p:txBody>
      </p:sp>
      <p:sp>
        <p:nvSpPr>
          <p:cNvPr id="90" name="Table 6.1 Characteristics of microservices">
            <a:extLst>
              <a:ext uri="{FF2B5EF4-FFF2-40B4-BE49-F238E27FC236}">
                <a16:creationId xmlns:a16="http://schemas.microsoft.com/office/drawing/2014/main" id="{AC299226-4DF5-FC0F-F915-91BCF0622D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945587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Characteristics of microservices</a:t>
            </a:r>
          </a:p>
        </p:txBody>
      </p:sp>
      <p:sp>
        <p:nvSpPr>
          <p:cNvPr id="91" name="Slide Number">
            <a:extLst>
              <a:ext uri="{FF2B5EF4-FFF2-40B4-BE49-F238E27FC236}">
                <a16:creationId xmlns:a16="http://schemas.microsoft.com/office/drawing/2014/main" id="{6EFE4BEE-A332-9AD4-0141-480E082D32B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06842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57AA1-1C5A-61B8-0717-4DA0EC74D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elf-contained Microservices do not have external dependencies. They manage their own data and implement their own user interface.…">
            <a:extLst>
              <a:ext uri="{FF2B5EF4-FFF2-40B4-BE49-F238E27FC236}">
                <a16:creationId xmlns:a16="http://schemas.microsoft.com/office/drawing/2014/main" id="{1E9F8A4C-241C-96D6-B74A-6076751660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6633"/>
            <a:ext cx="10374282" cy="5100788"/>
          </a:xfrm>
          <a:prstGeom prst="rect">
            <a:avLst/>
          </a:prstGeom>
        </p:spPr>
        <p:txBody>
          <a:bodyPr/>
          <a:lstStyle/>
          <a:p>
            <a:pPr defTabSz="394320">
              <a:spcBef>
                <a:spcPts val="1969"/>
              </a:spcBef>
              <a:defRPr sz="2304" b="1" i="1"/>
            </a:pPr>
            <a:r>
              <a:rPr dirty="0">
                <a:solidFill>
                  <a:srgbClr val="00B050"/>
                </a:solidFill>
              </a:rPr>
              <a:t>Business-oriented</a:t>
            </a:r>
            <a:br>
              <a:rPr lang="en-US" dirty="0">
                <a:solidFill>
                  <a:srgbClr val="00B050"/>
                </a:solidFill>
              </a:rPr>
            </a:br>
            <a:endParaRPr lang="en-US" dirty="0">
              <a:solidFill>
                <a:srgbClr val="00B050"/>
              </a:solidFill>
            </a:endParaRPr>
          </a:p>
          <a:p>
            <a:pPr lvl="1" defTabSz="394320">
              <a:spcBef>
                <a:spcPts val="1969"/>
              </a:spcBef>
              <a:defRPr sz="2304" b="1" i="1"/>
            </a:pPr>
            <a:r>
              <a:rPr b="1" i="0" dirty="0">
                <a:solidFill>
                  <a:srgbClr val="00B0F0"/>
                </a:solidFill>
              </a:rPr>
              <a:t>Microservices</a:t>
            </a:r>
            <a:r>
              <a:rPr b="0" i="0" dirty="0"/>
              <a:t> </a:t>
            </a:r>
            <a:r>
              <a:rPr b="0" i="0" dirty="0">
                <a:solidFill>
                  <a:schemeClr val="tx1"/>
                </a:solidFill>
              </a:rPr>
              <a:t>should implement </a:t>
            </a:r>
            <a:r>
              <a:rPr b="1" i="0" dirty="0">
                <a:solidFill>
                  <a:srgbClr val="00B050"/>
                </a:solidFill>
              </a:rPr>
              <a:t>business </a:t>
            </a:r>
            <a:r>
              <a:rPr lang="en-US" b="1" i="0" dirty="0">
                <a:solidFill>
                  <a:srgbClr val="00B050"/>
                </a:solidFill>
              </a:rPr>
              <a:t>functions</a:t>
            </a:r>
            <a:endParaRPr lang="en-US" b="0" i="0" dirty="0"/>
          </a:p>
          <a:p>
            <a:pPr lvl="1" defTabSz="394320">
              <a:spcBef>
                <a:spcPts val="1969"/>
              </a:spcBef>
              <a:defRPr sz="2304" b="1" i="1"/>
            </a:pPr>
            <a:endParaRPr lang="en-US" b="0" i="0" dirty="0">
              <a:solidFill>
                <a:schemeClr val="tx1"/>
              </a:solidFill>
            </a:endParaRPr>
          </a:p>
          <a:p>
            <a:pPr lvl="1" defTabSz="394320">
              <a:spcBef>
                <a:spcPts val="1969"/>
              </a:spcBef>
              <a:defRPr sz="2304" b="1" i="1"/>
            </a:pPr>
            <a:r>
              <a:rPr lang="en-US" b="0" i="0" dirty="0">
                <a:solidFill>
                  <a:schemeClr val="tx1"/>
                </a:solidFill>
              </a:rPr>
              <a:t>R</a:t>
            </a:r>
            <a:r>
              <a:rPr b="0" i="0" dirty="0">
                <a:solidFill>
                  <a:schemeClr val="tx1"/>
                </a:solidFill>
              </a:rPr>
              <a:t>ather than simply provide a </a:t>
            </a:r>
            <a:r>
              <a:rPr b="1" i="0" dirty="0">
                <a:solidFill>
                  <a:srgbClr val="FF0000"/>
                </a:solidFill>
              </a:rPr>
              <a:t>technical service</a:t>
            </a:r>
            <a:r>
              <a:rPr b="0" i="0" dirty="0"/>
              <a:t>.</a:t>
            </a:r>
          </a:p>
        </p:txBody>
      </p:sp>
      <p:sp>
        <p:nvSpPr>
          <p:cNvPr id="90" name="Table 6.1 Characteristics of microservices">
            <a:extLst>
              <a:ext uri="{FF2B5EF4-FFF2-40B4-BE49-F238E27FC236}">
                <a16:creationId xmlns:a16="http://schemas.microsoft.com/office/drawing/2014/main" id="{67E095AA-3011-B2F6-0934-8739F460D3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945587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Characteristics of microservices</a:t>
            </a:r>
          </a:p>
        </p:txBody>
      </p:sp>
      <p:sp>
        <p:nvSpPr>
          <p:cNvPr id="91" name="Slide Number">
            <a:extLst>
              <a:ext uri="{FF2B5EF4-FFF2-40B4-BE49-F238E27FC236}">
                <a16:creationId xmlns:a16="http://schemas.microsoft.com/office/drawing/2014/main" id="{90DDBBC3-FD16-2A33-F83C-18DA61290A3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59078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 well-designed microservice should have high cohesion and low coupling.…"/>
          <p:cNvSpPr txBox="1">
            <a:spLocks noGrp="1"/>
          </p:cNvSpPr>
          <p:nvPr>
            <p:ph type="body" idx="1"/>
          </p:nvPr>
        </p:nvSpPr>
        <p:spPr>
          <a:xfrm>
            <a:off x="962342" y="1656274"/>
            <a:ext cx="10426094" cy="49712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r>
              <a:rPr dirty="0">
                <a:solidFill>
                  <a:schemeClr val="tx1"/>
                </a:solidFill>
              </a:rPr>
              <a:t>A well-designed </a:t>
            </a:r>
            <a:r>
              <a:rPr b="1" dirty="0">
                <a:solidFill>
                  <a:srgbClr val="00B0F0"/>
                </a:solidFill>
              </a:rPr>
              <a:t>microservice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should have </a:t>
            </a:r>
            <a:r>
              <a:rPr b="1" dirty="0">
                <a:solidFill>
                  <a:srgbClr val="00B050"/>
                </a:solidFill>
              </a:rPr>
              <a:t>high cohesion </a:t>
            </a:r>
            <a:r>
              <a:rPr dirty="0">
                <a:solidFill>
                  <a:schemeClr val="tx1"/>
                </a:solidFill>
              </a:rPr>
              <a:t>and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low coupling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b="1" dirty="0">
              <a:solidFill>
                <a:srgbClr val="00B050"/>
              </a:solidFill>
            </a:endParaRPr>
          </a:p>
          <a:p>
            <a:pPr lvl="1"/>
            <a:r>
              <a:rPr b="1" dirty="0">
                <a:solidFill>
                  <a:srgbClr val="00B050"/>
                </a:solidFill>
              </a:rPr>
              <a:t>Cohesion</a:t>
            </a:r>
            <a:r>
              <a:rPr lang="en-US" b="1" dirty="0">
                <a:solidFill>
                  <a:srgbClr val="00B050"/>
                </a:solidFill>
              </a:rPr>
              <a:t>: </a:t>
            </a:r>
            <a:r>
              <a:rPr dirty="0">
                <a:solidFill>
                  <a:schemeClr val="tx1"/>
                </a:solidFill>
              </a:rPr>
              <a:t>number of </a:t>
            </a:r>
            <a:r>
              <a:rPr b="1" dirty="0">
                <a:solidFill>
                  <a:srgbClr val="FF0000"/>
                </a:solidFill>
              </a:rPr>
              <a:t>relationships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with each other. 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b="1" dirty="0">
                <a:solidFill>
                  <a:srgbClr val="00B050"/>
                </a:solidFill>
              </a:rPr>
              <a:t>High cohesion</a:t>
            </a:r>
            <a:r>
              <a:rPr lang="en-US" b="1" dirty="0">
                <a:solidFill>
                  <a:srgbClr val="00B050"/>
                </a:solidFill>
              </a:rPr>
              <a:t>:</a:t>
            </a:r>
            <a:r>
              <a:rPr b="1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everything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needed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to deliver a </a:t>
            </a:r>
            <a:r>
              <a:rPr lang="en-US" b="1" dirty="0">
                <a:solidFill>
                  <a:srgbClr val="00B0F0"/>
                </a:solidFill>
              </a:rPr>
              <a:t>response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is </a:t>
            </a:r>
            <a:r>
              <a:rPr dirty="0">
                <a:solidFill>
                  <a:schemeClr val="tx1"/>
                </a:solidFill>
              </a:rPr>
              <a:t>included in the component</a:t>
            </a:r>
          </a:p>
          <a:p>
            <a:pPr lvl="1"/>
            <a:endParaRPr lang="en-US" b="1" dirty="0">
              <a:solidFill>
                <a:srgbClr val="FF0000"/>
              </a:solidFill>
            </a:endParaRPr>
          </a:p>
          <a:p>
            <a:pPr lvl="1"/>
            <a:r>
              <a:rPr b="1" dirty="0">
                <a:solidFill>
                  <a:srgbClr val="00B050"/>
                </a:solidFill>
              </a:rPr>
              <a:t>Coupling</a:t>
            </a:r>
            <a:r>
              <a:rPr lang="en-US" b="1" dirty="0">
                <a:solidFill>
                  <a:srgbClr val="FF0000"/>
                </a:solidFill>
              </a:rPr>
              <a:t>: </a:t>
            </a:r>
            <a:r>
              <a:rPr dirty="0">
                <a:solidFill>
                  <a:schemeClr val="tx1"/>
                </a:solidFill>
              </a:rPr>
              <a:t>number of </a:t>
            </a:r>
            <a:r>
              <a:rPr b="1" dirty="0">
                <a:solidFill>
                  <a:srgbClr val="FF0000"/>
                </a:solidFill>
              </a:rPr>
              <a:t>relationships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that one component has with </a:t>
            </a:r>
            <a:r>
              <a:rPr b="1" dirty="0">
                <a:solidFill>
                  <a:srgbClr val="FF0000"/>
                </a:solidFill>
              </a:rPr>
              <a:t>other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components</a:t>
            </a:r>
            <a:r>
              <a:rPr lang="en-US" dirty="0">
                <a:solidFill>
                  <a:schemeClr val="tx1"/>
                </a:solidFill>
              </a:rPr>
              <a:t>:</a:t>
            </a:r>
            <a:r>
              <a:rPr dirty="0"/>
              <a:t> </a:t>
            </a:r>
            <a:endParaRPr lang="en-US" dirty="0"/>
          </a:p>
          <a:p>
            <a:pPr lvl="2"/>
            <a:r>
              <a:rPr b="1" dirty="0">
                <a:solidFill>
                  <a:srgbClr val="00B050"/>
                </a:solidFill>
              </a:rPr>
              <a:t>Low coupling</a:t>
            </a:r>
            <a:r>
              <a:rPr lang="en-US" b="1" dirty="0">
                <a:solidFill>
                  <a:srgbClr val="00B050"/>
                </a:solidFill>
              </a:rPr>
              <a:t>:</a:t>
            </a:r>
            <a:r>
              <a:rPr b="1" dirty="0">
                <a:solidFill>
                  <a:srgbClr val="FF0000"/>
                </a:solidFill>
              </a:rPr>
              <a:t> </a:t>
            </a:r>
            <a:r>
              <a:rPr dirty="0">
                <a:solidFill>
                  <a:schemeClr val="tx1"/>
                </a:solidFill>
              </a:rPr>
              <a:t>components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do not </a:t>
            </a:r>
            <a:r>
              <a:rPr dirty="0">
                <a:solidFill>
                  <a:schemeClr val="tx1"/>
                </a:solidFill>
              </a:rPr>
              <a:t>have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many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relationships with other components</a:t>
            </a:r>
          </a:p>
        </p:txBody>
      </p:sp>
      <p:sp>
        <p:nvSpPr>
          <p:cNvPr id="98" name="Microservice characteristics"/>
          <p:cNvSpPr txBox="1">
            <a:spLocks noGrp="1"/>
          </p:cNvSpPr>
          <p:nvPr>
            <p:ph type="title"/>
          </p:nvPr>
        </p:nvSpPr>
        <p:spPr>
          <a:xfrm>
            <a:off x="962342" y="775711"/>
            <a:ext cx="11360800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Microservice characteristics</a:t>
            </a:r>
          </a:p>
        </p:txBody>
      </p:sp>
      <p:sp>
        <p:nvSpPr>
          <p:cNvPr id="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6CC96-8844-0F38-9549-9BCAD545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A well-designed microservice should have high cohesion and low coupling.…">
            <a:extLst>
              <a:ext uri="{FF2B5EF4-FFF2-40B4-BE49-F238E27FC236}">
                <a16:creationId xmlns:a16="http://schemas.microsoft.com/office/drawing/2014/main" id="{BE59F0CD-7528-1C5E-CA8B-F55F5569D1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656274"/>
            <a:ext cx="10426094" cy="4971237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dirty="0"/>
          </a:p>
          <a:p>
            <a:r>
              <a:rPr dirty="0">
                <a:solidFill>
                  <a:schemeClr val="tx1"/>
                </a:solidFill>
              </a:rPr>
              <a:t>Each</a:t>
            </a:r>
            <a:r>
              <a:rPr dirty="0"/>
              <a:t> </a:t>
            </a:r>
            <a:r>
              <a:rPr b="1" dirty="0">
                <a:solidFill>
                  <a:srgbClr val="00B0F0"/>
                </a:solidFill>
              </a:rPr>
              <a:t>microservice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should have a </a:t>
            </a:r>
            <a:r>
              <a:rPr b="1" dirty="0">
                <a:solidFill>
                  <a:srgbClr val="FF0000"/>
                </a:solidFill>
              </a:rPr>
              <a:t>single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responsibility</a:t>
            </a:r>
            <a:r>
              <a:rPr dirty="0"/>
              <a:t> 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I</a:t>
            </a:r>
            <a:r>
              <a:rPr dirty="0">
                <a:solidFill>
                  <a:schemeClr val="tx1"/>
                </a:solidFill>
              </a:rPr>
              <a:t>t should do </a:t>
            </a:r>
            <a:r>
              <a:rPr b="1" dirty="0">
                <a:solidFill>
                  <a:srgbClr val="FF0000"/>
                </a:solidFill>
              </a:rPr>
              <a:t>one thing only</a:t>
            </a:r>
            <a:r>
              <a:rPr lang="en-US" b="1" dirty="0">
                <a:solidFill>
                  <a:srgbClr val="FF0000"/>
                </a:solidFill>
              </a:rPr>
              <a:t>:</a:t>
            </a:r>
            <a:r>
              <a:rPr dirty="0"/>
              <a:t>  </a:t>
            </a:r>
          </a:p>
          <a:p>
            <a:pPr marL="795847" lvl="1" indent="0">
              <a:buNone/>
            </a:pPr>
            <a:endParaRPr lang="en-US" dirty="0"/>
          </a:p>
          <a:p>
            <a:pPr lvl="1"/>
            <a:r>
              <a:rPr dirty="0">
                <a:solidFill>
                  <a:schemeClr val="tx1"/>
                </a:solidFill>
              </a:rPr>
              <a:t>‘</a:t>
            </a:r>
            <a:r>
              <a:rPr b="1" dirty="0">
                <a:solidFill>
                  <a:srgbClr val="FF0000"/>
                </a:solidFill>
              </a:rPr>
              <a:t>one thing only</a:t>
            </a:r>
            <a:r>
              <a:rPr dirty="0">
                <a:solidFill>
                  <a:schemeClr val="tx1"/>
                </a:solidFill>
              </a:rPr>
              <a:t>’ is </a:t>
            </a:r>
            <a:r>
              <a:rPr b="1" dirty="0">
                <a:solidFill>
                  <a:srgbClr val="FF0000"/>
                </a:solidFill>
              </a:rPr>
              <a:t>difficult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to </a:t>
            </a:r>
            <a:r>
              <a:rPr lang="en-US" dirty="0">
                <a:solidFill>
                  <a:schemeClr val="tx1"/>
                </a:solidFill>
              </a:rPr>
              <a:t>do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 lvl="1"/>
            <a:endParaRPr lang="en-US" dirty="0"/>
          </a:p>
          <a:p>
            <a:pPr lvl="1"/>
            <a:r>
              <a:rPr b="1" dirty="0">
                <a:solidFill>
                  <a:srgbClr val="FF0000"/>
                </a:solidFill>
              </a:rPr>
              <a:t>Responsibility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does not always mean </a:t>
            </a:r>
            <a:r>
              <a:rPr b="1" dirty="0">
                <a:solidFill>
                  <a:srgbClr val="FF0000"/>
                </a:solidFill>
              </a:rPr>
              <a:t>a single</a:t>
            </a:r>
            <a:r>
              <a:rPr dirty="0">
                <a:solidFill>
                  <a:schemeClr val="tx1"/>
                </a:solidFill>
              </a:rPr>
              <a:t>, functional activity. </a:t>
            </a:r>
          </a:p>
        </p:txBody>
      </p:sp>
      <p:sp>
        <p:nvSpPr>
          <p:cNvPr id="98" name="Microservice characteristics">
            <a:extLst>
              <a:ext uri="{FF2B5EF4-FFF2-40B4-BE49-F238E27FC236}">
                <a16:creationId xmlns:a16="http://schemas.microsoft.com/office/drawing/2014/main" id="{36879317-26DB-568D-D887-7A25D69EC6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75711"/>
            <a:ext cx="11360800" cy="763600"/>
          </a:xfrm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B0F0"/>
                </a:solidFill>
              </a:rPr>
              <a:t>Microservice</a:t>
            </a:r>
            <a:r>
              <a:rPr dirty="0"/>
              <a:t> characteristics</a:t>
            </a:r>
          </a:p>
        </p:txBody>
      </p:sp>
      <p:sp>
        <p:nvSpPr>
          <p:cNvPr id="99" name="Slide Number">
            <a:extLst>
              <a:ext uri="{FF2B5EF4-FFF2-40B4-BE49-F238E27FC236}">
                <a16:creationId xmlns:a16="http://schemas.microsoft.com/office/drawing/2014/main" id="{38AA2B50-D39D-627B-7614-5A326220069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72795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35631-9DCC-F085-C09D-6AD6891D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hapter 6…">
            <a:extLst>
              <a:ext uri="{FF2B5EF4-FFF2-40B4-BE49-F238E27FC236}">
                <a16:creationId xmlns:a16="http://schemas.microsoft.com/office/drawing/2014/main" id="{DBB7BB5C-E4C0-2A4C-B170-BCC76281DD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B0F0"/>
                </a:solidFill>
              </a:rPr>
              <a:t>Microservices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/>
              <a:t>Communication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821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FA93A-3321-9E2B-6E5F-4DEAA5D18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ervices communicate by exchanging messages that include  information about the originator of the message, as well as the data that is the input to or output from the request.…">
            <a:extLst>
              <a:ext uri="{FF2B5EF4-FFF2-40B4-BE49-F238E27FC236}">
                <a16:creationId xmlns:a16="http://schemas.microsoft.com/office/drawing/2014/main" id="{85BA2135-6057-370B-5EE7-CD7B92C31B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616843"/>
            <a:ext cx="10403490" cy="497646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pPr marL="152396" indent="0">
              <a:buNone/>
            </a:pPr>
            <a:r>
              <a:rPr dirty="0">
                <a:solidFill>
                  <a:schemeClr val="tx1"/>
                </a:solidFill>
              </a:rPr>
              <a:t>When designing a </a:t>
            </a:r>
            <a:r>
              <a:rPr b="1" dirty="0">
                <a:solidFill>
                  <a:srgbClr val="00B0F0"/>
                </a:solidFill>
              </a:rPr>
              <a:t>microservices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architecture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Create</a:t>
            </a:r>
            <a:r>
              <a:rPr dirty="0">
                <a:solidFill>
                  <a:schemeClr val="tx1"/>
                </a:solidFill>
              </a:rPr>
              <a:t> a </a:t>
            </a:r>
            <a:r>
              <a:rPr b="1" dirty="0">
                <a:solidFill>
                  <a:srgbClr val="00B0F0"/>
                </a:solidFill>
              </a:rPr>
              <a:t>standard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for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communications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that all </a:t>
            </a:r>
            <a:r>
              <a:rPr b="1" dirty="0">
                <a:solidFill>
                  <a:srgbClr val="00B0F0"/>
                </a:solidFill>
              </a:rPr>
              <a:t>microservices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follow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b="1" dirty="0">
                <a:solidFill>
                  <a:srgbClr val="FF0000"/>
                </a:solidFill>
              </a:rPr>
              <a:t>key decisions</a:t>
            </a:r>
            <a:r>
              <a:rPr lang="en-US" dirty="0">
                <a:solidFill>
                  <a:schemeClr val="tx1"/>
                </a:solidFill>
              </a:rPr>
              <a:t>:</a:t>
            </a:r>
            <a:endParaRPr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S</a:t>
            </a:r>
            <a:r>
              <a:rPr dirty="0">
                <a:solidFill>
                  <a:schemeClr val="tx1"/>
                </a:solidFill>
              </a:rPr>
              <a:t>hould interaction be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synchronous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or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asynchronous</a:t>
            </a:r>
            <a:r>
              <a:rPr dirty="0"/>
              <a:t>?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</a:t>
            </a:r>
            <a:r>
              <a:rPr dirty="0">
                <a:solidFill>
                  <a:schemeClr val="tx1"/>
                </a:solidFill>
              </a:rPr>
              <a:t>hould communicate </a:t>
            </a:r>
            <a:r>
              <a:rPr b="1" dirty="0">
                <a:solidFill>
                  <a:srgbClr val="00B050"/>
                </a:solidFill>
              </a:rPr>
              <a:t>directly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or via </a:t>
            </a:r>
            <a:r>
              <a:rPr b="1" dirty="0">
                <a:solidFill>
                  <a:srgbClr val="FF0000"/>
                </a:solidFill>
              </a:rPr>
              <a:t>message broker middleware</a:t>
            </a:r>
            <a:r>
              <a:rPr dirty="0"/>
              <a:t>?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</a:t>
            </a:r>
            <a:r>
              <a:rPr dirty="0">
                <a:solidFill>
                  <a:schemeClr val="tx1"/>
                </a:solidFill>
              </a:rPr>
              <a:t>hat protocol should be used for </a:t>
            </a:r>
            <a:r>
              <a:rPr b="1" dirty="0">
                <a:solidFill>
                  <a:srgbClr val="FF0000"/>
                </a:solidFill>
              </a:rPr>
              <a:t>messages exchanged</a:t>
            </a:r>
            <a:r>
              <a:rPr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34" name="Service communications">
            <a:extLst>
              <a:ext uri="{FF2B5EF4-FFF2-40B4-BE49-F238E27FC236}">
                <a16:creationId xmlns:a16="http://schemas.microsoft.com/office/drawing/2014/main" id="{FFA31633-852F-2947-0CC6-E6639C98DD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66167"/>
            <a:ext cx="585956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Service communications</a:t>
            </a:r>
          </a:p>
        </p:txBody>
      </p:sp>
      <p:sp>
        <p:nvSpPr>
          <p:cNvPr id="135" name="Slide Number">
            <a:extLst>
              <a:ext uri="{FF2B5EF4-FFF2-40B4-BE49-F238E27FC236}">
                <a16:creationId xmlns:a16="http://schemas.microsoft.com/office/drawing/2014/main" id="{BCD871B7-EE50-C006-2E62-D326BE04F7D3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9493680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In a synchronous interaction, service A issues a request to service B. Service A then suspends processing while B is processing the request.…"/>
          <p:cNvSpPr txBox="1">
            <a:spLocks noGrp="1"/>
          </p:cNvSpPr>
          <p:nvPr>
            <p:ph type="body" idx="1"/>
          </p:nvPr>
        </p:nvSpPr>
        <p:spPr>
          <a:xfrm>
            <a:off x="962342" y="1554432"/>
            <a:ext cx="10419532" cy="510304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dirty="0">
                <a:solidFill>
                  <a:schemeClr val="tx1"/>
                </a:solidFill>
              </a:rPr>
              <a:t>In a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synchronous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interaction, service A issues a request to service B. 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Service A </a:t>
            </a:r>
            <a:r>
              <a:rPr lang="en-US" dirty="0">
                <a:solidFill>
                  <a:schemeClr val="tx1"/>
                </a:solidFill>
              </a:rPr>
              <a:t>waits for Service B 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sz="1600" dirty="0">
                <a:solidFill>
                  <a:schemeClr val="tx1"/>
                </a:solidFill>
              </a:rPr>
              <a:t>while B is processing the request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r>
              <a:rPr dirty="0">
                <a:solidFill>
                  <a:schemeClr val="tx1"/>
                </a:solidFill>
              </a:rPr>
              <a:t>. </a:t>
            </a:r>
          </a:p>
          <a:p>
            <a:pPr marL="152396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It </a:t>
            </a:r>
            <a:r>
              <a:rPr b="1" dirty="0">
                <a:solidFill>
                  <a:srgbClr val="00B050"/>
                </a:solidFill>
              </a:rPr>
              <a:t>waits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until service B has </a:t>
            </a:r>
            <a:r>
              <a:rPr b="1" dirty="0">
                <a:solidFill>
                  <a:srgbClr val="00B050"/>
                </a:solidFill>
              </a:rPr>
              <a:t>returned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142" name="Synchronous and asynchronous interaction"/>
          <p:cNvSpPr txBox="1">
            <a:spLocks noGrp="1"/>
          </p:cNvSpPr>
          <p:nvPr>
            <p:ph type="title"/>
          </p:nvPr>
        </p:nvSpPr>
        <p:spPr>
          <a:xfrm>
            <a:off x="962342" y="721704"/>
            <a:ext cx="9954311" cy="763600"/>
          </a:xfrm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B050"/>
                </a:solidFill>
              </a:rPr>
              <a:t>Synchronous</a:t>
            </a:r>
            <a:r>
              <a:rPr dirty="0"/>
              <a:t> and </a:t>
            </a:r>
            <a:r>
              <a:rPr dirty="0">
                <a:solidFill>
                  <a:srgbClr val="FF0000"/>
                </a:solidFill>
              </a:rPr>
              <a:t>asynchronous</a:t>
            </a:r>
            <a:r>
              <a:rPr dirty="0"/>
              <a:t> interaction</a:t>
            </a:r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5224803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F8FC0-3949-2FE7-48D3-C3A68C3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In a synchronous interaction, service A issues a request to service B. Service A then suspends processing while B is processing the request.…">
            <a:extLst>
              <a:ext uri="{FF2B5EF4-FFF2-40B4-BE49-F238E27FC236}">
                <a16:creationId xmlns:a16="http://schemas.microsoft.com/office/drawing/2014/main" id="{B0BABE39-287F-6DDA-F530-99ED8CA0F5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554432"/>
            <a:ext cx="10419532" cy="510304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Asynchronous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interaction: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Service A issues the request that is </a:t>
            </a:r>
            <a:r>
              <a:rPr lang="en-US" b="1" dirty="0">
                <a:solidFill>
                  <a:srgbClr val="FF0000"/>
                </a:solidFill>
              </a:rPr>
              <a:t>queued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for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processing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by service B. 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A then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continues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processing without </a:t>
            </a:r>
            <a:r>
              <a:rPr lang="en-US" b="1" dirty="0">
                <a:solidFill>
                  <a:srgbClr val="FF0000"/>
                </a:solidFill>
              </a:rPr>
              <a:t>waiting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for B to finish its computations. </a:t>
            </a:r>
          </a:p>
          <a:p>
            <a:pPr marL="152396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L</a:t>
            </a:r>
            <a:r>
              <a:rPr dirty="0">
                <a:solidFill>
                  <a:schemeClr val="tx1"/>
                </a:solidFill>
              </a:rPr>
              <a:t>ater, service B completes the request from service A and queues the result.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Service A, has to </a:t>
            </a:r>
            <a:r>
              <a:rPr b="1" dirty="0">
                <a:solidFill>
                  <a:srgbClr val="00B050"/>
                </a:solidFill>
              </a:rPr>
              <a:t>check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its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queue periodically </a:t>
            </a:r>
            <a:r>
              <a:rPr dirty="0">
                <a:solidFill>
                  <a:schemeClr val="tx1"/>
                </a:solidFill>
              </a:rPr>
              <a:t>to see if a </a:t>
            </a:r>
            <a:r>
              <a:rPr b="1" dirty="0">
                <a:solidFill>
                  <a:srgbClr val="00B050"/>
                </a:solidFill>
              </a:rPr>
              <a:t>result is available</a:t>
            </a:r>
            <a:r>
              <a:rPr dirty="0"/>
              <a:t>.</a:t>
            </a:r>
          </a:p>
        </p:txBody>
      </p:sp>
      <p:sp>
        <p:nvSpPr>
          <p:cNvPr id="142" name="Synchronous and asynchronous interaction">
            <a:extLst>
              <a:ext uri="{FF2B5EF4-FFF2-40B4-BE49-F238E27FC236}">
                <a16:creationId xmlns:a16="http://schemas.microsoft.com/office/drawing/2014/main" id="{8440D0F1-4291-9B9C-A377-44C7954662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21704"/>
            <a:ext cx="9954311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Synchronous and asynchronous interaction</a:t>
            </a:r>
          </a:p>
        </p:txBody>
      </p:sp>
      <p:sp>
        <p:nvSpPr>
          <p:cNvPr id="143" name="Slide Number">
            <a:extLst>
              <a:ext uri="{FF2B5EF4-FFF2-40B4-BE49-F238E27FC236}">
                <a16:creationId xmlns:a16="http://schemas.microsoft.com/office/drawing/2014/main" id="{C584489F-F7E6-A352-4AB2-9FC1B18DBD5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pPr marL="0" marR="0" lvl="0" indent="0" algn="r" defTabSz="5842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00549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  <a:sym typeface="Helvetica"/>
              </a:rPr>
              <a:pPr marL="0" marR="0" lvl="0" indent="0" algn="r" defTabSz="5842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sz="1200" b="1" i="0" u="none" strike="noStrike" kern="1200" cap="none" spc="0" normalizeH="0" baseline="0" noProof="0">
              <a:ln>
                <a:noFill/>
              </a:ln>
              <a:solidFill>
                <a:srgbClr val="005493"/>
              </a:solidFill>
              <a:effectLst/>
              <a:uLnTx/>
              <a:uFillTx/>
              <a:latin typeface="Arial" panose="020B0604020202020204"/>
              <a:ea typeface="+mj-ea"/>
              <a:cs typeface="+mj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71871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88A7A-080F-7866-A42D-B5FC65F29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Chapter 6…">
            <a:extLst>
              <a:ext uri="{FF2B5EF4-FFF2-40B4-BE49-F238E27FC236}">
                <a16:creationId xmlns:a16="http://schemas.microsoft.com/office/drawing/2014/main" id="{4BFF0148-6042-EB33-B620-FEC577CC4F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rgbClr val="00B0F0"/>
                </a:solidFill>
              </a:rPr>
              <a:t>Microservices</a:t>
            </a:r>
            <a:br>
              <a:rPr lang="en-US" dirty="0">
                <a:solidFill>
                  <a:srgbClr val="00B0F0"/>
                </a:solidFill>
              </a:rPr>
            </a:br>
            <a:r>
              <a:rPr lang="en-US" dirty="0"/>
              <a:t>RESTful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03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E66F9D5-5AEB-32FB-38E8-1BD8A0933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26306" name="Rectangle 2">
            <a:extLst>
              <a:ext uri="{FF2B5EF4-FFF2-40B4-BE49-F238E27FC236}">
                <a16:creationId xmlns:a16="http://schemas.microsoft.com/office/drawing/2014/main" id="{E51F45BA-FC2A-4991-ACF6-C9AD9463B60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55938" y="746848"/>
            <a:ext cx="8061392" cy="646523"/>
          </a:xfrm>
        </p:spPr>
        <p:txBody>
          <a:bodyPr/>
          <a:lstStyle/>
          <a:p>
            <a:r>
              <a:rPr lang="en-US" altLang="en-US" dirty="0"/>
              <a:t>Hypertext Transfer Protocol (HTTP)</a:t>
            </a:r>
          </a:p>
        </p:txBody>
      </p:sp>
      <p:sp>
        <p:nvSpPr>
          <p:cNvPr id="226310" name="Rectangle 6">
            <a:extLst>
              <a:ext uri="{FF2B5EF4-FFF2-40B4-BE49-F238E27FC236}">
                <a16:creationId xmlns:a16="http://schemas.microsoft.com/office/drawing/2014/main" id="{A6694939-8EEC-A5BC-7B7F-ED6204EE00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55938" y="1721033"/>
            <a:ext cx="10408748" cy="490144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A communications protocol</a:t>
            </a:r>
          </a:p>
          <a:p>
            <a:pPr>
              <a:lnSpc>
                <a:spcPct val="8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8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Allows retrieving inter-linked text documents (hypertext) </a:t>
            </a:r>
          </a:p>
          <a:p>
            <a:pPr lvl="1">
              <a:lnSpc>
                <a:spcPct val="8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World Wide Web.</a:t>
            </a:r>
          </a:p>
          <a:p>
            <a:pPr lvl="1">
              <a:lnSpc>
                <a:spcPct val="8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8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HTTP Verbs</a:t>
            </a:r>
          </a:p>
          <a:p>
            <a:pPr>
              <a:lnSpc>
                <a:spcPct val="8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HEAD</a:t>
            </a:r>
          </a:p>
          <a:p>
            <a:pPr lvl="1">
              <a:lnSpc>
                <a:spcPct val="80000"/>
              </a:lnSpc>
            </a:pPr>
            <a:r>
              <a:rPr lang="en-US" altLang="en-US" sz="1800" b="1" dirty="0">
                <a:solidFill>
                  <a:schemeClr val="tx1"/>
                </a:solidFill>
              </a:rPr>
              <a:t>GET</a:t>
            </a:r>
          </a:p>
          <a:p>
            <a:pPr lvl="1">
              <a:lnSpc>
                <a:spcPct val="80000"/>
              </a:lnSpc>
            </a:pPr>
            <a:r>
              <a:rPr lang="en-US" altLang="en-US" sz="1800" b="1" dirty="0">
                <a:solidFill>
                  <a:schemeClr val="tx1"/>
                </a:solidFill>
              </a:rPr>
              <a:t>POST</a:t>
            </a: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PUT</a:t>
            </a: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DELETE</a:t>
            </a: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TRACE</a:t>
            </a: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OPTIONS</a:t>
            </a:r>
          </a:p>
          <a:p>
            <a:pPr lvl="1">
              <a:lnSpc>
                <a:spcPct val="8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CONNECT</a:t>
            </a:r>
          </a:p>
          <a:p>
            <a:pPr>
              <a:lnSpc>
                <a:spcPct val="80000"/>
              </a:lnSpc>
            </a:pPr>
            <a:endParaRPr lang="en-US" altLang="en-US" sz="2520" dirty="0"/>
          </a:p>
        </p:txBody>
      </p:sp>
      <p:sp>
        <p:nvSpPr>
          <p:cNvPr id="226311" name="Text Box 7">
            <a:extLst>
              <a:ext uri="{FF2B5EF4-FFF2-40B4-BE49-F238E27FC236}">
                <a16:creationId xmlns:a16="http://schemas.microsoft.com/office/drawing/2014/main" id="{75EBA820-0984-841E-C512-E542BBEB7B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67300" y="3909060"/>
            <a:ext cx="1097280" cy="85867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2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Browser</a:t>
            </a:r>
          </a:p>
        </p:txBody>
      </p:sp>
      <p:sp>
        <p:nvSpPr>
          <p:cNvPr id="226312" name="Text Box 8">
            <a:extLst>
              <a:ext uri="{FF2B5EF4-FFF2-40B4-BE49-F238E27FC236}">
                <a16:creationId xmlns:a16="http://schemas.microsoft.com/office/drawing/2014/main" id="{69BF278C-F131-16F7-FA4B-08E713E4FF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9200" y="3909060"/>
            <a:ext cx="1251585" cy="82296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62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Web Server</a:t>
            </a:r>
          </a:p>
        </p:txBody>
      </p:sp>
      <p:sp>
        <p:nvSpPr>
          <p:cNvPr id="226313" name="Line 9">
            <a:extLst>
              <a:ext uri="{FF2B5EF4-FFF2-40B4-BE49-F238E27FC236}">
                <a16:creationId xmlns:a16="http://schemas.microsoft.com/office/drawing/2014/main" id="{99F8D1A5-95B4-3967-15D6-1A9994B75A07}"/>
              </a:ext>
            </a:extLst>
          </p:cNvPr>
          <p:cNvSpPr>
            <a:spLocks noChangeShapeType="1"/>
          </p:cNvSpPr>
          <p:nvPr/>
        </p:nvSpPr>
        <p:spPr bwMode="auto">
          <a:xfrm>
            <a:off x="6164580" y="4046220"/>
            <a:ext cx="267462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2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6314" name="Text Box 10">
            <a:extLst>
              <a:ext uri="{FF2B5EF4-FFF2-40B4-BE49-F238E27FC236}">
                <a16:creationId xmlns:a16="http://schemas.microsoft.com/office/drawing/2014/main" id="{8917638C-0D90-5193-62A6-17BDE0C256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0320" y="3566160"/>
            <a:ext cx="2194560" cy="480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6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GET /index.html HTTP/1.1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6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Host: www.pitt.edu</a:t>
            </a:r>
          </a:p>
        </p:txBody>
      </p:sp>
      <p:sp>
        <p:nvSpPr>
          <p:cNvPr id="226315" name="Line 11">
            <a:extLst>
              <a:ext uri="{FF2B5EF4-FFF2-40B4-BE49-F238E27FC236}">
                <a16:creationId xmlns:a16="http://schemas.microsoft.com/office/drawing/2014/main" id="{F42C764E-EEC6-C464-8FFD-B35F0B9F481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164580" y="4457700"/>
            <a:ext cx="267462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2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6316" name="Text Box 12">
            <a:extLst>
              <a:ext uri="{FF2B5EF4-FFF2-40B4-BE49-F238E27FC236}">
                <a16:creationId xmlns:a16="http://schemas.microsoft.com/office/drawing/2014/main" id="{93F99C3D-31F2-47F0-6F1F-1ACB7496513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07481" y="4526280"/>
            <a:ext cx="1854097" cy="8679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6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HTTP/1.1 200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6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Content-Type: text/html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26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6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&lt;html&gt;&lt;head&gt;…</a:t>
            </a:r>
          </a:p>
        </p:txBody>
      </p:sp>
    </p:spTree>
    <p:extLst>
      <p:ext uri="{BB962C8B-B14F-4D97-AF65-F5344CB8AC3E}">
        <p14:creationId xmlns:p14="http://schemas.microsoft.com/office/powerpoint/2010/main" val="1160507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9CB3C05-5AFC-4C40-8B97-8DB88DEC9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94BC20EA-2842-7683-B377-25102B8F641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38826"/>
            <a:ext cx="7914559" cy="682255"/>
          </a:xfrm>
        </p:spPr>
        <p:txBody>
          <a:bodyPr/>
          <a:lstStyle/>
          <a:p>
            <a:r>
              <a:rPr lang="en-US" altLang="en-US" sz="3240" dirty="0"/>
              <a:t>Representational State Transfer (REST)</a:t>
            </a:r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88F3A9A1-71DB-A4FC-AE13-9AED302CE6D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5" y="1586445"/>
            <a:ext cx="10424211" cy="5059777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A software architecture for distributed hypermedia systems. 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Introduced in the doctoral dissertation of Roy Fielding</a:t>
            </a:r>
          </a:p>
          <a:p>
            <a:pPr lvl="1">
              <a:lnSpc>
                <a:spcPct val="90000"/>
              </a:lnSpc>
            </a:pP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</a:rPr>
              <a:t>One of the principal authors of the HTTP specification.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A collection of network architecture principles which outline how resources are defined and addressed </a:t>
            </a:r>
          </a:p>
          <a:p>
            <a:pPr>
              <a:lnSpc>
                <a:spcPct val="90000"/>
              </a:lnSpc>
              <a:buFontTx/>
              <a:buNone/>
            </a:pPr>
            <a:endParaRPr lang="en-US" altLang="en-US" sz="2520" dirty="0"/>
          </a:p>
        </p:txBody>
      </p:sp>
    </p:spTree>
    <p:extLst>
      <p:ext uri="{BB962C8B-B14F-4D97-AF65-F5344CB8AC3E}">
        <p14:creationId xmlns:p14="http://schemas.microsoft.com/office/powerpoint/2010/main" val="466962835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he REST (REpresentational State Transfer) architectural style is based on the idea of transferring representations of digital resources from a server to a client.…"/>
          <p:cNvSpPr txBox="1">
            <a:spLocks noGrp="1"/>
          </p:cNvSpPr>
          <p:nvPr>
            <p:ph type="body" idx="1"/>
          </p:nvPr>
        </p:nvSpPr>
        <p:spPr>
          <a:xfrm>
            <a:off x="962342" y="1539310"/>
            <a:ext cx="10365638" cy="5141099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152396" indent="0">
              <a:buNone/>
            </a:pPr>
            <a:r>
              <a:rPr dirty="0">
                <a:solidFill>
                  <a:schemeClr val="tx1"/>
                </a:solidFill>
              </a:rPr>
              <a:t>The REST (</a:t>
            </a:r>
            <a:r>
              <a:rPr dirty="0" err="1">
                <a:solidFill>
                  <a:schemeClr val="tx1"/>
                </a:solidFill>
              </a:rPr>
              <a:t>REpresentational</a:t>
            </a:r>
            <a:r>
              <a:rPr dirty="0">
                <a:solidFill>
                  <a:schemeClr val="tx1"/>
                </a:solidFill>
              </a:rPr>
              <a:t> State Transfer) architectural style </a:t>
            </a:r>
            <a:endParaRPr lang="en-US" dirty="0">
              <a:solidFill>
                <a:schemeClr val="tx1"/>
              </a:solidFill>
            </a:endParaRPr>
          </a:p>
          <a:p>
            <a:endParaRPr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T</a:t>
            </a:r>
            <a:r>
              <a:rPr dirty="0">
                <a:solidFill>
                  <a:schemeClr val="tx1"/>
                </a:solidFill>
              </a:rPr>
              <a:t>hink of </a:t>
            </a:r>
            <a:r>
              <a:rPr lang="en-US" dirty="0">
                <a:solidFill>
                  <a:schemeClr val="tx1"/>
                </a:solidFill>
              </a:rPr>
              <a:t>it </a:t>
            </a:r>
            <a:r>
              <a:rPr dirty="0">
                <a:solidFill>
                  <a:schemeClr val="tx1"/>
                </a:solidFill>
              </a:rPr>
              <a:t>as </a:t>
            </a:r>
            <a:r>
              <a:rPr b="1" dirty="0">
                <a:solidFill>
                  <a:srgbClr val="00B050"/>
                </a:solidFill>
              </a:rPr>
              <a:t>any chunk of data</a:t>
            </a:r>
            <a:r>
              <a:rPr lang="en-US" b="1" dirty="0">
                <a:solidFill>
                  <a:srgbClr val="00B050"/>
                </a:solidFill>
              </a:rPr>
              <a:t>:</a:t>
            </a:r>
          </a:p>
          <a:p>
            <a:pPr lvl="2"/>
            <a:r>
              <a:rPr lang="en-US" b="1" dirty="0">
                <a:solidFill>
                  <a:srgbClr val="00B050"/>
                </a:solidFill>
              </a:rPr>
              <a:t>C</a:t>
            </a:r>
            <a:r>
              <a:rPr b="1" dirty="0">
                <a:solidFill>
                  <a:srgbClr val="00B050"/>
                </a:solidFill>
              </a:rPr>
              <a:t>redit card details</a:t>
            </a:r>
            <a:endParaRPr lang="en-US" b="1" dirty="0">
              <a:solidFill>
                <a:srgbClr val="00B050"/>
              </a:solidFill>
            </a:endParaRPr>
          </a:p>
          <a:p>
            <a:pPr lvl="2"/>
            <a:r>
              <a:rPr lang="en-US" b="1" dirty="0">
                <a:solidFill>
                  <a:srgbClr val="00B050"/>
                </a:solidFill>
              </a:rPr>
              <a:t>I</a:t>
            </a:r>
            <a:r>
              <a:rPr b="1" dirty="0">
                <a:solidFill>
                  <a:srgbClr val="00B050"/>
                </a:solidFill>
              </a:rPr>
              <a:t>ndividual’s medical record</a:t>
            </a:r>
            <a:endParaRPr lang="en-US" b="1" dirty="0">
              <a:solidFill>
                <a:srgbClr val="00B050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M</a:t>
            </a:r>
            <a:r>
              <a:rPr dirty="0">
                <a:solidFill>
                  <a:schemeClr val="tx1"/>
                </a:solidFill>
              </a:rPr>
              <a:t>agazine or newspaper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A</a:t>
            </a:r>
            <a:r>
              <a:rPr dirty="0">
                <a:solidFill>
                  <a:schemeClr val="tx1"/>
                </a:solidFill>
              </a:rPr>
              <a:t> library catalogue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Etc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dirty="0">
                <a:solidFill>
                  <a:schemeClr val="tx1"/>
                </a:solidFill>
              </a:rPr>
              <a:t>Resources are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accessed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via their </a:t>
            </a:r>
            <a:r>
              <a:rPr b="1" dirty="0">
                <a:solidFill>
                  <a:srgbClr val="00B050"/>
                </a:solidFill>
              </a:rPr>
              <a:t>unique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URI</a:t>
            </a:r>
          </a:p>
          <a:p>
            <a:pPr marL="152396" indent="0">
              <a:buNone/>
            </a:pPr>
            <a:endParaRPr lang="en-US" dirty="0"/>
          </a:p>
        </p:txBody>
      </p:sp>
      <p:sp>
        <p:nvSpPr>
          <p:cNvPr id="194" name="RESTful services"/>
          <p:cNvSpPr txBox="1">
            <a:spLocks noGrp="1"/>
          </p:cNvSpPr>
          <p:nvPr>
            <p:ph type="title"/>
          </p:nvPr>
        </p:nvSpPr>
        <p:spPr>
          <a:xfrm>
            <a:off x="962342" y="775711"/>
            <a:ext cx="4274676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RESTful services</a:t>
            </a:r>
          </a:p>
        </p:txBody>
      </p:sp>
      <p:sp>
        <p:nvSpPr>
          <p:cNvPr id="19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54516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D76E-5279-2F0F-A70C-C884CA34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he REST (REpresentational State Transfer) architectural style is based on the idea of transferring representations of digital resources from a server to a client.…">
            <a:extLst>
              <a:ext uri="{FF2B5EF4-FFF2-40B4-BE49-F238E27FC236}">
                <a16:creationId xmlns:a16="http://schemas.microsoft.com/office/drawing/2014/main" id="{36677353-1FDE-ECF9-2FA8-4B994B80BE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2342" y="1539310"/>
            <a:ext cx="10365638" cy="5141099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dirty="0"/>
          </a:p>
          <a:p>
            <a:r>
              <a:rPr dirty="0">
                <a:solidFill>
                  <a:schemeClr val="tx1"/>
                </a:solidFill>
              </a:rPr>
              <a:t>This is the approach used in the </a:t>
            </a:r>
            <a:r>
              <a:rPr b="1" dirty="0">
                <a:solidFill>
                  <a:srgbClr val="00B050"/>
                </a:solidFill>
              </a:rPr>
              <a:t>web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where the </a:t>
            </a:r>
            <a:r>
              <a:rPr b="1" dirty="0">
                <a:solidFill>
                  <a:srgbClr val="00B050"/>
                </a:solidFill>
              </a:rPr>
              <a:t>resource</a:t>
            </a:r>
            <a:r>
              <a:rPr lang="en-US" dirty="0">
                <a:solidFill>
                  <a:schemeClr val="tx1"/>
                </a:solidFill>
              </a:rPr>
              <a:t>:</a:t>
            </a: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An HTML </a:t>
            </a:r>
            <a:r>
              <a:rPr lang="en-US" dirty="0">
                <a:solidFill>
                  <a:schemeClr val="tx1"/>
                </a:solidFill>
              </a:rPr>
              <a:t>page </a:t>
            </a:r>
            <a:r>
              <a:rPr dirty="0">
                <a:solidFill>
                  <a:schemeClr val="tx1"/>
                </a:solidFill>
              </a:rPr>
              <a:t>is </a:t>
            </a:r>
            <a:r>
              <a:rPr b="1" dirty="0">
                <a:solidFill>
                  <a:srgbClr val="00B050"/>
                </a:solidFill>
              </a:rPr>
              <a:t>generated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by the server in </a:t>
            </a:r>
            <a:r>
              <a:rPr b="1" dirty="0">
                <a:solidFill>
                  <a:srgbClr val="00B050"/>
                </a:solidFill>
              </a:rPr>
              <a:t>response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to an HTTP GET request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I</a:t>
            </a:r>
            <a:r>
              <a:rPr dirty="0">
                <a:solidFill>
                  <a:schemeClr val="tx1"/>
                </a:solidFill>
              </a:rPr>
              <a:t>s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transferred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to the </a:t>
            </a:r>
            <a:r>
              <a:rPr b="1" dirty="0">
                <a:solidFill>
                  <a:srgbClr val="00B050"/>
                </a:solidFill>
              </a:rPr>
              <a:t>client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for display by a browser.</a:t>
            </a:r>
          </a:p>
        </p:txBody>
      </p:sp>
      <p:sp>
        <p:nvSpPr>
          <p:cNvPr id="194" name="RESTful services">
            <a:extLst>
              <a:ext uri="{FF2B5EF4-FFF2-40B4-BE49-F238E27FC236}">
                <a16:creationId xmlns:a16="http://schemas.microsoft.com/office/drawing/2014/main" id="{E5F71D20-1403-C989-CB97-4F5C97AA54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2342" y="775711"/>
            <a:ext cx="4274676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RESTful services</a:t>
            </a:r>
          </a:p>
        </p:txBody>
      </p:sp>
      <p:sp>
        <p:nvSpPr>
          <p:cNvPr id="195" name="Slide Number">
            <a:extLst>
              <a:ext uri="{FF2B5EF4-FFF2-40B4-BE49-F238E27FC236}">
                <a16:creationId xmlns:a16="http://schemas.microsoft.com/office/drawing/2014/main" id="{1CA55C4B-FACB-63A2-32C3-7C3E8C8E93B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181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56717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F64040-A8F6-5F5F-8EFE-805F65FFF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33474" name="Rectangle 2">
            <a:extLst>
              <a:ext uri="{FF2B5EF4-FFF2-40B4-BE49-F238E27FC236}">
                <a16:creationId xmlns:a16="http://schemas.microsoft.com/office/drawing/2014/main" id="{CD1C8AD9-5A95-38BF-0F6F-71143C8363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50703"/>
            <a:ext cx="3853198" cy="630794"/>
          </a:xfrm>
        </p:spPr>
        <p:txBody>
          <a:bodyPr/>
          <a:lstStyle/>
          <a:p>
            <a:r>
              <a:rPr lang="en-US" altLang="en-US" dirty="0"/>
              <a:t>REST and HTTP</a:t>
            </a:r>
          </a:p>
        </p:txBody>
      </p:sp>
      <p:sp>
        <p:nvSpPr>
          <p:cNvPr id="233475" name="Rectangle 3">
            <a:extLst>
              <a:ext uri="{FF2B5EF4-FFF2-40B4-BE49-F238E27FC236}">
                <a16:creationId xmlns:a16="http://schemas.microsoft.com/office/drawing/2014/main" id="{CFCB9DF0-4C60-2D7B-64A6-C9465631AF1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5" y="1558737"/>
            <a:ext cx="10436087" cy="5087486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The motivation for REST was to capture the characteristics of the Web. 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</a:rPr>
              <a:t>URI Addressable resources</a:t>
            </a: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</a:rPr>
              <a:t>HTTP Protocol</a:t>
            </a: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</a:rPr>
              <a:t>Make a Request – Receive Response – Display Response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Exploits the use of the HTTP protocol beyond HTTP POST and HTTP GET</a:t>
            </a:r>
          </a:p>
          <a:p>
            <a:pPr lvl="1"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HTTP PUT</a:t>
            </a:r>
          </a:p>
          <a:p>
            <a:pPr lvl="1"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HTTP DELETE</a:t>
            </a:r>
          </a:p>
          <a:p>
            <a:pPr lvl="1">
              <a:lnSpc>
                <a:spcPct val="90000"/>
              </a:lnSpc>
            </a:pPr>
            <a:endParaRPr lang="en-US" altLang="en-US" sz="2520" dirty="0"/>
          </a:p>
          <a:p>
            <a:pPr>
              <a:lnSpc>
                <a:spcPct val="90000"/>
              </a:lnSpc>
            </a:pPr>
            <a:endParaRPr lang="en-US" altLang="en-US" sz="2520" dirty="0"/>
          </a:p>
        </p:txBody>
      </p:sp>
    </p:spTree>
    <p:extLst>
      <p:ext uri="{BB962C8B-B14F-4D97-AF65-F5344CB8AC3E}">
        <p14:creationId xmlns:p14="http://schemas.microsoft.com/office/powerpoint/2010/main" val="27959043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03F866B-3DB0-25FF-1499-21CC12702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100356" name="Rectangle 4">
            <a:extLst>
              <a:ext uri="{FF2B5EF4-FFF2-40B4-BE49-F238E27FC236}">
                <a16:creationId xmlns:a16="http://schemas.microsoft.com/office/drawing/2014/main" id="{C385BEF0-356B-0796-7C1C-5FD3CC5C4A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26951"/>
            <a:ext cx="5313863" cy="721839"/>
          </a:xfrm>
        </p:spPr>
        <p:txBody>
          <a:bodyPr/>
          <a:lstStyle/>
          <a:p>
            <a:r>
              <a:rPr lang="en-US" altLang="en-US" dirty="0"/>
              <a:t>REST - not a Standard</a:t>
            </a:r>
          </a:p>
        </p:txBody>
      </p:sp>
      <p:sp>
        <p:nvSpPr>
          <p:cNvPr id="100357" name="Rectangle 5">
            <a:extLst>
              <a:ext uri="{FF2B5EF4-FFF2-40B4-BE49-F238E27FC236}">
                <a16:creationId xmlns:a16="http://schemas.microsoft.com/office/drawing/2014/main" id="{3029F248-3322-D4DC-588B-B430B34650C2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598320"/>
            <a:ext cx="10432128" cy="5039985"/>
          </a:xfrm>
        </p:spPr>
        <p:txBody>
          <a:bodyPr/>
          <a:lstStyle/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REST is not a standard</a:t>
            </a:r>
          </a:p>
          <a:p>
            <a:pPr lvl="1">
              <a:lnSpc>
                <a:spcPct val="90000"/>
              </a:lnSpc>
            </a:pP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</a:rPr>
              <a:t>JSR 311: JAX-RS: The Java</a:t>
            </a:r>
            <a:r>
              <a:rPr lang="en-US" altLang="en-US" sz="1980" baseline="30000" dirty="0">
                <a:solidFill>
                  <a:schemeClr val="tx1"/>
                </a:solidFill>
              </a:rPr>
              <a:t>TM</a:t>
            </a:r>
            <a:r>
              <a:rPr lang="en-US" altLang="en-US" sz="1980" dirty="0">
                <a:solidFill>
                  <a:schemeClr val="tx1"/>
                </a:solidFill>
              </a:rPr>
              <a:t> API for RESTful Web Services</a:t>
            </a:r>
            <a:endParaRPr lang="en-US" altLang="en-US" sz="162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endParaRPr lang="en-US" altLang="en-US" sz="180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But it uses several standards:</a:t>
            </a:r>
          </a:p>
          <a:p>
            <a:pPr lvl="1">
              <a:lnSpc>
                <a:spcPct val="90000"/>
              </a:lnSpc>
            </a:pPr>
            <a:endParaRPr lang="en-US" altLang="en-US" sz="180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HTTP</a:t>
            </a:r>
          </a:p>
          <a:p>
            <a:pPr lvl="1"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URL</a:t>
            </a:r>
          </a:p>
          <a:p>
            <a:pPr lvl="1"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XML/HTML/GIF/JPEG/</a:t>
            </a:r>
            <a:r>
              <a:rPr lang="en-US" altLang="en-US" sz="1800" dirty="0" err="1">
                <a:solidFill>
                  <a:schemeClr val="tx1"/>
                </a:solidFill>
              </a:rPr>
              <a:t>etc</a:t>
            </a:r>
            <a:r>
              <a:rPr lang="en-US" altLang="en-US" sz="1800" dirty="0">
                <a:solidFill>
                  <a:schemeClr val="tx1"/>
                </a:solidFill>
              </a:rPr>
              <a:t> (Resource Representations)</a:t>
            </a:r>
          </a:p>
          <a:p>
            <a:pPr lvl="1"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text/xml, text/html, image/gif, image/jpeg, </a:t>
            </a:r>
            <a:r>
              <a:rPr lang="en-US" altLang="en-US" sz="1800" dirty="0" err="1">
                <a:solidFill>
                  <a:schemeClr val="tx1"/>
                </a:solidFill>
              </a:rPr>
              <a:t>etc</a:t>
            </a:r>
            <a:r>
              <a:rPr lang="en-US" altLang="en-US" sz="1800" dirty="0">
                <a:solidFill>
                  <a:schemeClr val="tx1"/>
                </a:solidFill>
              </a:rPr>
              <a:t>  (Resource Types, MIME Types)</a:t>
            </a:r>
          </a:p>
        </p:txBody>
      </p:sp>
    </p:spTree>
    <p:extLst>
      <p:ext uri="{BB962C8B-B14F-4D97-AF65-F5344CB8AC3E}">
        <p14:creationId xmlns:p14="http://schemas.microsoft.com/office/powerpoint/2010/main" val="1613239226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F3730033-29A5-E8D5-DBC0-C8B460C3D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19458" name="Rectangle 2">
            <a:extLst>
              <a:ext uri="{FF2B5EF4-FFF2-40B4-BE49-F238E27FC236}">
                <a16:creationId xmlns:a16="http://schemas.microsoft.com/office/drawing/2014/main" id="{8EC69D50-8535-E974-CDAF-1682A151279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28599" y="730910"/>
            <a:ext cx="3686944" cy="745589"/>
          </a:xfrm>
        </p:spPr>
        <p:txBody>
          <a:bodyPr/>
          <a:lstStyle/>
          <a:p>
            <a:r>
              <a:rPr lang="en-US" altLang="en-US"/>
              <a:t>Main Concepts</a:t>
            </a:r>
          </a:p>
        </p:txBody>
      </p:sp>
      <p:sp>
        <p:nvSpPr>
          <p:cNvPr id="19459" name="AutoShape 3">
            <a:extLst>
              <a:ext uri="{FF2B5EF4-FFF2-40B4-BE49-F238E27FC236}">
                <a16:creationId xmlns:a16="http://schemas.microsoft.com/office/drawing/2014/main" id="{88FD38EE-798E-954D-68B3-B3D44CE5C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820" y="2700338"/>
            <a:ext cx="3040380" cy="2511743"/>
          </a:xfrm>
          <a:prstGeom prst="triangle">
            <a:avLst>
              <a:gd name="adj" fmla="val 50000"/>
            </a:avLst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 anchor="ctr"/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ctr" defTabSz="10160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495764"/>
              </a:buClr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en-US" sz="243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9460" name="Text Box 4">
            <a:extLst>
              <a:ext uri="{FF2B5EF4-FFF2-40B4-BE49-F238E27FC236}">
                <a16:creationId xmlns:a16="http://schemas.microsoft.com/office/drawing/2014/main" id="{11D7B4E8-840E-69C0-E96E-CC416A1067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24400" y="1675925"/>
            <a:ext cx="4879856" cy="1006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10160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49576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en-US" sz="198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Nouns (Resources)</a:t>
            </a:r>
            <a:br>
              <a:rPr kumimoji="0" lang="en-US" altLang="en-US" sz="198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unconstrained</a:t>
            </a:r>
            <a:br>
              <a:rPr kumimoji="0" lang="en-US" altLang="en-US" sz="198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i.e., http://example.com/employees/12345</a:t>
            </a:r>
          </a:p>
        </p:txBody>
      </p:sp>
      <p:sp>
        <p:nvSpPr>
          <p:cNvPr id="19461" name="Text Box 5">
            <a:extLst>
              <a:ext uri="{FF2B5EF4-FFF2-40B4-BE49-F238E27FC236}">
                <a16:creationId xmlns:a16="http://schemas.microsoft.com/office/drawing/2014/main" id="{87E82F2F-E576-9611-03C1-E584F84DFD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8480" y="5074920"/>
            <a:ext cx="1495916" cy="1006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10160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49576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en-US" sz="198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Verbs</a:t>
            </a:r>
            <a:br>
              <a:rPr kumimoji="0" lang="en-US" altLang="en-US" sz="198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constrained</a:t>
            </a:r>
            <a:br>
              <a:rPr kumimoji="0" lang="en-US" altLang="en-US" sz="198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i.e., GET</a:t>
            </a:r>
          </a:p>
        </p:txBody>
      </p:sp>
      <p:sp>
        <p:nvSpPr>
          <p:cNvPr id="19462" name="Text Box 6">
            <a:extLst>
              <a:ext uri="{FF2B5EF4-FFF2-40B4-BE49-F238E27FC236}">
                <a16:creationId xmlns:a16="http://schemas.microsoft.com/office/drawing/2014/main" id="{788D86DD-F3D4-4A83-8C86-37F95796A9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10500" y="5074920"/>
            <a:ext cx="2175590" cy="1006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10160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>
                <a:srgbClr val="49576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en-US" sz="198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Representations</a:t>
            </a:r>
            <a:br>
              <a:rPr kumimoji="0" lang="en-US" altLang="en-US" sz="198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constrained</a:t>
            </a:r>
            <a:br>
              <a:rPr kumimoji="0" lang="en-US" altLang="en-US" sz="198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</a:br>
            <a:r>
              <a:rPr kumimoji="0" lang="en-US" altLang="en-US" sz="198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i.e., XML</a:t>
            </a:r>
          </a:p>
        </p:txBody>
      </p:sp>
      <p:sp>
        <p:nvSpPr>
          <p:cNvPr id="19474" name="Text Box 18">
            <a:extLst>
              <a:ext uri="{FF2B5EF4-FFF2-40B4-BE49-F238E27FC236}">
                <a16:creationId xmlns:a16="http://schemas.microsoft.com/office/drawing/2014/main" id="{2492A1DD-B2B0-5219-1B4D-144D3D8EA4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15940" y="3909060"/>
            <a:ext cx="1170513" cy="535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288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REST</a:t>
            </a:r>
          </a:p>
        </p:txBody>
      </p:sp>
    </p:spTree>
    <p:extLst>
      <p:ext uri="{BB962C8B-B14F-4D97-AF65-F5344CB8AC3E}">
        <p14:creationId xmlns:p14="http://schemas.microsoft.com/office/powerpoint/2010/main" val="258541895"/>
      </p:ext>
    </p:extLst>
  </p:cSld>
  <p:clrMapOvr>
    <a:masterClrMapping/>
  </p:clrMapOvr>
  <p:transition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A6CE-649F-DCDD-8BC9-4B686AE75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Use HTTP verbs The basic methods defined in the HTTP protocol (GET, PUT,  POST,  DELETE) must be used to access the operations made available by the service.…">
            <a:extLst>
              <a:ext uri="{FF2B5EF4-FFF2-40B4-BE49-F238E27FC236}">
                <a16:creationId xmlns:a16="http://schemas.microsoft.com/office/drawing/2014/main" id="{FD4C698F-81AF-2631-A839-570B12197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657545"/>
            <a:ext cx="10342761" cy="4985080"/>
          </a:xfrm>
          <a:prstGeom prst="rect">
            <a:avLst/>
          </a:prstGeom>
        </p:spPr>
        <p:txBody>
          <a:bodyPr/>
          <a:lstStyle/>
          <a:p>
            <a:pPr marL="152396" indent="0">
              <a:buNone/>
            </a:pPr>
            <a:endParaRPr lang="en-US" b="1" i="1" dirty="0">
              <a:solidFill>
                <a:schemeClr val="tx1"/>
              </a:solidFill>
            </a:endParaRPr>
          </a:p>
          <a:p>
            <a:r>
              <a:rPr b="1" i="1" dirty="0">
                <a:solidFill>
                  <a:schemeClr val="tx1"/>
                </a:solidFill>
              </a:rPr>
              <a:t>Stateless services</a:t>
            </a:r>
            <a:endParaRPr lang="en-US" b="1" i="1" dirty="0">
              <a:solidFill>
                <a:schemeClr val="tx1"/>
              </a:solidFill>
            </a:endParaRPr>
          </a:p>
          <a:p>
            <a:pPr lvl="1"/>
            <a:endParaRPr lang="en-US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Services must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never maintain </a:t>
            </a:r>
            <a:r>
              <a:rPr dirty="0">
                <a:solidFill>
                  <a:schemeClr val="tx1"/>
                </a:solidFill>
              </a:rPr>
              <a:t>internal state</a:t>
            </a: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b="1" dirty="0">
              <a:solidFill>
                <a:srgbClr val="00B0F0"/>
              </a:solidFill>
            </a:endParaRPr>
          </a:p>
          <a:p>
            <a:pPr lvl="1"/>
            <a:r>
              <a:rPr lang="en-US" b="1" dirty="0">
                <a:solidFill>
                  <a:srgbClr val="00B0F0"/>
                </a:solidFill>
              </a:rPr>
              <a:t>M</a:t>
            </a:r>
            <a:r>
              <a:rPr b="1" dirty="0">
                <a:solidFill>
                  <a:srgbClr val="00B0F0"/>
                </a:solidFill>
              </a:rPr>
              <a:t>icroservices </a:t>
            </a:r>
            <a:r>
              <a:rPr dirty="0">
                <a:solidFill>
                  <a:schemeClr val="tx1"/>
                </a:solidFill>
              </a:rPr>
              <a:t>are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stateless</a:t>
            </a:r>
            <a:endParaRPr dirty="0"/>
          </a:p>
        </p:txBody>
      </p:sp>
      <p:sp>
        <p:nvSpPr>
          <p:cNvPr id="198" name="Table 6.4 RESTful service principles">
            <a:extLst>
              <a:ext uri="{FF2B5EF4-FFF2-40B4-BE49-F238E27FC236}">
                <a16:creationId xmlns:a16="http://schemas.microsoft.com/office/drawing/2014/main" id="{A316819D-0160-9FE7-DF8C-C46394B35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37532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RESTful service principles</a:t>
            </a:r>
          </a:p>
        </p:txBody>
      </p:sp>
      <p:sp>
        <p:nvSpPr>
          <p:cNvPr id="199" name="Slide Number">
            <a:extLst>
              <a:ext uri="{FF2B5EF4-FFF2-40B4-BE49-F238E27FC236}">
                <a16:creationId xmlns:a16="http://schemas.microsoft.com/office/drawing/2014/main" id="{32FBDAB5-4ED1-5FD2-55D5-24B0A5DEA57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39709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AD5C320-2459-ED35-ABF0-AF25FA6E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B1CF86CA-3C4F-A6C4-7BC9-1F54176FACB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42786"/>
            <a:ext cx="2911089" cy="626836"/>
          </a:xfrm>
        </p:spPr>
        <p:txBody>
          <a:bodyPr/>
          <a:lstStyle/>
          <a:p>
            <a:r>
              <a:rPr lang="en-US" altLang="en-US" dirty="0"/>
              <a:t>Resources</a:t>
            </a:r>
          </a:p>
        </p:txBody>
      </p:sp>
      <p:sp>
        <p:nvSpPr>
          <p:cNvPr id="10245" name="Rectangle 5">
            <a:extLst>
              <a:ext uri="{FF2B5EF4-FFF2-40B4-BE49-F238E27FC236}">
                <a16:creationId xmlns:a16="http://schemas.microsoft.com/office/drawing/2014/main" id="{09E8F1C4-F39B-CF1E-B5D3-31EAF9304A5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511100"/>
            <a:ext cx="10451920" cy="512324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The key in REST is a resource.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A resource is a conceptual mapping to a set of entities</a:t>
            </a:r>
          </a:p>
          <a:p>
            <a:pPr lvl="1">
              <a:lnSpc>
                <a:spcPct val="90000"/>
              </a:lnSpc>
            </a:pPr>
            <a:endParaRPr lang="en-US" altLang="en-US" sz="216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2160" dirty="0">
                <a:solidFill>
                  <a:schemeClr val="tx1"/>
                </a:solidFill>
              </a:rPr>
              <a:t>Any information that can be named can be a resource: </a:t>
            </a:r>
          </a:p>
          <a:p>
            <a:pPr lvl="2"/>
            <a:endParaRPr lang="en-US" altLang="en-US" sz="1960" dirty="0">
              <a:solidFill>
                <a:schemeClr val="tx1"/>
              </a:solidFill>
            </a:endParaRP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Document</a:t>
            </a: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Image</a:t>
            </a: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Temporal service (e.g. "today's weather in Los Angeles")</a:t>
            </a: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Collection of other resources</a:t>
            </a: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Non-virtual object (e.g. a person)</a:t>
            </a: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477637390"/>
      </p:ext>
    </p:extLst>
  </p:cSld>
  <p:clrMapOvr>
    <a:masterClrMapping/>
  </p:clrMapOvr>
  <p:transition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49A2366-6412-543E-8F20-E2DFE520B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34498" name="Rectangle 2">
            <a:extLst>
              <a:ext uri="{FF2B5EF4-FFF2-40B4-BE49-F238E27FC236}">
                <a16:creationId xmlns:a16="http://schemas.microsoft.com/office/drawing/2014/main" id="{D225DDA3-3708-F63D-C4C1-87F8AA8867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70495"/>
            <a:ext cx="4633011" cy="773297"/>
          </a:xfrm>
        </p:spPr>
        <p:txBody>
          <a:bodyPr/>
          <a:lstStyle/>
          <a:p>
            <a:r>
              <a:rPr lang="en-US" altLang="en-US" dirty="0"/>
              <a:t>Naming Resources</a:t>
            </a:r>
          </a:p>
        </p:txBody>
      </p:sp>
      <p:sp>
        <p:nvSpPr>
          <p:cNvPr id="234499" name="Rectangle 3">
            <a:extLst>
              <a:ext uri="{FF2B5EF4-FFF2-40B4-BE49-F238E27FC236}">
                <a16:creationId xmlns:a16="http://schemas.microsoft.com/office/drawing/2014/main" id="{41CA45C3-1823-22C4-414B-E9C2ABE43B1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5" y="1748742"/>
            <a:ext cx="10424211" cy="491727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REST uses URI to identify resources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</a:t>
            </a: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http://localhost/books/ISBN-0011</a:t>
            </a: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http://localhost/books/ISBN-0011/authors</a:t>
            </a: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http://localhost/classes</a:t>
            </a: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http://localhost/classes/cs2650</a:t>
            </a:r>
            <a:endParaRPr lang="en-US" altLang="en-US" sz="198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980" dirty="0">
                <a:solidFill>
                  <a:schemeClr val="tx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http://localhost/classes/cs2650/students</a:t>
            </a:r>
            <a:endParaRPr lang="en-US" altLang="en-US" sz="198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6545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Use HTTP verbs The basic methods defined in the HTTP protocol (GET, PUT,  POST,  DELETE) must be used to access the operations made available by the service.…"/>
          <p:cNvSpPr txBox="1">
            <a:spLocks noGrp="1"/>
          </p:cNvSpPr>
          <p:nvPr>
            <p:ph type="body" idx="1"/>
          </p:nvPr>
        </p:nvSpPr>
        <p:spPr>
          <a:xfrm>
            <a:off x="947434" y="1657545"/>
            <a:ext cx="10342761" cy="4985080"/>
          </a:xfrm>
          <a:prstGeom prst="rect">
            <a:avLst/>
          </a:prstGeom>
        </p:spPr>
        <p:txBody>
          <a:bodyPr/>
          <a:lstStyle/>
          <a:p>
            <a:endParaRPr lang="en-US" b="1" i="1" dirty="0"/>
          </a:p>
          <a:p>
            <a:r>
              <a:rPr b="1" i="1" dirty="0">
                <a:solidFill>
                  <a:schemeClr val="tx1"/>
                </a:solidFill>
              </a:rPr>
              <a:t>Use HTTP verbs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The basic methods defined in the HTTP protocol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HTTP </a:t>
            </a:r>
            <a:r>
              <a:rPr dirty="0">
                <a:solidFill>
                  <a:schemeClr val="tx1"/>
                </a:solidFill>
              </a:rPr>
              <a:t>GET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HTTP </a:t>
            </a:r>
            <a:r>
              <a:rPr dirty="0">
                <a:solidFill>
                  <a:schemeClr val="tx1"/>
                </a:solidFill>
              </a:rPr>
              <a:t>PUT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HTTP </a:t>
            </a:r>
            <a:r>
              <a:rPr dirty="0">
                <a:solidFill>
                  <a:schemeClr val="tx1"/>
                </a:solidFill>
              </a:rPr>
              <a:t>POST</a:t>
            </a:r>
            <a:endParaRPr lang="en-US" dirty="0">
              <a:solidFill>
                <a:schemeClr val="tx1"/>
              </a:solidFill>
            </a:endParaRPr>
          </a:p>
          <a:p>
            <a:pPr lvl="2"/>
            <a:r>
              <a:rPr lang="en-US" dirty="0">
                <a:solidFill>
                  <a:schemeClr val="tx1"/>
                </a:solidFill>
              </a:rPr>
              <a:t>HTTP </a:t>
            </a:r>
            <a:r>
              <a:rPr dirty="0">
                <a:solidFill>
                  <a:schemeClr val="tx1"/>
                </a:solidFill>
              </a:rPr>
              <a:t>DELETE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8" name="Table 6.4 RESTful service principles"/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37532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RESTful service principles</a:t>
            </a:r>
          </a:p>
        </p:txBody>
      </p:sp>
      <p:sp>
        <p:nvSpPr>
          <p:cNvPr id="19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2792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DDF0-3867-FF4B-5AA0-87D326C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reate Implemented using HTTP POST, which creates the resource with the given URI. If the resource has already been created, an error is returned.…">
            <a:extLst>
              <a:ext uri="{FF2B5EF4-FFF2-40B4-BE49-F238E27FC236}">
                <a16:creationId xmlns:a16="http://schemas.microsoft.com/office/drawing/2014/main" id="{D9F0D4C9-7A67-9339-6FB1-7F83DE92CF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9880"/>
            <a:ext cx="10395660" cy="5080073"/>
          </a:xfrm>
          <a:prstGeom prst="rect">
            <a:avLst/>
          </a:prstGeom>
        </p:spPr>
        <p:txBody>
          <a:bodyPr/>
          <a:lstStyle/>
          <a:p>
            <a:pPr defTabSz="386106">
              <a:spcBef>
                <a:spcPts val="1969"/>
              </a:spcBef>
              <a:defRPr sz="2256"/>
            </a:pPr>
            <a:r>
              <a:rPr b="1" i="1" dirty="0">
                <a:solidFill>
                  <a:schemeClr val="tx1"/>
                </a:solidFill>
              </a:rPr>
              <a:t>Read</a:t>
            </a:r>
            <a:endParaRPr lang="en-US" b="1" i="1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Implemented using HTTP GET, which </a:t>
            </a:r>
            <a:r>
              <a:rPr b="1" dirty="0">
                <a:solidFill>
                  <a:srgbClr val="00B050"/>
                </a:solidFill>
              </a:rPr>
              <a:t>reads the resource </a:t>
            </a:r>
            <a:r>
              <a:rPr dirty="0">
                <a:solidFill>
                  <a:schemeClr val="tx1"/>
                </a:solidFill>
              </a:rPr>
              <a:t>and returns its </a:t>
            </a:r>
            <a:r>
              <a:rPr b="1" dirty="0">
                <a:solidFill>
                  <a:srgbClr val="00B050"/>
                </a:solidFill>
              </a:rPr>
              <a:t>value</a:t>
            </a:r>
            <a:r>
              <a:rPr dirty="0">
                <a:solidFill>
                  <a:schemeClr val="tx1"/>
                </a:solidFill>
              </a:rPr>
              <a:t>. </a:t>
            </a:r>
            <a:endParaRPr lang="en-US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GET operations should </a:t>
            </a:r>
            <a:r>
              <a:rPr b="1" dirty="0">
                <a:solidFill>
                  <a:srgbClr val="FF0000"/>
                </a:solidFill>
              </a:rPr>
              <a:t>never update a resource </a:t>
            </a:r>
            <a:endParaRPr lang="en-US" b="1" dirty="0">
              <a:solidFill>
                <a:srgbClr val="FF0000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lang="en-US" dirty="0">
                <a:solidFill>
                  <a:schemeClr val="tx1"/>
                </a:solidFill>
              </a:rPr>
              <a:t>So,</a:t>
            </a:r>
            <a:r>
              <a:rPr dirty="0">
                <a:solidFill>
                  <a:schemeClr val="tx1"/>
                </a:solidFill>
              </a:rPr>
              <a:t> that </a:t>
            </a:r>
            <a:r>
              <a:rPr b="1" dirty="0">
                <a:solidFill>
                  <a:srgbClr val="00B050"/>
                </a:solidFill>
              </a:rPr>
              <a:t>successive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GET operations with </a:t>
            </a:r>
            <a:r>
              <a:rPr b="1" dirty="0">
                <a:solidFill>
                  <a:srgbClr val="FF0000"/>
                </a:solidFill>
              </a:rPr>
              <a:t>no intervening </a:t>
            </a:r>
            <a:r>
              <a:rPr dirty="0">
                <a:solidFill>
                  <a:schemeClr val="tx1"/>
                </a:solidFill>
              </a:rPr>
              <a:t>PUT operations always return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the same value</a:t>
            </a:r>
            <a:r>
              <a:rPr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203" name="Slide Number">
            <a:extLst>
              <a:ext uri="{FF2B5EF4-FFF2-40B4-BE49-F238E27FC236}">
                <a16:creationId xmlns:a16="http://schemas.microsoft.com/office/drawing/2014/main" id="{8EB213AB-01DA-3A0B-D5BC-766258382E6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39</a:t>
            </a:fld>
            <a:endParaRPr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F638C659-E150-F5E6-C972-6ABC14438F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58619"/>
            <a:ext cx="2760668" cy="658503"/>
          </a:xfrm>
        </p:spPr>
        <p:txBody>
          <a:bodyPr/>
          <a:lstStyle/>
          <a:p>
            <a:r>
              <a:rPr lang="en-US" altLang="en-US" dirty="0"/>
              <a:t>HTTP GET</a:t>
            </a:r>
          </a:p>
        </p:txBody>
      </p:sp>
    </p:spTree>
    <p:extLst>
      <p:ext uri="{BB962C8B-B14F-4D97-AF65-F5344CB8AC3E}">
        <p14:creationId xmlns:p14="http://schemas.microsoft.com/office/powerpoint/2010/main" val="14276914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7EEEA61-203B-B3B5-C3A9-FB00655C1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230402" name="Rectangle 2">
            <a:extLst>
              <a:ext uri="{FF2B5EF4-FFF2-40B4-BE49-F238E27FC236}">
                <a16:creationId xmlns:a16="http://schemas.microsoft.com/office/drawing/2014/main" id="{2D06B644-FCC4-A9D5-91FD-D45267EE05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58619"/>
            <a:ext cx="2760668" cy="658503"/>
          </a:xfrm>
        </p:spPr>
        <p:txBody>
          <a:bodyPr/>
          <a:lstStyle/>
          <a:p>
            <a:r>
              <a:rPr lang="en-US" altLang="en-US" dirty="0"/>
              <a:t>HTTP GET</a:t>
            </a:r>
          </a:p>
        </p:txBody>
      </p:sp>
      <p:sp>
        <p:nvSpPr>
          <p:cNvPr id="230403" name="Rectangle 3">
            <a:extLst>
              <a:ext uri="{FF2B5EF4-FFF2-40B4-BE49-F238E27FC236}">
                <a16:creationId xmlns:a16="http://schemas.microsoft.com/office/drawing/2014/main" id="{E3F9AB3B-5DDE-B3B5-9BF8-85033B0382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5" y="1546861"/>
            <a:ext cx="10471713" cy="509936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How clients ask for the information they seek.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Issuing a GET request transfers the data from the server to the client in some representation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GET </a:t>
            </a:r>
            <a:r>
              <a:rPr lang="en-US" altLang="en-US" sz="180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710" dirty="0">
                <a:solidFill>
                  <a:schemeClr val="tx1"/>
                </a:solidFill>
              </a:rPr>
              <a:t>Retrieve all books</a:t>
            </a:r>
          </a:p>
          <a:p>
            <a:pPr lvl="1">
              <a:lnSpc>
                <a:spcPct val="90000"/>
              </a:lnSpc>
            </a:pPr>
            <a:endParaRPr lang="en-US" altLang="en-US" sz="171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GET </a:t>
            </a:r>
            <a:r>
              <a:rPr lang="en-US" altLang="en-US" sz="1800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http://localhost/books/ISBN-0011021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710" dirty="0">
                <a:solidFill>
                  <a:schemeClr val="tx1"/>
                </a:solidFill>
              </a:rPr>
              <a:t>Retrieve book identified with ISBN-0011021</a:t>
            </a:r>
          </a:p>
          <a:p>
            <a:pPr lvl="1">
              <a:lnSpc>
                <a:spcPct val="90000"/>
              </a:lnSpc>
            </a:pPr>
            <a:endParaRPr lang="en-US" altLang="en-US" sz="171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1800" dirty="0">
                <a:solidFill>
                  <a:schemeClr val="tx1"/>
                </a:solidFill>
              </a:rPr>
              <a:t>GET </a:t>
            </a:r>
            <a:r>
              <a:rPr lang="en-US" altLang="en-US" sz="1800" dirty="0">
                <a:solidFill>
                  <a:schemeClr val="tx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http://localhost/books/ISBN-0011021/authors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1710" dirty="0">
                <a:solidFill>
                  <a:schemeClr val="tx1"/>
                </a:solidFill>
              </a:rPr>
              <a:t>Retrieve authors for book identified with ISBN-0011021</a:t>
            </a:r>
          </a:p>
        </p:txBody>
      </p:sp>
    </p:spTree>
    <p:extLst>
      <p:ext uri="{BB962C8B-B14F-4D97-AF65-F5344CB8AC3E}">
        <p14:creationId xmlns:p14="http://schemas.microsoft.com/office/powerpoint/2010/main" val="29301944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CF661-CB3D-FFD0-4A8A-CDBDFE7E6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reate Implemented using HTTP POST, which creates the resource with the given URI. If the resource has already been created, an error is returned.…">
            <a:extLst>
              <a:ext uri="{FF2B5EF4-FFF2-40B4-BE49-F238E27FC236}">
                <a16:creationId xmlns:a16="http://schemas.microsoft.com/office/drawing/2014/main" id="{56DD3223-6617-4C30-BBDE-E0F938E2C1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9880"/>
            <a:ext cx="10395660" cy="5080073"/>
          </a:xfrm>
          <a:prstGeom prst="rect">
            <a:avLst/>
          </a:prstGeom>
        </p:spPr>
        <p:txBody>
          <a:bodyPr/>
          <a:lstStyle/>
          <a:p>
            <a:pPr defTabSz="386106">
              <a:spcBef>
                <a:spcPts val="1969"/>
              </a:spcBef>
              <a:defRPr sz="2256"/>
            </a:pPr>
            <a:r>
              <a:rPr lang="en-US" b="1" i="1" dirty="0">
                <a:solidFill>
                  <a:schemeClr val="tx1"/>
                </a:solidFill>
              </a:rPr>
              <a:t>Update</a:t>
            </a:r>
          </a:p>
          <a:p>
            <a:pPr lvl="1" defTabSz="386106">
              <a:spcBef>
                <a:spcPts val="1969"/>
              </a:spcBef>
              <a:defRPr sz="2256"/>
            </a:pPr>
            <a:r>
              <a:rPr lang="en-US" dirty="0">
                <a:solidFill>
                  <a:schemeClr val="tx1"/>
                </a:solidFill>
              </a:rPr>
              <a:t>Implemented using HTTP PUT, which </a:t>
            </a:r>
            <a:r>
              <a:rPr lang="en-US" b="1" dirty="0">
                <a:solidFill>
                  <a:srgbClr val="FF0000"/>
                </a:solidFill>
              </a:rPr>
              <a:t>modifies an existing resource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pPr lvl="1" defTabSz="386106">
              <a:spcBef>
                <a:spcPts val="1969"/>
              </a:spcBef>
              <a:defRPr sz="2256"/>
            </a:pPr>
            <a:r>
              <a:rPr lang="en-US" dirty="0">
                <a:solidFill>
                  <a:schemeClr val="tx1"/>
                </a:solidFill>
              </a:rPr>
              <a:t>PUT should </a:t>
            </a:r>
            <a:r>
              <a:rPr lang="en-US" b="1" dirty="0">
                <a:solidFill>
                  <a:srgbClr val="FF0000"/>
                </a:solidFill>
              </a:rPr>
              <a:t>not be used </a:t>
            </a:r>
            <a:r>
              <a:rPr lang="en-US" dirty="0">
                <a:solidFill>
                  <a:schemeClr val="tx1"/>
                </a:solidFill>
              </a:rPr>
              <a:t>for resource </a:t>
            </a:r>
            <a:r>
              <a:rPr lang="en-US" b="1" dirty="0">
                <a:solidFill>
                  <a:srgbClr val="00B050"/>
                </a:solidFill>
              </a:rPr>
              <a:t>creation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HTTP PUT updates a resource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PUT </a:t>
            </a:r>
            <a:r>
              <a:rPr lang="en-US" altLang="en-US" sz="212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http://localhost/books/isbn-111</a:t>
            </a:r>
            <a:r>
              <a:rPr lang="en-US" altLang="en-US" sz="2120" dirty="0">
                <a:solidFill>
                  <a:schemeClr val="tx1"/>
                </a:solidFill>
              </a:rPr>
              <a:t> </a:t>
            </a:r>
          </a:p>
          <a:p>
            <a:pPr lvl="2"/>
            <a:r>
              <a:rPr lang="en-US" altLang="en-US" sz="1600" dirty="0">
                <a:solidFill>
                  <a:schemeClr val="tx1"/>
                </a:solidFill>
              </a:rPr>
              <a:t>Content: {</a:t>
            </a:r>
            <a:r>
              <a:rPr lang="en-US" altLang="en-US" sz="1600" dirty="0" err="1">
                <a:solidFill>
                  <a:schemeClr val="tx1"/>
                </a:solidFill>
              </a:rPr>
              <a:t>isbn</a:t>
            </a:r>
            <a:r>
              <a:rPr lang="en-US" altLang="en-US" sz="1600" dirty="0">
                <a:solidFill>
                  <a:schemeClr val="tx1"/>
                </a:solidFill>
              </a:rPr>
              <a:t>, title, authors[], …}</a:t>
            </a:r>
          </a:p>
          <a:p>
            <a:pPr lvl="2"/>
            <a:r>
              <a:rPr lang="en-US" altLang="en-US" sz="1600" dirty="0">
                <a:solidFill>
                  <a:schemeClr val="tx1"/>
                </a:solidFill>
              </a:rPr>
              <a:t>Updates book identified by isbn-111 with submitted properties</a:t>
            </a:r>
            <a:endParaRPr lang="en-US" dirty="0">
              <a:solidFill>
                <a:schemeClr val="tx1"/>
              </a:solidFill>
            </a:endParaRPr>
          </a:p>
          <a:p>
            <a:pPr marL="186262" indent="0" defTabSz="386106">
              <a:spcBef>
                <a:spcPts val="1969"/>
              </a:spcBef>
              <a:buNone/>
              <a:defRPr sz="2256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3" name="Slide Number">
            <a:extLst>
              <a:ext uri="{FF2B5EF4-FFF2-40B4-BE49-F238E27FC236}">
                <a16:creationId xmlns:a16="http://schemas.microsoft.com/office/drawing/2014/main" id="{04AB2D4B-83C0-DF65-FA7F-5302359E7161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41</a:t>
            </a:fld>
            <a:endParaRPr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B088A506-8AE6-E7D4-5022-9E20786A4E03}"/>
              </a:ext>
            </a:extLst>
          </p:cNvPr>
          <p:cNvSpPr txBox="1">
            <a:spLocks noChangeArrowheads="1"/>
          </p:cNvSpPr>
          <p:nvPr/>
        </p:nvSpPr>
        <p:spPr>
          <a:xfrm>
            <a:off x="936516" y="742786"/>
            <a:ext cx="5484076" cy="75746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en-US"/>
              <a:t>HTTP PUT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856306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reate Implemented using HTTP POST, which creates the resource with the given URI. If the resource has already been created, an error is returned.…"/>
          <p:cNvSpPr txBox="1">
            <a:spLocks noGrp="1"/>
          </p:cNvSpPr>
          <p:nvPr>
            <p:ph type="body" idx="1"/>
          </p:nvPr>
        </p:nvSpPr>
        <p:spPr>
          <a:xfrm>
            <a:off x="947434" y="1539880"/>
            <a:ext cx="10395660" cy="5080073"/>
          </a:xfrm>
          <a:prstGeom prst="rect">
            <a:avLst/>
          </a:prstGeom>
        </p:spPr>
        <p:txBody>
          <a:bodyPr/>
          <a:lstStyle/>
          <a:p>
            <a:pPr defTabSz="386106">
              <a:spcBef>
                <a:spcPts val="1969"/>
              </a:spcBef>
              <a:defRPr sz="2256"/>
            </a:pPr>
            <a:r>
              <a:rPr b="1" i="1" dirty="0">
                <a:solidFill>
                  <a:schemeClr val="tx1"/>
                </a:solidFill>
              </a:rPr>
              <a:t>Create</a:t>
            </a:r>
            <a:endParaRPr lang="en-US" b="1" i="1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Implemented using HTTP POST, which creates </a:t>
            </a:r>
            <a:r>
              <a:rPr b="1" dirty="0">
                <a:solidFill>
                  <a:srgbClr val="00B050"/>
                </a:solidFill>
              </a:rPr>
              <a:t>the resource </a:t>
            </a:r>
            <a:r>
              <a:rPr dirty="0">
                <a:solidFill>
                  <a:schemeClr val="tx1"/>
                </a:solidFill>
              </a:rPr>
              <a:t>with the given </a:t>
            </a:r>
            <a:r>
              <a:rPr b="1" dirty="0">
                <a:solidFill>
                  <a:srgbClr val="00B050"/>
                </a:solidFill>
              </a:rPr>
              <a:t>URI</a:t>
            </a:r>
            <a:r>
              <a:rPr dirty="0">
                <a:solidFill>
                  <a:schemeClr val="tx1"/>
                </a:solidFill>
              </a:rPr>
              <a:t>. </a:t>
            </a:r>
            <a:endParaRPr lang="en-US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If the resource has already been created, </a:t>
            </a:r>
            <a:r>
              <a:rPr b="1" dirty="0">
                <a:solidFill>
                  <a:srgbClr val="FF0000"/>
                </a:solidFill>
              </a:rPr>
              <a:t>an error is returned</a:t>
            </a:r>
            <a:r>
              <a:rPr dirty="0">
                <a:solidFill>
                  <a:schemeClr val="tx1"/>
                </a:solidFill>
              </a:rPr>
              <a:t>.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HTTP POST creates a resource</a:t>
            </a:r>
            <a:endParaRPr lang="en-US" altLang="en-US" sz="2520" dirty="0">
              <a:solidFill>
                <a:schemeClr val="tx1"/>
              </a:solidFill>
            </a:endParaRP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POST </a:t>
            </a:r>
            <a:r>
              <a:rPr lang="en-US" altLang="en-US" sz="212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</a:t>
            </a:r>
            <a:r>
              <a:rPr lang="en-US" altLang="en-US" sz="2120" dirty="0">
                <a:solidFill>
                  <a:schemeClr val="tx1"/>
                </a:solidFill>
              </a:rPr>
              <a:t>  </a:t>
            </a:r>
          </a:p>
          <a:p>
            <a:pPr lvl="2"/>
            <a:r>
              <a:rPr lang="en-US" altLang="en-US" sz="1600" dirty="0">
                <a:solidFill>
                  <a:schemeClr val="tx1"/>
                </a:solidFill>
              </a:rPr>
              <a:t>Content: {title, authors[], …}</a:t>
            </a:r>
          </a:p>
          <a:p>
            <a:pPr lvl="2"/>
            <a:r>
              <a:rPr lang="en-US" altLang="en-US" sz="1600" dirty="0">
                <a:solidFill>
                  <a:schemeClr val="tx1"/>
                </a:solidFill>
              </a:rPr>
              <a:t>Creates a new book with given properties</a:t>
            </a:r>
          </a:p>
          <a:p>
            <a:pPr lvl="1" defTabSz="386106">
              <a:spcBef>
                <a:spcPts val="1969"/>
              </a:spcBef>
              <a:defRPr sz="2256"/>
            </a:pPr>
            <a:endParaRPr dirty="0">
              <a:solidFill>
                <a:schemeClr val="tx1"/>
              </a:solidFill>
            </a:endParaRPr>
          </a:p>
        </p:txBody>
      </p:sp>
      <p:sp>
        <p:nvSpPr>
          <p:cNvPr id="20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42</a:t>
            </a:fld>
            <a:endParaRPr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28AFAEB-BC36-5DC1-38A0-AF64E3A2482E}"/>
              </a:ext>
            </a:extLst>
          </p:cNvPr>
          <p:cNvSpPr txBox="1">
            <a:spLocks noChangeArrowheads="1"/>
          </p:cNvSpPr>
          <p:nvPr/>
        </p:nvSpPr>
        <p:spPr>
          <a:xfrm>
            <a:off x="936516" y="742786"/>
            <a:ext cx="5484076" cy="75746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en-US"/>
              <a:t>HTTP POST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641054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2CEEC-F91D-0D0A-B8BD-BEA566A8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reate Implemented using HTTP POST, which creates the resource with the given URI. If the resource has already been created, an error is returned.…">
            <a:extLst>
              <a:ext uri="{FF2B5EF4-FFF2-40B4-BE49-F238E27FC236}">
                <a16:creationId xmlns:a16="http://schemas.microsoft.com/office/drawing/2014/main" id="{0D8F9653-E8E2-8630-B41F-DF7CAF18E6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539880"/>
            <a:ext cx="10395660" cy="5080073"/>
          </a:xfrm>
          <a:prstGeom prst="rect">
            <a:avLst/>
          </a:prstGeom>
        </p:spPr>
        <p:txBody>
          <a:bodyPr/>
          <a:lstStyle/>
          <a:p>
            <a:pPr defTabSz="386106">
              <a:spcBef>
                <a:spcPts val="1969"/>
              </a:spcBef>
              <a:defRPr sz="2256"/>
            </a:pPr>
            <a:r>
              <a:rPr b="1" i="1" dirty="0">
                <a:solidFill>
                  <a:schemeClr val="tx1"/>
                </a:solidFill>
              </a:rPr>
              <a:t>Delete</a:t>
            </a:r>
            <a:endParaRPr lang="en-US" b="1" i="1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Implemented using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HTTP DELETE</a:t>
            </a:r>
            <a:r>
              <a:rPr dirty="0">
                <a:solidFill>
                  <a:schemeClr val="tx1"/>
                </a:solidFill>
              </a:rPr>
              <a:t>, which makes the resource </a:t>
            </a:r>
            <a:r>
              <a:rPr b="1" dirty="0">
                <a:solidFill>
                  <a:srgbClr val="FF0000"/>
                </a:solidFill>
              </a:rPr>
              <a:t>inaccessible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using the specified URI. </a:t>
            </a:r>
            <a:endParaRPr lang="en-US" dirty="0">
              <a:solidFill>
                <a:schemeClr val="tx1"/>
              </a:solidFill>
            </a:endParaRPr>
          </a:p>
          <a:p>
            <a:pPr lvl="1" defTabSz="386106">
              <a:spcBef>
                <a:spcPts val="1969"/>
              </a:spcBef>
              <a:defRPr sz="2256"/>
            </a:pPr>
            <a:r>
              <a:rPr dirty="0">
                <a:solidFill>
                  <a:schemeClr val="tx1"/>
                </a:solidFill>
              </a:rPr>
              <a:t>The resource </a:t>
            </a:r>
            <a:r>
              <a:rPr b="1" dirty="0">
                <a:solidFill>
                  <a:srgbClr val="FF0000"/>
                </a:solidFill>
              </a:rPr>
              <a:t>may or may not </a:t>
            </a:r>
            <a:r>
              <a:rPr dirty="0">
                <a:solidFill>
                  <a:schemeClr val="tx1"/>
                </a:solidFill>
              </a:rPr>
              <a:t>be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physically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deleted.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Removes the resource identified by the URI</a:t>
            </a:r>
            <a:endParaRPr lang="en-US" altLang="en-US" sz="2520" dirty="0">
              <a:solidFill>
                <a:schemeClr val="tx1"/>
              </a:solidFill>
            </a:endParaRPr>
          </a:p>
          <a:p>
            <a:pPr lvl="1"/>
            <a:r>
              <a:rPr lang="en-US" altLang="en-US" sz="2120" dirty="0">
                <a:solidFill>
                  <a:schemeClr val="tx1"/>
                </a:solidFill>
              </a:rPr>
              <a:t>DELETE </a:t>
            </a:r>
            <a:r>
              <a:rPr lang="en-US" altLang="en-US" sz="2120" dirty="0">
                <a:solidFill>
                  <a:schemeClr val="tx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http://localhost/books/ISBN-0011</a:t>
            </a:r>
            <a:endParaRPr lang="en-US" altLang="en-US" sz="2120" dirty="0">
              <a:solidFill>
                <a:schemeClr val="tx1"/>
              </a:solidFill>
            </a:endParaRPr>
          </a:p>
          <a:p>
            <a:pPr lvl="2"/>
            <a:r>
              <a:rPr lang="en-US" altLang="en-US" sz="1960" dirty="0">
                <a:solidFill>
                  <a:schemeClr val="tx1"/>
                </a:solidFill>
              </a:rPr>
              <a:t>Delete book identified by ISBN-0011</a:t>
            </a:r>
          </a:p>
          <a:p>
            <a:pPr lvl="1" defTabSz="386106">
              <a:spcBef>
                <a:spcPts val="1969"/>
              </a:spcBef>
              <a:defRPr sz="2256"/>
            </a:pPr>
            <a:endParaRPr dirty="0">
              <a:solidFill>
                <a:schemeClr val="tx1"/>
              </a:solidFill>
            </a:endParaRPr>
          </a:p>
          <a:p>
            <a:pPr defTabSz="386106">
              <a:spcBef>
                <a:spcPts val="1969"/>
              </a:spcBef>
              <a:defRPr sz="2256"/>
            </a:pPr>
            <a:endParaRPr dirty="0"/>
          </a:p>
        </p:txBody>
      </p:sp>
      <p:sp>
        <p:nvSpPr>
          <p:cNvPr id="203" name="Slide Number">
            <a:extLst>
              <a:ext uri="{FF2B5EF4-FFF2-40B4-BE49-F238E27FC236}">
                <a16:creationId xmlns:a16="http://schemas.microsoft.com/office/drawing/2014/main" id="{BEB611D5-7975-F6E0-55AB-7262FFC97BF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43</a:t>
            </a:fld>
            <a:endParaRPr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AD70B29-BAA2-5197-02D9-3051C23096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70494"/>
            <a:ext cx="3659235" cy="658503"/>
          </a:xfrm>
        </p:spPr>
        <p:txBody>
          <a:bodyPr/>
          <a:lstStyle/>
          <a:p>
            <a:r>
              <a:rPr lang="en-US" altLang="en-US" dirty="0"/>
              <a:t>HTTP DELETE</a:t>
            </a:r>
          </a:p>
        </p:txBody>
      </p:sp>
    </p:spTree>
    <p:extLst>
      <p:ext uri="{BB962C8B-B14F-4D97-AF65-F5344CB8AC3E}">
        <p14:creationId xmlns:p14="http://schemas.microsoft.com/office/powerpoint/2010/main" val="12101179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358" y="806721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Controllers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0863" y="0"/>
            <a:ext cx="809567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CSEN160_10_PostgreSQL_JPA_SpringBoot_MicroServices_V1.0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C670F6-6C50-8595-44A8-8FE5531577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49" y="1748221"/>
            <a:ext cx="11469701" cy="48107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0F30BF-E4FD-4AED-5349-90018F096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6040" y="1016858"/>
            <a:ext cx="3019846" cy="2305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60FC-6418-24DB-E653-D8B9EAE3F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Use HTTP verbs The basic methods defined in the HTTP protocol (GET, PUT,  POST,  DELETE) must be used to access the operations made available by the service.…">
            <a:extLst>
              <a:ext uri="{FF2B5EF4-FFF2-40B4-BE49-F238E27FC236}">
                <a16:creationId xmlns:a16="http://schemas.microsoft.com/office/drawing/2014/main" id="{B9444CC4-96A2-7FA1-99BB-C2A15C486C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47434" y="1657545"/>
            <a:ext cx="10342761" cy="4985080"/>
          </a:xfrm>
          <a:prstGeom prst="rect">
            <a:avLst/>
          </a:prstGeom>
        </p:spPr>
        <p:txBody>
          <a:bodyPr/>
          <a:lstStyle/>
          <a:p>
            <a:endParaRPr lang="en-US" b="1" i="1" dirty="0"/>
          </a:p>
          <a:p>
            <a:r>
              <a:rPr b="1" i="1" dirty="0">
                <a:solidFill>
                  <a:schemeClr val="tx1"/>
                </a:solidFill>
              </a:rPr>
              <a:t>URI addressable</a:t>
            </a:r>
            <a:endParaRPr lang="en-US" b="1" i="1" dirty="0">
              <a:solidFill>
                <a:schemeClr val="tx1"/>
              </a:solidFill>
            </a:endParaRPr>
          </a:p>
          <a:p>
            <a:pPr lvl="1"/>
            <a:r>
              <a:rPr b="1" dirty="0">
                <a:solidFill>
                  <a:srgbClr val="00B050"/>
                </a:solidFill>
              </a:rPr>
              <a:t>All resources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must have a URI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lang="en-US" dirty="0">
                <a:solidFill>
                  <a:schemeClr val="tx1"/>
                </a:solidFill>
              </a:rPr>
              <a:t>W</a:t>
            </a:r>
            <a:r>
              <a:rPr dirty="0">
                <a:solidFill>
                  <a:schemeClr val="tx1"/>
                </a:solidFill>
              </a:rPr>
              <a:t>ith a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hierarchical structure</a:t>
            </a:r>
            <a:r>
              <a:rPr dirty="0">
                <a:solidFill>
                  <a:schemeClr val="tx1"/>
                </a:solidFill>
              </a:rPr>
              <a:t>, that is used to access </a:t>
            </a:r>
            <a:r>
              <a:rPr b="1" dirty="0">
                <a:solidFill>
                  <a:schemeClr val="tx1"/>
                </a:solidFill>
              </a:rPr>
              <a:t>sub-resources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endParaRPr lang="en-US" b="1" i="1" dirty="0">
              <a:solidFill>
                <a:schemeClr val="tx1"/>
              </a:solidFill>
            </a:endParaRPr>
          </a:p>
          <a:p>
            <a:r>
              <a:rPr b="1" i="1" dirty="0">
                <a:solidFill>
                  <a:schemeClr val="tx1"/>
                </a:solidFill>
              </a:rPr>
              <a:t>Use XML or JSON</a:t>
            </a:r>
            <a:endParaRPr lang="en-US" b="1" i="1" dirty="0">
              <a:solidFill>
                <a:schemeClr val="tx1"/>
              </a:solidFill>
            </a:endParaRPr>
          </a:p>
          <a:p>
            <a:pPr lvl="1"/>
            <a:r>
              <a:rPr dirty="0">
                <a:solidFill>
                  <a:schemeClr val="tx1"/>
                </a:solidFill>
              </a:rPr>
              <a:t>Resources should normally be represented in </a:t>
            </a:r>
            <a:r>
              <a:rPr b="1" dirty="0">
                <a:solidFill>
                  <a:srgbClr val="00B050"/>
                </a:solidFill>
              </a:rPr>
              <a:t>JSON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or</a:t>
            </a:r>
            <a:r>
              <a:rPr dirty="0"/>
              <a:t> </a:t>
            </a:r>
            <a:r>
              <a:rPr b="1" dirty="0">
                <a:solidFill>
                  <a:srgbClr val="FF0000"/>
                </a:solidFill>
              </a:rPr>
              <a:t>XML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or both. </a:t>
            </a:r>
            <a:endParaRPr lang="en-US" dirty="0">
              <a:solidFill>
                <a:schemeClr val="tx1"/>
              </a:solidFill>
            </a:endParaRPr>
          </a:p>
          <a:p>
            <a:pPr lvl="1"/>
            <a:r>
              <a:rPr b="1" dirty="0">
                <a:solidFill>
                  <a:srgbClr val="FF0000"/>
                </a:solidFill>
              </a:rPr>
              <a:t>Other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representations, such as </a:t>
            </a:r>
            <a:r>
              <a:rPr b="1" dirty="0">
                <a:solidFill>
                  <a:srgbClr val="00B050"/>
                </a:solidFill>
              </a:rPr>
              <a:t>audio</a:t>
            </a:r>
            <a:r>
              <a:rPr dirty="0"/>
              <a:t> </a:t>
            </a:r>
            <a:r>
              <a:rPr dirty="0">
                <a:solidFill>
                  <a:schemeClr val="tx1"/>
                </a:solidFill>
              </a:rPr>
              <a:t>and</a:t>
            </a:r>
            <a:r>
              <a:rPr dirty="0"/>
              <a:t> </a:t>
            </a:r>
            <a:r>
              <a:rPr b="1" dirty="0">
                <a:solidFill>
                  <a:srgbClr val="00B050"/>
                </a:solidFill>
              </a:rPr>
              <a:t>video</a:t>
            </a:r>
            <a:r>
              <a:rPr dirty="0">
                <a:solidFill>
                  <a:schemeClr val="tx1"/>
                </a:solidFill>
              </a:rPr>
              <a:t>, may be used if appropriate.</a:t>
            </a:r>
          </a:p>
        </p:txBody>
      </p:sp>
      <p:sp>
        <p:nvSpPr>
          <p:cNvPr id="198" name="Table 6.4 RESTful service principles">
            <a:extLst>
              <a:ext uri="{FF2B5EF4-FFF2-40B4-BE49-F238E27FC236}">
                <a16:creationId xmlns:a16="http://schemas.microsoft.com/office/drawing/2014/main" id="{83F39E3A-714C-7069-DFBE-F6D0F98061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375323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RESTful service principles</a:t>
            </a:r>
          </a:p>
        </p:txBody>
      </p:sp>
      <p:sp>
        <p:nvSpPr>
          <p:cNvPr id="199" name="Slide Number">
            <a:extLst>
              <a:ext uri="{FF2B5EF4-FFF2-40B4-BE49-F238E27FC236}">
                <a16:creationId xmlns:a16="http://schemas.microsoft.com/office/drawing/2014/main" id="{83CED6D2-C03D-CD53-E91E-CD475A69C85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801390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CC43DB9-957F-22C0-8622-FB6466E6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 dirty="0"/>
              <a:t> </a:t>
            </a:r>
          </a:p>
        </p:txBody>
      </p:sp>
      <p:sp>
        <p:nvSpPr>
          <p:cNvPr id="11268" name="Rectangle 4">
            <a:extLst>
              <a:ext uri="{FF2B5EF4-FFF2-40B4-BE49-F238E27FC236}">
                <a16:creationId xmlns:a16="http://schemas.microsoft.com/office/drawing/2014/main" id="{E93F9185-1302-912F-FDBA-0A0AB540612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34870"/>
            <a:ext cx="4003619" cy="650586"/>
          </a:xfrm>
        </p:spPr>
        <p:txBody>
          <a:bodyPr/>
          <a:lstStyle/>
          <a:p>
            <a:r>
              <a:rPr lang="en-US" altLang="en-US" dirty="0"/>
              <a:t>Representations</a:t>
            </a:r>
          </a:p>
        </p:txBody>
      </p:sp>
      <p:sp>
        <p:nvSpPr>
          <p:cNvPr id="11269" name="Rectangle 5">
            <a:extLst>
              <a:ext uri="{FF2B5EF4-FFF2-40B4-BE49-F238E27FC236}">
                <a16:creationId xmlns:a16="http://schemas.microsoft.com/office/drawing/2014/main" id="{189B0546-949D-4C27-5997-9784A1F0D90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5" y="1562694"/>
            <a:ext cx="10440045" cy="507165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How data is represented or returned to the client for presentation.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Two main formats: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JavaScript Object Notation (JSON)</a:t>
            </a:r>
          </a:p>
          <a:p>
            <a:pPr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 lvl="1"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XML</a:t>
            </a:r>
          </a:p>
          <a:p>
            <a:pPr lvl="1">
              <a:lnSpc>
                <a:spcPct val="90000"/>
              </a:lnSpc>
            </a:pPr>
            <a:endParaRPr lang="en-US" altLang="en-US" sz="2520" dirty="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</a:pPr>
            <a:r>
              <a:rPr lang="en-US" altLang="en-US" sz="2520" dirty="0">
                <a:solidFill>
                  <a:schemeClr val="tx1"/>
                </a:solidFill>
              </a:rPr>
              <a:t>It is common to have multiple representations of the same data</a:t>
            </a:r>
          </a:p>
        </p:txBody>
      </p:sp>
    </p:spTree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JSON…"/>
          <p:cNvSpPr txBox="1">
            <a:spLocks noGrp="1"/>
          </p:cNvSpPr>
          <p:nvPr>
            <p:ph type="body" idx="1"/>
          </p:nvPr>
        </p:nvSpPr>
        <p:spPr>
          <a:xfrm>
            <a:off x="947434" y="1657545"/>
            <a:ext cx="10388103" cy="4954852"/>
          </a:xfrm>
          <a:prstGeom prst="rect">
            <a:avLst/>
          </a:prstGeom>
        </p:spPr>
        <p:txBody>
          <a:bodyPr/>
          <a:lstStyle/>
          <a:p>
            <a:pPr>
              <a:defRPr b="1" i="1"/>
            </a:pPr>
            <a:r>
              <a:rPr dirty="0">
                <a:solidFill>
                  <a:schemeClr val="tx1"/>
                </a:solidFill>
              </a:rPr>
              <a:t>JSON</a:t>
            </a:r>
          </a:p>
          <a:p>
            <a:r>
              <a:rPr dirty="0">
                <a:solidFill>
                  <a:schemeClr val="tx1"/>
                </a:solidFill>
              </a:rPr>
              <a:t>{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id: “A90N17061714391”,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“date”: “20170617”,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“time”: “1437”,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</a:t>
            </a:r>
            <a:r>
              <a:rPr dirty="0" err="1">
                <a:solidFill>
                  <a:schemeClr val="tx1"/>
                </a:solidFill>
              </a:rPr>
              <a:t>road_id</a:t>
            </a:r>
            <a:r>
              <a:rPr dirty="0">
                <a:solidFill>
                  <a:schemeClr val="tx1"/>
                </a:solidFill>
              </a:rPr>
              <a:t>”: “A90”,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“place”: “Stonehaven”,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“direction”: “north”,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“severity”: “significant”,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“description”: “Broken-down bus on north carriageway. One lane closed. Expect delays of up to 30 minutes.”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226" name="Table 6.7 XML and JSON descriptions"/>
          <p:cNvSpPr txBox="1">
            <a:spLocks noGrp="1"/>
          </p:cNvSpPr>
          <p:nvPr>
            <p:ph type="title"/>
          </p:nvPr>
        </p:nvSpPr>
        <p:spPr>
          <a:xfrm>
            <a:off x="947434" y="773033"/>
            <a:ext cx="6715389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XML and JSON descriptions</a:t>
            </a:r>
          </a:p>
        </p:txBody>
      </p:sp>
      <p:sp>
        <p:nvSpPr>
          <p:cNvPr id="2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47</a:t>
            </a:fld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5C781FA-CC5E-8FF6-F784-356C923D1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 dirty="0"/>
              <a:t> </a:t>
            </a:r>
          </a:p>
        </p:txBody>
      </p:sp>
      <p:sp>
        <p:nvSpPr>
          <p:cNvPr id="240642" name="Rectangle 2">
            <a:extLst>
              <a:ext uri="{FF2B5EF4-FFF2-40B4-BE49-F238E27FC236}">
                <a16:creationId xmlns:a16="http://schemas.microsoft.com/office/drawing/2014/main" id="{1AA74458-7115-58FE-BA8D-653D266BFA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36516" y="719036"/>
            <a:ext cx="3872990" cy="725796"/>
          </a:xfrm>
        </p:spPr>
        <p:txBody>
          <a:bodyPr/>
          <a:lstStyle/>
          <a:p>
            <a:r>
              <a:rPr lang="en-US" altLang="en-US" dirty="0"/>
              <a:t>Representations</a:t>
            </a:r>
          </a:p>
        </p:txBody>
      </p:sp>
      <p:sp>
        <p:nvSpPr>
          <p:cNvPr id="240643" name="Rectangle 3">
            <a:extLst>
              <a:ext uri="{FF2B5EF4-FFF2-40B4-BE49-F238E27FC236}">
                <a16:creationId xmlns:a16="http://schemas.microsoft.com/office/drawing/2014/main" id="{51D76B3F-1CFA-ED19-A455-90655B2CCD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36516" y="1626030"/>
            <a:ext cx="5274504" cy="4584989"/>
          </a:xfrm>
        </p:spPr>
        <p:txBody>
          <a:bodyPr>
            <a:normAutofit/>
          </a:bodyPr>
          <a:lstStyle/>
          <a:p>
            <a:r>
              <a:rPr lang="en-US" altLang="en-US" sz="2520" dirty="0">
                <a:solidFill>
                  <a:schemeClr val="tx1"/>
                </a:solidFill>
              </a:rPr>
              <a:t>XML</a:t>
            </a:r>
          </a:p>
          <a:p>
            <a:endParaRPr lang="en-US" altLang="en-US" sz="1440" dirty="0">
              <a:solidFill>
                <a:schemeClr val="tx1"/>
              </a:solidFill>
            </a:endParaRPr>
          </a:p>
          <a:p>
            <a:pPr lvl="1"/>
            <a:r>
              <a:rPr lang="en-US" altLang="en-US" sz="1620" dirty="0">
                <a:solidFill>
                  <a:schemeClr val="tx1"/>
                </a:solidFill>
              </a:rPr>
              <a:t>&lt;COURSE&gt;</a:t>
            </a:r>
          </a:p>
          <a:p>
            <a:pPr lvl="2"/>
            <a:r>
              <a:rPr lang="en-US" altLang="en-US" sz="1620" dirty="0">
                <a:solidFill>
                  <a:schemeClr val="tx1"/>
                </a:solidFill>
              </a:rPr>
              <a:t>&lt;ID&gt;CS2650&lt;/ID&gt;</a:t>
            </a:r>
          </a:p>
          <a:p>
            <a:pPr lvl="2"/>
            <a:r>
              <a:rPr lang="en-US" altLang="en-US" sz="1620" dirty="0">
                <a:solidFill>
                  <a:schemeClr val="tx1"/>
                </a:solidFill>
              </a:rPr>
              <a:t>&lt;NAME&gt;Distributed Multimedia Software&lt;/NAME&gt;</a:t>
            </a:r>
          </a:p>
          <a:p>
            <a:pPr lvl="1"/>
            <a:r>
              <a:rPr lang="en-US" altLang="en-US" sz="1620" dirty="0">
                <a:solidFill>
                  <a:schemeClr val="tx1"/>
                </a:solidFill>
              </a:rPr>
              <a:t>&lt;/COURSE&gt;</a:t>
            </a:r>
          </a:p>
          <a:p>
            <a:pPr lvl="1"/>
            <a:endParaRPr lang="en-US" altLang="en-US" sz="1260" dirty="0">
              <a:solidFill>
                <a:schemeClr val="tx1"/>
              </a:solidFill>
            </a:endParaRPr>
          </a:p>
          <a:p>
            <a:r>
              <a:rPr lang="en-US" altLang="en-US" sz="2520" dirty="0">
                <a:solidFill>
                  <a:schemeClr val="tx1"/>
                </a:solidFill>
              </a:rPr>
              <a:t>JSON</a:t>
            </a:r>
          </a:p>
          <a:p>
            <a:endParaRPr lang="en-US" altLang="en-US" sz="2520" dirty="0">
              <a:solidFill>
                <a:schemeClr val="tx1"/>
              </a:solidFill>
            </a:endParaRPr>
          </a:p>
          <a:p>
            <a:pPr lvl="1"/>
            <a:r>
              <a:rPr lang="en-US" altLang="en-US" sz="1620" dirty="0">
                <a:solidFill>
                  <a:schemeClr val="tx1"/>
                </a:solidFill>
              </a:rPr>
              <a:t>{course</a:t>
            </a:r>
          </a:p>
          <a:p>
            <a:pPr lvl="2"/>
            <a:r>
              <a:rPr lang="en-US" altLang="en-US" sz="1620" dirty="0">
                <a:solidFill>
                  <a:schemeClr val="tx1"/>
                </a:solidFill>
              </a:rPr>
              <a:t>{id: CS2650}</a:t>
            </a:r>
          </a:p>
          <a:p>
            <a:pPr lvl="2"/>
            <a:r>
              <a:rPr lang="en-US" altLang="en-US" sz="1620" dirty="0">
                <a:solidFill>
                  <a:schemeClr val="tx1"/>
                </a:solidFill>
              </a:rPr>
              <a:t>{name: Distributed Multimedia </a:t>
            </a:r>
            <a:r>
              <a:rPr lang="en-US" altLang="en-US" sz="1620" dirty="0" err="1">
                <a:solidFill>
                  <a:schemeClr val="tx1"/>
                </a:solidFill>
              </a:rPr>
              <a:t>Sofware</a:t>
            </a:r>
            <a:r>
              <a:rPr lang="en-US" altLang="en-US" sz="1620" dirty="0">
                <a:solidFill>
                  <a:schemeClr val="tx1"/>
                </a:solidFill>
              </a:rPr>
              <a:t>}</a:t>
            </a:r>
          </a:p>
          <a:p>
            <a:pPr lvl="1"/>
            <a:r>
              <a:rPr lang="en-US" altLang="en-US" sz="1620" dirty="0">
                <a:solidFill>
                  <a:schemeClr val="tx1"/>
                </a:solidFill>
              </a:rPr>
              <a:t>}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XML…"/>
          <p:cNvSpPr txBox="1">
            <a:spLocks noGrp="1"/>
          </p:cNvSpPr>
          <p:nvPr>
            <p:ph type="body" idx="1"/>
          </p:nvPr>
        </p:nvSpPr>
        <p:spPr>
          <a:xfrm>
            <a:off x="947434" y="1536633"/>
            <a:ext cx="10388103" cy="5075764"/>
          </a:xfrm>
          <a:prstGeom prst="rect">
            <a:avLst/>
          </a:prstGeom>
        </p:spPr>
        <p:txBody>
          <a:bodyPr/>
          <a:lstStyle/>
          <a:p>
            <a:pPr>
              <a:defRPr b="1" i="1"/>
            </a:pPr>
            <a:r>
              <a:rPr dirty="0">
                <a:solidFill>
                  <a:schemeClr val="tx1"/>
                </a:solidFill>
              </a:rPr>
              <a:t>XML</a:t>
            </a:r>
          </a:p>
          <a:p>
            <a:r>
              <a:rPr dirty="0">
                <a:solidFill>
                  <a:schemeClr val="tx1"/>
                </a:solidFill>
              </a:rPr>
              <a:t>&lt;id&gt;</a:t>
            </a:r>
            <a:br>
              <a:rPr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</a:t>
            </a:r>
            <a:r>
              <a:rPr dirty="0">
                <a:solidFill>
                  <a:schemeClr val="tx1"/>
                </a:solidFill>
              </a:rPr>
              <a:t>A90N17061714391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&lt;/id&gt;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&lt;date&gt;</a:t>
            </a:r>
            <a:br>
              <a:rPr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</a:t>
            </a:r>
            <a:r>
              <a:rPr dirty="0">
                <a:solidFill>
                  <a:schemeClr val="tx1"/>
                </a:solidFill>
              </a:rPr>
              <a:t>20170617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&lt;/date&gt;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&lt;time&gt;</a:t>
            </a:r>
            <a:br>
              <a:rPr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</a:t>
            </a:r>
            <a:r>
              <a:rPr dirty="0">
                <a:solidFill>
                  <a:schemeClr val="tx1"/>
                </a:solidFill>
              </a:rPr>
              <a:t>1437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&lt;/time&gt;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…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&lt;description&gt;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	</a:t>
            </a:r>
            <a:r>
              <a:rPr dirty="0">
                <a:solidFill>
                  <a:schemeClr val="tx1"/>
                </a:solidFill>
              </a:rPr>
              <a:t>Broken-down bus on north carriageway. Expect delays of up to 30 minutes.</a:t>
            </a:r>
            <a:br>
              <a:rPr dirty="0">
                <a:solidFill>
                  <a:schemeClr val="tx1"/>
                </a:solidFill>
              </a:rPr>
            </a:br>
            <a:r>
              <a:rPr dirty="0">
                <a:solidFill>
                  <a:schemeClr val="tx1"/>
                </a:solidFill>
              </a:rPr>
              <a:t>&lt;/description&gt;</a:t>
            </a:r>
          </a:p>
        </p:txBody>
      </p:sp>
      <p:sp>
        <p:nvSpPr>
          <p:cNvPr id="230" name="Table 6.7 XML and JSON descriptions"/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564249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XML and JSON descriptions</a:t>
            </a:r>
          </a:p>
        </p:txBody>
      </p:sp>
      <p:sp>
        <p:nvSpPr>
          <p:cNvPr id="23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49</a:t>
            </a:fld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53931-C85B-AB2A-B0FF-923832A61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able 6.7 XML and JSON descriptions">
            <a:extLst>
              <a:ext uri="{FF2B5EF4-FFF2-40B4-BE49-F238E27FC236}">
                <a16:creationId xmlns:a16="http://schemas.microsoft.com/office/drawing/2014/main" id="{F7BD1DC1-8B76-4483-3965-4F6DBA8C3D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564249" cy="763600"/>
          </a:xfrm>
          <a:prstGeom prst="rect">
            <a:avLst/>
          </a:prstGeom>
        </p:spPr>
        <p:txBody>
          <a:bodyPr/>
          <a:lstStyle/>
          <a:p>
            <a:r>
              <a:rPr dirty="0"/>
              <a:t>XML and JSON descriptions</a:t>
            </a:r>
          </a:p>
        </p:txBody>
      </p:sp>
      <p:sp>
        <p:nvSpPr>
          <p:cNvPr id="231" name="Slide Number">
            <a:extLst>
              <a:ext uri="{FF2B5EF4-FFF2-40B4-BE49-F238E27FC236}">
                <a16:creationId xmlns:a16="http://schemas.microsoft.com/office/drawing/2014/main" id="{E3CD08E2-E677-38AE-F195-08177CFC883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50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0488E7-C343-0643-9FF1-C96855F4D7C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8" b="26204"/>
          <a:stretch/>
        </p:blipFill>
        <p:spPr>
          <a:xfrm>
            <a:off x="2407110" y="1341976"/>
            <a:ext cx="6282669" cy="5379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24F312-C239-9930-2AF2-2BD88C2B1A15}"/>
              </a:ext>
            </a:extLst>
          </p:cNvPr>
          <p:cNvSpPr txBox="1"/>
          <p:nvPr/>
        </p:nvSpPr>
        <p:spPr>
          <a:xfrm>
            <a:off x="5923879" y="6352229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Ian Sommerville</a:t>
            </a:r>
          </a:p>
        </p:txBody>
      </p:sp>
    </p:spTree>
    <p:extLst>
      <p:ext uri="{BB962C8B-B14F-4D97-AF65-F5344CB8AC3E}">
        <p14:creationId xmlns:p14="http://schemas.microsoft.com/office/powerpoint/2010/main" val="39493594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40BBE-9A3D-AA47-FD34-9EF188C17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able 6.7 XML and JSON descriptions">
            <a:extLst>
              <a:ext uri="{FF2B5EF4-FFF2-40B4-BE49-F238E27FC236}">
                <a16:creationId xmlns:a16="http://schemas.microsoft.com/office/drawing/2014/main" id="{D1108DD2-711D-672B-B5D6-DE0DE868E7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7434" y="766167"/>
            <a:ext cx="6564249" cy="763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Postman</a:t>
            </a:r>
            <a:endParaRPr dirty="0"/>
          </a:p>
        </p:txBody>
      </p:sp>
      <p:sp>
        <p:nvSpPr>
          <p:cNvPr id="231" name="Slide Number">
            <a:extLst>
              <a:ext uri="{FF2B5EF4-FFF2-40B4-BE49-F238E27FC236}">
                <a16:creationId xmlns:a16="http://schemas.microsoft.com/office/drawing/2014/main" id="{35C22106-740B-96DE-0EAF-BB5F4FE4CAE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2308234" y="9245600"/>
            <a:ext cx="283817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1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1pPr>
            <a:lvl2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2pPr>
            <a:lvl3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3pPr>
            <a:lvl4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4pPr>
            <a:lvl5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5pPr>
            <a:lvl6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6pPr>
            <a:lvl7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7pPr>
            <a:lvl8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8pPr>
            <a:lvl9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0" normalizeH="0" baseline="0">
                <a:ln>
                  <a:noFill/>
                </a:ln>
                <a:solidFill>
                  <a:srgbClr val="005493"/>
                </a:solidFill>
                <a:effectLst/>
                <a:uFillTx/>
                <a:latin typeface="+mj-lt"/>
                <a:ea typeface="+mj-ea"/>
                <a:cs typeface="+mj-cs"/>
                <a:sym typeface="Helvetica"/>
              </a:defRPr>
            </a:lvl9pPr>
          </a:lstStyle>
          <a:p>
            <a:fld id="{86CB4B4D-7CA3-9044-876B-883B54F8677D}" type="slidenum">
              <a:rPr lang="en-US" smtClean="0"/>
              <a:pPr/>
              <a:t>51</a:t>
            </a:fld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5CBC88-E390-CDCE-6E82-393D190DBA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772" y="766167"/>
            <a:ext cx="7073687" cy="58589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254192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097F6CFF-AF64-93B0-36C3-022F76D82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 dirty="0"/>
              <a:t> </a:t>
            </a:r>
          </a:p>
        </p:txBody>
      </p:sp>
      <p:sp>
        <p:nvSpPr>
          <p:cNvPr id="99330" name="Rectangle 2">
            <a:extLst>
              <a:ext uri="{FF2B5EF4-FFF2-40B4-BE49-F238E27FC236}">
                <a16:creationId xmlns:a16="http://schemas.microsoft.com/office/drawing/2014/main" id="{D00F9422-C260-2205-DD4E-DD17746CED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50223" y="756088"/>
            <a:ext cx="9357560" cy="804108"/>
          </a:xfrm>
        </p:spPr>
        <p:txBody>
          <a:bodyPr/>
          <a:lstStyle/>
          <a:p>
            <a:r>
              <a:rPr lang="en-US" altLang="en-US" dirty="0"/>
              <a:t>Why: "Representational State Transfer"?</a:t>
            </a:r>
          </a:p>
        </p:txBody>
      </p:sp>
      <p:sp>
        <p:nvSpPr>
          <p:cNvPr id="99331" name="Oval 3">
            <a:extLst>
              <a:ext uri="{FF2B5EF4-FFF2-40B4-BE49-F238E27FC236}">
                <a16:creationId xmlns:a16="http://schemas.microsoft.com/office/drawing/2014/main" id="{AA9C4167-DFBD-2C2B-672F-BB6E908AE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0504" y="1328821"/>
            <a:ext cx="1558766" cy="1471613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9" tIns="45719" rIns="91439" bIns="45719" anchor="ctr"/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0" hangingPunct="0"/>
            <a:r>
              <a:rPr lang="en-US" altLang="en-US" sz="1800"/>
              <a:t>Resource</a:t>
            </a:r>
          </a:p>
        </p:txBody>
      </p:sp>
      <p:sp>
        <p:nvSpPr>
          <p:cNvPr id="99332" name="Rectangle 4">
            <a:extLst>
              <a:ext uri="{FF2B5EF4-FFF2-40B4-BE49-F238E27FC236}">
                <a16:creationId xmlns:a16="http://schemas.microsoft.com/office/drawing/2014/main" id="{88BBE02F-9184-BF23-E64E-25F4E5BFDB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81288" y="1571709"/>
            <a:ext cx="1284447" cy="102584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9" tIns="45719" rIns="91439" bIns="45719" anchor="ctr"/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0" hangingPunct="0"/>
            <a:r>
              <a:rPr lang="en-US" altLang="en-US" sz="1800"/>
              <a:t>Client</a:t>
            </a:r>
          </a:p>
        </p:txBody>
      </p:sp>
      <p:sp>
        <p:nvSpPr>
          <p:cNvPr id="99333" name="Line 5">
            <a:extLst>
              <a:ext uri="{FF2B5EF4-FFF2-40B4-BE49-F238E27FC236}">
                <a16:creationId xmlns:a16="http://schemas.microsoft.com/office/drawing/2014/main" id="{25DAF787-14D4-4B4A-ADB5-409152EBC00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965735" y="2018907"/>
            <a:ext cx="37961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34" name="Text Box 6">
            <a:extLst>
              <a:ext uri="{FF2B5EF4-FFF2-40B4-BE49-F238E27FC236}">
                <a16:creationId xmlns:a16="http://schemas.microsoft.com/office/drawing/2014/main" id="{6406A5A4-08D3-4A03-F434-9E904952F4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1464" y="1667435"/>
            <a:ext cx="3503906" cy="369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9" tIns="45719" rIns="91439" bIns="45719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800"/>
              <a:t>http://www.boeing.com/aircraft/747</a:t>
            </a:r>
          </a:p>
        </p:txBody>
      </p:sp>
      <p:sp>
        <p:nvSpPr>
          <p:cNvPr id="99335" name="Line 7">
            <a:extLst>
              <a:ext uri="{FF2B5EF4-FFF2-40B4-BE49-F238E27FC236}">
                <a16:creationId xmlns:a16="http://schemas.microsoft.com/office/drawing/2014/main" id="{03635C90-64FC-6691-EF4C-ABF4ADB1530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995738" y="2178927"/>
            <a:ext cx="382333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36" name="Line 8">
            <a:extLst>
              <a:ext uri="{FF2B5EF4-FFF2-40B4-BE49-F238E27FC236}">
                <a16:creationId xmlns:a16="http://schemas.microsoft.com/office/drawing/2014/main" id="{916E9D9C-2AC3-A4AA-D7AC-7C57F934CB32}"/>
              </a:ext>
            </a:extLst>
          </p:cNvPr>
          <p:cNvSpPr>
            <a:spLocks noChangeShapeType="1"/>
          </p:cNvSpPr>
          <p:nvPr/>
        </p:nvSpPr>
        <p:spPr bwMode="auto">
          <a:xfrm>
            <a:off x="4977289" y="2210360"/>
            <a:ext cx="0" cy="103727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37" name="Line 9">
            <a:extLst>
              <a:ext uri="{FF2B5EF4-FFF2-40B4-BE49-F238E27FC236}">
                <a16:creationId xmlns:a16="http://schemas.microsoft.com/office/drawing/2014/main" id="{44DBB16E-5CCA-3375-5330-32690D02BDD6}"/>
              </a:ext>
            </a:extLst>
          </p:cNvPr>
          <p:cNvSpPr>
            <a:spLocks noChangeShapeType="1"/>
          </p:cNvSpPr>
          <p:nvPr/>
        </p:nvSpPr>
        <p:spPr bwMode="auto">
          <a:xfrm>
            <a:off x="6743224" y="2361807"/>
            <a:ext cx="0" cy="103870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38" name="Text Box 10">
            <a:extLst>
              <a:ext uri="{FF2B5EF4-FFF2-40B4-BE49-F238E27FC236}">
                <a16:creationId xmlns:a16="http://schemas.microsoft.com/office/drawing/2014/main" id="{82885AC2-A442-54F4-9525-5F0341B942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0145" y="3399080"/>
            <a:ext cx="1678663" cy="369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9" tIns="45719" rIns="91439" bIns="45719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800"/>
              <a:t>Boeing747.html</a:t>
            </a:r>
          </a:p>
        </p:txBody>
      </p:sp>
      <p:sp>
        <p:nvSpPr>
          <p:cNvPr id="99339" name="Freeform 11">
            <a:extLst>
              <a:ext uri="{FF2B5EF4-FFF2-40B4-BE49-F238E27FC236}">
                <a16:creationId xmlns:a16="http://schemas.microsoft.com/office/drawing/2014/main" id="{EF8D159D-EFB7-84F2-CFCC-7E747B652D1C}"/>
              </a:ext>
            </a:extLst>
          </p:cNvPr>
          <p:cNvSpPr>
            <a:spLocks/>
          </p:cNvSpPr>
          <p:nvPr/>
        </p:nvSpPr>
        <p:spPr bwMode="auto">
          <a:xfrm>
            <a:off x="4870133" y="2174642"/>
            <a:ext cx="1851660" cy="252888"/>
          </a:xfrm>
          <a:custGeom>
            <a:avLst/>
            <a:gdLst>
              <a:gd name="T0" fmla="*/ 76 w 1166"/>
              <a:gd name="T1" fmla="*/ 22 h 159"/>
              <a:gd name="T2" fmla="*/ 148 w 1166"/>
              <a:gd name="T3" fmla="*/ 49 h 159"/>
              <a:gd name="T4" fmla="*/ 312 w 1166"/>
              <a:gd name="T5" fmla="*/ 76 h 159"/>
              <a:gd name="T6" fmla="*/ 376 w 1166"/>
              <a:gd name="T7" fmla="*/ 67 h 159"/>
              <a:gd name="T8" fmla="*/ 385 w 1166"/>
              <a:gd name="T9" fmla="*/ 94 h 159"/>
              <a:gd name="T10" fmla="*/ 467 w 1166"/>
              <a:gd name="T11" fmla="*/ 113 h 159"/>
              <a:gd name="T12" fmla="*/ 603 w 1166"/>
              <a:gd name="T13" fmla="*/ 149 h 159"/>
              <a:gd name="T14" fmla="*/ 821 w 1166"/>
              <a:gd name="T15" fmla="*/ 122 h 159"/>
              <a:gd name="T16" fmla="*/ 1103 w 1166"/>
              <a:gd name="T17" fmla="*/ 149 h 159"/>
              <a:gd name="T18" fmla="*/ 1166 w 1166"/>
              <a:gd name="T19" fmla="*/ 131 h 1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166" h="159">
                <a:moveTo>
                  <a:pt x="76" y="22"/>
                </a:moveTo>
                <a:cubicBezTo>
                  <a:pt x="218" y="58"/>
                  <a:pt x="0" y="0"/>
                  <a:pt x="148" y="49"/>
                </a:cubicBezTo>
                <a:cubicBezTo>
                  <a:pt x="199" y="66"/>
                  <a:pt x="261" y="70"/>
                  <a:pt x="312" y="76"/>
                </a:cubicBezTo>
                <a:cubicBezTo>
                  <a:pt x="333" y="73"/>
                  <a:pt x="355" y="62"/>
                  <a:pt x="376" y="67"/>
                </a:cubicBezTo>
                <a:cubicBezTo>
                  <a:pt x="385" y="69"/>
                  <a:pt x="377" y="90"/>
                  <a:pt x="385" y="94"/>
                </a:cubicBezTo>
                <a:cubicBezTo>
                  <a:pt x="410" y="107"/>
                  <a:pt x="440" y="105"/>
                  <a:pt x="467" y="113"/>
                </a:cubicBezTo>
                <a:cubicBezTo>
                  <a:pt x="513" y="126"/>
                  <a:pt x="557" y="137"/>
                  <a:pt x="603" y="149"/>
                </a:cubicBezTo>
                <a:cubicBezTo>
                  <a:pt x="630" y="68"/>
                  <a:pt x="762" y="119"/>
                  <a:pt x="821" y="122"/>
                </a:cubicBezTo>
                <a:cubicBezTo>
                  <a:pt x="916" y="153"/>
                  <a:pt x="1004" y="159"/>
                  <a:pt x="1103" y="149"/>
                </a:cubicBezTo>
                <a:cubicBezTo>
                  <a:pt x="1160" y="130"/>
                  <a:pt x="1138" y="131"/>
                  <a:pt x="1166" y="131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40" name="Freeform 12">
            <a:extLst>
              <a:ext uri="{FF2B5EF4-FFF2-40B4-BE49-F238E27FC236}">
                <a16:creationId xmlns:a16="http://schemas.microsoft.com/office/drawing/2014/main" id="{3B4BBD41-2456-F8D8-2087-FB76E142B63D}"/>
              </a:ext>
            </a:extLst>
          </p:cNvPr>
          <p:cNvSpPr>
            <a:spLocks/>
          </p:cNvSpPr>
          <p:nvPr/>
        </p:nvSpPr>
        <p:spPr bwMode="auto">
          <a:xfrm>
            <a:off x="4864418" y="3207627"/>
            <a:ext cx="1850232" cy="251460"/>
          </a:xfrm>
          <a:custGeom>
            <a:avLst/>
            <a:gdLst>
              <a:gd name="T0" fmla="*/ 76 w 1166"/>
              <a:gd name="T1" fmla="*/ 22 h 159"/>
              <a:gd name="T2" fmla="*/ 148 w 1166"/>
              <a:gd name="T3" fmla="*/ 49 h 159"/>
              <a:gd name="T4" fmla="*/ 312 w 1166"/>
              <a:gd name="T5" fmla="*/ 76 h 159"/>
              <a:gd name="T6" fmla="*/ 376 w 1166"/>
              <a:gd name="T7" fmla="*/ 67 h 159"/>
              <a:gd name="T8" fmla="*/ 385 w 1166"/>
              <a:gd name="T9" fmla="*/ 94 h 159"/>
              <a:gd name="T10" fmla="*/ 467 w 1166"/>
              <a:gd name="T11" fmla="*/ 113 h 159"/>
              <a:gd name="T12" fmla="*/ 603 w 1166"/>
              <a:gd name="T13" fmla="*/ 149 h 159"/>
              <a:gd name="T14" fmla="*/ 821 w 1166"/>
              <a:gd name="T15" fmla="*/ 122 h 159"/>
              <a:gd name="T16" fmla="*/ 1103 w 1166"/>
              <a:gd name="T17" fmla="*/ 149 h 159"/>
              <a:gd name="T18" fmla="*/ 1166 w 1166"/>
              <a:gd name="T19" fmla="*/ 131 h 15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166" h="159">
                <a:moveTo>
                  <a:pt x="76" y="22"/>
                </a:moveTo>
                <a:cubicBezTo>
                  <a:pt x="218" y="58"/>
                  <a:pt x="0" y="0"/>
                  <a:pt x="148" y="49"/>
                </a:cubicBezTo>
                <a:cubicBezTo>
                  <a:pt x="199" y="66"/>
                  <a:pt x="261" y="70"/>
                  <a:pt x="312" y="76"/>
                </a:cubicBezTo>
                <a:cubicBezTo>
                  <a:pt x="333" y="73"/>
                  <a:pt x="355" y="62"/>
                  <a:pt x="376" y="67"/>
                </a:cubicBezTo>
                <a:cubicBezTo>
                  <a:pt x="385" y="69"/>
                  <a:pt x="377" y="90"/>
                  <a:pt x="385" y="94"/>
                </a:cubicBezTo>
                <a:cubicBezTo>
                  <a:pt x="410" y="107"/>
                  <a:pt x="440" y="105"/>
                  <a:pt x="467" y="113"/>
                </a:cubicBezTo>
                <a:cubicBezTo>
                  <a:pt x="513" y="126"/>
                  <a:pt x="557" y="137"/>
                  <a:pt x="603" y="149"/>
                </a:cubicBezTo>
                <a:cubicBezTo>
                  <a:pt x="630" y="68"/>
                  <a:pt x="762" y="119"/>
                  <a:pt x="821" y="122"/>
                </a:cubicBezTo>
                <a:cubicBezTo>
                  <a:pt x="916" y="153"/>
                  <a:pt x="1004" y="159"/>
                  <a:pt x="1103" y="149"/>
                </a:cubicBezTo>
                <a:cubicBezTo>
                  <a:pt x="1160" y="130"/>
                  <a:pt x="1138" y="131"/>
                  <a:pt x="1166" y="131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99341" name="Text Box 13">
            <a:extLst>
              <a:ext uri="{FF2B5EF4-FFF2-40B4-BE49-F238E27FC236}">
                <a16:creationId xmlns:a16="http://schemas.microsoft.com/office/drawing/2014/main" id="{AD087DC6-46EA-720B-C221-48E3A63861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44090" y="3984867"/>
            <a:ext cx="7829550" cy="208672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9" tIns="45719" rIns="91439" bIns="45719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 dirty="0"/>
              <a:t>The Client references a Web</a:t>
            </a:r>
            <a:r>
              <a:rPr lang="en-US" altLang="en-US" sz="1440" b="1" dirty="0"/>
              <a:t> </a:t>
            </a:r>
            <a:r>
              <a:rPr lang="en-US" altLang="en-US" sz="1440" dirty="0"/>
              <a:t>resource using a URL.  </a:t>
            </a:r>
          </a:p>
          <a:p>
            <a:pPr eaLnBrk="0" hangingPunct="0"/>
            <a:br>
              <a:rPr lang="en-US" altLang="en-US" sz="1440" dirty="0"/>
            </a:br>
            <a:r>
              <a:rPr lang="en-US" altLang="en-US" sz="1440" dirty="0"/>
              <a:t>A </a:t>
            </a:r>
            <a:r>
              <a:rPr lang="en-US" altLang="en-US" sz="1440" b="1" dirty="0"/>
              <a:t>representation</a:t>
            </a:r>
            <a:r>
              <a:rPr lang="en-US" altLang="en-US" sz="1440" dirty="0"/>
              <a:t> of the resource is returned (in this case as an HTML document). </a:t>
            </a:r>
          </a:p>
          <a:p>
            <a:pPr marL="285750" indent="-285750" eaLnBrk="0" hangingPunct="0">
              <a:buFont typeface="Arial" panose="020B0604020202020204" pitchFamily="34" charset="0"/>
              <a:buChar char="•"/>
            </a:pPr>
            <a:endParaRPr lang="en-US" altLang="en-US" sz="1440" dirty="0"/>
          </a:p>
          <a:p>
            <a:pPr marL="285750" indent="-285750" eaLnBrk="0" hangingPunct="0">
              <a:buFont typeface="Arial" panose="020B0604020202020204" pitchFamily="34" charset="0"/>
              <a:buChar char="•"/>
            </a:pPr>
            <a:r>
              <a:rPr lang="en-US" altLang="en-US" sz="1440" dirty="0"/>
              <a:t>The representation (e.g., Boeing747.html) places the client application in a </a:t>
            </a:r>
            <a:r>
              <a:rPr lang="en-US" altLang="en-US" sz="1440" b="1" dirty="0"/>
              <a:t>state</a:t>
            </a:r>
            <a:r>
              <a:rPr lang="en-US" altLang="en-US" sz="1440" dirty="0"/>
              <a:t>.  </a:t>
            </a:r>
          </a:p>
          <a:p>
            <a:pPr marL="285750" indent="-285750" eaLnBrk="0" hangingPunct="0">
              <a:buFont typeface="Arial" panose="020B0604020202020204" pitchFamily="34" charset="0"/>
              <a:buChar char="•"/>
            </a:pPr>
            <a:r>
              <a:rPr lang="en-US" altLang="en-US" sz="1440" dirty="0"/>
              <a:t>The result of the client traversing a hyperlink in Boeing747.html is another resource accessed.  </a:t>
            </a:r>
          </a:p>
          <a:p>
            <a:pPr marL="285750" indent="-285750" eaLnBrk="0" hangingPunct="0">
              <a:buFont typeface="Arial" panose="020B0604020202020204" pitchFamily="34" charset="0"/>
              <a:buChar char="•"/>
            </a:pPr>
            <a:r>
              <a:rPr lang="en-US" altLang="en-US" sz="1440" dirty="0"/>
              <a:t>The new representation places the client application into yet another state.  </a:t>
            </a:r>
          </a:p>
          <a:p>
            <a:pPr marL="285750" indent="-285750" eaLnBrk="0" hangingPunct="0">
              <a:buFont typeface="Arial" panose="020B0604020202020204" pitchFamily="34" charset="0"/>
              <a:buChar char="•"/>
            </a:pPr>
            <a:r>
              <a:rPr lang="en-US" altLang="en-US" sz="1440" dirty="0"/>
              <a:t>Thus, the client application changes (</a:t>
            </a:r>
            <a:r>
              <a:rPr lang="en-US" altLang="en-US" sz="1440" b="1" dirty="0"/>
              <a:t>transfer</a:t>
            </a:r>
            <a:r>
              <a:rPr lang="en-US" altLang="en-US" sz="1440" dirty="0"/>
              <a:t>s) state with each resource representation --&gt; Representation State Transfer!</a:t>
            </a:r>
          </a:p>
        </p:txBody>
      </p:sp>
      <p:sp>
        <p:nvSpPr>
          <p:cNvPr id="99342" name="Text Box 14">
            <a:extLst>
              <a:ext uri="{FF2B5EF4-FFF2-40B4-BE49-F238E27FC236}">
                <a16:creationId xmlns:a16="http://schemas.microsoft.com/office/drawing/2014/main" id="{AE6FD8EA-E259-7CEE-E9B7-32D03A1F2A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98721" y="2501825"/>
            <a:ext cx="1832551" cy="7571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9" tIns="45719" rIns="91439" bIns="45719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 u="sng">
                <a:solidFill>
                  <a:schemeClr val="accent2"/>
                </a:solidFill>
              </a:rPr>
              <a:t>Fuel requirements</a:t>
            </a:r>
          </a:p>
          <a:p>
            <a:pPr eaLnBrk="0" hangingPunct="0"/>
            <a:r>
              <a:rPr lang="en-US" altLang="en-US" sz="1440" u="sng">
                <a:solidFill>
                  <a:schemeClr val="accent2"/>
                </a:solidFill>
              </a:rPr>
              <a:t>Maintenance schedule</a:t>
            </a:r>
            <a:endParaRPr lang="en-US" altLang="en-US" sz="1440"/>
          </a:p>
          <a:p>
            <a:pPr eaLnBrk="0" hangingPunct="0"/>
            <a:r>
              <a:rPr lang="en-US" altLang="en-US" sz="1440"/>
              <a:t>...</a:t>
            </a:r>
          </a:p>
        </p:txBody>
      </p:sp>
    </p:spTree>
  </p:cSld>
  <p:clrMapOvr>
    <a:masterClrMapping/>
  </p:clrMapOvr>
  <p:transition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FD4EAF62-B2B5-3C51-AE68-9DB5EB710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en-US" dirty="0"/>
              <a:t> </a:t>
            </a:r>
          </a:p>
        </p:txBody>
      </p:sp>
      <p:sp>
        <p:nvSpPr>
          <p:cNvPr id="18434" name="Rectangle 2">
            <a:extLst>
              <a:ext uri="{FF2B5EF4-FFF2-40B4-BE49-F238E27FC236}">
                <a16:creationId xmlns:a16="http://schemas.microsoft.com/office/drawing/2014/main" id="{E6BE5A5E-E3E4-D1C9-C8AE-2E2F71BDDA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87179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7" rIns="91437" bIns="45717" anchor="ctr"/>
          <a:lstStyle>
            <a:lvl1pPr defTabSz="1016000"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defTabSz="1016000"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defTabSz="1016000"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defTabSz="1016000"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defTabSz="1016000"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defTabSz="10160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defTabSz="10160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defTabSz="10160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defTabSz="101600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rgbClr val="D1D7C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endParaRPr lang="en-US" altLang="en-US" sz="3600"/>
          </a:p>
        </p:txBody>
      </p:sp>
      <p:grpSp>
        <p:nvGrpSpPr>
          <p:cNvPr id="18435" name="Group 3">
            <a:extLst>
              <a:ext uri="{FF2B5EF4-FFF2-40B4-BE49-F238E27FC236}">
                <a16:creationId xmlns:a16="http://schemas.microsoft.com/office/drawing/2014/main" id="{CD49E9B1-A9D4-C092-BABB-98716B5FC949}"/>
              </a:ext>
            </a:extLst>
          </p:cNvPr>
          <p:cNvGrpSpPr>
            <a:grpSpLocks/>
          </p:cNvGrpSpPr>
          <p:nvPr/>
        </p:nvGrpSpPr>
        <p:grpSpPr bwMode="auto">
          <a:xfrm>
            <a:off x="2598420" y="1920240"/>
            <a:ext cx="897255" cy="407194"/>
            <a:chOff x="363" y="1476"/>
            <a:chExt cx="477" cy="257"/>
          </a:xfrm>
        </p:grpSpPr>
        <p:sp>
          <p:nvSpPr>
            <p:cNvPr id="18436" name="Rectangle 4">
              <a:extLst>
                <a:ext uri="{FF2B5EF4-FFF2-40B4-BE49-F238E27FC236}">
                  <a16:creationId xmlns:a16="http://schemas.microsoft.com/office/drawing/2014/main" id="{91F9CD57-7BA6-7025-2B52-CC8FFADDC0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437" name="Text Box 5">
              <a:extLst>
                <a:ext uri="{FF2B5EF4-FFF2-40B4-BE49-F238E27FC236}">
                  <a16:creationId xmlns:a16="http://schemas.microsoft.com/office/drawing/2014/main" id="{2AFAFE85-8C96-68FC-7021-248057CD03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" y="1478"/>
              <a:ext cx="477" cy="2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Request</a:t>
              </a:r>
            </a:p>
            <a:p>
              <a:pPr algn="ctr" eaLnBrk="0" hangingPunct="0"/>
              <a:r>
                <a:rPr lang="en-US" altLang="en-US" sz="990"/>
                <a:t>(XML doc)</a:t>
              </a:r>
              <a:endParaRPr lang="en-US" altLang="en-US" sz="1980"/>
            </a:p>
          </p:txBody>
        </p:sp>
      </p:grpSp>
      <p:sp>
        <p:nvSpPr>
          <p:cNvPr id="18445" name="Line 13">
            <a:extLst>
              <a:ext uri="{FF2B5EF4-FFF2-40B4-BE49-F238E27FC236}">
                <a16:creationId xmlns:a16="http://schemas.microsoft.com/office/drawing/2014/main" id="{20DE2128-70E0-9FAE-FF7D-AED4782C91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7495" y="2288858"/>
            <a:ext cx="104155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453" name="Line 21">
            <a:extLst>
              <a:ext uri="{FF2B5EF4-FFF2-40B4-BE49-F238E27FC236}">
                <a16:creationId xmlns:a16="http://schemas.microsoft.com/office/drawing/2014/main" id="{B465520B-7561-9232-A362-5CF0B20FDA74}"/>
              </a:ext>
            </a:extLst>
          </p:cNvPr>
          <p:cNvSpPr>
            <a:spLocks noChangeShapeType="1"/>
          </p:cNvSpPr>
          <p:nvPr/>
        </p:nvSpPr>
        <p:spPr bwMode="auto">
          <a:xfrm>
            <a:off x="6623210" y="2668905"/>
            <a:ext cx="1041558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grpSp>
        <p:nvGrpSpPr>
          <p:cNvPr id="18466" name="Group 34">
            <a:extLst>
              <a:ext uri="{FF2B5EF4-FFF2-40B4-BE49-F238E27FC236}">
                <a16:creationId xmlns:a16="http://schemas.microsoft.com/office/drawing/2014/main" id="{5F07C5AD-EF47-AEFE-FF37-61398BC1248A}"/>
              </a:ext>
            </a:extLst>
          </p:cNvPr>
          <p:cNvGrpSpPr>
            <a:grpSpLocks/>
          </p:cNvGrpSpPr>
          <p:nvPr/>
        </p:nvGrpSpPr>
        <p:grpSpPr bwMode="auto">
          <a:xfrm>
            <a:off x="2653258" y="2537460"/>
            <a:ext cx="787581" cy="408623"/>
            <a:chOff x="392" y="1476"/>
            <a:chExt cx="421" cy="257"/>
          </a:xfrm>
        </p:grpSpPr>
        <p:sp>
          <p:nvSpPr>
            <p:cNvPr id="18467" name="Rectangle 35">
              <a:extLst>
                <a:ext uri="{FF2B5EF4-FFF2-40B4-BE49-F238E27FC236}">
                  <a16:creationId xmlns:a16="http://schemas.microsoft.com/office/drawing/2014/main" id="{A50D3E31-BECE-4B8D-AE5C-874370674D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468" name="Text Box 36">
              <a:extLst>
                <a:ext uri="{FF2B5EF4-FFF2-40B4-BE49-F238E27FC236}">
                  <a16:creationId xmlns:a16="http://schemas.microsoft.com/office/drawing/2014/main" id="{6932E7BF-7592-9771-AA83-F709E431D4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" y="1478"/>
              <a:ext cx="421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Response</a:t>
              </a:r>
            </a:p>
            <a:p>
              <a:pPr algn="ctr" eaLnBrk="0" hangingPunct="0"/>
              <a:r>
                <a:rPr lang="en-US" altLang="en-US" sz="990"/>
                <a:t>(</a:t>
              </a:r>
              <a:r>
                <a:rPr lang="en-US" altLang="en-US" sz="990" b="1"/>
                <a:t>XML doc</a:t>
              </a:r>
              <a:r>
                <a:rPr lang="en-US" altLang="en-US" sz="990"/>
                <a:t>)</a:t>
              </a:r>
              <a:endParaRPr lang="en-US" altLang="en-US" sz="1980"/>
            </a:p>
          </p:txBody>
        </p:sp>
      </p:grpSp>
      <p:grpSp>
        <p:nvGrpSpPr>
          <p:cNvPr id="18469" name="Group 37">
            <a:extLst>
              <a:ext uri="{FF2B5EF4-FFF2-40B4-BE49-F238E27FC236}">
                <a16:creationId xmlns:a16="http://schemas.microsoft.com/office/drawing/2014/main" id="{D140A2A6-6FFC-397F-E3EC-954CE7A8ACDE}"/>
              </a:ext>
            </a:extLst>
          </p:cNvPr>
          <p:cNvGrpSpPr>
            <a:grpSpLocks/>
          </p:cNvGrpSpPr>
          <p:nvPr/>
        </p:nvGrpSpPr>
        <p:grpSpPr bwMode="auto">
          <a:xfrm>
            <a:off x="5857399" y="1975962"/>
            <a:ext cx="758666" cy="3777615"/>
            <a:chOff x="2778" y="1755"/>
            <a:chExt cx="478" cy="1156"/>
          </a:xfrm>
        </p:grpSpPr>
        <p:sp>
          <p:nvSpPr>
            <p:cNvPr id="18470" name="Rectangle 38">
              <a:extLst>
                <a:ext uri="{FF2B5EF4-FFF2-40B4-BE49-F238E27FC236}">
                  <a16:creationId xmlns:a16="http://schemas.microsoft.com/office/drawing/2014/main" id="{F9C99EC7-8060-763E-A42E-DAB07ECCE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78" y="1755"/>
              <a:ext cx="478" cy="115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471" name="Text Box 39">
              <a:extLst>
                <a:ext uri="{FF2B5EF4-FFF2-40B4-BE49-F238E27FC236}">
                  <a16:creationId xmlns:a16="http://schemas.microsoft.com/office/drawing/2014/main" id="{964FB0D8-4B57-65C7-4E6E-D7C0E265A47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2597" y="2221"/>
              <a:ext cx="782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0" hangingPunct="0"/>
              <a:r>
                <a:rPr lang="en-US" altLang="en-US" sz="1980"/>
                <a:t>        Web/Proxy Server</a:t>
              </a:r>
            </a:p>
          </p:txBody>
        </p:sp>
      </p:grpSp>
      <p:grpSp>
        <p:nvGrpSpPr>
          <p:cNvPr id="18472" name="Group 40">
            <a:extLst>
              <a:ext uri="{FF2B5EF4-FFF2-40B4-BE49-F238E27FC236}">
                <a16:creationId xmlns:a16="http://schemas.microsoft.com/office/drawing/2014/main" id="{1AF0778E-A731-5234-E49C-F271569DF79F}"/>
              </a:ext>
            </a:extLst>
          </p:cNvPr>
          <p:cNvGrpSpPr>
            <a:grpSpLocks/>
          </p:cNvGrpSpPr>
          <p:nvPr/>
        </p:nvGrpSpPr>
        <p:grpSpPr bwMode="auto">
          <a:xfrm>
            <a:off x="7673340" y="2004537"/>
            <a:ext cx="1678782" cy="3739038"/>
            <a:chOff x="3634" y="2055"/>
            <a:chExt cx="1056" cy="489"/>
          </a:xfrm>
        </p:grpSpPr>
        <p:sp>
          <p:nvSpPr>
            <p:cNvPr id="18473" name="Rectangle 41">
              <a:extLst>
                <a:ext uri="{FF2B5EF4-FFF2-40B4-BE49-F238E27FC236}">
                  <a16:creationId xmlns:a16="http://schemas.microsoft.com/office/drawing/2014/main" id="{7E5A5F58-7442-4A83-6DFC-B92E2447A5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34" y="2055"/>
              <a:ext cx="1056" cy="48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474" name="Text Box 42">
              <a:extLst>
                <a:ext uri="{FF2B5EF4-FFF2-40B4-BE49-F238E27FC236}">
                  <a16:creationId xmlns:a16="http://schemas.microsoft.com/office/drawing/2014/main" id="{1A514F2D-789B-A8D5-239E-E7C535AA4B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03" y="2136"/>
              <a:ext cx="116" cy="5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endParaRPr lang="en-US" altLang="en-US" sz="1980"/>
            </a:p>
          </p:txBody>
        </p:sp>
      </p:grpSp>
      <p:sp>
        <p:nvSpPr>
          <p:cNvPr id="18476" name="Text Box 44">
            <a:extLst>
              <a:ext uri="{FF2B5EF4-FFF2-40B4-BE49-F238E27FC236}">
                <a16:creationId xmlns:a16="http://schemas.microsoft.com/office/drawing/2014/main" id="{0808852F-3EA3-E459-CFBE-9006781DF4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79960" y="1955959"/>
            <a:ext cx="888379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GET</a:t>
            </a:r>
          </a:p>
        </p:txBody>
      </p:sp>
      <p:sp>
        <p:nvSpPr>
          <p:cNvPr id="18479" name="Text Box 47">
            <a:extLst>
              <a:ext uri="{FF2B5EF4-FFF2-40B4-BE49-F238E27FC236}">
                <a16:creationId xmlns:a16="http://schemas.microsoft.com/office/drawing/2014/main" id="{23506543-3276-4032-D4ED-37455C119B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5816" y="2068830"/>
            <a:ext cx="685951" cy="3139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URL 1</a:t>
            </a:r>
          </a:p>
        </p:txBody>
      </p:sp>
      <p:sp>
        <p:nvSpPr>
          <p:cNvPr id="18480" name="Line 48">
            <a:extLst>
              <a:ext uri="{FF2B5EF4-FFF2-40B4-BE49-F238E27FC236}">
                <a16:creationId xmlns:a16="http://schemas.microsoft.com/office/drawing/2014/main" id="{6A235B24-2324-1A8A-1408-1A1EB44DB96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11617" y="2228850"/>
            <a:ext cx="55578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481" name="Text Box 49">
            <a:extLst>
              <a:ext uri="{FF2B5EF4-FFF2-40B4-BE49-F238E27FC236}">
                <a16:creationId xmlns:a16="http://schemas.microsoft.com/office/drawing/2014/main" id="{29D76FB1-4980-8880-E4CF-9B9CEE55F0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7255" y="2577465"/>
            <a:ext cx="1172110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Response</a:t>
            </a:r>
          </a:p>
        </p:txBody>
      </p:sp>
      <p:sp>
        <p:nvSpPr>
          <p:cNvPr id="18482" name="Line 50">
            <a:extLst>
              <a:ext uri="{FF2B5EF4-FFF2-40B4-BE49-F238E27FC236}">
                <a16:creationId xmlns:a16="http://schemas.microsoft.com/office/drawing/2014/main" id="{0B4B3A46-57A6-B50B-B994-C13A3D3FF830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2125" y="2268855"/>
            <a:ext cx="21288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483" name="Rectangle 51">
            <a:extLst>
              <a:ext uri="{FF2B5EF4-FFF2-40B4-BE49-F238E27FC236}">
                <a16:creationId xmlns:a16="http://schemas.microsoft.com/office/drawing/2014/main" id="{66893379-315C-CC6C-8F1C-029155CAB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3572" y="2097405"/>
            <a:ext cx="758535" cy="3139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doGet()</a:t>
            </a:r>
          </a:p>
        </p:txBody>
      </p:sp>
      <p:grpSp>
        <p:nvGrpSpPr>
          <p:cNvPr id="18484" name="Group 52">
            <a:extLst>
              <a:ext uri="{FF2B5EF4-FFF2-40B4-BE49-F238E27FC236}">
                <a16:creationId xmlns:a16="http://schemas.microsoft.com/office/drawing/2014/main" id="{6751F735-2812-117A-E6C3-1B0C402F0A1D}"/>
              </a:ext>
            </a:extLst>
          </p:cNvPr>
          <p:cNvGrpSpPr>
            <a:grpSpLocks/>
          </p:cNvGrpSpPr>
          <p:nvPr/>
        </p:nvGrpSpPr>
        <p:grpSpPr bwMode="auto">
          <a:xfrm>
            <a:off x="2639232" y="3223260"/>
            <a:ext cx="765626" cy="408623"/>
            <a:chOff x="381" y="1476"/>
            <a:chExt cx="440" cy="257"/>
          </a:xfrm>
        </p:grpSpPr>
        <p:sp>
          <p:nvSpPr>
            <p:cNvPr id="18485" name="Rectangle 53">
              <a:extLst>
                <a:ext uri="{FF2B5EF4-FFF2-40B4-BE49-F238E27FC236}">
                  <a16:creationId xmlns:a16="http://schemas.microsoft.com/office/drawing/2014/main" id="{7B35DC28-45A6-B954-7DC6-632B6AA2BA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486" name="Text Box 54">
              <a:extLst>
                <a:ext uri="{FF2B5EF4-FFF2-40B4-BE49-F238E27FC236}">
                  <a16:creationId xmlns:a16="http://schemas.microsoft.com/office/drawing/2014/main" id="{DD332CC2-1E12-E87C-CCD0-5ECEC333CE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1" y="1478"/>
              <a:ext cx="440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Request</a:t>
              </a:r>
            </a:p>
            <a:p>
              <a:pPr algn="ctr" eaLnBrk="0" hangingPunct="0"/>
              <a:r>
                <a:rPr lang="en-US" altLang="en-US" sz="990"/>
                <a:t>(XML doc)</a:t>
              </a:r>
              <a:endParaRPr lang="en-US" altLang="en-US" sz="1980"/>
            </a:p>
          </p:txBody>
        </p:sp>
      </p:grpSp>
      <p:grpSp>
        <p:nvGrpSpPr>
          <p:cNvPr id="18499" name="Group 67">
            <a:extLst>
              <a:ext uri="{FF2B5EF4-FFF2-40B4-BE49-F238E27FC236}">
                <a16:creationId xmlns:a16="http://schemas.microsoft.com/office/drawing/2014/main" id="{5A934B5D-7821-4B04-790B-C49DCE3DF3C8}"/>
              </a:ext>
            </a:extLst>
          </p:cNvPr>
          <p:cNvGrpSpPr>
            <a:grpSpLocks/>
          </p:cNvGrpSpPr>
          <p:nvPr/>
        </p:nvGrpSpPr>
        <p:grpSpPr bwMode="auto">
          <a:xfrm>
            <a:off x="2579955" y="3840480"/>
            <a:ext cx="816586" cy="408623"/>
            <a:chOff x="384" y="1476"/>
            <a:chExt cx="437" cy="257"/>
          </a:xfrm>
        </p:grpSpPr>
        <p:sp>
          <p:nvSpPr>
            <p:cNvPr id="18500" name="Rectangle 68">
              <a:extLst>
                <a:ext uri="{FF2B5EF4-FFF2-40B4-BE49-F238E27FC236}">
                  <a16:creationId xmlns:a16="http://schemas.microsoft.com/office/drawing/2014/main" id="{49E0B841-3FEA-90CC-E2FB-829987C8C7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501" name="Text Box 69">
              <a:extLst>
                <a:ext uri="{FF2B5EF4-FFF2-40B4-BE49-F238E27FC236}">
                  <a16:creationId xmlns:a16="http://schemas.microsoft.com/office/drawing/2014/main" id="{1DCB7FD3-B8E5-54DD-6439-28E64E609A7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4" y="1478"/>
              <a:ext cx="437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Response</a:t>
              </a:r>
            </a:p>
            <a:p>
              <a:pPr algn="ctr" eaLnBrk="0" hangingPunct="0"/>
              <a:r>
                <a:rPr lang="en-US" altLang="en-US" sz="990"/>
                <a:t>(</a:t>
              </a:r>
              <a:r>
                <a:rPr lang="en-US" altLang="en-US" sz="990" b="1"/>
                <a:t>JSON doc</a:t>
              </a:r>
              <a:r>
                <a:rPr lang="en-US" altLang="en-US" sz="990"/>
                <a:t>)</a:t>
              </a:r>
              <a:endParaRPr lang="en-US" altLang="en-US" sz="1980"/>
            </a:p>
          </p:txBody>
        </p:sp>
      </p:grpSp>
      <p:sp>
        <p:nvSpPr>
          <p:cNvPr id="18502" name="Line 70">
            <a:extLst>
              <a:ext uri="{FF2B5EF4-FFF2-40B4-BE49-F238E27FC236}">
                <a16:creationId xmlns:a16="http://schemas.microsoft.com/office/drawing/2014/main" id="{55D58A40-0E33-59AC-AA48-140883252D4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52800" y="3491865"/>
            <a:ext cx="1254443" cy="571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03" name="Line 71">
            <a:extLst>
              <a:ext uri="{FF2B5EF4-FFF2-40B4-BE49-F238E27FC236}">
                <a16:creationId xmlns:a16="http://schemas.microsoft.com/office/drawing/2014/main" id="{32450850-C765-FAB2-A658-BF9C598F4D8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352800" y="3977640"/>
            <a:ext cx="1414463" cy="1000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04" name="Text Box 72">
            <a:extLst>
              <a:ext uri="{FF2B5EF4-FFF2-40B4-BE49-F238E27FC236}">
                <a16:creationId xmlns:a16="http://schemas.microsoft.com/office/drawing/2014/main" id="{0BF91A10-D39E-F87C-B922-FA207620C3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79959" y="3223260"/>
            <a:ext cx="963719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POST</a:t>
            </a:r>
          </a:p>
        </p:txBody>
      </p:sp>
      <p:sp>
        <p:nvSpPr>
          <p:cNvPr id="18507" name="Text Box 75">
            <a:extLst>
              <a:ext uri="{FF2B5EF4-FFF2-40B4-BE49-F238E27FC236}">
                <a16:creationId xmlns:a16="http://schemas.microsoft.com/office/drawing/2014/main" id="{0FE0C296-FF3E-3849-70C5-623A239F50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5816" y="3334703"/>
            <a:ext cx="685951" cy="3139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URL 1</a:t>
            </a:r>
          </a:p>
        </p:txBody>
      </p:sp>
      <p:sp>
        <p:nvSpPr>
          <p:cNvPr id="18508" name="Line 76">
            <a:extLst>
              <a:ext uri="{FF2B5EF4-FFF2-40B4-BE49-F238E27FC236}">
                <a16:creationId xmlns:a16="http://schemas.microsoft.com/office/drawing/2014/main" id="{B6FBA004-DFF7-CB04-1C03-DB03C167C6FB}"/>
              </a:ext>
            </a:extLst>
          </p:cNvPr>
          <p:cNvSpPr>
            <a:spLocks noChangeShapeType="1"/>
          </p:cNvSpPr>
          <p:nvPr/>
        </p:nvSpPr>
        <p:spPr bwMode="auto">
          <a:xfrm>
            <a:off x="5324475" y="3496152"/>
            <a:ext cx="5429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09" name="Text Box 77">
            <a:extLst>
              <a:ext uri="{FF2B5EF4-FFF2-40B4-BE49-F238E27FC236}">
                <a16:creationId xmlns:a16="http://schemas.microsoft.com/office/drawing/2014/main" id="{D8ADB38E-7F74-193D-AC7D-2891AA48A6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07255" y="3844767"/>
            <a:ext cx="1172110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Response</a:t>
            </a:r>
          </a:p>
        </p:txBody>
      </p:sp>
      <p:sp>
        <p:nvSpPr>
          <p:cNvPr id="18510" name="Line 78">
            <a:extLst>
              <a:ext uri="{FF2B5EF4-FFF2-40B4-BE49-F238E27FC236}">
                <a16:creationId xmlns:a16="http://schemas.microsoft.com/office/drawing/2014/main" id="{BEACFA6C-F005-CF69-E6F3-7CBF7B0F4518}"/>
              </a:ext>
            </a:extLst>
          </p:cNvPr>
          <p:cNvSpPr>
            <a:spLocks noChangeShapeType="1"/>
          </p:cNvSpPr>
          <p:nvPr/>
        </p:nvSpPr>
        <p:spPr bwMode="auto">
          <a:xfrm>
            <a:off x="9373553" y="3188970"/>
            <a:ext cx="2128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11" name="Rectangle 79">
            <a:extLst>
              <a:ext uri="{FF2B5EF4-FFF2-40B4-BE49-F238E27FC236}">
                <a16:creationId xmlns:a16="http://schemas.microsoft.com/office/drawing/2014/main" id="{E654B1C0-B9D4-D48C-C545-E8C0B5C31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0" y="3017520"/>
            <a:ext cx="955705" cy="3139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doPost(id)</a:t>
            </a:r>
          </a:p>
        </p:txBody>
      </p:sp>
      <p:sp>
        <p:nvSpPr>
          <p:cNvPr id="18513" name="Line 81">
            <a:extLst>
              <a:ext uri="{FF2B5EF4-FFF2-40B4-BE49-F238E27FC236}">
                <a16:creationId xmlns:a16="http://schemas.microsoft.com/office/drawing/2014/main" id="{7A8512DA-9406-36DF-F254-6A619C57D2BF}"/>
              </a:ext>
            </a:extLst>
          </p:cNvPr>
          <p:cNvSpPr>
            <a:spLocks noChangeShapeType="1"/>
          </p:cNvSpPr>
          <p:nvPr/>
        </p:nvSpPr>
        <p:spPr bwMode="auto">
          <a:xfrm>
            <a:off x="6647498" y="3556159"/>
            <a:ext cx="104013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21" name="Line 89">
            <a:extLst>
              <a:ext uri="{FF2B5EF4-FFF2-40B4-BE49-F238E27FC236}">
                <a16:creationId xmlns:a16="http://schemas.microsoft.com/office/drawing/2014/main" id="{9B0664A8-204B-2177-645C-94E965B8AAD3}"/>
              </a:ext>
            </a:extLst>
          </p:cNvPr>
          <p:cNvSpPr>
            <a:spLocks noChangeShapeType="1"/>
          </p:cNvSpPr>
          <p:nvPr/>
        </p:nvSpPr>
        <p:spPr bwMode="auto">
          <a:xfrm>
            <a:off x="6641783" y="3934778"/>
            <a:ext cx="104155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28" name="Text Box 96">
            <a:extLst>
              <a:ext uri="{FF2B5EF4-FFF2-40B4-BE49-F238E27FC236}">
                <a16:creationId xmlns:a16="http://schemas.microsoft.com/office/drawing/2014/main" id="{E9C67369-438D-AA17-1404-355DB0EEC6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93355" y="3223260"/>
            <a:ext cx="1457325" cy="11449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800"/>
              <a:t>REST Engine</a:t>
            </a:r>
          </a:p>
          <a:p>
            <a:pPr eaLnBrk="0" hangingPunct="0"/>
            <a:r>
              <a:rPr lang="en-US" altLang="en-US" sz="1800"/>
              <a:t>(</a:t>
            </a:r>
            <a:r>
              <a:rPr lang="en-US" altLang="en-US" sz="1440"/>
              <a:t>locate resource and generate response</a:t>
            </a:r>
            <a:r>
              <a:rPr lang="en-US" altLang="en-US" sz="1800"/>
              <a:t>)</a:t>
            </a:r>
          </a:p>
        </p:txBody>
      </p:sp>
      <p:grpSp>
        <p:nvGrpSpPr>
          <p:cNvPr id="18530" name="Group 98">
            <a:extLst>
              <a:ext uri="{FF2B5EF4-FFF2-40B4-BE49-F238E27FC236}">
                <a16:creationId xmlns:a16="http://schemas.microsoft.com/office/drawing/2014/main" id="{0B054E13-01FE-CAB3-22C5-0866077B9890}"/>
              </a:ext>
            </a:extLst>
          </p:cNvPr>
          <p:cNvGrpSpPr>
            <a:grpSpLocks/>
          </p:cNvGrpSpPr>
          <p:nvPr/>
        </p:nvGrpSpPr>
        <p:grpSpPr bwMode="auto">
          <a:xfrm>
            <a:off x="2596098" y="4526280"/>
            <a:ext cx="765186" cy="408623"/>
            <a:chOff x="398" y="1476"/>
            <a:chExt cx="408" cy="257"/>
          </a:xfrm>
        </p:grpSpPr>
        <p:sp>
          <p:nvSpPr>
            <p:cNvPr id="18531" name="Rectangle 99">
              <a:extLst>
                <a:ext uri="{FF2B5EF4-FFF2-40B4-BE49-F238E27FC236}">
                  <a16:creationId xmlns:a16="http://schemas.microsoft.com/office/drawing/2014/main" id="{D8D43839-53D1-E226-8296-CDB59AABA1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532" name="Text Box 100">
              <a:extLst>
                <a:ext uri="{FF2B5EF4-FFF2-40B4-BE49-F238E27FC236}">
                  <a16:creationId xmlns:a16="http://schemas.microsoft.com/office/drawing/2014/main" id="{8B3DF22D-5967-DCDF-7EF3-7FDB6D0158B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8" y="1478"/>
              <a:ext cx="408" cy="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PO</a:t>
              </a:r>
            </a:p>
            <a:p>
              <a:pPr algn="ctr" eaLnBrk="0" hangingPunct="0"/>
              <a:r>
                <a:rPr lang="en-US" altLang="en-US" sz="990"/>
                <a:t>(XML doc)</a:t>
              </a:r>
              <a:endParaRPr lang="en-US" altLang="en-US" sz="1980"/>
            </a:p>
          </p:txBody>
        </p:sp>
      </p:grpSp>
      <p:sp>
        <p:nvSpPr>
          <p:cNvPr id="18539" name="Line 107">
            <a:extLst>
              <a:ext uri="{FF2B5EF4-FFF2-40B4-BE49-F238E27FC236}">
                <a16:creationId xmlns:a16="http://schemas.microsoft.com/office/drawing/2014/main" id="{E9524ECF-4C05-0216-96D4-FB5485BC0ACB}"/>
              </a:ext>
            </a:extLst>
          </p:cNvPr>
          <p:cNvSpPr>
            <a:spLocks noChangeShapeType="1"/>
          </p:cNvSpPr>
          <p:nvPr/>
        </p:nvSpPr>
        <p:spPr bwMode="auto">
          <a:xfrm>
            <a:off x="3441383" y="4770597"/>
            <a:ext cx="1160145" cy="285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40" name="Text Box 108">
            <a:extLst>
              <a:ext uri="{FF2B5EF4-FFF2-40B4-BE49-F238E27FC236}">
                <a16:creationId xmlns:a16="http://schemas.microsoft.com/office/drawing/2014/main" id="{D275F666-E3DB-525E-EBCF-6AEFDD61E2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75673" y="4503420"/>
            <a:ext cx="1162492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DELETE</a:t>
            </a:r>
          </a:p>
        </p:txBody>
      </p:sp>
      <p:sp>
        <p:nvSpPr>
          <p:cNvPr id="18542" name="Text Box 110">
            <a:extLst>
              <a:ext uri="{FF2B5EF4-FFF2-40B4-BE49-F238E27FC236}">
                <a16:creationId xmlns:a16="http://schemas.microsoft.com/office/drawing/2014/main" id="{E24357FB-92B3-3F44-BF31-8A640660B3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11530" y="4616292"/>
            <a:ext cx="685951" cy="3139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URL 1</a:t>
            </a:r>
          </a:p>
        </p:txBody>
      </p:sp>
      <p:sp>
        <p:nvSpPr>
          <p:cNvPr id="18543" name="Line 111">
            <a:extLst>
              <a:ext uri="{FF2B5EF4-FFF2-40B4-BE49-F238E27FC236}">
                <a16:creationId xmlns:a16="http://schemas.microsoft.com/office/drawing/2014/main" id="{8FF07133-40FE-33EF-389E-936379670BFF}"/>
              </a:ext>
            </a:extLst>
          </p:cNvPr>
          <p:cNvSpPr>
            <a:spLocks noChangeShapeType="1"/>
          </p:cNvSpPr>
          <p:nvPr/>
        </p:nvSpPr>
        <p:spPr bwMode="auto">
          <a:xfrm>
            <a:off x="5320189" y="4776312"/>
            <a:ext cx="5429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45" name="Line 113">
            <a:extLst>
              <a:ext uri="{FF2B5EF4-FFF2-40B4-BE49-F238E27FC236}">
                <a16:creationId xmlns:a16="http://schemas.microsoft.com/office/drawing/2014/main" id="{215F71BF-E6EE-189B-694D-D357DDA590D9}"/>
              </a:ext>
            </a:extLst>
          </p:cNvPr>
          <p:cNvSpPr>
            <a:spLocks noChangeShapeType="1"/>
          </p:cNvSpPr>
          <p:nvPr/>
        </p:nvSpPr>
        <p:spPr bwMode="auto">
          <a:xfrm>
            <a:off x="6641783" y="4807744"/>
            <a:ext cx="104155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52" name="Line 120">
            <a:extLst>
              <a:ext uri="{FF2B5EF4-FFF2-40B4-BE49-F238E27FC236}">
                <a16:creationId xmlns:a16="http://schemas.microsoft.com/office/drawing/2014/main" id="{3C07A090-F9C6-FB8C-69D7-D597942BE701}"/>
              </a:ext>
            </a:extLst>
          </p:cNvPr>
          <p:cNvSpPr>
            <a:spLocks noChangeShapeType="1"/>
          </p:cNvSpPr>
          <p:nvPr/>
        </p:nvSpPr>
        <p:spPr bwMode="auto">
          <a:xfrm>
            <a:off x="9387840" y="4183380"/>
            <a:ext cx="212884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53" name="Rectangle 121">
            <a:extLst>
              <a:ext uri="{FF2B5EF4-FFF2-40B4-BE49-F238E27FC236}">
                <a16:creationId xmlns:a16="http://schemas.microsoft.com/office/drawing/2014/main" id="{9D698662-B1D6-77B4-3387-0EBE2D721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25000" y="3977640"/>
            <a:ext cx="973337" cy="3139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440"/>
              <a:t>doDelete()</a:t>
            </a:r>
          </a:p>
        </p:txBody>
      </p:sp>
      <p:grpSp>
        <p:nvGrpSpPr>
          <p:cNvPr id="18560" name="Group 128">
            <a:extLst>
              <a:ext uri="{FF2B5EF4-FFF2-40B4-BE49-F238E27FC236}">
                <a16:creationId xmlns:a16="http://schemas.microsoft.com/office/drawing/2014/main" id="{AE47004F-E028-80DD-FB2F-87C2A3347158}"/>
              </a:ext>
            </a:extLst>
          </p:cNvPr>
          <p:cNvGrpSpPr>
            <a:grpSpLocks/>
          </p:cNvGrpSpPr>
          <p:nvPr/>
        </p:nvGrpSpPr>
        <p:grpSpPr bwMode="auto">
          <a:xfrm>
            <a:off x="2582985" y="5143500"/>
            <a:ext cx="837262" cy="407194"/>
            <a:chOff x="393" y="1476"/>
            <a:chExt cx="418" cy="257"/>
          </a:xfrm>
        </p:grpSpPr>
        <p:sp>
          <p:nvSpPr>
            <p:cNvPr id="18561" name="Rectangle 129">
              <a:extLst>
                <a:ext uri="{FF2B5EF4-FFF2-40B4-BE49-F238E27FC236}">
                  <a16:creationId xmlns:a16="http://schemas.microsoft.com/office/drawing/2014/main" id="{564194F9-50A0-10CB-236F-989686F5E1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" y="1476"/>
              <a:ext cx="384" cy="25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1620"/>
            </a:p>
          </p:txBody>
        </p:sp>
        <p:sp>
          <p:nvSpPr>
            <p:cNvPr id="18562" name="Text Box 130">
              <a:extLst>
                <a:ext uri="{FF2B5EF4-FFF2-40B4-BE49-F238E27FC236}">
                  <a16:creationId xmlns:a16="http://schemas.microsoft.com/office/drawing/2014/main" id="{95F2023E-5815-C029-076B-B5EA3B4CCA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3" y="1478"/>
              <a:ext cx="418" cy="25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1437" tIns="45717" rIns="91437" bIns="45717">
              <a:spAutoFit/>
            </a:bodyPr>
            <a:lstStyle>
              <a:lvl1pPr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508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016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524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32000" defTabSz="10160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4892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464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036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60800" defTabSz="10160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 eaLnBrk="0" hangingPunct="0"/>
              <a:r>
                <a:rPr lang="en-US" altLang="en-US" sz="990"/>
                <a:t>Response</a:t>
              </a:r>
            </a:p>
            <a:p>
              <a:pPr algn="ctr" eaLnBrk="0" hangingPunct="0"/>
              <a:r>
                <a:rPr lang="en-US" altLang="en-US" sz="990"/>
                <a:t>(</a:t>
              </a:r>
              <a:r>
                <a:rPr lang="en-US" altLang="en-US" sz="990" b="1"/>
                <a:t>TEXT doc</a:t>
              </a:r>
              <a:r>
                <a:rPr lang="en-US" altLang="en-US" sz="990"/>
                <a:t>)</a:t>
              </a:r>
              <a:endParaRPr lang="en-US" altLang="en-US" sz="1980"/>
            </a:p>
          </p:txBody>
        </p:sp>
      </p:grpSp>
      <p:sp>
        <p:nvSpPr>
          <p:cNvPr id="18563" name="Line 131">
            <a:extLst>
              <a:ext uri="{FF2B5EF4-FFF2-40B4-BE49-F238E27FC236}">
                <a16:creationId xmlns:a16="http://schemas.microsoft.com/office/drawing/2014/main" id="{06E83B5D-14C7-3023-E84D-54AE1D29B66C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404235" y="5294948"/>
            <a:ext cx="1337310" cy="1429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65" name="Text Box 133">
            <a:extLst>
              <a:ext uri="{FF2B5EF4-FFF2-40B4-BE49-F238E27FC236}">
                <a16:creationId xmlns:a16="http://schemas.microsoft.com/office/drawing/2014/main" id="{8A9025B2-F9F5-5334-AEA4-A84ACE47A3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81538" y="5153502"/>
            <a:ext cx="1172110" cy="2723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1437" tIns="45717" rIns="91437" bIns="45717">
            <a:spAutoFit/>
          </a:bodyPr>
          <a:lstStyle>
            <a:lvl1pPr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508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016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524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32000" defTabSz="10160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4892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464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036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60800" defTabSz="10160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0" hangingPunct="0"/>
            <a:r>
              <a:rPr lang="en-US" altLang="en-US" sz="1170"/>
              <a:t>HTTP Response</a:t>
            </a:r>
          </a:p>
        </p:txBody>
      </p:sp>
      <p:sp>
        <p:nvSpPr>
          <p:cNvPr id="18567" name="Line 135">
            <a:extLst>
              <a:ext uri="{FF2B5EF4-FFF2-40B4-BE49-F238E27FC236}">
                <a16:creationId xmlns:a16="http://schemas.microsoft.com/office/drawing/2014/main" id="{B6A8898D-E91B-B333-EC77-FEEC4B9F4D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616065" y="5243513"/>
            <a:ext cx="104155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74" name="Line 142">
            <a:extLst>
              <a:ext uri="{FF2B5EF4-FFF2-40B4-BE49-F238E27FC236}">
                <a16:creationId xmlns:a16="http://schemas.microsoft.com/office/drawing/2014/main" id="{0C6F5B1D-0E10-9D15-B42F-BC6D98793768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395663" y="2696052"/>
            <a:ext cx="1338739" cy="142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75" name="Line 143">
            <a:extLst>
              <a:ext uri="{FF2B5EF4-FFF2-40B4-BE49-F238E27FC236}">
                <a16:creationId xmlns:a16="http://schemas.microsoft.com/office/drawing/2014/main" id="{B7412A21-2C86-DFAC-B4DD-09602B15BBDD}"/>
              </a:ext>
            </a:extLst>
          </p:cNvPr>
          <p:cNvSpPr>
            <a:spLocks noChangeShapeType="1"/>
          </p:cNvSpPr>
          <p:nvPr/>
        </p:nvSpPr>
        <p:spPr bwMode="auto">
          <a:xfrm>
            <a:off x="3437097" y="2208848"/>
            <a:ext cx="1160145" cy="285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78" name="Rectangle 146">
            <a:extLst>
              <a:ext uri="{FF2B5EF4-FFF2-40B4-BE49-F238E27FC236}">
                <a16:creationId xmlns:a16="http://schemas.microsoft.com/office/drawing/2014/main" id="{1C8D4FC8-DC67-6FA3-709E-75524CC0DC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4432" y="765638"/>
            <a:ext cx="4272794" cy="665969"/>
          </a:xfrm>
        </p:spPr>
        <p:txBody>
          <a:bodyPr/>
          <a:lstStyle/>
          <a:p>
            <a:r>
              <a:rPr lang="en-US" altLang="en-US" dirty="0"/>
              <a:t>Architecture Style</a:t>
            </a:r>
          </a:p>
        </p:txBody>
      </p:sp>
      <p:sp>
        <p:nvSpPr>
          <p:cNvPr id="18579" name="AutoShape 147">
            <a:extLst>
              <a:ext uri="{FF2B5EF4-FFF2-40B4-BE49-F238E27FC236}">
                <a16:creationId xmlns:a16="http://schemas.microsoft.com/office/drawing/2014/main" id="{956C64C3-F547-331D-E983-8593B99AB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67900" y="4869180"/>
            <a:ext cx="480060" cy="617220"/>
          </a:xfrm>
          <a:prstGeom prst="flowChartMagneticDisk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80" name="AutoShape 148">
            <a:extLst>
              <a:ext uri="{FF2B5EF4-FFF2-40B4-BE49-F238E27FC236}">
                <a16:creationId xmlns:a16="http://schemas.microsoft.com/office/drawing/2014/main" id="{D670A3A8-D96E-DA4F-2E41-C3C33E31B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73640" y="5143500"/>
            <a:ext cx="480060" cy="617220"/>
          </a:xfrm>
          <a:prstGeom prst="can">
            <a:avLst>
              <a:gd name="adj" fmla="val 32143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620"/>
          </a:p>
        </p:txBody>
      </p:sp>
      <p:sp>
        <p:nvSpPr>
          <p:cNvPr id="18581" name="Line 149">
            <a:extLst>
              <a:ext uri="{FF2B5EF4-FFF2-40B4-BE49-F238E27FC236}">
                <a16:creationId xmlns:a16="http://schemas.microsoft.com/office/drawing/2014/main" id="{0B517526-B151-B35B-0A25-2B07F2DC07FC}"/>
              </a:ext>
            </a:extLst>
          </p:cNvPr>
          <p:cNvSpPr>
            <a:spLocks noChangeShapeType="1"/>
          </p:cNvSpPr>
          <p:nvPr/>
        </p:nvSpPr>
        <p:spPr bwMode="auto">
          <a:xfrm>
            <a:off x="9319260" y="5074920"/>
            <a:ext cx="54864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sz="1620"/>
          </a:p>
        </p:txBody>
      </p:sp>
    </p:spTree>
  </p:cSld>
  <p:clrMapOvr>
    <a:masterClrMapping/>
  </p:clrMapOvr>
  <p:transition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1179</TotalTime>
  <Words>2206</Words>
  <Application>Microsoft Office PowerPoint</Application>
  <PresentationFormat>Widescreen</PresentationFormat>
  <Paragraphs>509</Paragraphs>
  <Slides>54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Arial</vt:lpstr>
      <vt:lpstr>Arial Narrow</vt:lpstr>
      <vt:lpstr>Calibri</vt:lpstr>
      <vt:lpstr>Garamond</vt:lpstr>
      <vt:lpstr>Trebuchet MS</vt:lpstr>
      <vt:lpstr>Wingdings</vt:lpstr>
      <vt:lpstr>SCUTemplate</vt:lpstr>
      <vt:lpstr>Custom Design</vt:lpstr>
      <vt:lpstr>1_SCUTemplate</vt:lpstr>
      <vt:lpstr>CSEN160</vt:lpstr>
      <vt:lpstr>Microservices</vt:lpstr>
      <vt:lpstr>Rule of twos</vt:lpstr>
      <vt:lpstr>Advantages of a microservice architecture</vt:lpstr>
      <vt:lpstr>Characteristics of a microservice</vt:lpstr>
      <vt:lpstr>Monolith vs. Microservices Architecture</vt:lpstr>
      <vt:lpstr>SOA/SOAP vs. Microservices Architecture</vt:lpstr>
      <vt:lpstr>Microservices architecture</vt:lpstr>
      <vt:lpstr>Software services</vt:lpstr>
      <vt:lpstr>Software services</vt:lpstr>
      <vt:lpstr>Microservices</vt:lpstr>
      <vt:lpstr>Microservices</vt:lpstr>
      <vt:lpstr>Microservices architecture</vt:lpstr>
      <vt:lpstr>Microservices architecture</vt:lpstr>
      <vt:lpstr>Microservices architecture</vt:lpstr>
      <vt:lpstr>Benefits of microservices architecture</vt:lpstr>
      <vt:lpstr>Benefits of microservices architecture</vt:lpstr>
      <vt:lpstr>Characteristics of microservices</vt:lpstr>
      <vt:lpstr>Characteristics of microservices</vt:lpstr>
      <vt:lpstr>Characteristics of microservices</vt:lpstr>
      <vt:lpstr>Microservice characteristics</vt:lpstr>
      <vt:lpstr>Microservice characteristics</vt:lpstr>
      <vt:lpstr>Microservices Communication</vt:lpstr>
      <vt:lpstr>Service communications</vt:lpstr>
      <vt:lpstr>Synchronous and asynchronous interaction</vt:lpstr>
      <vt:lpstr>Synchronous and asynchronous interaction</vt:lpstr>
      <vt:lpstr>Microservices RESTful</vt:lpstr>
      <vt:lpstr>Hypertext Transfer Protocol (HTTP)</vt:lpstr>
      <vt:lpstr>Representational State Transfer (REST)</vt:lpstr>
      <vt:lpstr>RESTful services</vt:lpstr>
      <vt:lpstr>RESTful services</vt:lpstr>
      <vt:lpstr>REST and HTTP</vt:lpstr>
      <vt:lpstr>REST - not a Standard</vt:lpstr>
      <vt:lpstr>Main Concepts</vt:lpstr>
      <vt:lpstr>RESTful service principles</vt:lpstr>
      <vt:lpstr>Resources</vt:lpstr>
      <vt:lpstr>Naming Resources</vt:lpstr>
      <vt:lpstr>RESTful service principles</vt:lpstr>
      <vt:lpstr>HTTP GET</vt:lpstr>
      <vt:lpstr>HTTP GET</vt:lpstr>
      <vt:lpstr>PowerPoint Presentation</vt:lpstr>
      <vt:lpstr>PowerPoint Presentation</vt:lpstr>
      <vt:lpstr>HTTP DELETE</vt:lpstr>
      <vt:lpstr>Controllers</vt:lpstr>
      <vt:lpstr>RESTful service principles</vt:lpstr>
      <vt:lpstr>Representations</vt:lpstr>
      <vt:lpstr>XML and JSON descriptions</vt:lpstr>
      <vt:lpstr>Representations</vt:lpstr>
      <vt:lpstr>XML and JSON descriptions</vt:lpstr>
      <vt:lpstr>XML and JSON descriptions</vt:lpstr>
      <vt:lpstr>Postman</vt:lpstr>
      <vt:lpstr>Why: "Representational State Transfer"?</vt:lpstr>
      <vt:lpstr>Architecture Style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194</cp:revision>
  <cp:lastPrinted>2023-09-11T21:46:56Z</cp:lastPrinted>
  <dcterms:created xsi:type="dcterms:W3CDTF">2023-09-09T19:51:41Z</dcterms:created>
  <dcterms:modified xsi:type="dcterms:W3CDTF">2026-08-22T20:52:48Z</dcterms:modified>
</cp:coreProperties>
</file>