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5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  <p:sldMasterId id="2147483709" r:id="rId4"/>
    <p:sldMasterId id="2147483731" r:id="rId5"/>
    <p:sldMasterId id="2147483750" r:id="rId6"/>
  </p:sldMasterIdLst>
  <p:notesMasterIdLst>
    <p:notesMasterId r:id="rId82"/>
  </p:notesMasterIdLst>
  <p:handoutMasterIdLst>
    <p:handoutMasterId r:id="rId83"/>
  </p:handoutMasterIdLst>
  <p:sldIdLst>
    <p:sldId id="333" r:id="rId7"/>
    <p:sldId id="421" r:id="rId8"/>
    <p:sldId id="422" r:id="rId9"/>
    <p:sldId id="490" r:id="rId10"/>
    <p:sldId id="480" r:id="rId11"/>
    <p:sldId id="481" r:id="rId12"/>
    <p:sldId id="461" r:id="rId13"/>
    <p:sldId id="459" r:id="rId14"/>
    <p:sldId id="460" r:id="rId15"/>
    <p:sldId id="458" r:id="rId16"/>
    <p:sldId id="465" r:id="rId17"/>
    <p:sldId id="463" r:id="rId18"/>
    <p:sldId id="464" r:id="rId19"/>
    <p:sldId id="505" r:id="rId20"/>
    <p:sldId id="484" r:id="rId21"/>
    <p:sldId id="482" r:id="rId22"/>
    <p:sldId id="483" r:id="rId23"/>
    <p:sldId id="390" r:id="rId24"/>
    <p:sldId id="391" r:id="rId25"/>
    <p:sldId id="392" r:id="rId26"/>
    <p:sldId id="393" r:id="rId27"/>
    <p:sldId id="394" r:id="rId28"/>
    <p:sldId id="395" r:id="rId29"/>
    <p:sldId id="396" r:id="rId30"/>
    <p:sldId id="397" r:id="rId31"/>
    <p:sldId id="398" r:id="rId32"/>
    <p:sldId id="399" r:id="rId33"/>
    <p:sldId id="400" r:id="rId34"/>
    <p:sldId id="401" r:id="rId35"/>
    <p:sldId id="402" r:id="rId36"/>
    <p:sldId id="403" r:id="rId37"/>
    <p:sldId id="404" r:id="rId38"/>
    <p:sldId id="405" r:id="rId39"/>
    <p:sldId id="406" r:id="rId40"/>
    <p:sldId id="407" r:id="rId41"/>
    <p:sldId id="408" r:id="rId42"/>
    <p:sldId id="409" r:id="rId43"/>
    <p:sldId id="410" r:id="rId44"/>
    <p:sldId id="411" r:id="rId45"/>
    <p:sldId id="412" r:id="rId46"/>
    <p:sldId id="413" r:id="rId47"/>
    <p:sldId id="414" r:id="rId48"/>
    <p:sldId id="415" r:id="rId49"/>
    <p:sldId id="416" r:id="rId50"/>
    <p:sldId id="417" r:id="rId51"/>
    <p:sldId id="418" r:id="rId52"/>
    <p:sldId id="373" r:id="rId53"/>
    <p:sldId id="374" r:id="rId54"/>
    <p:sldId id="375" r:id="rId55"/>
    <p:sldId id="376" r:id="rId56"/>
    <p:sldId id="377" r:id="rId57"/>
    <p:sldId id="378" r:id="rId58"/>
    <p:sldId id="379" r:id="rId59"/>
    <p:sldId id="380" r:id="rId60"/>
    <p:sldId id="381" r:id="rId61"/>
    <p:sldId id="382" r:id="rId62"/>
    <p:sldId id="383" r:id="rId63"/>
    <p:sldId id="384" r:id="rId64"/>
    <p:sldId id="385" r:id="rId65"/>
    <p:sldId id="387" r:id="rId66"/>
    <p:sldId id="386" r:id="rId67"/>
    <p:sldId id="388" r:id="rId68"/>
    <p:sldId id="389" r:id="rId69"/>
    <p:sldId id="494" r:id="rId70"/>
    <p:sldId id="495" r:id="rId71"/>
    <p:sldId id="496" r:id="rId72"/>
    <p:sldId id="497" r:id="rId73"/>
    <p:sldId id="498" r:id="rId74"/>
    <p:sldId id="499" r:id="rId75"/>
    <p:sldId id="500" r:id="rId76"/>
    <p:sldId id="501" r:id="rId77"/>
    <p:sldId id="502" r:id="rId78"/>
    <p:sldId id="503" r:id="rId79"/>
    <p:sldId id="504" r:id="rId80"/>
    <p:sldId id="362" r:id="rId8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9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1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presProps" Target="presProps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tableStyles" Target="tableStyles.xml"/><Relationship Id="rId61" Type="http://schemas.openxmlformats.org/officeDocument/2006/relationships/slide" Target="slides/slide55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Strings are immutable for thread safety (behavior</a:t>
            </a:r>
            <a:r>
              <a:rPr lang="en-US" baseline="0" dirty="0"/>
              <a:t> is similar to primitives).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B40DD5-BF2C-40BA-AB25-7FD1CB6182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3431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B40DD5-BF2C-40BA-AB25-7FD1CB6182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987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use String</a:t>
            </a:r>
            <a:r>
              <a:rPr lang="en-US" baseline="0" dirty="0"/>
              <a:t> constructor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B40DD5-BF2C-40BA-AB25-7FD1CB6182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272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382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2355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4123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505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8741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7380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212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2691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6732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027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9098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1373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9725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4871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5281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7991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6721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656F1-AD33-45CA-85C7-DC330226D9FE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13234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394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449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8426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7367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2899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614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723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0059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3888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3923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4402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08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3039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6947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31317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52626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8161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347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6027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6757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858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472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760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7621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9205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777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9122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1877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04309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3452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6224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5718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5658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656F1-AD33-45CA-85C7-DC330226D9FE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14404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94DD4-5043-4A3A-99E2-3B90AB8E4ADF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82688-28AB-45F1-92FC-1F2EF8C09099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65057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18788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22898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10287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90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18854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4081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6881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60660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79925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45116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49405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16850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4306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656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45780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7904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56F1-AD33-45CA-85C7-DC330226D9FE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21476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94DD4-5043-4A3A-99E2-3B90AB8E4ADF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82688-28AB-45F1-92FC-1F2EF8C090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31689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37778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4999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4251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04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61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68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94.xml"/><Relationship Id="rId3" Type="http://schemas.openxmlformats.org/officeDocument/2006/relationships/slideLayout" Target="../slideLayouts/slideLayout79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86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38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7" r:id="rId19"/>
    <p:sldLayoutId id="214748370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18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9" r:id="rId18"/>
    <p:sldLayoutId id="214748373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45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60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CSEN160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Input</a:t>
            </a:r>
          </a:p>
        </p:txBody>
      </p:sp>
    </p:spTree>
    <p:extLst>
      <p:ext uri="{BB962C8B-B14F-4D97-AF65-F5344CB8AC3E}">
        <p14:creationId xmlns:p14="http://schemas.microsoft.com/office/powerpoint/2010/main" val="181106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873837"/>
            <a:ext cx="4218111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Java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7508" y="1342542"/>
            <a:ext cx="4626761" cy="5127039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import java.util.Scanner;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public class JavaInput1 {</a:t>
            </a:r>
          </a:p>
          <a:p>
            <a:pPr>
              <a:buNone/>
            </a:pPr>
            <a:r>
              <a:rPr lang="en-US" dirty="0"/>
              <a:t>  public static void main(String[] args) {</a:t>
            </a:r>
          </a:p>
          <a:p>
            <a:pPr>
              <a:buNone/>
            </a:pPr>
            <a:r>
              <a:rPr lang="en-US" dirty="0"/>
              <a:t>    // Create a Scanner object</a:t>
            </a:r>
          </a:p>
          <a:p>
            <a:pPr>
              <a:buNone/>
            </a:pPr>
            <a:r>
              <a:rPr lang="en-US" dirty="0"/>
              <a:t>    Scanner </a:t>
            </a:r>
            <a:r>
              <a:rPr lang="en-US" b="1" dirty="0"/>
              <a:t>myObj</a:t>
            </a:r>
            <a:r>
              <a:rPr lang="en-US" dirty="0"/>
              <a:t> = new Scanner(System.in); </a:t>
            </a:r>
          </a:p>
          <a:p>
            <a:pPr>
              <a:buNone/>
            </a:pPr>
            <a:r>
              <a:rPr lang="en-US" dirty="0"/>
              <a:t>    System.out.println("Enter username: ");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String userName = </a:t>
            </a:r>
            <a:r>
              <a:rPr lang="en-US" b="1" dirty="0"/>
              <a:t>myObj</a:t>
            </a:r>
            <a:r>
              <a:rPr lang="en-US" dirty="0"/>
              <a:t>.nextLine(); </a:t>
            </a:r>
          </a:p>
          <a:p>
            <a:pPr>
              <a:buNone/>
            </a:pPr>
            <a:r>
              <a:rPr lang="en-US" dirty="0"/>
              <a:t>    </a:t>
            </a:r>
          </a:p>
          <a:p>
            <a:pPr>
              <a:buNone/>
            </a:pPr>
            <a:r>
              <a:rPr lang="en-US" dirty="0"/>
              <a:t>    System.out.println("Enter id: ");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id = </a:t>
            </a:r>
            <a:r>
              <a:rPr lang="en-US" b="1" dirty="0"/>
              <a:t>myObj</a:t>
            </a:r>
            <a:r>
              <a:rPr lang="en-US" dirty="0"/>
              <a:t>.nextInt();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("Username is: " + </a:t>
            </a:r>
            <a:r>
              <a:rPr lang="en-US" dirty="0" err="1"/>
              <a:t>userName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("Username id: " + id);</a:t>
            </a:r>
          </a:p>
          <a:p>
            <a:pPr>
              <a:buNone/>
            </a:pPr>
            <a:r>
              <a:rPr lang="en-US" dirty="0"/>
              <a:t>  }</a:t>
            </a:r>
          </a:p>
          <a:p>
            <a:pPr>
              <a:buNone/>
            </a:pPr>
            <a:r>
              <a:rPr lang="en-US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57327" y="902262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Important later for some labs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229" y="2632924"/>
            <a:ext cx="2582297" cy="23874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606686"/>
            <a:ext cx="317907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Interesting: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Delimiter is ‘ ‘ (space)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nextLine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reads a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whole line (delimiter is ‘\n’)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Error: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Reading characters as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Throws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InputMismatchException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875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873837"/>
            <a:ext cx="4218111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Java Input </a:t>
            </a:r>
            <a:r>
              <a:rPr lang="en-US" sz="2000" dirty="0"/>
              <a:t>(with exception)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295" y="1476061"/>
            <a:ext cx="6742829" cy="5127039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public class JavaInput2 {</a:t>
            </a:r>
          </a:p>
          <a:p>
            <a:pPr>
              <a:buNone/>
            </a:pPr>
            <a:r>
              <a:rPr lang="en-US" dirty="0"/>
              <a:t>  public static void main(String[] args) {</a:t>
            </a:r>
          </a:p>
          <a:p>
            <a:pPr>
              <a:buNone/>
            </a:pPr>
            <a:r>
              <a:rPr lang="en-US" dirty="0"/>
              <a:t>    // Create a Scanner object</a:t>
            </a:r>
          </a:p>
          <a:p>
            <a:pPr>
              <a:buNone/>
            </a:pPr>
            <a:r>
              <a:rPr lang="en-US" dirty="0"/>
              <a:t>    Scanner </a:t>
            </a:r>
            <a:r>
              <a:rPr lang="en-US" dirty="0" err="1"/>
              <a:t>myObj</a:t>
            </a:r>
            <a:r>
              <a:rPr lang="en-US" dirty="0"/>
              <a:t> = new Scanner(System.in);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("Enter id: ");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id = -1;	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try {</a:t>
            </a:r>
          </a:p>
          <a:p>
            <a:pPr>
              <a:buNone/>
            </a:pPr>
            <a:r>
              <a:rPr lang="en-US" dirty="0"/>
              <a:t>      id = </a:t>
            </a:r>
            <a:r>
              <a:rPr lang="en-US" dirty="0" err="1"/>
              <a:t>myObj.nextInt</a:t>
            </a:r>
            <a:r>
              <a:rPr lang="en-US" dirty="0"/>
              <a:t>();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} catch (</a:t>
            </a:r>
            <a:r>
              <a:rPr lang="en-US" dirty="0" err="1">
                <a:solidFill>
                  <a:srgbClr val="FF0000"/>
                </a:solidFill>
              </a:rPr>
              <a:t>InputMismatchException</a:t>
            </a:r>
            <a:r>
              <a:rPr lang="en-US" dirty="0">
                <a:solidFill>
                  <a:srgbClr val="FF0000"/>
                </a:solidFill>
              </a:rPr>
              <a:t> ex) {</a:t>
            </a:r>
          </a:p>
          <a:p>
            <a:pPr>
              <a:buNone/>
            </a:pPr>
            <a:r>
              <a:rPr lang="en-US" dirty="0"/>
              <a:t>      </a:t>
            </a:r>
            <a:r>
              <a:rPr lang="en-US" dirty="0" err="1"/>
              <a:t>System.out.println</a:t>
            </a:r>
            <a:r>
              <a:rPr lang="en-US" dirty="0"/>
              <a:t>("Error enter only numbers: "+</a:t>
            </a:r>
            <a:r>
              <a:rPr lang="en-US" dirty="0" err="1"/>
              <a:t>ex.toString</a:t>
            </a:r>
            <a:r>
              <a:rPr lang="en-US" dirty="0"/>
              <a:t>());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 }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("id: " + id);}</a:t>
            </a:r>
          </a:p>
          <a:p>
            <a:pPr>
              <a:buNone/>
            </a:pPr>
            <a:r>
              <a:rPr lang="en-US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79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5" y="873837"/>
            <a:ext cx="2215332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8425" y="1598485"/>
            <a:ext cx="714817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Write: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then else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 while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while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loop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try and catch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make sure an integer is entered and not some characters/strings: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id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myObj.nextInt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(); // throws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InputMismatchException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682750" y="4405344"/>
            <a:ext cx="6120147" cy="1974721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err="1"/>
              <a:t>System.out.println</a:t>
            </a:r>
            <a:r>
              <a:rPr lang="en-US" dirty="0"/>
              <a:t>("Enter id: ");</a:t>
            </a:r>
          </a:p>
          <a:p>
            <a:pPr>
              <a:buNone/>
            </a:pPr>
            <a:r>
              <a:rPr lang="en-US" dirty="0" err="1"/>
              <a:t>int</a:t>
            </a:r>
            <a:r>
              <a:rPr lang="en-US" dirty="0"/>
              <a:t> id = </a:t>
            </a:r>
            <a:r>
              <a:rPr lang="en-US" b="1" dirty="0"/>
              <a:t>myObj</a:t>
            </a:r>
            <a:r>
              <a:rPr lang="en-US" dirty="0"/>
              <a:t>.nextInt();</a:t>
            </a:r>
          </a:p>
          <a:p>
            <a:pPr>
              <a:buNone/>
            </a:pPr>
            <a:r>
              <a:rPr lang="en-US" dirty="0" err="1"/>
              <a:t>System.out.println</a:t>
            </a:r>
            <a:r>
              <a:rPr lang="en-US" dirty="0"/>
              <a:t>("Username is: " + </a:t>
            </a:r>
            <a:r>
              <a:rPr lang="en-US" dirty="0" err="1"/>
              <a:t>userName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 err="1"/>
              <a:t>System.out.println</a:t>
            </a:r>
            <a:r>
              <a:rPr lang="en-US" dirty="0"/>
              <a:t>("Username id: " + id);</a:t>
            </a:r>
          </a:p>
        </p:txBody>
      </p:sp>
    </p:spTree>
    <p:extLst>
      <p:ext uri="{BB962C8B-B14F-4D97-AF65-F5344CB8AC3E}">
        <p14:creationId xmlns:p14="http://schemas.microsoft.com/office/powerpoint/2010/main" val="148008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873837"/>
            <a:ext cx="4218111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Java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9837" y="868952"/>
            <a:ext cx="4651037" cy="5090729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err="1"/>
              <a:t>System.out.println</a:t>
            </a:r>
            <a:r>
              <a:rPr lang="en-US" dirty="0"/>
              <a:t>("Enter id: ");</a:t>
            </a:r>
          </a:p>
          <a:p>
            <a:pPr>
              <a:buNone/>
            </a:pP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>
                <a:solidFill>
                  <a:srgbClr val="00B0F0"/>
                </a:solidFill>
              </a:rPr>
              <a:t>idEntered</a:t>
            </a:r>
            <a:r>
              <a:rPr lang="en-US" dirty="0"/>
              <a:t>=false;</a:t>
            </a:r>
          </a:p>
          <a:p>
            <a:pPr>
              <a:buNone/>
            </a:pPr>
            <a:r>
              <a:rPr lang="en-US" dirty="0" err="1"/>
              <a:t>int</a:t>
            </a:r>
            <a:r>
              <a:rPr lang="en-US" dirty="0"/>
              <a:t> id=-1;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do {</a:t>
            </a:r>
          </a:p>
          <a:p>
            <a:pPr>
              <a:buNone/>
            </a:pPr>
            <a:r>
              <a:rPr lang="en-US" dirty="0"/>
              <a:t>  try {</a:t>
            </a:r>
          </a:p>
          <a:p>
            <a:pPr>
              <a:buNone/>
            </a:pPr>
            <a:r>
              <a:rPr lang="en-US" dirty="0"/>
              <a:t>    id = </a:t>
            </a:r>
            <a:r>
              <a:rPr lang="en-US" dirty="0" err="1"/>
              <a:t>myObj.nextInt</a:t>
            </a:r>
            <a:r>
              <a:rPr lang="en-US" dirty="0"/>
              <a:t>();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>
                <a:solidFill>
                  <a:srgbClr val="00B0F0"/>
                </a:solidFill>
              </a:rPr>
              <a:t>idEntered</a:t>
            </a:r>
            <a:r>
              <a:rPr lang="en-US" dirty="0"/>
              <a:t>=true;</a:t>
            </a:r>
          </a:p>
          <a:p>
            <a:pPr>
              <a:buNone/>
            </a:pPr>
            <a:r>
              <a:rPr lang="en-US" dirty="0"/>
              <a:t>  } </a:t>
            </a:r>
          </a:p>
          <a:p>
            <a:pPr>
              <a:buNone/>
            </a:pPr>
            <a:r>
              <a:rPr lang="en-US" dirty="0"/>
              <a:t>  catch (</a:t>
            </a:r>
            <a:r>
              <a:rPr lang="en-US" dirty="0" err="1"/>
              <a:t>InputMismatchException</a:t>
            </a:r>
            <a:r>
              <a:rPr lang="en-US" dirty="0"/>
              <a:t> ex) {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b="1" dirty="0" err="1">
                <a:solidFill>
                  <a:srgbClr val="92D050"/>
                </a:solidFill>
              </a:rPr>
              <a:t>myObj.next</a:t>
            </a:r>
            <a:r>
              <a:rPr lang="en-US" b="1" dirty="0">
                <a:solidFill>
                  <a:srgbClr val="92D050"/>
                </a:solidFill>
              </a:rPr>
              <a:t>();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("Error enter only numbers: ");</a:t>
            </a:r>
          </a:p>
          <a:p>
            <a:pPr>
              <a:buNone/>
            </a:pPr>
            <a:r>
              <a:rPr lang="en-US" dirty="0"/>
              <a:t>  }</a:t>
            </a:r>
          </a:p>
          <a:p>
            <a:pPr>
              <a:buNone/>
            </a:pPr>
            <a:r>
              <a:rPr lang="en-US" dirty="0"/>
              <a:t>} while (</a:t>
            </a:r>
            <a:r>
              <a:rPr lang="en-US" dirty="0" err="1">
                <a:solidFill>
                  <a:srgbClr val="00B0F0"/>
                </a:solidFill>
              </a:rPr>
              <a:t>idEntered</a:t>
            </a:r>
            <a:r>
              <a:rPr lang="en-US" dirty="0"/>
              <a:t>==false);</a:t>
            </a:r>
          </a:p>
          <a:p>
            <a:pPr>
              <a:buNone/>
            </a:pPr>
            <a:r>
              <a:rPr lang="en-US" dirty="0"/>
              <a:t>  </a:t>
            </a:r>
            <a:r>
              <a:rPr lang="en-US" dirty="0" err="1"/>
              <a:t>System.out.println</a:t>
            </a:r>
            <a:r>
              <a:rPr lang="en-US" dirty="0"/>
              <a:t>("Username is: " + </a:t>
            </a:r>
            <a:r>
              <a:rPr lang="en-US" dirty="0" err="1"/>
              <a:t>userName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  </a:t>
            </a:r>
            <a:r>
              <a:rPr lang="en-US" dirty="0" err="1"/>
              <a:t>System.out.println</a:t>
            </a:r>
            <a:r>
              <a:rPr lang="en-US" dirty="0"/>
              <a:t>("Username id: " + id);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73" y="1602531"/>
            <a:ext cx="5781904" cy="4985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Scanner does not advance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until the item is being read. This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 mentioned in Scanner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JavaDoc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Hence, you may just read 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value off using .next() method 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check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hasInt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before reading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value.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Source: https://stackoverflow.com/questions/32592922/java-try-catch-with-scanner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703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</a:t>
            </a:r>
          </a:p>
        </p:txBody>
      </p:sp>
    </p:spTree>
    <p:extLst>
      <p:ext uri="{BB962C8B-B14F-4D97-AF65-F5344CB8AC3E}">
        <p14:creationId xmlns:p14="http://schemas.microsoft.com/office/powerpoint/2010/main" val="173372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urier10 BT" pitchFamily="49" charset="0"/>
              </a:rPr>
              <a:t>Math</a:t>
            </a:r>
            <a:r>
              <a:rPr lang="en-US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sz="2000" dirty="0">
                <a:latin typeface="Courier10 BT" pitchFamily="49" charset="0"/>
              </a:rPr>
              <a:t>Math</a:t>
            </a:r>
            <a:r>
              <a:rPr lang="en-US" dirty="0"/>
              <a:t> class contains only static fields and methods. </a:t>
            </a:r>
          </a:p>
          <a:p>
            <a:r>
              <a:rPr lang="en-US" i="1" dirty="0"/>
              <a:t>Cannot</a:t>
            </a:r>
            <a:r>
              <a:rPr lang="en-US" dirty="0"/>
              <a:t> create an instance because </a:t>
            </a:r>
            <a:br>
              <a:rPr lang="en-US" dirty="0"/>
            </a:br>
            <a:r>
              <a:rPr lang="en-US" dirty="0"/>
              <a:t>this class contains only private constructors.</a:t>
            </a:r>
          </a:p>
          <a:p>
            <a:r>
              <a:rPr lang="en-US" dirty="0"/>
              <a:t>No import needed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06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33" y="1118724"/>
            <a:ext cx="3228048" cy="548235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Courier10 BT" pitchFamily="49" charset="0"/>
              </a:rPr>
              <a:t>Math</a:t>
            </a:r>
            <a:r>
              <a:rPr lang="en-US" dirty="0"/>
              <a:t> Class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359" y="987534"/>
            <a:ext cx="5638800" cy="560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23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873837"/>
            <a:ext cx="4655080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9561" y="1835422"/>
            <a:ext cx="8531168" cy="3950383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public class </a:t>
            </a:r>
            <a:r>
              <a:rPr lang="en-US" dirty="0" err="1"/>
              <a:t>MathExample</a:t>
            </a:r>
            <a:r>
              <a:rPr lang="en-US" dirty="0"/>
              <a:t> {</a:t>
            </a:r>
          </a:p>
          <a:p>
            <a:pPr>
              <a:buNone/>
            </a:pPr>
            <a:r>
              <a:rPr lang="en-US" dirty="0"/>
              <a:t>	public static void main(String[] args) {</a:t>
            </a:r>
          </a:p>
          <a:p>
            <a:pPr>
              <a:buNone/>
            </a:pPr>
            <a:r>
              <a:rPr lang="en-US" dirty="0"/>
              <a:t>		System.out.println("pi = " + </a:t>
            </a:r>
            <a:r>
              <a:rPr lang="en-US" dirty="0" err="1"/>
              <a:t>Math.PI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		System.out.println("E = " + </a:t>
            </a:r>
            <a:r>
              <a:rPr lang="en-US" dirty="0" err="1"/>
              <a:t>Math.E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		System.out.println("abs(-123.98) = " + </a:t>
            </a:r>
            <a:r>
              <a:rPr lang="en-US" dirty="0" err="1"/>
              <a:t>Math.abs</a:t>
            </a:r>
            <a:r>
              <a:rPr lang="en-US" dirty="0"/>
              <a:t>(-123.98f));</a:t>
            </a:r>
          </a:p>
          <a:p>
            <a:pPr>
              <a:buNone/>
            </a:pPr>
            <a:r>
              <a:rPr lang="en-US" dirty="0"/>
              <a:t>		System.out.println("tan(2.0) = " + </a:t>
            </a:r>
            <a:r>
              <a:rPr lang="en-US" dirty="0" err="1"/>
              <a:t>Math.tan</a:t>
            </a:r>
            <a:r>
              <a:rPr lang="en-US" dirty="0"/>
              <a:t>(2.0));</a:t>
            </a:r>
          </a:p>
          <a:p>
            <a:pPr>
              <a:buNone/>
            </a:pPr>
            <a:r>
              <a:rPr lang="en-US" dirty="0"/>
              <a:t>	}</a:t>
            </a:r>
          </a:p>
          <a:p>
            <a:pPr>
              <a:buNone/>
            </a:pPr>
            <a:r>
              <a:rPr lang="en-US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57327" y="1017351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Important later for some labs</a:t>
            </a:r>
          </a:p>
        </p:txBody>
      </p:sp>
    </p:spTree>
    <p:extLst>
      <p:ext uri="{BB962C8B-B14F-4D97-AF65-F5344CB8AC3E}">
        <p14:creationId xmlns:p14="http://schemas.microsoft.com/office/powerpoint/2010/main" val="2202673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Numbers</a:t>
            </a:r>
          </a:p>
        </p:txBody>
      </p:sp>
    </p:spTree>
    <p:extLst>
      <p:ext uri="{BB962C8B-B14F-4D97-AF65-F5344CB8AC3E}">
        <p14:creationId xmlns:p14="http://schemas.microsoft.com/office/powerpoint/2010/main" val="2758029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urier10 BT" pitchFamily="49" charset="0"/>
              </a:rPr>
              <a:t>Random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2009522"/>
            <a:ext cx="10417284" cy="3835800"/>
          </a:xfrm>
        </p:spPr>
        <p:txBody>
          <a:bodyPr>
            <a:normAutofit/>
          </a:bodyPr>
          <a:lstStyle/>
          <a:p>
            <a:r>
              <a:rPr lang="en-US" dirty="0"/>
              <a:t>The class </a:t>
            </a:r>
            <a:r>
              <a:rPr lang="en-US" dirty="0">
                <a:latin typeface="Courier10 BT" pitchFamily="49" charset="0"/>
              </a:rPr>
              <a:t>Random</a:t>
            </a:r>
            <a:r>
              <a:rPr lang="en-US" dirty="0"/>
              <a:t> is defined in </a:t>
            </a:r>
            <a:r>
              <a:rPr lang="en-US" dirty="0" err="1">
                <a:latin typeface="Courier10 BT" pitchFamily="49" charset="0"/>
              </a:rPr>
              <a:t>java.util</a:t>
            </a:r>
            <a:r>
              <a:rPr lang="en-US" dirty="0"/>
              <a:t>.</a:t>
            </a:r>
          </a:p>
          <a:p>
            <a:r>
              <a:rPr lang="en-US" dirty="0"/>
              <a:t>An instance of this class is used to generate pseudorandom numbers.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38400" y="4983548"/>
            <a:ext cx="6798658" cy="861774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Random rand = new Random();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magicColor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gets a random integer value of 0, 1 or 2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magicColor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rand.nextInt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(3);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919" y="3062713"/>
            <a:ext cx="5379720" cy="144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859" y="947741"/>
            <a:ext cx="5301130" cy="53714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10 BT" pitchFamily="49" charset="0"/>
              </a:rPr>
              <a:t>Exercise </a:t>
            </a:r>
            <a:r>
              <a:rPr lang="en-US" dirty="0" err="1">
                <a:latin typeface="Courier10 BT" pitchFamily="49" charset="0"/>
              </a:rPr>
              <a:t>BreakDemo</a:t>
            </a:r>
            <a:r>
              <a:rPr lang="en-US" dirty="0">
                <a:latin typeface="Courier10 BT" pitchFamily="49" charset="0"/>
              </a:rPr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/>
          </a:bodyPr>
          <a:lstStyle/>
          <a:p>
            <a:r>
              <a:rPr lang="en-US" sz="1800" dirty="0"/>
              <a:t>Write a program to generate 50 random numbers in the range 0 to 10. </a:t>
            </a:r>
            <a:br>
              <a:rPr lang="en-US" sz="1800" dirty="0"/>
            </a:br>
            <a:r>
              <a:rPr lang="en-US" sz="1800" dirty="0"/>
              <a:t>However, if the number 5 is generated, break!</a:t>
            </a:r>
          </a:p>
          <a:p>
            <a:r>
              <a:rPr lang="en-US" sz="1800" dirty="0"/>
              <a:t>Solution: The random numbers are generated inside a </a:t>
            </a:r>
            <a:r>
              <a:rPr lang="en-US" sz="1800" dirty="0">
                <a:latin typeface="Courier10 BT" pitchFamily="49" charset="0"/>
              </a:rPr>
              <a:t>for</a:t>
            </a:r>
            <a:r>
              <a:rPr lang="en-US" sz="1800" dirty="0"/>
              <a:t> loop. </a:t>
            </a:r>
            <a:br>
              <a:rPr lang="en-US" sz="1800" dirty="0"/>
            </a:br>
            <a:r>
              <a:rPr lang="en-US" sz="1800" dirty="0"/>
              <a:t>A </a:t>
            </a:r>
            <a:r>
              <a:rPr lang="en-US" sz="1800" dirty="0">
                <a:latin typeface="Courier10 BT" pitchFamily="49" charset="0"/>
              </a:rPr>
              <a:t>break</a:t>
            </a:r>
            <a:r>
              <a:rPr lang="en-US" sz="1800" dirty="0"/>
              <a:t> statement is used to terminate the iteration if 5 is generated.</a:t>
            </a:r>
          </a:p>
          <a:p>
            <a:pPr lvl="1">
              <a:buNone/>
            </a:pPr>
            <a:endParaRPr lang="en-US" dirty="0">
              <a:solidFill>
                <a:schemeClr val="tx1"/>
              </a:solidFill>
              <a:latin typeface="Courier10 BT" pitchFamily="49" charset="0"/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Courier10 BT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38400" y="3048001"/>
            <a:ext cx="5945024" cy="203132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import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java.util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.*; 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public class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BreakDemo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public static void main(String[] args)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// implement me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a=10;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(“Hello:”+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a+“number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”);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}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2438400" y="4983548"/>
            <a:ext cx="6798658" cy="861774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Random rand = new Random();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magicColor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gets a random integer value of 0, 1 or 2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magicColor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rand.nextInt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(3);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4910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859" y="947741"/>
            <a:ext cx="5044457" cy="53714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10 BT" pitchFamily="49" charset="0"/>
              </a:rPr>
              <a:t>Exercise </a:t>
            </a:r>
            <a:r>
              <a:rPr lang="en-US" dirty="0" err="1">
                <a:latin typeface="Courier10 BT" pitchFamily="49" charset="0"/>
              </a:rPr>
              <a:t>BreakDemo</a:t>
            </a:r>
            <a:r>
              <a:rPr lang="en-US" dirty="0">
                <a:latin typeface="Courier10 BT" pitchFamily="49" charset="0"/>
              </a:rPr>
              <a:t>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6263" y="2029327"/>
            <a:ext cx="6978316" cy="3108543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import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java.util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.*; 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public class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BreakDemo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public static void main(String[] args) {  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int number, x = 10, y = 50;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for (int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0;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&lt; 50;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++)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Random r = new Random();  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number 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r.nextInt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(11);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(number);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if (number == 5)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break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}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}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531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2294" y="935628"/>
            <a:ext cx="3553752" cy="690871"/>
          </a:xfrm>
        </p:spPr>
        <p:txBody>
          <a:bodyPr/>
          <a:lstStyle/>
          <a:p>
            <a:r>
              <a:rPr lang="en-US" dirty="0" err="1"/>
              <a:t>Math.random</a:t>
            </a:r>
            <a:r>
              <a:rPr lang="en-US" dirty="0"/>
              <a:t>():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068" y="1737927"/>
            <a:ext cx="10417284" cy="4804484"/>
          </a:xfrm>
        </p:spPr>
        <p:txBody>
          <a:bodyPr>
            <a:normAutofit/>
          </a:bodyPr>
          <a:lstStyle/>
          <a:p>
            <a:r>
              <a:rPr lang="en-US" dirty="0" err="1"/>
              <a:t>Math.random</a:t>
            </a:r>
            <a:r>
              <a:rPr lang="en-US" dirty="0"/>
              <a:t>() returns a double: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0.8061424100488573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0.14380699123258012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0.6019223501191691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0.16022079346356033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0.4110612020554283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6.04614526963932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9.774409693353928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8.456638292430338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3.7963003630516265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8.015820268396157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18209" y="4097114"/>
            <a:ext cx="6798658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Math.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random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* 10; // * 10 for the range</a:t>
            </a:r>
          </a:p>
        </p:txBody>
      </p:sp>
    </p:spTree>
    <p:extLst>
      <p:ext uri="{BB962C8B-B14F-4D97-AF65-F5344CB8AC3E}">
        <p14:creationId xmlns:p14="http://schemas.microsoft.com/office/powerpoint/2010/main" val="3779421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50" y="1538460"/>
            <a:ext cx="10417284" cy="537148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Exercise: Random numbers in a range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0683" y="2828166"/>
            <a:ext cx="3365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example: between 10 to 40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Min = 10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Max = 40</a:t>
            </a:r>
          </a:p>
        </p:txBody>
      </p:sp>
    </p:spTree>
    <p:extLst>
      <p:ext uri="{BB962C8B-B14F-4D97-AF65-F5344CB8AC3E}">
        <p14:creationId xmlns:p14="http://schemas.microsoft.com/office/powerpoint/2010/main" val="2055986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859" y="947741"/>
            <a:ext cx="10417284" cy="537148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Exercise: Random numbers in a range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/>
          </a:bodyPr>
          <a:lstStyle/>
          <a:p>
            <a:pPr lvl="1">
              <a:buNone/>
            </a:pPr>
            <a:endParaRPr lang="en-US" dirty="0">
              <a:solidFill>
                <a:schemeClr val="tx1"/>
              </a:solidFill>
              <a:latin typeface="Courier10 BT" pitchFamily="49" charset="0"/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Courier10 BT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44230" y="1417456"/>
            <a:ext cx="9396202" cy="504753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import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java.util.Random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public class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Randoms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public static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getRandomNumber_Math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min,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max)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return 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)(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Math.random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() * (max-min) ) + min;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}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public static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getRandomNumber_Util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min,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max)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return new Random().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nextInt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(max - min) + min;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}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public static void main(String[]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args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//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java.util.random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for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=0;i&lt;10;i++)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	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myRInt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Randoms.getRandomNumber_Util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(10, 40);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	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("Random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"+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myRInt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}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//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Math.random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for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=0;i&lt;10;i++)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	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res=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Randoms.getRandomNumber_Math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(10, 40);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	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Randoms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between 10 and 40 = "+ res);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}}}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194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</p:spTree>
    <p:extLst>
      <p:ext uri="{BB962C8B-B14F-4D97-AF65-F5344CB8AC3E}">
        <p14:creationId xmlns:p14="http://schemas.microsoft.com/office/powerpoint/2010/main" val="3555743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020594"/>
            <a:ext cx="3016443" cy="569491"/>
          </a:xfrm>
        </p:spPr>
        <p:txBody>
          <a:bodyPr>
            <a:normAutofit fontScale="90000"/>
          </a:bodyPr>
          <a:lstStyle/>
          <a:p>
            <a:r>
              <a:rPr lang="en-US" dirty="0"/>
              <a:t>String 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90085"/>
            <a:ext cx="10417284" cy="1626499"/>
          </a:xfrm>
        </p:spPr>
        <p:txBody>
          <a:bodyPr/>
          <a:lstStyle/>
          <a:p>
            <a:r>
              <a:rPr lang="en-US" dirty="0"/>
              <a:t> A </a:t>
            </a:r>
            <a:r>
              <a:rPr lang="en-US" b="1" dirty="0"/>
              <a:t>string literal</a:t>
            </a:r>
            <a:r>
              <a:rPr lang="en-US" dirty="0"/>
              <a:t> is a set of characters which is enclosed within double-quotes. </a:t>
            </a:r>
          </a:p>
          <a:p>
            <a:r>
              <a:rPr lang="en-US" dirty="0"/>
              <a:t>Examples: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66127" y="2385587"/>
            <a:ext cx="2209800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“Hello!”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 Score: 100”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“5 % 3”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36516" y="3452251"/>
            <a:ext cx="2065629" cy="609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Strings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936516" y="4084553"/>
            <a:ext cx="10417284" cy="1527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 string is an instance of class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10 BT" pitchFamily="49" charset="0"/>
                <a:ea typeface="+mn-ea"/>
              </a:rPr>
              <a:t>String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Can initialize a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10 BT" pitchFamily="49" charset="0"/>
                <a:ea typeface="+mn-ea"/>
              </a:rPr>
              <a:t>String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object with a string literal: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32609" y="5053225"/>
            <a:ext cx="3581400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firstName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"Joan";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lastName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"Wright";</a:t>
            </a:r>
          </a:p>
        </p:txBody>
      </p:sp>
    </p:spTree>
    <p:extLst>
      <p:ext uri="{BB962C8B-B14F-4D97-AF65-F5344CB8AC3E}">
        <p14:creationId xmlns:p14="http://schemas.microsoft.com/office/powerpoint/2010/main" val="2430297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182"/>
            <a:ext cx="2456389" cy="774808"/>
          </a:xfrm>
        </p:spPr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string is an instance of the </a:t>
            </a:r>
            <a:r>
              <a:rPr lang="en-US" sz="2000" dirty="0">
                <a:latin typeface="Courier10 BT" pitchFamily="49" charset="0"/>
              </a:rPr>
              <a:t>String</a:t>
            </a:r>
            <a:r>
              <a:rPr lang="en-US" dirty="0"/>
              <a:t> class defined in </a:t>
            </a:r>
            <a:r>
              <a:rPr lang="en-US" sz="2000" dirty="0" err="1">
                <a:latin typeface="Courier10 BT" pitchFamily="49" charset="0"/>
              </a:rPr>
              <a:t>java.lang</a:t>
            </a:r>
            <a:r>
              <a:rPr lang="en-US" dirty="0"/>
              <a:t> </a:t>
            </a:r>
          </a:p>
          <a:p>
            <a:r>
              <a:rPr lang="en-US" dirty="0"/>
              <a:t>2 ways to create a string: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Using a string </a:t>
            </a:r>
            <a:r>
              <a:rPr lang="en-US" b="1" dirty="0">
                <a:solidFill>
                  <a:srgbClr val="00B0F0"/>
                </a:solidFill>
              </a:rPr>
              <a:t>literal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Creates a string called </a:t>
            </a:r>
            <a:r>
              <a:rPr lang="en-US" dirty="0">
                <a:solidFill>
                  <a:schemeClr val="tx1"/>
                </a:solidFill>
                <a:latin typeface="Courier10 BT" pitchFamily="49" charset="0"/>
              </a:rPr>
              <a:t>s1</a:t>
            </a:r>
            <a:r>
              <a:rPr lang="en-US" dirty="0">
                <a:solidFill>
                  <a:schemeClr val="tx1"/>
                </a:solidFill>
              </a:rPr>
              <a:t> by using a string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literal</a:t>
            </a:r>
            <a:r>
              <a:rPr lang="en-US" dirty="0"/>
              <a:t>:</a:t>
            </a:r>
            <a:br>
              <a:rPr lang="en-US" dirty="0"/>
            </a:br>
            <a:r>
              <a:rPr lang="en-US" sz="1400" dirty="0">
                <a:solidFill>
                  <a:schemeClr val="tx1"/>
                </a:solidFill>
                <a:latin typeface="Courier10 BT" pitchFamily="49" charset="0"/>
              </a:rPr>
              <a:t>String s1 = "This is a string literal";</a:t>
            </a:r>
            <a:endParaRPr lang="en-US" dirty="0">
              <a:solidFill>
                <a:schemeClr val="tx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Using a </a:t>
            </a:r>
            <a:r>
              <a:rPr lang="en-US" b="1" dirty="0">
                <a:solidFill>
                  <a:srgbClr val="92D050"/>
                </a:solidFill>
              </a:rPr>
              <a:t>constructor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Create strings by using the</a:t>
            </a:r>
            <a:r>
              <a:rPr lang="en-US" dirty="0"/>
              <a:t> </a:t>
            </a:r>
            <a:r>
              <a:rPr lang="en-US" b="1" dirty="0">
                <a:solidFill>
                  <a:srgbClr val="92D050"/>
                </a:solidFill>
              </a:rPr>
              <a:t>constructor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3">
              <a:buNone/>
            </a:pPr>
            <a:r>
              <a:rPr lang="en-US" sz="1400" dirty="0">
                <a:solidFill>
                  <a:schemeClr val="tx1"/>
                </a:solidFill>
                <a:latin typeface="Courier10 BT" pitchFamily="49" charset="0"/>
              </a:rPr>
              <a:t>String </a:t>
            </a:r>
            <a:r>
              <a:rPr lang="en-US" sz="1400" dirty="0" err="1">
                <a:solidFill>
                  <a:schemeClr val="tx1"/>
                </a:solidFill>
                <a:latin typeface="Courier10 BT" pitchFamily="49" charset="0"/>
              </a:rPr>
              <a:t>s2</a:t>
            </a:r>
            <a:r>
              <a:rPr lang="en-US" sz="1400" dirty="0">
                <a:solidFill>
                  <a:schemeClr val="tx1"/>
                </a:solidFill>
                <a:latin typeface="Courier10 BT" pitchFamily="49" charset="0"/>
              </a:rPr>
              <a:t> = new </a:t>
            </a:r>
            <a:r>
              <a:rPr lang="en-US" sz="1400" b="1" dirty="0">
                <a:solidFill>
                  <a:srgbClr val="92D050"/>
                </a:solidFill>
                <a:latin typeface="Courier10 BT" pitchFamily="49" charset="0"/>
              </a:rPr>
              <a:t>String(</a:t>
            </a:r>
            <a:r>
              <a:rPr lang="en-US" sz="1400" dirty="0">
                <a:solidFill>
                  <a:schemeClr val="tx1"/>
                </a:solidFill>
                <a:latin typeface="Courier10 BT" pitchFamily="49" charset="0"/>
              </a:rPr>
              <a:t>"This is another string"</a:t>
            </a:r>
            <a:r>
              <a:rPr lang="en-US" sz="1400" b="1" dirty="0">
                <a:solidFill>
                  <a:srgbClr val="92D050"/>
                </a:solidFill>
                <a:latin typeface="Courier10 BT" pitchFamily="49" charset="0"/>
              </a:rPr>
              <a:t>);</a:t>
            </a:r>
          </a:p>
          <a:p>
            <a:pPr lvl="3">
              <a:buNone/>
            </a:pPr>
            <a:r>
              <a:rPr lang="en-US" sz="1400" dirty="0">
                <a:solidFill>
                  <a:schemeClr val="tx1"/>
                </a:solidFill>
                <a:latin typeface="Courier10 BT" pitchFamily="49" charset="0"/>
              </a:rPr>
              <a:t>char[] </a:t>
            </a:r>
            <a:r>
              <a:rPr lang="en-US" sz="1400" dirty="0" err="1">
                <a:solidFill>
                  <a:schemeClr val="tx1"/>
                </a:solidFill>
                <a:latin typeface="Courier10 BT" pitchFamily="49" charset="0"/>
              </a:rPr>
              <a:t>charArray</a:t>
            </a:r>
            <a:r>
              <a:rPr lang="en-US" sz="1400" dirty="0">
                <a:solidFill>
                  <a:schemeClr val="tx1"/>
                </a:solidFill>
                <a:latin typeface="Courier10 BT" pitchFamily="49" charset="0"/>
              </a:rPr>
              <a:t> = {'J', 'u', 'l', 'y'};</a:t>
            </a:r>
          </a:p>
          <a:p>
            <a:pPr lvl="3">
              <a:buNone/>
            </a:pPr>
            <a:r>
              <a:rPr lang="en-US" sz="1400" dirty="0">
                <a:solidFill>
                  <a:schemeClr val="tx1"/>
                </a:solidFill>
                <a:latin typeface="Courier10 BT" pitchFamily="49" charset="0"/>
              </a:rPr>
              <a:t>String </a:t>
            </a:r>
            <a:r>
              <a:rPr lang="en-US" sz="1400" dirty="0" err="1">
                <a:solidFill>
                  <a:schemeClr val="tx1"/>
                </a:solidFill>
                <a:latin typeface="Courier10 BT" pitchFamily="49" charset="0"/>
              </a:rPr>
              <a:t>s4</a:t>
            </a:r>
            <a:r>
              <a:rPr lang="en-US" sz="1400" dirty="0">
                <a:solidFill>
                  <a:schemeClr val="tx1"/>
                </a:solidFill>
                <a:latin typeface="Courier10 BT" pitchFamily="49" charset="0"/>
              </a:rPr>
              <a:t> = new </a:t>
            </a:r>
            <a:r>
              <a:rPr lang="en-US" sz="1400" b="1" dirty="0">
                <a:solidFill>
                  <a:srgbClr val="92D050"/>
                </a:solidFill>
                <a:latin typeface="Courier10 BT" pitchFamily="49" charset="0"/>
              </a:rPr>
              <a:t>String(</a:t>
            </a:r>
            <a:r>
              <a:rPr lang="en-US" sz="1400" dirty="0" err="1">
                <a:solidFill>
                  <a:schemeClr val="tx1"/>
                </a:solidFill>
                <a:latin typeface="Courier10 BT" pitchFamily="49" charset="0"/>
              </a:rPr>
              <a:t>charArray</a:t>
            </a:r>
            <a:r>
              <a:rPr lang="en-US" sz="1400" b="1" dirty="0">
                <a:solidFill>
                  <a:srgbClr val="92D050"/>
                </a:solidFill>
                <a:latin typeface="Courier10 BT" pitchFamily="49" charset="0"/>
              </a:rPr>
              <a:t>);</a:t>
            </a:r>
          </a:p>
          <a:p>
            <a:pPr lvl="2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150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5" y="769246"/>
            <a:ext cx="2215759" cy="774808"/>
          </a:xfrm>
        </p:spPr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5" y="2449386"/>
            <a:ext cx="11155783" cy="383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dirty="0">
                <a:latin typeface="Courier10 BT" pitchFamily="49" charset="0"/>
              </a:rPr>
              <a:t>String</a:t>
            </a:r>
            <a:r>
              <a:rPr lang="en-US" dirty="0"/>
              <a:t> object </a:t>
            </a:r>
            <a:r>
              <a:rPr lang="en-US" dirty="0">
                <a:solidFill>
                  <a:srgbClr val="0070C0"/>
                </a:solidFill>
              </a:rPr>
              <a:t>cannot </a:t>
            </a:r>
            <a:r>
              <a:rPr lang="en-US" dirty="0">
                <a:solidFill>
                  <a:schemeClr val="tx1"/>
                </a:solidFill>
              </a:rPr>
              <a:t>be</a:t>
            </a:r>
            <a:r>
              <a:rPr lang="en-US" dirty="0">
                <a:solidFill>
                  <a:srgbClr val="0070C0"/>
                </a:solidFill>
              </a:rPr>
              <a:t> “edited”</a:t>
            </a:r>
            <a:r>
              <a:rPr lang="en-US" dirty="0"/>
              <a:t> -&gt; </a:t>
            </a:r>
            <a:r>
              <a:rPr lang="en-US" b="1" dirty="0">
                <a:solidFill>
                  <a:srgbClr val="FF0000"/>
                </a:solidFill>
              </a:rPr>
              <a:t>immutable</a:t>
            </a:r>
            <a:r>
              <a:rPr lang="en-US" dirty="0"/>
              <a:t>!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urier10 BT" pitchFamily="49" charset="0"/>
              </a:rPr>
              <a:t>String s1</a:t>
            </a:r>
            <a:r>
              <a:rPr lang="en-US" dirty="0">
                <a:solidFill>
                  <a:schemeClr val="tx1"/>
                </a:solidFill>
              </a:rPr>
              <a:t> = “A string”;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urier10 BT" pitchFamily="49" charset="0"/>
              </a:rPr>
              <a:t>String s2</a:t>
            </a:r>
            <a:r>
              <a:rPr lang="en-US" dirty="0">
                <a:solidFill>
                  <a:schemeClr val="tx1"/>
                </a:solidFill>
              </a:rPr>
              <a:t> = “A string”;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Modify </a:t>
            </a:r>
            <a:r>
              <a:rPr lang="en-US" dirty="0">
                <a:solidFill>
                  <a:schemeClr val="tx1"/>
                </a:solidFill>
                <a:latin typeface="Courier10 BT" pitchFamily="49" charset="0"/>
              </a:rPr>
              <a:t>s2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2">
              <a:buNone/>
            </a:pPr>
            <a:r>
              <a:rPr lang="en-US" sz="1700" dirty="0" err="1">
                <a:solidFill>
                  <a:schemeClr val="tx1"/>
                </a:solidFill>
                <a:latin typeface="Courier10 BT" pitchFamily="49" charset="0"/>
              </a:rPr>
              <a:t>s2</a:t>
            </a:r>
            <a:r>
              <a:rPr lang="en-US" sz="1700" dirty="0">
                <a:solidFill>
                  <a:schemeClr val="tx1"/>
                </a:solidFill>
                <a:latin typeface="Courier10 BT" pitchFamily="49" charset="0"/>
              </a:rPr>
              <a:t> = </a:t>
            </a:r>
            <a:r>
              <a:rPr lang="en-US" sz="1700" dirty="0" err="1">
                <a:solidFill>
                  <a:schemeClr val="tx1"/>
                </a:solidFill>
                <a:latin typeface="Courier10 BT" pitchFamily="49" charset="0"/>
              </a:rPr>
              <a:t>s2</a:t>
            </a:r>
            <a:r>
              <a:rPr lang="en-US" sz="1700" dirty="0">
                <a:solidFill>
                  <a:schemeClr val="tx1"/>
                </a:solidFill>
                <a:latin typeface="Courier10 BT" pitchFamily="49" charset="0"/>
              </a:rPr>
              <a:t> + " that has been modified";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Check whether </a:t>
            </a:r>
            <a:r>
              <a:rPr lang="en-US" dirty="0" err="1">
                <a:solidFill>
                  <a:schemeClr val="tx1"/>
                </a:solidFill>
                <a:latin typeface="Courier10 BT" pitchFamily="49" charset="0"/>
              </a:rPr>
              <a:t>s1</a:t>
            </a:r>
            <a:r>
              <a:rPr lang="en-US" dirty="0">
                <a:solidFill>
                  <a:schemeClr val="tx1"/>
                </a:solidFill>
              </a:rPr>
              <a:t> has changed:</a:t>
            </a:r>
          </a:p>
          <a:p>
            <a:pPr lvl="2">
              <a:buNone/>
            </a:pPr>
            <a:r>
              <a:rPr lang="en-US" sz="1700" dirty="0" err="1">
                <a:solidFill>
                  <a:schemeClr val="tx1"/>
                </a:solidFill>
                <a:latin typeface="Courier10 BT" pitchFamily="49" charset="0"/>
              </a:rPr>
              <a:t>System.out.println</a:t>
            </a:r>
            <a:r>
              <a:rPr lang="en-US" sz="1700" dirty="0">
                <a:solidFill>
                  <a:schemeClr val="tx1"/>
                </a:solidFill>
                <a:latin typeface="Courier10 BT" pitchFamily="49" charset="0"/>
              </a:rPr>
              <a:t>(</a:t>
            </a:r>
            <a:r>
              <a:rPr lang="en-US" sz="1700" dirty="0" err="1">
                <a:solidFill>
                  <a:schemeClr val="tx1"/>
                </a:solidFill>
                <a:latin typeface="Courier10 BT" pitchFamily="49" charset="0"/>
              </a:rPr>
              <a:t>s1</a:t>
            </a:r>
            <a:r>
              <a:rPr lang="en-US" sz="1700" dirty="0">
                <a:solidFill>
                  <a:schemeClr val="tx1"/>
                </a:solidFill>
                <a:latin typeface="Courier10 BT" pitchFamily="49" charset="0"/>
              </a:rPr>
              <a:t>); // prints out "A string"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However, </a:t>
            </a:r>
            <a:r>
              <a:rPr lang="en-US" dirty="0">
                <a:solidFill>
                  <a:schemeClr val="tx1"/>
                </a:solidFill>
                <a:latin typeface="Courier10 BT" pitchFamily="49" charset="0"/>
              </a:rPr>
              <a:t>s2</a:t>
            </a:r>
            <a:r>
              <a:rPr lang="en-US" dirty="0">
                <a:solidFill>
                  <a:schemeClr val="tx1"/>
                </a:solidFill>
              </a:rPr>
              <a:t> is now assigned to a new object :</a:t>
            </a:r>
          </a:p>
          <a:p>
            <a:pPr lvl="2"/>
            <a:r>
              <a:rPr lang="en-US" sz="1700" dirty="0" err="1">
                <a:solidFill>
                  <a:schemeClr val="tx1"/>
                </a:solidFill>
                <a:latin typeface="Courier10 BT" pitchFamily="49" charset="0"/>
              </a:rPr>
              <a:t>System.out.println</a:t>
            </a:r>
            <a:r>
              <a:rPr lang="en-US" sz="1700" dirty="0">
                <a:solidFill>
                  <a:schemeClr val="tx1"/>
                </a:solidFill>
                <a:latin typeface="Courier10 BT" pitchFamily="49" charset="0"/>
              </a:rPr>
              <a:t>(s2); // prints out "A string that has been modified"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4576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53203"/>
            <a:ext cx="7333190" cy="742724"/>
          </a:xfrm>
        </p:spPr>
        <p:txBody>
          <a:bodyPr/>
          <a:lstStyle/>
          <a:p>
            <a:r>
              <a:rPr lang="en-US" dirty="0"/>
              <a:t>Some Methods in Class </a:t>
            </a:r>
            <a:r>
              <a:rPr lang="en-US" dirty="0">
                <a:latin typeface="Courier10 BT" pitchFamily="49" charset="0"/>
              </a:rPr>
              <a:t>String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222" y="2049982"/>
            <a:ext cx="6479521" cy="436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24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7161"/>
            <a:ext cx="4265137" cy="698608"/>
          </a:xfrm>
        </p:spPr>
        <p:txBody>
          <a:bodyPr/>
          <a:lstStyle/>
          <a:p>
            <a:r>
              <a:rPr lang="en-US" dirty="0"/>
              <a:t>Length of a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221971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sz="2000" dirty="0">
                <a:latin typeface="Courier10 BT" pitchFamily="49" charset="0"/>
              </a:rPr>
              <a:t>length</a:t>
            </a:r>
            <a:r>
              <a:rPr lang="en-US" dirty="0"/>
              <a:t> </a:t>
            </a:r>
            <a:r>
              <a:rPr lang="en-US" i="1" dirty="0"/>
              <a:t>method</a:t>
            </a:r>
            <a:r>
              <a:rPr lang="en-US" dirty="0"/>
              <a:t> print out the length of a string. </a:t>
            </a:r>
          </a:p>
          <a:p>
            <a:r>
              <a:rPr lang="en-US" dirty="0"/>
              <a:t>This is different from the </a:t>
            </a:r>
            <a:r>
              <a:rPr lang="en-US" i="1" dirty="0"/>
              <a:t>field</a:t>
            </a:r>
            <a:r>
              <a:rPr lang="en-US" dirty="0"/>
              <a:t> </a:t>
            </a:r>
            <a:r>
              <a:rPr lang="en-US" sz="2000" dirty="0">
                <a:latin typeface="Courier10 BT" pitchFamily="49" charset="0"/>
              </a:rPr>
              <a:t>length</a:t>
            </a:r>
            <a:r>
              <a:rPr lang="en-US" dirty="0"/>
              <a:t> used to print out the length of an array. </a:t>
            </a:r>
          </a:p>
          <a:p>
            <a:r>
              <a:rPr lang="en-US" dirty="0"/>
              <a:t>For example, print the length of the string </a:t>
            </a:r>
            <a:r>
              <a:rPr lang="en-US" sz="2000" dirty="0">
                <a:latin typeface="Courier"/>
                <a:cs typeface="Courier"/>
              </a:rPr>
              <a:t>city</a:t>
            </a:r>
            <a:r>
              <a:rPr lang="en-US" dirty="0"/>
              <a:t>:</a:t>
            </a:r>
          </a:p>
          <a:p>
            <a:pPr lvl="1">
              <a:buNone/>
            </a:pPr>
            <a:r>
              <a:rPr lang="en-US" sz="1800" dirty="0">
                <a:latin typeface="Courier10 BT" pitchFamily="49" charset="0"/>
              </a:rPr>
              <a:t>String city = "New York";</a:t>
            </a:r>
          </a:p>
          <a:p>
            <a:pPr lvl="1">
              <a:buNone/>
            </a:pPr>
            <a:r>
              <a:rPr lang="en-US" sz="1800" dirty="0" err="1">
                <a:latin typeface="Courier10 BT" pitchFamily="49" charset="0"/>
              </a:rPr>
              <a:t>System.out.println</a:t>
            </a:r>
            <a:r>
              <a:rPr lang="en-US" sz="1800" dirty="0">
                <a:latin typeface="Courier10 BT" pitchFamily="49" charset="0"/>
              </a:rPr>
              <a:t>(</a:t>
            </a:r>
            <a:r>
              <a:rPr lang="en-US" sz="1800" dirty="0" err="1">
                <a:latin typeface="Courier10 BT" pitchFamily="49" charset="0"/>
              </a:rPr>
              <a:t>city.length</a:t>
            </a:r>
            <a:r>
              <a:rPr lang="en-US" sz="1800" dirty="0">
                <a:latin typeface="Courier10 BT" pitchFamily="49" charset="0"/>
              </a:rPr>
              <a:t>()); // prints out 8			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420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13452"/>
            <a:ext cx="4437589" cy="786485"/>
          </a:xfrm>
        </p:spPr>
        <p:txBody>
          <a:bodyPr/>
          <a:lstStyle/>
          <a:p>
            <a:r>
              <a:rPr lang="en-US" dirty="0"/>
              <a:t>Comparing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sz="1900" dirty="0">
                <a:latin typeface="Courier10 BT" pitchFamily="49" charset="0"/>
              </a:rPr>
              <a:t>equals</a:t>
            </a:r>
            <a:r>
              <a:rPr lang="en-US" dirty="0"/>
              <a:t> </a:t>
            </a:r>
            <a:r>
              <a:rPr lang="en-US" i="1" dirty="0"/>
              <a:t>method</a:t>
            </a:r>
            <a:r>
              <a:rPr lang="en-US" dirty="0"/>
              <a:t> to determine if two strings are identical. </a:t>
            </a:r>
          </a:p>
          <a:p>
            <a:r>
              <a:rPr lang="en-US" dirty="0"/>
              <a:t>The equals </a:t>
            </a:r>
            <a:r>
              <a:rPr lang="en-US" i="1" dirty="0"/>
              <a:t>sign</a:t>
            </a:r>
            <a:r>
              <a:rPr lang="en-US" dirty="0"/>
              <a:t> should not be used to compare strings. 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Two strings </a:t>
            </a:r>
            <a:r>
              <a:rPr lang="en-US" sz="1900" dirty="0" err="1">
                <a:latin typeface="Courier10 BT" pitchFamily="49" charset="0"/>
              </a:rPr>
              <a:t>str1</a:t>
            </a:r>
            <a:r>
              <a:rPr lang="en-US" dirty="0"/>
              <a:t> and </a:t>
            </a:r>
            <a:r>
              <a:rPr lang="en-US" sz="1900" dirty="0" err="1">
                <a:latin typeface="Courier10 BT" pitchFamily="49" charset="0"/>
              </a:rPr>
              <a:t>str2</a:t>
            </a:r>
            <a:r>
              <a:rPr lang="en-US" sz="1900" dirty="0">
                <a:latin typeface="Courier10 BT" pitchFamily="49" charset="0"/>
              </a:rPr>
              <a:t> </a:t>
            </a:r>
          </a:p>
          <a:p>
            <a:pPr lvl="2">
              <a:buNone/>
            </a:pPr>
            <a:r>
              <a:rPr lang="en-US" dirty="0"/>
              <a:t>The </a:t>
            </a:r>
            <a:r>
              <a:rPr lang="en-US" sz="1900" dirty="0">
                <a:latin typeface="Courier10 BT" pitchFamily="49" charset="0"/>
              </a:rPr>
              <a:t>equals</a:t>
            </a:r>
            <a:r>
              <a:rPr lang="en-US" dirty="0"/>
              <a:t> </a:t>
            </a:r>
            <a:r>
              <a:rPr lang="en-US" dirty="0" err="1"/>
              <a:t>method</a:t>
            </a:r>
            <a:r>
              <a:rPr lang="en-US" sz="1700" dirty="0" err="1">
                <a:latin typeface="Courier10 BT" pitchFamily="49" charset="0"/>
              </a:rPr>
              <a:t>String</a:t>
            </a:r>
            <a:r>
              <a:rPr lang="en-US" sz="1700" dirty="0">
                <a:latin typeface="Courier10 BT" pitchFamily="49" charset="0"/>
              </a:rPr>
              <a:t> str1 = new String("How now brown cow?");</a:t>
            </a:r>
          </a:p>
          <a:p>
            <a:pPr lvl="2">
              <a:buNone/>
            </a:pPr>
            <a:r>
              <a:rPr lang="en-US" sz="1700" dirty="0">
                <a:latin typeface="Courier10 BT" pitchFamily="49" charset="0"/>
              </a:rPr>
              <a:t>String str2 = new String("How now brown cow?");</a:t>
            </a:r>
          </a:p>
          <a:p>
            <a:pPr lvl="1"/>
            <a:r>
              <a:rPr lang="en-US" dirty="0"/>
              <a:t>Since the string </a:t>
            </a:r>
            <a:r>
              <a:rPr lang="en-US" b="1" dirty="0">
                <a:solidFill>
                  <a:srgbClr val="00B0F0"/>
                </a:solidFill>
              </a:rPr>
              <a:t>literals</a:t>
            </a:r>
            <a:r>
              <a:rPr lang="en-US" dirty="0"/>
              <a:t> are identical, the </a:t>
            </a:r>
            <a:r>
              <a:rPr lang="en-US" sz="1900" dirty="0">
                <a:latin typeface="Courier10 BT" pitchFamily="49" charset="0"/>
              </a:rPr>
              <a:t>equals</a:t>
            </a:r>
            <a:r>
              <a:rPr lang="en-US" dirty="0"/>
              <a:t> method returns </a:t>
            </a:r>
            <a:r>
              <a:rPr lang="en-US" dirty="0">
                <a:latin typeface="Courier10 BT" pitchFamily="49" charset="0"/>
              </a:rPr>
              <a:t>true</a:t>
            </a:r>
            <a:r>
              <a:rPr lang="en-US" dirty="0"/>
              <a:t>:</a:t>
            </a:r>
          </a:p>
          <a:p>
            <a:pPr lvl="2">
              <a:buNone/>
            </a:pPr>
            <a:r>
              <a:rPr lang="en-US" sz="1700" dirty="0">
                <a:latin typeface="Courier10 BT" pitchFamily="49" charset="0"/>
              </a:rPr>
              <a:t>str1.equals(str2); 	// returns true</a:t>
            </a:r>
          </a:p>
          <a:p>
            <a:pPr lvl="1"/>
            <a:r>
              <a:rPr lang="en-US" dirty="0"/>
              <a:t>Using equals sign returns </a:t>
            </a:r>
            <a:r>
              <a:rPr lang="en-US" sz="1900" dirty="0">
                <a:latin typeface="Courier10 BT" pitchFamily="49" charset="0"/>
              </a:rPr>
              <a:t>false</a:t>
            </a:r>
            <a:r>
              <a:rPr lang="en-US" dirty="0"/>
              <a:t>:</a:t>
            </a:r>
          </a:p>
          <a:p>
            <a:pPr lvl="2">
              <a:buNone/>
            </a:pPr>
            <a:r>
              <a:rPr lang="en-US" sz="1700" dirty="0">
                <a:latin typeface="Courier10 BT" pitchFamily="49" charset="0"/>
              </a:rPr>
              <a:t>str1 </a:t>
            </a:r>
            <a:r>
              <a:rPr lang="en-US" sz="1700">
                <a:latin typeface="Courier10 BT" pitchFamily="49" charset="0"/>
              </a:rPr>
              <a:t>== str2</a:t>
            </a:r>
            <a:r>
              <a:rPr lang="en-US" sz="1700" dirty="0">
                <a:latin typeface="Courier10 BT" pitchFamily="49" charset="0"/>
              </a:rPr>
              <a:t>		// condition is false</a:t>
            </a:r>
          </a:p>
          <a:p>
            <a:r>
              <a:rPr lang="en-US" dirty="0"/>
              <a:t> will return false if the argument passed to it is not of type </a:t>
            </a:r>
            <a:r>
              <a:rPr lang="en-US" sz="1900" dirty="0">
                <a:latin typeface="Courier10 BT" pitchFamily="49" charset="0"/>
              </a:rPr>
              <a:t>String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139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202"/>
            <a:ext cx="6126021" cy="686577"/>
          </a:xfrm>
        </p:spPr>
        <p:txBody>
          <a:bodyPr>
            <a:normAutofit/>
          </a:bodyPr>
          <a:lstStyle/>
          <a:p>
            <a:r>
              <a:rPr lang="en-US" dirty="0"/>
              <a:t>Methods Retrieve an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sz="2000" dirty="0" err="1">
                <a:latin typeface="Courier10 BT" pitchFamily="49" charset="0"/>
              </a:rPr>
              <a:t>charAt</a:t>
            </a:r>
            <a:r>
              <a:rPr lang="en-US" dirty="0"/>
              <a:t> method to find out which character occurs at a particular index in a string: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Finding the index of the specified character in a string: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52759" y="3174776"/>
            <a:ext cx="7438604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city = "New York";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char ch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city.charAt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(2); // ch is assigned the value ‘w</a:t>
            </a:r>
            <a:r>
              <a:rPr lang="en-US" sz="1600" dirty="0">
                <a:solidFill>
                  <a:srgbClr val="000000"/>
                </a:solidFill>
                <a:latin typeface="Courier10 BT" pitchFamily="49" charset="0"/>
              </a:rPr>
              <a:t>’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81687" y="4914957"/>
            <a:ext cx="7526942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ocean = "Atlantic Ocean";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index1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ocean.indexOf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('a');       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index1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3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index2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ocean.lastIndexOf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('a');   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index2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12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index3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ocean.indexOf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('a', 4);    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index3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12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index4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ocean.lastIndexOf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('a', 0);// index4 = -1</a:t>
            </a:r>
          </a:p>
        </p:txBody>
      </p:sp>
    </p:spTree>
    <p:extLst>
      <p:ext uri="{BB962C8B-B14F-4D97-AF65-F5344CB8AC3E}">
        <p14:creationId xmlns:p14="http://schemas.microsoft.com/office/powerpoint/2010/main" val="3223453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213"/>
            <a:ext cx="5654447" cy="698376"/>
          </a:xfrm>
        </p:spPr>
        <p:txBody>
          <a:bodyPr>
            <a:normAutofit/>
          </a:bodyPr>
          <a:lstStyle/>
          <a:p>
            <a:r>
              <a:rPr lang="en-US" dirty="0"/>
              <a:t>Methods For Substrings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97345" y="4648266"/>
            <a:ext cx="6988822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city = "San Francisco";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city.startsWith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("San F");  		// returns true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city.startsWith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("Francisco");		// returns false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city.endsWith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sco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");			// returns true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city.endsWith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esco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");			// returns false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city.startsWith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("San Francisco");	// returns true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city.endsWith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("San Francisco"); 	// returns true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958" y="2094251"/>
            <a:ext cx="5690494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78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202"/>
            <a:ext cx="2259873" cy="730693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returned by </a:t>
            </a:r>
            <a:r>
              <a:rPr lang="en-US" i="1" dirty="0">
                <a:solidFill>
                  <a:schemeClr val="tx1"/>
                </a:solidFill>
              </a:rPr>
              <a:t>each</a:t>
            </a:r>
            <a:r>
              <a:rPr lang="en-US" dirty="0">
                <a:solidFill>
                  <a:schemeClr val="tx1"/>
                </a:solidFill>
              </a:rPr>
              <a:t> call to method </a:t>
            </a:r>
            <a:r>
              <a:rPr lang="en-US" sz="2000" dirty="0">
                <a:solidFill>
                  <a:schemeClr val="tx1"/>
                </a:solidFill>
                <a:latin typeface="Courier10 BT" pitchFamily="49" charset="0"/>
              </a:rPr>
              <a:t>substring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95044" y="2996085"/>
            <a:ext cx="5779062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word = "meteorological";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word.substring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(7));	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word.substring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(0, 6));	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word.substring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(5, 0));	</a:t>
            </a:r>
          </a:p>
        </p:txBody>
      </p:sp>
    </p:spTree>
    <p:extLst>
      <p:ext uri="{BB962C8B-B14F-4D97-AF65-F5344CB8AC3E}">
        <p14:creationId xmlns:p14="http://schemas.microsoft.com/office/powerpoint/2010/main" val="1824495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57214"/>
            <a:ext cx="2271906" cy="818924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204" y="3082013"/>
            <a:ext cx="7854248" cy="130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75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9" y="741171"/>
            <a:ext cx="7084536" cy="770797"/>
          </a:xfrm>
        </p:spPr>
        <p:txBody>
          <a:bodyPr/>
          <a:lstStyle/>
          <a:p>
            <a:r>
              <a:rPr lang="en-US" dirty="0"/>
              <a:t>More Methods in Class </a:t>
            </a:r>
            <a:r>
              <a:rPr lang="en-US" dirty="0">
                <a:latin typeface="Courier10 BT" pitchFamily="49" charset="0"/>
              </a:rPr>
              <a:t>String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477" y="2189570"/>
            <a:ext cx="6891133" cy="370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68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6565"/>
            <a:ext cx="5616684" cy="673161"/>
          </a:xfrm>
        </p:spPr>
        <p:txBody>
          <a:bodyPr/>
          <a:lstStyle/>
          <a:p>
            <a:r>
              <a:rPr lang="en-US" dirty="0"/>
              <a:t>Concatenation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Concatenation</a:t>
            </a:r>
            <a:r>
              <a:rPr lang="en-US" dirty="0"/>
              <a:t> </a:t>
            </a:r>
            <a:r>
              <a:rPr lang="en-US" b="1" dirty="0"/>
              <a:t>operator (</a:t>
            </a:r>
            <a:r>
              <a:rPr lang="en-US" b="1" dirty="0">
                <a:latin typeface="Courier10 BT" pitchFamily="49" charset="0"/>
              </a:rPr>
              <a:t>+</a:t>
            </a:r>
            <a:r>
              <a:rPr lang="en-US" b="1" dirty="0"/>
              <a:t>) </a:t>
            </a:r>
            <a:r>
              <a:rPr lang="en-US" dirty="0"/>
              <a:t>combines multiple strings: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Use </a:t>
            </a:r>
            <a:r>
              <a:rPr lang="en-US" dirty="0">
                <a:latin typeface="Courier10 BT" pitchFamily="49" charset="0"/>
              </a:rPr>
              <a:t>+</a:t>
            </a:r>
            <a:r>
              <a:rPr lang="en-US" dirty="0"/>
              <a:t> when a string does not fit on a single line: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52957" y="3566726"/>
            <a:ext cx="7283507" cy="107721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firstName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"Joan";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lastName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"Wright";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fullName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firstName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+ " " +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lastName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fullName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 // prints out: Joan Wright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8450" y="5427731"/>
            <a:ext cx="7328014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fearOfLongWords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Hippopotomonst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 + 		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rosesquipedaliophobia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";</a:t>
            </a:r>
          </a:p>
        </p:txBody>
      </p:sp>
    </p:spTree>
    <p:extLst>
      <p:ext uri="{BB962C8B-B14F-4D97-AF65-F5344CB8AC3E}">
        <p14:creationId xmlns:p14="http://schemas.microsoft.com/office/powerpoint/2010/main" val="774009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224"/>
            <a:ext cx="5191568" cy="690588"/>
          </a:xfrm>
        </p:spPr>
        <p:txBody>
          <a:bodyPr/>
          <a:lstStyle/>
          <a:p>
            <a:r>
              <a:rPr lang="en-US" dirty="0"/>
              <a:t>Concatenating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method </a:t>
            </a:r>
            <a:r>
              <a:rPr lang="en-US" sz="2000" dirty="0" err="1">
                <a:latin typeface="Courier10 BT" pitchFamily="49" charset="0"/>
              </a:rPr>
              <a:t>concat</a:t>
            </a:r>
            <a:r>
              <a:rPr lang="en-US" dirty="0"/>
              <a:t> to combine strings.</a:t>
            </a:r>
          </a:p>
          <a:p>
            <a:r>
              <a:rPr lang="en-US" dirty="0"/>
              <a:t>Examples:</a:t>
            </a:r>
          </a:p>
          <a:p>
            <a:pPr lvl="1">
              <a:buNone/>
            </a:pPr>
            <a:endParaRPr lang="en-US" sz="1800" dirty="0">
              <a:latin typeface="Courier10 BT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28205" y="3460695"/>
            <a:ext cx="8067760" cy="156966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"Par";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s1.concat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("is");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 // prints out “Paris”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 is the capital of France.";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s2.concat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// prints “Paris is the capital of France”</a:t>
            </a:r>
          </a:p>
        </p:txBody>
      </p:sp>
    </p:spTree>
    <p:extLst>
      <p:ext uri="{BB962C8B-B14F-4D97-AF65-F5344CB8AC3E}">
        <p14:creationId xmlns:p14="http://schemas.microsoft.com/office/powerpoint/2010/main" val="1260006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523"/>
            <a:ext cx="7461526" cy="670193"/>
          </a:xfrm>
        </p:spPr>
        <p:txBody>
          <a:bodyPr/>
          <a:lstStyle/>
          <a:p>
            <a:r>
              <a:rPr lang="en-US" dirty="0"/>
              <a:t>Replacing/Removing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sz="2000" dirty="0">
                <a:latin typeface="Courier10 BT" pitchFamily="49" charset="0"/>
              </a:rPr>
              <a:t>replace</a:t>
            </a:r>
            <a:r>
              <a:rPr lang="en-US" dirty="0"/>
              <a:t> and </a:t>
            </a:r>
            <a:r>
              <a:rPr lang="en-US" sz="2000" dirty="0">
                <a:latin typeface="Courier10 BT" pitchFamily="49" charset="0"/>
              </a:rPr>
              <a:t>trim</a:t>
            </a:r>
            <a:r>
              <a:rPr lang="en-US" dirty="0"/>
              <a:t> methods substitute and remove particular characters, from the string. </a:t>
            </a:r>
          </a:p>
          <a:p>
            <a:r>
              <a:rPr lang="en-US" dirty="0"/>
              <a:t>Example:</a:t>
            </a:r>
          </a:p>
          <a:p>
            <a:pPr>
              <a:buNone/>
            </a:pPr>
            <a:endParaRPr lang="en-US" sz="2000" dirty="0">
              <a:latin typeface="Courier10 BT" pitchFamily="49" charset="0"/>
            </a:endParaRPr>
          </a:p>
          <a:p>
            <a:pPr lvl="1"/>
            <a:endParaRPr lang="en-US" sz="1800" dirty="0">
              <a:latin typeface="Courier10 BT" pitchFamily="49" charset="0"/>
            </a:endParaRPr>
          </a:p>
          <a:p>
            <a:pPr lvl="1"/>
            <a:r>
              <a:rPr lang="en-US" sz="1800" dirty="0" err="1">
                <a:latin typeface="Courier10 BT" pitchFamily="49" charset="0"/>
              </a:rPr>
              <a:t>word1</a:t>
            </a:r>
            <a:r>
              <a:rPr lang="en-US" dirty="0"/>
              <a:t> references the new string “</a:t>
            </a:r>
            <a:r>
              <a:rPr lang="en-US" dirty="0" err="1"/>
              <a:t>binyin</a:t>
            </a:r>
            <a:r>
              <a:rPr lang="en-US" dirty="0"/>
              <a:t>”, and </a:t>
            </a:r>
            <a:r>
              <a:rPr lang="en-US" sz="1800" dirty="0" err="1">
                <a:latin typeface="Courier10 BT" pitchFamily="49" charset="0"/>
              </a:rPr>
              <a:t>word2</a:t>
            </a:r>
            <a:r>
              <a:rPr lang="en-US" dirty="0"/>
              <a:t> references “pinyin”. </a:t>
            </a:r>
          </a:p>
          <a:p>
            <a:r>
              <a:rPr lang="en-US" dirty="0"/>
              <a:t>Use method </a:t>
            </a:r>
            <a:r>
              <a:rPr lang="en-US" sz="2000" dirty="0">
                <a:latin typeface="Courier10 BT" pitchFamily="49" charset="0"/>
              </a:rPr>
              <a:t>trim </a:t>
            </a:r>
            <a:r>
              <a:rPr lang="en-US" dirty="0"/>
              <a:t>to remove spaces at the beginning and the end of a string :</a:t>
            </a:r>
          </a:p>
          <a:p>
            <a:pPr lvl="1">
              <a:buNone/>
            </a:pPr>
            <a:r>
              <a:rPr lang="en-US" sz="1800" dirty="0">
                <a:latin typeface="Courier10 BT" pitchFamily="49" charset="0"/>
              </a:rPr>
              <a:t>String pie = " apple pie  ".trim();	</a:t>
            </a:r>
            <a:r>
              <a:rPr lang="en-US" dirty="0"/>
              <a:t> 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09933" y="3478227"/>
            <a:ext cx="6555448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word1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banyan".replace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('a', 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');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word2 = "word1.replace('b', 'p');</a:t>
            </a:r>
          </a:p>
        </p:txBody>
      </p:sp>
    </p:spTree>
    <p:extLst>
      <p:ext uri="{BB962C8B-B14F-4D97-AF65-F5344CB8AC3E}">
        <p14:creationId xmlns:p14="http://schemas.microsoft.com/office/powerpoint/2010/main" val="3751889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224"/>
            <a:ext cx="8913337" cy="650482"/>
          </a:xfrm>
        </p:spPr>
        <p:txBody>
          <a:bodyPr/>
          <a:lstStyle/>
          <a:p>
            <a:r>
              <a:rPr lang="en-US" dirty="0"/>
              <a:t>Converting to Uppercase or Lowercase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methods </a:t>
            </a:r>
            <a:r>
              <a:rPr lang="en-US" sz="2000" dirty="0" err="1">
                <a:latin typeface="Courier10 BT" pitchFamily="49" charset="0"/>
              </a:rPr>
              <a:t>toLowerCase</a:t>
            </a:r>
            <a:r>
              <a:rPr lang="en-US" dirty="0"/>
              <a:t> and </a:t>
            </a:r>
            <a:r>
              <a:rPr lang="en-US" sz="2000" dirty="0" err="1">
                <a:latin typeface="Courier10 BT" pitchFamily="49" charset="0"/>
              </a:rPr>
              <a:t>toUpperCase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1851" y="3052047"/>
            <a:ext cx="8841897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frieNd".toLowerCase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();	// returns the string "friend"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frieNd".toUpperCase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();   // returns the string "FRIEND"</a:t>
            </a:r>
          </a:p>
        </p:txBody>
      </p:sp>
    </p:spTree>
    <p:extLst>
      <p:ext uri="{BB962C8B-B14F-4D97-AF65-F5344CB8AC3E}">
        <p14:creationId xmlns:p14="http://schemas.microsoft.com/office/powerpoint/2010/main" val="1000895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String.format</a:t>
            </a:r>
            <a:br>
              <a:rPr lang="en-US" dirty="0"/>
            </a:br>
            <a:r>
              <a:rPr lang="en-US" sz="3600" dirty="0"/>
              <a:t>(for the friends of </a:t>
            </a:r>
            <a:r>
              <a:rPr lang="en-US" sz="3600" dirty="0" err="1"/>
              <a:t>printf</a:t>
            </a:r>
            <a:r>
              <a:rPr lang="en-US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49177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6876"/>
            <a:ext cx="3968358" cy="688921"/>
          </a:xfrm>
        </p:spPr>
        <p:txBody>
          <a:bodyPr/>
          <a:lstStyle/>
          <a:p>
            <a:r>
              <a:rPr lang="en-US" dirty="0" err="1">
                <a:latin typeface="Courier10 BT" pitchFamily="49" charset="0"/>
              </a:rPr>
              <a:t>String.format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static method in the </a:t>
            </a:r>
            <a:r>
              <a:rPr lang="en-US" sz="1800" dirty="0">
                <a:latin typeface="Courier10 BT" pitchFamily="49" charset="0"/>
              </a:rPr>
              <a:t>String</a:t>
            </a:r>
            <a:r>
              <a:rPr lang="en-US" dirty="0"/>
              <a:t> class used for formatting data.</a:t>
            </a:r>
          </a:p>
          <a:p>
            <a:r>
              <a:rPr lang="en-US" dirty="0"/>
              <a:t>It can have any number of arguments, but the first argument is always a </a:t>
            </a:r>
            <a:r>
              <a:rPr lang="en-US" b="1" dirty="0"/>
              <a:t>format string</a:t>
            </a:r>
            <a:r>
              <a:rPr lang="en-US" dirty="0"/>
              <a:t> containing </a:t>
            </a:r>
            <a:r>
              <a:rPr lang="en-US" b="1" dirty="0"/>
              <a:t>format specifiers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format specifier </a:t>
            </a:r>
            <a:r>
              <a:rPr lang="en-US" dirty="0">
                <a:latin typeface="Courier10 BT" pitchFamily="49" charset="0"/>
              </a:rPr>
              <a:t>%f </a:t>
            </a:r>
            <a:r>
              <a:rPr lang="en-US" dirty="0"/>
              <a:t>acts as a placeholder in the format string for the second argument </a:t>
            </a:r>
            <a:r>
              <a:rPr lang="en-US" dirty="0">
                <a:latin typeface="Courier10 BT" pitchFamily="49" charset="0"/>
              </a:rPr>
              <a:t>val1</a:t>
            </a:r>
            <a:r>
              <a:rPr lang="en-US" dirty="0"/>
              <a:t>. </a:t>
            </a:r>
          </a:p>
          <a:p>
            <a:r>
              <a:rPr lang="en-US" dirty="0"/>
              <a:t>When the program is run, the value of </a:t>
            </a:r>
            <a:r>
              <a:rPr lang="en-US" sz="1900" dirty="0">
                <a:latin typeface="Courier10 BT" pitchFamily="49" charset="0"/>
              </a:rPr>
              <a:t>val1</a:t>
            </a:r>
            <a:r>
              <a:rPr lang="en-US" dirty="0"/>
              <a:t> will be substituted in the place of </a:t>
            </a:r>
            <a:r>
              <a:rPr lang="en-US" sz="1900" dirty="0">
                <a:latin typeface="Courier10 BT" pitchFamily="49" charset="0"/>
              </a:rPr>
              <a:t>%f</a:t>
            </a:r>
            <a:r>
              <a:rPr lang="en-US" dirty="0"/>
              <a:t>.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27" name="AutoShape 3"/>
          <p:cNvSpPr>
            <a:spLocks/>
          </p:cNvSpPr>
          <p:nvPr/>
        </p:nvSpPr>
        <p:spPr bwMode="auto">
          <a:xfrm rot="5400000">
            <a:off x="5562600" y="3678502"/>
            <a:ext cx="152400" cy="1371600"/>
          </a:xfrm>
          <a:prstGeom prst="rightBrace">
            <a:avLst>
              <a:gd name="adj1" fmla="val 7627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5181600" y="4440503"/>
            <a:ext cx="16002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format string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2819400" y="3907103"/>
            <a:ext cx="54102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String s =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String.format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("Value is =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%f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",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val1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);</a:t>
            </a: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410200" y="3526103"/>
            <a:ext cx="1676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format specifier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31" name="Arc 7"/>
          <p:cNvSpPr>
            <a:spLocks/>
          </p:cNvSpPr>
          <p:nvPr/>
        </p:nvSpPr>
        <p:spPr bwMode="auto">
          <a:xfrm flipH="1">
            <a:off x="5943601" y="3830902"/>
            <a:ext cx="90805" cy="15748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8450"/>
              <a:gd name="T2" fmla="*/ 20485 w 21600"/>
              <a:gd name="T3" fmla="*/ 28450 h 28450"/>
              <a:gd name="T4" fmla="*/ 0 w 21600"/>
              <a:gd name="T5" fmla="*/ 21600 h 28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845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3928"/>
                  <a:pt x="21223" y="26241"/>
                  <a:pt x="20485" y="28450"/>
                </a:cubicBezTo>
              </a:path>
              <a:path w="21600" h="2845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3928"/>
                  <a:pt x="21223" y="26241"/>
                  <a:pt x="20485" y="2845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272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203"/>
            <a:ext cx="4429568" cy="891114"/>
          </a:xfrm>
        </p:spPr>
        <p:txBody>
          <a:bodyPr/>
          <a:lstStyle/>
          <a:p>
            <a:r>
              <a:rPr lang="en-US" dirty="0"/>
              <a:t>Format </a:t>
            </a:r>
            <a:r>
              <a:rPr lang="en-US" dirty="0" err="1"/>
              <a:t>Specifiers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format specifier </a:t>
            </a:r>
            <a:r>
              <a:rPr lang="en-US" dirty="0"/>
              <a:t>starts with the symbol % and is followed by a </a:t>
            </a:r>
            <a:r>
              <a:rPr lang="en-US" b="1" dirty="0"/>
              <a:t>conversion character</a:t>
            </a:r>
            <a:r>
              <a:rPr lang="en-US" dirty="0"/>
              <a:t> such as:</a:t>
            </a:r>
          </a:p>
          <a:p>
            <a:pPr lvl="1"/>
            <a:endParaRPr lang="en-US" dirty="0">
              <a:latin typeface="Courier10 BT" pitchFamily="49" charset="0"/>
            </a:endParaRPr>
          </a:p>
          <a:p>
            <a:pPr lvl="1"/>
            <a:r>
              <a:rPr lang="en-US" dirty="0">
                <a:latin typeface="Courier10 BT" pitchFamily="49" charset="0"/>
              </a:rPr>
              <a:t>d</a:t>
            </a:r>
            <a:r>
              <a:rPr lang="en-US" dirty="0"/>
              <a:t> (for decimal numbers),</a:t>
            </a:r>
          </a:p>
          <a:p>
            <a:pPr lvl="1"/>
            <a:r>
              <a:rPr lang="en-US" dirty="0">
                <a:latin typeface="Courier10 BT" pitchFamily="49" charset="0"/>
              </a:rPr>
              <a:t>f</a:t>
            </a:r>
            <a:r>
              <a:rPr lang="en-US" dirty="0"/>
              <a:t> (for floating-point numbers) </a:t>
            </a:r>
          </a:p>
          <a:p>
            <a:pPr lvl="1"/>
            <a:r>
              <a:rPr lang="en-US" dirty="0">
                <a:latin typeface="Courier10 BT" pitchFamily="49" charset="0"/>
              </a:rPr>
              <a:t>c</a:t>
            </a:r>
            <a:r>
              <a:rPr lang="en-US" dirty="0"/>
              <a:t> (for character data)</a:t>
            </a:r>
          </a:p>
          <a:p>
            <a:pPr lvl="1"/>
            <a:r>
              <a:rPr lang="en-US" dirty="0">
                <a:latin typeface="Courier10 BT" pitchFamily="49" charset="0"/>
              </a:rPr>
              <a:t>s</a:t>
            </a:r>
            <a:r>
              <a:rPr lang="en-US" dirty="0"/>
              <a:t> (for strings)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68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13452"/>
            <a:ext cx="6759684" cy="758411"/>
          </a:xfrm>
        </p:spPr>
        <p:txBody>
          <a:bodyPr/>
          <a:lstStyle/>
          <a:p>
            <a:r>
              <a:rPr lang="en-US" dirty="0"/>
              <a:t>Examples of </a:t>
            </a:r>
            <a:r>
              <a:rPr lang="en-US" dirty="0" err="1">
                <a:latin typeface="Courier10 BT" pitchFamily="49" charset="0"/>
              </a:rPr>
              <a:t>String.format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Given: </a:t>
            </a:r>
            <a:r>
              <a:rPr lang="en-US" sz="1800" dirty="0">
                <a:latin typeface="Courier10 BT" pitchFamily="49" charset="0"/>
              </a:rPr>
              <a:t>double val1 = 10.5678; int val2 = 15;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17693" y="3007580"/>
            <a:ext cx="8169585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("Val 1 =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%f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Val 2 =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%d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The output is: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 1 = 10.567800, Val 2 = 15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936516" y="4269032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Or use: System.</a:t>
            </a:r>
            <a: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out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.format(…)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61724" y="5467679"/>
            <a:ext cx="6324600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val1=3436.45f;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("Value is = %10.1f", val1);</a:t>
            </a:r>
          </a:p>
        </p:txBody>
      </p:sp>
    </p:spTree>
    <p:extLst>
      <p:ext uri="{BB962C8B-B14F-4D97-AF65-F5344CB8AC3E}">
        <p14:creationId xmlns:p14="http://schemas.microsoft.com/office/powerpoint/2010/main" val="2705597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13453"/>
            <a:ext cx="6735621" cy="826590"/>
          </a:xfrm>
        </p:spPr>
        <p:txBody>
          <a:bodyPr/>
          <a:lstStyle/>
          <a:p>
            <a:r>
              <a:rPr lang="en-US" dirty="0"/>
              <a:t>Examples of </a:t>
            </a:r>
            <a:r>
              <a:rPr lang="en-US" dirty="0" err="1">
                <a:latin typeface="Courier10 BT" pitchFamily="49" charset="0"/>
              </a:rPr>
              <a:t>String.format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 why each of the following result in errors:</a:t>
            </a:r>
            <a:endParaRPr lang="en-US" sz="1800" dirty="0">
              <a:latin typeface="Courier10 BT" pitchFamily="49" charset="0"/>
            </a:endParaRPr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74933" y="3073029"/>
            <a:ext cx="7239000" cy="156966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float val1 = 10.567800f;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  val2 = 15;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("val1 =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%d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val2 = %f",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val2);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%f,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%d  %c",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270108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4595"/>
            <a:ext cx="6992295" cy="863574"/>
          </a:xfrm>
        </p:spPr>
        <p:txBody>
          <a:bodyPr/>
          <a:lstStyle/>
          <a:p>
            <a:r>
              <a:rPr lang="en-US" dirty="0"/>
              <a:t>Examples of </a:t>
            </a:r>
            <a:r>
              <a:rPr lang="en-US" dirty="0" err="1">
                <a:latin typeface="Courier10 BT" pitchFamily="49" charset="0"/>
              </a:rPr>
              <a:t>String.format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 why each of the following result in errors:</a:t>
            </a:r>
            <a:endParaRPr lang="en-US" sz="1800" dirty="0">
              <a:latin typeface="Courier10 BT" pitchFamily="49" charset="0"/>
            </a:endParaRPr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74933" y="3073029"/>
            <a:ext cx="7239000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%d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%f",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%f,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%d  %c",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30" y="4267951"/>
            <a:ext cx="8489413" cy="136942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4349469" y="3321781"/>
            <a:ext cx="635225" cy="2201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83" y="5636103"/>
            <a:ext cx="6257917" cy="98524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5033246" y="3350103"/>
            <a:ext cx="1343278" cy="2358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341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182"/>
            <a:ext cx="6731610" cy="741428"/>
          </a:xfrm>
        </p:spPr>
        <p:txBody>
          <a:bodyPr/>
          <a:lstStyle/>
          <a:p>
            <a:r>
              <a:rPr lang="en-US" dirty="0"/>
              <a:t>Examples of </a:t>
            </a:r>
            <a:r>
              <a:rPr lang="en-US" dirty="0" err="1">
                <a:latin typeface="Courier10 BT" pitchFamily="49" charset="0"/>
              </a:rPr>
              <a:t>String.format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 why each of the following result in errors:</a:t>
            </a:r>
            <a:endParaRPr lang="en-US" sz="1800" dirty="0">
              <a:latin typeface="Courier10 BT" pitchFamily="49" charset="0"/>
            </a:endParaRPr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74933" y="3073029"/>
            <a:ext cx="7239000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%d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%f",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%f,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%d  %c",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826899" y="3564542"/>
            <a:ext cx="1962319" cy="2760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048" y="5527083"/>
            <a:ext cx="9084366" cy="903538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 flipV="1">
            <a:off x="5377158" y="3488528"/>
            <a:ext cx="983182" cy="2001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92258" y="4491940"/>
            <a:ext cx="736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Two! </a:t>
            </a:r>
          </a:p>
        </p:txBody>
      </p:sp>
    </p:spTree>
    <p:extLst>
      <p:ext uri="{BB962C8B-B14F-4D97-AF65-F5344CB8AC3E}">
        <p14:creationId xmlns:p14="http://schemas.microsoft.com/office/powerpoint/2010/main" val="615811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191"/>
            <a:ext cx="7978884" cy="1144151"/>
          </a:xfrm>
        </p:spPr>
        <p:txBody>
          <a:bodyPr>
            <a:normAutofit/>
          </a:bodyPr>
          <a:lstStyle/>
          <a:p>
            <a:r>
              <a:rPr lang="en-US" dirty="0"/>
              <a:t>Using Field Width and Precision in </a:t>
            </a:r>
            <a:r>
              <a:rPr lang="en-US" dirty="0" err="1">
                <a:latin typeface="Courier10 BT" pitchFamily="49" charset="0"/>
              </a:rPr>
              <a:t>String.format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float specify the </a:t>
            </a:r>
            <a:r>
              <a:rPr lang="en-US" b="1" dirty="0"/>
              <a:t>field width</a:t>
            </a:r>
            <a:r>
              <a:rPr lang="en-US" dirty="0"/>
              <a:t> and </a:t>
            </a:r>
            <a:r>
              <a:rPr lang="en-US" b="1" dirty="0"/>
              <a:t>precision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  <a:latin typeface="Courier10 BT" pitchFamily="49" charset="0"/>
              </a:rPr>
              <a:t>%</a:t>
            </a:r>
            <a:r>
              <a:rPr lang="en-US" dirty="0" err="1">
                <a:solidFill>
                  <a:srgbClr val="0070C0"/>
                </a:solidFill>
                <a:latin typeface="Courier10 BT" pitchFamily="49" charset="0"/>
              </a:rPr>
              <a:t>n.mf</a:t>
            </a:r>
            <a:r>
              <a:rPr lang="en-US" dirty="0"/>
              <a:t>.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en-US" dirty="0"/>
              <a:t> = minimum number of characters to display the number (</a:t>
            </a:r>
            <a:r>
              <a:rPr lang="en-US" b="1" dirty="0"/>
              <a:t>field width</a:t>
            </a:r>
            <a:r>
              <a:rPr lang="en-US" dirty="0"/>
              <a:t>)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</a:t>
            </a:r>
            <a:r>
              <a:rPr lang="en-US" dirty="0"/>
              <a:t> = number of decimal spaces (</a:t>
            </a:r>
            <a:r>
              <a:rPr lang="en-US" b="1" dirty="0"/>
              <a:t>precision</a:t>
            </a:r>
            <a:r>
              <a:rPr lang="en-US" dirty="0"/>
              <a:t>) in the number. </a:t>
            </a:r>
          </a:p>
          <a:p>
            <a:pPr lvl="1"/>
            <a:r>
              <a:rPr lang="en-US" dirty="0"/>
              <a:t>The value of </a:t>
            </a:r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en-US" dirty="0"/>
              <a:t> cannot be 0; otherwise, a runtime error will occur.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26461" y="4614484"/>
            <a:ext cx="63246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71001B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10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.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The output is: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     10.57</a:t>
            </a:r>
          </a:p>
        </p:txBody>
      </p:sp>
    </p:spTree>
    <p:extLst>
      <p:ext uri="{BB962C8B-B14F-4D97-AF65-F5344CB8AC3E}">
        <p14:creationId xmlns:p14="http://schemas.microsoft.com/office/powerpoint/2010/main" val="20015706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StringBuilder</a:t>
            </a:r>
            <a:r>
              <a:rPr lang="en-US" dirty="0"/>
              <a:t> &amp; </a:t>
            </a:r>
            <a:r>
              <a:rPr lang="en-US" dirty="0" err="1"/>
              <a:t>StringBuffer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9600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543" y="747002"/>
            <a:ext cx="7910741" cy="480478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The </a:t>
            </a:r>
            <a:r>
              <a:rPr lang="en-US" sz="2800" dirty="0" err="1">
                <a:latin typeface="Courier10 BT" pitchFamily="49" charset="0"/>
              </a:rPr>
              <a:t>StringBuilder</a:t>
            </a:r>
            <a:r>
              <a:rPr lang="en-US" sz="2800" dirty="0"/>
              <a:t> &amp; </a:t>
            </a:r>
            <a:r>
              <a:rPr lang="en-US" sz="2800" dirty="0" err="1">
                <a:latin typeface="Courier10 BT" pitchFamily="49" charset="0"/>
              </a:rPr>
              <a:t>StringBuffer</a:t>
            </a:r>
            <a:r>
              <a:rPr lang="en-US" sz="2800" dirty="0">
                <a:latin typeface="Courier10 BT" pitchFamily="49" charset="0"/>
              </a:rPr>
              <a:t> </a:t>
            </a:r>
            <a:r>
              <a:rPr lang="en-US" sz="2800" dirty="0"/>
              <a:t>Class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36" y="2078022"/>
            <a:ext cx="5529020" cy="42985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687" y="2486543"/>
            <a:ext cx="5011531" cy="3262848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0110998" y="5102027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Fastest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10998" y="4187627"/>
            <a:ext cx="1714220" cy="935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110998" y="5153175"/>
            <a:ext cx="1714220" cy="56583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96778" y="4187627"/>
            <a:ext cx="1685685" cy="935168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20B38E-FF83-7817-DEFB-5D895849967C}"/>
              </a:ext>
            </a:extLst>
          </p:cNvPr>
          <p:cNvSpPr txBox="1"/>
          <p:nvPr/>
        </p:nvSpPr>
        <p:spPr>
          <a:xfrm>
            <a:off x="8664256" y="2029493"/>
            <a:ext cx="2644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 1.0             Java 5</a:t>
            </a:r>
          </a:p>
        </p:txBody>
      </p:sp>
    </p:spTree>
    <p:extLst>
      <p:ext uri="{BB962C8B-B14F-4D97-AF65-F5344CB8AC3E}">
        <p14:creationId xmlns:p14="http://schemas.microsoft.com/office/powerpoint/2010/main" val="8784558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8" y="739833"/>
            <a:ext cx="6274410" cy="75609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urier10 BT" pitchFamily="49" charset="0"/>
              </a:rPr>
              <a:t>StringBuilder</a:t>
            </a:r>
            <a:r>
              <a:rPr lang="en-US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7633" y="2101908"/>
            <a:ext cx="1468031" cy="4268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Examples: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77431" y="2811984"/>
            <a:ext cx="7602467" cy="2800767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StringBuilder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new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StringBuilder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("warts");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sb.reverse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();   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"straw"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sb.length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(); 		// returns 5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sb.charAt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(3); 		// returns 'a'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(0, 'l');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lstraw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(1, 'a'); 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lastraw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(2, 's'); 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lasstraw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(3, 't');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laststraw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(4, ' '); 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"last straw"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sb.indexOf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("raw"); 	// returns 7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sb.delete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(1, 8);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"law"</a:t>
            </a:r>
          </a:p>
        </p:txBody>
      </p:sp>
    </p:spTree>
    <p:extLst>
      <p:ext uri="{BB962C8B-B14F-4D97-AF65-F5344CB8AC3E}">
        <p14:creationId xmlns:p14="http://schemas.microsoft.com/office/powerpoint/2010/main" val="7164253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1276"/>
            <a:ext cx="2267895" cy="686577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the output of the following statements?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5787" y="3043954"/>
            <a:ext cx="11849438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double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n1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-85.6,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n2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70.4;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("The larger of %.2f and %.2f is %.2f\n",n1,n2,+Math.max(n1, n2));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("The smaller of %.2f and %.2f is %.2f\n",n1,n2,+Math.min(n1, n2));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("The value of %.2f raised to the power of 5 is %.2f\n",n2,+Math.pow(n2, 5));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("abs(%.2f) = %.2f\n", n1, +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Math.abs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(n1));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("floor(%.2f) = %.2f\n", n1, +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Math.floor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(n1));</a:t>
            </a:r>
          </a:p>
        </p:txBody>
      </p:sp>
    </p:spTree>
    <p:extLst>
      <p:ext uri="{BB962C8B-B14F-4D97-AF65-F5344CB8AC3E}">
        <p14:creationId xmlns:p14="http://schemas.microsoft.com/office/powerpoint/2010/main" val="14225485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64514"/>
            <a:ext cx="2458093" cy="715147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022" y="2069060"/>
            <a:ext cx="10417284" cy="383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the output of the following statements?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5326" y="2522018"/>
            <a:ext cx="11849438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double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n1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-85.6,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n2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70.4;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("The larger of %.2f and %.2f is %.2f\n",n1,n2,+Math.max(n1, n2));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("The smaller of %.2f and %.2f is %.2f\n",n1,n2,+Math.min(n1, n2));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("The value of %.2f raised to the power of 5 is %.2f\n",n2,+Math.pow(n2, 5));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("abs(%.2f) = %.2f\n", n1, +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Math.abs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(n1));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("floor(%.2f) = %.2f\n", n1, +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Math.floor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(n1));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64" y="4801552"/>
            <a:ext cx="7290007" cy="164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789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Simple arrays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64150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4429" y="748234"/>
            <a:ext cx="3487203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Simple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4610" y="2029721"/>
            <a:ext cx="349326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Based on elementary datatypes: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float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double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boolean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34492083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0419" y="788340"/>
            <a:ext cx="3435065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Simple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758681" y="3688589"/>
            <a:ext cx="40639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Access write:</a:t>
            </a:r>
          </a:p>
          <a:p>
            <a:r>
              <a:rPr lang="en-US" dirty="0" err="1"/>
              <a:t>randoms</a:t>
            </a:r>
            <a:r>
              <a:rPr lang="en-US" dirty="0"/>
              <a:t>[0] = </a:t>
            </a:r>
            <a:r>
              <a:rPr lang="en-US" dirty="0" err="1"/>
              <a:t>Math.random</a:t>
            </a:r>
            <a:r>
              <a:rPr lang="en-US" dirty="0"/>
              <a:t>();</a:t>
            </a:r>
          </a:p>
          <a:p>
            <a:r>
              <a:rPr lang="en-US" dirty="0" err="1"/>
              <a:t>randoms</a:t>
            </a:r>
            <a:r>
              <a:rPr lang="en-US" dirty="0"/>
              <a:t>[1] = </a:t>
            </a:r>
            <a:r>
              <a:rPr lang="en-US" dirty="0" err="1"/>
              <a:t>randoms</a:t>
            </a:r>
            <a:r>
              <a:rPr lang="en-US" dirty="0"/>
              <a:t>[0]*2;</a:t>
            </a:r>
          </a:p>
          <a:p>
            <a:r>
              <a:rPr lang="en-US" dirty="0"/>
              <a:t>…</a:t>
            </a:r>
          </a:p>
          <a:p>
            <a:r>
              <a:rPr lang="en-US" dirty="0" err="1"/>
              <a:t>randoms</a:t>
            </a:r>
            <a:r>
              <a:rPr lang="en-US" dirty="0"/>
              <a:t>[9] = </a:t>
            </a:r>
            <a:r>
              <a:rPr lang="en-US" dirty="0" err="1"/>
              <a:t>Math.random</a:t>
            </a:r>
            <a:r>
              <a:rPr lang="en-US" dirty="0"/>
              <a:t>()*</a:t>
            </a:r>
            <a:r>
              <a:rPr lang="en-US" dirty="0" err="1"/>
              <a:t>Math.PI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57010" y="2182121"/>
            <a:ext cx="297389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Basics: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Declaration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read/write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Declaration: </a:t>
            </a:r>
          </a:p>
          <a:p>
            <a:r>
              <a:rPr lang="en-US" dirty="0"/>
              <a:t>double[] </a:t>
            </a:r>
            <a:r>
              <a:rPr lang="en-US" dirty="0" err="1"/>
              <a:t>randoms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b="1" dirty="0"/>
              <a:t>Initialization:</a:t>
            </a:r>
          </a:p>
          <a:p>
            <a:r>
              <a:rPr lang="en-US" dirty="0" err="1"/>
              <a:t>randoms</a:t>
            </a:r>
            <a:r>
              <a:rPr lang="en-US" dirty="0"/>
              <a:t> = new double[10];</a:t>
            </a:r>
          </a:p>
        </p:txBody>
      </p:sp>
    </p:spTree>
    <p:extLst>
      <p:ext uri="{BB962C8B-B14F-4D97-AF65-F5344CB8AC3E}">
        <p14:creationId xmlns:p14="http://schemas.microsoft.com/office/powerpoint/2010/main" val="10792303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7" y="776308"/>
            <a:ext cx="3528613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Simple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4610" y="2029721"/>
            <a:ext cx="34483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Arrays of references: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String[] names;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Point[] locations;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Array: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reference has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005" y="2139073"/>
            <a:ext cx="5335914" cy="341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058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36408" y="776308"/>
            <a:ext cx="3539339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Simple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4610" y="2029721"/>
            <a:ext cx="26277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Array: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ways to initialize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365" y="2807393"/>
            <a:ext cx="6010655" cy="3248579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1634591" y="2589451"/>
            <a:ext cx="2217218" cy="1650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634591" y="2601589"/>
            <a:ext cx="2245540" cy="2747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7650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8440" y="736203"/>
            <a:ext cx="6406865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Array as method parameter: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822" y="2071789"/>
            <a:ext cx="6323462" cy="41388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20435" y="2298138"/>
            <a:ext cx="1808570" cy="29940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71284" y="4999529"/>
            <a:ext cx="1498376" cy="29940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544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52452" y="768287"/>
            <a:ext cx="3465800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Simple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4610" y="202972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Check for null: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302" y="2251652"/>
            <a:ext cx="4951989" cy="42988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18251" y="2654188"/>
            <a:ext cx="4256411" cy="40055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944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624" y="1809240"/>
            <a:ext cx="5589249" cy="4762670"/>
          </a:xfrm>
          <a:prstGeom prst="rect">
            <a:avLst/>
          </a:prstGeom>
        </p:spPr>
      </p:pic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52452" y="776325"/>
            <a:ext cx="3812054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As return value: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929" y="5336697"/>
            <a:ext cx="4256411" cy="73637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68344" y="2660447"/>
            <a:ext cx="2734116" cy="120418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40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36409" y="760265"/>
            <a:ext cx="5644866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Multidimensional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775" y="2280558"/>
            <a:ext cx="9476167" cy="294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374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4429" y="772298"/>
            <a:ext cx="10561771" cy="59376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Multidimensional arrays as method parameter (Java):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211" y="1868461"/>
            <a:ext cx="6668677" cy="46294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71861" y="2047971"/>
            <a:ext cx="1422901" cy="28116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46555" y="4425986"/>
            <a:ext cx="709785" cy="28116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067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8388" y="756255"/>
            <a:ext cx="10236918" cy="59376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Multidimensional arrays as method parameter C++: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274" y="1654821"/>
            <a:ext cx="3901871" cy="480655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44789" y="2468071"/>
            <a:ext cx="1367554" cy="226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25052" y="2396693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Java is so much better than C++</a:t>
            </a: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6821586" y="2581359"/>
            <a:ext cx="10034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1329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8440" y="760266"/>
            <a:ext cx="10609897" cy="59376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Multidimensional arrays as method parameter (Java):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656" y="1654822"/>
            <a:ext cx="5391843" cy="4860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51575" y="3544312"/>
            <a:ext cx="3687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Don’t ask for the C++ version !!!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162085" y="1820708"/>
            <a:ext cx="1448474" cy="226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014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4431" y="799765"/>
            <a:ext cx="3170370" cy="59376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Clone()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905" y="1946776"/>
            <a:ext cx="6961417" cy="44049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35430" y="1577947"/>
            <a:ext cx="46698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Basic types clone, is uncomplicated!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1225" y="2914570"/>
            <a:ext cx="1204390" cy="332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225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68494" y="762222"/>
            <a:ext cx="7987012" cy="59376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Clone() arrays: But it is a shallow copy!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538" y="1930496"/>
            <a:ext cx="6199576" cy="42836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6962" y="2589514"/>
            <a:ext cx="2683399" cy="2569096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7780492" y="374661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553819" y="5349039"/>
            <a:ext cx="3289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References are the same!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2087" y="2029753"/>
            <a:ext cx="5416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Shallow means</a:t>
            </a:r>
            <a:r>
              <a:rPr lang="en-US" dirty="0"/>
              <a:t>: clone, copies only the references!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0326" y="3541230"/>
            <a:ext cx="723506" cy="295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923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0420" y="808392"/>
            <a:ext cx="3731844" cy="593767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java.util.Arrays</a:t>
            </a:r>
            <a:r>
              <a:rPr lang="en-US" altLang="en-US" dirty="0"/>
              <a:t>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4610" y="2029721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Standard sort: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069" y="2609032"/>
            <a:ext cx="4104022" cy="18179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475" y="2214387"/>
            <a:ext cx="1703659" cy="247656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6623331" y="327569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80500" y="3286253"/>
            <a:ext cx="1136023" cy="2944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120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95" y="1988195"/>
            <a:ext cx="7571212" cy="4653765"/>
          </a:xfrm>
          <a:prstGeom prst="rect">
            <a:avLst/>
          </a:prstGeom>
        </p:spPr>
      </p:pic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0278" y="786352"/>
            <a:ext cx="3639531" cy="593767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java.util.Arrays</a:t>
            </a:r>
            <a:r>
              <a:rPr lang="en-US" altLang="en-US" dirty="0"/>
              <a:t>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08193" y="1564014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Sort versus parallel sort: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700415" y="461492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18407" y="3378425"/>
            <a:ext cx="6874184" cy="14403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483" y="4367375"/>
            <a:ext cx="2177200" cy="9797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18407" y="4915912"/>
            <a:ext cx="6874184" cy="13635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547214" y="3951398"/>
            <a:ext cx="1460764" cy="2944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547214" y="5426883"/>
            <a:ext cx="2135881" cy="2944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582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32469" y="826386"/>
            <a:ext cx="11015421" cy="593767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java.util.Arrays</a:t>
            </a:r>
            <a:r>
              <a:rPr lang="en-US" altLang="en-US" dirty="0"/>
              <a:t>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6518" y="1592751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Sort objects: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41" y="3004154"/>
            <a:ext cx="5247052" cy="33420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2334" y="5316046"/>
            <a:ext cx="5102028" cy="914400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303" y="826386"/>
            <a:ext cx="5121863" cy="344541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214" y="4675155"/>
            <a:ext cx="1006955" cy="197036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973" y="4675155"/>
            <a:ext cx="1034170" cy="1948594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 rot="5400000">
            <a:off x="7962867" y="389107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228722" y="2949547"/>
            <a:ext cx="1768110" cy="230623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168860" y="3694110"/>
            <a:ext cx="3296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(Basically, an Integer wrapper)</a:t>
            </a:r>
          </a:p>
        </p:txBody>
      </p:sp>
    </p:spTree>
    <p:extLst>
      <p:ext uri="{BB962C8B-B14F-4D97-AF65-F5344CB8AC3E}">
        <p14:creationId xmlns:p14="http://schemas.microsoft.com/office/powerpoint/2010/main" val="29436713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</a:t>
            </a:r>
          </a:p>
        </p:txBody>
      </p:sp>
    </p:spTree>
    <p:extLst>
      <p:ext uri="{BB962C8B-B14F-4D97-AF65-F5344CB8AC3E}">
        <p14:creationId xmlns:p14="http://schemas.microsoft.com/office/powerpoint/2010/main" val="42841763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3910613" cy="516892"/>
          </a:xfrm>
        </p:spPr>
        <p:txBody>
          <a:bodyPr>
            <a:normAutofit fontScale="90000"/>
          </a:bodyPr>
          <a:lstStyle/>
          <a:p>
            <a:r>
              <a:rPr lang="en-US" dirty="0"/>
              <a:t>Errors in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391" y="1793931"/>
            <a:ext cx="3186376" cy="1503573"/>
          </a:xfrm>
        </p:spPr>
        <p:txBody>
          <a:bodyPr/>
          <a:lstStyle/>
          <a:p>
            <a:r>
              <a:rPr lang="en-US" dirty="0"/>
              <a:t>Compiler Errors</a:t>
            </a:r>
          </a:p>
          <a:p>
            <a:r>
              <a:rPr lang="en-US" dirty="0"/>
              <a:t>Run-time errors and </a:t>
            </a:r>
          </a:p>
          <a:p>
            <a:r>
              <a:rPr lang="en-US" dirty="0"/>
              <a:t>Logic errors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36516" y="3501350"/>
            <a:ext cx="3327987" cy="5184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Compiler Errors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81023" y="4056202"/>
            <a:ext cx="4533700" cy="221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Incorrect punctuation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missing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semicolon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Comments formed incorrectly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Misspelled keywords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class and method names</a:t>
            </a:r>
          </a:p>
        </p:txBody>
      </p:sp>
    </p:spTree>
    <p:extLst>
      <p:ext uri="{BB962C8B-B14F-4D97-AF65-F5344CB8AC3E}">
        <p14:creationId xmlns:p14="http://schemas.microsoft.com/office/powerpoint/2010/main" val="10343169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3396769" cy="565445"/>
          </a:xfrm>
        </p:spPr>
        <p:txBody>
          <a:bodyPr>
            <a:normAutofit fontScale="90000"/>
          </a:bodyPr>
          <a:lstStyle/>
          <a:p>
            <a:r>
              <a:rPr lang="en-US" dirty="0"/>
              <a:t>Run-time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114" y="1789885"/>
            <a:ext cx="10417284" cy="2118568"/>
          </a:xfrm>
        </p:spPr>
        <p:txBody>
          <a:bodyPr/>
          <a:lstStyle/>
          <a:p>
            <a:r>
              <a:rPr lang="en-US" dirty="0"/>
              <a:t>Error while program is </a:t>
            </a:r>
            <a:r>
              <a:rPr lang="en-US" b="1" dirty="0"/>
              <a:t>running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Files are </a:t>
            </a:r>
            <a:r>
              <a:rPr lang="en-US" b="1" dirty="0">
                <a:solidFill>
                  <a:schemeClr val="tx1"/>
                </a:solidFill>
              </a:rPr>
              <a:t>missing</a:t>
            </a:r>
            <a:r>
              <a:rPr lang="en-US" dirty="0">
                <a:solidFill>
                  <a:schemeClr val="tx1"/>
                </a:solidFill>
              </a:rPr>
              <a:t> (reading).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You forget to insert the </a:t>
            </a:r>
            <a:r>
              <a:rPr lang="en-US" b="1" dirty="0">
                <a:solidFill>
                  <a:schemeClr val="tx1"/>
                </a:solidFill>
              </a:rPr>
              <a:t>square</a:t>
            </a:r>
            <a:r>
              <a:rPr lang="en-US" dirty="0">
                <a:solidFill>
                  <a:schemeClr val="tx1"/>
                </a:solidFill>
              </a:rPr>
              <a:t> brackets: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Courier10 BT" pitchFamily="49" charset="0"/>
              </a:rPr>
              <a:t>public static void main(String</a:t>
            </a:r>
            <a:r>
              <a:rPr lang="en-US" b="1" dirty="0">
                <a:solidFill>
                  <a:schemeClr val="tx1"/>
                </a:solidFill>
                <a:latin typeface="Courier10 BT" pitchFamily="49" charset="0"/>
              </a:rPr>
              <a:t>[]</a:t>
            </a:r>
            <a:r>
              <a:rPr lang="en-US" dirty="0">
                <a:solidFill>
                  <a:schemeClr val="tx1"/>
                </a:solidFill>
                <a:latin typeface="Courier10 BT" pitchFamily="49" charset="0"/>
              </a:rPr>
              <a:t> args)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40940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8" y="761311"/>
            <a:ext cx="2955753" cy="589721"/>
          </a:xfrm>
        </p:spPr>
        <p:txBody>
          <a:bodyPr/>
          <a:lstStyle/>
          <a:p>
            <a:r>
              <a:rPr lang="en-US" dirty="0"/>
              <a:t>Logic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7436" y="1760017"/>
            <a:ext cx="10417284" cy="4861361"/>
          </a:xfrm>
        </p:spPr>
        <p:txBody>
          <a:bodyPr>
            <a:normAutofit/>
          </a:bodyPr>
          <a:lstStyle/>
          <a:p>
            <a:r>
              <a:rPr lang="en-US" dirty="0"/>
              <a:t>Algorithm is incorrect.</a:t>
            </a:r>
          </a:p>
          <a:p>
            <a:r>
              <a:rPr lang="en-US" dirty="0"/>
              <a:t>Program executes normally but output is wrong.</a:t>
            </a:r>
          </a:p>
          <a:p>
            <a:r>
              <a:rPr lang="en-US" dirty="0"/>
              <a:t>Detectable: comparing expected </a:t>
            </a:r>
            <a:r>
              <a:rPr lang="en-US" b="1" dirty="0">
                <a:solidFill>
                  <a:srgbClr val="FF0000"/>
                </a:solidFill>
              </a:rPr>
              <a:t>vs</a:t>
            </a:r>
            <a:r>
              <a:rPr lang="en-US" dirty="0"/>
              <a:t> manual results.</a:t>
            </a:r>
          </a:p>
          <a:p>
            <a:r>
              <a:rPr lang="en-US" dirty="0"/>
              <a:t>To identify where the error occurs: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use a debugger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print out intermediate results at different points in the program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tx1"/>
                </a:solidFill>
              </a:rPr>
              <a:t>logfile</a:t>
            </a:r>
            <a:r>
              <a:rPr lang="en-US" dirty="0">
                <a:solidFill>
                  <a:schemeClr val="tx1"/>
                </a:solidFill>
              </a:rPr>
              <a:t> analysis (i.e. </a:t>
            </a:r>
            <a:r>
              <a:rPr lang="en-US" dirty="0" err="1">
                <a:solidFill>
                  <a:schemeClr val="tx1"/>
                </a:solidFill>
              </a:rPr>
              <a:t>Splunk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The worst: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Some logic errors occurs seldom (once a month, once a year, …)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2908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2955753" cy="589721"/>
          </a:xfrm>
        </p:spPr>
        <p:txBody>
          <a:bodyPr/>
          <a:lstStyle/>
          <a:p>
            <a:r>
              <a:rPr lang="en-US" dirty="0"/>
              <a:t>Logic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7436" y="1760018"/>
            <a:ext cx="2142504" cy="4579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Logfile</a:t>
            </a:r>
            <a:r>
              <a:rPr lang="en-US" dirty="0"/>
              <a:t> analysis: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074" name="Picture 2" descr="Splunk Web Server Not Starting – UnBrick.I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559" y="2217989"/>
            <a:ext cx="8191360" cy="42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660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873837"/>
            <a:ext cx="6459604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 Program With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423" y="1592660"/>
            <a:ext cx="9898719" cy="3561967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solidFill>
                  <a:schemeClr val="tx1"/>
                </a:solidFill>
                <a:latin typeface="Courier10 BT" pitchFamily="49" charset="0"/>
              </a:rPr>
              <a:t>/ *</a:t>
            </a:r>
            <a:r>
              <a:rPr lang="en-US" sz="1600" dirty="0">
                <a:solidFill>
                  <a:srgbClr val="FF0000"/>
                </a:solidFill>
                <a:latin typeface="Courier10 BT" pitchFamily="49" charset="0"/>
              </a:rPr>
              <a:t> </a:t>
            </a:r>
            <a:r>
              <a:rPr lang="en-US" sz="1600" dirty="0">
                <a:latin typeface="Courier10 BT" pitchFamily="49" charset="0"/>
              </a:rPr>
              <a:t>Program with errors */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import javax.swing.*; 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 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public class HelloWorld </a:t>
            </a:r>
            <a:r>
              <a:rPr lang="en-US" sz="1600" dirty="0">
                <a:solidFill>
                  <a:schemeClr val="tx1"/>
                </a:solidFill>
                <a:latin typeface="Courier10 BT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public static void main(String[] args)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10 BT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JFrame frame = new JFrame(My First Program</a:t>
            </a:r>
            <a:r>
              <a:rPr lang="en-US" sz="1600" dirty="0">
                <a:solidFill>
                  <a:schemeClr val="tx1"/>
                </a:solidFill>
                <a:latin typeface="Courier10 BT" pitchFamily="49" charset="0"/>
              </a:rPr>
              <a:t>"</a:t>
            </a:r>
            <a:r>
              <a:rPr lang="en-US" sz="1600" dirty="0">
                <a:latin typeface="Courier10 BT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frame.getContentPane().add(new JLabel(new ImageIcon("blimp.jpg")))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frame.pack();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frame.setVisible(true);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}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57265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Output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258" y="2332037"/>
            <a:ext cx="8153400" cy="4525963"/>
          </a:xfrm>
        </p:spPr>
        <p:txBody>
          <a:bodyPr/>
          <a:lstStyle/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src\HelloWorld.java:1: class, interface, or enum expected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/ * Program with errors */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92258" y="2149096"/>
            <a:ext cx="8305800" cy="10668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33600" y="3352800"/>
            <a:ext cx="7467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you should do: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Correct the open-comment sequence that has been mistyped with a space between the / and *.</a:t>
            </a:r>
          </a:p>
        </p:txBody>
      </p:sp>
    </p:spTree>
    <p:extLst>
      <p:ext uri="{BB962C8B-B14F-4D97-AF65-F5344CB8AC3E}">
        <p14:creationId xmlns:p14="http://schemas.microsoft.com/office/powerpoint/2010/main" val="12594109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077240"/>
            <a:ext cx="3829693" cy="5047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Compiler Output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81200" y="1600200"/>
            <a:ext cx="8229600" cy="24384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7400" y="1600201"/>
            <a:ext cx="746760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\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HelloWorld.java:6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: ')' expected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JFrame frame = new JFrame(My First Program");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\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HelloWorld.java:6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: unclosed string literal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JFrame frame = new JFrame(My First Program");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\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HelloWorld.java:6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: not a 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JFrame frame = new JFrame(My First Program");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you should do: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Insert a pair of quotes needed to begin the words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My First Program”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 missing. </a:t>
            </a:r>
          </a:p>
        </p:txBody>
      </p:sp>
    </p:spTree>
    <p:extLst>
      <p:ext uri="{BB962C8B-B14F-4D97-AF65-F5344CB8AC3E}">
        <p14:creationId xmlns:p14="http://schemas.microsoft.com/office/powerpoint/2010/main" val="5314940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3833739" cy="429903"/>
          </a:xfrm>
        </p:spPr>
        <p:txBody>
          <a:bodyPr>
            <a:normAutofit fontScale="90000"/>
          </a:bodyPr>
          <a:lstStyle/>
          <a:p>
            <a:r>
              <a:rPr lang="en-US" dirty="0"/>
              <a:t>Compiler Output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4891" y="1600200"/>
            <a:ext cx="9630871" cy="12192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0072" y="1778225"/>
            <a:ext cx="9877004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\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HelloWorld.java: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7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: ';' expected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frame.getContentPane().add(new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JLabel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(new ImageIcon("blimp.png")))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you should do: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Insert a semi-colon at the end of line 7.</a:t>
            </a:r>
          </a:p>
        </p:txBody>
      </p:sp>
    </p:spTree>
    <p:extLst>
      <p:ext uri="{BB962C8B-B14F-4D97-AF65-F5344CB8AC3E}">
        <p14:creationId xmlns:p14="http://schemas.microsoft.com/office/powerpoint/2010/main" val="1976580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58" y="925253"/>
            <a:ext cx="10417284" cy="500708"/>
          </a:xfrm>
        </p:spPr>
        <p:txBody>
          <a:bodyPr>
            <a:normAutofit fontScale="90000"/>
          </a:bodyPr>
          <a:lstStyle/>
          <a:p>
            <a:r>
              <a:rPr lang="en-US" dirty="0"/>
              <a:t>Compiler Output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81200" y="1600200"/>
            <a:ext cx="8229600" cy="990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7400" y="1600201"/>
            <a:ext cx="8001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\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HelloWorld.java:10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: reached end of file while parsing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you should do: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Insert a closing brace after the last line of the program.</a:t>
            </a:r>
          </a:p>
        </p:txBody>
      </p:sp>
    </p:spTree>
    <p:extLst>
      <p:ext uri="{BB962C8B-B14F-4D97-AF65-F5344CB8AC3E}">
        <p14:creationId xmlns:p14="http://schemas.microsoft.com/office/powerpoint/2010/main" val="235308575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873837"/>
            <a:ext cx="4218111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 With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423" y="1592660"/>
            <a:ext cx="10226448" cy="3561967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solidFill>
                  <a:srgbClr val="FF0000"/>
                </a:solidFill>
                <a:latin typeface="Courier10 BT" pitchFamily="49" charset="0"/>
              </a:rPr>
              <a:t>/ * </a:t>
            </a:r>
            <a:r>
              <a:rPr lang="en-US" sz="1600" dirty="0">
                <a:latin typeface="Courier10 BT" pitchFamily="49" charset="0"/>
              </a:rPr>
              <a:t>Program with errors */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import javax.swing.*; 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 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public class </a:t>
            </a:r>
            <a:r>
              <a:rPr lang="en-US" sz="1600" dirty="0" err="1">
                <a:latin typeface="Courier10 BT" pitchFamily="49" charset="0"/>
              </a:rPr>
              <a:t>HelloWorld</a:t>
            </a:r>
            <a:r>
              <a:rPr lang="en-US" sz="1600" dirty="0">
                <a:latin typeface="Courier10 BT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urier10 BT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public static void main(String[] args)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10 BT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JFrame frame = new JFrame(My First Program</a:t>
            </a:r>
            <a:r>
              <a:rPr lang="en-US" sz="1600" dirty="0">
                <a:solidFill>
                  <a:srgbClr val="FF0000"/>
                </a:solidFill>
                <a:latin typeface="Courier10 BT" pitchFamily="49" charset="0"/>
              </a:rPr>
              <a:t>"</a:t>
            </a:r>
            <a:r>
              <a:rPr lang="en-US" sz="1600" dirty="0">
                <a:latin typeface="Courier10 BT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frame.getContentPane().add(new </a:t>
            </a:r>
            <a:r>
              <a:rPr lang="en-US" sz="1600" dirty="0" err="1">
                <a:latin typeface="Courier10 BT" pitchFamily="49" charset="0"/>
              </a:rPr>
              <a:t>JLabel</a:t>
            </a:r>
            <a:r>
              <a:rPr lang="en-US" sz="1600" dirty="0">
                <a:latin typeface="Courier10 BT" pitchFamily="49" charset="0"/>
              </a:rPr>
              <a:t>(new ImageIcon("blimp.jpg")))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frame.pack();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</a:t>
            </a:r>
            <a:r>
              <a:rPr lang="en-US" sz="1600" dirty="0" err="1">
                <a:latin typeface="Courier10 BT" pitchFamily="49" charset="0"/>
              </a:rPr>
              <a:t>frame.setVisible</a:t>
            </a:r>
            <a:r>
              <a:rPr lang="en-US" sz="1600" dirty="0">
                <a:latin typeface="Courier10 BT" pitchFamily="49" charset="0"/>
              </a:rPr>
              <a:t>(true);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}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79137" y="1592661"/>
            <a:ext cx="441015" cy="256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31540" y="3339192"/>
            <a:ext cx="254900" cy="256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438011" y="3710077"/>
            <a:ext cx="254900" cy="256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44744" y="4886120"/>
            <a:ext cx="254900" cy="256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5112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072537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2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5.xml><?xml version="1.0" encoding="utf-8"?>
<a:theme xmlns:a="http://schemas.openxmlformats.org/drawingml/2006/main" name="3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6.xml><?xml version="1.0" encoding="utf-8"?>
<a:theme xmlns:a="http://schemas.openxmlformats.org/drawingml/2006/main" name="4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1088</TotalTime>
  <Words>4080</Words>
  <Application>Microsoft Office PowerPoint</Application>
  <PresentationFormat>Widescreen</PresentationFormat>
  <Paragraphs>673</Paragraphs>
  <Slides>75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75</vt:i4>
      </vt:variant>
    </vt:vector>
  </HeadingPairs>
  <TitlesOfParts>
    <vt:vector size="88" baseType="lpstr">
      <vt:lpstr>Arial</vt:lpstr>
      <vt:lpstr>Arial Narrow</vt:lpstr>
      <vt:lpstr>Calibri</vt:lpstr>
      <vt:lpstr>Courier</vt:lpstr>
      <vt:lpstr>Courier10 BT</vt:lpstr>
      <vt:lpstr>Garamond</vt:lpstr>
      <vt:lpstr>Wingdings</vt:lpstr>
      <vt:lpstr>SCUTemplate</vt:lpstr>
      <vt:lpstr>Custom Design</vt:lpstr>
      <vt:lpstr>1_SCUTemplate</vt:lpstr>
      <vt:lpstr>2_SCUTemplate</vt:lpstr>
      <vt:lpstr>3_SCUTemplate</vt:lpstr>
      <vt:lpstr>4_SCUTemplate</vt:lpstr>
      <vt:lpstr>CSEN160</vt:lpstr>
      <vt:lpstr>Java Input</vt:lpstr>
      <vt:lpstr>Java Input</vt:lpstr>
      <vt:lpstr>Java Input (with exception)</vt:lpstr>
      <vt:lpstr>Exercise</vt:lpstr>
      <vt:lpstr>Java Input</vt:lpstr>
      <vt:lpstr>Math</vt:lpstr>
      <vt:lpstr>The Math Class</vt:lpstr>
      <vt:lpstr>The Math Class</vt:lpstr>
      <vt:lpstr>Math</vt:lpstr>
      <vt:lpstr>Random Numbers</vt:lpstr>
      <vt:lpstr>Class Random</vt:lpstr>
      <vt:lpstr>Exercise BreakDemo:</vt:lpstr>
      <vt:lpstr>Exercise BreakDemo:</vt:lpstr>
      <vt:lpstr>Math.random():</vt:lpstr>
      <vt:lpstr>Exercise: Random numbers in a range</vt:lpstr>
      <vt:lpstr>Exercise: Random numbers in a range</vt:lpstr>
      <vt:lpstr>Strings</vt:lpstr>
      <vt:lpstr>String Literals</vt:lpstr>
      <vt:lpstr>Strings</vt:lpstr>
      <vt:lpstr>Strings</vt:lpstr>
      <vt:lpstr>Some Methods in Class String</vt:lpstr>
      <vt:lpstr>Length of a String</vt:lpstr>
      <vt:lpstr>Comparing Strings</vt:lpstr>
      <vt:lpstr>Methods Retrieve an Index</vt:lpstr>
      <vt:lpstr>Methods For Substrings</vt:lpstr>
      <vt:lpstr>Exercise</vt:lpstr>
      <vt:lpstr>Solution</vt:lpstr>
      <vt:lpstr>More Methods in Class String</vt:lpstr>
      <vt:lpstr>Concatenation Operator</vt:lpstr>
      <vt:lpstr>Concatenating Strings</vt:lpstr>
      <vt:lpstr>Replacing/Removing Characters</vt:lpstr>
      <vt:lpstr>Converting to Uppercase or Lowercase</vt:lpstr>
      <vt:lpstr>String.format (for the friends of printf)</vt:lpstr>
      <vt:lpstr>String.format</vt:lpstr>
      <vt:lpstr>Format Specifiers</vt:lpstr>
      <vt:lpstr>Examples of String.format</vt:lpstr>
      <vt:lpstr>Examples of String.format</vt:lpstr>
      <vt:lpstr>Examples of String.format</vt:lpstr>
      <vt:lpstr>Examples of String.format</vt:lpstr>
      <vt:lpstr>Using Field Width and Precision in String.format</vt:lpstr>
      <vt:lpstr>StringBuilder &amp; StringBuffer</vt:lpstr>
      <vt:lpstr>The StringBuilder &amp; StringBuffer Class</vt:lpstr>
      <vt:lpstr>The StringBuilder Class</vt:lpstr>
      <vt:lpstr>Exercise</vt:lpstr>
      <vt:lpstr>Exercise</vt:lpstr>
      <vt:lpstr>Simple arrays</vt:lpstr>
      <vt:lpstr>Simple arrays:</vt:lpstr>
      <vt:lpstr>Simple arrays:</vt:lpstr>
      <vt:lpstr>Simple arrays:</vt:lpstr>
      <vt:lpstr>Simple arrays:</vt:lpstr>
      <vt:lpstr>Array as method parameter:</vt:lpstr>
      <vt:lpstr>Simple arrays:</vt:lpstr>
      <vt:lpstr>As return value:</vt:lpstr>
      <vt:lpstr>Multidimensional arrays:</vt:lpstr>
      <vt:lpstr>Multidimensional arrays as method parameter (Java):</vt:lpstr>
      <vt:lpstr>Multidimensional arrays as method parameter C++:</vt:lpstr>
      <vt:lpstr>Multidimensional arrays as method parameter (Java):</vt:lpstr>
      <vt:lpstr>Clone() arrays:</vt:lpstr>
      <vt:lpstr>Clone() arrays: But it is a shallow copy!</vt:lpstr>
      <vt:lpstr>java.util.Arrays:</vt:lpstr>
      <vt:lpstr>java.util.Arrays:</vt:lpstr>
      <vt:lpstr>java.util.Arrays:</vt:lpstr>
      <vt:lpstr>Errors</vt:lpstr>
      <vt:lpstr>Errors in Programs</vt:lpstr>
      <vt:lpstr>Run-time Errors</vt:lpstr>
      <vt:lpstr>Logic Errors</vt:lpstr>
      <vt:lpstr>Logic Errors</vt:lpstr>
      <vt:lpstr>Exercise Program With Errors</vt:lpstr>
      <vt:lpstr>Compiler Output 1</vt:lpstr>
      <vt:lpstr>Compiler Output 2</vt:lpstr>
      <vt:lpstr>Compiler Output 3</vt:lpstr>
      <vt:lpstr>Compiler Output 4</vt:lpstr>
      <vt:lpstr>Program With Errors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215</cp:revision>
  <cp:lastPrinted>2023-09-11T21:46:56Z</cp:lastPrinted>
  <dcterms:created xsi:type="dcterms:W3CDTF">2023-09-09T19:51:41Z</dcterms:created>
  <dcterms:modified xsi:type="dcterms:W3CDTF">2026-10-01T16:28:35Z</dcterms:modified>
</cp:coreProperties>
</file>