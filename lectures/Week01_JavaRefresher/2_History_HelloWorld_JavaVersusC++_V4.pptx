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74" r:id="rId2"/>
  </p:sldMasterIdLst>
  <p:notesMasterIdLst>
    <p:notesMasterId r:id="rId43"/>
  </p:notesMasterIdLst>
  <p:handoutMasterIdLst>
    <p:handoutMasterId r:id="rId44"/>
  </p:handoutMasterIdLst>
  <p:sldIdLst>
    <p:sldId id="333" r:id="rId3"/>
    <p:sldId id="335" r:id="rId4"/>
    <p:sldId id="493" r:id="rId5"/>
    <p:sldId id="490" r:id="rId6"/>
    <p:sldId id="260" r:id="rId7"/>
    <p:sldId id="381" r:id="rId8"/>
    <p:sldId id="382" r:id="rId9"/>
    <p:sldId id="337" r:id="rId10"/>
    <p:sldId id="338" r:id="rId11"/>
    <p:sldId id="340" r:id="rId12"/>
    <p:sldId id="509" r:id="rId13"/>
    <p:sldId id="491" r:id="rId14"/>
    <p:sldId id="343" r:id="rId15"/>
    <p:sldId id="406" r:id="rId16"/>
    <p:sldId id="408" r:id="rId17"/>
    <p:sldId id="407" r:id="rId18"/>
    <p:sldId id="405" r:id="rId19"/>
    <p:sldId id="346" r:id="rId20"/>
    <p:sldId id="345" r:id="rId21"/>
    <p:sldId id="391" r:id="rId22"/>
    <p:sldId id="392" r:id="rId23"/>
    <p:sldId id="393" r:id="rId24"/>
    <p:sldId id="395" r:id="rId25"/>
    <p:sldId id="394" r:id="rId26"/>
    <p:sldId id="396" r:id="rId27"/>
    <p:sldId id="390" r:id="rId28"/>
    <p:sldId id="380" r:id="rId29"/>
    <p:sldId id="492" r:id="rId30"/>
    <p:sldId id="383" r:id="rId31"/>
    <p:sldId id="414" r:id="rId32"/>
    <p:sldId id="399" r:id="rId33"/>
    <p:sldId id="416" r:id="rId34"/>
    <p:sldId id="417" r:id="rId35"/>
    <p:sldId id="481" r:id="rId36"/>
    <p:sldId id="482" r:id="rId37"/>
    <p:sldId id="483" r:id="rId38"/>
    <p:sldId id="484" r:id="rId39"/>
    <p:sldId id="485" r:id="rId40"/>
    <p:sldId id="486" r:id="rId41"/>
    <p:sldId id="489" r:id="rId42"/>
  </p:sldIdLst>
  <p:sldSz cx="12192000" cy="6858000"/>
  <p:notesSz cx="7010400" cy="9296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7258" autoAdjust="0"/>
    <p:restoredTop sz="94660"/>
  </p:normalViewPr>
  <p:slideViewPr>
    <p:cSldViewPr snapToGrid="0">
      <p:cViewPr varScale="1">
        <p:scale>
          <a:sx n="161" d="100"/>
          <a:sy n="161" d="100"/>
        </p:scale>
        <p:origin x="900" y="1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theme" Target="theme/theme1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presProps" Target="pres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handoutMaster" Target="handoutMasters/handout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notesMaster" Target="notesMasters/notesMaster1.xml"/><Relationship Id="rId48" Type="http://schemas.openxmlformats.org/officeDocument/2006/relationships/tableStyles" Target="tableStyles.xml"/><Relationship Id="rId8" Type="http://schemas.openxmlformats.org/officeDocument/2006/relationships/slide" Target="slides/slide6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viewProps" Target="viewProps.xml"/><Relationship Id="rId20" Type="http://schemas.openxmlformats.org/officeDocument/2006/relationships/slide" Target="slides/slide18.xml"/><Relationship Id="rId41" Type="http://schemas.openxmlformats.org/officeDocument/2006/relationships/slide" Target="slides/slide39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8E938536-29D3-49BD-A567-41CAF057586A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B2E2B272-7A3A-4005-B1B0-0F9070B870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879073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71559A16-B3AD-4CE2-9A5E-FAAD3C2C27CA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17550" y="1162050"/>
            <a:ext cx="5575300" cy="31369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177" tIns="46589" rIns="93177" bIns="46589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040" y="4473892"/>
            <a:ext cx="5608320" cy="3660458"/>
          </a:xfrm>
          <a:prstGeom prst="rect">
            <a:avLst/>
          </a:prstGeom>
        </p:spPr>
        <p:txBody>
          <a:bodyPr vert="horz" lIns="93177" tIns="46589" rIns="93177" bIns="46589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28C6438F-747C-40FA-8F40-021E653C05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69010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7B40DD5-BF2C-40BA-AB25-7FD1CB618218}" type="slidenum">
              <a:rPr lang="en-US" smtClean="0"/>
              <a:pPr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00942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6D5B4C3-9B00-474A-97E8-C13B4A35C4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391831"/>
            <a:ext cx="9144000" cy="1655762"/>
          </a:xfrm>
        </p:spPr>
        <p:txBody>
          <a:bodyPr/>
          <a:lstStyle>
            <a:lvl1pPr marL="0" indent="0" algn="l">
              <a:buNone/>
              <a:defRPr sz="2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D22AE50-6F90-E24E-B822-6568D311B3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032145"/>
            <a:ext cx="9144000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B2EB50-2D06-0F47-91A8-A0077BC58DD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86695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BAA9E0-FD26-B94E-9B92-E4BB7FDAC5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AD2F48-A24B-4049-960D-8B798AEFA8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6516" y="2449386"/>
            <a:ext cx="10417284" cy="3805364"/>
          </a:xfrm>
        </p:spPr>
        <p:txBody>
          <a:bodyPr/>
          <a:lstStyle>
            <a:lvl1pPr>
              <a:buClr>
                <a:srgbClr val="B30738"/>
              </a:buClr>
              <a:defRPr b="0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  <a:lvl2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2pPr>
            <a:lvl3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3pPr>
            <a:lvl4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4pPr>
            <a:lvl5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04C7CA-926E-AD42-9C16-D63E0CBCB0B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54750"/>
            <a:ext cx="3873500" cy="4000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38119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455421C-28F7-134B-8F0E-FE7D28044B4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207617" y="1170297"/>
            <a:ext cx="2316923" cy="215804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4035" y="1170297"/>
            <a:ext cx="10379765" cy="4683851"/>
          </a:xfrm>
        </p:spPr>
        <p:txBody>
          <a:bodyPr>
            <a:normAutofit/>
          </a:bodyPr>
          <a:lstStyle>
            <a:lvl1pPr>
              <a:defRPr sz="6000" b="0" i="0">
                <a:solidFill>
                  <a:schemeClr val="tx1">
                    <a:lumMod val="50000"/>
                    <a:lumOff val="50000"/>
                  </a:schemeClr>
                </a:solidFill>
                <a:latin typeface="Garamond" panose="02020404030301010803" pitchFamily="18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43C62840-6E05-504B-B2F6-709D240E692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86984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F10691-0E51-0642-89F8-2E84D8B866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D74316-63BB-3446-BDDD-074CD2479E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677103"/>
            <a:ext cx="10515600" cy="141254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7D355E-B4A2-6F4F-B305-737A32A3ACE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84170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7112F8-AE85-BC4D-8ACE-BD36C70435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0E9A7C-E733-9C48-89C3-E864661018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36516" y="2438399"/>
            <a:ext cx="5083284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853515-618E-BC46-A98D-B716B4327E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438399"/>
            <a:ext cx="5181600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F872C4E-C1EA-6E4F-ACE3-4DD19FF177F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84945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2EAC0-550E-1740-BE53-8E9F0A34C0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0" y="882869"/>
            <a:ext cx="10419967" cy="8078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6707B4-CFB5-CF4A-9970-F7B61DECC9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5421" y="1839309"/>
            <a:ext cx="5062154" cy="66576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EA7258-4408-8940-BE1F-BB96B82778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35421" y="2653695"/>
            <a:ext cx="5062154" cy="3607406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1E6BE5-8409-9441-A406-BB5D9E6F94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839309"/>
            <a:ext cx="5183188" cy="66576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3EBE53-5EFB-6744-957B-B93F2D10CC5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653695"/>
            <a:ext cx="5183188" cy="3607405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30A5D7E1-E327-DF48-B848-9BDF99F875D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80007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3651EA50-74CA-AA48-8D7F-2B85A97EE66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5404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46758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6AC4C19D-273F-DD4F-AB1E-92F31DD503B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01071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52473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DA9A9976-053D-644A-ACDD-10A8928C184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07211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9C3A92E6-32C2-FB44-B5B2-762BF26633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534275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4E849984-83FA-4B45-A602-6A412FE0CCE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99200"/>
            <a:ext cx="3873500" cy="355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5034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3C6088-92BE-7449-8B28-318FAB3F25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87425"/>
            <a:ext cx="4138612" cy="142995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A42DAB-D135-604C-8CA5-59E8EBB192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52673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DFE57F-E4E9-7543-83FD-1DD747CAD0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571750"/>
            <a:ext cx="4138612" cy="382905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2E940D73-0AAB-1944-9712-6637A75B1A9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324600"/>
            <a:ext cx="3873500" cy="3302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10484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342C89-5587-0348-8D17-7C08B2EAD6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1" y="956440"/>
            <a:ext cx="4011228" cy="1166649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521D3EC-E376-5D4E-835F-620AC359D3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62167" y="956441"/>
            <a:ext cx="6172200" cy="532370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B5B150-6498-3B43-813F-7D37535FB1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35420" y="2291254"/>
            <a:ext cx="4011229" cy="398889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131420AC-1CC6-B24D-864B-D3A8C0514E9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80150"/>
            <a:ext cx="3873500" cy="3746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317878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600">
                <a:solidFill>
                  <a:srgbClr val="002060"/>
                </a:solidFill>
              </a:defRPr>
            </a:lvl1pPr>
            <a:lvl2pPr>
              <a:defRPr sz="2400">
                <a:solidFill>
                  <a:schemeClr val="accent2">
                    <a:lumMod val="75000"/>
                  </a:schemeClr>
                </a:solidFill>
              </a:defRPr>
            </a:lvl2pPr>
            <a:lvl3pPr>
              <a:defRPr sz="2000"/>
            </a:lvl3pPr>
            <a:lvl4pPr>
              <a:defRPr sz="18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C656F1-AD33-45CA-85C7-DC330226D9FE}" type="datetime1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09600" y="6324601"/>
            <a:ext cx="2844800" cy="365125"/>
          </a:xfrm>
        </p:spPr>
        <p:txBody>
          <a:bodyPr/>
          <a:lstStyle/>
          <a:p>
            <a:pPr algn="l"/>
            <a:fld id="{4FBCB832-F407-431A-BE08-B640AFF97906}" type="slidenum">
              <a:rPr lang="en-US" smtClean="0"/>
              <a:pPr algn="l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8512057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EF94DD4-5043-4A3A-99E2-3B90AB8E4ADF}" type="datetime1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F482688-28AB-45F1-92FC-1F2EF8C09099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99136459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81450464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875062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248008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48110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7438232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7F930-5302-8041-8D70-01651E1577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4217" y="1351721"/>
            <a:ext cx="10555357" cy="2317267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2F13BE-DC53-5D42-92BC-B1405D01D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4217" y="4228203"/>
            <a:ext cx="10555357" cy="137746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440867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8220731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080891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1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2.png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2.xml"/><Relationship Id="rId2" Type="http://schemas.openxmlformats.org/officeDocument/2006/relationships/slideLayout" Target="../slideLayouts/slideLayout21.xml"/><Relationship Id="rId1" Type="http://schemas.openxmlformats.org/officeDocument/2006/relationships/slideLayout" Target="../slideLayouts/slideLayout20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58DCC4-D98B-2742-9141-E813C534FE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21E8D8-70CD-BF4D-805E-3BA2B3E848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6516" y="2449386"/>
            <a:ext cx="10417284" cy="3835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0FD0265-AE87-AC4A-BBB3-EF8B93299236}"/>
              </a:ext>
            </a:extLst>
          </p:cNvPr>
          <p:cNvCxnSpPr>
            <a:cxnSpLocks/>
          </p:cNvCxnSpPr>
          <p:nvPr/>
        </p:nvCxnSpPr>
        <p:spPr>
          <a:xfrm>
            <a:off x="936516" y="730089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1606507F-9FCF-7C40-9CCC-8081F5D27FC8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8050924" y="471954"/>
            <a:ext cx="3880944" cy="160105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215C687-9087-C947-AB5A-223EF7DA7E9A}"/>
              </a:ext>
            </a:extLst>
          </p:cNvPr>
          <p:cNvCxnSpPr>
            <a:cxnSpLocks/>
          </p:cNvCxnSpPr>
          <p:nvPr/>
        </p:nvCxnSpPr>
        <p:spPr>
          <a:xfrm>
            <a:off x="936516" y="388502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9" name="Picture 28">
            <a:extLst>
              <a:ext uri="{FF2B5EF4-FFF2-40B4-BE49-F238E27FC236}">
                <a16:creationId xmlns:a16="http://schemas.microsoft.com/office/drawing/2014/main" id="{3AF69D0A-C2A3-A54B-87B3-155829A53D57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32474" y="160495"/>
            <a:ext cx="804042" cy="804042"/>
          </a:xfrm>
          <a:prstGeom prst="rect">
            <a:avLst/>
          </a:prstGeom>
        </p:spPr>
      </p:pic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2A6E712-938E-934E-86D2-CF80E3166B5B}"/>
              </a:ext>
            </a:extLst>
          </p:cNvPr>
          <p:cNvCxnSpPr>
            <a:cxnSpLocks/>
          </p:cNvCxnSpPr>
          <p:nvPr/>
        </p:nvCxnSpPr>
        <p:spPr>
          <a:xfrm>
            <a:off x="936516" y="6652668"/>
            <a:ext cx="10417284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992432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9" r:id="rId13"/>
    <p:sldLayoutId id="2147483680" r:id="rId14"/>
    <p:sldLayoutId id="2147483682" r:id="rId15"/>
    <p:sldLayoutId id="2147483683" r:id="rId16"/>
    <p:sldLayoutId id="2147483685" r:id="rId17"/>
    <p:sldLayoutId id="2147483686" r:id="rId18"/>
    <p:sldLayoutId id="2147483687" r:id="rId19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i="0" kern="1200" baseline="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B30738"/>
        </a:buClr>
        <a:buFont typeface="Arial" panose="020B0604020202020204" pitchFamily="34" charset="0"/>
        <a:buChar char="•"/>
        <a:defRPr sz="2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20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8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6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B307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5EF7EA9-7F89-AB44-B414-A35A39B886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0015"/>
            <a:ext cx="10515600" cy="6427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FD578A8-B26A-4945-96B6-DF5E5BC7DE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2697162"/>
            <a:ext cx="10515600" cy="32464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 err="1"/>
              <a:t>Secod</a:t>
            </a:r>
            <a:r>
              <a:rPr lang="en-US" dirty="0"/>
              <a:t>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94CFB0A-34C6-5D42-83C5-6E58C3499080}"/>
              </a:ext>
            </a:extLst>
          </p:cNvPr>
          <p:cNvCxnSpPr>
            <a:cxnSpLocks/>
          </p:cNvCxnSpPr>
          <p:nvPr/>
        </p:nvCxnSpPr>
        <p:spPr>
          <a:xfrm>
            <a:off x="956394" y="730089"/>
            <a:ext cx="11255484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306B758-975E-984A-8DF2-F551E50A3FBA}"/>
              </a:ext>
            </a:extLst>
          </p:cNvPr>
          <p:cNvCxnSpPr>
            <a:cxnSpLocks/>
          </p:cNvCxnSpPr>
          <p:nvPr/>
        </p:nvCxnSpPr>
        <p:spPr>
          <a:xfrm>
            <a:off x="956394" y="388502"/>
            <a:ext cx="11255484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Picture 15">
            <a:extLst>
              <a:ext uri="{FF2B5EF4-FFF2-40B4-BE49-F238E27FC236}">
                <a16:creationId xmlns:a16="http://schemas.microsoft.com/office/drawing/2014/main" id="{4BCBDF38-9EC5-8347-AE99-4FA5381A78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50924" y="472981"/>
            <a:ext cx="3880944" cy="172629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FA5D1952-D4DE-0B48-9AEC-F81A6CB6ED0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2474" y="157274"/>
            <a:ext cx="804042" cy="8040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86267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i="0" kern="1200">
          <a:solidFill>
            <a:schemeClr val="bg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2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Relationship Id="rId9" Type="http://schemas.openxmlformats.org/officeDocument/2006/relationships/image" Target="../media/image1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9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hyperlink" Target="https://www.eclipse.org/downloads/packages/release/kepler/sr1/eclipse-ide-java-developers" TargetMode="Externa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eg"/><Relationship Id="rId1" Type="http://schemas.openxmlformats.org/officeDocument/2006/relationships/slideLayout" Target="../slideLayouts/slideLayout1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3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DAF3DE3F-7502-904F-9BAB-B1F5DEA23BE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46730"/>
            <a:ext cx="9144000" cy="1969142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tx1"/>
                </a:solidFill>
              </a:rPr>
              <a:t>Fall 2026</a:t>
            </a:r>
          </a:p>
          <a:p>
            <a:r>
              <a:rPr lang="en-US" dirty="0">
                <a:solidFill>
                  <a:schemeClr val="tx1"/>
                </a:solidFill>
              </a:rPr>
              <a:t>Object-Oriented Analysis, Design and Programming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Department of Computer Science and Engineering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A818BAB-0338-734A-B1E8-2463F3B297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CSEN160</a:t>
            </a:r>
          </a:p>
        </p:txBody>
      </p:sp>
    </p:spTree>
    <p:extLst>
      <p:ext uri="{BB962C8B-B14F-4D97-AF65-F5344CB8AC3E}">
        <p14:creationId xmlns:p14="http://schemas.microsoft.com/office/powerpoint/2010/main" val="40520801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9855D3-876C-C343-BD87-E7730E1CFF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Java Introduction</a:t>
            </a:r>
            <a:br>
              <a:rPr lang="en-US" dirty="0"/>
            </a:br>
            <a:r>
              <a:rPr lang="en-US" dirty="0"/>
              <a:t>&amp; Refresher</a:t>
            </a:r>
          </a:p>
        </p:txBody>
      </p:sp>
    </p:spTree>
    <p:extLst>
      <p:ext uri="{BB962C8B-B14F-4D97-AF65-F5344CB8AC3E}">
        <p14:creationId xmlns:p14="http://schemas.microsoft.com/office/powerpoint/2010/main" val="36705408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489AFE-BB65-98FA-C0D6-B4BC0424F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DB75293D-7F90-D26D-EB00-4BE90EF882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0630" y="765695"/>
            <a:ext cx="10394864" cy="537987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CF978AC-8ABB-49F8-8128-8CD9EC734A77}"/>
              </a:ext>
            </a:extLst>
          </p:cNvPr>
          <p:cNvSpPr txBox="1"/>
          <p:nvPr/>
        </p:nvSpPr>
        <p:spPr>
          <a:xfrm>
            <a:off x="1056010" y="6353274"/>
            <a:ext cx="536210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Source: https://www.youtube.com/watch?v=WLhN2Q8mXvI&amp;t=1s</a:t>
            </a:r>
          </a:p>
        </p:txBody>
      </p:sp>
    </p:spTree>
    <p:extLst>
      <p:ext uri="{BB962C8B-B14F-4D97-AF65-F5344CB8AC3E}">
        <p14:creationId xmlns:p14="http://schemas.microsoft.com/office/powerpoint/2010/main" val="15036563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1056010" y="6353274"/>
            <a:ext cx="715266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Source: https://www.youtube.com/watch?v=hL85pP3KZ7c&amp;ab_channel=CodingwithDee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883781"/>
            <a:ext cx="11186616" cy="53628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48499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1056010" y="6353274"/>
            <a:ext cx="475938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Source: https://www.youtube.com/watch?v=5yAbVkIMl_M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C9AF6DE-6B17-2F02-A713-ABC075CA9F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7110" y="806990"/>
            <a:ext cx="9657779" cy="55319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38904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4537" y="758530"/>
            <a:ext cx="3623346" cy="711101"/>
          </a:xfrm>
        </p:spPr>
        <p:txBody>
          <a:bodyPr>
            <a:normAutofit/>
          </a:bodyPr>
          <a:lstStyle/>
          <a:p>
            <a:r>
              <a:rPr lang="en-US" dirty="0"/>
              <a:t>Java History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5459" y="1469631"/>
            <a:ext cx="5373112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James Gosling in June 1991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Sun Microsystems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Designed for set-top boxes, consumer market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Former names: “</a:t>
            </a:r>
            <a:r>
              <a:rPr lang="en-US" dirty="0" err="1"/>
              <a:t>Greentalk</a:t>
            </a:r>
            <a:r>
              <a:rPr lang="en-US" dirty="0"/>
              <a:t>”, “OAK”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1995 named to “Java”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1995 Netscape Applet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10 best products of 1995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January 23</a:t>
            </a:r>
            <a:r>
              <a:rPr lang="en-US" baseline="30000" dirty="0"/>
              <a:t>rd</a:t>
            </a:r>
            <a:r>
              <a:rPr lang="en-US" dirty="0"/>
              <a:t>, 1996 JDK 1.0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December 8</a:t>
            </a:r>
            <a:r>
              <a:rPr lang="en-US" b="1" baseline="30000" dirty="0"/>
              <a:t>th</a:t>
            </a:r>
            <a:r>
              <a:rPr lang="en-US" b="1" dirty="0"/>
              <a:t>, 1998 JDK1.2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2010 Sun bought by Oracle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63412" y="957883"/>
            <a:ext cx="2492277" cy="1901622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9672" y="5772438"/>
            <a:ext cx="6950710" cy="653160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49672" y="4804718"/>
            <a:ext cx="4827941" cy="892652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17551" y="4757149"/>
            <a:ext cx="1338978" cy="370124"/>
          </a:xfrm>
          <a:prstGeom prst="rect">
            <a:avLst/>
          </a:prstGeom>
        </p:spPr>
      </p:pic>
      <p:pic>
        <p:nvPicPr>
          <p:cNvPr id="14" name="Picture 1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50331" y="3009961"/>
            <a:ext cx="3226161" cy="1510806"/>
          </a:xfrm>
          <a:prstGeom prst="rect">
            <a:avLst/>
          </a:prstGeom>
        </p:spPr>
      </p:pic>
      <p:pic>
        <p:nvPicPr>
          <p:cNvPr id="15" name="Picture 14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26323" y="3343058"/>
            <a:ext cx="657737" cy="1074471"/>
          </a:xfrm>
          <a:prstGeom prst="rect">
            <a:avLst/>
          </a:prstGeom>
        </p:spPr>
      </p:pic>
      <p:pic>
        <p:nvPicPr>
          <p:cNvPr id="17" name="Picture 16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669029" y="4757149"/>
            <a:ext cx="2494323" cy="1756061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79493" y="943014"/>
            <a:ext cx="2630066" cy="19164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57665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011505" y="6368663"/>
            <a:ext cx="396105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From: https://www.youtube.com/watch?v=DcQPtlFlgzY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2161" y="1605000"/>
            <a:ext cx="7772603" cy="4675537"/>
          </a:xfrm>
          <a:prstGeom prst="rect">
            <a:avLst/>
          </a:prstGeom>
        </p:spPr>
      </p:pic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544052" y="1105561"/>
            <a:ext cx="7964723" cy="711101"/>
          </a:xfrm>
        </p:spPr>
        <p:txBody>
          <a:bodyPr>
            <a:normAutofit fontScale="90000"/>
          </a:bodyPr>
          <a:lstStyle/>
          <a:p>
            <a:r>
              <a:rPr lang="en-US" dirty="0"/>
              <a:t>Principles for creating Java programs: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20979" y="2715126"/>
            <a:ext cx="260684" cy="260684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74506" y="2715126"/>
            <a:ext cx="260684" cy="260684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03621" y="3276600"/>
            <a:ext cx="260684" cy="260684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2161" y="3940289"/>
            <a:ext cx="260684" cy="260684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31347" y="4570070"/>
            <a:ext cx="260684" cy="260684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42937" y="5159590"/>
            <a:ext cx="260684" cy="26068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84821" y="5855368"/>
            <a:ext cx="260684" cy="260684"/>
          </a:xfrm>
          <a:prstGeom prst="rect">
            <a:avLst/>
          </a:prstGeom>
        </p:spPr>
      </p:pic>
      <p:pic>
        <p:nvPicPr>
          <p:cNvPr id="14" name="Picture 1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68852" y="4495800"/>
            <a:ext cx="260684" cy="260684"/>
          </a:xfrm>
          <a:prstGeom prst="rect">
            <a:avLst/>
          </a:prstGeom>
        </p:spPr>
      </p:pic>
      <p:pic>
        <p:nvPicPr>
          <p:cNvPr id="15" name="Picture 1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52284" y="3304674"/>
            <a:ext cx="260684" cy="260684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1796" y="1746584"/>
            <a:ext cx="439153" cy="439153"/>
          </a:xfrm>
          <a:prstGeom prst="rect">
            <a:avLst/>
          </a:prstGeom>
        </p:spPr>
      </p:pic>
      <p:pic>
        <p:nvPicPr>
          <p:cNvPr id="18" name="Picture 1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48008" y="4997165"/>
            <a:ext cx="439153" cy="439153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38278" y="2987649"/>
            <a:ext cx="2823411" cy="9541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buAutoNum type="arabicParenR"/>
            </a:pPr>
            <a:r>
              <a:rPr lang="en-US" sz="800" b="1" dirty="0"/>
              <a:t>Java is dynamic in nature</a:t>
            </a:r>
            <a:r>
              <a:rPr lang="en-US" sz="800" dirty="0"/>
              <a:t> because of its support for dynamic loading of classes at runtime, allowing programs to dynamically link in new class definitions. </a:t>
            </a:r>
          </a:p>
          <a:p>
            <a:pPr marL="228600" indent="-228600">
              <a:buAutoNum type="arabicParenR"/>
            </a:pPr>
            <a:endParaRPr lang="en-US" sz="800" dirty="0"/>
          </a:p>
          <a:p>
            <a:pPr marL="228600" indent="-228600">
              <a:buAutoNum type="arabicParenR"/>
            </a:pPr>
            <a:r>
              <a:rPr lang="en-US" sz="800" b="1" dirty="0"/>
              <a:t>Java's reflection </a:t>
            </a:r>
            <a:r>
              <a:rPr lang="en-US" sz="800" dirty="0"/>
              <a:t>API enables dynamic introspection of classes, methods, fields, and annotations at runtime</a:t>
            </a:r>
          </a:p>
        </p:txBody>
      </p:sp>
      <p:pic>
        <p:nvPicPr>
          <p:cNvPr id="19" name="Picture 18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03042" y="3932267"/>
            <a:ext cx="260684" cy="2606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59130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Title 1"/>
          <p:cNvSpPr>
            <a:spLocks noGrp="1"/>
          </p:cNvSpPr>
          <p:nvPr>
            <p:ph type="title"/>
          </p:nvPr>
        </p:nvSpPr>
        <p:spPr>
          <a:xfrm>
            <a:off x="1733044" y="1244824"/>
            <a:ext cx="8229600" cy="531378"/>
          </a:xfrm>
          <a:ln>
            <a:miter lim="800000"/>
            <a:headEnd/>
            <a:tailEnd/>
          </a:ln>
        </p:spPr>
        <p:txBody>
          <a:bodyPr>
            <a:normAutofit fontScale="90000"/>
          </a:bodyPr>
          <a:lstStyle/>
          <a:p>
            <a:r>
              <a:rPr lang="en-US" altLang="en-US" dirty="0"/>
              <a:t>Components of Java Architecture</a:t>
            </a:r>
          </a:p>
        </p:txBody>
      </p:sp>
      <p:sp>
        <p:nvSpPr>
          <p:cNvPr id="27651" name="Content Placeholder 2"/>
          <p:cNvSpPr>
            <a:spLocks noGrp="1"/>
          </p:cNvSpPr>
          <p:nvPr>
            <p:ph idx="1"/>
          </p:nvPr>
        </p:nvSpPr>
        <p:spPr>
          <a:xfrm>
            <a:off x="1801826" y="2010871"/>
            <a:ext cx="8839200" cy="4626550"/>
          </a:xfrm>
          <a:ln>
            <a:miter lim="800000"/>
            <a:headEnd/>
            <a:tailEnd/>
          </a:ln>
        </p:spPr>
        <p:txBody>
          <a:bodyPr>
            <a:normAutofit/>
          </a:bodyPr>
          <a:lstStyle/>
          <a:p>
            <a:r>
              <a:rPr lang="en-US" altLang="en-US" dirty="0"/>
              <a:t>The Java programming </a:t>
            </a:r>
            <a:r>
              <a:rPr lang="en-US" altLang="en-US" b="1" dirty="0"/>
              <a:t>language</a:t>
            </a:r>
            <a:r>
              <a:rPr lang="en-US" altLang="en-US" dirty="0"/>
              <a:t> </a:t>
            </a:r>
          </a:p>
          <a:p>
            <a:endParaRPr lang="en-US" altLang="en-US" dirty="0"/>
          </a:p>
          <a:p>
            <a:r>
              <a:rPr lang="en-US" altLang="en-US" dirty="0"/>
              <a:t>The Java </a:t>
            </a:r>
            <a:r>
              <a:rPr lang="en-US" altLang="en-US" b="1" dirty="0"/>
              <a:t>class</a:t>
            </a:r>
            <a:r>
              <a:rPr lang="en-US" altLang="en-US" dirty="0"/>
              <a:t> file format </a:t>
            </a:r>
          </a:p>
          <a:p>
            <a:endParaRPr lang="en-US" altLang="en-US" dirty="0"/>
          </a:p>
          <a:p>
            <a:r>
              <a:rPr lang="en-US" altLang="en-US" dirty="0"/>
              <a:t>The Java Application Programming Interface (</a:t>
            </a:r>
            <a:r>
              <a:rPr lang="en-US" altLang="en-US" b="1" dirty="0"/>
              <a:t>API</a:t>
            </a:r>
            <a:r>
              <a:rPr lang="en-US" altLang="en-US" dirty="0"/>
              <a:t>)</a:t>
            </a:r>
          </a:p>
          <a:p>
            <a:endParaRPr lang="en-US" altLang="en-US" dirty="0"/>
          </a:p>
          <a:p>
            <a:r>
              <a:rPr lang="en-US" altLang="en-US" dirty="0"/>
              <a:t>The Java virtual machine (</a:t>
            </a:r>
            <a:r>
              <a:rPr lang="en-US" altLang="en-US" b="1" dirty="0"/>
              <a:t>JVM</a:t>
            </a:r>
            <a:r>
              <a:rPr lang="en-US" altLang="en-US" dirty="0"/>
              <a:t>)</a:t>
            </a:r>
          </a:p>
        </p:txBody>
      </p:sp>
      <p:sp>
        <p:nvSpPr>
          <p:cNvPr id="27652" name="Slide Number Placeholder 3"/>
          <p:cNvSpPr>
            <a:spLocks noGrp="1"/>
          </p:cNvSpPr>
          <p:nvPr>
            <p:ph type="sldNum" sz="quarter" idx="10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200" dirty="0">
                <a:solidFill>
                  <a:srgbClr val="898989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9947614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81795" y="1120256"/>
            <a:ext cx="3602304" cy="563562"/>
          </a:xfrm>
        </p:spPr>
        <p:txBody>
          <a:bodyPr>
            <a:normAutofit fontScale="90000"/>
          </a:bodyPr>
          <a:lstStyle/>
          <a:p>
            <a:pPr>
              <a:defRPr/>
            </a:pPr>
            <a:r>
              <a:rPr lang="en-US" dirty="0"/>
              <a:t>Java 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16860" y="1901628"/>
            <a:ext cx="8686800" cy="4648875"/>
          </a:xfrm>
        </p:spPr>
        <p:txBody>
          <a:bodyPr>
            <a:normAutofit/>
          </a:bodyPr>
          <a:lstStyle/>
          <a:p>
            <a:pPr>
              <a:buFont typeface="Arial" charset="0"/>
              <a:buChar char="•"/>
              <a:defRPr/>
            </a:pPr>
            <a:r>
              <a:rPr lang="en-US" altLang="en-US" sz="2400" b="1" dirty="0">
                <a:solidFill>
                  <a:srgbClr val="800000"/>
                </a:solidFill>
              </a:rPr>
              <a:t>Java</a:t>
            </a:r>
            <a:r>
              <a:rPr lang="en-US" altLang="en-US" sz="2400" dirty="0"/>
              <a:t> is an Object-Oriented Programming language. </a:t>
            </a:r>
            <a:br>
              <a:rPr lang="en-US" altLang="en-US" sz="2400" dirty="0"/>
            </a:br>
            <a:r>
              <a:rPr lang="en-US" altLang="en-US" sz="2400" dirty="0"/>
              <a:t>(Syntax </a:t>
            </a:r>
            <a:r>
              <a:rPr lang="en-US" altLang="en-US" sz="2400" dirty="0">
                <a:solidFill>
                  <a:srgbClr val="FF0000"/>
                </a:solidFill>
              </a:rPr>
              <a:t>similar</a:t>
            </a:r>
            <a:r>
              <a:rPr lang="en-US" altLang="en-US" sz="2400" dirty="0"/>
              <a:t> to C++)</a:t>
            </a:r>
            <a:endParaRPr lang="en-US" dirty="0">
              <a:solidFill>
                <a:srgbClr val="92D050"/>
              </a:solidFill>
            </a:endParaRPr>
          </a:p>
          <a:p>
            <a:pPr>
              <a:buFont typeface="Arial" charset="0"/>
              <a:buChar char="•"/>
              <a:defRPr/>
            </a:pPr>
            <a:r>
              <a:rPr lang="en-US" dirty="0"/>
              <a:t>Write your </a:t>
            </a:r>
            <a:r>
              <a:rPr lang="en-US" dirty="0">
                <a:solidFill>
                  <a:srgbClr val="C00000"/>
                </a:solidFill>
              </a:rPr>
              <a:t>Java </a:t>
            </a:r>
            <a:r>
              <a:rPr lang="en-US" dirty="0"/>
              <a:t>program in a .java source file.</a:t>
            </a:r>
          </a:p>
          <a:p>
            <a:pPr>
              <a:buFont typeface="Arial" charset="0"/>
              <a:buChar char="•"/>
              <a:defRPr/>
            </a:pPr>
            <a:r>
              <a:rPr lang="en-US" dirty="0"/>
              <a:t>Compile </a:t>
            </a:r>
            <a:r>
              <a:rPr lang="en-US" dirty="0">
                <a:solidFill>
                  <a:srgbClr val="C00000"/>
                </a:solidFill>
              </a:rPr>
              <a:t>(</a:t>
            </a:r>
            <a:r>
              <a:rPr lang="en-US" dirty="0" err="1">
                <a:solidFill>
                  <a:srgbClr val="C00000"/>
                </a:solidFill>
              </a:rPr>
              <a:t>javac</a:t>
            </a:r>
            <a:r>
              <a:rPr lang="en-US" dirty="0">
                <a:solidFill>
                  <a:srgbClr val="C00000"/>
                </a:solidFill>
              </a:rPr>
              <a:t>) </a:t>
            </a:r>
            <a:r>
              <a:rPr lang="en-US" dirty="0"/>
              <a:t>the source into bytecode. </a:t>
            </a:r>
            <a:br>
              <a:rPr lang="en-US" dirty="0"/>
            </a:br>
            <a:r>
              <a:rPr lang="en-US" dirty="0"/>
              <a:t>Resulting in: Java </a:t>
            </a:r>
            <a:r>
              <a:rPr lang="en-US" dirty="0">
                <a:solidFill>
                  <a:srgbClr val="C00000"/>
                </a:solidFill>
              </a:rPr>
              <a:t>class files</a:t>
            </a:r>
            <a:r>
              <a:rPr lang="en-US" dirty="0"/>
              <a:t>. </a:t>
            </a:r>
          </a:p>
          <a:p>
            <a:pPr>
              <a:buFont typeface="Arial" charset="0"/>
              <a:buChar char="•"/>
              <a:defRPr/>
            </a:pPr>
            <a:r>
              <a:rPr lang="en-US" dirty="0"/>
              <a:t>Run the class files </a:t>
            </a:r>
            <a:r>
              <a:rPr lang="en-US" dirty="0">
                <a:solidFill>
                  <a:srgbClr val="C00000"/>
                </a:solidFill>
              </a:rPr>
              <a:t>(java) </a:t>
            </a:r>
            <a:r>
              <a:rPr lang="en-US" dirty="0"/>
              <a:t>on a </a:t>
            </a:r>
            <a:r>
              <a:rPr lang="en-US" dirty="0">
                <a:solidFill>
                  <a:srgbClr val="C00000"/>
                </a:solidFill>
              </a:rPr>
              <a:t>Java Virtual Machine</a:t>
            </a:r>
            <a:r>
              <a:rPr lang="en-US" dirty="0"/>
              <a:t>. </a:t>
            </a:r>
          </a:p>
          <a:p>
            <a:pPr>
              <a:buFont typeface="Arial" charset="0"/>
              <a:buChar char="•"/>
              <a:defRPr/>
            </a:pPr>
            <a:endParaRPr lang="en-US" dirty="0"/>
          </a:p>
          <a:p>
            <a:pPr>
              <a:buFont typeface="Arial" charset="0"/>
              <a:buChar char="•"/>
              <a:defRPr/>
            </a:pPr>
            <a:r>
              <a:rPr lang="en-US" dirty="0"/>
              <a:t>The JVM and Java API together are called the: </a:t>
            </a:r>
            <a:br>
              <a:rPr lang="en-US" dirty="0"/>
            </a:br>
            <a:r>
              <a:rPr lang="en-US" dirty="0">
                <a:solidFill>
                  <a:srgbClr val="C00000"/>
                </a:solidFill>
              </a:rPr>
              <a:t>Java Run time </a:t>
            </a:r>
            <a:r>
              <a:rPr lang="en-US" dirty="0"/>
              <a:t>or </a:t>
            </a:r>
            <a:r>
              <a:rPr lang="en-US" dirty="0">
                <a:solidFill>
                  <a:srgbClr val="C00000"/>
                </a:solidFill>
              </a:rPr>
              <a:t>Java platform</a:t>
            </a:r>
            <a:r>
              <a:rPr lang="en-US" dirty="0"/>
              <a:t>.</a:t>
            </a:r>
          </a:p>
          <a:p>
            <a:pPr>
              <a:buFont typeface="Arial" charset="0"/>
              <a:buChar char="•"/>
              <a:defRPr/>
            </a:pPr>
            <a:r>
              <a:rPr lang="en-US" dirty="0"/>
              <a:t>A Java program can run anywhere the Java Platform is present. </a:t>
            </a:r>
          </a:p>
        </p:txBody>
      </p:sp>
      <p:sp>
        <p:nvSpPr>
          <p:cNvPr id="28676" name="Slide Number Placeholder 3"/>
          <p:cNvSpPr>
            <a:spLocks noGrp="1"/>
          </p:cNvSpPr>
          <p:nvPr>
            <p:ph type="sldNum" sz="quarter" idx="10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200" dirty="0">
                <a:solidFill>
                  <a:srgbClr val="898989"/>
                </a:solidFill>
              </a:rPr>
              <a:t> 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19742" y="988075"/>
            <a:ext cx="3514860" cy="3411046"/>
          </a:xfrm>
          <a:prstGeom prst="rect">
            <a:avLst/>
          </a:prstGeom>
        </p:spPr>
      </p:pic>
      <p:sp>
        <p:nvSpPr>
          <p:cNvPr id="6" name="Right Arrow 5"/>
          <p:cNvSpPr/>
          <p:nvPr/>
        </p:nvSpPr>
        <p:spPr>
          <a:xfrm>
            <a:off x="7050091" y="3337983"/>
            <a:ext cx="1240199" cy="186098"/>
          </a:xfrm>
          <a:prstGeom prst="rightArrow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35113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Title 1"/>
          <p:cNvSpPr>
            <a:spLocks noGrp="1"/>
          </p:cNvSpPr>
          <p:nvPr>
            <p:ph type="title"/>
          </p:nvPr>
        </p:nvSpPr>
        <p:spPr>
          <a:ln>
            <a:miter lim="800000"/>
            <a:headEnd/>
            <a:tailEnd/>
          </a:ln>
        </p:spPr>
        <p:txBody>
          <a:bodyPr/>
          <a:lstStyle/>
          <a:p>
            <a:r>
              <a:rPr lang="en-US" altLang="en-US"/>
              <a:t>The Java Virtual Machine (JVM)</a:t>
            </a:r>
          </a:p>
        </p:txBody>
      </p:sp>
      <p:sp>
        <p:nvSpPr>
          <p:cNvPr id="30723" name="Content Placeholder 2"/>
          <p:cNvSpPr>
            <a:spLocks noGrp="1"/>
          </p:cNvSpPr>
          <p:nvPr>
            <p:ph idx="1"/>
          </p:nvPr>
        </p:nvSpPr>
        <p:spPr>
          <a:xfrm>
            <a:off x="936516" y="2449385"/>
            <a:ext cx="10417284" cy="4097071"/>
          </a:xfrm>
          <a:ln>
            <a:miter lim="800000"/>
            <a:headEnd/>
            <a:tailEnd/>
          </a:ln>
        </p:spPr>
        <p:txBody>
          <a:bodyPr>
            <a:normAutofit/>
          </a:bodyPr>
          <a:lstStyle/>
          <a:p>
            <a:r>
              <a:rPr lang="en-US" altLang="en-US" dirty="0"/>
              <a:t>A JVM is also called the </a:t>
            </a:r>
            <a:r>
              <a:rPr lang="en-US" altLang="en-US" b="1" dirty="0"/>
              <a:t>Java Interpreter</a:t>
            </a:r>
            <a:r>
              <a:rPr lang="en-US" altLang="en-US" dirty="0"/>
              <a:t>.</a:t>
            </a:r>
          </a:p>
          <a:p>
            <a:endParaRPr lang="en-US" altLang="en-US" dirty="0"/>
          </a:p>
          <a:p>
            <a:r>
              <a:rPr lang="en-US" altLang="en-US" dirty="0"/>
              <a:t>A JVM’s main job is to: </a:t>
            </a:r>
            <a:r>
              <a:rPr lang="en-US" altLang="en-US" b="1" dirty="0">
                <a:solidFill>
                  <a:srgbClr val="92D050"/>
                </a:solidFill>
              </a:rPr>
              <a:t>load class files</a:t>
            </a:r>
            <a:r>
              <a:rPr lang="en-US" altLang="en-US" dirty="0"/>
              <a:t>, </a:t>
            </a:r>
            <a:r>
              <a:rPr lang="en-US" altLang="en-US" b="1" dirty="0">
                <a:solidFill>
                  <a:srgbClr val="00B0F0"/>
                </a:solidFill>
              </a:rPr>
              <a:t>execute bytecodes</a:t>
            </a:r>
            <a:r>
              <a:rPr lang="en-US" altLang="en-US" dirty="0"/>
              <a:t>. </a:t>
            </a:r>
          </a:p>
          <a:p>
            <a:endParaRPr lang="en-US" altLang="en-US" dirty="0"/>
          </a:p>
          <a:p>
            <a:r>
              <a:rPr lang="en-US" altLang="en-US" dirty="0"/>
              <a:t>A JVM is an implementation of the </a:t>
            </a:r>
            <a:r>
              <a:rPr lang="en-US" altLang="en-US" b="1" dirty="0"/>
              <a:t>Java Virtual Machine Specification</a:t>
            </a:r>
            <a:r>
              <a:rPr lang="en-US" altLang="en-US" dirty="0"/>
              <a:t>, </a:t>
            </a:r>
            <a:br>
              <a:rPr lang="en-US" altLang="en-US" dirty="0"/>
            </a:br>
            <a:r>
              <a:rPr lang="en-US" altLang="en-US" dirty="0"/>
              <a:t>to interpret compiled Java bytecode. </a:t>
            </a:r>
          </a:p>
        </p:txBody>
      </p:sp>
      <p:sp>
        <p:nvSpPr>
          <p:cNvPr id="30724" name="Slide Number Placeholder 3"/>
          <p:cNvSpPr>
            <a:spLocks noGrp="1"/>
          </p:cNvSpPr>
          <p:nvPr>
            <p:ph type="sldNum" sz="quarter" idx="10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200" dirty="0">
                <a:solidFill>
                  <a:srgbClr val="898989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4149605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DA25F2-3AE0-BDCF-0880-EDD5EEF55E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AE57A2-3A61-C5F8-EEFD-EA296178433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… to here …</a:t>
            </a:r>
          </a:p>
        </p:txBody>
      </p:sp>
    </p:spTree>
    <p:extLst>
      <p:ext uri="{BB962C8B-B14F-4D97-AF65-F5344CB8AC3E}">
        <p14:creationId xmlns:p14="http://schemas.microsoft.com/office/powerpoint/2010/main" val="281562403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Title 1"/>
          <p:cNvSpPr>
            <a:spLocks noGrp="1"/>
          </p:cNvSpPr>
          <p:nvPr>
            <p:ph type="title"/>
          </p:nvPr>
        </p:nvSpPr>
        <p:spPr>
          <a:ln>
            <a:miter lim="800000"/>
            <a:headEnd/>
            <a:tailEnd/>
          </a:ln>
        </p:spPr>
        <p:txBody>
          <a:bodyPr/>
          <a:lstStyle/>
          <a:p>
            <a:r>
              <a:rPr lang="en-US" altLang="en-US"/>
              <a:t>The Java Virtual Machine (JVM)</a:t>
            </a:r>
          </a:p>
        </p:txBody>
      </p:sp>
      <p:sp>
        <p:nvSpPr>
          <p:cNvPr id="30723" name="Content Placeholder 2"/>
          <p:cNvSpPr>
            <a:spLocks noGrp="1"/>
          </p:cNvSpPr>
          <p:nvPr>
            <p:ph idx="1"/>
          </p:nvPr>
        </p:nvSpPr>
        <p:spPr>
          <a:xfrm>
            <a:off x="936516" y="2449385"/>
            <a:ext cx="10417284" cy="4097071"/>
          </a:xfrm>
          <a:ln>
            <a:miter lim="800000"/>
            <a:headEnd/>
            <a:tailEnd/>
          </a:ln>
        </p:spPr>
        <p:txBody>
          <a:bodyPr>
            <a:normAutofit/>
          </a:bodyPr>
          <a:lstStyle/>
          <a:p>
            <a:r>
              <a:rPr lang="en-US" altLang="en-US" dirty="0"/>
              <a:t>JVMs are available for </a:t>
            </a:r>
            <a:r>
              <a:rPr lang="en-US" altLang="en-US" b="1" dirty="0"/>
              <a:t>many</a:t>
            </a:r>
            <a:r>
              <a:rPr lang="en-US" altLang="en-US" dirty="0"/>
              <a:t> platforms.</a:t>
            </a:r>
          </a:p>
          <a:p>
            <a:endParaRPr lang="en-US" altLang="en-US" dirty="0"/>
          </a:p>
          <a:p>
            <a:r>
              <a:rPr lang="en-US" altLang="en-US" dirty="0"/>
              <a:t>The class file compiled in </a:t>
            </a:r>
            <a:r>
              <a:rPr lang="en-US" altLang="en-US" b="1" dirty="0">
                <a:solidFill>
                  <a:srgbClr val="00B0F0"/>
                </a:solidFill>
              </a:rPr>
              <a:t>one platform</a:t>
            </a:r>
            <a:r>
              <a:rPr lang="en-US" altLang="en-US" dirty="0"/>
              <a:t>, will execute in a JVM of </a:t>
            </a:r>
            <a:r>
              <a:rPr lang="en-US" altLang="en-US" b="1" dirty="0">
                <a:solidFill>
                  <a:srgbClr val="92D050"/>
                </a:solidFill>
              </a:rPr>
              <a:t>another platform</a:t>
            </a:r>
            <a:r>
              <a:rPr lang="en-US" altLang="en-US" dirty="0"/>
              <a:t>.</a:t>
            </a:r>
          </a:p>
          <a:p>
            <a:endParaRPr lang="en-US" altLang="en-US" dirty="0"/>
          </a:p>
          <a:p>
            <a:r>
              <a:rPr lang="en-US" altLang="en-US" dirty="0"/>
              <a:t>“compile once, run anywhere”</a:t>
            </a:r>
          </a:p>
          <a:p>
            <a:endParaRPr lang="en-US" altLang="en-US" dirty="0"/>
          </a:p>
          <a:p>
            <a:r>
              <a:rPr lang="en-US" altLang="en-US" dirty="0"/>
              <a:t>Java platform-independent.</a:t>
            </a:r>
          </a:p>
        </p:txBody>
      </p:sp>
      <p:sp>
        <p:nvSpPr>
          <p:cNvPr id="30724" name="Slide Number Placeholder 3"/>
          <p:cNvSpPr>
            <a:spLocks noGrp="1"/>
          </p:cNvSpPr>
          <p:nvPr>
            <p:ph type="sldNum" sz="quarter" idx="10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200" dirty="0">
                <a:solidFill>
                  <a:srgbClr val="898989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98909616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Title 1"/>
          <p:cNvSpPr>
            <a:spLocks noGrp="1"/>
          </p:cNvSpPr>
          <p:nvPr>
            <p:ph type="title"/>
          </p:nvPr>
        </p:nvSpPr>
        <p:spPr>
          <a:xfrm>
            <a:off x="1256151" y="1121745"/>
            <a:ext cx="7612719" cy="801459"/>
          </a:xfrm>
          <a:ln>
            <a:miter lim="800000"/>
            <a:headEnd/>
            <a:tailEnd/>
          </a:ln>
        </p:spPr>
        <p:txBody>
          <a:bodyPr/>
          <a:lstStyle/>
          <a:p>
            <a:r>
              <a:rPr lang="en-US" altLang="en-US" dirty="0"/>
              <a:t>The Java Programming Language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1830" y="1971756"/>
            <a:ext cx="8458200" cy="4590881"/>
          </a:xfrm>
        </p:spPr>
        <p:txBody>
          <a:bodyPr>
            <a:normAutofit/>
          </a:bodyPr>
          <a:lstStyle/>
          <a:p>
            <a:pPr>
              <a:buFont typeface="Arial" charset="0"/>
              <a:buChar char="•"/>
              <a:defRPr/>
            </a:pPr>
            <a:r>
              <a:rPr lang="en-US" b="1" dirty="0">
                <a:solidFill>
                  <a:srgbClr val="FF0000"/>
                </a:solidFill>
              </a:rPr>
              <a:t>Objects</a:t>
            </a:r>
            <a:r>
              <a:rPr lang="en-US" dirty="0"/>
              <a:t>: Objects (structures) that contain data (fields) and code (as procedures). </a:t>
            </a:r>
          </a:p>
          <a:p>
            <a:pPr>
              <a:buFont typeface="Arial" charset="0"/>
              <a:buChar char="•"/>
              <a:defRPr/>
            </a:pPr>
            <a:endParaRPr lang="en-US" b="1" dirty="0">
              <a:solidFill>
                <a:srgbClr val="FF0000"/>
              </a:solidFill>
            </a:endParaRPr>
          </a:p>
          <a:p>
            <a:pPr>
              <a:buFont typeface="Arial" charset="0"/>
              <a:buChar char="•"/>
              <a:defRPr/>
            </a:pPr>
            <a:r>
              <a:rPr lang="en-US" b="1" dirty="0">
                <a:solidFill>
                  <a:srgbClr val="FF0000"/>
                </a:solidFill>
              </a:rPr>
              <a:t>Inheritance</a:t>
            </a:r>
            <a:r>
              <a:rPr lang="en-US" dirty="0"/>
              <a:t>: Classes are organized into hierarchies, </a:t>
            </a:r>
            <a:br>
              <a:rPr lang="en-US" dirty="0"/>
            </a:br>
            <a:r>
              <a:rPr lang="en-US" dirty="0"/>
              <a:t>a child inherits properties from a parent.</a:t>
            </a:r>
          </a:p>
          <a:p>
            <a:pPr>
              <a:buFont typeface="Arial" charset="0"/>
              <a:buChar char="•"/>
              <a:defRPr/>
            </a:pPr>
            <a:endParaRPr lang="en-US" b="1" dirty="0">
              <a:solidFill>
                <a:srgbClr val="FF0000"/>
              </a:solidFill>
            </a:endParaRPr>
          </a:p>
          <a:p>
            <a:pPr>
              <a:buFont typeface="Arial" charset="0"/>
              <a:buChar char="•"/>
              <a:defRPr/>
            </a:pPr>
            <a:r>
              <a:rPr lang="en-US" b="1" dirty="0">
                <a:solidFill>
                  <a:srgbClr val="FF0000"/>
                </a:solidFill>
              </a:rPr>
              <a:t>Polymorphism</a:t>
            </a:r>
            <a:r>
              <a:rPr lang="en-US" dirty="0"/>
              <a:t>: Polymorphism is the ability of an object to take on many forms. </a:t>
            </a:r>
          </a:p>
          <a:p>
            <a:pPr>
              <a:buFont typeface="Arial" charset="0"/>
              <a:buChar char="•"/>
              <a:defRPr/>
            </a:pPr>
            <a:endParaRPr lang="en-US" dirty="0"/>
          </a:p>
          <a:p>
            <a:pPr>
              <a:buFont typeface="Arial" charset="0"/>
              <a:buChar char="•"/>
              <a:defRPr/>
            </a:pPr>
            <a:endParaRPr lang="en-US" dirty="0"/>
          </a:p>
          <a:p>
            <a:pPr>
              <a:buFont typeface="Arial" charset="0"/>
              <a:buChar char="•"/>
              <a:defRPr/>
            </a:pPr>
            <a:endParaRPr lang="en-US" dirty="0"/>
          </a:p>
          <a:p>
            <a:pPr>
              <a:buFont typeface="Arial" charset="0"/>
              <a:buChar char="•"/>
              <a:defRPr/>
            </a:pPr>
            <a:endParaRPr lang="en-US" dirty="0"/>
          </a:p>
        </p:txBody>
      </p:sp>
      <p:sp>
        <p:nvSpPr>
          <p:cNvPr id="34820" name="Slide Number Placeholder 3"/>
          <p:cNvSpPr>
            <a:spLocks noGrp="1"/>
          </p:cNvSpPr>
          <p:nvPr>
            <p:ph type="sldNum" sz="quarter" idx="10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200" dirty="0">
                <a:solidFill>
                  <a:srgbClr val="898989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89805341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4311" y="918343"/>
            <a:ext cx="1563923" cy="468340"/>
          </a:xfrm>
        </p:spPr>
        <p:txBody>
          <a:bodyPr>
            <a:normAutofit fontScale="90000"/>
          </a:bodyPr>
          <a:lstStyle/>
          <a:p>
            <a:r>
              <a:rPr lang="en-US" dirty="0"/>
              <a:t>Class: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524001"/>
            <a:ext cx="8229600" cy="4525963"/>
          </a:xfrm>
        </p:spPr>
        <p:txBody>
          <a:bodyPr>
            <a:normAutofit/>
          </a:bodyPr>
          <a:lstStyle/>
          <a:p>
            <a:endParaRPr lang="en-US" dirty="0"/>
          </a:p>
          <a:p>
            <a:r>
              <a:rPr lang="en-US" dirty="0"/>
              <a:t>An empty class named </a:t>
            </a:r>
            <a:r>
              <a:rPr lang="en-US" sz="2400" dirty="0">
                <a:latin typeface="Courier10 BT" pitchFamily="49" charset="0"/>
              </a:rPr>
              <a:t>HelloWorld</a:t>
            </a:r>
            <a:r>
              <a:rPr lang="en-US" dirty="0"/>
              <a:t>:</a:t>
            </a:r>
            <a:r>
              <a:rPr lang="en-US" sz="2000" b="1" dirty="0"/>
              <a:t>	</a:t>
            </a:r>
          </a:p>
          <a:p>
            <a:pPr>
              <a:buNone/>
            </a:pPr>
            <a:endParaRPr lang="en-US" dirty="0"/>
          </a:p>
          <a:p>
            <a:pPr>
              <a:buNone/>
            </a:pPr>
            <a:endParaRPr lang="en-US" dirty="0"/>
          </a:p>
          <a:p>
            <a:r>
              <a:rPr lang="en-US" dirty="0"/>
              <a:t>Declared using keyword </a:t>
            </a:r>
            <a:r>
              <a:rPr lang="en-US" sz="2400" dirty="0">
                <a:solidFill>
                  <a:srgbClr val="0070C0"/>
                </a:solidFill>
                <a:latin typeface="Courier10 BT" pitchFamily="49" charset="0"/>
              </a:rPr>
              <a:t>class.</a:t>
            </a:r>
          </a:p>
          <a:p>
            <a:endParaRPr lang="en-US" dirty="0"/>
          </a:p>
          <a:p>
            <a:r>
              <a:rPr lang="en-US" dirty="0"/>
              <a:t>Contains one or more methods.</a:t>
            </a:r>
          </a:p>
          <a:p>
            <a:pPr>
              <a:buNone/>
            </a:pPr>
            <a:r>
              <a:rPr lang="en-US" dirty="0"/>
              <a:t>   </a:t>
            </a:r>
          </a:p>
        </p:txBody>
      </p:sp>
      <p:sp>
        <p:nvSpPr>
          <p:cNvPr id="6" name="Rectangle 5"/>
          <p:cNvSpPr/>
          <p:nvPr/>
        </p:nvSpPr>
        <p:spPr>
          <a:xfrm>
            <a:off x="3547008" y="2494086"/>
            <a:ext cx="3270531" cy="830997"/>
          </a:xfrm>
          <a:prstGeom prst="rect">
            <a:avLst/>
          </a:prstGeom>
          <a:solidFill>
            <a:srgbClr val="FFFFCC"/>
          </a:solidFill>
          <a:ln w="3175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0" lvl="1"/>
            <a:r>
              <a:rPr lang="en-US" sz="1600" b="1" dirty="0">
                <a:latin typeface="Courier10 BT" pitchFamily="49" charset="0"/>
              </a:rPr>
              <a:t>public</a:t>
            </a:r>
            <a:r>
              <a:rPr lang="en-US" sz="1600" dirty="0">
                <a:latin typeface="Courier10 BT" pitchFamily="49" charset="0"/>
              </a:rPr>
              <a:t> </a:t>
            </a:r>
            <a:r>
              <a:rPr lang="en-US" sz="1600" b="1" dirty="0">
                <a:latin typeface="Courier10 BT" pitchFamily="49" charset="0"/>
              </a:rPr>
              <a:t>class</a:t>
            </a:r>
            <a:r>
              <a:rPr lang="en-US" sz="1600" dirty="0">
                <a:latin typeface="Courier10 BT" pitchFamily="49" charset="0"/>
              </a:rPr>
              <a:t> HelloWorld {</a:t>
            </a:r>
          </a:p>
          <a:p>
            <a:pPr marL="0" lvl="1"/>
            <a:endParaRPr lang="en-US" sz="1600" dirty="0">
              <a:latin typeface="Courier10 BT" pitchFamily="49" charset="0"/>
            </a:endParaRPr>
          </a:p>
          <a:p>
            <a:pPr marL="0" lvl="1"/>
            <a:r>
              <a:rPr lang="en-US" sz="1600" dirty="0">
                <a:latin typeface="Courier10 BT" pitchFamily="49" charset="0"/>
              </a:rPr>
              <a:t>}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36516972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8424" y="955859"/>
            <a:ext cx="2199148" cy="496662"/>
          </a:xfrm>
        </p:spPr>
        <p:txBody>
          <a:bodyPr>
            <a:normAutofit fontScale="90000"/>
          </a:bodyPr>
          <a:lstStyle/>
          <a:p>
            <a:r>
              <a:rPr lang="en-US" dirty="0"/>
              <a:t>Methods: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524001"/>
            <a:ext cx="8229600" cy="4525963"/>
          </a:xfrm>
        </p:spPr>
        <p:txBody>
          <a:bodyPr/>
          <a:lstStyle/>
          <a:p>
            <a:endParaRPr lang="en-US" dirty="0"/>
          </a:p>
          <a:p>
            <a:r>
              <a:rPr lang="en-US" dirty="0"/>
              <a:t>Consist of a group of statements enclosed within braces { }.</a:t>
            </a:r>
          </a:p>
          <a:p>
            <a:endParaRPr lang="en-US" dirty="0"/>
          </a:p>
          <a:p>
            <a:r>
              <a:rPr lang="en-US" dirty="0"/>
              <a:t>There can be </a:t>
            </a:r>
            <a:r>
              <a:rPr lang="en-US" i="1" dirty="0"/>
              <a:t>any</a:t>
            </a:r>
            <a:r>
              <a:rPr lang="en-US" dirty="0"/>
              <a:t> number of methods in a class.</a:t>
            </a:r>
          </a:p>
          <a:p>
            <a:endParaRPr lang="en-US" dirty="0"/>
          </a:p>
          <a:p>
            <a:r>
              <a:rPr lang="en-US" dirty="0"/>
              <a:t>Every program contains one </a:t>
            </a:r>
            <a:r>
              <a:rPr lang="en-US" sz="2400" dirty="0">
                <a:solidFill>
                  <a:srgbClr val="0070C0"/>
                </a:solidFill>
                <a:latin typeface="Courier10 BT" pitchFamily="49" charset="0"/>
              </a:rPr>
              <a:t>main</a:t>
            </a:r>
            <a:r>
              <a:rPr lang="en-US" dirty="0"/>
              <a:t> method:</a:t>
            </a:r>
          </a:p>
          <a:p>
            <a:endParaRPr lang="en-US" dirty="0"/>
          </a:p>
          <a:p>
            <a:pPr>
              <a:buNone/>
            </a:pPr>
            <a:endParaRPr lang="en-US" dirty="0"/>
          </a:p>
          <a:p>
            <a:r>
              <a:rPr lang="en-US" dirty="0"/>
              <a:t>The </a:t>
            </a:r>
            <a:r>
              <a:rPr lang="en-US" sz="2400" dirty="0">
                <a:solidFill>
                  <a:srgbClr val="0070C0"/>
                </a:solidFill>
                <a:latin typeface="Courier10 BT" pitchFamily="49" charset="0"/>
              </a:rPr>
              <a:t>main</a:t>
            </a:r>
            <a:r>
              <a:rPr lang="en-US" dirty="0"/>
              <a:t> method is always executed first.</a:t>
            </a:r>
          </a:p>
        </p:txBody>
      </p:sp>
      <p:sp>
        <p:nvSpPr>
          <p:cNvPr id="6" name="Rectangle 5"/>
          <p:cNvSpPr/>
          <p:nvPr/>
        </p:nvSpPr>
        <p:spPr>
          <a:xfrm>
            <a:off x="3002465" y="4421305"/>
            <a:ext cx="5181600" cy="830997"/>
          </a:xfrm>
          <a:prstGeom prst="rect">
            <a:avLst/>
          </a:prstGeom>
          <a:solidFill>
            <a:srgbClr val="FFFFCC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0" lvl="1"/>
            <a:r>
              <a:rPr lang="en-US" sz="1600" b="1" dirty="0">
                <a:latin typeface="Courier10 BT" pitchFamily="49" charset="0"/>
              </a:rPr>
              <a:t>public static void main(String[] args) </a:t>
            </a:r>
            <a:r>
              <a:rPr lang="en-US" sz="1600" dirty="0">
                <a:latin typeface="Courier10 BT" pitchFamily="49" charset="0"/>
              </a:rPr>
              <a:t>{</a:t>
            </a:r>
          </a:p>
          <a:p>
            <a:pPr marL="0" lvl="1"/>
            <a:r>
              <a:rPr lang="en-US" sz="1600" dirty="0">
                <a:latin typeface="Courier10 BT" pitchFamily="49" charset="0"/>
              </a:rPr>
              <a:t>  //  statements		</a:t>
            </a:r>
          </a:p>
          <a:p>
            <a:pPr marL="0" lvl="1"/>
            <a:r>
              <a:rPr lang="en-US" sz="1600" dirty="0">
                <a:latin typeface="Courier10 BT" pitchFamily="49" charset="0"/>
              </a:rPr>
              <a:t>} </a:t>
            </a:r>
          </a:p>
        </p:txBody>
      </p:sp>
    </p:spTree>
    <p:extLst>
      <p:ext uri="{BB962C8B-B14F-4D97-AF65-F5344CB8AC3E}">
        <p14:creationId xmlns:p14="http://schemas.microsoft.com/office/powerpoint/2010/main" val="311100157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73256"/>
            <a:ext cx="3009842" cy="846998"/>
          </a:xfrm>
        </p:spPr>
        <p:txBody>
          <a:bodyPr/>
          <a:lstStyle/>
          <a:p>
            <a:r>
              <a:rPr lang="en-US" dirty="0"/>
              <a:t>Statements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719470"/>
            <a:ext cx="10389210" cy="4942014"/>
          </a:xfrm>
        </p:spPr>
        <p:txBody>
          <a:bodyPr>
            <a:normAutofit/>
          </a:bodyPr>
          <a:lstStyle/>
          <a:p>
            <a:r>
              <a:rPr lang="en-US" dirty="0"/>
              <a:t>Specifies an action to be performed.</a:t>
            </a:r>
          </a:p>
          <a:p>
            <a:r>
              <a:rPr lang="en-US" dirty="0"/>
              <a:t>Each statement is ended with a semicolon.</a:t>
            </a:r>
          </a:p>
          <a:p>
            <a:r>
              <a:rPr lang="en-US" dirty="0"/>
              <a:t>Words are usually separated by a single space.</a:t>
            </a:r>
          </a:p>
          <a:p>
            <a:r>
              <a:rPr lang="en-US" dirty="0"/>
              <a:t>There should not be a space </a:t>
            </a:r>
            <a:r>
              <a:rPr lang="en-US" i="1" dirty="0"/>
              <a:t>within</a:t>
            </a:r>
            <a:r>
              <a:rPr lang="en-US" dirty="0"/>
              <a:t> a word.</a:t>
            </a:r>
          </a:p>
          <a:p>
            <a:r>
              <a:rPr lang="en-US" dirty="0"/>
              <a:t>Examples:</a:t>
            </a:r>
          </a:p>
          <a:p>
            <a:pPr marL="0" indent="0">
              <a:buNone/>
            </a:pPr>
            <a:endParaRPr lang="en-US" dirty="0"/>
          </a:p>
          <a:p>
            <a:pPr lvl="1">
              <a:buNone/>
            </a:pPr>
            <a:r>
              <a:rPr lang="en-US" sz="1800" dirty="0">
                <a:latin typeface="Courier10 BT" pitchFamily="49" charset="0"/>
              </a:rPr>
              <a:t>JFrame frame = new JFrame("My First Program");</a:t>
            </a:r>
          </a:p>
          <a:p>
            <a:pPr>
              <a:buNone/>
            </a:pPr>
            <a:r>
              <a:rPr lang="en-US" sz="1800" dirty="0">
                <a:latin typeface="Courier10 BT" pitchFamily="49" charset="0"/>
              </a:rPr>
              <a:t>	  </a:t>
            </a:r>
            <a:r>
              <a:rPr lang="en-US" sz="1800" dirty="0" err="1">
                <a:latin typeface="Courier10 BT" pitchFamily="49" charset="0"/>
              </a:rPr>
              <a:t>frame.setSize</a:t>
            </a:r>
            <a:r>
              <a:rPr lang="en-US" sz="1800" dirty="0">
                <a:latin typeface="Courier10 BT" pitchFamily="49" charset="0"/>
              </a:rPr>
              <a:t>(800,500);</a:t>
            </a:r>
          </a:p>
          <a:p>
            <a:pPr lvl="1">
              <a:buNone/>
            </a:pPr>
            <a:r>
              <a:rPr lang="en-US" sz="1800" dirty="0" err="1">
                <a:latin typeface="Courier10 BT" pitchFamily="49" charset="0"/>
              </a:rPr>
              <a:t>frame.setVisible</a:t>
            </a:r>
            <a:r>
              <a:rPr lang="en-US" sz="1800" dirty="0">
                <a:latin typeface="Courier10 BT" pitchFamily="49" charset="0"/>
              </a:rPr>
              <a:t>(true);</a:t>
            </a:r>
            <a:r>
              <a:rPr lang="en-US" dirty="0"/>
              <a:t>	</a:t>
            </a:r>
          </a:p>
        </p:txBody>
      </p:sp>
    </p:spTree>
    <p:extLst>
      <p:ext uri="{BB962C8B-B14F-4D97-AF65-F5344CB8AC3E}">
        <p14:creationId xmlns:p14="http://schemas.microsoft.com/office/powerpoint/2010/main" val="228644351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601859"/>
          </a:xfrm>
        </p:spPr>
        <p:txBody>
          <a:bodyPr/>
          <a:lstStyle/>
          <a:p>
            <a:r>
              <a:rPr lang="en-US" dirty="0"/>
              <a:t>Comments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955772"/>
            <a:ext cx="5375272" cy="38358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Three types of comments:</a:t>
            </a:r>
          </a:p>
          <a:p>
            <a:pPr lvl="1"/>
            <a:r>
              <a:rPr lang="en-US" dirty="0"/>
              <a:t>Single line  </a:t>
            </a:r>
            <a:r>
              <a:rPr lang="en-US" sz="2000" dirty="0">
                <a:solidFill>
                  <a:srgbClr val="0070C0"/>
                </a:solidFill>
                <a:latin typeface="Courier10 BT" pitchFamily="49" charset="0"/>
              </a:rPr>
              <a:t>//</a:t>
            </a:r>
          </a:p>
          <a:p>
            <a:pPr lvl="1"/>
            <a:r>
              <a:rPr lang="en-US" dirty="0"/>
              <a:t>Multi-line </a:t>
            </a:r>
            <a:r>
              <a:rPr lang="en-US" sz="2000" dirty="0">
                <a:solidFill>
                  <a:srgbClr val="0070C0"/>
                </a:solidFill>
                <a:latin typeface="Courier10 BT" pitchFamily="49" charset="0"/>
              </a:rPr>
              <a:t>/*   */</a:t>
            </a:r>
          </a:p>
          <a:p>
            <a:pPr marL="0" indent="0">
              <a:buNone/>
            </a:pPr>
            <a:r>
              <a:rPr lang="en-US" b="1" dirty="0"/>
              <a:t>Single line comments:</a:t>
            </a:r>
          </a:p>
          <a:p>
            <a:pPr lvl="1">
              <a:buNone/>
            </a:pPr>
            <a:r>
              <a:rPr lang="en-US" sz="2000" dirty="0">
                <a:solidFill>
                  <a:srgbClr val="0070C0"/>
                </a:solidFill>
                <a:latin typeface="Courier10 BT" pitchFamily="49" charset="0"/>
              </a:rPr>
              <a:t>// </a:t>
            </a:r>
            <a:r>
              <a:rPr lang="en-US" dirty="0"/>
              <a:t>compiler ignores the words in this line</a:t>
            </a:r>
          </a:p>
          <a:p>
            <a:pPr marL="0" indent="0">
              <a:buNone/>
            </a:pPr>
            <a:r>
              <a:rPr lang="en-US" b="1" dirty="0"/>
              <a:t>Multi-line comments:</a:t>
            </a:r>
          </a:p>
          <a:p>
            <a:pPr lvl="1">
              <a:buNone/>
            </a:pPr>
            <a:r>
              <a:rPr lang="en-US" sz="2000" dirty="0">
                <a:solidFill>
                  <a:srgbClr val="0070C0"/>
                </a:solidFill>
                <a:latin typeface="Courier10 BT" pitchFamily="49" charset="0"/>
              </a:rPr>
              <a:t>/*</a:t>
            </a:r>
            <a:r>
              <a:rPr lang="en-US" dirty="0">
                <a:solidFill>
                  <a:srgbClr val="0070C0"/>
                </a:solidFill>
              </a:rPr>
              <a:t> </a:t>
            </a:r>
            <a:r>
              <a:rPr lang="en-US" dirty="0"/>
              <a:t>compiler ignores all the</a:t>
            </a:r>
          </a:p>
          <a:p>
            <a:pPr lvl="1">
              <a:buNone/>
            </a:pPr>
            <a:r>
              <a:rPr lang="en-US" dirty="0"/>
              <a:t>words in these</a:t>
            </a:r>
          </a:p>
          <a:p>
            <a:pPr lvl="1">
              <a:buNone/>
            </a:pPr>
            <a:r>
              <a:rPr lang="en-US" dirty="0"/>
              <a:t>three lines </a:t>
            </a:r>
            <a:r>
              <a:rPr lang="en-US" sz="2000" dirty="0">
                <a:solidFill>
                  <a:srgbClr val="0070C0"/>
                </a:solidFill>
                <a:latin typeface="Courier10 BT" pitchFamily="49" charset="0"/>
              </a:rPr>
              <a:t>*/</a:t>
            </a:r>
          </a:p>
          <a:p>
            <a:endParaRPr lang="en-US" dirty="0"/>
          </a:p>
          <a:p>
            <a:pPr lvl="1">
              <a:buNone/>
            </a:pPr>
            <a:endParaRPr lang="en-US" dirty="0"/>
          </a:p>
          <a:p>
            <a:pPr>
              <a:buNone/>
            </a:pPr>
            <a:endParaRPr lang="en-US" dirty="0"/>
          </a:p>
        </p:txBody>
      </p:sp>
      <p:sp>
        <p:nvSpPr>
          <p:cNvPr id="6" name="Content Placeholder 2"/>
          <p:cNvSpPr txBox="1">
            <a:spLocks/>
          </p:cNvSpPr>
          <p:nvPr/>
        </p:nvSpPr>
        <p:spPr>
          <a:xfrm>
            <a:off x="6356830" y="1833043"/>
            <a:ext cx="5635565" cy="3835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b="1" dirty="0"/>
              <a:t>Javadoc annotations comments</a:t>
            </a:r>
          </a:p>
          <a:p>
            <a:pPr marL="0" indent="0">
              <a:buNone/>
            </a:pPr>
            <a:r>
              <a:rPr lang="en-US" sz="2400" dirty="0"/>
              <a:t>	/**</a:t>
            </a:r>
          </a:p>
          <a:p>
            <a:pPr marL="0" indent="0">
              <a:buNone/>
            </a:pPr>
            <a:r>
              <a:rPr lang="en-US" sz="2400" dirty="0"/>
              <a:t>	 * </a:t>
            </a:r>
          </a:p>
          <a:p>
            <a:pPr marL="0" indent="0">
              <a:buNone/>
            </a:pPr>
            <a:r>
              <a:rPr lang="en-US" sz="2400" dirty="0"/>
              <a:t>              * </a:t>
            </a:r>
            <a:r>
              <a:rPr lang="en-US" sz="2400" b="1" dirty="0"/>
              <a:t>@</a:t>
            </a:r>
            <a:r>
              <a:rPr lang="en-US" sz="2400" b="1" dirty="0" err="1"/>
              <a:t>param</a:t>
            </a:r>
            <a:r>
              <a:rPr lang="en-US" sz="2400" dirty="0"/>
              <a:t> args</a:t>
            </a:r>
          </a:p>
          <a:p>
            <a:pPr marL="0" indent="0">
              <a:buNone/>
            </a:pPr>
            <a:r>
              <a:rPr lang="en-US" sz="2400" dirty="0"/>
              <a:t>              */</a:t>
            </a:r>
          </a:p>
          <a:p>
            <a:pPr marL="0" indent="0">
              <a:buNone/>
            </a:pPr>
            <a:r>
              <a:rPr lang="en-US" sz="2400" b="1" dirty="0"/>
              <a:t>             public</a:t>
            </a:r>
            <a:r>
              <a:rPr lang="en-US" sz="2400" dirty="0"/>
              <a:t> </a:t>
            </a:r>
            <a:r>
              <a:rPr lang="en-US" sz="2400" b="1" dirty="0"/>
              <a:t>static</a:t>
            </a:r>
            <a:r>
              <a:rPr lang="en-US" sz="2400" dirty="0"/>
              <a:t> </a:t>
            </a:r>
            <a:r>
              <a:rPr lang="en-US" sz="2400" b="1" dirty="0"/>
              <a:t>void</a:t>
            </a:r>
            <a:r>
              <a:rPr lang="en-US" sz="2400" dirty="0"/>
              <a:t> main(String[] args) {</a:t>
            </a:r>
          </a:p>
          <a:p>
            <a:pPr marL="0" indent="0">
              <a:buNone/>
            </a:pPr>
            <a:endParaRPr lang="en-US" sz="2800" dirty="0"/>
          </a:p>
          <a:p>
            <a:pPr lvl="1">
              <a:buFont typeface="Arial" panose="020B0604020202020204" pitchFamily="34" charset="0"/>
              <a:buNone/>
            </a:pPr>
            <a:endParaRPr lang="en-US" sz="2000" dirty="0">
              <a:solidFill>
                <a:srgbClr val="0070C0"/>
              </a:solidFill>
              <a:latin typeface="Courier10 BT" pitchFamily="49" charset="0"/>
            </a:endParaRPr>
          </a:p>
          <a:p>
            <a:endParaRPr lang="en-US" dirty="0"/>
          </a:p>
          <a:p>
            <a:pPr lvl="1">
              <a:buFont typeface="Arial" panose="020B0604020202020204" pitchFamily="34" charset="0"/>
              <a:buNone/>
            </a:pPr>
            <a:endParaRPr lang="en-US" dirty="0"/>
          </a:p>
          <a:p>
            <a:pPr>
              <a:buFont typeface="Arial" panose="020B0604020202020204" pitchFamily="34" charset="0"/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037869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Title 1"/>
          <p:cNvSpPr>
            <a:spLocks noGrp="1"/>
          </p:cNvSpPr>
          <p:nvPr>
            <p:ph type="title"/>
          </p:nvPr>
        </p:nvSpPr>
        <p:spPr>
          <a:xfrm>
            <a:off x="936516" y="757213"/>
            <a:ext cx="7878621" cy="674545"/>
          </a:xfrm>
          <a:ln>
            <a:miter lim="800000"/>
            <a:headEnd/>
            <a:tailEnd/>
          </a:ln>
        </p:spPr>
        <p:txBody>
          <a:bodyPr/>
          <a:lstStyle/>
          <a:p>
            <a:r>
              <a:rPr lang="en-US" altLang="en-US" dirty="0"/>
              <a:t>The Java Programming Language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659312"/>
            <a:ext cx="10417284" cy="5018214"/>
          </a:xfrm>
        </p:spPr>
        <p:txBody>
          <a:bodyPr>
            <a:normAutofit/>
          </a:bodyPr>
          <a:lstStyle/>
          <a:p>
            <a:pPr marL="0" indent="0">
              <a:buNone/>
              <a:defRPr/>
            </a:pPr>
            <a:r>
              <a:rPr lang="en-US" b="1" dirty="0"/>
              <a:t>Automatic garbage collection</a:t>
            </a:r>
            <a:endParaRPr lang="en-US" dirty="0"/>
          </a:p>
          <a:p>
            <a:pPr>
              <a:buFont typeface="Arial" charset="0"/>
              <a:buChar char="•"/>
              <a:defRPr/>
            </a:pPr>
            <a:endParaRPr lang="en-US" dirty="0"/>
          </a:p>
          <a:p>
            <a:pPr>
              <a:buFont typeface="Arial" charset="0"/>
              <a:buChar char="•"/>
              <a:defRPr/>
            </a:pPr>
            <a:r>
              <a:rPr lang="en-US" dirty="0"/>
              <a:t>Java uses an </a:t>
            </a:r>
            <a:r>
              <a:rPr lang="en-US" b="1" dirty="0"/>
              <a:t>automatic</a:t>
            </a:r>
            <a:r>
              <a:rPr lang="en-US" dirty="0"/>
              <a:t> garbage collector to manage memory. </a:t>
            </a:r>
          </a:p>
          <a:p>
            <a:pPr>
              <a:buFont typeface="Arial" charset="0"/>
              <a:buChar char="•"/>
              <a:defRPr/>
            </a:pPr>
            <a:endParaRPr lang="en-US" dirty="0"/>
          </a:p>
          <a:p>
            <a:pPr>
              <a:buFont typeface="Arial" charset="0"/>
              <a:buChar char="•"/>
              <a:defRPr/>
            </a:pPr>
            <a:r>
              <a:rPr lang="en-US" dirty="0"/>
              <a:t>Java runtime is </a:t>
            </a:r>
            <a:r>
              <a:rPr lang="en-US" b="1" dirty="0"/>
              <a:t>responsible</a:t>
            </a:r>
            <a:r>
              <a:rPr lang="en-US" dirty="0"/>
              <a:t> for recovering the memory </a:t>
            </a:r>
            <a:br>
              <a:rPr lang="en-US" dirty="0"/>
            </a:br>
            <a:r>
              <a:rPr lang="en-US" dirty="0"/>
              <a:t>if objects are no longer in use (reference = </a:t>
            </a:r>
            <a:r>
              <a:rPr lang="en-US" b="1" dirty="0"/>
              <a:t>Null</a:t>
            </a:r>
            <a:r>
              <a:rPr lang="en-US" dirty="0"/>
              <a:t>)</a:t>
            </a:r>
          </a:p>
          <a:p>
            <a:pPr>
              <a:buFont typeface="Arial" charset="0"/>
              <a:buChar char="•"/>
              <a:defRPr/>
            </a:pPr>
            <a:endParaRPr lang="en-US" dirty="0"/>
          </a:p>
          <a:p>
            <a:pPr>
              <a:buFont typeface="Arial" charset="0"/>
              <a:buChar char="•"/>
              <a:defRPr/>
            </a:pPr>
            <a:r>
              <a:rPr lang="en-US" dirty="0"/>
              <a:t>But it creates </a:t>
            </a:r>
            <a:r>
              <a:rPr lang="en-US" b="1" dirty="0"/>
              <a:t>some</a:t>
            </a:r>
            <a:r>
              <a:rPr lang="en-US" dirty="0"/>
              <a:t> issues …</a:t>
            </a:r>
          </a:p>
          <a:p>
            <a:pPr marL="0" indent="0">
              <a:buNone/>
              <a:defRPr/>
            </a:pPr>
            <a:endParaRPr lang="en-US" dirty="0"/>
          </a:p>
        </p:txBody>
      </p:sp>
      <p:sp>
        <p:nvSpPr>
          <p:cNvPr id="37892" name="Slide Number Placeholder 3"/>
          <p:cNvSpPr>
            <a:spLocks noGrp="1"/>
          </p:cNvSpPr>
          <p:nvPr>
            <p:ph type="sldNum" sz="quarter" idx="10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200" dirty="0">
                <a:solidFill>
                  <a:srgbClr val="898989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5421429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Title 1"/>
          <p:cNvSpPr>
            <a:spLocks noGrp="1"/>
          </p:cNvSpPr>
          <p:nvPr>
            <p:ph type="title"/>
          </p:nvPr>
        </p:nvSpPr>
        <p:spPr>
          <a:ln>
            <a:miter lim="800000"/>
            <a:headEnd/>
            <a:tailEnd/>
          </a:ln>
        </p:spPr>
        <p:txBody>
          <a:bodyPr/>
          <a:lstStyle/>
          <a:p>
            <a:r>
              <a:rPr lang="en-US" altLang="en-US"/>
              <a:t>The Java Programming Language</a:t>
            </a:r>
          </a:p>
        </p:txBody>
      </p:sp>
      <p:sp>
        <p:nvSpPr>
          <p:cNvPr id="36867" name="Content Placeholder 2"/>
          <p:cNvSpPr>
            <a:spLocks noGrp="1"/>
          </p:cNvSpPr>
          <p:nvPr>
            <p:ph idx="1"/>
          </p:nvPr>
        </p:nvSpPr>
        <p:spPr>
          <a:ln>
            <a:miter lim="800000"/>
            <a:headEnd/>
            <a:tailEnd/>
          </a:ln>
        </p:spPr>
        <p:txBody>
          <a:bodyPr/>
          <a:lstStyle/>
          <a:p>
            <a:r>
              <a:rPr lang="en-US" altLang="en-US" b="1" dirty="0"/>
              <a:t>Concurrency </a:t>
            </a:r>
            <a:r>
              <a:rPr lang="en-US" altLang="en-US" dirty="0"/>
              <a:t>is the ability to start, run and complete several threads </a:t>
            </a:r>
            <a:br>
              <a:rPr lang="en-US" altLang="en-US" dirty="0"/>
            </a:br>
            <a:r>
              <a:rPr lang="en-US" altLang="en-US" dirty="0"/>
              <a:t>of a program in overlapping time periods.</a:t>
            </a:r>
          </a:p>
          <a:p>
            <a:endParaRPr lang="en-US" altLang="en-US" dirty="0"/>
          </a:p>
          <a:p>
            <a:r>
              <a:rPr lang="en-US" altLang="en-US" dirty="0"/>
              <a:t>Java supports </a:t>
            </a:r>
            <a:r>
              <a:rPr lang="en-US" altLang="en-US" b="1" dirty="0"/>
              <a:t>threads</a:t>
            </a:r>
            <a:r>
              <a:rPr lang="en-US" altLang="en-US" dirty="0"/>
              <a:t> as part of the Java language (concurrent programming).</a:t>
            </a:r>
          </a:p>
          <a:p>
            <a:endParaRPr lang="en-US" altLang="en-US" dirty="0"/>
          </a:p>
          <a:p>
            <a:r>
              <a:rPr lang="en-US" altLang="en-US" b="1" dirty="0">
                <a:solidFill>
                  <a:srgbClr val="FF0000"/>
                </a:solidFill>
              </a:rPr>
              <a:t>But</a:t>
            </a:r>
            <a:r>
              <a:rPr lang="en-US" altLang="en-US" dirty="0"/>
              <a:t> multiprocessor apps are </a:t>
            </a:r>
            <a:r>
              <a:rPr lang="en-US" altLang="en-US" b="1" dirty="0"/>
              <a:t>not</a:t>
            </a:r>
            <a:r>
              <a:rPr lang="en-US" altLang="en-US" dirty="0"/>
              <a:t> really addressed …</a:t>
            </a:r>
          </a:p>
        </p:txBody>
      </p:sp>
      <p:sp>
        <p:nvSpPr>
          <p:cNvPr id="36868" name="Slide Number Placeholder 3"/>
          <p:cNvSpPr>
            <a:spLocks noGrp="1"/>
          </p:cNvSpPr>
          <p:nvPr>
            <p:ph type="sldNum" sz="quarter" idx="10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200" dirty="0">
                <a:solidFill>
                  <a:srgbClr val="898989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9269882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9855D3-876C-C343-BD87-E7730E1CFF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Java Hello World</a:t>
            </a:r>
          </a:p>
        </p:txBody>
      </p:sp>
    </p:spTree>
    <p:extLst>
      <p:ext uri="{BB962C8B-B14F-4D97-AF65-F5344CB8AC3E}">
        <p14:creationId xmlns:p14="http://schemas.microsoft.com/office/powerpoint/2010/main" val="377320305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74716" y="854709"/>
            <a:ext cx="8069245" cy="440018"/>
          </a:xfrm>
        </p:spPr>
        <p:txBody>
          <a:bodyPr>
            <a:normAutofit fontScale="90000"/>
          </a:bodyPr>
          <a:lstStyle/>
          <a:p>
            <a:r>
              <a:rPr lang="en-US" dirty="0"/>
              <a:t>Compiling and Running a Java Program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39212" y="1933323"/>
            <a:ext cx="4963297" cy="43296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116671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86179" y="1097470"/>
            <a:ext cx="7798837" cy="484524"/>
          </a:xfrm>
        </p:spPr>
        <p:txBody>
          <a:bodyPr>
            <a:normAutofit fontScale="90000"/>
          </a:bodyPr>
          <a:lstStyle/>
          <a:p>
            <a:r>
              <a:rPr lang="en-US" dirty="0"/>
              <a:t>Standard Java: </a:t>
            </a:r>
            <a:r>
              <a:rPr lang="en-US" dirty="0">
                <a:latin typeface="Courier10 BT" pitchFamily="49" charset="0"/>
              </a:rPr>
              <a:t>HelloWorld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79047" y="1979411"/>
            <a:ext cx="6633132" cy="2255658"/>
          </a:xfrm>
          <a:solidFill>
            <a:srgbClr val="FFFFCC"/>
          </a:solidFill>
          <a:ln w="3175">
            <a:solidFill>
              <a:schemeClr val="tx1"/>
            </a:solidFill>
          </a:ln>
        </p:spPr>
        <p:txBody>
          <a:bodyPr>
            <a:normAutofit fontScale="92500" lnSpcReduction="20000"/>
          </a:bodyPr>
          <a:lstStyle/>
          <a:p>
            <a:pPr>
              <a:buNone/>
            </a:pPr>
            <a:r>
              <a:rPr lang="en-US" sz="1800" dirty="0">
                <a:latin typeface="Courier10 BT" pitchFamily="49" charset="0"/>
              </a:rPr>
              <a:t>// Program HelloWorld </a:t>
            </a:r>
          </a:p>
          <a:p>
            <a:pPr>
              <a:buNone/>
            </a:pPr>
            <a:r>
              <a:rPr lang="en-US" sz="1800" dirty="0">
                <a:latin typeface="Courier10 BT" pitchFamily="49" charset="0"/>
              </a:rPr>
              <a:t>public class HelloWorld {</a:t>
            </a:r>
          </a:p>
          <a:p>
            <a:pPr>
              <a:buNone/>
            </a:pPr>
            <a:r>
              <a:rPr lang="en-US" sz="1800" dirty="0">
                <a:latin typeface="Courier10 BT" pitchFamily="49" charset="0"/>
              </a:rPr>
              <a:t>   public static void main(String[] args) {</a:t>
            </a:r>
          </a:p>
          <a:p>
            <a:pPr>
              <a:buNone/>
            </a:pPr>
            <a:r>
              <a:rPr lang="en-US" sz="1800" dirty="0">
                <a:latin typeface="Courier10 BT" pitchFamily="49" charset="0"/>
              </a:rPr>
              <a:t>		</a:t>
            </a:r>
            <a:r>
              <a:rPr lang="en-US" sz="1800" dirty="0" err="1">
                <a:latin typeface="Courier10 BT" pitchFamily="49" charset="0"/>
              </a:rPr>
              <a:t>System.out.println</a:t>
            </a:r>
            <a:r>
              <a:rPr lang="en-US" sz="1800" dirty="0">
                <a:latin typeface="Courier10 BT" pitchFamily="49" charset="0"/>
              </a:rPr>
              <a:t>(“Hello World!”); </a:t>
            </a:r>
          </a:p>
          <a:p>
            <a:pPr>
              <a:buNone/>
            </a:pPr>
            <a:r>
              <a:rPr lang="en-US" sz="1800" dirty="0">
                <a:latin typeface="Courier10 BT" pitchFamily="49" charset="0"/>
              </a:rPr>
              <a:t>		// or </a:t>
            </a:r>
            <a:r>
              <a:rPr lang="en-US" sz="1800" dirty="0" err="1">
                <a:latin typeface="Courier10 BT" pitchFamily="49" charset="0"/>
              </a:rPr>
              <a:t>System.err.println</a:t>
            </a:r>
            <a:r>
              <a:rPr lang="en-US" sz="1800" dirty="0">
                <a:latin typeface="Courier10 BT" pitchFamily="49" charset="0"/>
              </a:rPr>
              <a:t>(“Hello Error!”);</a:t>
            </a:r>
          </a:p>
          <a:p>
            <a:pPr>
              <a:buNone/>
            </a:pPr>
            <a:r>
              <a:rPr lang="en-US" sz="1800" dirty="0">
                <a:latin typeface="Courier10 BT" pitchFamily="49" charset="0"/>
              </a:rPr>
              <a:t>	 }</a:t>
            </a:r>
          </a:p>
          <a:p>
            <a:pPr>
              <a:buNone/>
            </a:pPr>
            <a:r>
              <a:rPr lang="en-US" sz="1800" dirty="0">
                <a:latin typeface="Courier10 BT" pitchFamily="49" charset="0"/>
              </a:rPr>
              <a:t>}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0057" y="4565338"/>
            <a:ext cx="5961709" cy="17941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971988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/>
              <a:t>IntelliJ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2176253"/>
            <a:ext cx="5670123" cy="4469970"/>
          </a:xfrm>
        </p:spPr>
        <p:txBody>
          <a:bodyPr>
            <a:normAutofit/>
          </a:bodyPr>
          <a:lstStyle/>
          <a:p>
            <a:r>
              <a:rPr lang="en-US" dirty="0"/>
              <a:t>Little click introduction …</a:t>
            </a:r>
          </a:p>
          <a:p>
            <a:endParaRPr lang="en-US" dirty="0">
              <a:hlinkClick r:id="rId2"/>
            </a:endParaRPr>
          </a:p>
          <a:p>
            <a:r>
              <a:rPr lang="en-US" dirty="0">
                <a:hlinkClick r:id="rId2"/>
              </a:rPr>
              <a:t>Download</a:t>
            </a:r>
            <a:endParaRPr lang="en-US" dirty="0"/>
          </a:p>
          <a:p>
            <a:endParaRPr lang="en-US" dirty="0"/>
          </a:p>
          <a:p>
            <a:r>
              <a:rPr lang="en-US" dirty="0"/>
              <a:t>Get the Ultimate version</a:t>
            </a:r>
          </a:p>
          <a:p>
            <a:endParaRPr lang="en-US" dirty="0"/>
          </a:p>
          <a:p>
            <a:r>
              <a:rPr lang="en-US" dirty="0"/>
              <a:t>Free for students</a:t>
            </a:r>
          </a:p>
          <a:p>
            <a:endParaRPr lang="en-US" dirty="0"/>
          </a:p>
          <a:p>
            <a:r>
              <a:rPr lang="en-US" dirty="0"/>
              <a:t>Register with your </a:t>
            </a:r>
            <a:r>
              <a:rPr lang="en-US" dirty="0" err="1"/>
              <a:t>scu</a:t>
            </a:r>
            <a:r>
              <a:rPr lang="en-US" dirty="0"/>
              <a:t> email</a:t>
            </a:r>
          </a:p>
          <a:p>
            <a:pPr>
              <a:buNone/>
            </a:pP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90AAB69-29AD-BB28-D949-01DFD2AB42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1029" y="4015914"/>
            <a:ext cx="4251366" cy="263030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A94C9DE-B428-428A-68B8-7D1AD79CE59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06850" y="936733"/>
            <a:ext cx="1892397" cy="60963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66E0F76-7C51-A9E8-8575-C37F1F87EB5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58046" y="990323"/>
            <a:ext cx="5361552" cy="29418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492198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86179" y="1097470"/>
            <a:ext cx="5581619" cy="484524"/>
          </a:xfrm>
        </p:spPr>
        <p:txBody>
          <a:bodyPr>
            <a:normAutofit fontScale="90000"/>
          </a:bodyPr>
          <a:lstStyle/>
          <a:p>
            <a:r>
              <a:rPr lang="en-US" dirty="0"/>
              <a:t>Java Swing: </a:t>
            </a:r>
            <a:r>
              <a:rPr lang="en-US" dirty="0">
                <a:latin typeface="Courier10 BT" pitchFamily="49" charset="0"/>
              </a:rPr>
              <a:t>HelloWorld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05912" y="1851051"/>
            <a:ext cx="10279582" cy="4100642"/>
          </a:xfrm>
          <a:solidFill>
            <a:srgbClr val="FFFFCC"/>
          </a:solidFill>
          <a:ln w="3175">
            <a:solidFill>
              <a:schemeClr val="tx1"/>
            </a:solidFill>
          </a:ln>
        </p:spPr>
        <p:txBody>
          <a:bodyPr>
            <a:normAutofit/>
          </a:bodyPr>
          <a:lstStyle/>
          <a:p>
            <a:pPr>
              <a:buNone/>
            </a:pPr>
            <a:r>
              <a:rPr lang="en-US" sz="1800" dirty="0">
                <a:latin typeface="Courier10 BT" pitchFamily="49" charset="0"/>
              </a:rPr>
              <a:t>// Program </a:t>
            </a:r>
            <a:r>
              <a:rPr lang="en-US" sz="1800" dirty="0" err="1">
                <a:latin typeface="Courier10 BT" pitchFamily="49" charset="0"/>
              </a:rPr>
              <a:t>HelloWorld</a:t>
            </a:r>
            <a:endParaRPr lang="en-US" sz="1800" dirty="0">
              <a:latin typeface="Courier10 BT" pitchFamily="49" charset="0"/>
            </a:endParaRPr>
          </a:p>
          <a:p>
            <a:pPr>
              <a:buNone/>
            </a:pPr>
            <a:r>
              <a:rPr lang="en-US" sz="1800" dirty="0">
                <a:latin typeface="Courier10 BT" pitchFamily="49" charset="0"/>
              </a:rPr>
              <a:t>import javax.swing.*; </a:t>
            </a:r>
          </a:p>
          <a:p>
            <a:pPr>
              <a:buNone/>
            </a:pPr>
            <a:endParaRPr lang="en-US" sz="1800" dirty="0">
              <a:latin typeface="Courier10 BT" pitchFamily="49" charset="0"/>
            </a:endParaRPr>
          </a:p>
          <a:p>
            <a:pPr>
              <a:buNone/>
            </a:pPr>
            <a:r>
              <a:rPr lang="en-US" sz="1800" dirty="0">
                <a:latin typeface="Courier10 BT" pitchFamily="49" charset="0"/>
              </a:rPr>
              <a:t>public class HelloWorld {</a:t>
            </a:r>
          </a:p>
          <a:p>
            <a:pPr>
              <a:buNone/>
            </a:pPr>
            <a:r>
              <a:rPr lang="en-US" sz="1800" dirty="0">
                <a:latin typeface="Courier10 BT" pitchFamily="49" charset="0"/>
              </a:rPr>
              <a:t>   public static void main(String[] args) {</a:t>
            </a:r>
          </a:p>
          <a:p>
            <a:pPr>
              <a:buNone/>
            </a:pPr>
            <a:r>
              <a:rPr lang="en-US" sz="1800" dirty="0">
                <a:latin typeface="Courier10 BT" pitchFamily="49" charset="0"/>
              </a:rPr>
              <a:t>     JFrame frame = new JFrame("My First Program");</a:t>
            </a:r>
          </a:p>
          <a:p>
            <a:pPr>
              <a:buNone/>
            </a:pPr>
            <a:r>
              <a:rPr lang="en-US" sz="1800" dirty="0">
                <a:latin typeface="Courier10 BT" pitchFamily="49" charset="0"/>
              </a:rPr>
              <a:t>     frame.getContentPane().add(new </a:t>
            </a:r>
            <a:r>
              <a:rPr lang="en-US" sz="1800" dirty="0" err="1">
                <a:latin typeface="Courier10 BT" pitchFamily="49" charset="0"/>
              </a:rPr>
              <a:t>JLabel</a:t>
            </a:r>
            <a:r>
              <a:rPr lang="en-US" sz="1800" dirty="0">
                <a:latin typeface="Courier10 BT" pitchFamily="49" charset="0"/>
              </a:rPr>
              <a:t>(new ImageIcon("blimp.jpg")));</a:t>
            </a:r>
          </a:p>
          <a:p>
            <a:pPr>
              <a:buNone/>
            </a:pPr>
            <a:r>
              <a:rPr lang="en-US" sz="1800" dirty="0">
                <a:latin typeface="Courier10 BT" pitchFamily="49" charset="0"/>
              </a:rPr>
              <a:t>     </a:t>
            </a:r>
            <a:r>
              <a:rPr lang="en-US" sz="1800" dirty="0" err="1">
                <a:latin typeface="Courier10 BT" pitchFamily="49" charset="0"/>
              </a:rPr>
              <a:t>frame.setSize</a:t>
            </a:r>
            <a:r>
              <a:rPr lang="en-US" sz="1800" dirty="0">
                <a:latin typeface="Courier10 BT" pitchFamily="49" charset="0"/>
              </a:rPr>
              <a:t>(800,500);</a:t>
            </a:r>
          </a:p>
          <a:p>
            <a:pPr>
              <a:buNone/>
            </a:pPr>
            <a:r>
              <a:rPr lang="en-US" sz="1800" dirty="0">
                <a:latin typeface="Courier10 BT" pitchFamily="49" charset="0"/>
              </a:rPr>
              <a:t>     </a:t>
            </a:r>
            <a:r>
              <a:rPr lang="en-US" sz="1800" dirty="0" err="1">
                <a:latin typeface="Courier10 BT" pitchFamily="49" charset="0"/>
              </a:rPr>
              <a:t>frame.setVisible</a:t>
            </a:r>
            <a:r>
              <a:rPr lang="en-US" sz="1800" dirty="0">
                <a:latin typeface="Courier10 BT" pitchFamily="49" charset="0"/>
              </a:rPr>
              <a:t>(true);				</a:t>
            </a:r>
          </a:p>
          <a:p>
            <a:pPr>
              <a:buNone/>
            </a:pPr>
            <a:r>
              <a:rPr lang="en-US" sz="1800" dirty="0">
                <a:latin typeface="Courier10 BT" pitchFamily="49" charset="0"/>
              </a:rPr>
              <a:t>   }</a:t>
            </a:r>
          </a:p>
          <a:p>
            <a:pPr>
              <a:buNone/>
            </a:pPr>
            <a:r>
              <a:rPr lang="en-US" sz="1800" dirty="0">
                <a:latin typeface="Courier10 BT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7637327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Output of the </a:t>
            </a:r>
            <a:r>
              <a:rPr lang="en-US" dirty="0" err="1">
                <a:latin typeface="Courier10 BT" pitchFamily="49" charset="0"/>
              </a:rPr>
              <a:t>HelloWorld</a:t>
            </a:r>
            <a:r>
              <a:rPr lang="en-US" dirty="0"/>
              <a:t> Program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58155" y="2062621"/>
            <a:ext cx="6629400" cy="35232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241416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9855D3-876C-C343-BD87-E7730E1CFF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The Good, the Bad and the Ugly</a:t>
            </a:r>
            <a:br>
              <a:rPr lang="en-US" sz="4400" dirty="0"/>
            </a:br>
            <a:r>
              <a:rPr lang="en-US" sz="4400" dirty="0"/>
              <a:t>Differences and similarities Java vs C/C++</a:t>
            </a:r>
          </a:p>
        </p:txBody>
      </p:sp>
    </p:spTree>
    <p:extLst>
      <p:ext uri="{BB962C8B-B14F-4D97-AF65-F5344CB8AC3E}">
        <p14:creationId xmlns:p14="http://schemas.microsoft.com/office/powerpoint/2010/main" val="309085547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4608" y="1276003"/>
            <a:ext cx="5970036" cy="589721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92D050"/>
                </a:solidFill>
              </a:rPr>
              <a:t>Java</a:t>
            </a:r>
            <a:r>
              <a:rPr lang="en-US" dirty="0"/>
              <a:t> advantages over C++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44608" y="2100475"/>
            <a:ext cx="7280946" cy="4057564"/>
          </a:xfrm>
        </p:spPr>
        <p:txBody>
          <a:bodyPr>
            <a:normAutofit lnSpcReduction="10000"/>
          </a:bodyPr>
          <a:lstStyle/>
          <a:p>
            <a:r>
              <a:rPr lang="en-US" dirty="0"/>
              <a:t>Simpler syntax</a:t>
            </a:r>
          </a:p>
          <a:p>
            <a:endParaRPr lang="en-US" dirty="0"/>
          </a:p>
          <a:p>
            <a:r>
              <a:rPr lang="en-US" dirty="0"/>
              <a:t>No pointer and pointer arithmetic (*, &amp;, only references)</a:t>
            </a:r>
          </a:p>
          <a:p>
            <a:endParaRPr lang="en-US" dirty="0"/>
          </a:p>
          <a:p>
            <a:r>
              <a:rPr lang="en-US" dirty="0"/>
              <a:t>No </a:t>
            </a:r>
            <a:r>
              <a:rPr lang="en-US" dirty="0" err="1"/>
              <a:t>sizeof</a:t>
            </a:r>
            <a:r>
              <a:rPr lang="en-US" dirty="0"/>
              <a:t>(…)</a:t>
            </a:r>
          </a:p>
          <a:p>
            <a:endParaRPr lang="en-US" dirty="0"/>
          </a:p>
          <a:p>
            <a:r>
              <a:rPr lang="en-US" dirty="0"/>
              <a:t>No operator overloading (+, -, *, etc.)</a:t>
            </a:r>
          </a:p>
          <a:p>
            <a:endParaRPr lang="en-US" dirty="0"/>
          </a:p>
          <a:p>
            <a:r>
              <a:rPr lang="en-US" dirty="0"/>
              <a:t>No preprocessor (#define, #</a:t>
            </a:r>
            <a:r>
              <a:rPr lang="en-US" dirty="0" err="1"/>
              <a:t>ifndef</a:t>
            </a:r>
            <a:r>
              <a:rPr lang="en-US" dirty="0"/>
              <a:t>, etc.)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297716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4608" y="1276003"/>
            <a:ext cx="5970036" cy="589721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92D050"/>
                </a:solidFill>
              </a:rPr>
              <a:t>Java</a:t>
            </a:r>
            <a:r>
              <a:rPr lang="en-US" dirty="0"/>
              <a:t> advantages over C++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44608" y="2100475"/>
            <a:ext cx="7280946" cy="4057564"/>
          </a:xfrm>
        </p:spPr>
        <p:txBody>
          <a:bodyPr>
            <a:normAutofit/>
          </a:bodyPr>
          <a:lstStyle/>
          <a:p>
            <a:r>
              <a:rPr lang="en-US" dirty="0"/>
              <a:t>No header files</a:t>
            </a:r>
          </a:p>
          <a:p>
            <a:endParaRPr lang="en-US" dirty="0"/>
          </a:p>
          <a:p>
            <a:r>
              <a:rPr lang="en-US" dirty="0"/>
              <a:t>Declaration and definition is one line</a:t>
            </a:r>
          </a:p>
          <a:p>
            <a:endParaRPr lang="en-US" dirty="0"/>
          </a:p>
          <a:p>
            <a:r>
              <a:rPr lang="en-US" dirty="0"/>
              <a:t>Only single inheritance</a:t>
            </a:r>
          </a:p>
          <a:p>
            <a:endParaRPr lang="en-US" dirty="0"/>
          </a:p>
          <a:p>
            <a:r>
              <a:rPr lang="en-US" dirty="0"/>
              <a:t>Garbage collector (no </a:t>
            </a:r>
            <a:r>
              <a:rPr lang="en-US" dirty="0" err="1"/>
              <a:t>malloc</a:t>
            </a:r>
            <a:r>
              <a:rPr lang="en-US" dirty="0"/>
              <a:t> and free, etc.)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498959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4608" y="919955"/>
            <a:ext cx="5970036" cy="589721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92D050"/>
                </a:solidFill>
              </a:rPr>
              <a:t>C++ </a:t>
            </a:r>
            <a:r>
              <a:rPr lang="en-US" dirty="0"/>
              <a:t>advantages over Java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85068" y="1918406"/>
            <a:ext cx="10417284" cy="4328645"/>
          </a:xfrm>
        </p:spPr>
        <p:txBody>
          <a:bodyPr>
            <a:normAutofit/>
          </a:bodyPr>
          <a:lstStyle/>
          <a:p>
            <a:r>
              <a:rPr lang="en-US" dirty="0"/>
              <a:t>Faster</a:t>
            </a:r>
          </a:p>
          <a:p>
            <a:endParaRPr lang="en-US" dirty="0"/>
          </a:p>
          <a:p>
            <a:r>
              <a:rPr lang="en-US" dirty="0"/>
              <a:t>Less verbose (despite header files)</a:t>
            </a:r>
          </a:p>
          <a:p>
            <a:endParaRPr lang="en-US" dirty="0"/>
          </a:p>
          <a:p>
            <a:r>
              <a:rPr lang="en-US" dirty="0"/>
              <a:t>Direct hardware access</a:t>
            </a:r>
          </a:p>
          <a:p>
            <a:endParaRPr lang="en-US" dirty="0"/>
          </a:p>
          <a:p>
            <a:r>
              <a:rPr lang="en-US" dirty="0"/>
              <a:t>If you develop something serious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2776806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024" y="1005640"/>
            <a:ext cx="4258571" cy="589721"/>
          </a:xfrm>
        </p:spPr>
        <p:txBody>
          <a:bodyPr>
            <a:normAutofit/>
          </a:bodyPr>
          <a:lstStyle/>
          <a:p>
            <a:r>
              <a:rPr lang="en-US" dirty="0"/>
              <a:t>What is different?</a:t>
            </a:r>
          </a:p>
        </p:txBody>
      </p:sp>
      <p:sp>
        <p:nvSpPr>
          <p:cNvPr id="16" name="Title 1"/>
          <p:cNvSpPr txBox="1">
            <a:spLocks/>
          </p:cNvSpPr>
          <p:nvPr/>
        </p:nvSpPr>
        <p:spPr>
          <a:xfrm>
            <a:off x="8542401" y="1005639"/>
            <a:ext cx="3365749" cy="5897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 baseline="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dirty="0"/>
              <a:t>Java vs C/C++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idx="1"/>
          </p:nvPr>
        </p:nvSpPr>
        <p:spPr>
          <a:xfrm>
            <a:off x="5922382" y="1672235"/>
            <a:ext cx="5985768" cy="4943003"/>
          </a:xfrm>
          <a:solidFill>
            <a:srgbClr val="FFFFCC"/>
          </a:solidFill>
          <a:ln w="3175">
            <a:solidFill>
              <a:schemeClr val="tx1"/>
            </a:solidFill>
          </a:ln>
        </p:spPr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public class Test {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public static void main(String[] args) {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  </a:t>
            </a:r>
            <a:r>
              <a:rPr lang="en-US" sz="1800" dirty="0" err="1">
                <a:latin typeface="Courier10 BT" pitchFamily="49" charset="0"/>
              </a:rPr>
              <a:t>boolean</a:t>
            </a:r>
            <a:r>
              <a:rPr lang="en-US" sz="1800" dirty="0">
                <a:latin typeface="Courier10 BT" pitchFamily="49" charset="0"/>
              </a:rPr>
              <a:t>            myBool    = true;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  byte               myVByte   = -127;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  char               myChar    = 'H';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  short              myShort   = -166;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  int                myInt     = -2646;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  long               myLong    = -345234234;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  float              myFloat   = 342374.9f;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  double             myDouble  = 4234.2347d;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		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  var                myNum     = 3521;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  final var          MY_NUM    = 23423423;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}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}</a:t>
            </a:r>
          </a:p>
        </p:txBody>
      </p:sp>
      <p:sp>
        <p:nvSpPr>
          <p:cNvPr id="13" name="Content Placeholder 2"/>
          <p:cNvSpPr txBox="1">
            <a:spLocks/>
          </p:cNvSpPr>
          <p:nvPr/>
        </p:nvSpPr>
        <p:spPr>
          <a:xfrm>
            <a:off x="129024" y="1645847"/>
            <a:ext cx="5743456" cy="4770563"/>
          </a:xfrm>
          <a:prstGeom prst="rect">
            <a:avLst/>
          </a:prstGeom>
          <a:solidFill>
            <a:srgbClr val="FFFFCC"/>
          </a:solidFill>
          <a:ln w="3175">
            <a:solidFill>
              <a:schemeClr val="tx1"/>
            </a:solidFill>
          </a:ln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#include &lt;</a:t>
            </a:r>
            <a:r>
              <a:rPr lang="en-US" sz="1800" dirty="0" err="1">
                <a:latin typeface="Courier10 BT" pitchFamily="49" charset="0"/>
              </a:rPr>
              <a:t>iostream</a:t>
            </a:r>
            <a:r>
              <a:rPr lang="en-US" sz="1800" dirty="0">
                <a:latin typeface="Courier10 BT" pitchFamily="49" charset="0"/>
              </a:rPr>
              <a:t>&gt;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using namespace </a:t>
            </a:r>
            <a:r>
              <a:rPr lang="en-US" sz="1800" dirty="0" err="1">
                <a:latin typeface="Courier10 BT" pitchFamily="49" charset="0"/>
              </a:rPr>
              <a:t>std</a:t>
            </a:r>
            <a:r>
              <a:rPr lang="en-US" sz="1800" dirty="0">
                <a:latin typeface="Courier10 BT" pitchFamily="49" charset="0"/>
              </a:rPr>
              <a:t>;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int main(int argc, char* argv[]){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bool               myBool    = true;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char               myChar    = 'H';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unsigned char      myUChar   = 123U;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short              myShort   = -166;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unsigned short     myUShort  = 1898;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int                myInt     = -2646;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unsigned int       myUInt    = 324236;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long               myLong    = -345234234;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unsigned long      myULong   = 234762387468;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long long          myLLong   = -328472394723897;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unsigned long long myULLong  = 23817928173982719;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float              myFloat   = 342374.9f;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double             myDouble  = 4234.2347L;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long double        myLDouble = 37846287.324726L;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}</a:t>
            </a:r>
          </a:p>
        </p:txBody>
      </p:sp>
      <p:sp>
        <p:nvSpPr>
          <p:cNvPr id="8" name="Title 1"/>
          <p:cNvSpPr txBox="1">
            <a:spLocks/>
          </p:cNvSpPr>
          <p:nvPr/>
        </p:nvSpPr>
        <p:spPr>
          <a:xfrm>
            <a:off x="4777175" y="1005640"/>
            <a:ext cx="3127035" cy="5897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 baseline="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sz="2800" dirty="0"/>
              <a:t>Basic data types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7284" y="2486623"/>
            <a:ext cx="14250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FF0000"/>
                </a:solidFill>
              </a:rPr>
              <a:t>No byte!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50608" y="5661131"/>
            <a:ext cx="233670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FF0000"/>
                </a:solidFill>
              </a:rPr>
              <a:t>No unsigned data type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FF0000"/>
                </a:solidFill>
              </a:rPr>
              <a:t>No long </a:t>
            </a:r>
            <a:r>
              <a:rPr lang="en-US" sz="1400" dirty="0" err="1">
                <a:solidFill>
                  <a:srgbClr val="FF0000"/>
                </a:solidFill>
              </a:rPr>
              <a:t>long</a:t>
            </a:r>
            <a:endParaRPr lang="en-US" sz="1400" dirty="0">
              <a:solidFill>
                <a:srgbClr val="FF00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FF0000"/>
                </a:solidFill>
              </a:rPr>
              <a:t>No unsigned long </a:t>
            </a:r>
            <a:r>
              <a:rPr lang="en-US" sz="1400" dirty="0" err="1">
                <a:solidFill>
                  <a:srgbClr val="FF0000"/>
                </a:solidFill>
              </a:rPr>
              <a:t>long</a:t>
            </a:r>
            <a:endParaRPr lang="en-US" sz="1400" dirty="0">
              <a:solidFill>
                <a:srgbClr val="FF00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FF0000"/>
                </a:solidFill>
              </a:rPr>
              <a:t>No long double</a:t>
            </a:r>
          </a:p>
        </p:txBody>
      </p:sp>
      <p:sp>
        <p:nvSpPr>
          <p:cNvPr id="11" name="Title 1"/>
          <p:cNvSpPr txBox="1">
            <a:spLocks/>
          </p:cNvSpPr>
          <p:nvPr/>
        </p:nvSpPr>
        <p:spPr>
          <a:xfrm>
            <a:off x="4463804" y="1549583"/>
            <a:ext cx="1600220" cy="5897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 baseline="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dirty="0">
                <a:solidFill>
                  <a:srgbClr val="FF0000"/>
                </a:solidFill>
              </a:rPr>
              <a:t>C/C++</a:t>
            </a:r>
          </a:p>
        </p:txBody>
      </p:sp>
      <p:sp>
        <p:nvSpPr>
          <p:cNvPr id="14" name="Title 1"/>
          <p:cNvSpPr txBox="1">
            <a:spLocks/>
          </p:cNvSpPr>
          <p:nvPr/>
        </p:nvSpPr>
        <p:spPr>
          <a:xfrm>
            <a:off x="10812460" y="1567283"/>
            <a:ext cx="1359489" cy="5897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 baseline="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dirty="0">
                <a:solidFill>
                  <a:srgbClr val="92D050"/>
                </a:solidFill>
              </a:rPr>
              <a:t>Java</a:t>
            </a:r>
          </a:p>
        </p:txBody>
      </p:sp>
    </p:spTree>
    <p:extLst>
      <p:ext uri="{BB962C8B-B14F-4D97-AF65-F5344CB8AC3E}">
        <p14:creationId xmlns:p14="http://schemas.microsoft.com/office/powerpoint/2010/main" val="133337555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92242" y="920436"/>
            <a:ext cx="4258571" cy="589721"/>
          </a:xfrm>
        </p:spPr>
        <p:txBody>
          <a:bodyPr>
            <a:normAutofit/>
          </a:bodyPr>
          <a:lstStyle/>
          <a:p>
            <a:r>
              <a:rPr lang="en-US" dirty="0"/>
              <a:t>What is different?</a:t>
            </a:r>
          </a:p>
        </p:txBody>
      </p:sp>
      <p:sp>
        <p:nvSpPr>
          <p:cNvPr id="16" name="Title 1"/>
          <p:cNvSpPr txBox="1">
            <a:spLocks/>
          </p:cNvSpPr>
          <p:nvPr/>
        </p:nvSpPr>
        <p:spPr>
          <a:xfrm>
            <a:off x="8770147" y="920435"/>
            <a:ext cx="3365749" cy="5897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 baseline="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dirty="0"/>
              <a:t>Java vs C/C++</a:t>
            </a:r>
          </a:p>
        </p:txBody>
      </p:sp>
      <p:sp>
        <p:nvSpPr>
          <p:cNvPr id="11" name="Title 1"/>
          <p:cNvSpPr txBox="1">
            <a:spLocks/>
          </p:cNvSpPr>
          <p:nvPr/>
        </p:nvSpPr>
        <p:spPr>
          <a:xfrm>
            <a:off x="5477506" y="920436"/>
            <a:ext cx="2647347" cy="5897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 baseline="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sz="2800" dirty="0"/>
              <a:t>If == vs = error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idx="1"/>
          </p:nvPr>
        </p:nvSpPr>
        <p:spPr>
          <a:xfrm>
            <a:off x="6004262" y="2678211"/>
            <a:ext cx="5985768" cy="2698605"/>
          </a:xfrm>
          <a:solidFill>
            <a:srgbClr val="FFFFCC"/>
          </a:solidFill>
          <a:ln w="3175">
            <a:solidFill>
              <a:schemeClr val="tx1"/>
            </a:solidFill>
          </a:ln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public class Test {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public static void main(String[] args) {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  int a = 100;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		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  if ( a = 90 )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    System.out.println("Does NOT work!");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}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}</a:t>
            </a:r>
          </a:p>
        </p:txBody>
      </p:sp>
      <p:sp>
        <p:nvSpPr>
          <p:cNvPr id="13" name="Content Placeholder 2"/>
          <p:cNvSpPr txBox="1">
            <a:spLocks/>
          </p:cNvSpPr>
          <p:nvPr/>
        </p:nvSpPr>
        <p:spPr>
          <a:xfrm>
            <a:off x="165438" y="1635100"/>
            <a:ext cx="5743456" cy="3450402"/>
          </a:xfrm>
          <a:prstGeom prst="rect">
            <a:avLst/>
          </a:prstGeom>
          <a:solidFill>
            <a:srgbClr val="FFFFCC"/>
          </a:solidFill>
          <a:ln w="3175">
            <a:solidFill>
              <a:schemeClr val="tx1"/>
            </a:solidFill>
          </a:ln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#include &lt;iostream&gt;</a:t>
            </a:r>
          </a:p>
          <a:p>
            <a:pPr marL="0" indent="0">
              <a:buNone/>
            </a:pPr>
            <a:endParaRPr lang="en-US" sz="1800" dirty="0">
              <a:latin typeface="Courier10 BT" pitchFamily="49" charset="0"/>
            </a:endParaRP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using namespace std;</a:t>
            </a:r>
          </a:p>
          <a:p>
            <a:pPr marL="0" indent="0">
              <a:buNone/>
            </a:pPr>
            <a:endParaRPr lang="en-US" sz="1800" dirty="0">
              <a:latin typeface="Courier10 BT" pitchFamily="49" charset="0"/>
            </a:endParaRP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int main(int argc, char* argv[]){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int a = 100;</a:t>
            </a:r>
          </a:p>
          <a:p>
            <a:pPr marL="0" indent="0">
              <a:buNone/>
            </a:pPr>
            <a:endParaRPr lang="en-US" sz="1800" dirty="0">
              <a:latin typeface="Courier10 BT" pitchFamily="49" charset="0"/>
            </a:endParaRP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if (a = 90)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  cout &lt;&lt; "Does work!" &lt;&lt; endl;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}</a:t>
            </a:r>
          </a:p>
        </p:txBody>
      </p:sp>
      <p:pic>
        <p:nvPicPr>
          <p:cNvPr id="15" name="Picture 1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98883" y="5820022"/>
            <a:ext cx="5991147" cy="773726"/>
          </a:xfrm>
          <a:prstGeom prst="rect">
            <a:avLst/>
          </a:prstGeom>
          <a:ln>
            <a:solidFill>
              <a:srgbClr val="FF0000"/>
            </a:solidFill>
          </a:ln>
        </p:spPr>
      </p:pic>
      <p:sp>
        <p:nvSpPr>
          <p:cNvPr id="9" name="Title 1"/>
          <p:cNvSpPr txBox="1">
            <a:spLocks/>
          </p:cNvSpPr>
          <p:nvPr/>
        </p:nvSpPr>
        <p:spPr>
          <a:xfrm>
            <a:off x="4463804" y="1549583"/>
            <a:ext cx="1600220" cy="5897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 baseline="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dirty="0">
                <a:solidFill>
                  <a:srgbClr val="FF0000"/>
                </a:solidFill>
              </a:rPr>
              <a:t>C/C++</a:t>
            </a:r>
          </a:p>
        </p:txBody>
      </p:sp>
      <p:sp>
        <p:nvSpPr>
          <p:cNvPr id="10" name="Title 1"/>
          <p:cNvSpPr txBox="1">
            <a:spLocks/>
          </p:cNvSpPr>
          <p:nvPr/>
        </p:nvSpPr>
        <p:spPr>
          <a:xfrm>
            <a:off x="10812460" y="1567283"/>
            <a:ext cx="1359489" cy="5897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 baseline="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dirty="0">
                <a:solidFill>
                  <a:srgbClr val="92D050"/>
                </a:solidFill>
              </a:rPr>
              <a:t>Java</a:t>
            </a:r>
          </a:p>
        </p:txBody>
      </p:sp>
      <p:sp>
        <p:nvSpPr>
          <p:cNvPr id="3" name="Down Arrow 2"/>
          <p:cNvSpPr/>
          <p:nvPr/>
        </p:nvSpPr>
        <p:spPr>
          <a:xfrm flipH="1" flipV="1">
            <a:off x="7446905" y="4704203"/>
            <a:ext cx="237392" cy="1045965"/>
          </a:xfrm>
          <a:prstGeom prst="downArrow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627319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024" y="919953"/>
            <a:ext cx="4258571" cy="589721"/>
          </a:xfrm>
        </p:spPr>
        <p:txBody>
          <a:bodyPr>
            <a:normAutofit/>
          </a:bodyPr>
          <a:lstStyle/>
          <a:p>
            <a:r>
              <a:rPr lang="en-US" dirty="0"/>
              <a:t>What is different?</a:t>
            </a:r>
          </a:p>
        </p:txBody>
      </p:sp>
      <p:sp>
        <p:nvSpPr>
          <p:cNvPr id="16" name="Title 1"/>
          <p:cNvSpPr txBox="1">
            <a:spLocks/>
          </p:cNvSpPr>
          <p:nvPr/>
        </p:nvSpPr>
        <p:spPr>
          <a:xfrm>
            <a:off x="8744971" y="915717"/>
            <a:ext cx="3365749" cy="5897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 baseline="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dirty="0"/>
              <a:t>C/C++</a:t>
            </a:r>
          </a:p>
        </p:txBody>
      </p:sp>
      <p:sp>
        <p:nvSpPr>
          <p:cNvPr id="11" name="Title 1"/>
          <p:cNvSpPr txBox="1">
            <a:spLocks/>
          </p:cNvSpPr>
          <p:nvPr/>
        </p:nvSpPr>
        <p:spPr>
          <a:xfrm>
            <a:off x="5589267" y="950291"/>
            <a:ext cx="1183768" cy="5897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 baseline="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sz="2800" dirty="0"/>
              <a:t>class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idx="1"/>
          </p:nvPr>
        </p:nvSpPr>
        <p:spPr>
          <a:xfrm>
            <a:off x="6048077" y="1605261"/>
            <a:ext cx="5996918" cy="4483995"/>
          </a:xfrm>
          <a:solidFill>
            <a:srgbClr val="FFFFCC"/>
          </a:solidFill>
          <a:ln w="3175">
            <a:solidFill>
              <a:schemeClr val="tx1"/>
            </a:solidFill>
          </a:ln>
        </p:spPr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#include "Test.h"</a:t>
            </a:r>
          </a:p>
          <a:p>
            <a:pPr marL="0" indent="0">
              <a:buNone/>
            </a:pPr>
            <a:endParaRPr lang="en-US" sz="1800" dirty="0">
              <a:latin typeface="Courier10 BT" pitchFamily="49" charset="0"/>
            </a:endParaRP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int Test::</a:t>
            </a:r>
            <a:r>
              <a:rPr lang="en-US" sz="1800" dirty="0" err="1">
                <a:latin typeface="Courier10 BT" pitchFamily="49" charset="0"/>
              </a:rPr>
              <a:t>getId</a:t>
            </a:r>
            <a:r>
              <a:rPr lang="en-US" sz="1800" dirty="0">
                <a:latin typeface="Courier10 BT" pitchFamily="49" charset="0"/>
              </a:rPr>
              <a:t>() {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  return this-&gt;id;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}</a:t>
            </a:r>
          </a:p>
          <a:p>
            <a:pPr marL="0" indent="0">
              <a:buNone/>
            </a:pPr>
            <a:endParaRPr lang="en-US" sz="1800" dirty="0">
              <a:latin typeface="Courier10 BT" pitchFamily="49" charset="0"/>
            </a:endParaRP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void Test::</a:t>
            </a:r>
            <a:r>
              <a:rPr lang="en-US" sz="1800" dirty="0" err="1">
                <a:latin typeface="Courier10 BT" pitchFamily="49" charset="0"/>
              </a:rPr>
              <a:t>setId</a:t>
            </a:r>
            <a:r>
              <a:rPr lang="en-US" sz="1800" dirty="0">
                <a:latin typeface="Courier10 BT" pitchFamily="49" charset="0"/>
              </a:rPr>
              <a:t>(int id) {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  this-&gt;id = id;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}</a:t>
            </a:r>
          </a:p>
          <a:p>
            <a:pPr marL="0" indent="0">
              <a:buNone/>
            </a:pPr>
            <a:endParaRPr lang="en-US" sz="1800" dirty="0">
              <a:latin typeface="Courier10 BT" pitchFamily="49" charset="0"/>
            </a:endParaRP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string Test::getName() {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  return this-&gt;name;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}</a:t>
            </a:r>
          </a:p>
          <a:p>
            <a:pPr marL="0" indent="0">
              <a:buNone/>
            </a:pPr>
            <a:endParaRPr lang="en-US" sz="1800" dirty="0">
              <a:latin typeface="Courier10 BT" pitchFamily="49" charset="0"/>
            </a:endParaRP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void Test::</a:t>
            </a:r>
            <a:r>
              <a:rPr lang="en-US" sz="1800" dirty="0" err="1">
                <a:latin typeface="Courier10 BT" pitchFamily="49" charset="0"/>
              </a:rPr>
              <a:t>setName</a:t>
            </a:r>
            <a:r>
              <a:rPr lang="en-US" sz="1800" dirty="0">
                <a:latin typeface="Courier10 BT" pitchFamily="49" charset="0"/>
              </a:rPr>
              <a:t>(string name) {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  this-&gt;name = name;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}</a:t>
            </a:r>
          </a:p>
        </p:txBody>
      </p:sp>
      <p:sp>
        <p:nvSpPr>
          <p:cNvPr id="13" name="Content Placeholder 2"/>
          <p:cNvSpPr txBox="1">
            <a:spLocks/>
          </p:cNvSpPr>
          <p:nvPr/>
        </p:nvSpPr>
        <p:spPr>
          <a:xfrm>
            <a:off x="129024" y="1605261"/>
            <a:ext cx="5865376" cy="4483995"/>
          </a:xfrm>
          <a:prstGeom prst="rect">
            <a:avLst/>
          </a:prstGeom>
          <a:solidFill>
            <a:srgbClr val="FFFFCC"/>
          </a:solidFill>
          <a:ln w="3175">
            <a:solidFill>
              <a:schemeClr val="tx1"/>
            </a:solidFill>
          </a:ln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#pragma once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#include &lt;string&gt;</a:t>
            </a:r>
          </a:p>
          <a:p>
            <a:pPr marL="0" indent="0">
              <a:buNone/>
            </a:pPr>
            <a:endParaRPr lang="en-US" sz="1800" dirty="0">
              <a:latin typeface="Courier10 BT" pitchFamily="49" charset="0"/>
            </a:endParaRP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using namespace std;</a:t>
            </a:r>
          </a:p>
          <a:p>
            <a:pPr marL="0" indent="0">
              <a:buNone/>
            </a:pPr>
            <a:endParaRPr lang="en-US" sz="1800" dirty="0">
              <a:latin typeface="Courier10 BT" pitchFamily="49" charset="0"/>
            </a:endParaRP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class Test{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private: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  int id;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  string name;</a:t>
            </a:r>
          </a:p>
          <a:p>
            <a:pPr marL="0" indent="0">
              <a:buNone/>
            </a:pPr>
            <a:endParaRPr lang="en-US" sz="1800" dirty="0">
              <a:latin typeface="Courier10 BT" pitchFamily="49" charset="0"/>
            </a:endParaRP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public: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  int </a:t>
            </a:r>
            <a:r>
              <a:rPr lang="en-US" sz="1800" dirty="0" err="1">
                <a:latin typeface="Courier10 BT" pitchFamily="49" charset="0"/>
              </a:rPr>
              <a:t>getId</a:t>
            </a:r>
            <a:r>
              <a:rPr lang="en-US" sz="1800" dirty="0">
                <a:latin typeface="Courier10 BT" pitchFamily="49" charset="0"/>
              </a:rPr>
              <a:t>();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  void </a:t>
            </a:r>
            <a:r>
              <a:rPr lang="en-US" sz="1800" dirty="0" err="1">
                <a:latin typeface="Courier10 BT" pitchFamily="49" charset="0"/>
              </a:rPr>
              <a:t>setId</a:t>
            </a:r>
            <a:r>
              <a:rPr lang="en-US" sz="1800" dirty="0">
                <a:latin typeface="Courier10 BT" pitchFamily="49" charset="0"/>
              </a:rPr>
              <a:t>(int id);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  string getName();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  void </a:t>
            </a:r>
            <a:r>
              <a:rPr lang="en-US" sz="1800" dirty="0" err="1">
                <a:latin typeface="Courier10 BT" pitchFamily="49" charset="0"/>
              </a:rPr>
              <a:t>setName</a:t>
            </a:r>
            <a:r>
              <a:rPr lang="en-US" sz="1800" dirty="0">
                <a:latin typeface="Courier10 BT" pitchFamily="49" charset="0"/>
              </a:rPr>
              <a:t>(string name);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};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47793" y="1561762"/>
            <a:ext cx="8002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Test.h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1055" y="1605261"/>
            <a:ext cx="1043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Test.cpp</a:t>
            </a:r>
          </a:p>
        </p:txBody>
      </p:sp>
    </p:spTree>
    <p:extLst>
      <p:ext uri="{BB962C8B-B14F-4D97-AF65-F5344CB8AC3E}">
        <p14:creationId xmlns:p14="http://schemas.microsoft.com/office/powerpoint/2010/main" val="226592162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024" y="919953"/>
            <a:ext cx="4258571" cy="589721"/>
          </a:xfrm>
        </p:spPr>
        <p:txBody>
          <a:bodyPr>
            <a:normAutofit/>
          </a:bodyPr>
          <a:lstStyle/>
          <a:p>
            <a:r>
              <a:rPr lang="en-US" dirty="0"/>
              <a:t>What is different?</a:t>
            </a:r>
          </a:p>
        </p:txBody>
      </p:sp>
      <p:sp>
        <p:nvSpPr>
          <p:cNvPr id="16" name="Title 1"/>
          <p:cNvSpPr txBox="1">
            <a:spLocks/>
          </p:cNvSpPr>
          <p:nvPr/>
        </p:nvSpPr>
        <p:spPr>
          <a:xfrm>
            <a:off x="8744971" y="915717"/>
            <a:ext cx="3365749" cy="5897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 baseline="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dirty="0"/>
              <a:t>Java</a:t>
            </a:r>
          </a:p>
        </p:txBody>
      </p:sp>
      <p:sp>
        <p:nvSpPr>
          <p:cNvPr id="11" name="Title 1"/>
          <p:cNvSpPr txBox="1">
            <a:spLocks/>
          </p:cNvSpPr>
          <p:nvPr/>
        </p:nvSpPr>
        <p:spPr>
          <a:xfrm>
            <a:off x="5475978" y="915716"/>
            <a:ext cx="1187814" cy="5897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 baseline="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sz="2800" dirty="0"/>
              <a:t>class</a:t>
            </a:r>
          </a:p>
        </p:txBody>
      </p:sp>
      <p:sp>
        <p:nvSpPr>
          <p:cNvPr id="13" name="Content Placeholder 2"/>
          <p:cNvSpPr txBox="1">
            <a:spLocks/>
          </p:cNvSpPr>
          <p:nvPr/>
        </p:nvSpPr>
        <p:spPr>
          <a:xfrm>
            <a:off x="3066433" y="1561762"/>
            <a:ext cx="6676378" cy="4895682"/>
          </a:xfrm>
          <a:prstGeom prst="rect">
            <a:avLst/>
          </a:prstGeom>
          <a:solidFill>
            <a:srgbClr val="FFFFCC"/>
          </a:solidFill>
          <a:ln w="3175">
            <a:solidFill>
              <a:schemeClr val="tx1"/>
            </a:solidFill>
          </a:ln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public class Test {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private int id;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private String name;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  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public int </a:t>
            </a:r>
            <a:r>
              <a:rPr lang="en-US" sz="1800" dirty="0" err="1">
                <a:latin typeface="Courier10 BT" pitchFamily="49" charset="0"/>
              </a:rPr>
              <a:t>getId</a:t>
            </a:r>
            <a:r>
              <a:rPr lang="en-US" sz="1800" dirty="0">
                <a:latin typeface="Courier10 BT" pitchFamily="49" charset="0"/>
              </a:rPr>
              <a:t>() {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  return id;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}</a:t>
            </a:r>
          </a:p>
          <a:p>
            <a:pPr marL="0" indent="0">
              <a:buNone/>
            </a:pPr>
            <a:endParaRPr lang="en-US" sz="1800" dirty="0">
              <a:latin typeface="Courier10 BT" pitchFamily="49" charset="0"/>
            </a:endParaRP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public void </a:t>
            </a:r>
            <a:r>
              <a:rPr lang="en-US" sz="1800" dirty="0" err="1">
                <a:latin typeface="Courier10 BT" pitchFamily="49" charset="0"/>
              </a:rPr>
              <a:t>setId</a:t>
            </a:r>
            <a:r>
              <a:rPr lang="en-US" sz="1800" dirty="0">
                <a:latin typeface="Courier10 BT" pitchFamily="49" charset="0"/>
              </a:rPr>
              <a:t>(int id) {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  this.id = id;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}</a:t>
            </a:r>
          </a:p>
          <a:p>
            <a:pPr marL="0" indent="0">
              <a:buNone/>
            </a:pPr>
            <a:endParaRPr lang="en-US" sz="1800" dirty="0">
              <a:latin typeface="Courier10 BT" pitchFamily="49" charset="0"/>
            </a:endParaRP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public String getName() {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  return name;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}</a:t>
            </a:r>
          </a:p>
          <a:p>
            <a:pPr marL="0" indent="0">
              <a:buNone/>
            </a:pPr>
            <a:endParaRPr lang="en-US" sz="1800" dirty="0">
              <a:latin typeface="Courier10 BT" pitchFamily="49" charset="0"/>
            </a:endParaRP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public void </a:t>
            </a:r>
            <a:r>
              <a:rPr lang="en-US" sz="1800" dirty="0" err="1">
                <a:latin typeface="Courier10 BT" pitchFamily="49" charset="0"/>
              </a:rPr>
              <a:t>setName</a:t>
            </a:r>
            <a:r>
              <a:rPr lang="en-US" sz="1800" dirty="0">
                <a:latin typeface="Courier10 BT" pitchFamily="49" charset="0"/>
              </a:rPr>
              <a:t>(String name) {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  this.name = name;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}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}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93850" y="1594130"/>
            <a:ext cx="10952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Test.java</a:t>
            </a:r>
          </a:p>
        </p:txBody>
      </p:sp>
    </p:spTree>
    <p:extLst>
      <p:ext uri="{BB962C8B-B14F-4D97-AF65-F5344CB8AC3E}">
        <p14:creationId xmlns:p14="http://schemas.microsoft.com/office/powerpoint/2010/main" val="166971952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024" y="919953"/>
            <a:ext cx="4258571" cy="589721"/>
          </a:xfrm>
        </p:spPr>
        <p:txBody>
          <a:bodyPr>
            <a:normAutofit/>
          </a:bodyPr>
          <a:lstStyle/>
          <a:p>
            <a:r>
              <a:rPr lang="en-US" dirty="0"/>
              <a:t>What is different?</a:t>
            </a:r>
          </a:p>
        </p:txBody>
      </p:sp>
      <p:sp>
        <p:nvSpPr>
          <p:cNvPr id="16" name="Title 1"/>
          <p:cNvSpPr txBox="1">
            <a:spLocks/>
          </p:cNvSpPr>
          <p:nvPr/>
        </p:nvSpPr>
        <p:spPr>
          <a:xfrm>
            <a:off x="8744971" y="915717"/>
            <a:ext cx="3365749" cy="5897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 baseline="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dirty="0"/>
              <a:t>C/C++ vs Java</a:t>
            </a:r>
          </a:p>
        </p:txBody>
      </p:sp>
      <p:sp>
        <p:nvSpPr>
          <p:cNvPr id="11" name="Title 1"/>
          <p:cNvSpPr txBox="1">
            <a:spLocks/>
          </p:cNvSpPr>
          <p:nvPr/>
        </p:nvSpPr>
        <p:spPr>
          <a:xfrm>
            <a:off x="5115882" y="950295"/>
            <a:ext cx="2647347" cy="5897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 baseline="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sz="2800" dirty="0"/>
              <a:t>instantiation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idx="1"/>
          </p:nvPr>
        </p:nvSpPr>
        <p:spPr>
          <a:xfrm>
            <a:off x="6031893" y="2798837"/>
            <a:ext cx="5996918" cy="2234410"/>
          </a:xfrm>
          <a:solidFill>
            <a:srgbClr val="FFFFCC"/>
          </a:solidFill>
          <a:ln w="3175">
            <a:solidFill>
              <a:schemeClr val="tx1"/>
            </a:solidFill>
          </a:ln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public static void main(String[] args) {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  Test myTest = new Test();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  myTest.setName("Mike");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  System.out.println(</a:t>
            </a:r>
            <a:r>
              <a:rPr lang="en-US" sz="1800" dirty="0" err="1">
                <a:latin typeface="Courier10 BT" pitchFamily="49" charset="0"/>
              </a:rPr>
              <a:t>myTest.getName</a:t>
            </a:r>
            <a:r>
              <a:rPr lang="en-US" sz="1800" dirty="0">
                <a:latin typeface="Courier10 BT" pitchFamily="49" charset="0"/>
              </a:rPr>
              <a:t>());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  myTest = null; // not essential but …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}</a:t>
            </a:r>
          </a:p>
        </p:txBody>
      </p:sp>
      <p:sp>
        <p:nvSpPr>
          <p:cNvPr id="13" name="Content Placeholder 2"/>
          <p:cNvSpPr txBox="1">
            <a:spLocks/>
          </p:cNvSpPr>
          <p:nvPr/>
        </p:nvSpPr>
        <p:spPr>
          <a:xfrm>
            <a:off x="129024" y="1605261"/>
            <a:ext cx="5865376" cy="4483995"/>
          </a:xfrm>
          <a:prstGeom prst="rect">
            <a:avLst/>
          </a:prstGeom>
          <a:solidFill>
            <a:srgbClr val="FFFFCC"/>
          </a:solidFill>
          <a:ln w="3175">
            <a:solidFill>
              <a:schemeClr val="tx1"/>
            </a:solidFill>
          </a:ln>
        </p:spPr>
        <p:txBody>
          <a:bodyPr vert="horz" lIns="91440" tIns="45720" rIns="91440" bIns="45720" rtlCol="0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#include &lt;iostream&gt;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#include "Test.h"</a:t>
            </a:r>
          </a:p>
          <a:p>
            <a:pPr marL="0" indent="0">
              <a:buNone/>
            </a:pPr>
            <a:endParaRPr lang="en-US" sz="1800" dirty="0">
              <a:latin typeface="Courier10 BT" pitchFamily="49" charset="0"/>
            </a:endParaRP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using namespace std;</a:t>
            </a:r>
          </a:p>
          <a:p>
            <a:pPr marL="0" indent="0">
              <a:buNone/>
            </a:pPr>
            <a:endParaRPr lang="en-US" sz="1800" dirty="0">
              <a:latin typeface="Courier10 BT" pitchFamily="49" charset="0"/>
            </a:endParaRP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int main(int argc, char* argv[]){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Test myStackTest; 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myStackTest.setName("Mike");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cout &lt;&lt; myStackTest.getName() &lt;&lt; endl;</a:t>
            </a:r>
          </a:p>
          <a:p>
            <a:pPr marL="0" indent="0">
              <a:buNone/>
            </a:pPr>
            <a:endParaRPr lang="en-US" sz="1800" dirty="0">
              <a:latin typeface="Courier10 BT" pitchFamily="49" charset="0"/>
            </a:endParaRP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Test *myHeapTest = new Test();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myHeapTest-&gt;setName("Michael");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cout &lt;&lt; myHeapTest-&gt;getName() &lt;&lt; endl;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delete(myHeapTest);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}</a:t>
            </a:r>
          </a:p>
        </p:txBody>
      </p:sp>
      <p:sp>
        <p:nvSpPr>
          <p:cNvPr id="8" name="Title 1"/>
          <p:cNvSpPr txBox="1">
            <a:spLocks/>
          </p:cNvSpPr>
          <p:nvPr/>
        </p:nvSpPr>
        <p:spPr>
          <a:xfrm>
            <a:off x="4600168" y="1505462"/>
            <a:ext cx="1600220" cy="5897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 baseline="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dirty="0">
                <a:solidFill>
                  <a:srgbClr val="FF0000"/>
                </a:solidFill>
              </a:rPr>
              <a:t>C/C++</a:t>
            </a:r>
          </a:p>
        </p:txBody>
      </p:sp>
      <p:sp>
        <p:nvSpPr>
          <p:cNvPr id="9" name="Title 1"/>
          <p:cNvSpPr txBox="1">
            <a:spLocks/>
          </p:cNvSpPr>
          <p:nvPr/>
        </p:nvSpPr>
        <p:spPr>
          <a:xfrm>
            <a:off x="10936787" y="2983005"/>
            <a:ext cx="1359489" cy="5897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 baseline="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dirty="0">
                <a:solidFill>
                  <a:srgbClr val="92D050"/>
                </a:solidFill>
              </a:rPr>
              <a:t>Java</a:t>
            </a:r>
          </a:p>
        </p:txBody>
      </p:sp>
    </p:spTree>
    <p:extLst>
      <p:ext uri="{BB962C8B-B14F-4D97-AF65-F5344CB8AC3E}">
        <p14:creationId xmlns:p14="http://schemas.microsoft.com/office/powerpoint/2010/main" val="234474016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4608" y="919955"/>
            <a:ext cx="4258571" cy="589721"/>
          </a:xfrm>
        </p:spPr>
        <p:txBody>
          <a:bodyPr>
            <a:normAutofit/>
          </a:bodyPr>
          <a:lstStyle/>
          <a:p>
            <a:r>
              <a:rPr lang="en-US" dirty="0"/>
              <a:t>What is the same?</a:t>
            </a:r>
          </a:p>
        </p:txBody>
      </p:sp>
      <p:sp>
        <p:nvSpPr>
          <p:cNvPr id="16" name="Title 1"/>
          <p:cNvSpPr txBox="1">
            <a:spLocks/>
          </p:cNvSpPr>
          <p:nvPr/>
        </p:nvSpPr>
        <p:spPr>
          <a:xfrm>
            <a:off x="7434961" y="919954"/>
            <a:ext cx="3365749" cy="5897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 baseline="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dirty="0"/>
              <a:t>Java vs C/C++</a:t>
            </a:r>
          </a:p>
        </p:txBody>
      </p:sp>
      <p:sp>
        <p:nvSpPr>
          <p:cNvPr id="11" name="Title 1"/>
          <p:cNvSpPr txBox="1">
            <a:spLocks/>
          </p:cNvSpPr>
          <p:nvPr/>
        </p:nvSpPr>
        <p:spPr>
          <a:xfrm>
            <a:off x="5004122" y="1540084"/>
            <a:ext cx="2647347" cy="5897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 baseline="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sz="2800" dirty="0"/>
              <a:t>For-Loop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idx="1"/>
          </p:nvPr>
        </p:nvSpPr>
        <p:spPr>
          <a:xfrm>
            <a:off x="6033512" y="3507799"/>
            <a:ext cx="5985768" cy="2698605"/>
          </a:xfrm>
          <a:solidFill>
            <a:srgbClr val="FFFFCC"/>
          </a:solidFill>
          <a:ln w="3175">
            <a:solidFill>
              <a:schemeClr val="tx1"/>
            </a:solidFill>
          </a:ln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public class Test {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public static void main(String[] args) {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  for (int i = 0; i &lt; 100;i++) {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    System.out.println("Hello World!");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  }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}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}</a:t>
            </a:r>
          </a:p>
        </p:txBody>
      </p:sp>
      <p:sp>
        <p:nvSpPr>
          <p:cNvPr id="13" name="Content Placeholder 2"/>
          <p:cNvSpPr txBox="1">
            <a:spLocks/>
          </p:cNvSpPr>
          <p:nvPr/>
        </p:nvSpPr>
        <p:spPr>
          <a:xfrm>
            <a:off x="129024" y="2319122"/>
            <a:ext cx="5743456" cy="3450402"/>
          </a:xfrm>
          <a:prstGeom prst="rect">
            <a:avLst/>
          </a:prstGeom>
          <a:solidFill>
            <a:srgbClr val="FFFFCC"/>
          </a:solidFill>
          <a:ln w="3175">
            <a:solidFill>
              <a:schemeClr val="tx1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#include &lt;iostream&gt;</a:t>
            </a:r>
          </a:p>
          <a:p>
            <a:pPr marL="0" indent="0">
              <a:buNone/>
            </a:pPr>
            <a:endParaRPr lang="en-US" sz="1800" dirty="0">
              <a:latin typeface="Courier10 BT" pitchFamily="49" charset="0"/>
            </a:endParaRP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using namespace std;</a:t>
            </a:r>
          </a:p>
          <a:p>
            <a:pPr marL="0" indent="0">
              <a:buNone/>
            </a:pPr>
            <a:endParaRPr lang="en-US" sz="1800" dirty="0">
              <a:latin typeface="Courier10 BT" pitchFamily="49" charset="0"/>
            </a:endParaRP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int main(int argc, char* argv[]){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for (int i = 0; i &lt; 100;i++) {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  cout &lt;&lt; "Hello World!" &lt;&lt; endl;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}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}</a:t>
            </a:r>
          </a:p>
        </p:txBody>
      </p:sp>
      <p:sp>
        <p:nvSpPr>
          <p:cNvPr id="8" name="Title 1"/>
          <p:cNvSpPr txBox="1">
            <a:spLocks/>
          </p:cNvSpPr>
          <p:nvPr/>
        </p:nvSpPr>
        <p:spPr>
          <a:xfrm>
            <a:off x="4475837" y="2215334"/>
            <a:ext cx="1600220" cy="5897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 baseline="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dirty="0">
                <a:solidFill>
                  <a:srgbClr val="FF0000"/>
                </a:solidFill>
              </a:rPr>
              <a:t>C/C++</a:t>
            </a:r>
          </a:p>
        </p:txBody>
      </p:sp>
      <p:sp>
        <p:nvSpPr>
          <p:cNvPr id="9" name="Title 1"/>
          <p:cNvSpPr txBox="1">
            <a:spLocks/>
          </p:cNvSpPr>
          <p:nvPr/>
        </p:nvSpPr>
        <p:spPr>
          <a:xfrm>
            <a:off x="10924762" y="3400099"/>
            <a:ext cx="1359489" cy="5897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 baseline="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dirty="0">
                <a:solidFill>
                  <a:srgbClr val="92D050"/>
                </a:solidFill>
              </a:rPr>
              <a:t>Java</a:t>
            </a:r>
          </a:p>
        </p:txBody>
      </p:sp>
    </p:spTree>
    <p:extLst>
      <p:ext uri="{BB962C8B-B14F-4D97-AF65-F5344CB8AC3E}">
        <p14:creationId xmlns:p14="http://schemas.microsoft.com/office/powerpoint/2010/main" val="93177037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4608" y="919955"/>
            <a:ext cx="4258571" cy="589721"/>
          </a:xfrm>
        </p:spPr>
        <p:txBody>
          <a:bodyPr>
            <a:normAutofit/>
          </a:bodyPr>
          <a:lstStyle/>
          <a:p>
            <a:r>
              <a:rPr lang="en-US" dirty="0"/>
              <a:t>What is the same?</a:t>
            </a:r>
          </a:p>
        </p:txBody>
      </p:sp>
      <p:sp>
        <p:nvSpPr>
          <p:cNvPr id="16" name="Title 1"/>
          <p:cNvSpPr txBox="1">
            <a:spLocks/>
          </p:cNvSpPr>
          <p:nvPr/>
        </p:nvSpPr>
        <p:spPr>
          <a:xfrm>
            <a:off x="7434961" y="919954"/>
            <a:ext cx="3365749" cy="5897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 baseline="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dirty="0"/>
              <a:t>Java vs C/C++</a:t>
            </a:r>
          </a:p>
        </p:txBody>
      </p:sp>
      <p:sp>
        <p:nvSpPr>
          <p:cNvPr id="11" name="Title 1"/>
          <p:cNvSpPr txBox="1">
            <a:spLocks/>
          </p:cNvSpPr>
          <p:nvPr/>
        </p:nvSpPr>
        <p:spPr>
          <a:xfrm>
            <a:off x="5481643" y="1509675"/>
            <a:ext cx="2229798" cy="5897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 baseline="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sz="2800" dirty="0"/>
              <a:t>While Loop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idx="1"/>
          </p:nvPr>
        </p:nvSpPr>
        <p:spPr>
          <a:xfrm>
            <a:off x="6124951" y="3068891"/>
            <a:ext cx="5985768" cy="3450402"/>
          </a:xfrm>
          <a:solidFill>
            <a:srgbClr val="FFFFCC"/>
          </a:solidFill>
          <a:ln w="3175">
            <a:solidFill>
              <a:schemeClr val="tx1"/>
            </a:solidFill>
          </a:ln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public class Test {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public static void main(String[] args) {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  </a:t>
            </a:r>
            <a:r>
              <a:rPr lang="en-US" sz="1800" dirty="0" err="1">
                <a:latin typeface="Courier10 BT" pitchFamily="49" charset="0"/>
              </a:rPr>
              <a:t>int</a:t>
            </a:r>
            <a:r>
              <a:rPr lang="en-US" sz="1800" dirty="0">
                <a:latin typeface="Courier10 BT" pitchFamily="49" charset="0"/>
              </a:rPr>
              <a:t> </a:t>
            </a:r>
            <a:r>
              <a:rPr lang="en-US" sz="1800" dirty="0" err="1">
                <a:latin typeface="Courier10 BT" pitchFamily="49" charset="0"/>
              </a:rPr>
              <a:t>i</a:t>
            </a:r>
            <a:r>
              <a:rPr lang="en-US" sz="1800" dirty="0">
                <a:latin typeface="Courier10 BT" pitchFamily="49" charset="0"/>
              </a:rPr>
              <a:t>=100;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  while (i &lt; 100) {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    System.out.println("Hello World!");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    i++;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  }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}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}</a:t>
            </a:r>
          </a:p>
        </p:txBody>
      </p:sp>
      <p:sp>
        <p:nvSpPr>
          <p:cNvPr id="13" name="Content Placeholder 2"/>
          <p:cNvSpPr txBox="1">
            <a:spLocks/>
          </p:cNvSpPr>
          <p:nvPr/>
        </p:nvSpPr>
        <p:spPr>
          <a:xfrm>
            <a:off x="202165" y="2278482"/>
            <a:ext cx="5743456" cy="3482238"/>
          </a:xfrm>
          <a:prstGeom prst="rect">
            <a:avLst/>
          </a:prstGeom>
          <a:solidFill>
            <a:srgbClr val="FFFFCC"/>
          </a:solidFill>
          <a:ln w="3175">
            <a:solidFill>
              <a:schemeClr val="tx1"/>
            </a:solidFill>
          </a:ln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#include &lt;iostream&gt;</a:t>
            </a:r>
          </a:p>
          <a:p>
            <a:pPr marL="0" indent="0">
              <a:buNone/>
            </a:pPr>
            <a:endParaRPr lang="en-US" sz="1800" dirty="0">
              <a:latin typeface="Courier10 BT" pitchFamily="49" charset="0"/>
            </a:endParaRP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using namespace std;</a:t>
            </a:r>
          </a:p>
          <a:p>
            <a:pPr marL="0" indent="0">
              <a:buNone/>
            </a:pPr>
            <a:endParaRPr lang="en-US" sz="1800" dirty="0">
              <a:latin typeface="Courier10 BT" pitchFamily="49" charset="0"/>
            </a:endParaRP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int main(int argc, char* argv[]){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int i = 100;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while (i &lt; 100) {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  cout &lt;&lt; "Hello World!" &lt;&lt; endl;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  i++;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}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}</a:t>
            </a:r>
          </a:p>
        </p:txBody>
      </p:sp>
      <p:sp>
        <p:nvSpPr>
          <p:cNvPr id="8" name="Title 1"/>
          <p:cNvSpPr txBox="1">
            <a:spLocks/>
          </p:cNvSpPr>
          <p:nvPr/>
        </p:nvSpPr>
        <p:spPr>
          <a:xfrm>
            <a:off x="4552034" y="2179235"/>
            <a:ext cx="1600220" cy="5897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 baseline="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dirty="0">
                <a:solidFill>
                  <a:srgbClr val="FF0000"/>
                </a:solidFill>
              </a:rPr>
              <a:t>C/C++</a:t>
            </a:r>
          </a:p>
        </p:txBody>
      </p:sp>
      <p:sp>
        <p:nvSpPr>
          <p:cNvPr id="9" name="Title 1"/>
          <p:cNvSpPr txBox="1">
            <a:spLocks/>
          </p:cNvSpPr>
          <p:nvPr/>
        </p:nvSpPr>
        <p:spPr>
          <a:xfrm>
            <a:off x="11016998" y="2958944"/>
            <a:ext cx="1359489" cy="5897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 baseline="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dirty="0">
                <a:solidFill>
                  <a:srgbClr val="92D050"/>
                </a:solidFill>
              </a:rPr>
              <a:t>Java</a:t>
            </a:r>
          </a:p>
        </p:txBody>
      </p:sp>
    </p:spTree>
    <p:extLst>
      <p:ext uri="{BB962C8B-B14F-4D97-AF65-F5344CB8AC3E}">
        <p14:creationId xmlns:p14="http://schemas.microsoft.com/office/powerpoint/2010/main" val="348874058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4608" y="919955"/>
            <a:ext cx="4258571" cy="589721"/>
          </a:xfrm>
        </p:spPr>
        <p:txBody>
          <a:bodyPr>
            <a:normAutofit/>
          </a:bodyPr>
          <a:lstStyle/>
          <a:p>
            <a:r>
              <a:rPr lang="en-US" dirty="0"/>
              <a:t>What is the same?</a:t>
            </a:r>
          </a:p>
        </p:txBody>
      </p:sp>
      <p:sp>
        <p:nvSpPr>
          <p:cNvPr id="16" name="Title 1"/>
          <p:cNvSpPr txBox="1">
            <a:spLocks/>
          </p:cNvSpPr>
          <p:nvPr/>
        </p:nvSpPr>
        <p:spPr>
          <a:xfrm>
            <a:off x="7434961" y="919954"/>
            <a:ext cx="3365749" cy="5897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 baseline="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dirty="0"/>
              <a:t>Java vs C/C++</a:t>
            </a:r>
          </a:p>
        </p:txBody>
      </p:sp>
      <p:sp>
        <p:nvSpPr>
          <p:cNvPr id="11" name="Title 1"/>
          <p:cNvSpPr txBox="1">
            <a:spLocks/>
          </p:cNvSpPr>
          <p:nvPr/>
        </p:nvSpPr>
        <p:spPr>
          <a:xfrm>
            <a:off x="5004122" y="1540084"/>
            <a:ext cx="2647347" cy="5897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 baseline="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sz="2800" dirty="0"/>
              <a:t>For-Each Loop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idx="1"/>
          </p:nvPr>
        </p:nvSpPr>
        <p:spPr>
          <a:xfrm>
            <a:off x="6056170" y="3107334"/>
            <a:ext cx="5985768" cy="3450402"/>
          </a:xfrm>
          <a:solidFill>
            <a:srgbClr val="FFFFCC"/>
          </a:solidFill>
          <a:ln w="3175">
            <a:solidFill>
              <a:schemeClr val="tx1"/>
            </a:solidFill>
          </a:ln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public class Test {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public static void main(String[] args) {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  int[] myNumbers = {3, 9, 5, -5};	</a:t>
            </a:r>
          </a:p>
          <a:p>
            <a:pPr marL="0" indent="0">
              <a:buNone/>
            </a:pPr>
            <a:endParaRPr lang="en-US" sz="1800" dirty="0">
              <a:latin typeface="Courier10 BT" pitchFamily="49" charset="0"/>
            </a:endParaRP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  for (int i: myNumbers) {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    System.out.println(i);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  }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}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}</a:t>
            </a:r>
          </a:p>
        </p:txBody>
      </p:sp>
      <p:sp>
        <p:nvSpPr>
          <p:cNvPr id="13" name="Content Placeholder 2"/>
          <p:cNvSpPr txBox="1">
            <a:spLocks/>
          </p:cNvSpPr>
          <p:nvPr/>
        </p:nvSpPr>
        <p:spPr>
          <a:xfrm>
            <a:off x="129024" y="2319122"/>
            <a:ext cx="5743456" cy="3450402"/>
          </a:xfrm>
          <a:prstGeom prst="rect">
            <a:avLst/>
          </a:prstGeom>
          <a:solidFill>
            <a:srgbClr val="FFFFCC"/>
          </a:solidFill>
          <a:ln w="3175">
            <a:solidFill>
              <a:schemeClr val="tx1"/>
            </a:solidFill>
          </a:ln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#include &lt;iostream&gt;</a:t>
            </a:r>
          </a:p>
          <a:p>
            <a:pPr marL="0" indent="0">
              <a:buNone/>
            </a:pPr>
            <a:endParaRPr lang="en-US" sz="1800" dirty="0">
              <a:latin typeface="Courier10 BT" pitchFamily="49" charset="0"/>
            </a:endParaRP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using namespace std;</a:t>
            </a:r>
          </a:p>
          <a:p>
            <a:pPr marL="0" indent="0">
              <a:buNone/>
            </a:pPr>
            <a:endParaRPr lang="en-US" sz="1800" dirty="0">
              <a:latin typeface="Courier10 BT" pitchFamily="49" charset="0"/>
            </a:endParaRP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int main(int argc, char* argv[]){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	int myNumbers[4] = { 3, 9, 5, -5 };</a:t>
            </a:r>
          </a:p>
          <a:p>
            <a:pPr marL="0" indent="0">
              <a:buNone/>
            </a:pPr>
            <a:endParaRPr lang="en-US" sz="1800" dirty="0">
              <a:latin typeface="Courier10 BT" pitchFamily="49" charset="0"/>
            </a:endParaRP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	for (int i : myNumbers) {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		cout &lt;&lt; i &lt;&lt; endl;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	}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}</a:t>
            </a:r>
          </a:p>
        </p:txBody>
      </p:sp>
      <p:sp>
        <p:nvSpPr>
          <p:cNvPr id="8" name="Title 1"/>
          <p:cNvSpPr txBox="1">
            <a:spLocks/>
          </p:cNvSpPr>
          <p:nvPr/>
        </p:nvSpPr>
        <p:spPr>
          <a:xfrm>
            <a:off x="4475837" y="2219345"/>
            <a:ext cx="1600220" cy="5897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 baseline="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dirty="0">
                <a:solidFill>
                  <a:srgbClr val="FF0000"/>
                </a:solidFill>
              </a:rPr>
              <a:t>C/C++</a:t>
            </a:r>
          </a:p>
        </p:txBody>
      </p:sp>
      <p:sp>
        <p:nvSpPr>
          <p:cNvPr id="9" name="Title 1"/>
          <p:cNvSpPr txBox="1">
            <a:spLocks/>
          </p:cNvSpPr>
          <p:nvPr/>
        </p:nvSpPr>
        <p:spPr>
          <a:xfrm>
            <a:off x="10948826" y="2999041"/>
            <a:ext cx="1359489" cy="5897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 baseline="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dirty="0">
                <a:solidFill>
                  <a:srgbClr val="92D050"/>
                </a:solidFill>
              </a:rPr>
              <a:t>Java</a:t>
            </a:r>
          </a:p>
        </p:txBody>
      </p:sp>
    </p:spTree>
    <p:extLst>
      <p:ext uri="{BB962C8B-B14F-4D97-AF65-F5344CB8AC3E}">
        <p14:creationId xmlns:p14="http://schemas.microsoft.com/office/powerpoint/2010/main" val="308308806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024" y="919953"/>
            <a:ext cx="4258571" cy="589721"/>
          </a:xfrm>
        </p:spPr>
        <p:txBody>
          <a:bodyPr>
            <a:normAutofit/>
          </a:bodyPr>
          <a:lstStyle/>
          <a:p>
            <a:r>
              <a:rPr lang="en-US" dirty="0"/>
              <a:t>What is the same?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13646" y="6324601"/>
            <a:ext cx="2844800" cy="365125"/>
          </a:xfrm>
        </p:spPr>
        <p:txBody>
          <a:bodyPr/>
          <a:lstStyle/>
          <a:p>
            <a:pPr algn="l"/>
            <a:fld id="{4FBCB832-F407-431A-BE08-B640AFF97906}" type="slidenum">
              <a:rPr lang="en-US" smtClean="0"/>
              <a:pPr algn="l"/>
              <a:t>38</a:t>
            </a:fld>
            <a:endParaRPr lang="en-US" dirty="0"/>
          </a:p>
        </p:txBody>
      </p:sp>
      <p:sp>
        <p:nvSpPr>
          <p:cNvPr id="16" name="Title 1"/>
          <p:cNvSpPr txBox="1">
            <a:spLocks/>
          </p:cNvSpPr>
          <p:nvPr/>
        </p:nvSpPr>
        <p:spPr>
          <a:xfrm>
            <a:off x="8744971" y="915717"/>
            <a:ext cx="3365749" cy="5897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 baseline="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dirty="0"/>
              <a:t>Java vs C/C++</a:t>
            </a:r>
          </a:p>
        </p:txBody>
      </p:sp>
      <p:sp>
        <p:nvSpPr>
          <p:cNvPr id="11" name="Title 1"/>
          <p:cNvSpPr txBox="1">
            <a:spLocks/>
          </p:cNvSpPr>
          <p:nvPr/>
        </p:nvSpPr>
        <p:spPr>
          <a:xfrm>
            <a:off x="5115882" y="950295"/>
            <a:ext cx="2647347" cy="5897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 baseline="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sz="2800" dirty="0"/>
              <a:t>Switch-Case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idx="1"/>
          </p:nvPr>
        </p:nvSpPr>
        <p:spPr>
          <a:xfrm>
            <a:off x="6039985" y="2393723"/>
            <a:ext cx="5985768" cy="4160825"/>
          </a:xfrm>
          <a:solidFill>
            <a:srgbClr val="FFFFCC"/>
          </a:solidFill>
          <a:ln w="3175">
            <a:solidFill>
              <a:schemeClr val="tx1"/>
            </a:solidFill>
          </a:ln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public class Test {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public static void main(String[] args) {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  int num = 5;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  switch (num) {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  case 0: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    System.out.println("It is 0");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    break;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  case 1: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    System.out.println("It is 1");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    break;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  default: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    System.out.println("It is " + num);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  }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}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}</a:t>
            </a:r>
          </a:p>
        </p:txBody>
      </p:sp>
      <p:sp>
        <p:nvSpPr>
          <p:cNvPr id="13" name="Content Placeholder 2"/>
          <p:cNvSpPr txBox="1">
            <a:spLocks/>
          </p:cNvSpPr>
          <p:nvPr/>
        </p:nvSpPr>
        <p:spPr>
          <a:xfrm>
            <a:off x="129024" y="1540015"/>
            <a:ext cx="5865376" cy="4814927"/>
          </a:xfrm>
          <a:prstGeom prst="rect">
            <a:avLst/>
          </a:prstGeom>
          <a:solidFill>
            <a:srgbClr val="FFFFCC"/>
          </a:solidFill>
          <a:ln w="3175">
            <a:solidFill>
              <a:schemeClr val="tx1"/>
            </a:solidFill>
          </a:ln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#include &lt;iostream&gt;</a:t>
            </a:r>
          </a:p>
          <a:p>
            <a:pPr marL="0" indent="0">
              <a:buNone/>
            </a:pPr>
            <a:endParaRPr lang="en-US" sz="1800" dirty="0">
              <a:latin typeface="Courier10 BT" pitchFamily="49" charset="0"/>
            </a:endParaRP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using namespace std;</a:t>
            </a:r>
          </a:p>
          <a:p>
            <a:pPr marL="0" indent="0">
              <a:buNone/>
            </a:pPr>
            <a:endParaRPr lang="en-US" sz="1800" dirty="0">
              <a:latin typeface="Courier10 BT" pitchFamily="49" charset="0"/>
            </a:endParaRP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int main(int argc, char* argv[]){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int num = 5;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switch (num) {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case 0: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  cout &lt;&lt; "It is 0" &lt;&lt; endl;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  break;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case 1: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  cout &lt;&lt; "It is 1" &lt;&lt; endl;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  break;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default: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  cout &lt;&lt; "It is " &lt;&lt; num &lt;&lt; endl;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  }</a:t>
            </a:r>
          </a:p>
          <a:p>
            <a:pPr marL="0" indent="0">
              <a:buNone/>
            </a:pPr>
            <a:r>
              <a:rPr lang="en-US" sz="1800" dirty="0">
                <a:latin typeface="Courier10 BT" pitchFamily="49" charset="0"/>
              </a:rPr>
              <a:t>}</a:t>
            </a:r>
          </a:p>
        </p:txBody>
      </p:sp>
      <p:sp>
        <p:nvSpPr>
          <p:cNvPr id="8" name="Title 1"/>
          <p:cNvSpPr txBox="1">
            <a:spLocks/>
          </p:cNvSpPr>
          <p:nvPr/>
        </p:nvSpPr>
        <p:spPr>
          <a:xfrm>
            <a:off x="4608186" y="1441286"/>
            <a:ext cx="1600220" cy="5897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 baseline="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dirty="0">
                <a:solidFill>
                  <a:srgbClr val="FF0000"/>
                </a:solidFill>
              </a:rPr>
              <a:t>C/C++</a:t>
            </a:r>
          </a:p>
        </p:txBody>
      </p:sp>
      <p:sp>
        <p:nvSpPr>
          <p:cNvPr id="9" name="Title 1"/>
          <p:cNvSpPr txBox="1">
            <a:spLocks/>
          </p:cNvSpPr>
          <p:nvPr/>
        </p:nvSpPr>
        <p:spPr>
          <a:xfrm>
            <a:off x="10932784" y="2289188"/>
            <a:ext cx="1359489" cy="5897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 baseline="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dirty="0">
                <a:solidFill>
                  <a:srgbClr val="92D050"/>
                </a:solidFill>
              </a:rPr>
              <a:t>Java</a:t>
            </a:r>
          </a:p>
        </p:txBody>
      </p:sp>
    </p:spTree>
    <p:extLst>
      <p:ext uri="{BB962C8B-B14F-4D97-AF65-F5344CB8AC3E}">
        <p14:creationId xmlns:p14="http://schemas.microsoft.com/office/powerpoint/2010/main" val="143531504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4608" y="919955"/>
            <a:ext cx="4258571" cy="589721"/>
          </a:xfrm>
        </p:spPr>
        <p:txBody>
          <a:bodyPr>
            <a:normAutofit/>
          </a:bodyPr>
          <a:lstStyle/>
          <a:p>
            <a:r>
              <a:rPr lang="en-US" dirty="0"/>
              <a:t>But!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4608" y="1796432"/>
            <a:ext cx="4970918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Understanding the language is only </a:t>
            </a:r>
            <a:br>
              <a:rPr lang="en-US" dirty="0"/>
            </a:br>
            <a:r>
              <a:rPr lang="en-US" dirty="0"/>
              <a:t>half of the problem!</a:t>
            </a:r>
          </a:p>
          <a:p>
            <a:endParaRPr lang="en-US" dirty="0"/>
          </a:p>
          <a:p>
            <a:r>
              <a:rPr lang="en-US" b="1" dirty="0"/>
              <a:t>Knowing the whole API is another problem: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String &amp; </a:t>
            </a:r>
            <a:r>
              <a:rPr lang="en-US" dirty="0" err="1"/>
              <a:t>StringBuffer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File I/O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I/O in general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Math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Collection classes (ADT)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JDBC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AWT/Swing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Javadoc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etc.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61473" y="1184732"/>
            <a:ext cx="5603197" cy="51398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“External/additional” API’s: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JUnit/</a:t>
            </a:r>
            <a:r>
              <a:rPr lang="en-US" dirty="0" err="1"/>
              <a:t>Mockito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Log4J/SLF4j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JSON Parsing (Jackson and </a:t>
            </a:r>
            <a:r>
              <a:rPr lang="en-US" dirty="0" err="1"/>
              <a:t>Gson</a:t>
            </a:r>
            <a:r>
              <a:rPr lang="en-US" dirty="0"/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General-Purpose Libraries </a:t>
            </a:r>
            <a:br>
              <a:rPr lang="en-US" dirty="0"/>
            </a:br>
            <a:r>
              <a:rPr lang="en-US" dirty="0"/>
              <a:t>(Apache Commons and Guava)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HTTP Libraries (</a:t>
            </a:r>
            <a:r>
              <a:rPr lang="en-US" dirty="0" err="1"/>
              <a:t>HttpClient</a:t>
            </a:r>
            <a:r>
              <a:rPr lang="en-US" dirty="0"/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XML Parsing Libraries (</a:t>
            </a:r>
            <a:r>
              <a:rPr lang="en-US" dirty="0" err="1"/>
              <a:t>Xerces</a:t>
            </a:r>
            <a:r>
              <a:rPr lang="en-US" dirty="0"/>
              <a:t> and JAXB)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Excel Reading Libraries (Apache POI)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Bytecode Libraries (</a:t>
            </a:r>
            <a:r>
              <a:rPr lang="en-US" dirty="0" err="1"/>
              <a:t>Javassist</a:t>
            </a:r>
            <a:r>
              <a:rPr lang="en-US" dirty="0"/>
              <a:t> and </a:t>
            </a:r>
            <a:r>
              <a:rPr lang="en-US" dirty="0" err="1"/>
              <a:t>CgLib</a:t>
            </a:r>
            <a:r>
              <a:rPr lang="en-US" dirty="0"/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Messaging Libraries (JMS and MQ)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PDF Libraries (</a:t>
            </a:r>
            <a:r>
              <a:rPr lang="en-US" dirty="0" err="1"/>
              <a:t>iText</a:t>
            </a:r>
            <a:r>
              <a:rPr lang="en-US" dirty="0"/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Date and Time Libraries (</a:t>
            </a:r>
            <a:r>
              <a:rPr lang="en-US" dirty="0" err="1"/>
              <a:t>Joda</a:t>
            </a:r>
            <a:r>
              <a:rPr lang="en-US" dirty="0"/>
              <a:t> Time)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Collection Libraries (Eclipse Collections)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Email APIs (Java Mail API)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etc.</a:t>
            </a:r>
          </a:p>
          <a:p>
            <a:endParaRPr lang="fr-FR" dirty="0"/>
          </a:p>
          <a:p>
            <a:r>
              <a:rPr lang="fr-FR" sz="1100" dirty="0"/>
              <a:t>Source: https://medium.com/javarevisited/20-essential-java-libraries-and-apis-every-programmer-should-learn-5ccd41812fc7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311099361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9855D3-876C-C343-BD87-E7730E1CFF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Done</a:t>
            </a:r>
          </a:p>
        </p:txBody>
      </p:sp>
    </p:spTree>
    <p:extLst>
      <p:ext uri="{BB962C8B-B14F-4D97-AF65-F5344CB8AC3E}">
        <p14:creationId xmlns:p14="http://schemas.microsoft.com/office/powerpoint/2010/main" val="1388107222"/>
      </p:ext>
    </p:extLst>
  </p:cSld>
  <p:clrMapOvr>
    <a:masterClrMapping/>
  </p:clrMapOvr>
</p:sld>
</file>

<file path=ppt/theme/theme1.xml><?xml version="1.0" encoding="utf-8"?>
<a:theme xmlns:a="http://schemas.openxmlformats.org/drawingml/2006/main" name="SCUTemplate">
  <a:themeElements>
    <a:clrScheme name="Santa Clara Powerpoint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96641"/>
      </a:accent1>
      <a:accent2>
        <a:srgbClr val="495764"/>
      </a:accent2>
      <a:accent3>
        <a:srgbClr val="71001B"/>
      </a:accent3>
      <a:accent4>
        <a:srgbClr val="FFC000"/>
      </a:accent4>
      <a:accent5>
        <a:srgbClr val="9D9B7B"/>
      </a:accent5>
      <a:accent6>
        <a:srgbClr val="759C9A"/>
      </a:accent6>
      <a:hlink>
        <a:srgbClr val="9E1B32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EN912.pptx" id="{30FD953E-F8CF-43B1-AE2C-113081E30BF0}" vid="{F0B77AA3-1BFC-4F21-AA5C-47F762EA0811}"/>
    </a:ext>
  </a:extLst>
</a:theme>
</file>

<file path=ppt/theme/theme2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EN912.pptx" id="{30FD953E-F8CF-43B1-AE2C-113081E30BF0}" vid="{C2E27841-7055-4EC2-8474-90BDE5ACE175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SCUTemplate</Template>
  <TotalTime>2554</TotalTime>
  <Words>2417</Words>
  <Application>Microsoft Office PowerPoint</Application>
  <PresentationFormat>Widescreen</PresentationFormat>
  <Paragraphs>495</Paragraphs>
  <Slides>40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40</vt:i4>
      </vt:variant>
    </vt:vector>
  </HeadingPairs>
  <TitlesOfParts>
    <vt:vector size="47" baseType="lpstr">
      <vt:lpstr>Arial</vt:lpstr>
      <vt:lpstr>Arial Narrow</vt:lpstr>
      <vt:lpstr>Calibri</vt:lpstr>
      <vt:lpstr>Courier10 BT</vt:lpstr>
      <vt:lpstr>Garamond</vt:lpstr>
      <vt:lpstr>SCUTemplate</vt:lpstr>
      <vt:lpstr>Custom Design</vt:lpstr>
      <vt:lpstr>CSEN160</vt:lpstr>
      <vt:lpstr>Java Introduction &amp; Refresher</vt:lpstr>
      <vt:lpstr>PowerPoint Presentation</vt:lpstr>
      <vt:lpstr>PowerPoint Presentation</vt:lpstr>
      <vt:lpstr>PowerPoint Presentation</vt:lpstr>
      <vt:lpstr>Java History</vt:lpstr>
      <vt:lpstr>Principles for creating Java programs:</vt:lpstr>
      <vt:lpstr>Components of Java Architecture</vt:lpstr>
      <vt:lpstr>Java Architecture</vt:lpstr>
      <vt:lpstr>The Java Virtual Machine (JVM)</vt:lpstr>
      <vt:lpstr>… to here …</vt:lpstr>
      <vt:lpstr>The Java Virtual Machine (JVM)</vt:lpstr>
      <vt:lpstr>The Java Programming Language</vt:lpstr>
      <vt:lpstr>Class:</vt:lpstr>
      <vt:lpstr>Methods:</vt:lpstr>
      <vt:lpstr>Statements</vt:lpstr>
      <vt:lpstr>Comments</vt:lpstr>
      <vt:lpstr>The Java Programming Language</vt:lpstr>
      <vt:lpstr>The Java Programming Language</vt:lpstr>
      <vt:lpstr>Java Hello World</vt:lpstr>
      <vt:lpstr>Compiling and Running a Java Program</vt:lpstr>
      <vt:lpstr>Standard Java: HelloWorld</vt:lpstr>
      <vt:lpstr>IntelliJ</vt:lpstr>
      <vt:lpstr>Java Swing: HelloWorld</vt:lpstr>
      <vt:lpstr>Output of the HelloWorld Program</vt:lpstr>
      <vt:lpstr>The Good, the Bad and the Ugly Differences and similarities Java vs C/C++</vt:lpstr>
      <vt:lpstr>Java advantages over C++</vt:lpstr>
      <vt:lpstr>Java advantages over C++</vt:lpstr>
      <vt:lpstr>C++ advantages over Java</vt:lpstr>
      <vt:lpstr>What is different?</vt:lpstr>
      <vt:lpstr>What is different?</vt:lpstr>
      <vt:lpstr>What is different?</vt:lpstr>
      <vt:lpstr>What is different?</vt:lpstr>
      <vt:lpstr>What is different?</vt:lpstr>
      <vt:lpstr>What is the same?</vt:lpstr>
      <vt:lpstr>What is the same?</vt:lpstr>
      <vt:lpstr>What is the same?</vt:lpstr>
      <vt:lpstr>What is the same?</vt:lpstr>
      <vt:lpstr>But!</vt:lpstr>
      <vt:lpstr>Done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Outline</dc:title>
  <dc:creator>Michael Schimpf</dc:creator>
  <cp:lastModifiedBy>Michael Schimpf</cp:lastModifiedBy>
  <cp:revision>144</cp:revision>
  <cp:lastPrinted>2023-09-11T21:46:56Z</cp:lastPrinted>
  <dcterms:created xsi:type="dcterms:W3CDTF">2023-09-09T19:51:41Z</dcterms:created>
  <dcterms:modified xsi:type="dcterms:W3CDTF">2026-09-22T20:25:25Z</dcterms:modified>
</cp:coreProperties>
</file>