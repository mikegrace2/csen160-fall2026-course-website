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42"/>
  </p:notesMasterIdLst>
  <p:handoutMasterIdLst>
    <p:handoutMasterId r:id="rId43"/>
  </p:handoutMasterIdLst>
  <p:sldIdLst>
    <p:sldId id="333" r:id="rId3"/>
    <p:sldId id="335" r:id="rId4"/>
    <p:sldId id="493" r:id="rId5"/>
    <p:sldId id="490" r:id="rId6"/>
    <p:sldId id="260" r:id="rId7"/>
    <p:sldId id="381" r:id="rId8"/>
    <p:sldId id="382" r:id="rId9"/>
    <p:sldId id="337" r:id="rId10"/>
    <p:sldId id="338" r:id="rId11"/>
    <p:sldId id="340" r:id="rId12"/>
    <p:sldId id="491" r:id="rId13"/>
    <p:sldId id="343" r:id="rId14"/>
    <p:sldId id="406" r:id="rId15"/>
    <p:sldId id="408" r:id="rId16"/>
    <p:sldId id="407" r:id="rId17"/>
    <p:sldId id="405" r:id="rId18"/>
    <p:sldId id="346" r:id="rId19"/>
    <p:sldId id="345" r:id="rId20"/>
    <p:sldId id="391" r:id="rId21"/>
    <p:sldId id="392" r:id="rId22"/>
    <p:sldId id="393" r:id="rId23"/>
    <p:sldId id="395" r:id="rId24"/>
    <p:sldId id="394" r:id="rId25"/>
    <p:sldId id="396" r:id="rId26"/>
    <p:sldId id="390" r:id="rId27"/>
    <p:sldId id="380" r:id="rId28"/>
    <p:sldId id="492" r:id="rId29"/>
    <p:sldId id="383" r:id="rId30"/>
    <p:sldId id="414" r:id="rId31"/>
    <p:sldId id="399" r:id="rId32"/>
    <p:sldId id="416" r:id="rId33"/>
    <p:sldId id="417" r:id="rId34"/>
    <p:sldId id="481" r:id="rId35"/>
    <p:sldId id="482" r:id="rId36"/>
    <p:sldId id="483" r:id="rId37"/>
    <p:sldId id="484" r:id="rId38"/>
    <p:sldId id="485" r:id="rId39"/>
    <p:sldId id="486" r:id="rId40"/>
    <p:sldId id="489" r:id="rId4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58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9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B40DD5-BF2C-40BA-AB25-7FD1CB61821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56F1-AD33-45CA-85C7-DC330226D9FE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20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94DD4-5043-4A3A-99E2-3B90AB8E4ADF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82688-28AB-45F1-92FC-1F2EF8C090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364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1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382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9" r:id="rId13"/>
    <p:sldLayoutId id="2147483680" r:id="rId14"/>
    <p:sldLayoutId id="2147483682" r:id="rId15"/>
    <p:sldLayoutId id="2147483683" r:id="rId16"/>
    <p:sldLayoutId id="2147483685" r:id="rId17"/>
    <p:sldLayoutId id="2147483686" r:id="rId18"/>
    <p:sldLayoutId id="214748368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eclipse.org/downloads/packages/release/kepler/sr1/eclipse-ide-java-developers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6730"/>
            <a:ext cx="9144000" cy="196914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Introduction</a:t>
            </a:r>
            <a:br>
              <a:rPr lang="en-US" dirty="0"/>
            </a:br>
            <a:r>
              <a:rPr lang="en-US" dirty="0"/>
              <a:t>&amp; Refresher</a:t>
            </a:r>
          </a:p>
        </p:txBody>
      </p:sp>
    </p:spTree>
    <p:extLst>
      <p:ext uri="{BB962C8B-B14F-4D97-AF65-F5344CB8AC3E}">
        <p14:creationId xmlns:p14="http://schemas.microsoft.com/office/powerpoint/2010/main" val="3670540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89AFE-BB65-98FA-C0D6-B4BC0424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75293D-7F90-D26D-EB00-4BE90EF88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30" y="765695"/>
            <a:ext cx="10394864" cy="53798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F978AC-8ABB-49F8-8128-8CD9EC734A77}"/>
              </a:ext>
            </a:extLst>
          </p:cNvPr>
          <p:cNvSpPr txBox="1"/>
          <p:nvPr/>
        </p:nvSpPr>
        <p:spPr>
          <a:xfrm>
            <a:off x="1056010" y="6353274"/>
            <a:ext cx="53621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https://www.youtube.com/watch?v=WLhN2Q8mXvI&amp;t=1s</a:t>
            </a:r>
          </a:p>
        </p:txBody>
      </p:sp>
    </p:spTree>
    <p:extLst>
      <p:ext uri="{BB962C8B-B14F-4D97-AF65-F5344CB8AC3E}">
        <p14:creationId xmlns:p14="http://schemas.microsoft.com/office/powerpoint/2010/main" val="150365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56010" y="6353274"/>
            <a:ext cx="7152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https://www.youtube.com/watch?v=hL85pP3KZ7c&amp;ab_channel=CodingwithDee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83781"/>
            <a:ext cx="11186616" cy="536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49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56010" y="6353274"/>
            <a:ext cx="4759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https://www.youtube.com/watch?v=5yAbVkIMl_M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9AF6DE-6B17-2F02-A713-ABC075CA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110" y="806990"/>
            <a:ext cx="9657779" cy="553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89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58530"/>
            <a:ext cx="3623346" cy="711101"/>
          </a:xfrm>
        </p:spPr>
        <p:txBody>
          <a:bodyPr>
            <a:normAutofit/>
          </a:bodyPr>
          <a:lstStyle/>
          <a:p>
            <a:r>
              <a:rPr lang="en-US" dirty="0"/>
              <a:t>Java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459" y="1469631"/>
            <a:ext cx="53731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James Gosling in June 1991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Sun Microsystems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for set-top boxes, consumer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Former names: “</a:t>
            </a:r>
            <a:r>
              <a:rPr lang="en-US" dirty="0" err="1"/>
              <a:t>Greentalk</a:t>
            </a:r>
            <a:r>
              <a:rPr lang="en-US" dirty="0"/>
              <a:t>”, “OAK”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1995 named to “Java”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1995 Netscape Applet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 best products of 1995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January 23</a:t>
            </a:r>
            <a:r>
              <a:rPr lang="en-US" baseline="30000" dirty="0"/>
              <a:t>rd</a:t>
            </a:r>
            <a:r>
              <a:rPr lang="en-US" dirty="0"/>
              <a:t>, 1996 JDK 1.0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December 8</a:t>
            </a:r>
            <a:r>
              <a:rPr lang="en-US" b="1" baseline="30000" dirty="0"/>
              <a:t>th</a:t>
            </a:r>
            <a:r>
              <a:rPr lang="en-US" b="1" dirty="0"/>
              <a:t>, 1998 JDK1.2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2010 Sun bought by Oracle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412" y="957883"/>
            <a:ext cx="2492277" cy="190162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672" y="5772438"/>
            <a:ext cx="6950710" cy="65316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672" y="4804718"/>
            <a:ext cx="4827941" cy="89265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551" y="4757149"/>
            <a:ext cx="1338978" cy="3701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0331" y="3009961"/>
            <a:ext cx="3226161" cy="151080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6323" y="3343058"/>
            <a:ext cx="657737" cy="107447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9029" y="4757149"/>
            <a:ext cx="2494323" cy="17560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9493" y="943014"/>
            <a:ext cx="2630066" cy="191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66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1505" y="6368663"/>
            <a:ext cx="3961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From: https://www.youtube.com/watch?v=DcQPtlFlgzY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161" y="1605000"/>
            <a:ext cx="7772603" cy="4675537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44052" y="1105561"/>
            <a:ext cx="7964723" cy="711101"/>
          </a:xfrm>
        </p:spPr>
        <p:txBody>
          <a:bodyPr>
            <a:normAutofit fontScale="90000"/>
          </a:bodyPr>
          <a:lstStyle/>
          <a:p>
            <a:r>
              <a:rPr lang="en-US" dirty="0"/>
              <a:t>Principles for creating Java programs: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979" y="2715126"/>
            <a:ext cx="260684" cy="2606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506" y="2715126"/>
            <a:ext cx="260684" cy="2606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621" y="3276600"/>
            <a:ext cx="260684" cy="2606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161" y="3940289"/>
            <a:ext cx="260684" cy="26068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347" y="4570070"/>
            <a:ext cx="260684" cy="26068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937" y="5159590"/>
            <a:ext cx="260684" cy="26068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821" y="5855368"/>
            <a:ext cx="260684" cy="26068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852" y="4495800"/>
            <a:ext cx="260684" cy="26068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284" y="3304674"/>
            <a:ext cx="260684" cy="2606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796" y="1746584"/>
            <a:ext cx="439153" cy="43915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008" y="4997165"/>
            <a:ext cx="439153" cy="43915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8278" y="2987649"/>
            <a:ext cx="282341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arenR"/>
            </a:pPr>
            <a:r>
              <a:rPr lang="en-US" sz="800" b="1" dirty="0"/>
              <a:t>Java is dynamic in nature</a:t>
            </a:r>
            <a:r>
              <a:rPr lang="en-US" sz="800" dirty="0"/>
              <a:t> because of its support for dynamic loading of classes at runtime, allowing programs to dynamically link in new class definitions. </a:t>
            </a:r>
          </a:p>
          <a:p>
            <a:pPr marL="228600" indent="-228600">
              <a:buAutoNum type="arabicParenR"/>
            </a:pPr>
            <a:endParaRPr lang="en-US" sz="800" dirty="0"/>
          </a:p>
          <a:p>
            <a:pPr marL="228600" indent="-228600">
              <a:buAutoNum type="arabicParenR"/>
            </a:pPr>
            <a:r>
              <a:rPr lang="en-US" sz="800" b="1" dirty="0"/>
              <a:t>Java's reflection </a:t>
            </a:r>
            <a:r>
              <a:rPr lang="en-US" sz="800" dirty="0"/>
              <a:t>API enables dynamic introspection of classes, methods, fields, and annotations at runtime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042" y="3932267"/>
            <a:ext cx="260684" cy="26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3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733044" y="1244824"/>
            <a:ext cx="8229600" cy="531378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altLang="en-US" dirty="0"/>
              <a:t>Components of Java Architecture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801826" y="2010871"/>
            <a:ext cx="8839200" cy="4626550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The Java programming </a:t>
            </a:r>
            <a:r>
              <a:rPr lang="en-US" altLang="en-US" b="1" dirty="0"/>
              <a:t>language</a:t>
            </a:r>
            <a:r>
              <a:rPr lang="en-US" altLang="en-US" dirty="0"/>
              <a:t> </a:t>
            </a:r>
          </a:p>
          <a:p>
            <a:endParaRPr lang="en-US" altLang="en-US" dirty="0"/>
          </a:p>
          <a:p>
            <a:r>
              <a:rPr lang="en-US" altLang="en-US" dirty="0"/>
              <a:t>The Java </a:t>
            </a:r>
            <a:r>
              <a:rPr lang="en-US" altLang="en-US" b="1" dirty="0"/>
              <a:t>class</a:t>
            </a:r>
            <a:r>
              <a:rPr lang="en-US" altLang="en-US" dirty="0"/>
              <a:t> file format </a:t>
            </a:r>
          </a:p>
          <a:p>
            <a:endParaRPr lang="en-US" altLang="en-US" dirty="0"/>
          </a:p>
          <a:p>
            <a:r>
              <a:rPr lang="en-US" altLang="en-US" dirty="0"/>
              <a:t>The Java Application Programming Interface (</a:t>
            </a:r>
            <a:r>
              <a:rPr lang="en-US" altLang="en-US" b="1" dirty="0"/>
              <a:t>API</a:t>
            </a:r>
            <a:r>
              <a:rPr lang="en-US" altLang="en-US" dirty="0"/>
              <a:t>)</a:t>
            </a:r>
          </a:p>
          <a:p>
            <a:endParaRPr lang="en-US" altLang="en-US" dirty="0"/>
          </a:p>
          <a:p>
            <a:r>
              <a:rPr lang="en-US" altLang="en-US" dirty="0"/>
              <a:t>The Java virtual machine (</a:t>
            </a:r>
            <a:r>
              <a:rPr lang="en-US" altLang="en-US" b="1" dirty="0"/>
              <a:t>JVM</a:t>
            </a:r>
            <a:r>
              <a:rPr lang="en-US" altLang="en-US" dirty="0"/>
              <a:t>)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4761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1795" y="1120256"/>
            <a:ext cx="3602304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Java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860" y="1901628"/>
            <a:ext cx="8686800" cy="4648875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altLang="en-US" sz="2400" b="1" dirty="0">
                <a:solidFill>
                  <a:srgbClr val="800000"/>
                </a:solidFill>
              </a:rPr>
              <a:t>Java</a:t>
            </a:r>
            <a:r>
              <a:rPr lang="en-US" altLang="en-US" sz="2400" dirty="0"/>
              <a:t> is an Object-Oriented Programming language. </a:t>
            </a:r>
            <a:br>
              <a:rPr lang="en-US" altLang="en-US" sz="2400" dirty="0"/>
            </a:br>
            <a:r>
              <a:rPr lang="en-US" altLang="en-US" sz="2400" dirty="0"/>
              <a:t>(Syntax </a:t>
            </a:r>
            <a:r>
              <a:rPr lang="en-US" altLang="en-US" sz="2400" dirty="0">
                <a:solidFill>
                  <a:srgbClr val="FF0000"/>
                </a:solidFill>
              </a:rPr>
              <a:t>similar</a:t>
            </a:r>
            <a:r>
              <a:rPr lang="en-US" altLang="en-US" sz="2400" dirty="0"/>
              <a:t> to C++)</a:t>
            </a:r>
            <a:endParaRPr lang="en-US" dirty="0">
              <a:solidFill>
                <a:srgbClr val="92D050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dirty="0"/>
              <a:t>Write your </a:t>
            </a:r>
            <a:r>
              <a:rPr lang="en-US" dirty="0">
                <a:solidFill>
                  <a:srgbClr val="C00000"/>
                </a:solidFill>
              </a:rPr>
              <a:t>Java </a:t>
            </a:r>
            <a:r>
              <a:rPr lang="en-US" dirty="0"/>
              <a:t>program in a .java source file.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Compile 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javac</a:t>
            </a:r>
            <a:r>
              <a:rPr lang="en-US" dirty="0">
                <a:solidFill>
                  <a:srgbClr val="C00000"/>
                </a:solidFill>
              </a:rPr>
              <a:t>) </a:t>
            </a:r>
            <a:r>
              <a:rPr lang="en-US" dirty="0"/>
              <a:t>the source into bytecode. </a:t>
            </a:r>
            <a:br>
              <a:rPr lang="en-US" dirty="0"/>
            </a:br>
            <a:r>
              <a:rPr lang="en-US" dirty="0"/>
              <a:t>Resulting in: Java </a:t>
            </a:r>
            <a:r>
              <a:rPr lang="en-US" dirty="0">
                <a:solidFill>
                  <a:srgbClr val="C00000"/>
                </a:solidFill>
              </a:rPr>
              <a:t>class files</a:t>
            </a:r>
            <a:r>
              <a:rPr lang="en-US" dirty="0"/>
              <a:t>. 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Run the class files </a:t>
            </a:r>
            <a:r>
              <a:rPr lang="en-US" dirty="0">
                <a:solidFill>
                  <a:srgbClr val="C00000"/>
                </a:solidFill>
              </a:rPr>
              <a:t>(java) </a:t>
            </a:r>
            <a:r>
              <a:rPr lang="en-US" dirty="0"/>
              <a:t>on a </a:t>
            </a:r>
            <a:r>
              <a:rPr lang="en-US" dirty="0">
                <a:solidFill>
                  <a:srgbClr val="C00000"/>
                </a:solidFill>
              </a:rPr>
              <a:t>Java Virtual Machine</a:t>
            </a:r>
            <a:r>
              <a:rPr lang="en-US" dirty="0"/>
              <a:t>. </a:t>
            </a:r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The JVM and Java API together are called the: 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Java Run time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Java platform</a:t>
            </a:r>
            <a:r>
              <a:rPr lang="en-US" dirty="0"/>
              <a:t>.</a:t>
            </a:r>
          </a:p>
          <a:p>
            <a:pPr>
              <a:buFont typeface="Arial" charset="0"/>
              <a:buChar char="•"/>
              <a:defRPr/>
            </a:pPr>
            <a:r>
              <a:rPr lang="en-US" dirty="0"/>
              <a:t>A Java program can run anywhere the Java Platform is present. 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742" y="988075"/>
            <a:ext cx="3514860" cy="3411046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7050091" y="3337983"/>
            <a:ext cx="1240199" cy="186098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11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The Java Virtual Machine (JVM)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936516" y="2449385"/>
            <a:ext cx="10417284" cy="4097071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A JVM is also called the </a:t>
            </a:r>
            <a:r>
              <a:rPr lang="en-US" altLang="en-US" b="1" dirty="0"/>
              <a:t>Java Interpreter</a:t>
            </a:r>
            <a:r>
              <a:rPr lang="en-US" altLang="en-US" dirty="0"/>
              <a:t>.</a:t>
            </a:r>
          </a:p>
          <a:p>
            <a:endParaRPr lang="en-US" altLang="en-US" dirty="0"/>
          </a:p>
          <a:p>
            <a:r>
              <a:rPr lang="en-US" altLang="en-US" dirty="0"/>
              <a:t>A JVM’s main job is to: </a:t>
            </a:r>
            <a:r>
              <a:rPr lang="en-US" altLang="en-US" b="1" dirty="0">
                <a:solidFill>
                  <a:srgbClr val="92D050"/>
                </a:solidFill>
              </a:rPr>
              <a:t>load class files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B0F0"/>
                </a:solidFill>
              </a:rPr>
              <a:t>execute bytecodes</a:t>
            </a:r>
            <a:r>
              <a:rPr lang="en-US" altLang="en-US" dirty="0"/>
              <a:t>. </a:t>
            </a:r>
          </a:p>
          <a:p>
            <a:endParaRPr lang="en-US" altLang="en-US" dirty="0"/>
          </a:p>
          <a:p>
            <a:r>
              <a:rPr lang="en-US" altLang="en-US" dirty="0"/>
              <a:t>A JVM is an implementation of the </a:t>
            </a:r>
            <a:r>
              <a:rPr lang="en-US" altLang="en-US" b="1" dirty="0"/>
              <a:t>Java Virtual Machine Specification</a:t>
            </a:r>
            <a:r>
              <a:rPr lang="en-US" altLang="en-US" dirty="0"/>
              <a:t>, </a:t>
            </a:r>
            <a:br>
              <a:rPr lang="en-US" altLang="en-US" dirty="0"/>
            </a:br>
            <a:r>
              <a:rPr lang="en-US" altLang="en-US" dirty="0"/>
              <a:t>to interpret compiled Java bytecode. 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960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The Java Virtual Machine (JVM)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936516" y="2449385"/>
            <a:ext cx="10417284" cy="4097071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en-US" dirty="0"/>
              <a:t>JVMs are available for </a:t>
            </a:r>
            <a:r>
              <a:rPr lang="en-US" altLang="en-US" b="1" dirty="0"/>
              <a:t>many</a:t>
            </a:r>
            <a:r>
              <a:rPr lang="en-US" altLang="en-US" dirty="0"/>
              <a:t> platforms.</a:t>
            </a:r>
          </a:p>
          <a:p>
            <a:endParaRPr lang="en-US" altLang="en-US" dirty="0"/>
          </a:p>
          <a:p>
            <a:r>
              <a:rPr lang="en-US" altLang="en-US" dirty="0"/>
              <a:t>The class file compiled in </a:t>
            </a:r>
            <a:r>
              <a:rPr lang="en-US" altLang="en-US" b="1" dirty="0">
                <a:solidFill>
                  <a:srgbClr val="00B0F0"/>
                </a:solidFill>
              </a:rPr>
              <a:t>one platform</a:t>
            </a:r>
            <a:r>
              <a:rPr lang="en-US" altLang="en-US" dirty="0"/>
              <a:t>, will execute in a JVM of </a:t>
            </a:r>
            <a:r>
              <a:rPr lang="en-US" altLang="en-US" b="1" dirty="0">
                <a:solidFill>
                  <a:srgbClr val="92D050"/>
                </a:solidFill>
              </a:rPr>
              <a:t>another platform</a:t>
            </a:r>
            <a:r>
              <a:rPr lang="en-US" altLang="en-US" dirty="0"/>
              <a:t>.</a:t>
            </a:r>
          </a:p>
          <a:p>
            <a:endParaRPr lang="en-US" altLang="en-US" dirty="0"/>
          </a:p>
          <a:p>
            <a:r>
              <a:rPr lang="en-US" altLang="en-US" dirty="0"/>
              <a:t>“compile once, run anywhere”</a:t>
            </a:r>
          </a:p>
          <a:p>
            <a:endParaRPr lang="en-US" altLang="en-US" dirty="0"/>
          </a:p>
          <a:p>
            <a:r>
              <a:rPr lang="en-US" altLang="en-US" dirty="0"/>
              <a:t>Java platform-independent.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9096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1256151" y="1121745"/>
            <a:ext cx="7612719" cy="801459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The Java Programming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1830" y="1971756"/>
            <a:ext cx="8458200" cy="4590881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b="1" dirty="0">
                <a:solidFill>
                  <a:srgbClr val="FF0000"/>
                </a:solidFill>
              </a:rPr>
              <a:t>Objects</a:t>
            </a:r>
            <a:r>
              <a:rPr lang="en-US" dirty="0"/>
              <a:t>: Objects (structures) that contain data (fields) and code (as procedures). </a:t>
            </a:r>
          </a:p>
          <a:p>
            <a:pPr>
              <a:buFont typeface="Arial" charset="0"/>
              <a:buChar char="•"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b="1" dirty="0">
                <a:solidFill>
                  <a:srgbClr val="FF0000"/>
                </a:solidFill>
              </a:rPr>
              <a:t>Inheritance</a:t>
            </a:r>
            <a:r>
              <a:rPr lang="en-US" dirty="0"/>
              <a:t>: Classes are organized into hierarchies, </a:t>
            </a:r>
            <a:br>
              <a:rPr lang="en-US" dirty="0"/>
            </a:br>
            <a:r>
              <a:rPr lang="en-US" dirty="0"/>
              <a:t>a child inherits properties from a parent.</a:t>
            </a:r>
          </a:p>
          <a:p>
            <a:pPr>
              <a:buFont typeface="Arial" charset="0"/>
              <a:buChar char="•"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n-US" b="1" dirty="0">
                <a:solidFill>
                  <a:srgbClr val="FF0000"/>
                </a:solidFill>
              </a:rPr>
              <a:t>Polymorphism</a:t>
            </a:r>
            <a:r>
              <a:rPr lang="en-US" dirty="0"/>
              <a:t>: Polymorphism is the ability of an object to take on many forms. </a:t>
            </a:r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8053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4311" y="918343"/>
            <a:ext cx="1563923" cy="468340"/>
          </a:xfrm>
        </p:spPr>
        <p:txBody>
          <a:bodyPr>
            <a:normAutofit fontScale="90000"/>
          </a:bodyPr>
          <a:lstStyle/>
          <a:p>
            <a:r>
              <a:rPr lang="en-US" dirty="0"/>
              <a:t>Class: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1"/>
            <a:ext cx="8229600" cy="4525963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An empty class named </a:t>
            </a:r>
            <a:r>
              <a:rPr lang="en-US" sz="2400" dirty="0">
                <a:latin typeface="Courier10 BT" pitchFamily="49" charset="0"/>
              </a:rPr>
              <a:t>HelloWorld</a:t>
            </a:r>
            <a:r>
              <a:rPr lang="en-US" dirty="0"/>
              <a:t>:</a:t>
            </a:r>
            <a:r>
              <a:rPr lang="en-US" sz="2000" b="1" dirty="0"/>
              <a:t>	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Declared using keyword </a:t>
            </a:r>
            <a:r>
              <a:rPr lang="en-US" sz="2400" dirty="0">
                <a:solidFill>
                  <a:srgbClr val="0070C0"/>
                </a:solidFill>
                <a:latin typeface="Courier10 BT" pitchFamily="49" charset="0"/>
              </a:rPr>
              <a:t>class.</a:t>
            </a:r>
          </a:p>
          <a:p>
            <a:endParaRPr lang="en-US" dirty="0"/>
          </a:p>
          <a:p>
            <a:r>
              <a:rPr lang="en-US" dirty="0"/>
              <a:t>Contains one or more methods.</a:t>
            </a:r>
          </a:p>
          <a:p>
            <a:pPr>
              <a:buNone/>
            </a:pPr>
            <a:r>
              <a:rPr lang="en-US" dirty="0"/>
              <a:t>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3547008" y="2494086"/>
            <a:ext cx="3270531" cy="830997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1"/>
            <a:r>
              <a:rPr lang="en-US" sz="1600" b="1" dirty="0">
                <a:latin typeface="Courier10 BT" pitchFamily="49" charset="0"/>
              </a:rPr>
              <a:t>public</a:t>
            </a:r>
            <a:r>
              <a:rPr lang="en-US" sz="1600" dirty="0">
                <a:latin typeface="Courier10 BT" pitchFamily="49" charset="0"/>
              </a:rPr>
              <a:t> </a:t>
            </a:r>
            <a:r>
              <a:rPr lang="en-US" sz="1600" b="1" dirty="0">
                <a:latin typeface="Courier10 BT" pitchFamily="49" charset="0"/>
              </a:rPr>
              <a:t>class</a:t>
            </a:r>
            <a:r>
              <a:rPr lang="en-US" sz="1600" dirty="0">
                <a:latin typeface="Courier10 BT" pitchFamily="49" charset="0"/>
              </a:rPr>
              <a:t> HelloWorld {</a:t>
            </a:r>
          </a:p>
          <a:p>
            <a:pPr marL="0" lvl="1"/>
            <a:endParaRPr lang="en-US" sz="1600" dirty="0">
              <a:latin typeface="Courier10 BT" pitchFamily="49" charset="0"/>
            </a:endParaRPr>
          </a:p>
          <a:p>
            <a:pPr marL="0" lvl="1"/>
            <a:r>
              <a:rPr lang="en-US" sz="1600" dirty="0">
                <a:latin typeface="Courier10 BT" pitchFamily="49" charset="0"/>
              </a:rPr>
              <a:t>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65169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955859"/>
            <a:ext cx="2199148" cy="496662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1"/>
            <a:ext cx="8229600" cy="452596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Consist of a group of statements enclosed within braces { }.</a:t>
            </a:r>
          </a:p>
          <a:p>
            <a:endParaRPr lang="en-US" dirty="0"/>
          </a:p>
          <a:p>
            <a:r>
              <a:rPr lang="en-US" dirty="0"/>
              <a:t>There can be </a:t>
            </a:r>
            <a:r>
              <a:rPr lang="en-US" i="1" dirty="0"/>
              <a:t>any</a:t>
            </a:r>
            <a:r>
              <a:rPr lang="en-US" dirty="0"/>
              <a:t> number of methods in a class.</a:t>
            </a:r>
          </a:p>
          <a:p>
            <a:endParaRPr lang="en-US" dirty="0"/>
          </a:p>
          <a:p>
            <a:r>
              <a:rPr lang="en-US" dirty="0"/>
              <a:t>Every program contains one </a:t>
            </a:r>
            <a:r>
              <a:rPr lang="en-US" sz="2400" dirty="0">
                <a:solidFill>
                  <a:srgbClr val="0070C0"/>
                </a:solidFill>
                <a:latin typeface="Courier10 BT" pitchFamily="49" charset="0"/>
              </a:rPr>
              <a:t>main</a:t>
            </a:r>
            <a:r>
              <a:rPr lang="en-US" dirty="0"/>
              <a:t> method: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The </a:t>
            </a:r>
            <a:r>
              <a:rPr lang="en-US" sz="2400" dirty="0">
                <a:solidFill>
                  <a:srgbClr val="0070C0"/>
                </a:solidFill>
                <a:latin typeface="Courier10 BT" pitchFamily="49" charset="0"/>
              </a:rPr>
              <a:t>main</a:t>
            </a:r>
            <a:r>
              <a:rPr lang="en-US" dirty="0"/>
              <a:t> method is always executed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02465" y="4421305"/>
            <a:ext cx="5181600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lvl="1"/>
            <a:r>
              <a:rPr lang="en-US" sz="1600" b="1" dirty="0">
                <a:latin typeface="Courier10 BT" pitchFamily="49" charset="0"/>
              </a:rPr>
              <a:t>public static void main(String[] args) </a:t>
            </a:r>
            <a:r>
              <a:rPr lang="en-US" sz="1600" dirty="0">
                <a:latin typeface="Courier10 BT" pitchFamily="49" charset="0"/>
              </a:rPr>
              <a:t>{</a:t>
            </a:r>
          </a:p>
          <a:p>
            <a:pPr marL="0" lvl="1"/>
            <a:r>
              <a:rPr lang="en-US" sz="1600" dirty="0">
                <a:latin typeface="Courier10 BT" pitchFamily="49" charset="0"/>
              </a:rPr>
              <a:t>  //  statements		</a:t>
            </a:r>
          </a:p>
          <a:p>
            <a:pPr marL="0" lvl="1"/>
            <a:r>
              <a:rPr lang="en-US" sz="1600" dirty="0">
                <a:latin typeface="Courier10 BT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111001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73256"/>
            <a:ext cx="3009842" cy="846998"/>
          </a:xfrm>
        </p:spPr>
        <p:txBody>
          <a:bodyPr/>
          <a:lstStyle/>
          <a:p>
            <a:r>
              <a:rPr lang="en-US" dirty="0"/>
              <a:t>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19470"/>
            <a:ext cx="10389210" cy="4942014"/>
          </a:xfrm>
        </p:spPr>
        <p:txBody>
          <a:bodyPr>
            <a:normAutofit/>
          </a:bodyPr>
          <a:lstStyle/>
          <a:p>
            <a:r>
              <a:rPr lang="en-US" dirty="0"/>
              <a:t>Specifies an action to be performed.</a:t>
            </a:r>
          </a:p>
          <a:p>
            <a:r>
              <a:rPr lang="en-US" dirty="0"/>
              <a:t>Each statement is ended with a semicolon.</a:t>
            </a:r>
          </a:p>
          <a:p>
            <a:r>
              <a:rPr lang="en-US" dirty="0"/>
              <a:t>Words are usually separated by a single space.</a:t>
            </a:r>
          </a:p>
          <a:p>
            <a:r>
              <a:rPr lang="en-US" dirty="0"/>
              <a:t>There should not be a space </a:t>
            </a:r>
            <a:r>
              <a:rPr lang="en-US" i="1" dirty="0"/>
              <a:t>within</a:t>
            </a:r>
            <a:r>
              <a:rPr lang="en-US" dirty="0"/>
              <a:t> a word.</a:t>
            </a:r>
          </a:p>
          <a:p>
            <a:r>
              <a:rPr lang="en-US" dirty="0"/>
              <a:t>Examples:</a:t>
            </a:r>
          </a:p>
          <a:p>
            <a:pPr marL="0" indent="0">
              <a:buNone/>
            </a:pPr>
            <a:endParaRPr lang="en-US" dirty="0"/>
          </a:p>
          <a:p>
            <a:pPr lvl="1">
              <a:buNone/>
            </a:pPr>
            <a:r>
              <a:rPr lang="en-US" sz="1800" dirty="0">
                <a:latin typeface="Courier10 BT" pitchFamily="49" charset="0"/>
              </a:rPr>
              <a:t>JFrame frame = new JFrame("My First Program");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	  </a:t>
            </a:r>
            <a:r>
              <a:rPr lang="en-US" sz="1800" dirty="0" err="1">
                <a:latin typeface="Courier10 BT" pitchFamily="49" charset="0"/>
              </a:rPr>
              <a:t>frame.setSize</a:t>
            </a:r>
            <a:r>
              <a:rPr lang="en-US" sz="1800" dirty="0">
                <a:latin typeface="Courier10 BT" pitchFamily="49" charset="0"/>
              </a:rPr>
              <a:t>(800,500);</a:t>
            </a:r>
          </a:p>
          <a:p>
            <a:pPr lvl="1">
              <a:buNone/>
            </a:pPr>
            <a:r>
              <a:rPr lang="en-US" sz="1800" dirty="0" err="1">
                <a:latin typeface="Courier10 BT" pitchFamily="49" charset="0"/>
              </a:rPr>
              <a:t>frame.setVisible</a:t>
            </a:r>
            <a:r>
              <a:rPr lang="en-US" sz="1800" dirty="0">
                <a:latin typeface="Courier10 BT" pitchFamily="49" charset="0"/>
              </a:rPr>
              <a:t>(true);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86443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601859"/>
          </a:xfrm>
        </p:spPr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955772"/>
            <a:ext cx="5375272" cy="383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Three types of comments:</a:t>
            </a:r>
          </a:p>
          <a:p>
            <a:pPr lvl="1"/>
            <a:r>
              <a:rPr lang="en-US" dirty="0"/>
              <a:t>Single line  </a:t>
            </a:r>
            <a:r>
              <a:rPr lang="en-US" sz="2000" dirty="0">
                <a:solidFill>
                  <a:srgbClr val="0070C0"/>
                </a:solidFill>
                <a:latin typeface="Courier10 BT" pitchFamily="49" charset="0"/>
              </a:rPr>
              <a:t>//</a:t>
            </a:r>
          </a:p>
          <a:p>
            <a:pPr lvl="1"/>
            <a:r>
              <a:rPr lang="en-US" dirty="0"/>
              <a:t>Multi-line </a:t>
            </a:r>
            <a:r>
              <a:rPr lang="en-US" sz="2000" dirty="0">
                <a:solidFill>
                  <a:srgbClr val="0070C0"/>
                </a:solidFill>
                <a:latin typeface="Courier10 BT" pitchFamily="49" charset="0"/>
              </a:rPr>
              <a:t>/*   */</a:t>
            </a:r>
          </a:p>
          <a:p>
            <a:pPr marL="0" indent="0">
              <a:buNone/>
            </a:pPr>
            <a:r>
              <a:rPr lang="en-US" b="1" dirty="0"/>
              <a:t>Single line comments:</a:t>
            </a:r>
          </a:p>
          <a:p>
            <a:pPr lvl="1">
              <a:buNone/>
            </a:pPr>
            <a:r>
              <a:rPr lang="en-US" sz="2000" dirty="0">
                <a:solidFill>
                  <a:srgbClr val="0070C0"/>
                </a:solidFill>
                <a:latin typeface="Courier10 BT" pitchFamily="49" charset="0"/>
              </a:rPr>
              <a:t>// </a:t>
            </a:r>
            <a:r>
              <a:rPr lang="en-US" dirty="0"/>
              <a:t>compiler ignores the words in this line</a:t>
            </a:r>
          </a:p>
          <a:p>
            <a:pPr marL="0" indent="0">
              <a:buNone/>
            </a:pPr>
            <a:r>
              <a:rPr lang="en-US" b="1" dirty="0"/>
              <a:t>Multi-line comments:</a:t>
            </a:r>
          </a:p>
          <a:p>
            <a:pPr lvl="1">
              <a:buNone/>
            </a:pPr>
            <a:r>
              <a:rPr lang="en-US" sz="2000" dirty="0">
                <a:solidFill>
                  <a:srgbClr val="0070C0"/>
                </a:solidFill>
                <a:latin typeface="Courier10 BT" pitchFamily="49" charset="0"/>
              </a:rPr>
              <a:t>/*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compiler ignores all the</a:t>
            </a:r>
          </a:p>
          <a:p>
            <a:pPr lvl="1">
              <a:buNone/>
            </a:pPr>
            <a:r>
              <a:rPr lang="en-US" dirty="0"/>
              <a:t>words in these</a:t>
            </a:r>
          </a:p>
          <a:p>
            <a:pPr lvl="1">
              <a:buNone/>
            </a:pPr>
            <a:r>
              <a:rPr lang="en-US" dirty="0"/>
              <a:t>three lines </a:t>
            </a:r>
            <a:r>
              <a:rPr lang="en-US" sz="2000" dirty="0">
                <a:solidFill>
                  <a:srgbClr val="0070C0"/>
                </a:solidFill>
                <a:latin typeface="Courier10 BT" pitchFamily="49" charset="0"/>
              </a:rPr>
              <a:t>*/</a:t>
            </a:r>
          </a:p>
          <a:p>
            <a:endParaRPr lang="en-US" dirty="0"/>
          </a:p>
          <a:p>
            <a:pPr lvl="1"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356830" y="1833043"/>
            <a:ext cx="5635565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Javadoc annotations comments</a:t>
            </a:r>
          </a:p>
          <a:p>
            <a:pPr marL="0" indent="0">
              <a:buNone/>
            </a:pPr>
            <a:r>
              <a:rPr lang="en-US" sz="2400" dirty="0"/>
              <a:t>	/**</a:t>
            </a:r>
          </a:p>
          <a:p>
            <a:pPr marL="0" indent="0">
              <a:buNone/>
            </a:pPr>
            <a:r>
              <a:rPr lang="en-US" sz="2400" dirty="0"/>
              <a:t>	 * </a:t>
            </a:r>
          </a:p>
          <a:p>
            <a:pPr marL="0" indent="0">
              <a:buNone/>
            </a:pPr>
            <a:r>
              <a:rPr lang="en-US" sz="2400" dirty="0"/>
              <a:t>              * </a:t>
            </a:r>
            <a:r>
              <a:rPr lang="en-US" sz="2400" b="1" dirty="0"/>
              <a:t>@</a:t>
            </a:r>
            <a:r>
              <a:rPr lang="en-US" sz="2400" b="1" dirty="0" err="1"/>
              <a:t>param</a:t>
            </a:r>
            <a:r>
              <a:rPr lang="en-US" sz="2400" dirty="0"/>
              <a:t> args</a:t>
            </a:r>
          </a:p>
          <a:p>
            <a:pPr marL="0" indent="0">
              <a:buNone/>
            </a:pPr>
            <a:r>
              <a:rPr lang="en-US" sz="2400" dirty="0"/>
              <a:t>              */</a:t>
            </a:r>
          </a:p>
          <a:p>
            <a:pPr marL="0" indent="0">
              <a:buNone/>
            </a:pPr>
            <a:r>
              <a:rPr lang="en-US" sz="2400" b="1" dirty="0"/>
              <a:t>             public</a:t>
            </a:r>
            <a:r>
              <a:rPr lang="en-US" sz="2400" dirty="0"/>
              <a:t> </a:t>
            </a:r>
            <a:r>
              <a:rPr lang="en-US" sz="2400" b="1" dirty="0"/>
              <a:t>static</a:t>
            </a:r>
            <a:r>
              <a:rPr lang="en-US" sz="2400" dirty="0"/>
              <a:t> </a:t>
            </a:r>
            <a:r>
              <a:rPr lang="en-US" sz="2400" b="1" dirty="0"/>
              <a:t>void</a:t>
            </a:r>
            <a:r>
              <a:rPr lang="en-US" sz="2400" dirty="0"/>
              <a:t> main(String[] args) {</a:t>
            </a:r>
          </a:p>
          <a:p>
            <a:pPr marL="0" indent="0">
              <a:buNone/>
            </a:pPr>
            <a:endParaRPr lang="en-US" sz="2800" dirty="0"/>
          </a:p>
          <a:p>
            <a:pPr lvl="1">
              <a:buFont typeface="Arial" panose="020B0604020202020204" pitchFamily="34" charset="0"/>
              <a:buNone/>
            </a:pPr>
            <a:endParaRPr lang="en-US" sz="2000" dirty="0">
              <a:solidFill>
                <a:srgbClr val="0070C0"/>
              </a:solidFill>
              <a:latin typeface="Courier10 BT" pitchFamily="49" charset="0"/>
            </a:endParaRPr>
          </a:p>
          <a:p>
            <a:endParaRPr lang="en-US" dirty="0"/>
          </a:p>
          <a:p>
            <a:pPr lvl="1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378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936516" y="757213"/>
            <a:ext cx="7878621" cy="674545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The Java Programming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59312"/>
            <a:ext cx="10417284" cy="5018214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b="1" dirty="0"/>
              <a:t>Automatic garbage collection</a:t>
            </a:r>
            <a:endParaRPr lang="en-US" dirty="0"/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Java uses an </a:t>
            </a:r>
            <a:r>
              <a:rPr lang="en-US" b="1" dirty="0"/>
              <a:t>automatic</a:t>
            </a:r>
            <a:r>
              <a:rPr lang="en-US" dirty="0"/>
              <a:t> garbage collector to manage memory. </a:t>
            </a:r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Java runtime is </a:t>
            </a:r>
            <a:r>
              <a:rPr lang="en-US" b="1" dirty="0"/>
              <a:t>responsible</a:t>
            </a:r>
            <a:r>
              <a:rPr lang="en-US" dirty="0"/>
              <a:t> for recovering the memory </a:t>
            </a:r>
            <a:br>
              <a:rPr lang="en-US" dirty="0"/>
            </a:br>
            <a:r>
              <a:rPr lang="en-US" dirty="0"/>
              <a:t>if objects are no longer in use (reference = </a:t>
            </a:r>
            <a:r>
              <a:rPr lang="en-US" b="1" dirty="0"/>
              <a:t>Null</a:t>
            </a:r>
            <a:r>
              <a:rPr lang="en-US" dirty="0"/>
              <a:t>)</a:t>
            </a:r>
          </a:p>
          <a:p>
            <a:pPr>
              <a:buFont typeface="Arial" charset="0"/>
              <a:buChar char="•"/>
              <a:defRPr/>
            </a:pPr>
            <a:endParaRPr lang="en-US" dirty="0"/>
          </a:p>
          <a:p>
            <a:pPr>
              <a:buFont typeface="Arial" charset="0"/>
              <a:buChar char="•"/>
              <a:defRPr/>
            </a:pPr>
            <a:r>
              <a:rPr lang="en-US" dirty="0"/>
              <a:t>But it creates </a:t>
            </a:r>
            <a:r>
              <a:rPr lang="en-US" b="1" dirty="0"/>
              <a:t>some</a:t>
            </a:r>
            <a:r>
              <a:rPr lang="en-US" dirty="0"/>
              <a:t> issues …</a:t>
            </a:r>
          </a:p>
          <a:p>
            <a:pPr marL="0" indent="0">
              <a:buNone/>
              <a:defRPr/>
            </a:pPr>
            <a:endParaRPr 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4214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The Java Programming Language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b="1" dirty="0"/>
              <a:t>Concurrency </a:t>
            </a:r>
            <a:r>
              <a:rPr lang="en-US" altLang="en-US" dirty="0"/>
              <a:t>is the ability to start, run and complete several threads </a:t>
            </a:r>
            <a:br>
              <a:rPr lang="en-US" altLang="en-US" dirty="0"/>
            </a:br>
            <a:r>
              <a:rPr lang="en-US" altLang="en-US" dirty="0"/>
              <a:t>of a program in overlapping time periods.</a:t>
            </a:r>
          </a:p>
          <a:p>
            <a:endParaRPr lang="en-US" altLang="en-US" dirty="0"/>
          </a:p>
          <a:p>
            <a:r>
              <a:rPr lang="en-US" altLang="en-US" dirty="0"/>
              <a:t>Java supports </a:t>
            </a:r>
            <a:r>
              <a:rPr lang="en-US" altLang="en-US" b="1" dirty="0"/>
              <a:t>threads</a:t>
            </a:r>
            <a:r>
              <a:rPr lang="en-US" altLang="en-US" dirty="0"/>
              <a:t> as part of the Java language (concurrent programming).</a:t>
            </a:r>
          </a:p>
          <a:p>
            <a:endParaRPr lang="en-US" altLang="en-US" dirty="0"/>
          </a:p>
          <a:p>
            <a:r>
              <a:rPr lang="en-US" altLang="en-US" b="1" dirty="0">
                <a:solidFill>
                  <a:srgbClr val="FF0000"/>
                </a:solidFill>
              </a:rPr>
              <a:t>But</a:t>
            </a:r>
            <a:r>
              <a:rPr lang="en-US" altLang="en-US" dirty="0"/>
              <a:t> multiprocessor apps are </a:t>
            </a:r>
            <a:r>
              <a:rPr lang="en-US" altLang="en-US" b="1" dirty="0"/>
              <a:t>not</a:t>
            </a:r>
            <a:r>
              <a:rPr lang="en-US" altLang="en-US" dirty="0"/>
              <a:t> really addressed …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698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Hello World</a:t>
            </a:r>
          </a:p>
        </p:txBody>
      </p:sp>
    </p:spTree>
    <p:extLst>
      <p:ext uri="{BB962C8B-B14F-4D97-AF65-F5344CB8AC3E}">
        <p14:creationId xmlns:p14="http://schemas.microsoft.com/office/powerpoint/2010/main" val="3773203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716" y="854709"/>
            <a:ext cx="8069245" cy="440018"/>
          </a:xfrm>
        </p:spPr>
        <p:txBody>
          <a:bodyPr>
            <a:normAutofit fontScale="90000"/>
          </a:bodyPr>
          <a:lstStyle/>
          <a:p>
            <a:r>
              <a:rPr lang="en-US" dirty="0"/>
              <a:t>Compiling and Running a Java Program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212" y="1933323"/>
            <a:ext cx="4963297" cy="432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66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6179" y="1097470"/>
            <a:ext cx="7798837" cy="484524"/>
          </a:xfrm>
        </p:spPr>
        <p:txBody>
          <a:bodyPr>
            <a:normAutofit fontScale="90000"/>
          </a:bodyPr>
          <a:lstStyle/>
          <a:p>
            <a:r>
              <a:rPr lang="en-US" dirty="0"/>
              <a:t>Standard Java: </a:t>
            </a:r>
            <a:r>
              <a:rPr lang="en-US" dirty="0">
                <a:latin typeface="Courier10 BT" pitchFamily="49" charset="0"/>
              </a:rPr>
              <a:t>HelloWorld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9047" y="1979411"/>
            <a:ext cx="6633132" cy="2255658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// Program HelloWorld 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public class HelloWorld {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public static void main(String[] args) {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		</a:t>
            </a:r>
            <a:r>
              <a:rPr lang="en-US" sz="1800" dirty="0" err="1">
                <a:latin typeface="Courier10 BT" pitchFamily="49" charset="0"/>
              </a:rPr>
              <a:t>System.out.println</a:t>
            </a:r>
            <a:r>
              <a:rPr lang="en-US" sz="1800" dirty="0">
                <a:latin typeface="Courier10 BT" pitchFamily="49" charset="0"/>
              </a:rPr>
              <a:t>(“Hello World!”); 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		// or </a:t>
            </a:r>
            <a:r>
              <a:rPr lang="en-US" sz="1800" dirty="0" err="1">
                <a:latin typeface="Courier10 BT" pitchFamily="49" charset="0"/>
              </a:rPr>
              <a:t>System.err.println</a:t>
            </a:r>
            <a:r>
              <a:rPr lang="en-US" sz="1800" dirty="0">
                <a:latin typeface="Courier10 BT" pitchFamily="49" charset="0"/>
              </a:rPr>
              <a:t>(“Hello Error!”);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	 }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057" y="4565338"/>
            <a:ext cx="5961709" cy="179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19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IntelliJ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2176253"/>
            <a:ext cx="5670123" cy="4469970"/>
          </a:xfrm>
        </p:spPr>
        <p:txBody>
          <a:bodyPr>
            <a:normAutofit/>
          </a:bodyPr>
          <a:lstStyle/>
          <a:p>
            <a:r>
              <a:rPr lang="en-US" dirty="0"/>
              <a:t>Little click introduction …</a:t>
            </a:r>
          </a:p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Download</a:t>
            </a:r>
            <a:endParaRPr lang="en-US" dirty="0"/>
          </a:p>
          <a:p>
            <a:endParaRPr lang="en-US" dirty="0"/>
          </a:p>
          <a:p>
            <a:r>
              <a:rPr lang="en-US" dirty="0"/>
              <a:t>Get the Ultimate version</a:t>
            </a:r>
          </a:p>
          <a:p>
            <a:endParaRPr lang="en-US" dirty="0"/>
          </a:p>
          <a:p>
            <a:r>
              <a:rPr lang="en-US" dirty="0"/>
              <a:t>Free for students</a:t>
            </a:r>
          </a:p>
          <a:p>
            <a:endParaRPr lang="en-US" dirty="0"/>
          </a:p>
          <a:p>
            <a:r>
              <a:rPr lang="en-US" dirty="0"/>
              <a:t>Register with your </a:t>
            </a:r>
            <a:r>
              <a:rPr lang="en-US" dirty="0" err="1"/>
              <a:t>scu</a:t>
            </a:r>
            <a:r>
              <a:rPr lang="en-US" dirty="0"/>
              <a:t> email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AAB69-29AD-BB28-D949-01DFD2AB4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029" y="4015914"/>
            <a:ext cx="4251366" cy="26303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94C9DE-B428-428A-68B8-7D1AD79CE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850" y="936733"/>
            <a:ext cx="1892397" cy="6096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6E0F76-7C51-A9E8-8575-C37F1F87E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046" y="990323"/>
            <a:ext cx="5361552" cy="294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21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6179" y="1097470"/>
            <a:ext cx="5581619" cy="484524"/>
          </a:xfrm>
        </p:spPr>
        <p:txBody>
          <a:bodyPr>
            <a:normAutofit fontScale="90000"/>
          </a:bodyPr>
          <a:lstStyle/>
          <a:p>
            <a:r>
              <a:rPr lang="en-US" dirty="0"/>
              <a:t>Java Swing: </a:t>
            </a:r>
            <a:r>
              <a:rPr lang="en-US" dirty="0">
                <a:latin typeface="Courier10 BT" pitchFamily="49" charset="0"/>
              </a:rPr>
              <a:t>HelloWorld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12" y="1851051"/>
            <a:ext cx="10279582" cy="4100642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// Program </a:t>
            </a:r>
            <a:r>
              <a:rPr lang="en-US" sz="1800" dirty="0" err="1">
                <a:latin typeface="Courier10 BT" pitchFamily="49" charset="0"/>
              </a:rPr>
              <a:t>HelloWorld</a:t>
            </a:r>
            <a:endParaRPr lang="en-US" sz="1800" dirty="0">
              <a:latin typeface="Courier10 BT" pitchFamily="49" charset="0"/>
            </a:endParaRP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import javax.swing.*; </a:t>
            </a:r>
          </a:p>
          <a:p>
            <a:pPr>
              <a:buNone/>
            </a:pPr>
            <a:endParaRPr lang="en-US" sz="1800" dirty="0">
              <a:latin typeface="Courier10 BT" pitchFamily="49" charset="0"/>
            </a:endParaRP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public class HelloWorld {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public static void main(String[] args) {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  JFrame frame = new JFrame("My First Program");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  frame.getContentPane().add(new </a:t>
            </a:r>
            <a:r>
              <a:rPr lang="en-US" sz="1800" dirty="0" err="1">
                <a:latin typeface="Courier10 BT" pitchFamily="49" charset="0"/>
              </a:rPr>
              <a:t>JLabel</a:t>
            </a:r>
            <a:r>
              <a:rPr lang="en-US" sz="1800" dirty="0">
                <a:latin typeface="Courier10 BT" pitchFamily="49" charset="0"/>
              </a:rPr>
              <a:t>(new ImageIcon("blimp.jpg")));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  </a:t>
            </a:r>
            <a:r>
              <a:rPr lang="en-US" sz="1800" dirty="0" err="1">
                <a:latin typeface="Courier10 BT" pitchFamily="49" charset="0"/>
              </a:rPr>
              <a:t>frame.setSize</a:t>
            </a:r>
            <a:r>
              <a:rPr lang="en-US" sz="1800" dirty="0">
                <a:latin typeface="Courier10 BT" pitchFamily="49" charset="0"/>
              </a:rPr>
              <a:t>(800,500);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  </a:t>
            </a:r>
            <a:r>
              <a:rPr lang="en-US" sz="1800" dirty="0" err="1">
                <a:latin typeface="Courier10 BT" pitchFamily="49" charset="0"/>
              </a:rPr>
              <a:t>frame.setVisible</a:t>
            </a:r>
            <a:r>
              <a:rPr lang="en-US" sz="1800" dirty="0">
                <a:latin typeface="Courier10 BT" pitchFamily="49" charset="0"/>
              </a:rPr>
              <a:t>(true);				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   }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373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the </a:t>
            </a:r>
            <a:r>
              <a:rPr lang="en-US" dirty="0" err="1">
                <a:latin typeface="Courier10 BT" pitchFamily="49" charset="0"/>
              </a:rPr>
              <a:t>HelloWorld</a:t>
            </a:r>
            <a:r>
              <a:rPr lang="en-US" dirty="0"/>
              <a:t> Program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155" y="2062621"/>
            <a:ext cx="6629400" cy="352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414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Good, the Bad and the Ugly</a:t>
            </a:r>
            <a:br>
              <a:rPr lang="en-US" sz="4400" dirty="0"/>
            </a:br>
            <a:r>
              <a:rPr lang="en-US" sz="4400" dirty="0"/>
              <a:t>Differences and similarities Java vs C/C++</a:t>
            </a:r>
          </a:p>
        </p:txBody>
      </p:sp>
    </p:spTree>
    <p:extLst>
      <p:ext uri="{BB962C8B-B14F-4D97-AF65-F5344CB8AC3E}">
        <p14:creationId xmlns:p14="http://schemas.microsoft.com/office/powerpoint/2010/main" val="3090855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1276003"/>
            <a:ext cx="5970036" cy="5897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Java</a:t>
            </a:r>
            <a:r>
              <a:rPr lang="en-US" dirty="0"/>
              <a:t> advantages over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4608" y="2100475"/>
            <a:ext cx="7280946" cy="40575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Simpler syntax</a:t>
            </a:r>
          </a:p>
          <a:p>
            <a:endParaRPr lang="en-US" dirty="0"/>
          </a:p>
          <a:p>
            <a:r>
              <a:rPr lang="en-US" dirty="0"/>
              <a:t>No pointer and pointer arithmetic (*, &amp;, only references)</a:t>
            </a:r>
          </a:p>
          <a:p>
            <a:endParaRPr lang="en-US" dirty="0"/>
          </a:p>
          <a:p>
            <a:r>
              <a:rPr lang="en-US" dirty="0"/>
              <a:t>No </a:t>
            </a:r>
            <a:r>
              <a:rPr lang="en-US" dirty="0" err="1"/>
              <a:t>sizeof</a:t>
            </a:r>
            <a:r>
              <a:rPr lang="en-US" dirty="0"/>
              <a:t>(…)</a:t>
            </a:r>
          </a:p>
          <a:p>
            <a:endParaRPr lang="en-US" dirty="0"/>
          </a:p>
          <a:p>
            <a:r>
              <a:rPr lang="en-US" dirty="0"/>
              <a:t>No operator overloading (+, -, *, etc.)</a:t>
            </a:r>
          </a:p>
          <a:p>
            <a:endParaRPr lang="en-US" dirty="0"/>
          </a:p>
          <a:p>
            <a:r>
              <a:rPr lang="en-US" dirty="0"/>
              <a:t>No preprocessor (#define, #</a:t>
            </a:r>
            <a:r>
              <a:rPr lang="en-US" dirty="0" err="1"/>
              <a:t>ifndef</a:t>
            </a:r>
            <a:r>
              <a:rPr lang="en-US" dirty="0"/>
              <a:t>, etc.)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9771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1276003"/>
            <a:ext cx="5970036" cy="5897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Java</a:t>
            </a:r>
            <a:r>
              <a:rPr lang="en-US" dirty="0"/>
              <a:t> advantages over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4608" y="2100475"/>
            <a:ext cx="7280946" cy="4057564"/>
          </a:xfrm>
        </p:spPr>
        <p:txBody>
          <a:bodyPr>
            <a:normAutofit/>
          </a:bodyPr>
          <a:lstStyle/>
          <a:p>
            <a:r>
              <a:rPr lang="en-US" dirty="0"/>
              <a:t>No header files</a:t>
            </a:r>
          </a:p>
          <a:p>
            <a:endParaRPr lang="en-US" dirty="0"/>
          </a:p>
          <a:p>
            <a:r>
              <a:rPr lang="en-US" dirty="0"/>
              <a:t>Declaration and definition is one line</a:t>
            </a:r>
          </a:p>
          <a:p>
            <a:endParaRPr lang="en-US" dirty="0"/>
          </a:p>
          <a:p>
            <a:r>
              <a:rPr lang="en-US" dirty="0"/>
              <a:t>Only single inheritance</a:t>
            </a:r>
          </a:p>
          <a:p>
            <a:endParaRPr lang="en-US" dirty="0"/>
          </a:p>
          <a:p>
            <a:r>
              <a:rPr lang="en-US" dirty="0"/>
              <a:t>Garbage collector (no </a:t>
            </a:r>
            <a:r>
              <a:rPr lang="en-US" dirty="0" err="1"/>
              <a:t>malloc</a:t>
            </a:r>
            <a:r>
              <a:rPr lang="en-US" dirty="0"/>
              <a:t> and free, etc.)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989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919955"/>
            <a:ext cx="5970036" cy="5897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C++ </a:t>
            </a:r>
            <a:r>
              <a:rPr lang="en-US" dirty="0"/>
              <a:t>advantages over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068" y="1918406"/>
            <a:ext cx="10417284" cy="4328645"/>
          </a:xfrm>
        </p:spPr>
        <p:txBody>
          <a:bodyPr>
            <a:normAutofit/>
          </a:bodyPr>
          <a:lstStyle/>
          <a:p>
            <a:r>
              <a:rPr lang="en-US" dirty="0"/>
              <a:t>Faster</a:t>
            </a:r>
          </a:p>
          <a:p>
            <a:endParaRPr lang="en-US" dirty="0"/>
          </a:p>
          <a:p>
            <a:r>
              <a:rPr lang="en-US" dirty="0"/>
              <a:t>Less verbose (despite header files)</a:t>
            </a:r>
          </a:p>
          <a:p>
            <a:endParaRPr lang="en-US" dirty="0"/>
          </a:p>
          <a:p>
            <a:r>
              <a:rPr lang="en-US" dirty="0"/>
              <a:t>Direct hardware access</a:t>
            </a:r>
          </a:p>
          <a:p>
            <a:endParaRPr lang="en-US" dirty="0"/>
          </a:p>
          <a:p>
            <a:r>
              <a:rPr lang="en-US" dirty="0"/>
              <a:t>If you develop something serious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768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24" y="1005640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different?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542401" y="1005639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 vs C/C++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922382" y="1672235"/>
            <a:ext cx="5985768" cy="4943003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</a:t>
            </a:r>
            <a:r>
              <a:rPr lang="en-US" sz="1800" dirty="0" err="1">
                <a:latin typeface="Courier10 BT" pitchFamily="49" charset="0"/>
              </a:rPr>
              <a:t>boolean</a:t>
            </a:r>
            <a:r>
              <a:rPr lang="en-US" sz="1800" dirty="0">
                <a:latin typeface="Courier10 BT" pitchFamily="49" charset="0"/>
              </a:rPr>
              <a:t>            myBool    = true;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byte               myVByte   = -127;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char               myChar    = 'H';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short              myShort   = -166;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int                myInt     = -2646;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long               myLong    = -345234234;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float              myFloat   = 342374.9f;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double             myDouble  = 4234.2347d;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		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var                myNum     = 3521;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final var          MY_NUM    = 23423423;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29024" y="1645847"/>
            <a:ext cx="5743456" cy="4770563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</a:t>
            </a:r>
            <a:r>
              <a:rPr lang="en-US" sz="1800" dirty="0" err="1">
                <a:latin typeface="Courier10 BT" pitchFamily="49" charset="0"/>
              </a:rPr>
              <a:t>iostream</a:t>
            </a:r>
            <a:r>
              <a:rPr lang="en-US" sz="1800" dirty="0">
                <a:latin typeface="Courier10 BT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</a:t>
            </a:r>
            <a:r>
              <a:rPr lang="en-US" sz="1800" dirty="0" err="1">
                <a:latin typeface="Courier10 BT" pitchFamily="49" charset="0"/>
              </a:rPr>
              <a:t>std</a:t>
            </a:r>
            <a:r>
              <a:rPr lang="en-US" sz="1800" dirty="0">
                <a:latin typeface="Courier10 BT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bool               myBool    = true;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char               myChar    = 'H';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unsigned char      myUChar   = 123U;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short              myShort   = -166;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unsigned short     myUShort  = 1898;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int                myInt     = -2646;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unsigned int       myUInt    = 324236;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long               myLong    = -345234234;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unsigned long      myULong   = 234762387468;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long long          myLLong   = -328472394723897;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unsigned long long myULLong  = 23817928173982719;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float              myFloat   = 342374.9f;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double             myDouble  = 4234.2347L;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long double        myLDouble = 37846287.324726L;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777175" y="1005640"/>
            <a:ext cx="3127035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Basic data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7284" y="2486623"/>
            <a:ext cx="1425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No byte!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0608" y="5661131"/>
            <a:ext cx="2336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No unsigned data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No long </a:t>
            </a:r>
            <a:r>
              <a:rPr lang="en-US" sz="1400" dirty="0" err="1">
                <a:solidFill>
                  <a:srgbClr val="FF0000"/>
                </a:solidFill>
              </a:rPr>
              <a:t>long</a:t>
            </a:r>
            <a:endParaRPr lang="en-US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No unsigned long </a:t>
            </a:r>
            <a:r>
              <a:rPr lang="en-US" sz="1400" dirty="0" err="1">
                <a:solidFill>
                  <a:srgbClr val="FF0000"/>
                </a:solidFill>
              </a:rPr>
              <a:t>long</a:t>
            </a:r>
            <a:endParaRPr lang="en-US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No long double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4463804" y="1549583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10812460" y="1567283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1333375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242" y="920436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different?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770147" y="920435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 vs C/C++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477506" y="920436"/>
            <a:ext cx="2647347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If == vs = error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004262" y="2678211"/>
            <a:ext cx="5985768" cy="2698605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int a = 100;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		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if ( a = 90 )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System.out.println("Does NOT work!");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65438" y="1635100"/>
            <a:ext cx="5743456" cy="3450402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int a = 100;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if (a = 90)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cout &lt;&lt; "Does work!"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883" y="5820022"/>
            <a:ext cx="5991147" cy="77372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4463804" y="1549583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10812460" y="1567283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  <p:sp>
        <p:nvSpPr>
          <p:cNvPr id="3" name="Down Arrow 2"/>
          <p:cNvSpPr/>
          <p:nvPr/>
        </p:nvSpPr>
        <p:spPr>
          <a:xfrm flipH="1" flipV="1">
            <a:off x="7446905" y="4704203"/>
            <a:ext cx="237392" cy="104596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73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24" y="919953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different?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744971" y="915717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C/C++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589267" y="950291"/>
            <a:ext cx="1183768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class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048077" y="1605261"/>
            <a:ext cx="5996918" cy="4483995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"Test.h"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Test::</a:t>
            </a:r>
            <a:r>
              <a:rPr lang="en-US" sz="1800" dirty="0" err="1">
                <a:latin typeface="Courier10 BT" pitchFamily="49" charset="0"/>
              </a:rPr>
              <a:t>getId</a:t>
            </a:r>
            <a:r>
              <a:rPr lang="en-US" sz="1800" dirty="0">
                <a:latin typeface="Courier10 BT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return this-&gt;id;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void Test::</a:t>
            </a:r>
            <a:r>
              <a:rPr lang="en-US" sz="1800" dirty="0" err="1">
                <a:latin typeface="Courier10 BT" pitchFamily="49" charset="0"/>
              </a:rPr>
              <a:t>setId</a:t>
            </a:r>
            <a:r>
              <a:rPr lang="en-US" sz="1800" dirty="0">
                <a:latin typeface="Courier10 BT" pitchFamily="49" charset="0"/>
              </a:rPr>
              <a:t>(int id)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this-&gt;id = id;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string Test::getName()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return this-&gt;name;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void Test::</a:t>
            </a:r>
            <a:r>
              <a:rPr lang="en-US" sz="1800" dirty="0" err="1">
                <a:latin typeface="Courier10 BT" pitchFamily="49" charset="0"/>
              </a:rPr>
              <a:t>setName</a:t>
            </a:r>
            <a:r>
              <a:rPr lang="en-US" sz="1800" dirty="0">
                <a:latin typeface="Courier10 BT" pitchFamily="49" charset="0"/>
              </a:rPr>
              <a:t>(string name)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this-&gt;name = name;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29024" y="1605261"/>
            <a:ext cx="5865376" cy="4483995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#pragma once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&lt;string&gt;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class Test{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private: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int id;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string name;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int </a:t>
            </a:r>
            <a:r>
              <a:rPr lang="en-US" sz="1800" dirty="0" err="1">
                <a:latin typeface="Courier10 BT" pitchFamily="49" charset="0"/>
              </a:rPr>
              <a:t>getId</a:t>
            </a:r>
            <a:r>
              <a:rPr lang="en-US" sz="1800" dirty="0">
                <a:latin typeface="Courier10 BT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void </a:t>
            </a:r>
            <a:r>
              <a:rPr lang="en-US" sz="1800" dirty="0" err="1">
                <a:latin typeface="Courier10 BT" pitchFamily="49" charset="0"/>
              </a:rPr>
              <a:t>setId</a:t>
            </a:r>
            <a:r>
              <a:rPr lang="en-US" sz="1800" dirty="0">
                <a:latin typeface="Courier10 BT" pitchFamily="49" charset="0"/>
              </a:rPr>
              <a:t>(int id);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string getName();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void </a:t>
            </a:r>
            <a:r>
              <a:rPr lang="en-US" sz="1800" dirty="0" err="1">
                <a:latin typeface="Courier10 BT" pitchFamily="49" charset="0"/>
              </a:rPr>
              <a:t>setName</a:t>
            </a:r>
            <a:r>
              <a:rPr lang="en-US" sz="1800" dirty="0">
                <a:latin typeface="Courier10 BT" pitchFamily="49" charset="0"/>
              </a:rPr>
              <a:t>(string name);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47793" y="1561762"/>
            <a:ext cx="80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Test.h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1055" y="1605261"/>
            <a:ext cx="104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Test.cpp</a:t>
            </a:r>
          </a:p>
        </p:txBody>
      </p:sp>
    </p:spTree>
    <p:extLst>
      <p:ext uri="{BB962C8B-B14F-4D97-AF65-F5344CB8AC3E}">
        <p14:creationId xmlns:p14="http://schemas.microsoft.com/office/powerpoint/2010/main" val="2265921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24" y="919953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different?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744971" y="915717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475978" y="915716"/>
            <a:ext cx="1187814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class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066433" y="1561762"/>
            <a:ext cx="6676378" cy="4895682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private int id;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private String name;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int </a:t>
            </a:r>
            <a:r>
              <a:rPr lang="en-US" sz="1800" dirty="0" err="1">
                <a:latin typeface="Courier10 BT" pitchFamily="49" charset="0"/>
              </a:rPr>
              <a:t>getId</a:t>
            </a:r>
            <a:r>
              <a:rPr lang="en-US" sz="1800" dirty="0">
                <a:latin typeface="Courier10 BT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return id;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void </a:t>
            </a:r>
            <a:r>
              <a:rPr lang="en-US" sz="1800" dirty="0" err="1">
                <a:latin typeface="Courier10 BT" pitchFamily="49" charset="0"/>
              </a:rPr>
              <a:t>setId</a:t>
            </a:r>
            <a:r>
              <a:rPr lang="en-US" sz="1800" dirty="0">
                <a:latin typeface="Courier10 BT" pitchFamily="49" charset="0"/>
              </a:rPr>
              <a:t>(int id)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this.id = id;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String getName()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return name;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void </a:t>
            </a:r>
            <a:r>
              <a:rPr lang="en-US" sz="1800" dirty="0" err="1">
                <a:latin typeface="Courier10 BT" pitchFamily="49" charset="0"/>
              </a:rPr>
              <a:t>setName</a:t>
            </a:r>
            <a:r>
              <a:rPr lang="en-US" sz="1800" dirty="0">
                <a:latin typeface="Courier10 BT" pitchFamily="49" charset="0"/>
              </a:rPr>
              <a:t>(String name)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this.name = name;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3850" y="1594130"/>
            <a:ext cx="1095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Test.java</a:t>
            </a:r>
          </a:p>
        </p:txBody>
      </p:sp>
    </p:spTree>
    <p:extLst>
      <p:ext uri="{BB962C8B-B14F-4D97-AF65-F5344CB8AC3E}">
        <p14:creationId xmlns:p14="http://schemas.microsoft.com/office/powerpoint/2010/main" val="16697195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24" y="919953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different?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744971" y="915717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C/C++ vs Java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115882" y="950295"/>
            <a:ext cx="2647347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instantiation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031893" y="2798837"/>
            <a:ext cx="5996918" cy="2234410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Test myTest = new Test();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myTest.setName("Mike");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System.out.println(</a:t>
            </a:r>
            <a:r>
              <a:rPr lang="en-US" sz="1800" dirty="0" err="1">
                <a:latin typeface="Courier10 BT" pitchFamily="49" charset="0"/>
              </a:rPr>
              <a:t>myTest.getName</a:t>
            </a:r>
            <a:r>
              <a:rPr lang="en-US" sz="1800" dirty="0">
                <a:latin typeface="Courier10 BT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myTest = null; // not essential but …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29024" y="1605261"/>
            <a:ext cx="5865376" cy="4483995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"Test.h"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Test myStackTest; 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myStackTest.setName("Mike");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cout &lt;&lt; myStackTest.getName() &lt;&lt; endl;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Test *myHeapTest = new Test();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myHeapTest-&gt;setName("Michael");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cout &lt;&lt; myHeapTest-&gt;getName()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delete(myHeapTest);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600168" y="1505462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0936787" y="2983005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2344740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919955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the same?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7434961" y="919954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 vs C/C++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004122" y="1540084"/>
            <a:ext cx="2647347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For-Loop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033512" y="3507799"/>
            <a:ext cx="5985768" cy="2698605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for (int i = 0; i &lt; 100;i++)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System.out.println("Hello World!");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29024" y="2319122"/>
            <a:ext cx="5743456" cy="3450402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for (int i = 0; i &lt; 100;i++)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cout &lt;&lt; "Hello World!"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475837" y="2215334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0924762" y="3400099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931770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919955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the same?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7434961" y="919954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 vs C/C++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481643" y="1509675"/>
            <a:ext cx="2229798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While Loop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124951" y="3068891"/>
            <a:ext cx="5985768" cy="3450402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</a:t>
            </a:r>
            <a:r>
              <a:rPr lang="en-US" sz="1800" dirty="0" err="1">
                <a:latin typeface="Courier10 BT" pitchFamily="49" charset="0"/>
              </a:rPr>
              <a:t>int</a:t>
            </a:r>
            <a:r>
              <a:rPr lang="en-US" sz="1800" dirty="0">
                <a:latin typeface="Courier10 BT" pitchFamily="49" charset="0"/>
              </a:rPr>
              <a:t> </a:t>
            </a:r>
            <a:r>
              <a:rPr lang="en-US" sz="1800" dirty="0" err="1">
                <a:latin typeface="Courier10 BT" pitchFamily="49" charset="0"/>
              </a:rPr>
              <a:t>i</a:t>
            </a:r>
            <a:r>
              <a:rPr lang="en-US" sz="1800" dirty="0">
                <a:latin typeface="Courier10 BT" pitchFamily="49" charset="0"/>
              </a:rPr>
              <a:t>=100;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while (i &lt; 100)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System.out.println("Hello World!");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i++;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02165" y="2278482"/>
            <a:ext cx="5743456" cy="3482238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int i = 100;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while (i &lt; 100)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cout &lt;&lt; "Hello World!"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i++;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552034" y="2179235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1016998" y="2958944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34887405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919955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the same?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7434961" y="919954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 vs C/C++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004122" y="1540084"/>
            <a:ext cx="2647347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For-Each Loop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056170" y="3107334"/>
            <a:ext cx="5985768" cy="3450402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int[] myNumbers = {3, 9, 5, -5};	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for (int i: myNumbers)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System.out.println(i);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29024" y="2319122"/>
            <a:ext cx="5743456" cy="3450402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	int myNumbers[4] = { 3, 9, 5, -5 };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	for (int i : myNumbers)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		cout &lt;&lt; i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	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475837" y="2219345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0948826" y="2999041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3083088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24" y="919953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What is the same?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13646" y="6324601"/>
            <a:ext cx="2844800" cy="365125"/>
          </a:xfrm>
        </p:spPr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37</a:t>
            </a:fld>
            <a:endParaRPr lang="en-US" dirty="0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8744971" y="915717"/>
            <a:ext cx="336574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Java vs C/C++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5115882" y="950295"/>
            <a:ext cx="2647347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800" dirty="0"/>
              <a:t>Switch-Case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039985" y="2393723"/>
            <a:ext cx="5985768" cy="4160825"/>
          </a:xfr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public class Test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public static void main(String[] args)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int num = 5;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switch (num)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case 0: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System.out.println("It is 0");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break;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case 1: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System.out.println("It is 1");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break;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default: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  System.out.println("It is " + num);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29024" y="1540015"/>
            <a:ext cx="5865376" cy="4814927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using namespace std;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int main(int argc, char* argv[]){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int num = 5;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switch (num) {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case 0: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cout &lt;&lt; "It is 0"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break;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case 1: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cout &lt;&lt; "It is 1"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break;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default: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  cout &lt;&lt; "It is " &lt;&lt; num &lt;&lt; endl;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800" dirty="0">
                <a:latin typeface="Courier10 BT" pitchFamily="49" charset="0"/>
              </a:rPr>
              <a:t>}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608186" y="1441286"/>
            <a:ext cx="1600220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C/C++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0932784" y="2289188"/>
            <a:ext cx="1359489" cy="589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14353150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608" y="919955"/>
            <a:ext cx="4258571" cy="589721"/>
          </a:xfrm>
        </p:spPr>
        <p:txBody>
          <a:bodyPr>
            <a:normAutofit/>
          </a:bodyPr>
          <a:lstStyle/>
          <a:p>
            <a:r>
              <a:rPr lang="en-US" dirty="0"/>
              <a:t>But!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608" y="1796432"/>
            <a:ext cx="49709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Understanding the language is only </a:t>
            </a:r>
            <a:br>
              <a:rPr lang="en-US" dirty="0"/>
            </a:br>
            <a:r>
              <a:rPr lang="en-US" dirty="0"/>
              <a:t>half of the problem!</a:t>
            </a:r>
          </a:p>
          <a:p>
            <a:endParaRPr lang="en-US" dirty="0"/>
          </a:p>
          <a:p>
            <a:r>
              <a:rPr lang="en-US" b="1" dirty="0"/>
              <a:t>Knowing the whole API is another 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String &amp; </a:t>
            </a:r>
            <a:r>
              <a:rPr lang="en-US" dirty="0" err="1"/>
              <a:t>StringBuffer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I/O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I/O in general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Collection classes (ADT)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JDBC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AWT/Swing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Javadoc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61473" y="1184732"/>
            <a:ext cx="560319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“External/additional” API’s: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JUnit/</a:t>
            </a:r>
            <a:r>
              <a:rPr lang="en-US" dirty="0" err="1"/>
              <a:t>Mockito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Log4J/SLF4j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JSON Parsing (Jackson and </a:t>
            </a:r>
            <a:r>
              <a:rPr lang="en-US" dirty="0" err="1"/>
              <a:t>Gson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General-Purpose Libraries </a:t>
            </a:r>
            <a:br>
              <a:rPr lang="en-US" dirty="0"/>
            </a:br>
            <a:r>
              <a:rPr lang="en-US" dirty="0"/>
              <a:t>(Apache Commons and Guava)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HTTP Libraries (</a:t>
            </a:r>
            <a:r>
              <a:rPr lang="en-US" dirty="0" err="1"/>
              <a:t>HttpClient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XML Parsing Libraries (</a:t>
            </a:r>
            <a:r>
              <a:rPr lang="en-US" dirty="0" err="1"/>
              <a:t>Xerces</a:t>
            </a:r>
            <a:r>
              <a:rPr lang="en-US" dirty="0"/>
              <a:t> and JAXB)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Excel Reading Libraries (Apache POI)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Bytecode Libraries (</a:t>
            </a:r>
            <a:r>
              <a:rPr lang="en-US" dirty="0" err="1"/>
              <a:t>Javassist</a:t>
            </a:r>
            <a:r>
              <a:rPr lang="en-US" dirty="0"/>
              <a:t> and </a:t>
            </a:r>
            <a:r>
              <a:rPr lang="en-US" dirty="0" err="1"/>
              <a:t>CgLib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Messaging Libraries (JMS and MQ)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PDF Libraries (</a:t>
            </a:r>
            <a:r>
              <a:rPr lang="en-US" dirty="0" err="1"/>
              <a:t>iText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Date and Time Libraries (</a:t>
            </a:r>
            <a:r>
              <a:rPr lang="en-US" dirty="0" err="1"/>
              <a:t>Joda</a:t>
            </a:r>
            <a:r>
              <a:rPr lang="en-US" dirty="0"/>
              <a:t> 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Collection Libraries (Eclipse Collections)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Email APIs (Java Mail API)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etc.</a:t>
            </a:r>
          </a:p>
          <a:p>
            <a:endParaRPr lang="fr-FR" dirty="0"/>
          </a:p>
          <a:p>
            <a:r>
              <a:rPr lang="fr-FR" sz="1100" dirty="0"/>
              <a:t>Source: https://medium.com/javarevisited/20-essential-java-libraries-and-apis-every-programmer-should-learn-5ccd41812fc7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109936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388107222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2529</TotalTime>
  <Words>2413</Words>
  <Application>Microsoft Office PowerPoint</Application>
  <PresentationFormat>Widescreen</PresentationFormat>
  <Paragraphs>494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Arial Narrow</vt:lpstr>
      <vt:lpstr>Calibri</vt:lpstr>
      <vt:lpstr>Courier10 BT</vt:lpstr>
      <vt:lpstr>Garamond</vt:lpstr>
      <vt:lpstr>SCUTemplate</vt:lpstr>
      <vt:lpstr>Custom Design</vt:lpstr>
      <vt:lpstr>COEN160</vt:lpstr>
      <vt:lpstr>Java Introduction &amp; Refresher</vt:lpstr>
      <vt:lpstr>PowerPoint Presentation</vt:lpstr>
      <vt:lpstr>PowerPoint Presentation</vt:lpstr>
      <vt:lpstr>PowerPoint Presentation</vt:lpstr>
      <vt:lpstr>Java History</vt:lpstr>
      <vt:lpstr>Principles for creating Java programs:</vt:lpstr>
      <vt:lpstr>Components of Java Architecture</vt:lpstr>
      <vt:lpstr>Java Architecture</vt:lpstr>
      <vt:lpstr>The Java Virtual Machine (JVM)</vt:lpstr>
      <vt:lpstr>The Java Virtual Machine (JVM)</vt:lpstr>
      <vt:lpstr>The Java Programming Language</vt:lpstr>
      <vt:lpstr>Class:</vt:lpstr>
      <vt:lpstr>Methods:</vt:lpstr>
      <vt:lpstr>Statements</vt:lpstr>
      <vt:lpstr>Comments</vt:lpstr>
      <vt:lpstr>The Java Programming Language</vt:lpstr>
      <vt:lpstr>The Java Programming Language</vt:lpstr>
      <vt:lpstr>Java Hello World</vt:lpstr>
      <vt:lpstr>Compiling and Running a Java Program</vt:lpstr>
      <vt:lpstr>Standard Java: HelloWorld</vt:lpstr>
      <vt:lpstr>IntelliJ</vt:lpstr>
      <vt:lpstr>Java Swing: HelloWorld</vt:lpstr>
      <vt:lpstr>Output of the HelloWorld Program</vt:lpstr>
      <vt:lpstr>The Good, the Bad and the Ugly Differences and similarities Java vs C/C++</vt:lpstr>
      <vt:lpstr>Java advantages over C++</vt:lpstr>
      <vt:lpstr>Java advantages over C++</vt:lpstr>
      <vt:lpstr>C++ advantages over Java</vt:lpstr>
      <vt:lpstr>What is different?</vt:lpstr>
      <vt:lpstr>What is different?</vt:lpstr>
      <vt:lpstr>What is different?</vt:lpstr>
      <vt:lpstr>What is different?</vt:lpstr>
      <vt:lpstr>What is different?</vt:lpstr>
      <vt:lpstr>What is the same?</vt:lpstr>
      <vt:lpstr>What is the same?</vt:lpstr>
      <vt:lpstr>What is the same?</vt:lpstr>
      <vt:lpstr>What is the same?</vt:lpstr>
      <vt:lpstr>But!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142</cp:revision>
  <cp:lastPrinted>2023-09-11T21:46:56Z</cp:lastPrinted>
  <dcterms:created xsi:type="dcterms:W3CDTF">2023-09-09T19:51:41Z</dcterms:created>
  <dcterms:modified xsi:type="dcterms:W3CDTF">2026-09-20T01:05:14Z</dcterms:modified>
</cp:coreProperties>
</file>