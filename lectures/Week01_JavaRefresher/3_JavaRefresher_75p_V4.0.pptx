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4.xml" ContentType="application/vnd.openxmlformats-officedocument.theme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theme/theme5.xml" ContentType="application/vnd.openxmlformats-officedocument.theme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  <p:sldMasterId id="2147483687" r:id="rId3"/>
    <p:sldMasterId id="2147483709" r:id="rId4"/>
    <p:sldMasterId id="2147483731" r:id="rId5"/>
    <p:sldMasterId id="2147483750" r:id="rId6"/>
  </p:sldMasterIdLst>
  <p:notesMasterIdLst>
    <p:notesMasterId r:id="rId82"/>
  </p:notesMasterIdLst>
  <p:handoutMasterIdLst>
    <p:handoutMasterId r:id="rId83"/>
  </p:handoutMasterIdLst>
  <p:sldIdLst>
    <p:sldId id="333" r:id="rId7"/>
    <p:sldId id="421" r:id="rId8"/>
    <p:sldId id="422" r:id="rId9"/>
    <p:sldId id="490" r:id="rId10"/>
    <p:sldId id="480" r:id="rId11"/>
    <p:sldId id="481" r:id="rId12"/>
    <p:sldId id="461" r:id="rId13"/>
    <p:sldId id="459" r:id="rId14"/>
    <p:sldId id="460" r:id="rId15"/>
    <p:sldId id="458" r:id="rId16"/>
    <p:sldId id="465" r:id="rId17"/>
    <p:sldId id="463" r:id="rId18"/>
    <p:sldId id="464" r:id="rId19"/>
    <p:sldId id="505" r:id="rId20"/>
    <p:sldId id="484" r:id="rId21"/>
    <p:sldId id="482" r:id="rId22"/>
    <p:sldId id="483" r:id="rId23"/>
    <p:sldId id="390" r:id="rId24"/>
    <p:sldId id="391" r:id="rId25"/>
    <p:sldId id="392" r:id="rId26"/>
    <p:sldId id="393" r:id="rId27"/>
    <p:sldId id="394" r:id="rId28"/>
    <p:sldId id="395" r:id="rId29"/>
    <p:sldId id="396" r:id="rId30"/>
    <p:sldId id="397" r:id="rId31"/>
    <p:sldId id="398" r:id="rId32"/>
    <p:sldId id="399" r:id="rId33"/>
    <p:sldId id="400" r:id="rId34"/>
    <p:sldId id="401" r:id="rId35"/>
    <p:sldId id="402" r:id="rId36"/>
    <p:sldId id="403" r:id="rId37"/>
    <p:sldId id="404" r:id="rId38"/>
    <p:sldId id="405" r:id="rId39"/>
    <p:sldId id="406" r:id="rId40"/>
    <p:sldId id="407" r:id="rId41"/>
    <p:sldId id="408" r:id="rId42"/>
    <p:sldId id="409" r:id="rId43"/>
    <p:sldId id="410" r:id="rId44"/>
    <p:sldId id="411" r:id="rId45"/>
    <p:sldId id="412" r:id="rId46"/>
    <p:sldId id="413" r:id="rId47"/>
    <p:sldId id="414" r:id="rId48"/>
    <p:sldId id="415" r:id="rId49"/>
    <p:sldId id="416" r:id="rId50"/>
    <p:sldId id="417" r:id="rId51"/>
    <p:sldId id="418" r:id="rId52"/>
    <p:sldId id="373" r:id="rId53"/>
    <p:sldId id="374" r:id="rId54"/>
    <p:sldId id="375" r:id="rId55"/>
    <p:sldId id="376" r:id="rId56"/>
    <p:sldId id="377" r:id="rId57"/>
    <p:sldId id="378" r:id="rId58"/>
    <p:sldId id="379" r:id="rId59"/>
    <p:sldId id="380" r:id="rId60"/>
    <p:sldId id="381" r:id="rId61"/>
    <p:sldId id="382" r:id="rId62"/>
    <p:sldId id="383" r:id="rId63"/>
    <p:sldId id="384" r:id="rId64"/>
    <p:sldId id="385" r:id="rId65"/>
    <p:sldId id="387" r:id="rId66"/>
    <p:sldId id="386" r:id="rId67"/>
    <p:sldId id="388" r:id="rId68"/>
    <p:sldId id="389" r:id="rId69"/>
    <p:sldId id="494" r:id="rId70"/>
    <p:sldId id="495" r:id="rId71"/>
    <p:sldId id="496" r:id="rId72"/>
    <p:sldId id="497" r:id="rId73"/>
    <p:sldId id="498" r:id="rId74"/>
    <p:sldId id="499" r:id="rId75"/>
    <p:sldId id="500" r:id="rId76"/>
    <p:sldId id="501" r:id="rId77"/>
    <p:sldId id="502" r:id="rId78"/>
    <p:sldId id="503" r:id="rId79"/>
    <p:sldId id="504" r:id="rId80"/>
    <p:sldId id="362" r:id="rId81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196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216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63" Type="http://schemas.openxmlformats.org/officeDocument/2006/relationships/slide" Target="slides/slide57.xml"/><Relationship Id="rId68" Type="http://schemas.openxmlformats.org/officeDocument/2006/relationships/slide" Target="slides/slide62.xml"/><Relationship Id="rId84" Type="http://schemas.openxmlformats.org/officeDocument/2006/relationships/presProps" Target="presProps.xml"/><Relationship Id="rId16" Type="http://schemas.openxmlformats.org/officeDocument/2006/relationships/slide" Target="slides/slide10.xml"/><Relationship Id="rId11" Type="http://schemas.openxmlformats.org/officeDocument/2006/relationships/slide" Target="slides/slide5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74" Type="http://schemas.openxmlformats.org/officeDocument/2006/relationships/slide" Target="slides/slide68.xml"/><Relationship Id="rId79" Type="http://schemas.openxmlformats.org/officeDocument/2006/relationships/slide" Target="slides/slide73.xml"/><Relationship Id="rId5" Type="http://schemas.openxmlformats.org/officeDocument/2006/relationships/slideMaster" Target="slideMasters/slideMaster5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slide" Target="slides/slide50.xml"/><Relationship Id="rId64" Type="http://schemas.openxmlformats.org/officeDocument/2006/relationships/slide" Target="slides/slide58.xml"/><Relationship Id="rId69" Type="http://schemas.openxmlformats.org/officeDocument/2006/relationships/slide" Target="slides/slide63.xml"/><Relationship Id="rId77" Type="http://schemas.openxmlformats.org/officeDocument/2006/relationships/slide" Target="slides/slide71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72" Type="http://schemas.openxmlformats.org/officeDocument/2006/relationships/slide" Target="slides/slide66.xml"/><Relationship Id="rId80" Type="http://schemas.openxmlformats.org/officeDocument/2006/relationships/slide" Target="slides/slide74.xml"/><Relationship Id="rId85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slide" Target="slides/slide53.xml"/><Relationship Id="rId67" Type="http://schemas.openxmlformats.org/officeDocument/2006/relationships/slide" Target="slides/slide6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slide" Target="slides/slide56.xml"/><Relationship Id="rId70" Type="http://schemas.openxmlformats.org/officeDocument/2006/relationships/slide" Target="slides/slide64.xml"/><Relationship Id="rId75" Type="http://schemas.openxmlformats.org/officeDocument/2006/relationships/slide" Target="slides/slide69.xml"/><Relationship Id="rId83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slide" Target="slides/slide54.xml"/><Relationship Id="rId65" Type="http://schemas.openxmlformats.org/officeDocument/2006/relationships/slide" Target="slides/slide59.xml"/><Relationship Id="rId73" Type="http://schemas.openxmlformats.org/officeDocument/2006/relationships/slide" Target="slides/slide67.xml"/><Relationship Id="rId78" Type="http://schemas.openxmlformats.org/officeDocument/2006/relationships/slide" Target="slides/slide72.xml"/><Relationship Id="rId81" Type="http://schemas.openxmlformats.org/officeDocument/2006/relationships/slide" Target="slides/slide75.xml"/><Relationship Id="rId86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Relationship Id="rId34" Type="http://schemas.openxmlformats.org/officeDocument/2006/relationships/slide" Target="slides/slide28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76" Type="http://schemas.openxmlformats.org/officeDocument/2006/relationships/slide" Target="slides/slide70.xml"/><Relationship Id="rId7" Type="http://schemas.openxmlformats.org/officeDocument/2006/relationships/slide" Target="slides/slide1.xml"/><Relationship Id="rId71" Type="http://schemas.openxmlformats.org/officeDocument/2006/relationships/slide" Target="slides/slide65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3.xml"/><Relationship Id="rId24" Type="http://schemas.openxmlformats.org/officeDocument/2006/relationships/slide" Target="slides/slide18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66" Type="http://schemas.openxmlformats.org/officeDocument/2006/relationships/slide" Target="slides/slide60.xml"/><Relationship Id="rId87" Type="http://schemas.openxmlformats.org/officeDocument/2006/relationships/tableStyles" Target="tableStyles.xml"/><Relationship Id="rId61" Type="http://schemas.openxmlformats.org/officeDocument/2006/relationships/slide" Target="slides/slide55.xml"/><Relationship Id="rId82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8E938536-29D3-49BD-A567-41CAF057586A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B2E2B272-7A3A-4005-B1B0-0F9070B87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7907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1559A16-B3AD-4CE2-9A5E-FAAD3C2C27CA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8C6438F-747C-40FA-8F40-021E653C0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01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Strings are immutable for thread safety (behavior</a:t>
            </a:r>
            <a:r>
              <a:rPr lang="en-US" baseline="0" dirty="0"/>
              <a:t> is similar to primitives).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B40DD5-BF2C-40BA-AB25-7FD1CB61821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34313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B40DD5-BF2C-40BA-AB25-7FD1CB61821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79878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Don’t use String</a:t>
            </a:r>
            <a:r>
              <a:rPr lang="en-US" baseline="0" dirty="0"/>
              <a:t> constructor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B40DD5-BF2C-40BA-AB25-7FD1CB61821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7272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669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811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698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417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494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000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40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107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721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03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048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178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145046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7506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4800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6008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4086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2073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80891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3828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82355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241233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75059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08741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373805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021203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026913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967321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690273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790984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13732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4972532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248712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852810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79917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667213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600">
                <a:solidFill>
                  <a:srgbClr val="002060"/>
                </a:solidFill>
              </a:defRPr>
            </a:lvl1pPr>
            <a:lvl2pPr>
              <a:defRPr sz="2400">
                <a:solidFill>
                  <a:schemeClr val="accent2">
                    <a:lumMod val="75000"/>
                  </a:schemeClr>
                </a:solidFill>
              </a:defRPr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C656F1-AD33-45CA-85C7-DC330226D9FE}" type="datetime1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8/20/2026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9600" y="6324601"/>
            <a:ext cx="28448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132347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03948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434494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84263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673674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428999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46144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057231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800591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638881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983923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444025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30087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30396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769476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9313174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652626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698161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613478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60275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867573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38589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24726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367605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76215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259205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267772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991226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601877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404309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934524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5622440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5571830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65658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600">
                <a:solidFill>
                  <a:srgbClr val="002060"/>
                </a:solidFill>
              </a:defRPr>
            </a:lvl1pPr>
            <a:lvl2pPr>
              <a:defRPr sz="2400">
                <a:solidFill>
                  <a:schemeClr val="accent2">
                    <a:lumMod val="75000"/>
                  </a:schemeClr>
                </a:solidFill>
              </a:defRPr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C656F1-AD33-45CA-85C7-DC330226D9FE}" type="datetime1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8/20/2026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9600" y="6324601"/>
            <a:ext cx="28448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6144044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F94DD4-5043-4A3A-99E2-3B90AB8E4ADF}" type="datetime1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8/20/2026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482688-28AB-45F1-92FC-1F2EF8C09099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165057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38187889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2228988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102873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9901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188545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5408137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9368811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9606600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0799250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2451165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494052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8168508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5143060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5086560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8457807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279048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600">
                <a:solidFill>
                  <a:srgbClr val="002060"/>
                </a:solidFill>
              </a:defRPr>
            </a:lvl1pPr>
            <a:lvl2pPr>
              <a:defRPr sz="2400">
                <a:solidFill>
                  <a:schemeClr val="accent2">
                    <a:lumMod val="75000"/>
                  </a:schemeClr>
                </a:solidFill>
              </a:defRPr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656F1-AD33-45CA-85C7-DC330226D9FE}" type="datetime1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9600" y="6324601"/>
            <a:ext cx="2844800" cy="365125"/>
          </a:xfrm>
        </p:spPr>
        <p:txBody>
          <a:bodyPr/>
          <a:lstStyle/>
          <a:p>
            <a:pPr algn="l"/>
            <a:fld id="{4FBCB832-F407-431A-BE08-B640AFF97906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6214764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F94DD4-5043-4A3A-99E2-3B90AB8E4ADF}" type="datetime1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482688-28AB-45F1-92FC-1F2EF8C0909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1316898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83777892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6049998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742515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4043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18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2.xml"/><Relationship Id="rId21" Type="http://schemas.openxmlformats.org/officeDocument/2006/relationships/theme" Target="../theme/theme3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35.xml"/><Relationship Id="rId20" Type="http://schemas.openxmlformats.org/officeDocument/2006/relationships/slideLayout" Target="../slideLayouts/slideLayout39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34.xml"/><Relationship Id="rId23" Type="http://schemas.openxmlformats.org/officeDocument/2006/relationships/image" Target="../media/image2.png"/><Relationship Id="rId10" Type="http://schemas.openxmlformats.org/officeDocument/2006/relationships/slideLayout" Target="../slideLayouts/slideLayout29.xml"/><Relationship Id="rId19" Type="http://schemas.openxmlformats.org/officeDocument/2006/relationships/slideLayout" Target="../slideLayouts/slideLayout38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33.xml"/><Relationship Id="rId22" Type="http://schemas.openxmlformats.org/officeDocument/2006/relationships/image" Target="../media/image1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52.xml"/><Relationship Id="rId18" Type="http://schemas.openxmlformats.org/officeDocument/2006/relationships/slideLayout" Target="../slideLayouts/slideLayout57.xml"/><Relationship Id="rId3" Type="http://schemas.openxmlformats.org/officeDocument/2006/relationships/slideLayout" Target="../slideLayouts/slideLayout42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17" Type="http://schemas.openxmlformats.org/officeDocument/2006/relationships/slideLayout" Target="../slideLayouts/slideLayout56.xml"/><Relationship Id="rId2" Type="http://schemas.openxmlformats.org/officeDocument/2006/relationships/slideLayout" Target="../slideLayouts/slideLayout41.xml"/><Relationship Id="rId16" Type="http://schemas.openxmlformats.org/officeDocument/2006/relationships/slideLayout" Target="../slideLayouts/slideLayout55.xml"/><Relationship Id="rId20" Type="http://schemas.openxmlformats.org/officeDocument/2006/relationships/theme" Target="../theme/theme4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58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53.xml"/><Relationship Id="rId22" Type="http://schemas.openxmlformats.org/officeDocument/2006/relationships/image" Target="../media/image2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6.xml"/><Relationship Id="rId13" Type="http://schemas.openxmlformats.org/officeDocument/2006/relationships/slideLayout" Target="../slideLayouts/slideLayout71.xml"/><Relationship Id="rId18" Type="http://schemas.openxmlformats.org/officeDocument/2006/relationships/slideLayout" Target="../slideLayouts/slideLayout76.xml"/><Relationship Id="rId3" Type="http://schemas.openxmlformats.org/officeDocument/2006/relationships/slideLayout" Target="../slideLayouts/slideLayout61.xml"/><Relationship Id="rId21" Type="http://schemas.openxmlformats.org/officeDocument/2006/relationships/image" Target="../media/image2.png"/><Relationship Id="rId7" Type="http://schemas.openxmlformats.org/officeDocument/2006/relationships/slideLayout" Target="../slideLayouts/slideLayout65.xml"/><Relationship Id="rId12" Type="http://schemas.openxmlformats.org/officeDocument/2006/relationships/slideLayout" Target="../slideLayouts/slideLayout70.xml"/><Relationship Id="rId17" Type="http://schemas.openxmlformats.org/officeDocument/2006/relationships/slideLayout" Target="../slideLayouts/slideLayout75.xml"/><Relationship Id="rId2" Type="http://schemas.openxmlformats.org/officeDocument/2006/relationships/slideLayout" Target="../slideLayouts/slideLayout60.xml"/><Relationship Id="rId16" Type="http://schemas.openxmlformats.org/officeDocument/2006/relationships/slideLayout" Target="../slideLayouts/slideLayout74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4.xml"/><Relationship Id="rId11" Type="http://schemas.openxmlformats.org/officeDocument/2006/relationships/slideLayout" Target="../slideLayouts/slideLayout69.xml"/><Relationship Id="rId5" Type="http://schemas.openxmlformats.org/officeDocument/2006/relationships/slideLayout" Target="../slideLayouts/slideLayout63.xml"/><Relationship Id="rId15" Type="http://schemas.openxmlformats.org/officeDocument/2006/relationships/slideLayout" Target="../slideLayouts/slideLayout73.xml"/><Relationship Id="rId10" Type="http://schemas.openxmlformats.org/officeDocument/2006/relationships/slideLayout" Target="../slideLayouts/slideLayout68.xml"/><Relationship Id="rId19" Type="http://schemas.openxmlformats.org/officeDocument/2006/relationships/theme" Target="../theme/theme5.xml"/><Relationship Id="rId4" Type="http://schemas.openxmlformats.org/officeDocument/2006/relationships/slideLayout" Target="../slideLayouts/slideLayout62.xml"/><Relationship Id="rId9" Type="http://schemas.openxmlformats.org/officeDocument/2006/relationships/slideLayout" Target="../slideLayouts/slideLayout67.xml"/><Relationship Id="rId14" Type="http://schemas.openxmlformats.org/officeDocument/2006/relationships/slideLayout" Target="../slideLayouts/slideLayout72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4.xml"/><Relationship Id="rId13" Type="http://schemas.openxmlformats.org/officeDocument/2006/relationships/slideLayout" Target="../slideLayouts/slideLayout89.xml"/><Relationship Id="rId18" Type="http://schemas.openxmlformats.org/officeDocument/2006/relationships/slideLayout" Target="../slideLayouts/slideLayout94.xml"/><Relationship Id="rId3" Type="http://schemas.openxmlformats.org/officeDocument/2006/relationships/slideLayout" Target="../slideLayouts/slideLayout79.xml"/><Relationship Id="rId21" Type="http://schemas.openxmlformats.org/officeDocument/2006/relationships/image" Target="../media/image2.png"/><Relationship Id="rId7" Type="http://schemas.openxmlformats.org/officeDocument/2006/relationships/slideLayout" Target="../slideLayouts/slideLayout83.xml"/><Relationship Id="rId12" Type="http://schemas.openxmlformats.org/officeDocument/2006/relationships/slideLayout" Target="../slideLayouts/slideLayout88.xml"/><Relationship Id="rId17" Type="http://schemas.openxmlformats.org/officeDocument/2006/relationships/slideLayout" Target="../slideLayouts/slideLayout93.xml"/><Relationship Id="rId2" Type="http://schemas.openxmlformats.org/officeDocument/2006/relationships/slideLayout" Target="../slideLayouts/slideLayout78.xml"/><Relationship Id="rId16" Type="http://schemas.openxmlformats.org/officeDocument/2006/relationships/slideLayout" Target="../slideLayouts/slideLayout92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77.xml"/><Relationship Id="rId6" Type="http://schemas.openxmlformats.org/officeDocument/2006/relationships/slideLayout" Target="../slideLayouts/slideLayout82.xml"/><Relationship Id="rId11" Type="http://schemas.openxmlformats.org/officeDocument/2006/relationships/slideLayout" Target="../slideLayouts/slideLayout87.xml"/><Relationship Id="rId5" Type="http://schemas.openxmlformats.org/officeDocument/2006/relationships/slideLayout" Target="../slideLayouts/slideLayout81.xml"/><Relationship Id="rId15" Type="http://schemas.openxmlformats.org/officeDocument/2006/relationships/slideLayout" Target="../slideLayouts/slideLayout91.xml"/><Relationship Id="rId10" Type="http://schemas.openxmlformats.org/officeDocument/2006/relationships/slideLayout" Target="../slideLayouts/slideLayout86.xml"/><Relationship Id="rId19" Type="http://schemas.openxmlformats.org/officeDocument/2006/relationships/theme" Target="../theme/theme6.xml"/><Relationship Id="rId4" Type="http://schemas.openxmlformats.org/officeDocument/2006/relationships/slideLayout" Target="../slideLayouts/slideLayout80.xml"/><Relationship Id="rId9" Type="http://schemas.openxmlformats.org/officeDocument/2006/relationships/slideLayout" Target="../slideLayouts/slideLayout85.xml"/><Relationship Id="rId14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924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82" r:id="rId13"/>
    <p:sldLayoutId id="2147483683" r:id="rId14"/>
    <p:sldLayoutId id="2147483685" r:id="rId15"/>
    <p:sldLayoutId id="2147483686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307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EF7EA9-7F89-AB44-B414-A35A39B88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0015"/>
            <a:ext cx="10515600" cy="642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D578A8-B26A-4945-96B6-DF5E5BC7D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697162"/>
            <a:ext cx="10515600" cy="3246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 err="1"/>
              <a:t>Secod</a:t>
            </a:r>
            <a:r>
              <a:rPr lang="en-US" dirty="0"/>
              <a:t>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94CFB0A-34C6-5D42-83C5-6E58C3499080}"/>
              </a:ext>
            </a:extLst>
          </p:cNvPr>
          <p:cNvCxnSpPr>
            <a:cxnSpLocks/>
          </p:cNvCxnSpPr>
          <p:nvPr/>
        </p:nvCxnSpPr>
        <p:spPr>
          <a:xfrm>
            <a:off x="956394" y="730089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306B758-975E-984A-8DF2-F551E50A3FBA}"/>
              </a:ext>
            </a:extLst>
          </p:cNvPr>
          <p:cNvCxnSpPr>
            <a:cxnSpLocks/>
          </p:cNvCxnSpPr>
          <p:nvPr/>
        </p:nvCxnSpPr>
        <p:spPr>
          <a:xfrm>
            <a:off x="956394" y="388502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4BCBDF38-9EC5-8347-AE99-4FA5381A78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0924" y="472981"/>
            <a:ext cx="3880944" cy="17262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A5D1952-D4DE-0B48-9AEC-F81A6CB6ED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474" y="157274"/>
            <a:ext cx="804042" cy="804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626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3380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  <p:sldLayoutId id="2147483704" r:id="rId17"/>
    <p:sldLayoutId id="2147483705" r:id="rId18"/>
    <p:sldLayoutId id="2147483707" r:id="rId19"/>
    <p:sldLayoutId id="2147483708" r:id="rId2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1183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  <p:sldLayoutId id="2147483721" r:id="rId12"/>
    <p:sldLayoutId id="2147483722" r:id="rId13"/>
    <p:sldLayoutId id="2147483723" r:id="rId14"/>
    <p:sldLayoutId id="2147483724" r:id="rId15"/>
    <p:sldLayoutId id="2147483725" r:id="rId16"/>
    <p:sldLayoutId id="2147483726" r:id="rId17"/>
    <p:sldLayoutId id="2147483729" r:id="rId18"/>
    <p:sldLayoutId id="2147483730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0452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  <p:sldLayoutId id="2147483745" r:id="rId14"/>
    <p:sldLayoutId id="2147483746" r:id="rId15"/>
    <p:sldLayoutId id="2147483747" r:id="rId16"/>
    <p:sldLayoutId id="2147483748" r:id="rId17"/>
    <p:sldLayoutId id="2147483749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560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  <p:sldLayoutId id="214748376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8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8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7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9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9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9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9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9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9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9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9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9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317890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Fall 2026</a:t>
            </a:r>
          </a:p>
          <a:p>
            <a:r>
              <a:rPr lang="en-US" dirty="0">
                <a:solidFill>
                  <a:schemeClr val="tx1"/>
                </a:solidFill>
              </a:rPr>
              <a:t>Object-Oriented Analysis, Design and Programming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Michael Schimpf, PhD</a:t>
            </a:r>
          </a:p>
          <a:p>
            <a:r>
              <a:rPr lang="en-US" dirty="0">
                <a:solidFill>
                  <a:schemeClr val="tx1"/>
                </a:solidFill>
              </a:rPr>
              <a:t>Department of Computer Science and Engineering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818BAB-0338-734A-B1E8-2463F3B29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COEN160</a:t>
            </a:r>
          </a:p>
        </p:txBody>
      </p:sp>
    </p:spTree>
    <p:extLst>
      <p:ext uri="{BB962C8B-B14F-4D97-AF65-F5344CB8AC3E}">
        <p14:creationId xmlns:p14="http://schemas.microsoft.com/office/powerpoint/2010/main" val="4052080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855D3-876C-C343-BD87-E7730E1CF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Input</a:t>
            </a:r>
          </a:p>
        </p:txBody>
      </p:sp>
    </p:spTree>
    <p:extLst>
      <p:ext uri="{BB962C8B-B14F-4D97-AF65-F5344CB8AC3E}">
        <p14:creationId xmlns:p14="http://schemas.microsoft.com/office/powerpoint/2010/main" val="1811065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8424" y="873837"/>
            <a:ext cx="4218111" cy="512846"/>
          </a:xfrm>
        </p:spPr>
        <p:txBody>
          <a:bodyPr>
            <a:normAutofit fontScale="90000"/>
          </a:bodyPr>
          <a:lstStyle/>
          <a:p>
            <a:r>
              <a:rPr lang="en-US" dirty="0"/>
              <a:t>Java Input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37508" y="1342542"/>
            <a:ext cx="4626761" cy="5127039"/>
          </a:xfrm>
          <a:solidFill>
            <a:srgbClr val="FFFFCC"/>
          </a:solidFill>
          <a:ln>
            <a:solidFill>
              <a:schemeClr val="tx1"/>
            </a:solidFill>
          </a:ln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dirty="0"/>
              <a:t>import java.util.Scanner;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public class JavaInput1 {</a:t>
            </a:r>
          </a:p>
          <a:p>
            <a:pPr>
              <a:buNone/>
            </a:pPr>
            <a:r>
              <a:rPr lang="en-US" dirty="0"/>
              <a:t>  public static void main(String[] args) {</a:t>
            </a:r>
          </a:p>
          <a:p>
            <a:pPr>
              <a:buNone/>
            </a:pPr>
            <a:r>
              <a:rPr lang="en-US" dirty="0"/>
              <a:t>    // Create a Scanner object</a:t>
            </a:r>
          </a:p>
          <a:p>
            <a:pPr>
              <a:buNone/>
            </a:pPr>
            <a:r>
              <a:rPr lang="en-US" dirty="0"/>
              <a:t>    Scanner </a:t>
            </a:r>
            <a:r>
              <a:rPr lang="en-US" b="1" dirty="0"/>
              <a:t>myObj</a:t>
            </a:r>
            <a:r>
              <a:rPr lang="en-US" dirty="0"/>
              <a:t> = new Scanner(System.in); </a:t>
            </a:r>
          </a:p>
          <a:p>
            <a:pPr>
              <a:buNone/>
            </a:pPr>
            <a:r>
              <a:rPr lang="en-US" dirty="0"/>
              <a:t>    System.out.println("Enter username: ");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    String userName = </a:t>
            </a:r>
            <a:r>
              <a:rPr lang="en-US" b="1" dirty="0"/>
              <a:t>myObj</a:t>
            </a:r>
            <a:r>
              <a:rPr lang="en-US" dirty="0"/>
              <a:t>.nextLine(); </a:t>
            </a:r>
          </a:p>
          <a:p>
            <a:pPr>
              <a:buNone/>
            </a:pPr>
            <a:r>
              <a:rPr lang="en-US" dirty="0"/>
              <a:t>    </a:t>
            </a:r>
          </a:p>
          <a:p>
            <a:pPr>
              <a:buNone/>
            </a:pPr>
            <a:r>
              <a:rPr lang="en-US" dirty="0"/>
              <a:t>    System.out.println("Enter id: ");</a:t>
            </a:r>
          </a:p>
          <a:p>
            <a:pPr>
              <a:buNone/>
            </a:pPr>
            <a:r>
              <a:rPr lang="en-US" dirty="0"/>
              <a:t>    </a:t>
            </a:r>
            <a:r>
              <a:rPr lang="en-US" dirty="0" err="1"/>
              <a:t>int</a:t>
            </a:r>
            <a:r>
              <a:rPr lang="en-US" dirty="0"/>
              <a:t> id = </a:t>
            </a:r>
            <a:r>
              <a:rPr lang="en-US" b="1" dirty="0"/>
              <a:t>myObj</a:t>
            </a:r>
            <a:r>
              <a:rPr lang="en-US" dirty="0"/>
              <a:t>.nextInt();</a:t>
            </a:r>
          </a:p>
          <a:p>
            <a:pPr>
              <a:buNone/>
            </a:pPr>
            <a:r>
              <a:rPr lang="en-US" dirty="0"/>
              <a:t>    </a:t>
            </a:r>
            <a:r>
              <a:rPr lang="en-US" dirty="0" err="1"/>
              <a:t>System.out.println</a:t>
            </a:r>
            <a:r>
              <a:rPr lang="en-US" dirty="0"/>
              <a:t>("Username is: " + </a:t>
            </a:r>
            <a:r>
              <a:rPr lang="en-US" dirty="0" err="1"/>
              <a:t>userName</a:t>
            </a:r>
            <a:r>
              <a:rPr lang="en-US" dirty="0"/>
              <a:t>);</a:t>
            </a:r>
          </a:p>
          <a:p>
            <a:pPr>
              <a:buNone/>
            </a:pPr>
            <a:r>
              <a:rPr lang="en-US" dirty="0"/>
              <a:t>    </a:t>
            </a:r>
            <a:r>
              <a:rPr lang="en-US" dirty="0" err="1"/>
              <a:t>System.out.println</a:t>
            </a:r>
            <a:r>
              <a:rPr lang="en-US" dirty="0"/>
              <a:t>("Username id: " + id);</a:t>
            </a:r>
          </a:p>
          <a:p>
            <a:pPr>
              <a:buNone/>
            </a:pPr>
            <a:r>
              <a:rPr lang="en-US" dirty="0"/>
              <a:t>  }</a:t>
            </a:r>
          </a:p>
          <a:p>
            <a:pPr>
              <a:buNone/>
            </a:pPr>
            <a:r>
              <a:rPr lang="en-US" dirty="0"/>
              <a:t>}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557327" y="902262"/>
            <a:ext cx="3121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Important later for some labs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8229" y="2632924"/>
            <a:ext cx="2582297" cy="238740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1606686"/>
            <a:ext cx="3179075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Interesting: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Delimiter is ‘ ‘ (space)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nextLine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() reads a 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whole line (delimiter is ‘\n’)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Error: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Reading characters as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Throws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an: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InputMismatchException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2875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8424" y="873837"/>
            <a:ext cx="4218111" cy="512846"/>
          </a:xfrm>
        </p:spPr>
        <p:txBody>
          <a:bodyPr>
            <a:normAutofit fontScale="90000"/>
          </a:bodyPr>
          <a:lstStyle/>
          <a:p>
            <a:r>
              <a:rPr lang="en-US" dirty="0"/>
              <a:t>Java Input </a:t>
            </a:r>
            <a:r>
              <a:rPr lang="en-US" sz="2000" dirty="0"/>
              <a:t>(with exception)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5295" y="1476061"/>
            <a:ext cx="6742829" cy="5127039"/>
          </a:xfrm>
          <a:solidFill>
            <a:srgbClr val="FFFFCC"/>
          </a:solidFill>
          <a:ln>
            <a:solidFill>
              <a:schemeClr val="tx1"/>
            </a:solidFill>
          </a:ln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dirty="0"/>
              <a:t>import </a:t>
            </a:r>
            <a:r>
              <a:rPr lang="en-US" dirty="0" err="1"/>
              <a:t>java.util.Scanner</a:t>
            </a:r>
            <a:r>
              <a:rPr lang="en-US" dirty="0"/>
              <a:t>;</a:t>
            </a:r>
          </a:p>
          <a:p>
            <a:pPr>
              <a:buNone/>
            </a:pPr>
            <a:r>
              <a:rPr lang="en-US" dirty="0"/>
              <a:t>public class JavaInput2 {</a:t>
            </a:r>
          </a:p>
          <a:p>
            <a:pPr>
              <a:buNone/>
            </a:pPr>
            <a:r>
              <a:rPr lang="en-US" dirty="0"/>
              <a:t>  public static void main(String[] args) {</a:t>
            </a:r>
          </a:p>
          <a:p>
            <a:pPr>
              <a:buNone/>
            </a:pPr>
            <a:r>
              <a:rPr lang="en-US" dirty="0"/>
              <a:t>    // Create a Scanner object</a:t>
            </a:r>
          </a:p>
          <a:p>
            <a:pPr>
              <a:buNone/>
            </a:pPr>
            <a:r>
              <a:rPr lang="en-US" dirty="0"/>
              <a:t>    Scanner </a:t>
            </a:r>
            <a:r>
              <a:rPr lang="en-US" dirty="0" err="1"/>
              <a:t>myObj</a:t>
            </a:r>
            <a:r>
              <a:rPr lang="en-US" dirty="0"/>
              <a:t> = new Scanner(System.in);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    </a:t>
            </a:r>
            <a:r>
              <a:rPr lang="en-US" dirty="0" err="1"/>
              <a:t>System.out.println</a:t>
            </a:r>
            <a:r>
              <a:rPr lang="en-US" dirty="0"/>
              <a:t>("Enter id: ");</a:t>
            </a:r>
          </a:p>
          <a:p>
            <a:pPr>
              <a:buNone/>
            </a:pPr>
            <a:r>
              <a:rPr lang="en-US" dirty="0"/>
              <a:t>    </a:t>
            </a:r>
            <a:r>
              <a:rPr lang="en-US" dirty="0" err="1"/>
              <a:t>int</a:t>
            </a:r>
            <a:r>
              <a:rPr lang="en-US" dirty="0"/>
              <a:t> id = -1;	</a:t>
            </a:r>
          </a:p>
          <a:p>
            <a:pPr>
              <a:buNone/>
            </a:pPr>
            <a:r>
              <a:rPr lang="en-US" dirty="0"/>
              <a:t>    </a:t>
            </a:r>
            <a:r>
              <a:rPr lang="en-US" dirty="0">
                <a:solidFill>
                  <a:srgbClr val="FF0000"/>
                </a:solidFill>
              </a:rPr>
              <a:t>try {</a:t>
            </a:r>
          </a:p>
          <a:p>
            <a:pPr>
              <a:buNone/>
            </a:pPr>
            <a:r>
              <a:rPr lang="en-US" dirty="0"/>
              <a:t>      id = </a:t>
            </a:r>
            <a:r>
              <a:rPr lang="en-US" dirty="0" err="1"/>
              <a:t>myObj.nextInt</a:t>
            </a:r>
            <a:r>
              <a:rPr lang="en-US" dirty="0"/>
              <a:t>();</a:t>
            </a:r>
          </a:p>
          <a:p>
            <a:pPr>
              <a:buNone/>
            </a:pPr>
            <a:r>
              <a:rPr lang="en-US" dirty="0"/>
              <a:t>    </a:t>
            </a:r>
            <a:r>
              <a:rPr lang="en-US" dirty="0">
                <a:solidFill>
                  <a:srgbClr val="FF0000"/>
                </a:solidFill>
              </a:rPr>
              <a:t>} catch (</a:t>
            </a:r>
            <a:r>
              <a:rPr lang="en-US" dirty="0" err="1">
                <a:solidFill>
                  <a:srgbClr val="FF0000"/>
                </a:solidFill>
              </a:rPr>
              <a:t>InputMismatchException</a:t>
            </a:r>
            <a:r>
              <a:rPr lang="en-US" dirty="0">
                <a:solidFill>
                  <a:srgbClr val="FF0000"/>
                </a:solidFill>
              </a:rPr>
              <a:t> ex) {</a:t>
            </a:r>
          </a:p>
          <a:p>
            <a:pPr>
              <a:buNone/>
            </a:pPr>
            <a:r>
              <a:rPr lang="en-US" dirty="0"/>
              <a:t>      </a:t>
            </a:r>
            <a:r>
              <a:rPr lang="en-US" dirty="0" err="1"/>
              <a:t>System.out.println</a:t>
            </a:r>
            <a:r>
              <a:rPr lang="en-US" dirty="0"/>
              <a:t>("Error enter only numbers: "+</a:t>
            </a:r>
            <a:r>
              <a:rPr lang="en-US" dirty="0" err="1"/>
              <a:t>ex.toString</a:t>
            </a:r>
            <a:r>
              <a:rPr lang="en-US" dirty="0"/>
              <a:t>());</a:t>
            </a:r>
          </a:p>
          <a:p>
            <a:pPr>
              <a:buNone/>
            </a:pPr>
            <a:r>
              <a:rPr lang="en-US" dirty="0"/>
              <a:t>   </a:t>
            </a:r>
            <a:r>
              <a:rPr lang="en-US" dirty="0">
                <a:solidFill>
                  <a:srgbClr val="FF0000"/>
                </a:solidFill>
              </a:rPr>
              <a:t> }</a:t>
            </a:r>
          </a:p>
          <a:p>
            <a:pPr>
              <a:buNone/>
            </a:pPr>
            <a:r>
              <a:rPr lang="en-US" dirty="0"/>
              <a:t>    </a:t>
            </a:r>
            <a:r>
              <a:rPr lang="en-US" dirty="0" err="1"/>
              <a:t>System.out.println</a:t>
            </a:r>
            <a:r>
              <a:rPr lang="en-US" dirty="0"/>
              <a:t>("id: " + id);}</a:t>
            </a:r>
          </a:p>
          <a:p>
            <a:pPr>
              <a:buNone/>
            </a:pPr>
            <a:r>
              <a:rPr lang="en-US" dirty="0"/>
              <a:t>}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7790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8425" y="873837"/>
            <a:ext cx="2215332" cy="512846"/>
          </a:xfrm>
        </p:spPr>
        <p:txBody>
          <a:bodyPr>
            <a:normAutofit fontScale="90000"/>
          </a:bodyPr>
          <a:lstStyle/>
          <a:p>
            <a:r>
              <a:rPr lang="en-US" dirty="0"/>
              <a:t>Exercise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28425" y="1598485"/>
            <a:ext cx="7148175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Write: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if then else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do while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while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for loop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try and catch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To make sure an integer is entered and not some characters/strings: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id =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myObj.nextInt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(); // throws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InputMismatchException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1682750" y="4405344"/>
            <a:ext cx="6120147" cy="1974721"/>
          </a:xfrm>
          <a:solidFill>
            <a:srgbClr val="FFFFCC"/>
          </a:solidFill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>
              <a:buNone/>
            </a:pPr>
            <a:r>
              <a:rPr lang="en-US" dirty="0" err="1"/>
              <a:t>System.out.println</a:t>
            </a:r>
            <a:r>
              <a:rPr lang="en-US" dirty="0"/>
              <a:t>("Enter id: ");</a:t>
            </a:r>
          </a:p>
          <a:p>
            <a:pPr>
              <a:buNone/>
            </a:pPr>
            <a:r>
              <a:rPr lang="en-US" dirty="0" err="1"/>
              <a:t>int</a:t>
            </a:r>
            <a:r>
              <a:rPr lang="en-US" dirty="0"/>
              <a:t> id = </a:t>
            </a:r>
            <a:r>
              <a:rPr lang="en-US" b="1" dirty="0"/>
              <a:t>myObj</a:t>
            </a:r>
            <a:r>
              <a:rPr lang="en-US" dirty="0"/>
              <a:t>.nextInt();</a:t>
            </a:r>
          </a:p>
          <a:p>
            <a:pPr>
              <a:buNone/>
            </a:pPr>
            <a:r>
              <a:rPr lang="en-US" dirty="0" err="1"/>
              <a:t>System.out.println</a:t>
            </a:r>
            <a:r>
              <a:rPr lang="en-US" dirty="0"/>
              <a:t>("Username is: " + </a:t>
            </a:r>
            <a:r>
              <a:rPr lang="en-US" dirty="0" err="1"/>
              <a:t>userName</a:t>
            </a:r>
            <a:r>
              <a:rPr lang="en-US" dirty="0"/>
              <a:t>);</a:t>
            </a:r>
          </a:p>
          <a:p>
            <a:pPr>
              <a:buNone/>
            </a:pPr>
            <a:r>
              <a:rPr lang="en-US" dirty="0" err="1"/>
              <a:t>System.out.println</a:t>
            </a:r>
            <a:r>
              <a:rPr lang="en-US" dirty="0"/>
              <a:t>("Username id: " + id);</a:t>
            </a:r>
          </a:p>
        </p:txBody>
      </p:sp>
    </p:spTree>
    <p:extLst>
      <p:ext uri="{BB962C8B-B14F-4D97-AF65-F5344CB8AC3E}">
        <p14:creationId xmlns:p14="http://schemas.microsoft.com/office/powerpoint/2010/main" val="1480084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8424" y="873837"/>
            <a:ext cx="4218111" cy="512846"/>
          </a:xfrm>
        </p:spPr>
        <p:txBody>
          <a:bodyPr>
            <a:normAutofit fontScale="90000"/>
          </a:bodyPr>
          <a:lstStyle/>
          <a:p>
            <a:r>
              <a:rPr lang="en-US" dirty="0"/>
              <a:t>Java Input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9837" y="868952"/>
            <a:ext cx="4651037" cy="5090729"/>
          </a:xfrm>
          <a:solidFill>
            <a:srgbClr val="FFFFCC"/>
          </a:solidFill>
          <a:ln>
            <a:solidFill>
              <a:schemeClr val="tx1"/>
            </a:solidFill>
          </a:ln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dirty="0" err="1"/>
              <a:t>System.out.println</a:t>
            </a:r>
            <a:r>
              <a:rPr lang="en-US" dirty="0"/>
              <a:t>("Enter id: ");</a:t>
            </a:r>
          </a:p>
          <a:p>
            <a:pPr>
              <a:buNone/>
            </a:pPr>
            <a:r>
              <a:rPr lang="en-US" dirty="0" err="1"/>
              <a:t>boolean</a:t>
            </a:r>
            <a:r>
              <a:rPr lang="en-US" dirty="0"/>
              <a:t> </a:t>
            </a:r>
            <a:r>
              <a:rPr lang="en-US" dirty="0" err="1">
                <a:solidFill>
                  <a:srgbClr val="00B0F0"/>
                </a:solidFill>
              </a:rPr>
              <a:t>idEntered</a:t>
            </a:r>
            <a:r>
              <a:rPr lang="en-US" dirty="0"/>
              <a:t>=false;</a:t>
            </a:r>
          </a:p>
          <a:p>
            <a:pPr>
              <a:buNone/>
            </a:pPr>
            <a:r>
              <a:rPr lang="en-US" dirty="0" err="1"/>
              <a:t>int</a:t>
            </a:r>
            <a:r>
              <a:rPr lang="en-US" dirty="0"/>
              <a:t> id=-1;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do {</a:t>
            </a:r>
          </a:p>
          <a:p>
            <a:pPr>
              <a:buNone/>
            </a:pPr>
            <a:r>
              <a:rPr lang="en-US" dirty="0"/>
              <a:t>  try {</a:t>
            </a:r>
          </a:p>
          <a:p>
            <a:pPr>
              <a:buNone/>
            </a:pPr>
            <a:r>
              <a:rPr lang="en-US" dirty="0"/>
              <a:t>    id = </a:t>
            </a:r>
            <a:r>
              <a:rPr lang="en-US" dirty="0" err="1"/>
              <a:t>myObj.nextInt</a:t>
            </a:r>
            <a:r>
              <a:rPr lang="en-US" dirty="0"/>
              <a:t>();</a:t>
            </a:r>
          </a:p>
          <a:p>
            <a:pPr>
              <a:buNone/>
            </a:pPr>
            <a:r>
              <a:rPr lang="en-US" dirty="0"/>
              <a:t>    </a:t>
            </a:r>
            <a:r>
              <a:rPr lang="en-US" dirty="0" err="1">
                <a:solidFill>
                  <a:srgbClr val="00B0F0"/>
                </a:solidFill>
              </a:rPr>
              <a:t>idEntered</a:t>
            </a:r>
            <a:r>
              <a:rPr lang="en-US" dirty="0"/>
              <a:t>=true;</a:t>
            </a:r>
          </a:p>
          <a:p>
            <a:pPr>
              <a:buNone/>
            </a:pPr>
            <a:r>
              <a:rPr lang="en-US" dirty="0"/>
              <a:t>  } </a:t>
            </a:r>
          </a:p>
          <a:p>
            <a:pPr>
              <a:buNone/>
            </a:pPr>
            <a:r>
              <a:rPr lang="en-US" dirty="0"/>
              <a:t>  catch (</a:t>
            </a:r>
            <a:r>
              <a:rPr lang="en-US" dirty="0" err="1"/>
              <a:t>InputMismatchException</a:t>
            </a:r>
            <a:r>
              <a:rPr lang="en-US" dirty="0"/>
              <a:t> ex) {</a:t>
            </a:r>
          </a:p>
          <a:p>
            <a:pPr>
              <a:buNone/>
            </a:pPr>
            <a:r>
              <a:rPr lang="en-US" dirty="0"/>
              <a:t>    </a:t>
            </a:r>
            <a:r>
              <a:rPr lang="en-US" b="1" dirty="0" err="1">
                <a:solidFill>
                  <a:srgbClr val="92D050"/>
                </a:solidFill>
              </a:rPr>
              <a:t>myObj.next</a:t>
            </a:r>
            <a:r>
              <a:rPr lang="en-US" b="1" dirty="0">
                <a:solidFill>
                  <a:srgbClr val="92D050"/>
                </a:solidFill>
              </a:rPr>
              <a:t>();</a:t>
            </a:r>
          </a:p>
          <a:p>
            <a:pPr>
              <a:buNone/>
            </a:pPr>
            <a:r>
              <a:rPr lang="en-US" dirty="0"/>
              <a:t>    </a:t>
            </a:r>
            <a:r>
              <a:rPr lang="en-US" dirty="0" err="1"/>
              <a:t>System.out.println</a:t>
            </a:r>
            <a:r>
              <a:rPr lang="en-US" dirty="0"/>
              <a:t>("Error enter only numbers: ");</a:t>
            </a:r>
          </a:p>
          <a:p>
            <a:pPr>
              <a:buNone/>
            </a:pPr>
            <a:r>
              <a:rPr lang="en-US" dirty="0"/>
              <a:t>  }</a:t>
            </a:r>
          </a:p>
          <a:p>
            <a:pPr>
              <a:buNone/>
            </a:pPr>
            <a:r>
              <a:rPr lang="en-US" dirty="0"/>
              <a:t>} while (</a:t>
            </a:r>
            <a:r>
              <a:rPr lang="en-US" dirty="0" err="1">
                <a:solidFill>
                  <a:srgbClr val="00B0F0"/>
                </a:solidFill>
              </a:rPr>
              <a:t>idEntered</a:t>
            </a:r>
            <a:r>
              <a:rPr lang="en-US" dirty="0"/>
              <a:t>==false);</a:t>
            </a:r>
          </a:p>
          <a:p>
            <a:pPr>
              <a:buNone/>
            </a:pPr>
            <a:r>
              <a:rPr lang="en-US" dirty="0"/>
              <a:t>  </a:t>
            </a:r>
            <a:r>
              <a:rPr lang="en-US" dirty="0" err="1"/>
              <a:t>System.out.println</a:t>
            </a:r>
            <a:r>
              <a:rPr lang="en-US" dirty="0"/>
              <a:t>("Username is: " + </a:t>
            </a:r>
            <a:r>
              <a:rPr lang="en-US" dirty="0" err="1"/>
              <a:t>userName</a:t>
            </a:r>
            <a:r>
              <a:rPr lang="en-US" dirty="0"/>
              <a:t>);</a:t>
            </a:r>
          </a:p>
          <a:p>
            <a:pPr>
              <a:buNone/>
            </a:pPr>
            <a:r>
              <a:rPr lang="en-US" dirty="0"/>
              <a:t>  </a:t>
            </a:r>
            <a:r>
              <a:rPr lang="en-US" dirty="0" err="1"/>
              <a:t>System.out.println</a:t>
            </a:r>
            <a:r>
              <a:rPr lang="en-US" dirty="0"/>
              <a:t>("Username id: " + id);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73" y="1602531"/>
            <a:ext cx="5781904" cy="49859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The Scanner does not advance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until the item is being read. This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is mentioned in Scanner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JavaDoc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Hence, you may just read the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value off using .next() method or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check if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hasInt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() before reading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value.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Source: https://stackoverflow.com/questions/32592922/java-try-catch-with-scanner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47037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855D3-876C-C343-BD87-E7730E1CF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</a:t>
            </a:r>
          </a:p>
        </p:txBody>
      </p:sp>
    </p:spTree>
    <p:extLst>
      <p:ext uri="{BB962C8B-B14F-4D97-AF65-F5344CB8AC3E}">
        <p14:creationId xmlns:p14="http://schemas.microsoft.com/office/powerpoint/2010/main" val="17337293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>
                <a:latin typeface="Courier10 BT" pitchFamily="49" charset="0"/>
              </a:rPr>
              <a:t>Math</a:t>
            </a:r>
            <a:r>
              <a:rPr lang="en-US" dirty="0"/>
              <a:t>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sz="2000" dirty="0">
                <a:latin typeface="Courier10 BT" pitchFamily="49" charset="0"/>
              </a:rPr>
              <a:t>Math</a:t>
            </a:r>
            <a:r>
              <a:rPr lang="en-US" dirty="0"/>
              <a:t> class contains only static fields and methods. </a:t>
            </a:r>
          </a:p>
          <a:p>
            <a:r>
              <a:rPr lang="en-US" i="1" dirty="0"/>
              <a:t>Cannot</a:t>
            </a:r>
            <a:r>
              <a:rPr lang="en-US" dirty="0"/>
              <a:t> create an instance because </a:t>
            </a:r>
            <a:br>
              <a:rPr lang="en-US" dirty="0"/>
            </a:br>
            <a:r>
              <a:rPr lang="en-US" dirty="0"/>
              <a:t>this class contains only private constructors.</a:t>
            </a:r>
          </a:p>
          <a:p>
            <a:r>
              <a:rPr lang="en-US" dirty="0"/>
              <a:t>No import needed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40649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733" y="1118724"/>
            <a:ext cx="3228048" cy="548235"/>
          </a:xfrm>
        </p:spPr>
        <p:txBody>
          <a:bodyPr>
            <a:normAutofit fontScale="90000"/>
          </a:bodyPr>
          <a:lstStyle/>
          <a:p>
            <a:r>
              <a:rPr lang="en-US" dirty="0"/>
              <a:t>The </a:t>
            </a:r>
            <a:r>
              <a:rPr lang="en-US" dirty="0">
                <a:latin typeface="Courier10 BT" pitchFamily="49" charset="0"/>
              </a:rPr>
              <a:t>Math</a:t>
            </a:r>
            <a:r>
              <a:rPr lang="en-US" dirty="0"/>
              <a:t> Class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0359" y="987534"/>
            <a:ext cx="5638800" cy="5601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1238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8424" y="873837"/>
            <a:ext cx="4655080" cy="512846"/>
          </a:xfrm>
        </p:spPr>
        <p:txBody>
          <a:bodyPr>
            <a:normAutofit fontScale="90000"/>
          </a:bodyPr>
          <a:lstStyle/>
          <a:p>
            <a:r>
              <a:rPr lang="en-US" dirty="0"/>
              <a:t>Math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59561" y="1835422"/>
            <a:ext cx="8531168" cy="3950383"/>
          </a:xfrm>
          <a:solidFill>
            <a:srgbClr val="FFFFCC"/>
          </a:solidFill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public class </a:t>
            </a:r>
            <a:r>
              <a:rPr lang="en-US" dirty="0" err="1"/>
              <a:t>MathExample</a:t>
            </a:r>
            <a:r>
              <a:rPr lang="en-US" dirty="0"/>
              <a:t> {</a:t>
            </a:r>
          </a:p>
          <a:p>
            <a:pPr>
              <a:buNone/>
            </a:pPr>
            <a:r>
              <a:rPr lang="en-US" dirty="0"/>
              <a:t>	public static void main(String[] args) {</a:t>
            </a:r>
          </a:p>
          <a:p>
            <a:pPr>
              <a:buNone/>
            </a:pPr>
            <a:r>
              <a:rPr lang="en-US" dirty="0"/>
              <a:t>		System.out.println("pi = " + </a:t>
            </a:r>
            <a:r>
              <a:rPr lang="en-US" dirty="0" err="1"/>
              <a:t>Math.PI</a:t>
            </a:r>
            <a:r>
              <a:rPr lang="en-US" dirty="0"/>
              <a:t>);</a:t>
            </a:r>
          </a:p>
          <a:p>
            <a:pPr>
              <a:buNone/>
            </a:pPr>
            <a:r>
              <a:rPr lang="en-US" dirty="0"/>
              <a:t>		System.out.println("E = " + </a:t>
            </a:r>
            <a:r>
              <a:rPr lang="en-US" dirty="0" err="1"/>
              <a:t>Math.E</a:t>
            </a:r>
            <a:r>
              <a:rPr lang="en-US" dirty="0"/>
              <a:t>);</a:t>
            </a:r>
          </a:p>
          <a:p>
            <a:pPr>
              <a:buNone/>
            </a:pPr>
            <a:r>
              <a:rPr lang="en-US" dirty="0"/>
              <a:t>		System.out.println("abs(-123.98) = " + </a:t>
            </a:r>
            <a:r>
              <a:rPr lang="en-US" dirty="0" err="1"/>
              <a:t>Math.abs</a:t>
            </a:r>
            <a:r>
              <a:rPr lang="en-US" dirty="0"/>
              <a:t>(-123.98f));</a:t>
            </a:r>
          </a:p>
          <a:p>
            <a:pPr>
              <a:buNone/>
            </a:pPr>
            <a:r>
              <a:rPr lang="en-US" dirty="0"/>
              <a:t>		System.out.println("tan(2.0) = " + </a:t>
            </a:r>
            <a:r>
              <a:rPr lang="en-US" dirty="0" err="1"/>
              <a:t>Math.tan</a:t>
            </a:r>
            <a:r>
              <a:rPr lang="en-US" dirty="0"/>
              <a:t>(2.0));</a:t>
            </a:r>
          </a:p>
          <a:p>
            <a:pPr>
              <a:buNone/>
            </a:pPr>
            <a:r>
              <a:rPr lang="en-US" dirty="0"/>
              <a:t>	}</a:t>
            </a:r>
          </a:p>
          <a:p>
            <a:pPr>
              <a:buNone/>
            </a:pPr>
            <a:r>
              <a:rPr lang="en-US" dirty="0"/>
              <a:t>}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557327" y="1017351"/>
            <a:ext cx="3121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Important later for some labs</a:t>
            </a:r>
          </a:p>
        </p:txBody>
      </p:sp>
    </p:spTree>
    <p:extLst>
      <p:ext uri="{BB962C8B-B14F-4D97-AF65-F5344CB8AC3E}">
        <p14:creationId xmlns:p14="http://schemas.microsoft.com/office/powerpoint/2010/main" val="22026735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855D3-876C-C343-BD87-E7730E1CF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Numbers</a:t>
            </a:r>
          </a:p>
        </p:txBody>
      </p:sp>
    </p:spTree>
    <p:extLst>
      <p:ext uri="{BB962C8B-B14F-4D97-AF65-F5344CB8AC3E}">
        <p14:creationId xmlns:p14="http://schemas.microsoft.com/office/powerpoint/2010/main" val="27580299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</a:t>
            </a:r>
            <a:r>
              <a:rPr lang="en-US" dirty="0">
                <a:latin typeface="Courier10 BT" pitchFamily="49" charset="0"/>
              </a:rPr>
              <a:t>Random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2009522"/>
            <a:ext cx="10417284" cy="3835800"/>
          </a:xfrm>
        </p:spPr>
        <p:txBody>
          <a:bodyPr>
            <a:normAutofit/>
          </a:bodyPr>
          <a:lstStyle/>
          <a:p>
            <a:r>
              <a:rPr lang="en-US" dirty="0"/>
              <a:t>The class </a:t>
            </a:r>
            <a:r>
              <a:rPr lang="en-US" dirty="0">
                <a:latin typeface="Courier10 BT" pitchFamily="49" charset="0"/>
              </a:rPr>
              <a:t>Random</a:t>
            </a:r>
            <a:r>
              <a:rPr lang="en-US" dirty="0"/>
              <a:t> is defined in </a:t>
            </a:r>
            <a:r>
              <a:rPr lang="en-US" dirty="0" err="1">
                <a:latin typeface="Courier10 BT" pitchFamily="49" charset="0"/>
              </a:rPr>
              <a:t>java.util</a:t>
            </a:r>
            <a:r>
              <a:rPr lang="en-US" dirty="0"/>
              <a:t>.</a:t>
            </a:r>
          </a:p>
          <a:p>
            <a:r>
              <a:rPr lang="en-US" dirty="0"/>
              <a:t>An instance of this class is used to generate pseudorandom numbers.</a:t>
            </a:r>
          </a:p>
          <a:p>
            <a:pPr marL="0" indent="0"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 </a:t>
            </a:r>
          </a:p>
          <a:p>
            <a:pPr>
              <a:buNone/>
            </a:pPr>
            <a:endParaRPr lang="en-US" dirty="0"/>
          </a:p>
          <a:p>
            <a:r>
              <a:rPr lang="en-US" dirty="0"/>
              <a:t>Example:</a:t>
            </a:r>
          </a:p>
          <a:p>
            <a:pPr lvl="1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438400" y="4983548"/>
            <a:ext cx="6798658" cy="861774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Random rand = new Random();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//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magicColor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gets a random integer value of 0, 1 or 2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int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magicColor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=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rand.nextInt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(3);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	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1919" y="3062713"/>
            <a:ext cx="5379720" cy="1441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200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0859" y="947741"/>
            <a:ext cx="5301130" cy="537148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Courier10 BT" pitchFamily="49" charset="0"/>
              </a:rPr>
              <a:t>Exercise </a:t>
            </a:r>
            <a:r>
              <a:rPr lang="en-US" dirty="0" err="1">
                <a:latin typeface="Courier10 BT" pitchFamily="49" charset="0"/>
              </a:rPr>
              <a:t>BreakDemo</a:t>
            </a:r>
            <a:r>
              <a:rPr lang="en-US" dirty="0">
                <a:latin typeface="Courier10 BT" pitchFamily="49" charset="0"/>
              </a:rPr>
              <a:t>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4525963"/>
          </a:xfrm>
        </p:spPr>
        <p:txBody>
          <a:bodyPr>
            <a:normAutofit/>
          </a:bodyPr>
          <a:lstStyle/>
          <a:p>
            <a:r>
              <a:rPr lang="en-US" sz="1800" dirty="0"/>
              <a:t>Write a program to generate 50 random numbers in the range 0 to 10. </a:t>
            </a:r>
            <a:br>
              <a:rPr lang="en-US" sz="1800" dirty="0"/>
            </a:br>
            <a:r>
              <a:rPr lang="en-US" sz="1800" dirty="0"/>
              <a:t>However, if the number 5 is generated, break!</a:t>
            </a:r>
          </a:p>
          <a:p>
            <a:r>
              <a:rPr lang="en-US" sz="1800" dirty="0"/>
              <a:t>Solution: The random numbers are generated inside a </a:t>
            </a:r>
            <a:r>
              <a:rPr lang="en-US" sz="1800" dirty="0">
                <a:latin typeface="Courier10 BT" pitchFamily="49" charset="0"/>
              </a:rPr>
              <a:t>for</a:t>
            </a:r>
            <a:r>
              <a:rPr lang="en-US" sz="1800" dirty="0"/>
              <a:t> loop. </a:t>
            </a:r>
            <a:br>
              <a:rPr lang="en-US" sz="1800" dirty="0"/>
            </a:br>
            <a:r>
              <a:rPr lang="en-US" sz="1800" dirty="0"/>
              <a:t>A </a:t>
            </a:r>
            <a:r>
              <a:rPr lang="en-US" sz="1800" dirty="0">
                <a:latin typeface="Courier10 BT" pitchFamily="49" charset="0"/>
              </a:rPr>
              <a:t>break</a:t>
            </a:r>
            <a:r>
              <a:rPr lang="en-US" sz="1800" dirty="0"/>
              <a:t> statement is used to terminate the iteration if 5 is generated.</a:t>
            </a:r>
          </a:p>
          <a:p>
            <a:pPr lvl="1">
              <a:buNone/>
            </a:pPr>
            <a:endParaRPr lang="en-US" dirty="0">
              <a:solidFill>
                <a:schemeClr val="tx1"/>
              </a:solidFill>
              <a:latin typeface="Courier10 BT" pitchFamily="49" charset="0"/>
            </a:endParaRPr>
          </a:p>
          <a:p>
            <a:pPr>
              <a:buNone/>
            </a:pPr>
            <a:endParaRPr lang="en-US" dirty="0">
              <a:solidFill>
                <a:schemeClr val="tx1"/>
              </a:solidFill>
              <a:latin typeface="Courier10 BT" pitchFamily="49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438400" y="3048001"/>
            <a:ext cx="5945024" cy="2031325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import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java.util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.*; 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10 BT" pitchFamily="49" charset="0"/>
              <a:ea typeface="+mn-ea"/>
              <a:cs typeface="+mn-cs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public class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BreakDemo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{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 public static void main(String[] args) {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	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// implement me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	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int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a=10;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	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System.out.println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(“Hello:”+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a+“number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”);</a:t>
            </a:r>
            <a:b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</a:b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 }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}</a:t>
            </a:r>
          </a:p>
        </p:txBody>
      </p:sp>
      <p:sp>
        <p:nvSpPr>
          <p:cNvPr id="8" name="Rectangle 7"/>
          <p:cNvSpPr/>
          <p:nvPr/>
        </p:nvSpPr>
        <p:spPr>
          <a:xfrm>
            <a:off x="2438400" y="4983548"/>
            <a:ext cx="6798658" cy="861774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Random rand = new Random();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//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magicColor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gets a random integer value of 0, 1 or 2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int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magicColor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=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rand.nextInt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(3);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049102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0859" y="947741"/>
            <a:ext cx="5044457" cy="537148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Courier10 BT" pitchFamily="49" charset="0"/>
              </a:rPr>
              <a:t>Exercise </a:t>
            </a:r>
            <a:r>
              <a:rPr lang="en-US" dirty="0" err="1">
                <a:latin typeface="Courier10 BT" pitchFamily="49" charset="0"/>
              </a:rPr>
              <a:t>BreakDemo</a:t>
            </a:r>
            <a:r>
              <a:rPr lang="en-US" dirty="0">
                <a:latin typeface="Courier10 BT" pitchFamily="49" charset="0"/>
              </a:rPr>
              <a:t>: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386263" y="2029327"/>
            <a:ext cx="6978316" cy="3108543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import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java.util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.*; 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10 BT" pitchFamily="49" charset="0"/>
              <a:ea typeface="+mn-ea"/>
              <a:cs typeface="+mn-cs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public class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BreakDemo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{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 public static void main(String[] args) {   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   int number, x = 10, y = 50;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     for (int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i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= 0;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i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&lt; 50;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i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++) {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       Random r = new Random();   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       number =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r.nextInt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(11); 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      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System.out.println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(number);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       if (number == 5)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        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break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;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     }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  }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95317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2294" y="935628"/>
            <a:ext cx="3553752" cy="690871"/>
          </a:xfrm>
        </p:spPr>
        <p:txBody>
          <a:bodyPr/>
          <a:lstStyle/>
          <a:p>
            <a:r>
              <a:rPr lang="en-US" dirty="0" err="1"/>
              <a:t>Math.random</a:t>
            </a:r>
            <a:r>
              <a:rPr lang="en-US" dirty="0"/>
              <a:t>():</a:t>
            </a:r>
            <a:endParaRPr lang="en-US" dirty="0">
              <a:latin typeface="Courier10 BT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5068" y="1737927"/>
            <a:ext cx="10417284" cy="4804484"/>
          </a:xfrm>
        </p:spPr>
        <p:txBody>
          <a:bodyPr>
            <a:normAutofit/>
          </a:bodyPr>
          <a:lstStyle/>
          <a:p>
            <a:r>
              <a:rPr lang="en-US" dirty="0" err="1"/>
              <a:t>Math.random</a:t>
            </a:r>
            <a:r>
              <a:rPr lang="en-US" dirty="0"/>
              <a:t>() returns a double:</a:t>
            </a:r>
          </a:p>
          <a:p>
            <a:pPr lvl="1"/>
            <a:r>
              <a:rPr lang="en-US" dirty="0"/>
              <a:t>0.8061424100488573</a:t>
            </a:r>
          </a:p>
          <a:p>
            <a:pPr lvl="1"/>
            <a:r>
              <a:rPr lang="en-US" dirty="0"/>
              <a:t>0.14380699123258012</a:t>
            </a:r>
          </a:p>
          <a:p>
            <a:pPr lvl="1"/>
            <a:r>
              <a:rPr lang="en-US" dirty="0"/>
              <a:t>0.6019223501191691</a:t>
            </a:r>
          </a:p>
          <a:p>
            <a:pPr lvl="1"/>
            <a:r>
              <a:rPr lang="en-US" dirty="0"/>
              <a:t>0.16022079346356033</a:t>
            </a:r>
          </a:p>
          <a:p>
            <a:pPr lvl="1"/>
            <a:r>
              <a:rPr lang="en-US" dirty="0"/>
              <a:t>0.4110612020554283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dirty="0"/>
              <a:t>6.04614526963932</a:t>
            </a:r>
          </a:p>
          <a:p>
            <a:pPr lvl="1"/>
            <a:r>
              <a:rPr lang="en-US" dirty="0"/>
              <a:t>9.774409693353928</a:t>
            </a:r>
          </a:p>
          <a:p>
            <a:pPr lvl="1"/>
            <a:r>
              <a:rPr lang="en-US" dirty="0"/>
              <a:t>8.456638292430338</a:t>
            </a:r>
          </a:p>
          <a:p>
            <a:pPr lvl="1"/>
            <a:r>
              <a:rPr lang="en-US" dirty="0"/>
              <a:t>3.7963003630516265</a:t>
            </a:r>
          </a:p>
          <a:p>
            <a:pPr lvl="1"/>
            <a:r>
              <a:rPr lang="en-US" dirty="0"/>
              <a:t>8.015820268396157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718209" y="4097114"/>
            <a:ext cx="6798658" cy="369332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Math.</a:t>
            </a:r>
            <a:r>
              <a:rPr kumimoji="0" lang="en-US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random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() * 10; // * 10 for the range</a:t>
            </a:r>
          </a:p>
        </p:txBody>
      </p:sp>
    </p:spTree>
    <p:extLst>
      <p:ext uri="{BB962C8B-B14F-4D97-AF65-F5344CB8AC3E}">
        <p14:creationId xmlns:p14="http://schemas.microsoft.com/office/powerpoint/2010/main" val="37794214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1550" y="1538460"/>
            <a:ext cx="10417284" cy="537148"/>
          </a:xfrm>
        </p:spPr>
        <p:txBody>
          <a:bodyPr>
            <a:normAutofit fontScale="90000"/>
          </a:bodyPr>
          <a:lstStyle/>
          <a:p>
            <a:r>
              <a:rPr lang="en-US" dirty="0"/>
              <a:t>Exercise: Random numbers in a range</a:t>
            </a:r>
            <a:endParaRPr lang="en-US" dirty="0">
              <a:latin typeface="Courier10 BT" pitchFamily="49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80683" y="2828166"/>
            <a:ext cx="33650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For example: between 10 to 40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Min = 10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Max = 40</a:t>
            </a:r>
          </a:p>
        </p:txBody>
      </p:sp>
    </p:spTree>
    <p:extLst>
      <p:ext uri="{BB962C8B-B14F-4D97-AF65-F5344CB8AC3E}">
        <p14:creationId xmlns:p14="http://schemas.microsoft.com/office/powerpoint/2010/main" val="20559866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0859" y="947741"/>
            <a:ext cx="10417284" cy="537148"/>
          </a:xfrm>
        </p:spPr>
        <p:txBody>
          <a:bodyPr>
            <a:normAutofit fontScale="90000"/>
          </a:bodyPr>
          <a:lstStyle/>
          <a:p>
            <a:r>
              <a:rPr lang="en-US" dirty="0"/>
              <a:t>Exercise: Random numbers in a range</a:t>
            </a:r>
            <a:endParaRPr lang="en-US" dirty="0">
              <a:latin typeface="Courier10 BT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4525963"/>
          </a:xfrm>
        </p:spPr>
        <p:txBody>
          <a:bodyPr>
            <a:normAutofit/>
          </a:bodyPr>
          <a:lstStyle/>
          <a:p>
            <a:pPr lvl="1">
              <a:buNone/>
            </a:pPr>
            <a:endParaRPr lang="en-US" dirty="0">
              <a:solidFill>
                <a:schemeClr val="tx1"/>
              </a:solidFill>
              <a:latin typeface="Courier10 BT" pitchFamily="49" charset="0"/>
            </a:endParaRPr>
          </a:p>
          <a:p>
            <a:pPr>
              <a:buNone/>
            </a:pPr>
            <a:endParaRPr lang="en-US" dirty="0">
              <a:solidFill>
                <a:schemeClr val="tx1"/>
              </a:solidFill>
              <a:latin typeface="Courier10 BT" pitchFamily="49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544230" y="1417456"/>
            <a:ext cx="9396202" cy="5047536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import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java.util.Random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;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10 BT" pitchFamily="49" charset="0"/>
              <a:ea typeface="+mn-ea"/>
              <a:cs typeface="+mn-cs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public class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Randoms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{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	public static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int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getRandomNumber_Math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int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min,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int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max) {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		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return (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int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)( 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Math.random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() * (max-min) ) + min;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	}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	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	public static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int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getRandomNumber_Util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int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min,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int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max) {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		return new Random().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nextInt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(max - min) + min;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	}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	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	public static void main(String[]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args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) {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		//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java.util.random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10 BT" pitchFamily="49" charset="0"/>
              <a:ea typeface="+mn-ea"/>
              <a:cs typeface="+mn-cs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		for (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int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i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=0;i&lt;10;i++) {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			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int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myRInt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=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Randoms.getRandomNumber_Util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(10, 40);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			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System.out.println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("Random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int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= "+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myRInt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);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		}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		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		//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Math.random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10 BT" pitchFamily="49" charset="0"/>
              <a:ea typeface="+mn-ea"/>
              <a:cs typeface="+mn-cs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		for (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int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i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=0;i&lt;10;i++) {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			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int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res=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Randoms.getRandomNumber_Math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(10, 40);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			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System.out.println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("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Randoms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between 10 and 40 = "+ res);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	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	}}}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10 BT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1949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855D3-876C-C343-BD87-E7730E1CF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Strings</a:t>
            </a:r>
          </a:p>
        </p:txBody>
      </p:sp>
    </p:spTree>
    <p:extLst>
      <p:ext uri="{BB962C8B-B14F-4D97-AF65-F5344CB8AC3E}">
        <p14:creationId xmlns:p14="http://schemas.microsoft.com/office/powerpoint/2010/main" val="35557436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1020594"/>
            <a:ext cx="3016443" cy="569491"/>
          </a:xfrm>
        </p:spPr>
        <p:txBody>
          <a:bodyPr>
            <a:normAutofit fontScale="90000"/>
          </a:bodyPr>
          <a:lstStyle/>
          <a:p>
            <a:r>
              <a:rPr lang="en-US" dirty="0"/>
              <a:t>String Literals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590085"/>
            <a:ext cx="10417284" cy="1626499"/>
          </a:xfrm>
        </p:spPr>
        <p:txBody>
          <a:bodyPr/>
          <a:lstStyle/>
          <a:p>
            <a:r>
              <a:rPr lang="en-US" dirty="0"/>
              <a:t> A </a:t>
            </a:r>
            <a:r>
              <a:rPr lang="en-US" b="1" dirty="0"/>
              <a:t>string literal</a:t>
            </a:r>
            <a:r>
              <a:rPr lang="en-US" dirty="0"/>
              <a:t> is a set of characters which is enclosed within double-quotes. </a:t>
            </a:r>
          </a:p>
          <a:p>
            <a:r>
              <a:rPr lang="en-US" dirty="0"/>
              <a:t>Examples: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766127" y="2385587"/>
            <a:ext cx="2209800" cy="830997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“Hello!”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“Current Score: 100”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“5 % 3”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936516" y="3452251"/>
            <a:ext cx="2065629" cy="6099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Strings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936516" y="4084553"/>
            <a:ext cx="10417284" cy="15278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A string is an instance of class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urier10 BT" pitchFamily="49" charset="0"/>
                <a:ea typeface="+mn-ea"/>
              </a:rPr>
              <a:t>String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Can initialize a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urier10 BT" pitchFamily="49" charset="0"/>
                <a:ea typeface="+mn-ea"/>
              </a:rPr>
              <a:t>String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 object with a string literal: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632609" y="5053225"/>
            <a:ext cx="3581400" cy="584775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String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firstName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= "Joan";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String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lastName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= "Wright";</a:t>
            </a:r>
          </a:p>
        </p:txBody>
      </p:sp>
    </p:spTree>
    <p:extLst>
      <p:ext uri="{BB962C8B-B14F-4D97-AF65-F5344CB8AC3E}">
        <p14:creationId xmlns:p14="http://schemas.microsoft.com/office/powerpoint/2010/main" val="24302975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45182"/>
            <a:ext cx="2456389" cy="774808"/>
          </a:xfrm>
        </p:spPr>
        <p:txBody>
          <a:bodyPr/>
          <a:lstStyle/>
          <a:p>
            <a:r>
              <a:rPr lang="en-US" dirty="0"/>
              <a:t>Strings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string is an instance of the </a:t>
            </a:r>
            <a:r>
              <a:rPr lang="en-US" sz="2000" dirty="0">
                <a:latin typeface="Courier10 BT" pitchFamily="49" charset="0"/>
              </a:rPr>
              <a:t>String</a:t>
            </a:r>
            <a:r>
              <a:rPr lang="en-US" dirty="0"/>
              <a:t> class defined in </a:t>
            </a:r>
            <a:r>
              <a:rPr lang="en-US" sz="2000" dirty="0" err="1">
                <a:latin typeface="Courier10 BT" pitchFamily="49" charset="0"/>
              </a:rPr>
              <a:t>java.lang</a:t>
            </a:r>
            <a:r>
              <a:rPr lang="en-US" dirty="0"/>
              <a:t> </a:t>
            </a:r>
          </a:p>
          <a:p>
            <a:r>
              <a:rPr lang="en-US" dirty="0"/>
              <a:t>2 ways to create a string: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Using a string </a:t>
            </a:r>
            <a:r>
              <a:rPr lang="en-US" b="1" dirty="0">
                <a:solidFill>
                  <a:srgbClr val="00B0F0"/>
                </a:solidFill>
              </a:rPr>
              <a:t>literal</a:t>
            </a:r>
          </a:p>
          <a:p>
            <a:pPr lvl="2"/>
            <a:r>
              <a:rPr lang="en-US" dirty="0"/>
              <a:t>Creates a string called </a:t>
            </a:r>
            <a:r>
              <a:rPr lang="en-US" dirty="0">
                <a:latin typeface="Courier10 BT" pitchFamily="49" charset="0"/>
              </a:rPr>
              <a:t>s1</a:t>
            </a:r>
            <a:r>
              <a:rPr lang="en-US" dirty="0"/>
              <a:t> by using a string </a:t>
            </a:r>
            <a:r>
              <a:rPr lang="en-US" b="1" dirty="0">
                <a:solidFill>
                  <a:srgbClr val="00B0F0"/>
                </a:solidFill>
              </a:rPr>
              <a:t>literal</a:t>
            </a:r>
            <a:r>
              <a:rPr lang="en-US" dirty="0"/>
              <a:t>:</a:t>
            </a:r>
            <a:br>
              <a:rPr lang="en-US" dirty="0"/>
            </a:br>
            <a:r>
              <a:rPr lang="en-US" sz="1400" dirty="0">
                <a:latin typeface="Courier10 BT" pitchFamily="49" charset="0"/>
              </a:rPr>
              <a:t>String s1 = "This is a string literal";</a:t>
            </a: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Using a </a:t>
            </a:r>
            <a:r>
              <a:rPr lang="en-US" b="1" dirty="0">
                <a:solidFill>
                  <a:srgbClr val="92D050"/>
                </a:solidFill>
              </a:rPr>
              <a:t>constructor</a:t>
            </a:r>
            <a:r>
              <a:rPr lang="en-US" dirty="0"/>
              <a:t>. </a:t>
            </a:r>
          </a:p>
          <a:p>
            <a:pPr lvl="2"/>
            <a:r>
              <a:rPr lang="en-US" dirty="0"/>
              <a:t>Create strings by using the </a:t>
            </a:r>
            <a:r>
              <a:rPr lang="en-US" b="1" dirty="0">
                <a:solidFill>
                  <a:srgbClr val="92D050"/>
                </a:solidFill>
              </a:rPr>
              <a:t>constructor</a:t>
            </a:r>
            <a:r>
              <a:rPr lang="en-US" dirty="0"/>
              <a:t>:</a:t>
            </a:r>
          </a:p>
          <a:p>
            <a:pPr lvl="3">
              <a:buNone/>
            </a:pPr>
            <a:r>
              <a:rPr lang="en-US" sz="1400" dirty="0">
                <a:latin typeface="Courier10 BT" pitchFamily="49" charset="0"/>
              </a:rPr>
              <a:t>String </a:t>
            </a:r>
            <a:r>
              <a:rPr lang="en-US" sz="1400" dirty="0" err="1">
                <a:latin typeface="Courier10 BT" pitchFamily="49" charset="0"/>
              </a:rPr>
              <a:t>s2</a:t>
            </a:r>
            <a:r>
              <a:rPr lang="en-US" sz="1400" dirty="0">
                <a:latin typeface="Courier10 BT" pitchFamily="49" charset="0"/>
              </a:rPr>
              <a:t> = new </a:t>
            </a:r>
            <a:r>
              <a:rPr lang="en-US" sz="1400" b="1" dirty="0">
                <a:solidFill>
                  <a:srgbClr val="92D050"/>
                </a:solidFill>
                <a:latin typeface="Courier10 BT" pitchFamily="49" charset="0"/>
              </a:rPr>
              <a:t>String(</a:t>
            </a:r>
            <a:r>
              <a:rPr lang="en-US" sz="1400" dirty="0">
                <a:latin typeface="Courier10 BT" pitchFamily="49" charset="0"/>
              </a:rPr>
              <a:t>"This is another string"</a:t>
            </a:r>
            <a:r>
              <a:rPr lang="en-US" sz="1400" b="1" dirty="0">
                <a:solidFill>
                  <a:srgbClr val="92D050"/>
                </a:solidFill>
                <a:latin typeface="Courier10 BT" pitchFamily="49" charset="0"/>
              </a:rPr>
              <a:t>);</a:t>
            </a:r>
          </a:p>
          <a:p>
            <a:pPr lvl="3">
              <a:buNone/>
            </a:pPr>
            <a:r>
              <a:rPr lang="en-US" sz="1400" dirty="0">
                <a:latin typeface="Courier10 BT" pitchFamily="49" charset="0"/>
              </a:rPr>
              <a:t>char[] </a:t>
            </a:r>
            <a:r>
              <a:rPr lang="en-US" sz="1400" dirty="0" err="1">
                <a:latin typeface="Courier10 BT" pitchFamily="49" charset="0"/>
              </a:rPr>
              <a:t>charArray</a:t>
            </a:r>
            <a:r>
              <a:rPr lang="en-US" sz="1400" dirty="0">
                <a:latin typeface="Courier10 BT" pitchFamily="49" charset="0"/>
              </a:rPr>
              <a:t> = {'J', 'u', 'l', 'y'};</a:t>
            </a:r>
          </a:p>
          <a:p>
            <a:pPr lvl="3">
              <a:buNone/>
            </a:pPr>
            <a:r>
              <a:rPr lang="en-US" sz="1400" dirty="0">
                <a:latin typeface="Courier10 BT" pitchFamily="49" charset="0"/>
              </a:rPr>
              <a:t>String </a:t>
            </a:r>
            <a:r>
              <a:rPr lang="en-US" sz="1400" dirty="0" err="1">
                <a:latin typeface="Courier10 BT" pitchFamily="49" charset="0"/>
              </a:rPr>
              <a:t>s4</a:t>
            </a:r>
            <a:r>
              <a:rPr lang="en-US" sz="1400" dirty="0">
                <a:latin typeface="Courier10 BT" pitchFamily="49" charset="0"/>
              </a:rPr>
              <a:t> = new </a:t>
            </a:r>
            <a:r>
              <a:rPr lang="en-US" sz="1400" b="1" dirty="0">
                <a:solidFill>
                  <a:srgbClr val="92D050"/>
                </a:solidFill>
                <a:latin typeface="Courier10 BT" pitchFamily="49" charset="0"/>
              </a:rPr>
              <a:t>String(</a:t>
            </a:r>
            <a:r>
              <a:rPr lang="en-US" sz="1400" dirty="0" err="1">
                <a:latin typeface="Courier10 BT" pitchFamily="49" charset="0"/>
              </a:rPr>
              <a:t>charArray</a:t>
            </a:r>
            <a:r>
              <a:rPr lang="en-US" sz="1400" b="1" dirty="0">
                <a:solidFill>
                  <a:srgbClr val="92D050"/>
                </a:solidFill>
                <a:latin typeface="Courier10 BT" pitchFamily="49" charset="0"/>
              </a:rPr>
              <a:t>);</a:t>
            </a:r>
          </a:p>
          <a:p>
            <a:pPr lvl="2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51502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5" y="769246"/>
            <a:ext cx="2215759" cy="774808"/>
          </a:xfrm>
        </p:spPr>
        <p:txBody>
          <a:bodyPr/>
          <a:lstStyle/>
          <a:p>
            <a:r>
              <a:rPr lang="en-US" dirty="0"/>
              <a:t>Strings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5" y="2449386"/>
            <a:ext cx="11155783" cy="3835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dirty="0">
                <a:latin typeface="Courier10 BT" pitchFamily="49" charset="0"/>
              </a:rPr>
              <a:t>String</a:t>
            </a:r>
            <a:r>
              <a:rPr lang="en-US" dirty="0"/>
              <a:t> object </a:t>
            </a:r>
            <a:r>
              <a:rPr lang="en-US" dirty="0">
                <a:solidFill>
                  <a:srgbClr val="0070C0"/>
                </a:solidFill>
              </a:rPr>
              <a:t>cannot </a:t>
            </a:r>
            <a:r>
              <a:rPr lang="en-US" dirty="0">
                <a:solidFill>
                  <a:schemeClr val="tx1"/>
                </a:solidFill>
              </a:rPr>
              <a:t>be</a:t>
            </a:r>
            <a:r>
              <a:rPr lang="en-US" dirty="0">
                <a:solidFill>
                  <a:srgbClr val="0070C0"/>
                </a:solidFill>
              </a:rPr>
              <a:t> “edited”</a:t>
            </a:r>
            <a:r>
              <a:rPr lang="en-US" dirty="0"/>
              <a:t> -&gt; </a:t>
            </a:r>
            <a:r>
              <a:rPr lang="en-US" b="1" dirty="0">
                <a:solidFill>
                  <a:srgbClr val="FF0000"/>
                </a:solidFill>
              </a:rPr>
              <a:t>immutable</a:t>
            </a:r>
            <a:r>
              <a:rPr lang="en-US" dirty="0"/>
              <a:t>!</a:t>
            </a:r>
          </a:p>
          <a:p>
            <a:pPr lvl="1"/>
            <a:r>
              <a:rPr lang="en-US" dirty="0">
                <a:latin typeface="Courier10 BT" pitchFamily="49" charset="0"/>
              </a:rPr>
              <a:t>String s1</a:t>
            </a:r>
            <a:r>
              <a:rPr lang="en-US" dirty="0"/>
              <a:t> = “A string”;</a:t>
            </a:r>
          </a:p>
          <a:p>
            <a:pPr lvl="1"/>
            <a:r>
              <a:rPr lang="en-US" dirty="0">
                <a:latin typeface="Courier10 BT" pitchFamily="49" charset="0"/>
              </a:rPr>
              <a:t>String s2</a:t>
            </a:r>
            <a:r>
              <a:rPr lang="en-US" dirty="0"/>
              <a:t> = “A string”;</a:t>
            </a:r>
          </a:p>
          <a:p>
            <a:pPr lvl="1"/>
            <a:r>
              <a:rPr lang="en-US" dirty="0"/>
              <a:t>Modify </a:t>
            </a:r>
            <a:r>
              <a:rPr lang="en-US" dirty="0">
                <a:latin typeface="Courier10 BT" pitchFamily="49" charset="0"/>
              </a:rPr>
              <a:t>s2</a:t>
            </a:r>
            <a:r>
              <a:rPr lang="en-US" dirty="0"/>
              <a:t>:</a:t>
            </a:r>
          </a:p>
          <a:p>
            <a:pPr lvl="2">
              <a:buNone/>
            </a:pPr>
            <a:r>
              <a:rPr lang="en-US" sz="1700" dirty="0" err="1">
                <a:latin typeface="Courier10 BT" pitchFamily="49" charset="0"/>
              </a:rPr>
              <a:t>s2</a:t>
            </a:r>
            <a:r>
              <a:rPr lang="en-US" sz="1700" dirty="0">
                <a:latin typeface="Courier10 BT" pitchFamily="49" charset="0"/>
              </a:rPr>
              <a:t> = </a:t>
            </a:r>
            <a:r>
              <a:rPr lang="en-US" sz="1700" dirty="0" err="1">
                <a:latin typeface="Courier10 BT" pitchFamily="49" charset="0"/>
              </a:rPr>
              <a:t>s2</a:t>
            </a:r>
            <a:r>
              <a:rPr lang="en-US" sz="1700" dirty="0">
                <a:latin typeface="Courier10 BT" pitchFamily="49" charset="0"/>
              </a:rPr>
              <a:t> + " that has been modified";</a:t>
            </a:r>
          </a:p>
          <a:p>
            <a:pPr lvl="1"/>
            <a:r>
              <a:rPr lang="en-US" dirty="0"/>
              <a:t>Check whether </a:t>
            </a:r>
            <a:r>
              <a:rPr lang="en-US" dirty="0" err="1">
                <a:latin typeface="Courier10 BT" pitchFamily="49" charset="0"/>
              </a:rPr>
              <a:t>s1</a:t>
            </a:r>
            <a:r>
              <a:rPr lang="en-US" dirty="0"/>
              <a:t> has changed:</a:t>
            </a:r>
          </a:p>
          <a:p>
            <a:pPr lvl="2">
              <a:buNone/>
            </a:pPr>
            <a:r>
              <a:rPr lang="en-US" sz="1700" dirty="0" err="1">
                <a:latin typeface="Courier10 BT" pitchFamily="49" charset="0"/>
              </a:rPr>
              <a:t>System.out.println</a:t>
            </a:r>
            <a:r>
              <a:rPr lang="en-US" sz="1700" dirty="0">
                <a:latin typeface="Courier10 BT" pitchFamily="49" charset="0"/>
              </a:rPr>
              <a:t>(</a:t>
            </a:r>
            <a:r>
              <a:rPr lang="en-US" sz="1700" dirty="0" err="1">
                <a:latin typeface="Courier10 BT" pitchFamily="49" charset="0"/>
              </a:rPr>
              <a:t>s1</a:t>
            </a:r>
            <a:r>
              <a:rPr lang="en-US" sz="1700" dirty="0">
                <a:latin typeface="Courier10 BT" pitchFamily="49" charset="0"/>
              </a:rPr>
              <a:t>); // prints out "A string"</a:t>
            </a:r>
          </a:p>
          <a:p>
            <a:pPr lvl="1"/>
            <a:r>
              <a:rPr lang="en-US" dirty="0"/>
              <a:t>However, </a:t>
            </a:r>
            <a:r>
              <a:rPr lang="en-US" dirty="0">
                <a:latin typeface="Courier10 BT" pitchFamily="49" charset="0"/>
              </a:rPr>
              <a:t>s2</a:t>
            </a:r>
            <a:r>
              <a:rPr lang="en-US" dirty="0"/>
              <a:t> is now assigned to a new object :</a:t>
            </a:r>
          </a:p>
          <a:p>
            <a:pPr lvl="2"/>
            <a:r>
              <a:rPr lang="en-US" sz="1700" dirty="0" err="1">
                <a:latin typeface="Courier10 BT" pitchFamily="49" charset="0"/>
              </a:rPr>
              <a:t>System.out.println</a:t>
            </a:r>
            <a:r>
              <a:rPr lang="en-US" sz="1700" dirty="0">
                <a:latin typeface="Courier10 BT" pitchFamily="49" charset="0"/>
              </a:rPr>
              <a:t>(s2); // prints out "A string that has been modified"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45765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0526" y="753203"/>
            <a:ext cx="7333190" cy="742724"/>
          </a:xfrm>
        </p:spPr>
        <p:txBody>
          <a:bodyPr/>
          <a:lstStyle/>
          <a:p>
            <a:r>
              <a:rPr lang="en-US" dirty="0"/>
              <a:t>Some Methods in Class </a:t>
            </a:r>
            <a:r>
              <a:rPr lang="en-US" dirty="0">
                <a:latin typeface="Courier10 BT" pitchFamily="49" charset="0"/>
              </a:rPr>
              <a:t>String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0222" y="2049982"/>
            <a:ext cx="6479521" cy="436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1249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37161"/>
            <a:ext cx="4265137" cy="698608"/>
          </a:xfrm>
        </p:spPr>
        <p:txBody>
          <a:bodyPr/>
          <a:lstStyle/>
          <a:p>
            <a:r>
              <a:rPr lang="en-US" dirty="0"/>
              <a:t>Length of a String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2219718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sz="2000" dirty="0">
                <a:latin typeface="Courier10 BT" pitchFamily="49" charset="0"/>
              </a:rPr>
              <a:t>length</a:t>
            </a:r>
            <a:r>
              <a:rPr lang="en-US" dirty="0"/>
              <a:t> </a:t>
            </a:r>
            <a:r>
              <a:rPr lang="en-US" i="1" dirty="0"/>
              <a:t>method</a:t>
            </a:r>
            <a:r>
              <a:rPr lang="en-US" dirty="0"/>
              <a:t> print out the length of a string. </a:t>
            </a:r>
          </a:p>
          <a:p>
            <a:r>
              <a:rPr lang="en-US" dirty="0"/>
              <a:t>This is different from the </a:t>
            </a:r>
            <a:r>
              <a:rPr lang="en-US" i="1" dirty="0"/>
              <a:t>field</a:t>
            </a:r>
            <a:r>
              <a:rPr lang="en-US" dirty="0"/>
              <a:t> </a:t>
            </a:r>
            <a:r>
              <a:rPr lang="en-US" sz="2000" dirty="0">
                <a:latin typeface="Courier10 BT" pitchFamily="49" charset="0"/>
              </a:rPr>
              <a:t>length</a:t>
            </a:r>
            <a:r>
              <a:rPr lang="en-US" dirty="0"/>
              <a:t> used to print out the length of an array. </a:t>
            </a:r>
          </a:p>
          <a:p>
            <a:r>
              <a:rPr lang="en-US" dirty="0"/>
              <a:t>For example, print the length of the string </a:t>
            </a:r>
            <a:r>
              <a:rPr lang="en-US" sz="2000" dirty="0">
                <a:latin typeface="Courier"/>
                <a:cs typeface="Courier"/>
              </a:rPr>
              <a:t>city</a:t>
            </a:r>
            <a:r>
              <a:rPr lang="en-US" dirty="0"/>
              <a:t>:</a:t>
            </a:r>
          </a:p>
          <a:p>
            <a:pPr lvl="1">
              <a:buNone/>
            </a:pPr>
            <a:r>
              <a:rPr lang="en-US" sz="1800" dirty="0">
                <a:latin typeface="Courier10 BT" pitchFamily="49" charset="0"/>
              </a:rPr>
              <a:t>String city = "New York";</a:t>
            </a:r>
          </a:p>
          <a:p>
            <a:pPr lvl="1">
              <a:buNone/>
            </a:pPr>
            <a:r>
              <a:rPr lang="en-US" sz="1800" dirty="0" err="1">
                <a:latin typeface="Courier10 BT" pitchFamily="49" charset="0"/>
              </a:rPr>
              <a:t>System.out.println</a:t>
            </a:r>
            <a:r>
              <a:rPr lang="en-US" sz="1800" dirty="0">
                <a:latin typeface="Courier10 BT" pitchFamily="49" charset="0"/>
              </a:rPr>
              <a:t>(</a:t>
            </a:r>
            <a:r>
              <a:rPr lang="en-US" sz="1800" dirty="0" err="1">
                <a:latin typeface="Courier10 BT" pitchFamily="49" charset="0"/>
              </a:rPr>
              <a:t>city.length</a:t>
            </a:r>
            <a:r>
              <a:rPr lang="en-US" sz="1800" dirty="0">
                <a:latin typeface="Courier10 BT" pitchFamily="49" charset="0"/>
              </a:rPr>
              <a:t>()); // prints out 8				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24200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13452"/>
            <a:ext cx="4437589" cy="786485"/>
          </a:xfrm>
        </p:spPr>
        <p:txBody>
          <a:bodyPr/>
          <a:lstStyle/>
          <a:p>
            <a:r>
              <a:rPr lang="en-US" dirty="0"/>
              <a:t>Comparing Strings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Use the </a:t>
            </a:r>
            <a:r>
              <a:rPr lang="en-US" sz="1900" dirty="0">
                <a:latin typeface="Courier10 BT" pitchFamily="49" charset="0"/>
              </a:rPr>
              <a:t>equals</a:t>
            </a:r>
            <a:r>
              <a:rPr lang="en-US" dirty="0"/>
              <a:t> </a:t>
            </a:r>
            <a:r>
              <a:rPr lang="en-US" i="1" dirty="0"/>
              <a:t>method</a:t>
            </a:r>
            <a:r>
              <a:rPr lang="en-US" dirty="0"/>
              <a:t> to determine if two strings are identical. </a:t>
            </a:r>
          </a:p>
          <a:p>
            <a:r>
              <a:rPr lang="en-US" dirty="0"/>
              <a:t>The equals </a:t>
            </a:r>
            <a:r>
              <a:rPr lang="en-US" i="1" dirty="0"/>
              <a:t>sign</a:t>
            </a:r>
            <a:r>
              <a:rPr lang="en-US" dirty="0"/>
              <a:t> should not be used to compare strings. 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Two strings </a:t>
            </a:r>
            <a:r>
              <a:rPr lang="en-US" sz="1900" dirty="0" err="1">
                <a:latin typeface="Courier10 BT" pitchFamily="49" charset="0"/>
              </a:rPr>
              <a:t>str1</a:t>
            </a:r>
            <a:r>
              <a:rPr lang="en-US" dirty="0"/>
              <a:t> and </a:t>
            </a:r>
            <a:r>
              <a:rPr lang="en-US" sz="1900" dirty="0" err="1">
                <a:latin typeface="Courier10 BT" pitchFamily="49" charset="0"/>
              </a:rPr>
              <a:t>str2</a:t>
            </a:r>
            <a:r>
              <a:rPr lang="en-US" sz="1900" dirty="0">
                <a:latin typeface="Courier10 BT" pitchFamily="49" charset="0"/>
              </a:rPr>
              <a:t> </a:t>
            </a:r>
          </a:p>
          <a:p>
            <a:pPr lvl="2">
              <a:buNone/>
            </a:pPr>
            <a:r>
              <a:rPr lang="en-US" dirty="0"/>
              <a:t>The </a:t>
            </a:r>
            <a:r>
              <a:rPr lang="en-US" sz="1900" dirty="0">
                <a:latin typeface="Courier10 BT" pitchFamily="49" charset="0"/>
              </a:rPr>
              <a:t>equals</a:t>
            </a:r>
            <a:r>
              <a:rPr lang="en-US" dirty="0"/>
              <a:t> </a:t>
            </a:r>
            <a:r>
              <a:rPr lang="en-US" dirty="0" err="1"/>
              <a:t>method</a:t>
            </a:r>
            <a:r>
              <a:rPr lang="en-US" sz="1700" dirty="0" err="1">
                <a:latin typeface="Courier10 BT" pitchFamily="49" charset="0"/>
              </a:rPr>
              <a:t>String</a:t>
            </a:r>
            <a:r>
              <a:rPr lang="en-US" sz="1700" dirty="0">
                <a:latin typeface="Courier10 BT" pitchFamily="49" charset="0"/>
              </a:rPr>
              <a:t> str1 = new String("How now brown cow?");</a:t>
            </a:r>
          </a:p>
          <a:p>
            <a:pPr lvl="2">
              <a:buNone/>
            </a:pPr>
            <a:r>
              <a:rPr lang="en-US" sz="1700" dirty="0">
                <a:latin typeface="Courier10 BT" pitchFamily="49" charset="0"/>
              </a:rPr>
              <a:t>String str2 = new String("How now brown cow?");</a:t>
            </a:r>
          </a:p>
          <a:p>
            <a:pPr lvl="1"/>
            <a:r>
              <a:rPr lang="en-US" dirty="0"/>
              <a:t>Since the string </a:t>
            </a:r>
            <a:r>
              <a:rPr lang="en-US" b="1" dirty="0">
                <a:solidFill>
                  <a:srgbClr val="00B0F0"/>
                </a:solidFill>
              </a:rPr>
              <a:t>literals</a:t>
            </a:r>
            <a:r>
              <a:rPr lang="en-US" dirty="0"/>
              <a:t> are identical, the </a:t>
            </a:r>
            <a:r>
              <a:rPr lang="en-US" sz="1900" dirty="0">
                <a:latin typeface="Courier10 BT" pitchFamily="49" charset="0"/>
              </a:rPr>
              <a:t>equals</a:t>
            </a:r>
            <a:r>
              <a:rPr lang="en-US" dirty="0"/>
              <a:t> method returns </a:t>
            </a:r>
            <a:r>
              <a:rPr lang="en-US" dirty="0">
                <a:latin typeface="Courier10 BT" pitchFamily="49" charset="0"/>
              </a:rPr>
              <a:t>true</a:t>
            </a:r>
            <a:r>
              <a:rPr lang="en-US" dirty="0"/>
              <a:t>:</a:t>
            </a:r>
          </a:p>
          <a:p>
            <a:pPr lvl="2">
              <a:buNone/>
            </a:pPr>
            <a:r>
              <a:rPr lang="en-US" sz="1700" dirty="0">
                <a:latin typeface="Courier10 BT" pitchFamily="49" charset="0"/>
              </a:rPr>
              <a:t>str1.equals(str2); 	// returns true</a:t>
            </a:r>
          </a:p>
          <a:p>
            <a:pPr lvl="1"/>
            <a:r>
              <a:rPr lang="en-US" dirty="0"/>
              <a:t>Using equals sign returns </a:t>
            </a:r>
            <a:r>
              <a:rPr lang="en-US" sz="1900" dirty="0">
                <a:latin typeface="Courier10 BT" pitchFamily="49" charset="0"/>
              </a:rPr>
              <a:t>false</a:t>
            </a:r>
            <a:r>
              <a:rPr lang="en-US" dirty="0"/>
              <a:t>:</a:t>
            </a:r>
          </a:p>
          <a:p>
            <a:pPr lvl="2">
              <a:buNone/>
            </a:pPr>
            <a:r>
              <a:rPr lang="en-US" sz="1700" dirty="0">
                <a:latin typeface="Courier10 BT" pitchFamily="49" charset="0"/>
              </a:rPr>
              <a:t>str1 </a:t>
            </a:r>
            <a:r>
              <a:rPr lang="en-US" sz="1700">
                <a:latin typeface="Courier10 BT" pitchFamily="49" charset="0"/>
              </a:rPr>
              <a:t>== str2</a:t>
            </a:r>
            <a:r>
              <a:rPr lang="en-US" sz="1700" dirty="0">
                <a:latin typeface="Courier10 BT" pitchFamily="49" charset="0"/>
              </a:rPr>
              <a:t>		// condition is false</a:t>
            </a:r>
          </a:p>
          <a:p>
            <a:r>
              <a:rPr lang="en-US" dirty="0"/>
              <a:t> will return false if the argument passed to it is not of type </a:t>
            </a:r>
            <a:r>
              <a:rPr lang="en-US" sz="1900" dirty="0">
                <a:latin typeface="Courier10 BT" pitchFamily="49" charset="0"/>
              </a:rPr>
              <a:t>String</a:t>
            </a:r>
            <a:r>
              <a:rPr lang="en-US" dirty="0"/>
              <a:t>. 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21392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53202"/>
            <a:ext cx="6126021" cy="686577"/>
          </a:xfrm>
        </p:spPr>
        <p:txBody>
          <a:bodyPr>
            <a:normAutofit/>
          </a:bodyPr>
          <a:lstStyle/>
          <a:p>
            <a:r>
              <a:rPr lang="en-US" dirty="0"/>
              <a:t>Methods Retrieve an Index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Use </a:t>
            </a:r>
            <a:r>
              <a:rPr lang="en-US" sz="2000" dirty="0" err="1">
                <a:latin typeface="Courier10 BT" pitchFamily="49" charset="0"/>
              </a:rPr>
              <a:t>charAt</a:t>
            </a:r>
            <a:r>
              <a:rPr lang="en-US" dirty="0"/>
              <a:t> method to find out which character occurs at a particular index in a string: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r>
              <a:rPr lang="en-US" dirty="0"/>
              <a:t>Finding the index of the specified character in a string: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352759" y="3174776"/>
            <a:ext cx="7438604" cy="584775"/>
          </a:xfrm>
          <a:prstGeom prst="rect">
            <a:avLst/>
          </a:prstGeom>
          <a:solidFill>
            <a:srgbClr val="FFFFCC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String city = "New York";</a:t>
            </a:r>
          </a:p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char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ch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=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city.charAt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(2); //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ch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is assigned the value "w"</a:t>
            </a:r>
          </a:p>
        </p:txBody>
      </p:sp>
      <p:sp>
        <p:nvSpPr>
          <p:cNvPr id="9" name="Rectangle 8"/>
          <p:cNvSpPr/>
          <p:nvPr/>
        </p:nvSpPr>
        <p:spPr>
          <a:xfrm>
            <a:off x="2381687" y="4914957"/>
            <a:ext cx="7526942" cy="1323439"/>
          </a:xfrm>
          <a:prstGeom prst="rect">
            <a:avLst/>
          </a:prstGeom>
          <a:solidFill>
            <a:srgbClr val="FFFFCC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String ocean = "Atlantic Ocean";</a:t>
            </a:r>
          </a:p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int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index1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=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ocean.indexOf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('a');       //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index1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= 3</a:t>
            </a:r>
          </a:p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int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index2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=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ocean.lastIndexOf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('a');   //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index2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= 12</a:t>
            </a:r>
          </a:p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int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index3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=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ocean.indexOf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('a', 4);    //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index3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= 12</a:t>
            </a:r>
          </a:p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int index4 =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ocean.lastIndexOf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('a', 0);// index4 = -1</a:t>
            </a:r>
          </a:p>
        </p:txBody>
      </p:sp>
    </p:spTree>
    <p:extLst>
      <p:ext uri="{BB962C8B-B14F-4D97-AF65-F5344CB8AC3E}">
        <p14:creationId xmlns:p14="http://schemas.microsoft.com/office/powerpoint/2010/main" val="32234535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57213"/>
            <a:ext cx="5654447" cy="698376"/>
          </a:xfrm>
        </p:spPr>
        <p:txBody>
          <a:bodyPr>
            <a:normAutofit/>
          </a:bodyPr>
          <a:lstStyle/>
          <a:p>
            <a:r>
              <a:rPr lang="en-US" dirty="0"/>
              <a:t>Methods For Substrings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Examples:</a:t>
            </a:r>
          </a:p>
          <a:p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697345" y="4648266"/>
            <a:ext cx="6988822" cy="1815882"/>
          </a:xfrm>
          <a:prstGeom prst="rect">
            <a:avLst/>
          </a:prstGeom>
          <a:solidFill>
            <a:srgbClr val="FFFFCC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String city = "San Francisco";</a:t>
            </a:r>
          </a:p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city.startsWith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("San F");  		// returns true</a:t>
            </a:r>
          </a:p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city.startsWith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("Francisco");		// returns false</a:t>
            </a:r>
          </a:p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city.endsWith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("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sco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");			// returns true</a:t>
            </a:r>
          </a:p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city.endsWith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("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esco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");			// returns false</a:t>
            </a:r>
          </a:p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city.startsWith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("San Francisco");	// returns true</a:t>
            </a:r>
          </a:p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city.endsWith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("San Francisco"); 	// returns true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7958" y="2094251"/>
            <a:ext cx="5690494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4785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53202"/>
            <a:ext cx="2259873" cy="730693"/>
          </a:xfrm>
        </p:spPr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What is returned by </a:t>
            </a:r>
            <a:r>
              <a:rPr lang="en-US" i="1" dirty="0">
                <a:solidFill>
                  <a:schemeClr val="tx1"/>
                </a:solidFill>
              </a:rPr>
              <a:t>each</a:t>
            </a:r>
            <a:r>
              <a:rPr lang="en-US" dirty="0">
                <a:solidFill>
                  <a:schemeClr val="tx1"/>
                </a:solidFill>
              </a:rPr>
              <a:t> call to method </a:t>
            </a:r>
            <a:r>
              <a:rPr lang="en-US" sz="2000" dirty="0">
                <a:solidFill>
                  <a:schemeClr val="tx1"/>
                </a:solidFill>
                <a:latin typeface="Courier10 BT" pitchFamily="49" charset="0"/>
              </a:rPr>
              <a:t>substring</a:t>
            </a:r>
            <a:r>
              <a:rPr lang="en-US" dirty="0">
                <a:solidFill>
                  <a:schemeClr val="tx1"/>
                </a:solidFill>
              </a:rPr>
              <a:t>?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495044" y="2996085"/>
            <a:ext cx="5779062" cy="1323439"/>
          </a:xfrm>
          <a:prstGeom prst="rect">
            <a:avLst/>
          </a:prstGeom>
          <a:solidFill>
            <a:srgbClr val="FFFFCC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String word = "meteorological";</a:t>
            </a:r>
          </a:p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10 BT" pitchFamily="49" charset="0"/>
              <a:ea typeface="+mn-ea"/>
              <a:cs typeface="+mn-cs"/>
            </a:endParaRPr>
          </a:p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System.out.println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word.substring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(7));	</a:t>
            </a:r>
          </a:p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System.out.println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word.substring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(0, 6));	</a:t>
            </a:r>
          </a:p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System.out.println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word.substring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(5, 0));	</a:t>
            </a:r>
          </a:p>
        </p:txBody>
      </p:sp>
    </p:spTree>
    <p:extLst>
      <p:ext uri="{BB962C8B-B14F-4D97-AF65-F5344CB8AC3E}">
        <p14:creationId xmlns:p14="http://schemas.microsoft.com/office/powerpoint/2010/main" val="18244952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2505" y="757214"/>
            <a:ext cx="2271906" cy="818924"/>
          </a:xfrm>
        </p:spPr>
        <p:txBody>
          <a:bodyPr/>
          <a:lstStyle/>
          <a:p>
            <a:r>
              <a:rPr lang="en-US" dirty="0"/>
              <a:t>Solution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2204" y="3082013"/>
            <a:ext cx="7854248" cy="1300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3750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59" y="741171"/>
            <a:ext cx="7084536" cy="770797"/>
          </a:xfrm>
        </p:spPr>
        <p:txBody>
          <a:bodyPr/>
          <a:lstStyle/>
          <a:p>
            <a:r>
              <a:rPr lang="en-US" dirty="0"/>
              <a:t>More Methods in Class </a:t>
            </a:r>
            <a:r>
              <a:rPr lang="en-US" dirty="0">
                <a:latin typeface="Courier10 BT" pitchFamily="49" charset="0"/>
              </a:rPr>
              <a:t>String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6477" y="2189570"/>
            <a:ext cx="6891133" cy="3709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8687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46565"/>
            <a:ext cx="5616684" cy="673161"/>
          </a:xfrm>
        </p:spPr>
        <p:txBody>
          <a:bodyPr/>
          <a:lstStyle/>
          <a:p>
            <a:r>
              <a:rPr lang="en-US" dirty="0"/>
              <a:t>Concatenation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Concatenation</a:t>
            </a:r>
            <a:r>
              <a:rPr lang="en-US" dirty="0"/>
              <a:t> </a:t>
            </a:r>
            <a:r>
              <a:rPr lang="en-US" b="1" dirty="0"/>
              <a:t>operator (</a:t>
            </a:r>
            <a:r>
              <a:rPr lang="en-US" b="1" dirty="0">
                <a:latin typeface="Courier10 BT" pitchFamily="49" charset="0"/>
              </a:rPr>
              <a:t>+</a:t>
            </a:r>
            <a:r>
              <a:rPr lang="en-US" b="1" dirty="0"/>
              <a:t>) </a:t>
            </a:r>
            <a:r>
              <a:rPr lang="en-US" dirty="0"/>
              <a:t>combines multiple strings:</a:t>
            </a:r>
          </a:p>
          <a:p>
            <a:r>
              <a:rPr lang="en-US" dirty="0"/>
              <a:t>Example:</a:t>
            </a:r>
          </a:p>
          <a:p>
            <a:endParaRPr lang="en-US" dirty="0"/>
          </a:p>
          <a:p>
            <a:pPr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Use </a:t>
            </a:r>
            <a:r>
              <a:rPr lang="en-US" dirty="0">
                <a:latin typeface="Courier10 BT" pitchFamily="49" charset="0"/>
              </a:rPr>
              <a:t>+</a:t>
            </a:r>
            <a:r>
              <a:rPr lang="en-US" dirty="0"/>
              <a:t> when a string does not fit on a single line: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252957" y="3566726"/>
            <a:ext cx="7283507" cy="1077218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String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firstName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= "Joan";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String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lastName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= "Wright";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String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fullName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=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firstName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+ " " +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lastName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;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System.out.println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fullName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);  // prints out: Joan Wright</a:t>
            </a:r>
          </a:p>
        </p:txBody>
      </p:sp>
      <p:sp>
        <p:nvSpPr>
          <p:cNvPr id="7" name="Rectangle 6"/>
          <p:cNvSpPr/>
          <p:nvPr/>
        </p:nvSpPr>
        <p:spPr>
          <a:xfrm>
            <a:off x="2208450" y="5427731"/>
            <a:ext cx="7328014" cy="584775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String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fearOfLongWords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= "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Hippopotomonst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" + 		"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rosesquipedaliophobia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";</a:t>
            </a:r>
          </a:p>
        </p:txBody>
      </p:sp>
    </p:spTree>
    <p:extLst>
      <p:ext uri="{BB962C8B-B14F-4D97-AF65-F5344CB8AC3E}">
        <p14:creationId xmlns:p14="http://schemas.microsoft.com/office/powerpoint/2010/main" val="7740093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61224"/>
            <a:ext cx="5191568" cy="690588"/>
          </a:xfrm>
        </p:spPr>
        <p:txBody>
          <a:bodyPr/>
          <a:lstStyle/>
          <a:p>
            <a:r>
              <a:rPr lang="en-US" dirty="0"/>
              <a:t>Concatenating Strings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method </a:t>
            </a:r>
            <a:r>
              <a:rPr lang="en-US" sz="2000" dirty="0" err="1">
                <a:latin typeface="Courier10 BT" pitchFamily="49" charset="0"/>
              </a:rPr>
              <a:t>concat</a:t>
            </a:r>
            <a:r>
              <a:rPr lang="en-US" dirty="0"/>
              <a:t> to combine strings.</a:t>
            </a:r>
          </a:p>
          <a:p>
            <a:r>
              <a:rPr lang="en-US" dirty="0"/>
              <a:t>Examples:</a:t>
            </a:r>
          </a:p>
          <a:p>
            <a:pPr lvl="1">
              <a:buNone/>
            </a:pPr>
            <a:endParaRPr lang="en-US" sz="1800" dirty="0">
              <a:latin typeface="Courier10 BT" pitchFamily="49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128205" y="3460695"/>
            <a:ext cx="8067760" cy="1569660"/>
          </a:xfrm>
          <a:prstGeom prst="rect">
            <a:avLst/>
          </a:prstGeom>
          <a:solidFill>
            <a:srgbClr val="FFFFCC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String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s1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= "Par";</a:t>
            </a:r>
          </a:p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String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s2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=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s1.concat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("is");</a:t>
            </a:r>
          </a:p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System.out.println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s2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);  // prints out “Paris”</a:t>
            </a:r>
          </a:p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String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s3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= " is the capital of France.";</a:t>
            </a:r>
          </a:p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String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s4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=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s2.concat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s3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);</a:t>
            </a:r>
          </a:p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System.out.println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s4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);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// prints “Paris is the capital of France”</a:t>
            </a:r>
          </a:p>
        </p:txBody>
      </p:sp>
    </p:spTree>
    <p:extLst>
      <p:ext uri="{BB962C8B-B14F-4D97-AF65-F5344CB8AC3E}">
        <p14:creationId xmlns:p14="http://schemas.microsoft.com/office/powerpoint/2010/main" val="12600065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45523"/>
            <a:ext cx="7461526" cy="670193"/>
          </a:xfrm>
        </p:spPr>
        <p:txBody>
          <a:bodyPr/>
          <a:lstStyle/>
          <a:p>
            <a:r>
              <a:rPr lang="en-US" dirty="0"/>
              <a:t>Replacing/Removing Characters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sz="2000" dirty="0">
                <a:latin typeface="Courier10 BT" pitchFamily="49" charset="0"/>
              </a:rPr>
              <a:t>replace</a:t>
            </a:r>
            <a:r>
              <a:rPr lang="en-US" dirty="0"/>
              <a:t> and </a:t>
            </a:r>
            <a:r>
              <a:rPr lang="en-US" sz="2000" dirty="0">
                <a:latin typeface="Courier10 BT" pitchFamily="49" charset="0"/>
              </a:rPr>
              <a:t>trim</a:t>
            </a:r>
            <a:r>
              <a:rPr lang="en-US" dirty="0"/>
              <a:t> methods substitute and remove particular characters, from the string. </a:t>
            </a:r>
          </a:p>
          <a:p>
            <a:r>
              <a:rPr lang="en-US" dirty="0"/>
              <a:t>Example:</a:t>
            </a:r>
          </a:p>
          <a:p>
            <a:pPr>
              <a:buNone/>
            </a:pPr>
            <a:endParaRPr lang="en-US" sz="2000" dirty="0">
              <a:latin typeface="Courier10 BT" pitchFamily="49" charset="0"/>
            </a:endParaRPr>
          </a:p>
          <a:p>
            <a:pPr lvl="1"/>
            <a:endParaRPr lang="en-US" sz="1800" dirty="0">
              <a:latin typeface="Courier10 BT" pitchFamily="49" charset="0"/>
            </a:endParaRPr>
          </a:p>
          <a:p>
            <a:pPr lvl="1"/>
            <a:r>
              <a:rPr lang="en-US" sz="1800" dirty="0" err="1">
                <a:latin typeface="Courier10 BT" pitchFamily="49" charset="0"/>
              </a:rPr>
              <a:t>word1</a:t>
            </a:r>
            <a:r>
              <a:rPr lang="en-US" dirty="0"/>
              <a:t> references the new string “</a:t>
            </a:r>
            <a:r>
              <a:rPr lang="en-US" dirty="0" err="1"/>
              <a:t>binyin</a:t>
            </a:r>
            <a:r>
              <a:rPr lang="en-US" dirty="0"/>
              <a:t>”, and </a:t>
            </a:r>
            <a:r>
              <a:rPr lang="en-US" sz="1800" dirty="0" err="1">
                <a:latin typeface="Courier10 BT" pitchFamily="49" charset="0"/>
              </a:rPr>
              <a:t>word2</a:t>
            </a:r>
            <a:r>
              <a:rPr lang="en-US" dirty="0"/>
              <a:t> references “pinyin”. </a:t>
            </a:r>
          </a:p>
          <a:p>
            <a:r>
              <a:rPr lang="en-US" dirty="0"/>
              <a:t>Use method </a:t>
            </a:r>
            <a:r>
              <a:rPr lang="en-US" sz="2000" dirty="0">
                <a:latin typeface="Courier10 BT" pitchFamily="49" charset="0"/>
              </a:rPr>
              <a:t>trim </a:t>
            </a:r>
            <a:r>
              <a:rPr lang="en-US" dirty="0"/>
              <a:t>to remove spaces at the beginning and the end of a string :</a:t>
            </a:r>
          </a:p>
          <a:p>
            <a:pPr lvl="1">
              <a:buNone/>
            </a:pPr>
            <a:r>
              <a:rPr lang="en-US" sz="1800" dirty="0">
                <a:latin typeface="Courier10 BT" pitchFamily="49" charset="0"/>
              </a:rPr>
              <a:t>String pie = " apple pie  ".trim();	</a:t>
            </a:r>
            <a:r>
              <a:rPr lang="en-US" dirty="0"/>
              <a:t>  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709933" y="3478227"/>
            <a:ext cx="6555448" cy="646331"/>
          </a:xfrm>
          <a:prstGeom prst="rect">
            <a:avLst/>
          </a:prstGeom>
          <a:solidFill>
            <a:srgbClr val="FFFFCC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String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word1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= "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banyan".replace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('a', '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i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'); </a:t>
            </a:r>
          </a:p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String word2 = "word1.replace('b', 'p');</a:t>
            </a:r>
          </a:p>
        </p:txBody>
      </p:sp>
    </p:spTree>
    <p:extLst>
      <p:ext uri="{BB962C8B-B14F-4D97-AF65-F5344CB8AC3E}">
        <p14:creationId xmlns:p14="http://schemas.microsoft.com/office/powerpoint/2010/main" val="37518893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61224"/>
            <a:ext cx="8913337" cy="650482"/>
          </a:xfrm>
        </p:spPr>
        <p:txBody>
          <a:bodyPr/>
          <a:lstStyle/>
          <a:p>
            <a:r>
              <a:rPr lang="en-US" dirty="0"/>
              <a:t>Converting to Uppercase or Lowercase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methods </a:t>
            </a:r>
            <a:r>
              <a:rPr lang="en-US" sz="2000" dirty="0" err="1">
                <a:latin typeface="Courier10 BT" pitchFamily="49" charset="0"/>
              </a:rPr>
              <a:t>toLowerCase</a:t>
            </a:r>
            <a:r>
              <a:rPr lang="en-US" dirty="0"/>
              <a:t> and </a:t>
            </a:r>
            <a:r>
              <a:rPr lang="en-US" sz="2000" dirty="0" err="1">
                <a:latin typeface="Courier10 BT" pitchFamily="49" charset="0"/>
              </a:rPr>
              <a:t>toUpperCase</a:t>
            </a:r>
            <a:r>
              <a:rPr lang="en-US" dirty="0"/>
              <a:t>.</a:t>
            </a:r>
          </a:p>
          <a:p>
            <a:r>
              <a:rPr lang="en-US" dirty="0"/>
              <a:t>Examples: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741851" y="3052047"/>
            <a:ext cx="8841897" cy="646331"/>
          </a:xfrm>
          <a:prstGeom prst="rect">
            <a:avLst/>
          </a:prstGeom>
          <a:solidFill>
            <a:srgbClr val="FFFFCC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"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frieNd".toLowerCase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();	// returns the string "friend"</a:t>
            </a:r>
          </a:p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"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frieNd".toUpperCase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();   // returns the string "FRIEND"</a:t>
            </a:r>
          </a:p>
        </p:txBody>
      </p:sp>
    </p:spTree>
    <p:extLst>
      <p:ext uri="{BB962C8B-B14F-4D97-AF65-F5344CB8AC3E}">
        <p14:creationId xmlns:p14="http://schemas.microsoft.com/office/powerpoint/2010/main" val="10008952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855D3-876C-C343-BD87-E7730E1CF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String.format</a:t>
            </a:r>
            <a:br>
              <a:rPr lang="en-US" dirty="0"/>
            </a:br>
            <a:r>
              <a:rPr lang="en-US" sz="3600" dirty="0"/>
              <a:t>(</a:t>
            </a:r>
            <a:r>
              <a:rPr lang="en-US" sz="3600" dirty="0" err="1"/>
              <a:t>printf</a:t>
            </a:r>
            <a:r>
              <a:rPr lang="en-US" sz="3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491776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66876"/>
            <a:ext cx="3968358" cy="688921"/>
          </a:xfrm>
        </p:spPr>
        <p:txBody>
          <a:bodyPr/>
          <a:lstStyle/>
          <a:p>
            <a:r>
              <a:rPr lang="en-US" dirty="0" err="1">
                <a:latin typeface="Courier10 BT" pitchFamily="49" charset="0"/>
              </a:rPr>
              <a:t>String.format</a:t>
            </a:r>
            <a:endParaRPr lang="en-US" dirty="0">
              <a:latin typeface="Courier10 BT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 static method in the </a:t>
            </a:r>
            <a:r>
              <a:rPr lang="en-US" sz="1800" dirty="0">
                <a:latin typeface="Courier10 BT" pitchFamily="49" charset="0"/>
              </a:rPr>
              <a:t>String</a:t>
            </a:r>
            <a:r>
              <a:rPr lang="en-US" dirty="0"/>
              <a:t> class used for formatting data.</a:t>
            </a:r>
          </a:p>
          <a:p>
            <a:r>
              <a:rPr lang="en-US" dirty="0"/>
              <a:t>It can have any number of arguments, but the first argument is always a </a:t>
            </a:r>
            <a:r>
              <a:rPr lang="en-US" b="1" dirty="0"/>
              <a:t>format string</a:t>
            </a:r>
            <a:r>
              <a:rPr lang="en-US" dirty="0"/>
              <a:t> containing </a:t>
            </a:r>
            <a:r>
              <a:rPr lang="en-US" b="1" dirty="0"/>
              <a:t>format </a:t>
            </a:r>
            <a:r>
              <a:rPr lang="en-US" b="1" dirty="0" err="1"/>
              <a:t>specifiers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format specifier </a:t>
            </a:r>
            <a:r>
              <a:rPr lang="en-US" dirty="0">
                <a:latin typeface="Courier10 BT" pitchFamily="49" charset="0"/>
              </a:rPr>
              <a:t>%f </a:t>
            </a:r>
            <a:r>
              <a:rPr lang="en-US" dirty="0"/>
              <a:t>acts as a placeholder in the format string for the second argument </a:t>
            </a:r>
            <a:r>
              <a:rPr lang="en-US" dirty="0" err="1">
                <a:latin typeface="Courier10 BT" pitchFamily="49" charset="0"/>
              </a:rPr>
              <a:t>val1</a:t>
            </a:r>
            <a:r>
              <a:rPr lang="en-US" dirty="0"/>
              <a:t>. </a:t>
            </a:r>
          </a:p>
          <a:p>
            <a:r>
              <a:rPr lang="en-US" dirty="0"/>
              <a:t>When the program is run, the value of </a:t>
            </a:r>
            <a:r>
              <a:rPr lang="en-US" sz="1900" dirty="0" err="1">
                <a:latin typeface="Courier10 BT" pitchFamily="49" charset="0"/>
              </a:rPr>
              <a:t>val1</a:t>
            </a:r>
            <a:r>
              <a:rPr lang="en-US" dirty="0"/>
              <a:t> will be substituted in the place of </a:t>
            </a:r>
            <a:r>
              <a:rPr lang="en-US" sz="1900" dirty="0">
                <a:latin typeface="Courier10 BT" pitchFamily="49" charset="0"/>
              </a:rPr>
              <a:t>%f</a:t>
            </a:r>
            <a:r>
              <a:rPr lang="en-US" dirty="0"/>
              <a:t>. 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27" name="AutoShape 3"/>
          <p:cNvSpPr>
            <a:spLocks/>
          </p:cNvSpPr>
          <p:nvPr/>
        </p:nvSpPr>
        <p:spPr bwMode="auto">
          <a:xfrm rot="5400000">
            <a:off x="5562600" y="3678502"/>
            <a:ext cx="152400" cy="1371600"/>
          </a:xfrm>
          <a:prstGeom prst="rightBrace">
            <a:avLst>
              <a:gd name="adj1" fmla="val 76278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5181600" y="4440503"/>
            <a:ext cx="16002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Arial" pitchFamily="34" charset="0"/>
              </a:rPr>
              <a:t>format string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029" name="Text Box 5"/>
          <p:cNvSpPr txBox="1">
            <a:spLocks noChangeArrowheads="1"/>
          </p:cNvSpPr>
          <p:nvPr/>
        </p:nvSpPr>
        <p:spPr bwMode="auto">
          <a:xfrm>
            <a:off x="2819400" y="3907103"/>
            <a:ext cx="54102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Arial" pitchFamily="34" charset="0"/>
              </a:rPr>
              <a:t>String s = 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urier10 BT" pitchFamily="49" charset="0"/>
                <a:ea typeface="+mn-ea"/>
                <a:cs typeface="Arial" pitchFamily="34" charset="0"/>
              </a:rPr>
              <a:t>String.format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Arial" pitchFamily="34" charset="0"/>
              </a:rPr>
              <a:t>("Value is =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urier10 BT" pitchFamily="49" charset="0"/>
                <a:ea typeface="+mn-ea"/>
                <a:cs typeface="Arial" pitchFamily="34" charset="0"/>
              </a:rPr>
              <a:t>%f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Arial" pitchFamily="34" charset="0"/>
              </a:rPr>
              <a:t>",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Arial" pitchFamily="34" charset="0"/>
              </a:rPr>
              <a:t>val1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Arial" pitchFamily="34" charset="0"/>
              </a:rPr>
              <a:t>);</a:t>
            </a:r>
          </a:p>
        </p:txBody>
      </p:sp>
      <p:sp>
        <p:nvSpPr>
          <p:cNvPr id="1030" name="Text Box 6"/>
          <p:cNvSpPr txBox="1">
            <a:spLocks noChangeArrowheads="1"/>
          </p:cNvSpPr>
          <p:nvPr/>
        </p:nvSpPr>
        <p:spPr bwMode="auto">
          <a:xfrm>
            <a:off x="5410200" y="3526103"/>
            <a:ext cx="16764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Arial" pitchFamily="34" charset="0"/>
              </a:rPr>
              <a:t>format specifier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031" name="Arc 7"/>
          <p:cNvSpPr>
            <a:spLocks/>
          </p:cNvSpPr>
          <p:nvPr/>
        </p:nvSpPr>
        <p:spPr bwMode="auto">
          <a:xfrm flipH="1">
            <a:off x="5943601" y="3830902"/>
            <a:ext cx="90805" cy="15748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8450"/>
              <a:gd name="T2" fmla="*/ 20485 w 21600"/>
              <a:gd name="T3" fmla="*/ 28450 h 28450"/>
              <a:gd name="T4" fmla="*/ 0 w 21600"/>
              <a:gd name="T5" fmla="*/ 21600 h 284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845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3928"/>
                  <a:pt x="21223" y="26241"/>
                  <a:pt x="20485" y="28450"/>
                </a:cubicBezTo>
              </a:path>
              <a:path w="21600" h="2845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3928"/>
                  <a:pt x="21223" y="26241"/>
                  <a:pt x="20485" y="2845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02726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53203"/>
            <a:ext cx="4429568" cy="891114"/>
          </a:xfrm>
        </p:spPr>
        <p:txBody>
          <a:bodyPr/>
          <a:lstStyle/>
          <a:p>
            <a:r>
              <a:rPr lang="en-US" dirty="0"/>
              <a:t>Format </a:t>
            </a:r>
            <a:r>
              <a:rPr lang="en-US" dirty="0" err="1"/>
              <a:t>Specifiers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format specifier </a:t>
            </a:r>
            <a:r>
              <a:rPr lang="en-US" dirty="0"/>
              <a:t>starts with the symbol % and is followed by a </a:t>
            </a:r>
            <a:r>
              <a:rPr lang="en-US" b="1" dirty="0"/>
              <a:t>conversion character</a:t>
            </a:r>
            <a:r>
              <a:rPr lang="en-US" dirty="0"/>
              <a:t> such as:</a:t>
            </a:r>
          </a:p>
          <a:p>
            <a:pPr lvl="1"/>
            <a:endParaRPr lang="en-US" dirty="0">
              <a:latin typeface="Courier10 BT" pitchFamily="49" charset="0"/>
            </a:endParaRPr>
          </a:p>
          <a:p>
            <a:pPr lvl="1"/>
            <a:r>
              <a:rPr lang="en-US" dirty="0">
                <a:latin typeface="Courier10 BT" pitchFamily="49" charset="0"/>
              </a:rPr>
              <a:t>d</a:t>
            </a:r>
            <a:r>
              <a:rPr lang="en-US" dirty="0"/>
              <a:t> (for decimal numbers),</a:t>
            </a:r>
          </a:p>
          <a:p>
            <a:pPr lvl="1"/>
            <a:r>
              <a:rPr lang="en-US" dirty="0">
                <a:latin typeface="Courier10 BT" pitchFamily="49" charset="0"/>
              </a:rPr>
              <a:t>f</a:t>
            </a:r>
            <a:r>
              <a:rPr lang="en-US" dirty="0"/>
              <a:t> (for floating-point numbers) </a:t>
            </a:r>
          </a:p>
          <a:p>
            <a:pPr lvl="1"/>
            <a:r>
              <a:rPr lang="en-US" dirty="0">
                <a:latin typeface="Courier10 BT" pitchFamily="49" charset="0"/>
              </a:rPr>
              <a:t>c</a:t>
            </a:r>
            <a:r>
              <a:rPr lang="en-US" dirty="0"/>
              <a:t> (for character data)</a:t>
            </a:r>
          </a:p>
          <a:p>
            <a:pPr lvl="1"/>
            <a:r>
              <a:rPr lang="en-US" dirty="0">
                <a:latin typeface="Courier10 BT" pitchFamily="49" charset="0"/>
              </a:rPr>
              <a:t>s</a:t>
            </a:r>
            <a:r>
              <a:rPr lang="en-US" dirty="0"/>
              <a:t> (for strings)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66822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13452"/>
            <a:ext cx="6759684" cy="758411"/>
          </a:xfrm>
        </p:spPr>
        <p:txBody>
          <a:bodyPr/>
          <a:lstStyle/>
          <a:p>
            <a:r>
              <a:rPr lang="en-US" dirty="0"/>
              <a:t>Examples of </a:t>
            </a:r>
            <a:r>
              <a:rPr lang="en-US" dirty="0" err="1">
                <a:latin typeface="Courier10 BT" pitchFamily="49" charset="0"/>
              </a:rPr>
              <a:t>String.format</a:t>
            </a:r>
            <a:endParaRPr lang="en-US" dirty="0">
              <a:latin typeface="Courier10 BT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Given: </a:t>
            </a:r>
            <a:r>
              <a:rPr lang="en-US" sz="1800" dirty="0">
                <a:latin typeface="Courier10 BT" pitchFamily="49" charset="0"/>
              </a:rPr>
              <a:t>double val1 = 10.5678; int val2 = 15;</a:t>
            </a:r>
          </a:p>
          <a:p>
            <a:pPr marL="0" indent="0">
              <a:buNone/>
            </a:pPr>
            <a:endParaRPr lang="en-US" sz="1800" dirty="0">
              <a:latin typeface="Courier10 BT" pitchFamily="49" charset="0"/>
            </a:endParaRPr>
          </a:p>
          <a:p>
            <a:endParaRPr lang="en-US" dirty="0"/>
          </a:p>
          <a:p>
            <a:endParaRPr lang="en-US" dirty="0"/>
          </a:p>
          <a:p>
            <a:pPr>
              <a:buNone/>
            </a:pPr>
            <a:endParaRPr lang="en-US" dirty="0"/>
          </a:p>
          <a:p>
            <a:pPr lvl="1">
              <a:buNone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317693" y="3007580"/>
            <a:ext cx="8169585" cy="1323439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String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s1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=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String.format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("Val 1 =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%f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, Val 2 =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%d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",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val1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val2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);</a:t>
            </a:r>
          </a:p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System.out.println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s1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);  </a:t>
            </a:r>
          </a:p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10 BT" pitchFamily="49" charset="0"/>
              <a:ea typeface="+mn-ea"/>
              <a:cs typeface="+mn-cs"/>
            </a:endParaRPr>
          </a:p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The output is:</a:t>
            </a:r>
          </a:p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Val 1 = 10.567800, Val 2 = 15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936516" y="4269032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Or use: System.</a:t>
            </a:r>
            <a:r>
              <a:rPr kumimoji="0" lang="en-US" sz="36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out</a:t>
            </a: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.format(…)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10 BT" pitchFamily="49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261724" y="5467679"/>
            <a:ext cx="6324600" cy="584775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var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val1=3436.45f;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System.out.format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("Value is = %10.1f", val1);</a:t>
            </a:r>
          </a:p>
        </p:txBody>
      </p:sp>
    </p:spTree>
    <p:extLst>
      <p:ext uri="{BB962C8B-B14F-4D97-AF65-F5344CB8AC3E}">
        <p14:creationId xmlns:p14="http://schemas.microsoft.com/office/powerpoint/2010/main" val="2705597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13453"/>
            <a:ext cx="6735621" cy="826590"/>
          </a:xfrm>
        </p:spPr>
        <p:txBody>
          <a:bodyPr/>
          <a:lstStyle/>
          <a:p>
            <a:r>
              <a:rPr lang="en-US" dirty="0"/>
              <a:t>Examples of </a:t>
            </a:r>
            <a:r>
              <a:rPr lang="en-US" dirty="0" err="1">
                <a:latin typeface="Courier10 BT" pitchFamily="49" charset="0"/>
              </a:rPr>
              <a:t>String.format</a:t>
            </a:r>
            <a:endParaRPr lang="en-US" dirty="0">
              <a:latin typeface="Courier10 BT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Explain why each of the following result in errors:</a:t>
            </a:r>
            <a:endParaRPr lang="en-US" sz="1800" dirty="0">
              <a:latin typeface="Courier10 BT" pitchFamily="49" charset="0"/>
            </a:endParaRPr>
          </a:p>
          <a:p>
            <a:pPr lvl="1">
              <a:buNone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074933" y="3073029"/>
            <a:ext cx="7239000" cy="1569660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n-NO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float val1 = 10.567800f;</a:t>
            </a:r>
          </a:p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n-NO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int   val2 = 15;</a:t>
            </a:r>
          </a:p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10 BT" pitchFamily="49" charset="0"/>
              <a:ea typeface="+mn-ea"/>
              <a:cs typeface="+mn-cs"/>
            </a:endParaRPr>
          </a:p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String.format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("val1 =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%d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, val2 = %f",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val1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, val2); </a:t>
            </a:r>
          </a:p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String.format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("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val1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= %f,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val2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= %d  %c",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val1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val2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); </a:t>
            </a:r>
          </a:p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String.format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("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val1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= 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val2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= ",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val1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val2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0270108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24595"/>
            <a:ext cx="6992295" cy="863574"/>
          </a:xfrm>
        </p:spPr>
        <p:txBody>
          <a:bodyPr/>
          <a:lstStyle/>
          <a:p>
            <a:r>
              <a:rPr lang="en-US" dirty="0"/>
              <a:t>Examples of </a:t>
            </a:r>
            <a:r>
              <a:rPr lang="en-US" dirty="0" err="1">
                <a:latin typeface="Courier10 BT" pitchFamily="49" charset="0"/>
              </a:rPr>
              <a:t>String.format</a:t>
            </a:r>
            <a:endParaRPr lang="en-US" dirty="0">
              <a:latin typeface="Courier10 BT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Explain why each of the following result in errors:</a:t>
            </a:r>
            <a:endParaRPr lang="en-US" sz="1800" dirty="0">
              <a:latin typeface="Courier10 BT" pitchFamily="49" charset="0"/>
            </a:endParaRPr>
          </a:p>
          <a:p>
            <a:pPr lvl="1">
              <a:buNone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074933" y="3073029"/>
            <a:ext cx="7239000" cy="830997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String.format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("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val1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=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%d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val2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= %f",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val1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val2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); </a:t>
            </a:r>
          </a:p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String.format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("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val1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= %f,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val2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= %d  %c",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val1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val2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); </a:t>
            </a:r>
          </a:p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String.format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("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val1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= 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val2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= ",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val1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val2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);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330" y="4267951"/>
            <a:ext cx="8489413" cy="1369420"/>
          </a:xfrm>
          <a:prstGeom prst="rect">
            <a:avLst/>
          </a:prstGeom>
        </p:spPr>
      </p:pic>
      <p:cxnSp>
        <p:nvCxnSpPr>
          <p:cNvPr id="9" name="Straight Arrow Connector 8"/>
          <p:cNvCxnSpPr/>
          <p:nvPr/>
        </p:nvCxnSpPr>
        <p:spPr>
          <a:xfrm flipV="1">
            <a:off x="4349469" y="3321781"/>
            <a:ext cx="635225" cy="22010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5883" y="5636103"/>
            <a:ext cx="6257917" cy="985243"/>
          </a:xfrm>
          <a:prstGeom prst="rect">
            <a:avLst/>
          </a:prstGeom>
        </p:spPr>
      </p:pic>
      <p:cxnSp>
        <p:nvCxnSpPr>
          <p:cNvPr id="12" name="Straight Arrow Connector 11"/>
          <p:cNvCxnSpPr/>
          <p:nvPr/>
        </p:nvCxnSpPr>
        <p:spPr>
          <a:xfrm flipV="1">
            <a:off x="5033246" y="3350103"/>
            <a:ext cx="1343278" cy="23588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334116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45182"/>
            <a:ext cx="6731610" cy="741428"/>
          </a:xfrm>
        </p:spPr>
        <p:txBody>
          <a:bodyPr/>
          <a:lstStyle/>
          <a:p>
            <a:r>
              <a:rPr lang="en-US" dirty="0"/>
              <a:t>Examples of </a:t>
            </a:r>
            <a:r>
              <a:rPr lang="en-US" dirty="0" err="1">
                <a:latin typeface="Courier10 BT" pitchFamily="49" charset="0"/>
              </a:rPr>
              <a:t>String.format</a:t>
            </a:r>
            <a:endParaRPr lang="en-US" dirty="0">
              <a:latin typeface="Courier10 BT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Explain why each of the following result in errors:</a:t>
            </a:r>
            <a:endParaRPr lang="en-US" sz="1800" dirty="0">
              <a:latin typeface="Courier10 BT" pitchFamily="49" charset="0"/>
            </a:endParaRPr>
          </a:p>
          <a:p>
            <a:pPr lvl="1">
              <a:buNone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074933" y="3073029"/>
            <a:ext cx="7239000" cy="830997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String.format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("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val1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=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%d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val2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= %f",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val1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val2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); </a:t>
            </a:r>
          </a:p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String.format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("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val1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= %f,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val2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= %d  %c",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val1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val2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); </a:t>
            </a:r>
          </a:p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String.format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("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val1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= 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val2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= ",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val1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val2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);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flipV="1">
            <a:off x="4826899" y="3564542"/>
            <a:ext cx="1962319" cy="27600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048" y="5527083"/>
            <a:ext cx="9084366" cy="903538"/>
          </a:xfrm>
          <a:prstGeom prst="rect">
            <a:avLst/>
          </a:prstGeom>
        </p:spPr>
      </p:pic>
      <p:cxnSp>
        <p:nvCxnSpPr>
          <p:cNvPr id="15" name="Straight Arrow Connector 14"/>
          <p:cNvCxnSpPr/>
          <p:nvPr/>
        </p:nvCxnSpPr>
        <p:spPr>
          <a:xfrm flipV="1">
            <a:off x="5377158" y="3488528"/>
            <a:ext cx="983182" cy="20019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992258" y="4491940"/>
            <a:ext cx="736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Two! </a:t>
            </a:r>
          </a:p>
        </p:txBody>
      </p:sp>
    </p:spTree>
    <p:extLst>
      <p:ext uri="{BB962C8B-B14F-4D97-AF65-F5344CB8AC3E}">
        <p14:creationId xmlns:p14="http://schemas.microsoft.com/office/powerpoint/2010/main" val="61581170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49191"/>
            <a:ext cx="7978884" cy="1144151"/>
          </a:xfrm>
        </p:spPr>
        <p:txBody>
          <a:bodyPr>
            <a:normAutofit/>
          </a:bodyPr>
          <a:lstStyle/>
          <a:p>
            <a:r>
              <a:rPr lang="en-US" dirty="0"/>
              <a:t>Using Field Width and Precision in </a:t>
            </a:r>
            <a:r>
              <a:rPr lang="en-US" dirty="0" err="1">
                <a:latin typeface="Courier10 BT" pitchFamily="49" charset="0"/>
              </a:rPr>
              <a:t>String.format</a:t>
            </a:r>
            <a:endParaRPr lang="en-US" dirty="0">
              <a:latin typeface="Courier10 BT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float specify the </a:t>
            </a:r>
            <a:r>
              <a:rPr lang="en-US" b="1" dirty="0"/>
              <a:t>field width</a:t>
            </a:r>
            <a:r>
              <a:rPr lang="en-US" dirty="0"/>
              <a:t> and </a:t>
            </a:r>
            <a:r>
              <a:rPr lang="en-US" b="1" dirty="0"/>
              <a:t>precision</a:t>
            </a:r>
            <a:r>
              <a:rPr lang="en-US" dirty="0"/>
              <a:t>: </a:t>
            </a:r>
            <a:r>
              <a:rPr lang="en-US" dirty="0">
                <a:solidFill>
                  <a:srgbClr val="0070C0"/>
                </a:solidFill>
                <a:latin typeface="Courier10 BT" pitchFamily="49" charset="0"/>
              </a:rPr>
              <a:t>%</a:t>
            </a:r>
            <a:r>
              <a:rPr lang="en-US" dirty="0" err="1">
                <a:solidFill>
                  <a:srgbClr val="0070C0"/>
                </a:solidFill>
                <a:latin typeface="Courier10 BT" pitchFamily="49" charset="0"/>
              </a:rPr>
              <a:t>n.mf</a:t>
            </a:r>
            <a:r>
              <a:rPr lang="en-US" dirty="0"/>
              <a:t>. 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n</a:t>
            </a:r>
            <a:r>
              <a:rPr lang="en-US" dirty="0"/>
              <a:t> = minimum number of characters to display the number (</a:t>
            </a:r>
            <a:r>
              <a:rPr lang="en-US" b="1" dirty="0"/>
              <a:t>field width</a:t>
            </a:r>
            <a:r>
              <a:rPr lang="en-US" dirty="0"/>
              <a:t>) 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m</a:t>
            </a:r>
            <a:r>
              <a:rPr lang="en-US" dirty="0"/>
              <a:t> = number of decimal spaces (</a:t>
            </a:r>
            <a:r>
              <a:rPr lang="en-US" b="1" dirty="0"/>
              <a:t>precision</a:t>
            </a:r>
            <a:r>
              <a:rPr lang="en-US" dirty="0"/>
              <a:t>) in the number. </a:t>
            </a:r>
          </a:p>
          <a:p>
            <a:pPr lvl="1"/>
            <a:r>
              <a:rPr lang="en-US" dirty="0"/>
              <a:t>The value of </a:t>
            </a:r>
            <a:r>
              <a:rPr lang="en-US" dirty="0">
                <a:solidFill>
                  <a:srgbClr val="0070C0"/>
                </a:solidFill>
              </a:rPr>
              <a:t>n</a:t>
            </a:r>
            <a:r>
              <a:rPr lang="en-US" dirty="0"/>
              <a:t> cannot be 0; otherwise, a runtime error will occur.</a:t>
            </a:r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pPr lvl="1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326461" y="4614484"/>
            <a:ext cx="6324600" cy="1323439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String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s2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=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String.format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("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val1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= %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71001B">
                    <a:lumMod val="60000"/>
                    <a:lumOff val="40000"/>
                  </a:srgbClr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10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.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2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f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",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val1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);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System.out.println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s2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); 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10 BT" pitchFamily="49" charset="0"/>
              <a:ea typeface="+mn-ea"/>
              <a:cs typeface="+mn-cs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The output is: 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val1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=      10.57</a:t>
            </a:r>
          </a:p>
        </p:txBody>
      </p:sp>
    </p:spTree>
    <p:extLst>
      <p:ext uri="{BB962C8B-B14F-4D97-AF65-F5344CB8AC3E}">
        <p14:creationId xmlns:p14="http://schemas.microsoft.com/office/powerpoint/2010/main" val="200157066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855D3-876C-C343-BD87-E7730E1CF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StringBuilder</a:t>
            </a:r>
            <a:r>
              <a:rPr lang="en-US" dirty="0"/>
              <a:t> &amp; </a:t>
            </a:r>
            <a:r>
              <a:rPr lang="en-US" dirty="0" err="1"/>
              <a:t>StringBuffer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196002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0543" y="747002"/>
            <a:ext cx="7910741" cy="480478"/>
          </a:xfrm>
        </p:spPr>
        <p:txBody>
          <a:bodyPr>
            <a:normAutofit fontScale="90000"/>
          </a:bodyPr>
          <a:lstStyle/>
          <a:p>
            <a:r>
              <a:rPr lang="en-US" sz="2800" dirty="0"/>
              <a:t>The </a:t>
            </a:r>
            <a:r>
              <a:rPr lang="en-US" sz="2800" dirty="0" err="1">
                <a:latin typeface="Courier10 BT" pitchFamily="49" charset="0"/>
              </a:rPr>
              <a:t>StringBuilder</a:t>
            </a:r>
            <a:r>
              <a:rPr lang="en-US" sz="2800" dirty="0"/>
              <a:t> &amp; </a:t>
            </a:r>
            <a:r>
              <a:rPr lang="en-US" sz="2800" dirty="0" err="1">
                <a:latin typeface="Courier10 BT" pitchFamily="49" charset="0"/>
              </a:rPr>
              <a:t>StringBuffer</a:t>
            </a:r>
            <a:r>
              <a:rPr lang="en-US" sz="2800" dirty="0">
                <a:latin typeface="Courier10 BT" pitchFamily="49" charset="0"/>
              </a:rPr>
              <a:t> </a:t>
            </a:r>
            <a:r>
              <a:rPr lang="en-US" sz="2800" dirty="0"/>
              <a:t>Class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036" y="2078022"/>
            <a:ext cx="5529020" cy="429850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3687" y="2486543"/>
            <a:ext cx="5011531" cy="3262848"/>
          </a:xfrm>
          <a:prstGeom prst="rect">
            <a:avLst/>
          </a:prstGeom>
          <a:ln>
            <a:solidFill>
              <a:srgbClr val="92D050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10110998" y="5102027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Fastest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10110998" y="4187627"/>
            <a:ext cx="1714220" cy="93516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0110998" y="5153175"/>
            <a:ext cx="1714220" cy="565836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8396778" y="4187627"/>
            <a:ext cx="1685685" cy="935168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45589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58" y="739833"/>
            <a:ext cx="6274410" cy="756093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dirty="0" err="1">
                <a:latin typeface="Courier10 BT" pitchFamily="49" charset="0"/>
              </a:rPr>
              <a:t>StringBuilder</a:t>
            </a:r>
            <a:r>
              <a:rPr lang="en-US" dirty="0"/>
              <a:t>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67633" y="2101908"/>
            <a:ext cx="1468031" cy="42685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Examples: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177431" y="2811984"/>
            <a:ext cx="7602467" cy="2800767"/>
          </a:xfrm>
          <a:prstGeom prst="rect">
            <a:avLst/>
          </a:prstGeom>
          <a:solidFill>
            <a:srgbClr val="FFFFCC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StringBuilder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sb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= new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StringBuilder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("warts");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sb.reverse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();    	//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sb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contains "straw"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sb.length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(); 		// returns 5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sb.charAt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(3); 		// returns 'a'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sb.insert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(0, 'l'); 	//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sb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contains "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lstraw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"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sb.insert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(1, 'a');  	//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sb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contains "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lastraw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"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sb.insert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(2, 's');  	//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sb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contains "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lasstraw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"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sb.insert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(3, 't'); 	//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sb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contains "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laststraw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"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sb.insert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(4, ' ');  	//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sb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contains "last straw"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sb.indexOf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("raw"); 	// returns 7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sb.delete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(1, 8); 	//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sb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contains "law"</a:t>
            </a:r>
          </a:p>
        </p:txBody>
      </p:sp>
    </p:spTree>
    <p:extLst>
      <p:ext uri="{BB962C8B-B14F-4D97-AF65-F5344CB8AC3E}">
        <p14:creationId xmlns:p14="http://schemas.microsoft.com/office/powerpoint/2010/main" val="71642533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81276"/>
            <a:ext cx="2267895" cy="686577"/>
          </a:xfrm>
        </p:spPr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What is the output of the following statements?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15787" y="3043954"/>
            <a:ext cx="11849438" cy="1815882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double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n1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= -85.6,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n2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= 70.4;</a:t>
            </a:r>
          </a:p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10 BT" pitchFamily="49" charset="0"/>
              <a:ea typeface="+mn-ea"/>
              <a:cs typeface="+mn-cs"/>
            </a:endParaRPr>
          </a:p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System.out.format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("The larger of %.2f and %.2f is %.2f\n",n1,n2,+Math.max(n1, n2));</a:t>
            </a:r>
          </a:p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System.out.format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("The smaller of %.2f and %.2f is %.2f\n",n1,n2,+Math.min(n1, n2));</a:t>
            </a:r>
          </a:p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System.out.format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("The value of %.2f raised to the power of 5 is %.2f\n",n2,+Math.pow(n2, 5));</a:t>
            </a:r>
          </a:p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System.out.format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("abs(%.2f) = %.2f\n", n1, +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Math.abs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(n1));</a:t>
            </a:r>
          </a:p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System.out.format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("floor(%.2f) = %.2f\n", n1, +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Math.floor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(n1));</a:t>
            </a:r>
          </a:p>
        </p:txBody>
      </p:sp>
    </p:spTree>
    <p:extLst>
      <p:ext uri="{BB962C8B-B14F-4D97-AF65-F5344CB8AC3E}">
        <p14:creationId xmlns:p14="http://schemas.microsoft.com/office/powerpoint/2010/main" val="142254859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0527" y="764514"/>
            <a:ext cx="2458093" cy="715147"/>
          </a:xfrm>
        </p:spPr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1022" y="2069060"/>
            <a:ext cx="10417284" cy="3835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What is the output of the following statements?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75326" y="2522018"/>
            <a:ext cx="11849438" cy="1815882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double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n1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= -85.6,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n2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= 70.4;</a:t>
            </a:r>
          </a:p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10 BT" pitchFamily="49" charset="0"/>
              <a:ea typeface="+mn-ea"/>
              <a:cs typeface="+mn-cs"/>
            </a:endParaRPr>
          </a:p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System.out.format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("The larger of %.2f and %.2f is %.2f\n",n1,n2,+Math.max(n1, n2));</a:t>
            </a:r>
          </a:p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System.out.format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("The smaller of %.2f and %.2f is %.2f\n",n1,n2,+Math.min(n1, n2));</a:t>
            </a:r>
          </a:p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System.out.format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("The value of %.2f raised to the power of 5 is %.2f\n",n2,+Math.pow(n2, 5));</a:t>
            </a:r>
          </a:p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System.out.format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("abs(%.2f) = %.2f\n", n1, +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Math.abs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(n1));</a:t>
            </a:r>
          </a:p>
          <a:p>
            <a:pPr marL="476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System.out.format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("floor(%.2f) = %.2f\n", n1, +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Math.floor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(n1));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1164" y="4801552"/>
            <a:ext cx="7290007" cy="1643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27894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Simple arrays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8641506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944429" y="748234"/>
            <a:ext cx="3487203" cy="593767"/>
          </a:xfrm>
        </p:spPr>
        <p:txBody>
          <a:bodyPr>
            <a:normAutofit/>
          </a:bodyPr>
          <a:lstStyle/>
          <a:p>
            <a:r>
              <a:rPr lang="en-US" altLang="en-US" dirty="0"/>
              <a:t>Simple arrays:</a:t>
            </a:r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004610" y="2029721"/>
            <a:ext cx="3493264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Based on elementary datatypes: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int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byte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float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double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boolean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string</a:t>
            </a:r>
          </a:p>
        </p:txBody>
      </p:sp>
    </p:spTree>
    <p:extLst>
      <p:ext uri="{BB962C8B-B14F-4D97-AF65-F5344CB8AC3E}">
        <p14:creationId xmlns:p14="http://schemas.microsoft.com/office/powerpoint/2010/main" val="344920830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940419" y="788340"/>
            <a:ext cx="3435065" cy="593767"/>
          </a:xfrm>
        </p:spPr>
        <p:txBody>
          <a:bodyPr>
            <a:normAutofit/>
          </a:bodyPr>
          <a:lstStyle/>
          <a:p>
            <a:r>
              <a:rPr lang="en-US" altLang="en-US" dirty="0"/>
              <a:t>Simple arrays:</a:t>
            </a:r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758681" y="3688589"/>
            <a:ext cx="406393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Access write:</a:t>
            </a:r>
          </a:p>
          <a:p>
            <a:r>
              <a:rPr lang="en-US" dirty="0" err="1"/>
              <a:t>randoms</a:t>
            </a:r>
            <a:r>
              <a:rPr lang="en-US" dirty="0"/>
              <a:t>[0] = </a:t>
            </a:r>
            <a:r>
              <a:rPr lang="en-US" dirty="0" err="1"/>
              <a:t>Math.random</a:t>
            </a:r>
            <a:r>
              <a:rPr lang="en-US" dirty="0"/>
              <a:t>();</a:t>
            </a:r>
          </a:p>
          <a:p>
            <a:r>
              <a:rPr lang="en-US" dirty="0" err="1"/>
              <a:t>randoms</a:t>
            </a:r>
            <a:r>
              <a:rPr lang="en-US" dirty="0"/>
              <a:t>[1] = </a:t>
            </a:r>
            <a:r>
              <a:rPr lang="en-US" dirty="0" err="1"/>
              <a:t>randoms</a:t>
            </a:r>
            <a:r>
              <a:rPr lang="en-US" dirty="0"/>
              <a:t>[0]*2;</a:t>
            </a:r>
          </a:p>
          <a:p>
            <a:r>
              <a:rPr lang="en-US" dirty="0"/>
              <a:t>…</a:t>
            </a:r>
          </a:p>
          <a:p>
            <a:r>
              <a:rPr lang="en-US" dirty="0" err="1"/>
              <a:t>randoms</a:t>
            </a:r>
            <a:r>
              <a:rPr lang="en-US" dirty="0"/>
              <a:t>[9] = </a:t>
            </a:r>
            <a:r>
              <a:rPr lang="en-US" dirty="0" err="1"/>
              <a:t>Math.random</a:t>
            </a:r>
            <a:r>
              <a:rPr lang="en-US" dirty="0"/>
              <a:t>()*</a:t>
            </a:r>
            <a:r>
              <a:rPr lang="en-US" dirty="0" err="1"/>
              <a:t>Math.PI</a:t>
            </a:r>
            <a:r>
              <a:rPr lang="en-US" dirty="0"/>
              <a:t>;</a:t>
            </a: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157010" y="2182121"/>
            <a:ext cx="2973891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Basics: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Declaration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Initialization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Access read/write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Declaration: </a:t>
            </a:r>
          </a:p>
          <a:p>
            <a:r>
              <a:rPr lang="en-US" dirty="0"/>
              <a:t>double[] </a:t>
            </a:r>
            <a:r>
              <a:rPr lang="en-US" dirty="0" err="1"/>
              <a:t>randoms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b="1" dirty="0"/>
              <a:t>Initialization:</a:t>
            </a:r>
          </a:p>
          <a:p>
            <a:r>
              <a:rPr lang="en-US" dirty="0" err="1"/>
              <a:t>randoms</a:t>
            </a:r>
            <a:r>
              <a:rPr lang="en-US" dirty="0"/>
              <a:t> = new double[10];</a:t>
            </a:r>
          </a:p>
        </p:txBody>
      </p:sp>
    </p:spTree>
    <p:extLst>
      <p:ext uri="{BB962C8B-B14F-4D97-AF65-F5344CB8AC3E}">
        <p14:creationId xmlns:p14="http://schemas.microsoft.com/office/powerpoint/2010/main" val="107923036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924377" y="776308"/>
            <a:ext cx="3528613" cy="593767"/>
          </a:xfrm>
        </p:spPr>
        <p:txBody>
          <a:bodyPr>
            <a:normAutofit/>
          </a:bodyPr>
          <a:lstStyle/>
          <a:p>
            <a:r>
              <a:rPr lang="en-US" altLang="en-US" dirty="0"/>
              <a:t>Simple arrays:</a:t>
            </a:r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004610" y="2029721"/>
            <a:ext cx="344838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Arrays of references: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String[] names;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Point[] locations;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Array: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Array reference has methods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9005" y="2139073"/>
            <a:ext cx="5335914" cy="3416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30583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936408" y="776308"/>
            <a:ext cx="3539339" cy="593767"/>
          </a:xfrm>
        </p:spPr>
        <p:txBody>
          <a:bodyPr>
            <a:normAutofit/>
          </a:bodyPr>
          <a:lstStyle/>
          <a:p>
            <a:r>
              <a:rPr lang="en-US" altLang="en-US" dirty="0"/>
              <a:t>Simple arrays:</a:t>
            </a:r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004610" y="2029721"/>
            <a:ext cx="262770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Array: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Two ways to initialize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9365" y="2807393"/>
            <a:ext cx="6010655" cy="3248579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>
            <a:off x="1634591" y="2589451"/>
            <a:ext cx="2217218" cy="16507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1634591" y="2601589"/>
            <a:ext cx="2245540" cy="27472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076505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948440" y="736203"/>
            <a:ext cx="6406865" cy="593767"/>
          </a:xfrm>
        </p:spPr>
        <p:txBody>
          <a:bodyPr>
            <a:normAutofit/>
          </a:bodyPr>
          <a:lstStyle/>
          <a:p>
            <a:r>
              <a:rPr lang="en-US" altLang="en-US" dirty="0"/>
              <a:t>Array as method parameter:</a:t>
            </a:r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2822" y="2071789"/>
            <a:ext cx="6323462" cy="413884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720435" y="2298138"/>
            <a:ext cx="1808570" cy="299405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3571284" y="4999529"/>
            <a:ext cx="1498376" cy="299405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05446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952452" y="768287"/>
            <a:ext cx="3465800" cy="593767"/>
          </a:xfrm>
        </p:spPr>
        <p:txBody>
          <a:bodyPr>
            <a:normAutofit/>
          </a:bodyPr>
          <a:lstStyle/>
          <a:p>
            <a:r>
              <a:rPr lang="en-US" altLang="en-US" dirty="0"/>
              <a:t>Simple arrays:</a:t>
            </a:r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004610" y="2029721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Check for null: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1302" y="2251652"/>
            <a:ext cx="4951989" cy="429884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418251" y="2654188"/>
            <a:ext cx="4256411" cy="400555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49440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1624" y="1809240"/>
            <a:ext cx="5589249" cy="4762670"/>
          </a:xfrm>
          <a:prstGeom prst="rect">
            <a:avLst/>
          </a:prstGeom>
        </p:spPr>
      </p:pic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952452" y="776325"/>
            <a:ext cx="3812054" cy="593767"/>
          </a:xfrm>
        </p:spPr>
        <p:txBody>
          <a:bodyPr>
            <a:normAutofit/>
          </a:bodyPr>
          <a:lstStyle/>
          <a:p>
            <a:r>
              <a:rPr lang="en-US" altLang="en-US" dirty="0"/>
              <a:t>As return value:</a:t>
            </a:r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929" y="5336697"/>
            <a:ext cx="4256411" cy="736376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168344" y="2660447"/>
            <a:ext cx="2734116" cy="1204187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7406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936409" y="760265"/>
            <a:ext cx="5644866" cy="593767"/>
          </a:xfrm>
        </p:spPr>
        <p:txBody>
          <a:bodyPr>
            <a:normAutofit/>
          </a:bodyPr>
          <a:lstStyle/>
          <a:p>
            <a:r>
              <a:rPr lang="en-US" altLang="en-US" dirty="0"/>
              <a:t>Multidimensional arrays:</a:t>
            </a:r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6775" y="2280558"/>
            <a:ext cx="9476167" cy="294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33742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944429" y="772298"/>
            <a:ext cx="10561771" cy="593767"/>
          </a:xfrm>
        </p:spPr>
        <p:txBody>
          <a:bodyPr>
            <a:normAutofit/>
          </a:bodyPr>
          <a:lstStyle/>
          <a:p>
            <a:r>
              <a:rPr lang="en-US" altLang="en-US" sz="3200" dirty="0"/>
              <a:t>Multidimensional arrays as method parameter (Java):</a:t>
            </a:r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4211" y="1868461"/>
            <a:ext cx="6668677" cy="462944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271861" y="2047971"/>
            <a:ext cx="1422901" cy="281161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646555" y="4425986"/>
            <a:ext cx="709785" cy="281161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20673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928388" y="756255"/>
            <a:ext cx="10236918" cy="593767"/>
          </a:xfrm>
        </p:spPr>
        <p:txBody>
          <a:bodyPr>
            <a:normAutofit/>
          </a:bodyPr>
          <a:lstStyle/>
          <a:p>
            <a:r>
              <a:rPr lang="en-US" altLang="en-US" sz="3200" dirty="0"/>
              <a:t>Multidimensional arrays as method parameter C++:</a:t>
            </a:r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2274" y="1654821"/>
            <a:ext cx="3901871" cy="480655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344789" y="2468071"/>
            <a:ext cx="1367554" cy="2265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7825052" y="2396693"/>
            <a:ext cx="3506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Java is so much better than C++</a:t>
            </a:r>
          </a:p>
        </p:txBody>
      </p:sp>
      <p:cxnSp>
        <p:nvCxnSpPr>
          <p:cNvPr id="7" name="Straight Arrow Connector 6"/>
          <p:cNvCxnSpPr>
            <a:stCxn id="5" idx="1"/>
          </p:cNvCxnSpPr>
          <p:nvPr/>
        </p:nvCxnSpPr>
        <p:spPr>
          <a:xfrm flipH="1">
            <a:off x="6821586" y="2581359"/>
            <a:ext cx="10034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513296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948440" y="760266"/>
            <a:ext cx="10609897" cy="593767"/>
          </a:xfrm>
        </p:spPr>
        <p:txBody>
          <a:bodyPr>
            <a:normAutofit/>
          </a:bodyPr>
          <a:lstStyle/>
          <a:p>
            <a:r>
              <a:rPr lang="en-US" altLang="en-US" sz="3200" dirty="0"/>
              <a:t>Multidimensional arrays as method parameter (Java):</a:t>
            </a:r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2656" y="1654822"/>
            <a:ext cx="5391843" cy="48600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51575" y="3544312"/>
            <a:ext cx="36872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Don’t ask for the C++ version !!! </a:t>
            </a:r>
            <a:r>
              <a:rPr lang="en-US" dirty="0">
                <a:sym typeface="Wingdings" panose="05000000000000000000" pitchFamily="2" charset="2"/>
              </a:rPr>
              <a:t>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162085" y="1820708"/>
            <a:ext cx="1448474" cy="2265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30141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944431" y="799765"/>
            <a:ext cx="3170370" cy="593767"/>
          </a:xfrm>
        </p:spPr>
        <p:txBody>
          <a:bodyPr>
            <a:normAutofit/>
          </a:bodyPr>
          <a:lstStyle/>
          <a:p>
            <a:r>
              <a:rPr lang="en-US" altLang="en-US" sz="3200" dirty="0"/>
              <a:t>Clone() arrays:</a:t>
            </a:r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0905" y="1946776"/>
            <a:ext cx="6961417" cy="44049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35430" y="1577947"/>
            <a:ext cx="3890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Basic types clone, is uncomplicated!</a:t>
            </a:r>
          </a:p>
        </p:txBody>
      </p:sp>
      <p:sp>
        <p:nvSpPr>
          <p:cNvPr id="6" name="Rectangle 5"/>
          <p:cNvSpPr/>
          <p:nvPr/>
        </p:nvSpPr>
        <p:spPr>
          <a:xfrm>
            <a:off x="7401225" y="2914570"/>
            <a:ext cx="1204390" cy="3328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32251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968494" y="762222"/>
            <a:ext cx="7987012" cy="593767"/>
          </a:xfrm>
        </p:spPr>
        <p:txBody>
          <a:bodyPr>
            <a:normAutofit/>
          </a:bodyPr>
          <a:lstStyle/>
          <a:p>
            <a:r>
              <a:rPr lang="en-US" altLang="en-US" sz="3200" dirty="0"/>
              <a:t>Clone() arrays: But it is a shallow copy!</a:t>
            </a:r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538" y="1930496"/>
            <a:ext cx="6199576" cy="428364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6962" y="2589514"/>
            <a:ext cx="2683399" cy="2569096"/>
          </a:xfrm>
          <a:prstGeom prst="rect">
            <a:avLst/>
          </a:prstGeom>
        </p:spPr>
      </p:pic>
      <p:sp>
        <p:nvSpPr>
          <p:cNvPr id="5" name="Right Arrow 4"/>
          <p:cNvSpPr/>
          <p:nvPr/>
        </p:nvSpPr>
        <p:spPr>
          <a:xfrm>
            <a:off x="7780492" y="3746613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8553819" y="5349039"/>
            <a:ext cx="32896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References are the same!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32087" y="2029753"/>
            <a:ext cx="5314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Shallow means: clone, copies only the references!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90326" y="3541230"/>
            <a:ext cx="723506" cy="2958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19237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940420" y="808392"/>
            <a:ext cx="3731844" cy="593767"/>
          </a:xfrm>
        </p:spPr>
        <p:txBody>
          <a:bodyPr>
            <a:normAutofit/>
          </a:bodyPr>
          <a:lstStyle/>
          <a:p>
            <a:r>
              <a:rPr lang="en-US" altLang="en-US" dirty="0" err="1"/>
              <a:t>java.util.Arrays</a:t>
            </a:r>
            <a:r>
              <a:rPr lang="en-US" altLang="en-US" dirty="0"/>
              <a:t>:</a:t>
            </a:r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004610" y="2029721"/>
            <a:ext cx="1762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Standard sort: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7069" y="2609032"/>
            <a:ext cx="4104022" cy="181796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4475" y="2214387"/>
            <a:ext cx="1703659" cy="2476565"/>
          </a:xfrm>
          <a:prstGeom prst="rect">
            <a:avLst/>
          </a:prstGeom>
        </p:spPr>
      </p:pic>
      <p:sp>
        <p:nvSpPr>
          <p:cNvPr id="6" name="Right Arrow 5"/>
          <p:cNvSpPr/>
          <p:nvPr/>
        </p:nvSpPr>
        <p:spPr>
          <a:xfrm>
            <a:off x="6623331" y="3275697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880500" y="3286253"/>
            <a:ext cx="1136023" cy="2944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71201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695" y="1988195"/>
            <a:ext cx="7571212" cy="4653765"/>
          </a:xfrm>
          <a:prstGeom prst="rect">
            <a:avLst/>
          </a:prstGeom>
        </p:spPr>
      </p:pic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940278" y="786352"/>
            <a:ext cx="3639531" cy="593767"/>
          </a:xfrm>
        </p:spPr>
        <p:txBody>
          <a:bodyPr>
            <a:normAutofit/>
          </a:bodyPr>
          <a:lstStyle/>
          <a:p>
            <a:r>
              <a:rPr lang="en-US" altLang="en-US" dirty="0" err="1"/>
              <a:t>java.util.Arrays</a:t>
            </a:r>
            <a:r>
              <a:rPr lang="en-US" altLang="en-US" dirty="0"/>
              <a:t>:</a:t>
            </a:r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908193" y="1564014"/>
            <a:ext cx="2903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Sort versus parallel sort: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700415" y="4614929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618407" y="3378425"/>
            <a:ext cx="6874184" cy="144038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0483" y="4367375"/>
            <a:ext cx="2177200" cy="97974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618407" y="4915912"/>
            <a:ext cx="6874184" cy="136350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547214" y="3951398"/>
            <a:ext cx="1460764" cy="2944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547214" y="5426883"/>
            <a:ext cx="2135881" cy="2944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95826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932469" y="826386"/>
            <a:ext cx="11015421" cy="593767"/>
          </a:xfrm>
        </p:spPr>
        <p:txBody>
          <a:bodyPr>
            <a:normAutofit/>
          </a:bodyPr>
          <a:lstStyle/>
          <a:p>
            <a:r>
              <a:rPr lang="en-US" altLang="en-US" dirty="0" err="1"/>
              <a:t>java.util.Arrays</a:t>
            </a:r>
            <a:r>
              <a:rPr lang="en-US" altLang="en-US" dirty="0"/>
              <a:t>:</a:t>
            </a:r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996518" y="1592751"/>
            <a:ext cx="159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Sort objects: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241" y="3004154"/>
            <a:ext cx="5247052" cy="334200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32334" y="5316046"/>
            <a:ext cx="5102028" cy="914400"/>
          </a:xfrm>
          <a:prstGeom prst="rect">
            <a:avLst/>
          </a:prstGeom>
          <a:noFill/>
          <a:ln w="285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5303" y="826386"/>
            <a:ext cx="5121863" cy="3445419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214" y="4675155"/>
            <a:ext cx="1006955" cy="1970366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4973" y="4675155"/>
            <a:ext cx="1034170" cy="1948594"/>
          </a:xfrm>
          <a:prstGeom prst="rect">
            <a:avLst/>
          </a:prstGeom>
        </p:spPr>
      </p:pic>
      <p:sp>
        <p:nvSpPr>
          <p:cNvPr id="13" name="Right Arrow 12"/>
          <p:cNvSpPr/>
          <p:nvPr/>
        </p:nvSpPr>
        <p:spPr>
          <a:xfrm rot="5400000">
            <a:off x="7962867" y="3891077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3228722" y="2949547"/>
            <a:ext cx="1768110" cy="230623"/>
          </a:xfrm>
          <a:prstGeom prst="rect">
            <a:avLst/>
          </a:prstGeom>
          <a:noFill/>
          <a:ln w="285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3168860" y="3694110"/>
            <a:ext cx="3296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(Basically, an Integer wrapper)</a:t>
            </a:r>
          </a:p>
        </p:txBody>
      </p:sp>
    </p:spTree>
    <p:extLst>
      <p:ext uri="{BB962C8B-B14F-4D97-AF65-F5344CB8AC3E}">
        <p14:creationId xmlns:p14="http://schemas.microsoft.com/office/powerpoint/2010/main" val="294367131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855D3-876C-C343-BD87-E7730E1CF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Errors</a:t>
            </a:r>
          </a:p>
        </p:txBody>
      </p:sp>
    </p:spTree>
    <p:extLst>
      <p:ext uri="{BB962C8B-B14F-4D97-AF65-F5344CB8AC3E}">
        <p14:creationId xmlns:p14="http://schemas.microsoft.com/office/powerpoint/2010/main" val="428417639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1170298"/>
            <a:ext cx="3910613" cy="516892"/>
          </a:xfrm>
        </p:spPr>
        <p:txBody>
          <a:bodyPr>
            <a:normAutofit fontScale="90000"/>
          </a:bodyPr>
          <a:lstStyle/>
          <a:p>
            <a:r>
              <a:rPr lang="en-US" dirty="0"/>
              <a:t>Errors in Programs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3391" y="1793931"/>
            <a:ext cx="3186376" cy="1503573"/>
          </a:xfrm>
        </p:spPr>
        <p:txBody>
          <a:bodyPr/>
          <a:lstStyle/>
          <a:p>
            <a:r>
              <a:rPr lang="en-US" dirty="0"/>
              <a:t>Compiler Errors</a:t>
            </a:r>
          </a:p>
          <a:p>
            <a:r>
              <a:rPr lang="en-US" dirty="0"/>
              <a:t>Run-time errors and </a:t>
            </a:r>
          </a:p>
          <a:p>
            <a:r>
              <a:rPr lang="en-US" dirty="0"/>
              <a:t>Logic errors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936516" y="3501350"/>
            <a:ext cx="3327987" cy="5184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Compiler Errors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981023" y="4056202"/>
            <a:ext cx="4533700" cy="2215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95764">
                    <a:lumMod val="75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Incorrect punctuation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95764">
                    <a:lumMod val="75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missing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95764">
                    <a:lumMod val="75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semicolon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95764">
                    <a:lumMod val="75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Comments formed incorrectly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95764">
                    <a:lumMod val="75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Misspelled keywords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95764">
                    <a:lumMod val="75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class and method names</a:t>
            </a:r>
          </a:p>
        </p:txBody>
      </p:sp>
    </p:spTree>
    <p:extLst>
      <p:ext uri="{BB962C8B-B14F-4D97-AF65-F5344CB8AC3E}">
        <p14:creationId xmlns:p14="http://schemas.microsoft.com/office/powerpoint/2010/main" val="103431693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1170297"/>
            <a:ext cx="3396769" cy="565445"/>
          </a:xfrm>
        </p:spPr>
        <p:txBody>
          <a:bodyPr>
            <a:normAutofit fontScale="90000"/>
          </a:bodyPr>
          <a:lstStyle/>
          <a:p>
            <a:r>
              <a:rPr lang="en-US" dirty="0"/>
              <a:t>Run-time 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9114" y="1789885"/>
            <a:ext cx="10417284" cy="2118568"/>
          </a:xfrm>
        </p:spPr>
        <p:txBody>
          <a:bodyPr/>
          <a:lstStyle/>
          <a:p>
            <a:r>
              <a:rPr lang="en-US" dirty="0"/>
              <a:t>Error while program is </a:t>
            </a:r>
            <a:r>
              <a:rPr lang="en-US" b="1" dirty="0"/>
              <a:t>running</a:t>
            </a:r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Files are </a:t>
            </a:r>
            <a:r>
              <a:rPr lang="en-US" b="1" dirty="0"/>
              <a:t>missing</a:t>
            </a:r>
            <a:r>
              <a:rPr lang="en-US" dirty="0"/>
              <a:t> (reading).</a:t>
            </a:r>
          </a:p>
          <a:p>
            <a:pPr lvl="1"/>
            <a:r>
              <a:rPr lang="en-US" dirty="0"/>
              <a:t>You forget to insert the </a:t>
            </a:r>
            <a:r>
              <a:rPr lang="en-US" b="1" dirty="0"/>
              <a:t>square</a:t>
            </a:r>
            <a:r>
              <a:rPr lang="en-US" dirty="0"/>
              <a:t> brackets:</a:t>
            </a:r>
          </a:p>
          <a:p>
            <a:pPr lvl="2"/>
            <a:r>
              <a:rPr lang="en-US" dirty="0">
                <a:latin typeface="Courier10 BT" pitchFamily="49" charset="0"/>
              </a:rPr>
              <a:t>public static void main(String</a:t>
            </a:r>
            <a:r>
              <a:rPr lang="en-US" b="1" dirty="0">
                <a:latin typeface="Courier10 BT" pitchFamily="49" charset="0"/>
              </a:rPr>
              <a:t>[]</a:t>
            </a:r>
            <a:r>
              <a:rPr lang="en-US" dirty="0">
                <a:latin typeface="Courier10 BT" pitchFamily="49" charset="0"/>
              </a:rPr>
              <a:t> args)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409404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58" y="761311"/>
            <a:ext cx="2955753" cy="589721"/>
          </a:xfrm>
        </p:spPr>
        <p:txBody>
          <a:bodyPr/>
          <a:lstStyle/>
          <a:p>
            <a:r>
              <a:rPr lang="en-US" dirty="0"/>
              <a:t>Logic 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7436" y="1760017"/>
            <a:ext cx="10417284" cy="4861361"/>
          </a:xfrm>
        </p:spPr>
        <p:txBody>
          <a:bodyPr>
            <a:normAutofit/>
          </a:bodyPr>
          <a:lstStyle/>
          <a:p>
            <a:r>
              <a:rPr lang="en-US" dirty="0"/>
              <a:t>Algorithm is incorrect.</a:t>
            </a:r>
          </a:p>
          <a:p>
            <a:r>
              <a:rPr lang="en-US" dirty="0"/>
              <a:t>Program executes normally but output is wrong.</a:t>
            </a:r>
          </a:p>
          <a:p>
            <a:r>
              <a:rPr lang="en-US" dirty="0"/>
              <a:t>Detectable: comparing expected </a:t>
            </a:r>
            <a:r>
              <a:rPr lang="en-US" b="1" dirty="0">
                <a:solidFill>
                  <a:srgbClr val="FF0000"/>
                </a:solidFill>
              </a:rPr>
              <a:t>vs</a:t>
            </a:r>
            <a:r>
              <a:rPr lang="en-US" dirty="0"/>
              <a:t> manual results.</a:t>
            </a:r>
          </a:p>
          <a:p>
            <a:r>
              <a:rPr lang="en-US" dirty="0"/>
              <a:t>To identify where the error occurs: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use a debugger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print out intermediate results at different points in the program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err="1"/>
              <a:t>logfile</a:t>
            </a:r>
            <a:r>
              <a:rPr lang="en-US" dirty="0"/>
              <a:t> analysis (i.e. </a:t>
            </a:r>
            <a:r>
              <a:rPr lang="en-US" dirty="0" err="1"/>
              <a:t>Splunk</a:t>
            </a:r>
            <a:r>
              <a:rPr lang="en-US" dirty="0"/>
              <a:t>)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The worst: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Some logic errors occurs seldom (once a month, once a year, …)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67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029084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1170297"/>
            <a:ext cx="2955753" cy="589721"/>
          </a:xfrm>
        </p:spPr>
        <p:txBody>
          <a:bodyPr/>
          <a:lstStyle/>
          <a:p>
            <a:r>
              <a:rPr lang="en-US" dirty="0"/>
              <a:t>Logic 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7436" y="1760018"/>
            <a:ext cx="2142504" cy="4579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Logfile</a:t>
            </a:r>
            <a:r>
              <a:rPr lang="en-US" dirty="0"/>
              <a:t> analysis: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68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3074" name="Picture 2" descr="Splunk Web Server Not Starting – UnBrick.I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559" y="2217989"/>
            <a:ext cx="8191360" cy="4208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06605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8424" y="873837"/>
            <a:ext cx="6459604" cy="512846"/>
          </a:xfrm>
        </p:spPr>
        <p:txBody>
          <a:bodyPr>
            <a:normAutofit fontScale="90000"/>
          </a:bodyPr>
          <a:lstStyle/>
          <a:p>
            <a:r>
              <a:rPr lang="en-US" dirty="0"/>
              <a:t>Exercise Program With 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8423" y="1592660"/>
            <a:ext cx="9898719" cy="3561967"/>
          </a:xfrm>
          <a:solidFill>
            <a:srgbClr val="FFFFCC"/>
          </a:solidFill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>
              <a:buNone/>
            </a:pPr>
            <a:r>
              <a:rPr lang="en-US" sz="1600" dirty="0">
                <a:solidFill>
                  <a:schemeClr val="tx1"/>
                </a:solidFill>
                <a:latin typeface="Courier10 BT" pitchFamily="49" charset="0"/>
              </a:rPr>
              <a:t>/ *</a:t>
            </a:r>
            <a:r>
              <a:rPr lang="en-US" sz="1600" dirty="0">
                <a:solidFill>
                  <a:srgbClr val="FF0000"/>
                </a:solidFill>
                <a:latin typeface="Courier10 BT" pitchFamily="49" charset="0"/>
              </a:rPr>
              <a:t> </a:t>
            </a:r>
            <a:r>
              <a:rPr lang="en-US" sz="1600" dirty="0">
                <a:latin typeface="Courier10 BT" pitchFamily="49" charset="0"/>
              </a:rPr>
              <a:t>Program with errors */</a:t>
            </a:r>
          </a:p>
          <a:p>
            <a:pPr>
              <a:buNone/>
            </a:pPr>
            <a:r>
              <a:rPr lang="en-US" sz="1600" dirty="0">
                <a:latin typeface="Courier10 BT" pitchFamily="49" charset="0"/>
              </a:rPr>
              <a:t>import javax.swing.*; </a:t>
            </a:r>
          </a:p>
          <a:p>
            <a:pPr>
              <a:buNone/>
            </a:pPr>
            <a:r>
              <a:rPr lang="en-US" sz="1600" dirty="0">
                <a:latin typeface="Courier10 BT" pitchFamily="49" charset="0"/>
              </a:rPr>
              <a:t> </a:t>
            </a:r>
          </a:p>
          <a:p>
            <a:pPr>
              <a:buNone/>
            </a:pPr>
            <a:r>
              <a:rPr lang="en-US" sz="1600" dirty="0">
                <a:latin typeface="Courier10 BT" pitchFamily="49" charset="0"/>
              </a:rPr>
              <a:t>public class HelloWorld </a:t>
            </a:r>
            <a:r>
              <a:rPr lang="en-US" sz="1600" dirty="0">
                <a:solidFill>
                  <a:schemeClr val="tx1"/>
                </a:solidFill>
                <a:latin typeface="Courier10 BT" pitchFamily="49" charset="0"/>
              </a:rPr>
              <a:t>{</a:t>
            </a:r>
          </a:p>
          <a:p>
            <a:pPr>
              <a:buNone/>
            </a:pPr>
            <a:r>
              <a:rPr lang="en-US" sz="1600" dirty="0">
                <a:latin typeface="Courier10 BT" pitchFamily="49" charset="0"/>
              </a:rPr>
              <a:t>  public static void main(String[] args) </a:t>
            </a:r>
            <a:r>
              <a:rPr lang="en-US" sz="1600" dirty="0">
                <a:solidFill>
                  <a:schemeClr val="tx2">
                    <a:lumMod val="75000"/>
                  </a:schemeClr>
                </a:solidFill>
                <a:latin typeface="Courier10 BT" pitchFamily="49" charset="0"/>
              </a:rPr>
              <a:t>{</a:t>
            </a:r>
          </a:p>
          <a:p>
            <a:pPr>
              <a:buNone/>
            </a:pPr>
            <a:r>
              <a:rPr lang="en-US" sz="1600" dirty="0">
                <a:latin typeface="Courier10 BT" pitchFamily="49" charset="0"/>
              </a:rPr>
              <a:t>    JFrame frame = new JFrame(My First Program</a:t>
            </a:r>
            <a:r>
              <a:rPr lang="en-US" sz="1600" dirty="0">
                <a:solidFill>
                  <a:schemeClr val="tx1"/>
                </a:solidFill>
                <a:latin typeface="Courier10 BT" pitchFamily="49" charset="0"/>
              </a:rPr>
              <a:t>"</a:t>
            </a:r>
            <a:r>
              <a:rPr lang="en-US" sz="1600" dirty="0">
                <a:latin typeface="Courier10 BT" pitchFamily="49" charset="0"/>
              </a:rPr>
              <a:t>);</a:t>
            </a:r>
          </a:p>
          <a:p>
            <a:pPr>
              <a:buNone/>
            </a:pPr>
            <a:r>
              <a:rPr lang="en-US" sz="1600" dirty="0">
                <a:latin typeface="Courier10 BT" pitchFamily="49" charset="0"/>
              </a:rPr>
              <a:t>    frame.getContentPane().add(new JLabel(new ImageIcon("blimp.jpg")))</a:t>
            </a:r>
          </a:p>
          <a:p>
            <a:pPr>
              <a:buNone/>
            </a:pPr>
            <a:r>
              <a:rPr lang="en-US" sz="1600" dirty="0">
                <a:latin typeface="Courier10 BT" pitchFamily="49" charset="0"/>
              </a:rPr>
              <a:t>    frame.pack();</a:t>
            </a:r>
          </a:p>
          <a:p>
            <a:pPr>
              <a:buNone/>
            </a:pPr>
            <a:r>
              <a:rPr lang="en-US" sz="1600" dirty="0">
                <a:latin typeface="Courier10 BT" pitchFamily="49" charset="0"/>
              </a:rPr>
              <a:t>    frame.setVisible(true);</a:t>
            </a:r>
          </a:p>
          <a:p>
            <a:pPr>
              <a:buNone/>
            </a:pPr>
            <a:r>
              <a:rPr lang="en-US" sz="1600" dirty="0">
                <a:latin typeface="Courier10 BT" pitchFamily="49" charset="0"/>
              </a:rPr>
              <a:t>  }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69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572651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Compiler Output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92258" y="2332037"/>
            <a:ext cx="8153400" cy="4525963"/>
          </a:xfrm>
        </p:spPr>
        <p:txBody>
          <a:bodyPr/>
          <a:lstStyle/>
          <a:p>
            <a:pPr>
              <a:buNone/>
            </a:pPr>
            <a:r>
              <a:rPr lang="en-US" sz="1800" dirty="0">
                <a:latin typeface="Courier10 BT" pitchFamily="49" charset="0"/>
              </a:rPr>
              <a:t>src\HelloWorld.java:1: class, interface, or enum expected</a:t>
            </a:r>
          </a:p>
          <a:p>
            <a:pPr>
              <a:buNone/>
            </a:pPr>
            <a:r>
              <a:rPr lang="en-US" sz="1800" dirty="0">
                <a:latin typeface="Courier10 BT" pitchFamily="49" charset="0"/>
              </a:rPr>
              <a:t>/ * Program with errors */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70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992258" y="2149096"/>
            <a:ext cx="8305800" cy="10668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133600" y="3352800"/>
            <a:ext cx="74676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What you should do: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Correct the open-comment sequence that has been mistyped with a space between the / and *.</a:t>
            </a:r>
          </a:p>
        </p:txBody>
      </p:sp>
    </p:spTree>
    <p:extLst>
      <p:ext uri="{BB962C8B-B14F-4D97-AF65-F5344CB8AC3E}">
        <p14:creationId xmlns:p14="http://schemas.microsoft.com/office/powerpoint/2010/main" val="125941092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1077240"/>
            <a:ext cx="3829693" cy="504754"/>
          </a:xfrm>
        </p:spPr>
        <p:txBody>
          <a:bodyPr>
            <a:normAutofit fontScale="90000"/>
          </a:bodyPr>
          <a:lstStyle/>
          <a:p>
            <a:r>
              <a:rPr lang="en-US" dirty="0"/>
              <a:t>Compiler Output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71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981200" y="1600200"/>
            <a:ext cx="8229600" cy="24384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057400" y="1600201"/>
            <a:ext cx="7467600" cy="40626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src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\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HelloWorld.java:6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: ')' expected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   JFrame frame = new JFrame(My First Program");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                          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src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\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HelloWorld.java:6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: unclosed string literal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   JFrame frame = new JFrame(My First Program");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                                        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src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\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HelloWorld.java:6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: not a statement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   JFrame frame = new JFrame(My First Program");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What you should do: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Insert a pair of quotes needed to begin the words 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“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My First Program”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is missing. </a:t>
            </a:r>
          </a:p>
        </p:txBody>
      </p:sp>
    </p:spTree>
    <p:extLst>
      <p:ext uri="{BB962C8B-B14F-4D97-AF65-F5344CB8AC3E}">
        <p14:creationId xmlns:p14="http://schemas.microsoft.com/office/powerpoint/2010/main" val="53149409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1170297"/>
            <a:ext cx="3833739" cy="429903"/>
          </a:xfrm>
        </p:spPr>
        <p:txBody>
          <a:bodyPr>
            <a:normAutofit fontScale="90000"/>
          </a:bodyPr>
          <a:lstStyle/>
          <a:p>
            <a:r>
              <a:rPr lang="en-US" dirty="0"/>
              <a:t>Compiler Output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72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74891" y="1600200"/>
            <a:ext cx="9630871" cy="12192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20072" y="1778225"/>
            <a:ext cx="9877004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src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\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HelloWorld.java: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7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: ';' expected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   frame.getContentPane().add(new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JLabel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(new ImageIcon("blimp.png")))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What you should do: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Insert a semi-colon at the end of line 7.</a:t>
            </a:r>
          </a:p>
        </p:txBody>
      </p:sp>
    </p:spTree>
    <p:extLst>
      <p:ext uri="{BB962C8B-B14F-4D97-AF65-F5344CB8AC3E}">
        <p14:creationId xmlns:p14="http://schemas.microsoft.com/office/powerpoint/2010/main" val="19765805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7358" y="925253"/>
            <a:ext cx="10417284" cy="500708"/>
          </a:xfrm>
        </p:spPr>
        <p:txBody>
          <a:bodyPr>
            <a:normAutofit fontScale="90000"/>
          </a:bodyPr>
          <a:lstStyle/>
          <a:p>
            <a:r>
              <a:rPr lang="en-US" dirty="0"/>
              <a:t>Compiler Output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73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981200" y="1600200"/>
            <a:ext cx="8229600" cy="990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057400" y="1600201"/>
            <a:ext cx="8001000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src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\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HelloWorld.java:10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: reached end of file while parsing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What you should do: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Insert a closing brace after the last line of the program.</a:t>
            </a:r>
          </a:p>
        </p:txBody>
      </p:sp>
    </p:spTree>
    <p:extLst>
      <p:ext uri="{BB962C8B-B14F-4D97-AF65-F5344CB8AC3E}">
        <p14:creationId xmlns:p14="http://schemas.microsoft.com/office/powerpoint/2010/main" val="235308575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8424" y="873837"/>
            <a:ext cx="4218111" cy="512846"/>
          </a:xfrm>
        </p:spPr>
        <p:txBody>
          <a:bodyPr>
            <a:normAutofit fontScale="90000"/>
          </a:bodyPr>
          <a:lstStyle/>
          <a:p>
            <a:r>
              <a:rPr lang="en-US" dirty="0"/>
              <a:t>Program With 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8423" y="1592660"/>
            <a:ext cx="10226448" cy="3561967"/>
          </a:xfrm>
          <a:solidFill>
            <a:srgbClr val="FFFFCC"/>
          </a:solidFill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>
              <a:buNone/>
            </a:pPr>
            <a:r>
              <a:rPr lang="en-US" sz="1600" dirty="0">
                <a:solidFill>
                  <a:srgbClr val="FF0000"/>
                </a:solidFill>
                <a:latin typeface="Courier10 BT" pitchFamily="49" charset="0"/>
              </a:rPr>
              <a:t>/ * </a:t>
            </a:r>
            <a:r>
              <a:rPr lang="en-US" sz="1600" dirty="0">
                <a:latin typeface="Courier10 BT" pitchFamily="49" charset="0"/>
              </a:rPr>
              <a:t>Program with errors */</a:t>
            </a:r>
          </a:p>
          <a:p>
            <a:pPr>
              <a:buNone/>
            </a:pPr>
            <a:r>
              <a:rPr lang="en-US" sz="1600" dirty="0">
                <a:latin typeface="Courier10 BT" pitchFamily="49" charset="0"/>
              </a:rPr>
              <a:t>import javax.swing.*; </a:t>
            </a:r>
          </a:p>
          <a:p>
            <a:pPr>
              <a:buNone/>
            </a:pPr>
            <a:r>
              <a:rPr lang="en-US" sz="1600" dirty="0">
                <a:latin typeface="Courier10 BT" pitchFamily="49" charset="0"/>
              </a:rPr>
              <a:t> </a:t>
            </a:r>
          </a:p>
          <a:p>
            <a:pPr>
              <a:buNone/>
            </a:pPr>
            <a:r>
              <a:rPr lang="en-US" sz="1600" dirty="0">
                <a:latin typeface="Courier10 BT" pitchFamily="49" charset="0"/>
              </a:rPr>
              <a:t>public class </a:t>
            </a:r>
            <a:r>
              <a:rPr lang="en-US" sz="1600" dirty="0" err="1">
                <a:latin typeface="Courier10 BT" pitchFamily="49" charset="0"/>
              </a:rPr>
              <a:t>HelloWorld</a:t>
            </a:r>
            <a:r>
              <a:rPr lang="en-US" sz="1600" dirty="0">
                <a:latin typeface="Courier10 BT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ourier10 BT" pitchFamily="49" charset="0"/>
              </a:rPr>
              <a:t>{</a:t>
            </a:r>
          </a:p>
          <a:p>
            <a:pPr>
              <a:buNone/>
            </a:pPr>
            <a:r>
              <a:rPr lang="en-US" sz="1600" dirty="0">
                <a:latin typeface="Courier10 BT" pitchFamily="49" charset="0"/>
              </a:rPr>
              <a:t>  public static void main(String[] args) </a:t>
            </a:r>
            <a:r>
              <a:rPr lang="en-US" sz="1600" dirty="0">
                <a:solidFill>
                  <a:schemeClr val="tx2">
                    <a:lumMod val="75000"/>
                  </a:schemeClr>
                </a:solidFill>
                <a:latin typeface="Courier10 BT" pitchFamily="49" charset="0"/>
              </a:rPr>
              <a:t>{</a:t>
            </a:r>
          </a:p>
          <a:p>
            <a:pPr>
              <a:buNone/>
            </a:pPr>
            <a:r>
              <a:rPr lang="en-US" sz="1600" dirty="0">
                <a:latin typeface="Courier10 BT" pitchFamily="49" charset="0"/>
              </a:rPr>
              <a:t>    JFrame frame = new JFrame(My First Program</a:t>
            </a:r>
            <a:r>
              <a:rPr lang="en-US" sz="1600" dirty="0">
                <a:solidFill>
                  <a:srgbClr val="FF0000"/>
                </a:solidFill>
                <a:latin typeface="Courier10 BT" pitchFamily="49" charset="0"/>
              </a:rPr>
              <a:t>"</a:t>
            </a:r>
            <a:r>
              <a:rPr lang="en-US" sz="1600" dirty="0">
                <a:latin typeface="Courier10 BT" pitchFamily="49" charset="0"/>
              </a:rPr>
              <a:t>);</a:t>
            </a:r>
          </a:p>
          <a:p>
            <a:pPr>
              <a:buNone/>
            </a:pPr>
            <a:r>
              <a:rPr lang="en-US" sz="1600" dirty="0">
                <a:latin typeface="Courier10 BT" pitchFamily="49" charset="0"/>
              </a:rPr>
              <a:t>    frame.getContentPane().add(new </a:t>
            </a:r>
            <a:r>
              <a:rPr lang="en-US" sz="1600" dirty="0" err="1">
                <a:latin typeface="Courier10 BT" pitchFamily="49" charset="0"/>
              </a:rPr>
              <a:t>JLabel</a:t>
            </a:r>
            <a:r>
              <a:rPr lang="en-US" sz="1600" dirty="0">
                <a:latin typeface="Courier10 BT" pitchFamily="49" charset="0"/>
              </a:rPr>
              <a:t>(new ImageIcon("blimp.jpg")))</a:t>
            </a:r>
          </a:p>
          <a:p>
            <a:pPr>
              <a:buNone/>
            </a:pPr>
            <a:r>
              <a:rPr lang="en-US" sz="1600" dirty="0">
                <a:latin typeface="Courier10 BT" pitchFamily="49" charset="0"/>
              </a:rPr>
              <a:t>    frame.pack();</a:t>
            </a:r>
          </a:p>
          <a:p>
            <a:pPr>
              <a:buNone/>
            </a:pPr>
            <a:r>
              <a:rPr lang="en-US" sz="1600" dirty="0">
                <a:latin typeface="Courier10 BT" pitchFamily="49" charset="0"/>
              </a:rPr>
              <a:t>    </a:t>
            </a:r>
            <a:r>
              <a:rPr lang="en-US" sz="1600" dirty="0" err="1">
                <a:latin typeface="Courier10 BT" pitchFamily="49" charset="0"/>
              </a:rPr>
              <a:t>frame.setVisible</a:t>
            </a:r>
            <a:r>
              <a:rPr lang="en-US" sz="1600" dirty="0">
                <a:latin typeface="Courier10 BT" pitchFamily="49" charset="0"/>
              </a:rPr>
              <a:t>(true);</a:t>
            </a:r>
          </a:p>
          <a:p>
            <a:pPr>
              <a:buNone/>
            </a:pPr>
            <a:r>
              <a:rPr lang="en-US" sz="1600" dirty="0">
                <a:latin typeface="Courier10 BT" pitchFamily="49" charset="0"/>
              </a:rPr>
              <a:t>  }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74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79137" y="1592661"/>
            <a:ext cx="441015" cy="25637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31540" y="3339192"/>
            <a:ext cx="254900" cy="25637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438011" y="3710077"/>
            <a:ext cx="254900" cy="25637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44744" y="4886120"/>
            <a:ext cx="254900" cy="25637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51127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/>
              <a:t>Done</a:t>
            </a:r>
            <a:endParaRPr lang="en-US" dirty="0"/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10725377"/>
      </p:ext>
    </p:extLst>
  </p:cSld>
  <p:clrMapOvr>
    <a:masterClrMapping/>
  </p:clrMapOvr>
</p:sld>
</file>

<file path=ppt/theme/theme1.xml><?xml version="1.0" encoding="utf-8"?>
<a:theme xmlns:a="http://schemas.openxmlformats.org/drawingml/2006/main" name="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C2E27841-7055-4EC2-8474-90BDE5ACE175}"/>
    </a:ext>
  </a:extLst>
</a:theme>
</file>

<file path=ppt/theme/theme3.xml><?xml version="1.0" encoding="utf-8"?>
<a:theme xmlns:a="http://schemas.openxmlformats.org/drawingml/2006/main" name="1_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4.xml><?xml version="1.0" encoding="utf-8"?>
<a:theme xmlns:a="http://schemas.openxmlformats.org/drawingml/2006/main" name="2_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5.xml><?xml version="1.0" encoding="utf-8"?>
<a:theme xmlns:a="http://schemas.openxmlformats.org/drawingml/2006/main" name="3_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6.xml><?xml version="1.0" encoding="utf-8"?>
<a:theme xmlns:a="http://schemas.openxmlformats.org/drawingml/2006/main" name="4_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SCUTemplate</Template>
  <TotalTime>988</TotalTime>
  <Words>4072</Words>
  <Application>Microsoft Office PowerPoint</Application>
  <PresentationFormat>Widescreen</PresentationFormat>
  <Paragraphs>672</Paragraphs>
  <Slides>75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75</vt:i4>
      </vt:variant>
    </vt:vector>
  </HeadingPairs>
  <TitlesOfParts>
    <vt:vector size="88" baseType="lpstr">
      <vt:lpstr>Arial</vt:lpstr>
      <vt:lpstr>Arial Narrow</vt:lpstr>
      <vt:lpstr>Calibri</vt:lpstr>
      <vt:lpstr>Courier</vt:lpstr>
      <vt:lpstr>Courier10 BT</vt:lpstr>
      <vt:lpstr>Garamond</vt:lpstr>
      <vt:lpstr>Wingdings</vt:lpstr>
      <vt:lpstr>SCUTemplate</vt:lpstr>
      <vt:lpstr>Custom Design</vt:lpstr>
      <vt:lpstr>1_SCUTemplate</vt:lpstr>
      <vt:lpstr>2_SCUTemplate</vt:lpstr>
      <vt:lpstr>3_SCUTemplate</vt:lpstr>
      <vt:lpstr>4_SCUTemplate</vt:lpstr>
      <vt:lpstr>COEN160</vt:lpstr>
      <vt:lpstr>Java Input</vt:lpstr>
      <vt:lpstr>Java Input</vt:lpstr>
      <vt:lpstr>Java Input (with exception)</vt:lpstr>
      <vt:lpstr>Exercise</vt:lpstr>
      <vt:lpstr>Java Input</vt:lpstr>
      <vt:lpstr>Math</vt:lpstr>
      <vt:lpstr>The Math Class</vt:lpstr>
      <vt:lpstr>The Math Class</vt:lpstr>
      <vt:lpstr>Math</vt:lpstr>
      <vt:lpstr>Random Numbers</vt:lpstr>
      <vt:lpstr>Class Random</vt:lpstr>
      <vt:lpstr>Exercise BreakDemo:</vt:lpstr>
      <vt:lpstr>Exercise BreakDemo:</vt:lpstr>
      <vt:lpstr>Math.random():</vt:lpstr>
      <vt:lpstr>Exercise: Random numbers in a range</vt:lpstr>
      <vt:lpstr>Exercise: Random numbers in a range</vt:lpstr>
      <vt:lpstr>Strings</vt:lpstr>
      <vt:lpstr>String Literals</vt:lpstr>
      <vt:lpstr>Strings</vt:lpstr>
      <vt:lpstr>Strings</vt:lpstr>
      <vt:lpstr>Some Methods in Class String</vt:lpstr>
      <vt:lpstr>Length of a String</vt:lpstr>
      <vt:lpstr>Comparing Strings</vt:lpstr>
      <vt:lpstr>Methods Retrieve an Index</vt:lpstr>
      <vt:lpstr>Methods For Substrings</vt:lpstr>
      <vt:lpstr>Exercise</vt:lpstr>
      <vt:lpstr>Solution</vt:lpstr>
      <vt:lpstr>More Methods in Class String</vt:lpstr>
      <vt:lpstr>Concatenation Operator</vt:lpstr>
      <vt:lpstr>Concatenating Strings</vt:lpstr>
      <vt:lpstr>Replacing/Removing Characters</vt:lpstr>
      <vt:lpstr>Converting to Uppercase or Lowercase</vt:lpstr>
      <vt:lpstr>String.format (printf)</vt:lpstr>
      <vt:lpstr>String.format</vt:lpstr>
      <vt:lpstr>Format Specifiers</vt:lpstr>
      <vt:lpstr>Examples of String.format</vt:lpstr>
      <vt:lpstr>Examples of String.format</vt:lpstr>
      <vt:lpstr>Examples of String.format</vt:lpstr>
      <vt:lpstr>Examples of String.format</vt:lpstr>
      <vt:lpstr>Using Field Width and Precision in String.format</vt:lpstr>
      <vt:lpstr>StringBuilder &amp; StringBuffer</vt:lpstr>
      <vt:lpstr>The StringBuilder &amp; StringBuffer Class</vt:lpstr>
      <vt:lpstr>The StringBuilder Class</vt:lpstr>
      <vt:lpstr>Exercise</vt:lpstr>
      <vt:lpstr>Exercise</vt:lpstr>
      <vt:lpstr>Simple arrays</vt:lpstr>
      <vt:lpstr>Simple arrays:</vt:lpstr>
      <vt:lpstr>Simple arrays:</vt:lpstr>
      <vt:lpstr>Simple arrays:</vt:lpstr>
      <vt:lpstr>Simple arrays:</vt:lpstr>
      <vt:lpstr>Array as method parameter:</vt:lpstr>
      <vt:lpstr>Simple arrays:</vt:lpstr>
      <vt:lpstr>As return value:</vt:lpstr>
      <vt:lpstr>Multidimensional arrays:</vt:lpstr>
      <vt:lpstr>Multidimensional arrays as method parameter (Java):</vt:lpstr>
      <vt:lpstr>Multidimensional arrays as method parameter C++:</vt:lpstr>
      <vt:lpstr>Multidimensional arrays as method parameter (Java):</vt:lpstr>
      <vt:lpstr>Clone() arrays:</vt:lpstr>
      <vt:lpstr>Clone() arrays: But it is a shallow copy!</vt:lpstr>
      <vt:lpstr>java.util.Arrays:</vt:lpstr>
      <vt:lpstr>java.util.Arrays:</vt:lpstr>
      <vt:lpstr>java.util.Arrays:</vt:lpstr>
      <vt:lpstr>Errors</vt:lpstr>
      <vt:lpstr>Errors in Programs</vt:lpstr>
      <vt:lpstr>Run-time Errors</vt:lpstr>
      <vt:lpstr>Logic Errors</vt:lpstr>
      <vt:lpstr>Logic Errors</vt:lpstr>
      <vt:lpstr>Exercise Program With Errors</vt:lpstr>
      <vt:lpstr>Compiler Output 1</vt:lpstr>
      <vt:lpstr>Compiler Output 2</vt:lpstr>
      <vt:lpstr>Compiler Output 3</vt:lpstr>
      <vt:lpstr>Compiler Output 4</vt:lpstr>
      <vt:lpstr>Program With Errors</vt:lpstr>
      <vt:lpstr>Done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Outline</dc:title>
  <dc:creator>Michael Schimpf</dc:creator>
  <cp:lastModifiedBy>Michael Schimpf</cp:lastModifiedBy>
  <cp:revision>209</cp:revision>
  <cp:lastPrinted>2023-09-11T21:46:56Z</cp:lastPrinted>
  <dcterms:created xsi:type="dcterms:W3CDTF">2023-09-09T19:51:41Z</dcterms:created>
  <dcterms:modified xsi:type="dcterms:W3CDTF">2026-08-20T22:24:19Z</dcterms:modified>
</cp:coreProperties>
</file>